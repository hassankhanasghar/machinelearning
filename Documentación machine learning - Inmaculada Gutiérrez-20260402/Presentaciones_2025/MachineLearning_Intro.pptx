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72" r:id="rId3"/>
    <p:sldId id="273" r:id="rId4"/>
    <p:sldId id="274" r:id="rId5"/>
    <p:sldId id="278" r:id="rId6"/>
    <p:sldId id="284" r:id="rId7"/>
    <p:sldId id="257" r:id="rId8"/>
    <p:sldId id="264" r:id="rId9"/>
    <p:sldId id="275" r:id="rId10"/>
    <p:sldId id="258" r:id="rId11"/>
    <p:sldId id="263" r:id="rId12"/>
    <p:sldId id="259" r:id="rId13"/>
    <p:sldId id="285" r:id="rId14"/>
    <p:sldId id="260" r:id="rId15"/>
    <p:sldId id="282" r:id="rId16"/>
    <p:sldId id="261" r:id="rId17"/>
    <p:sldId id="262" r:id="rId18"/>
    <p:sldId id="265" r:id="rId19"/>
    <p:sldId id="266" r:id="rId20"/>
    <p:sldId id="267" r:id="rId21"/>
    <p:sldId id="283" r:id="rId22"/>
    <p:sldId id="270" r:id="rId23"/>
    <p:sldId id="271" r:id="rId24"/>
    <p:sldId id="268" r:id="rId25"/>
    <p:sldId id="269" r:id="rId26"/>
    <p:sldId id="279" r:id="rId27"/>
    <p:sldId id="280" r:id="rId28"/>
    <p:sldId id="281" r:id="rId29"/>
    <p:sldId id="276" r:id="rId3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4ECAD850-33A3-4D14-AB59-492556025262}"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140410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4ECAD850-33A3-4D14-AB59-492556025262}"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3200789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4ECAD850-33A3-4D14-AB59-492556025262}"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223396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4ECAD850-33A3-4D14-AB59-492556025262}"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320200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4ECAD850-33A3-4D14-AB59-492556025262}" type="datetimeFigureOut">
              <a:rPr lang="es-ES" smtClean="0"/>
              <a:t>03/06/2025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92519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4ECAD850-33A3-4D14-AB59-492556025262}" type="datetimeFigureOut">
              <a:rPr lang="es-ES" smtClean="0"/>
              <a:t>03/06/2025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3088028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ECAD850-33A3-4D14-AB59-492556025262}" type="datetimeFigureOut">
              <a:rPr lang="es-ES" smtClean="0"/>
              <a:t>03/06/2025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514591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4ECAD850-33A3-4D14-AB59-492556025262}"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1308025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4ECAD850-33A3-4D14-AB59-492556025262}" type="datetimeFigureOut">
              <a:rPr lang="es-ES" smtClean="0"/>
              <a:t>03/06/2025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73625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4ECAD850-33A3-4D14-AB59-492556025262}"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707594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4ECAD850-33A3-4D14-AB59-492556025262}" type="datetimeFigureOut">
              <a:rPr lang="es-ES" smtClean="0"/>
              <a:t>03/06/2025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7B560620-C76C-43F7-A77C-C4E8FDB24B40}" type="slidenum">
              <a:rPr lang="es-ES" smtClean="0"/>
              <a:t>‹Nº›</a:t>
            </a:fld>
            <a:endParaRPr lang="es-ES"/>
          </a:p>
        </p:txBody>
      </p:sp>
    </p:spTree>
    <p:extLst>
      <p:ext uri="{BB962C8B-B14F-4D97-AF65-F5344CB8AC3E}">
        <p14:creationId xmlns:p14="http://schemas.microsoft.com/office/powerpoint/2010/main" val="1404235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AD850-33A3-4D14-AB59-492556025262}" type="datetimeFigureOut">
              <a:rPr lang="es-ES" smtClean="0"/>
              <a:t>03/06/2025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560620-C76C-43F7-A77C-C4E8FDB24B40}" type="slidenum">
              <a:rPr lang="es-ES" smtClean="0"/>
              <a:t>‹Nº›</a:t>
            </a:fld>
            <a:endParaRPr lang="es-ES"/>
          </a:p>
        </p:txBody>
      </p:sp>
    </p:spTree>
    <p:extLst>
      <p:ext uri="{BB962C8B-B14F-4D97-AF65-F5344CB8AC3E}">
        <p14:creationId xmlns:p14="http://schemas.microsoft.com/office/powerpoint/2010/main" val="498386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hatbcg.com/" TargetMode="External"/><Relationship Id="rId2" Type="http://schemas.openxmlformats.org/officeDocument/2006/relationships/hyperlink" Target="https://github.com/JamesHWade/gpttool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video" Target="https://www.youtube.com/embed/ukzFI9rgwf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video" Target="https://www.youtube.com/embed/yN7ypxC783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00" y="-64655"/>
            <a:ext cx="12306941" cy="6922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a16="http://schemas.microsoft.com/office/drawing/2014/main" xmlns="" id="{24A6ABCE-206C-4C33-940C-027B2CD6E148}"/>
              </a:ext>
            </a:extLst>
          </p:cNvPr>
          <p:cNvSpPr txBox="1">
            <a:spLocks/>
          </p:cNvSpPr>
          <p:nvPr/>
        </p:nvSpPr>
        <p:spPr bwMode="auto">
          <a:xfrm>
            <a:off x="2068945" y="2874961"/>
            <a:ext cx="622040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42900" indent="-152400" eaLnBrk="1" hangingPunct="1">
              <a:spcBef>
                <a:spcPct val="0"/>
              </a:spcBef>
              <a:buClr>
                <a:srgbClr val="000000"/>
              </a:buClr>
              <a:defRPr/>
            </a:pPr>
            <a:r>
              <a:rPr lang="es-ES" altLang="es-ES" sz="4000" kern="0" dirty="0" smtClean="0">
                <a:solidFill>
                  <a:srgbClr val="0972CB"/>
                </a:solidFill>
                <a:latin typeface="Oxygen"/>
                <a:ea typeface="Oxygen"/>
                <a:cs typeface="Oxygen"/>
                <a:sym typeface="Oxygen"/>
              </a:rPr>
              <a:t>Machine </a:t>
            </a:r>
            <a:r>
              <a:rPr lang="es-ES" altLang="es-ES" sz="4000" kern="0" dirty="0" err="1" smtClean="0">
                <a:solidFill>
                  <a:srgbClr val="0972CB"/>
                </a:solidFill>
                <a:latin typeface="Oxygen"/>
                <a:ea typeface="Oxygen"/>
                <a:cs typeface="Oxygen"/>
                <a:sym typeface="Oxygen"/>
              </a:rPr>
              <a:t>Learning</a:t>
            </a:r>
            <a:endParaRPr lang="es-ES" altLang="es-ES" sz="4000" kern="0" dirty="0" smtClean="0">
              <a:solidFill>
                <a:srgbClr val="0972CB"/>
              </a:solidFill>
              <a:latin typeface="Oxygen"/>
              <a:ea typeface="Oxygen"/>
              <a:cs typeface="Oxygen"/>
              <a:sym typeface="Oxygen"/>
            </a:endParaRPr>
          </a:p>
          <a:p>
            <a:pPr marL="342900" indent="-152400" eaLnBrk="1" hangingPunct="1">
              <a:spcBef>
                <a:spcPct val="0"/>
              </a:spcBef>
              <a:buClr>
                <a:srgbClr val="000000"/>
              </a:buClr>
              <a:defRPr/>
            </a:pPr>
            <a:r>
              <a:rPr lang="es-ES" altLang="es-ES" sz="4000" kern="0" dirty="0" smtClean="0">
                <a:solidFill>
                  <a:srgbClr val="0972CB"/>
                </a:solidFill>
                <a:latin typeface="Oxygen"/>
                <a:ea typeface="Oxygen"/>
                <a:cs typeface="Oxygen"/>
                <a:sym typeface="Oxygen"/>
              </a:rPr>
              <a:t>Introducción</a:t>
            </a:r>
            <a:endParaRPr lang="es-ES" altLang="es-ES" sz="4000" kern="0" dirty="0">
              <a:solidFill>
                <a:srgbClr val="0972CB"/>
              </a:solidFill>
              <a:latin typeface="Oxygen"/>
              <a:ea typeface="Oxygen"/>
              <a:cs typeface="Oxygen"/>
              <a:sym typeface="Oxygen"/>
            </a:endParaRPr>
          </a:p>
        </p:txBody>
      </p:sp>
      <p:sp>
        <p:nvSpPr>
          <p:cNvPr id="6" name="Shape 49">
            <a:extLst>
              <a:ext uri="{FF2B5EF4-FFF2-40B4-BE49-F238E27FC236}">
                <a16:creationId xmlns:a16="http://schemas.microsoft.com/office/drawing/2014/main" xmlns="" id="{3B39229B-4789-4E5F-A863-803DF35813F8}"/>
              </a:ext>
            </a:extLst>
          </p:cNvPr>
          <p:cNvSpPr txBox="1">
            <a:spLocks/>
          </p:cNvSpPr>
          <p:nvPr/>
        </p:nvSpPr>
        <p:spPr bwMode="auto">
          <a:xfrm>
            <a:off x="3451371" y="4962383"/>
            <a:ext cx="379424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342900" indent="-152400" eaLnBrk="1" hangingPunct="1">
              <a:spcBef>
                <a:spcPct val="0"/>
              </a:spcBef>
              <a:buClr>
                <a:srgbClr val="000000"/>
              </a:buClr>
              <a:defRPr/>
            </a:pPr>
            <a:r>
              <a:rPr lang="es-ES" altLang="es-ES" sz="1600" kern="0" dirty="0" smtClean="0">
                <a:solidFill>
                  <a:srgbClr val="0972CB"/>
                </a:solidFill>
                <a:latin typeface="Oxygen"/>
                <a:ea typeface="Oxygen"/>
                <a:cs typeface="Oxygen"/>
                <a:sym typeface="Oxygen"/>
              </a:rPr>
              <a:t>Inmaculada Gutiérrez García-Pardo</a:t>
            </a:r>
            <a:endParaRPr lang="es-ES" altLang="es-ES" sz="1600" kern="0" dirty="0">
              <a:solidFill>
                <a:srgbClr val="0972CB"/>
              </a:solidFill>
              <a:latin typeface="Oxygen"/>
              <a:ea typeface="Oxygen"/>
              <a:cs typeface="Oxygen"/>
              <a:sym typeface="Oxygen"/>
            </a:endParaRP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6721" y="539172"/>
            <a:ext cx="32893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346" y="410585"/>
            <a:ext cx="14763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5251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65908" y="365125"/>
            <a:ext cx="10515600" cy="1325563"/>
          </a:xfrm>
        </p:spPr>
        <p:txBody>
          <a:bodyPr/>
          <a:lstStyle/>
          <a:p>
            <a:pPr algn="ctr"/>
            <a:r>
              <a:rPr lang="es-ES" b="1" dirty="0" err="1" smtClean="0"/>
              <a:t>ChatGPT</a:t>
            </a:r>
            <a:r>
              <a:rPr lang="es-ES" b="1" dirty="0" smtClean="0"/>
              <a:t>: LLM al alcance de todos</a:t>
            </a:r>
            <a:endParaRPr lang="es-ES" b="1" dirty="0"/>
          </a:p>
        </p:txBody>
      </p:sp>
      <p:sp>
        <p:nvSpPr>
          <p:cNvPr id="3" name="Marcador de contenido 2"/>
          <p:cNvSpPr>
            <a:spLocks noGrp="1"/>
          </p:cNvSpPr>
          <p:nvPr>
            <p:ph idx="1"/>
          </p:nvPr>
        </p:nvSpPr>
        <p:spPr>
          <a:xfrm>
            <a:off x="865908" y="1825625"/>
            <a:ext cx="10515600" cy="4351338"/>
          </a:xfrm>
        </p:spPr>
        <p:txBody>
          <a:bodyPr/>
          <a:lstStyle/>
          <a:p>
            <a:pPr marL="0" indent="0" algn="ctr">
              <a:buNone/>
            </a:pPr>
            <a:r>
              <a:rPr lang="es-ES" dirty="0">
                <a:solidFill>
                  <a:srgbClr val="0066FF"/>
                </a:solidFill>
                <a:latin typeface="Times New Roman" panose="02020603050405020304" pitchFamily="18" charset="0"/>
                <a:cs typeface="Times New Roman" panose="02020603050405020304" pitchFamily="18" charset="0"/>
              </a:rPr>
              <a:t>https://chat.openai.com ps://</a:t>
            </a:r>
            <a:r>
              <a:rPr lang="es-ES" dirty="0" smtClean="0">
                <a:solidFill>
                  <a:srgbClr val="0066FF"/>
                </a:solidFill>
                <a:latin typeface="Times New Roman" panose="02020603050405020304" pitchFamily="18" charset="0"/>
                <a:cs typeface="Times New Roman" panose="02020603050405020304" pitchFamily="18" charset="0"/>
              </a:rPr>
              <a:t>chat.openai.com</a:t>
            </a:r>
            <a:r>
              <a:rPr lang="es-ES" dirty="0" smtClean="0"/>
              <a:t>	</a:t>
            </a:r>
          </a:p>
          <a:p>
            <a:pPr marL="0" indent="0">
              <a:buNone/>
            </a:pPr>
            <a:endParaRPr lang="es-ES" dirty="0" smtClean="0"/>
          </a:p>
          <a:p>
            <a:pPr marL="0" indent="0">
              <a:buNone/>
            </a:pPr>
            <a:endParaRPr lang="es-ES" dirty="0"/>
          </a:p>
        </p:txBody>
      </p:sp>
      <p:pic>
        <p:nvPicPr>
          <p:cNvPr id="5" name="Imagen 4"/>
          <p:cNvPicPr>
            <a:picLocks noChangeAspect="1"/>
          </p:cNvPicPr>
          <p:nvPr/>
        </p:nvPicPr>
        <p:blipFill rotWithShape="1">
          <a:blip r:embed="rId2"/>
          <a:srcRect l="-758" t="13967" r="758" b="7746"/>
          <a:stretch/>
        </p:blipFill>
        <p:spPr>
          <a:xfrm>
            <a:off x="2761677" y="2521528"/>
            <a:ext cx="7010399" cy="3542376"/>
          </a:xfrm>
          <a:prstGeom prst="rect">
            <a:avLst/>
          </a:prstGeom>
        </p:spPr>
      </p:pic>
    </p:spTree>
    <p:extLst>
      <p:ext uri="{BB962C8B-B14F-4D97-AF65-F5344CB8AC3E}">
        <p14:creationId xmlns:p14="http://schemas.microsoft.com/office/powerpoint/2010/main" val="363928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smtClean="0"/>
              <a:t>Algunas herramientas asociadas a GPT:</a:t>
            </a:r>
            <a:endParaRPr lang="es-ES" dirty="0"/>
          </a:p>
        </p:txBody>
      </p:sp>
      <p:sp>
        <p:nvSpPr>
          <p:cNvPr id="3" name="Marcador de contenido 2"/>
          <p:cNvSpPr>
            <a:spLocks noGrp="1"/>
          </p:cNvSpPr>
          <p:nvPr>
            <p:ph idx="1"/>
          </p:nvPr>
        </p:nvSpPr>
        <p:spPr/>
        <p:txBody>
          <a:bodyPr/>
          <a:lstStyle/>
          <a:p>
            <a:pPr marL="0" indent="0">
              <a:buNone/>
            </a:pPr>
            <a:r>
              <a:rPr lang="es-ES" dirty="0">
                <a:hlinkClick r:id="rId2"/>
              </a:rPr>
              <a:t>https://</a:t>
            </a:r>
            <a:r>
              <a:rPr lang="es-ES" dirty="0" smtClean="0">
                <a:hlinkClick r:id="rId2"/>
              </a:rPr>
              <a:t>github.com/JamesHWade/gpttools</a:t>
            </a:r>
            <a:r>
              <a:rPr lang="es-ES" dirty="0" smtClean="0"/>
              <a:t> </a:t>
            </a:r>
          </a:p>
          <a:p>
            <a:pPr marL="0" indent="0">
              <a:buNone/>
            </a:pPr>
            <a:r>
              <a:rPr lang="es-ES" dirty="0" smtClean="0"/>
              <a:t>Se trata de una extensión de GPT </a:t>
            </a:r>
            <a:r>
              <a:rPr lang="es-ES" dirty="0"/>
              <a:t>a </a:t>
            </a:r>
            <a:r>
              <a:rPr lang="es-ES" dirty="0" err="1"/>
              <a:t>Rstudio</a:t>
            </a:r>
            <a:r>
              <a:rPr lang="es-ES" dirty="0"/>
              <a:t> para convertir código en funciones, documentar paquetes y comentar </a:t>
            </a:r>
            <a:r>
              <a:rPr lang="es-ES" dirty="0" smtClean="0"/>
              <a:t>código. </a:t>
            </a:r>
            <a:r>
              <a:rPr lang="es-ES" dirty="0"/>
              <a:t>¡</a:t>
            </a:r>
            <a:r>
              <a:rPr lang="es-ES" dirty="0" smtClean="0"/>
              <a:t>Es capaz de crear </a:t>
            </a:r>
            <a:r>
              <a:rPr lang="es-ES" dirty="0"/>
              <a:t>código a partir </a:t>
            </a:r>
            <a:r>
              <a:rPr lang="es-ES" dirty="0" smtClean="0"/>
              <a:t>de un comentario en el que se le explique lo que hace!</a:t>
            </a:r>
          </a:p>
          <a:p>
            <a:pPr marL="0" indent="0">
              <a:buNone/>
            </a:pPr>
            <a:endParaRPr lang="es-ES" dirty="0"/>
          </a:p>
          <a:p>
            <a:pPr marL="0" indent="0">
              <a:buNone/>
            </a:pPr>
            <a:r>
              <a:rPr lang="es-ES" dirty="0">
                <a:hlinkClick r:id="rId3"/>
              </a:rPr>
              <a:t>https://www.chatbcg.com</a:t>
            </a:r>
            <a:r>
              <a:rPr lang="es-ES" dirty="0" smtClean="0">
                <a:hlinkClick r:id="rId3"/>
              </a:rPr>
              <a:t>/</a:t>
            </a:r>
            <a:endParaRPr lang="es-ES" dirty="0" smtClean="0"/>
          </a:p>
          <a:p>
            <a:pPr marL="0" indent="0">
              <a:buNone/>
            </a:pPr>
            <a:r>
              <a:rPr lang="es-ES" dirty="0" smtClean="0"/>
              <a:t>Se trata de una extensión de GPT para generar diapositivas y presentaciones</a:t>
            </a:r>
            <a:endParaRPr lang="es-ES" dirty="0"/>
          </a:p>
        </p:txBody>
      </p:sp>
    </p:spTree>
    <p:extLst>
      <p:ext uri="{BB962C8B-B14F-4D97-AF65-F5344CB8AC3E}">
        <p14:creationId xmlns:p14="http://schemas.microsoft.com/office/powerpoint/2010/main" val="1072680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47436" y="365125"/>
            <a:ext cx="10515600" cy="1325563"/>
          </a:xfrm>
        </p:spPr>
        <p:txBody>
          <a:bodyPr/>
          <a:lstStyle/>
          <a:p>
            <a:pPr algn="ctr"/>
            <a:r>
              <a:rPr lang="es-ES" b="1" spc="-5" dirty="0" smtClean="0">
                <a:solidFill>
                  <a:srgbClr val="538DD3"/>
                </a:solidFill>
                <a:latin typeface="Times New Roman"/>
                <a:cs typeface="Times New Roman"/>
              </a:rPr>
              <a:t>¿Qué hay detrás de esta “magia”?</a:t>
            </a:r>
            <a:endParaRPr lang="es-ES" dirty="0"/>
          </a:p>
        </p:txBody>
      </p:sp>
      <p:sp>
        <p:nvSpPr>
          <p:cNvPr id="3" name="Marcador de contenido 2"/>
          <p:cNvSpPr>
            <a:spLocks noGrp="1"/>
          </p:cNvSpPr>
          <p:nvPr>
            <p:ph idx="1"/>
          </p:nvPr>
        </p:nvSpPr>
        <p:spPr>
          <a:xfrm>
            <a:off x="865908" y="1825625"/>
            <a:ext cx="10291618" cy="4351338"/>
          </a:xfrm>
        </p:spPr>
        <p:txBody>
          <a:bodyPr>
            <a:normAutofit/>
          </a:bodyPr>
          <a:lstStyle/>
          <a:p>
            <a:pPr marL="0" indent="0" algn="ctr">
              <a:buNone/>
            </a:pPr>
            <a:endParaRPr lang="es-ES" b="1" spc="-5" dirty="0" smtClean="0">
              <a:solidFill>
                <a:srgbClr val="538DD3"/>
              </a:solidFill>
              <a:latin typeface="Times New Roman"/>
              <a:cs typeface="Times New Roman"/>
            </a:endParaRPr>
          </a:p>
          <a:p>
            <a:pPr marL="0" indent="0" algn="ctr">
              <a:buNone/>
            </a:pPr>
            <a:endParaRPr lang="es-ES" b="1" spc="-5" dirty="0">
              <a:solidFill>
                <a:srgbClr val="538DD3"/>
              </a:solidFill>
              <a:latin typeface="Times New Roman"/>
              <a:cs typeface="Times New Roman"/>
            </a:endParaRPr>
          </a:p>
          <a:p>
            <a:pPr marL="0" indent="0" algn="ctr">
              <a:buNone/>
            </a:pPr>
            <a:endParaRPr lang="es-ES" b="1" spc="-5" dirty="0" smtClean="0">
              <a:solidFill>
                <a:srgbClr val="538DD3"/>
              </a:solidFill>
              <a:latin typeface="Times New Roman"/>
              <a:cs typeface="Times New Roman"/>
            </a:endParaRPr>
          </a:p>
          <a:p>
            <a:pPr marL="0" indent="0" algn="ctr">
              <a:buNone/>
            </a:pPr>
            <a:r>
              <a:rPr lang="es-ES" sz="4400" b="1" spc="-5" dirty="0" smtClean="0">
                <a:solidFill>
                  <a:srgbClr val="538DD3"/>
                </a:solidFill>
                <a:latin typeface="Times New Roman"/>
                <a:cs typeface="Times New Roman"/>
              </a:rPr>
              <a:t>MACHINE LEARNING</a:t>
            </a:r>
            <a:endParaRPr lang="es-ES" sz="4400" b="1" spc="-5" dirty="0">
              <a:solidFill>
                <a:srgbClr val="538DD3"/>
              </a:solidFill>
              <a:latin typeface="Times New Roman"/>
              <a:cs typeface="Times New Roman"/>
            </a:endParaRPr>
          </a:p>
          <a:p>
            <a:pPr marL="0" indent="0">
              <a:buNone/>
            </a:pPr>
            <a:r>
              <a:rPr lang="es-ES" spc="-5" dirty="0" smtClean="0">
                <a:solidFill>
                  <a:srgbClr val="538DD3"/>
                </a:solidFill>
                <a:latin typeface="Times New Roman"/>
                <a:cs typeface="Times New Roman"/>
              </a:rPr>
              <a:t>En este módulo se presentarán los principios del machine </a:t>
            </a:r>
            <a:r>
              <a:rPr lang="es-ES" spc="-5" dirty="0" err="1" smtClean="0">
                <a:solidFill>
                  <a:srgbClr val="538DD3"/>
                </a:solidFill>
                <a:latin typeface="Times New Roman"/>
                <a:cs typeface="Times New Roman"/>
              </a:rPr>
              <a:t>learning</a:t>
            </a:r>
            <a:r>
              <a:rPr lang="es-ES" spc="-5" dirty="0">
                <a:solidFill>
                  <a:srgbClr val="538DD3"/>
                </a:solidFill>
                <a:latin typeface="Times New Roman"/>
                <a:cs typeface="Times New Roman"/>
              </a:rPr>
              <a:t> </a:t>
            </a:r>
            <a:r>
              <a:rPr lang="es-ES" spc="-5" dirty="0" smtClean="0">
                <a:solidFill>
                  <a:srgbClr val="538DD3"/>
                </a:solidFill>
                <a:latin typeface="Times New Roman"/>
                <a:cs typeface="Times New Roman"/>
              </a:rPr>
              <a:t>y se explicará la aplicación de algunas técnicas: redes neuronales, árboles, </a:t>
            </a:r>
            <a:r>
              <a:rPr lang="es-ES" spc="-5" dirty="0" err="1" smtClean="0">
                <a:solidFill>
                  <a:srgbClr val="538DD3"/>
                </a:solidFill>
                <a:latin typeface="Times New Roman"/>
                <a:cs typeface="Times New Roman"/>
              </a:rPr>
              <a:t>svm</a:t>
            </a:r>
            <a:r>
              <a:rPr lang="es-ES" spc="-5" dirty="0" smtClean="0">
                <a:solidFill>
                  <a:srgbClr val="538DD3"/>
                </a:solidFill>
                <a:latin typeface="Times New Roman"/>
                <a:cs typeface="Times New Roman"/>
              </a:rPr>
              <a:t>, y distintas </a:t>
            </a:r>
            <a:r>
              <a:rPr lang="es-ES" spc="-5" dirty="0" err="1" smtClean="0">
                <a:solidFill>
                  <a:srgbClr val="538DD3"/>
                </a:solidFill>
                <a:latin typeface="Times New Roman"/>
                <a:cs typeface="Times New Roman"/>
              </a:rPr>
              <a:t>metodologídas</a:t>
            </a:r>
            <a:r>
              <a:rPr lang="es-ES" spc="-5" dirty="0" smtClean="0">
                <a:solidFill>
                  <a:srgbClr val="538DD3"/>
                </a:solidFill>
                <a:latin typeface="Times New Roman"/>
                <a:cs typeface="Times New Roman"/>
              </a:rPr>
              <a:t> de ensamblado</a:t>
            </a:r>
            <a:endParaRPr lang="es-ES" dirty="0"/>
          </a:p>
        </p:txBody>
      </p:sp>
    </p:spTree>
    <p:extLst>
      <p:ext uri="{BB962C8B-B14F-4D97-AF65-F5344CB8AC3E}">
        <p14:creationId xmlns:p14="http://schemas.microsoft.com/office/powerpoint/2010/main" val="1994254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18821"/>
            <a:ext cx="10515600" cy="1325563"/>
          </a:xfrm>
        </p:spPr>
        <p:txBody>
          <a:bodyPr/>
          <a:lstStyle/>
          <a:p>
            <a:r>
              <a:rPr lang="es-ES" b="1" spc="-5" dirty="0" smtClean="0">
                <a:solidFill>
                  <a:srgbClr val="538DD3"/>
                </a:solidFill>
                <a:latin typeface="Times New Roman"/>
                <a:cs typeface="Times New Roman"/>
              </a:rPr>
              <a:t>Introducción</a:t>
            </a:r>
            <a:endParaRPr lang="es-ES" dirty="0"/>
          </a:p>
        </p:txBody>
      </p:sp>
      <p:sp>
        <p:nvSpPr>
          <p:cNvPr id="3" name="Marcador de contenido 2"/>
          <p:cNvSpPr>
            <a:spLocks noGrp="1"/>
          </p:cNvSpPr>
          <p:nvPr>
            <p:ph idx="1"/>
          </p:nvPr>
        </p:nvSpPr>
        <p:spPr>
          <a:xfrm>
            <a:off x="402151" y="1214767"/>
            <a:ext cx="11448103" cy="5513832"/>
          </a:xfrm>
        </p:spPr>
        <p:txBody>
          <a:bodyPr>
            <a:normAutofit/>
          </a:bodyPr>
          <a:lstStyle/>
          <a:p>
            <a:pPr marL="0" indent="0" algn="just">
              <a:buNone/>
            </a:pPr>
            <a:r>
              <a:rPr lang="es-ES" sz="2400" dirty="0"/>
              <a:t>El </a:t>
            </a:r>
            <a:r>
              <a:rPr lang="es-ES" sz="2400" dirty="0" smtClean="0"/>
              <a:t>machine </a:t>
            </a:r>
            <a:r>
              <a:rPr lang="es-ES" sz="2400" dirty="0" err="1" smtClean="0"/>
              <a:t>learning</a:t>
            </a:r>
            <a:r>
              <a:rPr lang="es-ES" sz="2400" dirty="0" smtClean="0"/>
              <a:t> aprendizaje </a:t>
            </a:r>
            <a:r>
              <a:rPr lang="es-ES" sz="2400" dirty="0"/>
              <a:t>automático es un campo de la inteligencia artificial que se centra en el </a:t>
            </a:r>
            <a:r>
              <a:rPr lang="es-ES" sz="2400" b="1" dirty="0"/>
              <a:t>desarrollo de algoritmos</a:t>
            </a:r>
            <a:r>
              <a:rPr lang="es-ES" sz="2400" dirty="0"/>
              <a:t> y </a:t>
            </a:r>
            <a:r>
              <a:rPr lang="es-ES" sz="2400" b="1" dirty="0"/>
              <a:t>modelos</a:t>
            </a:r>
            <a:r>
              <a:rPr lang="es-ES" sz="2400" dirty="0"/>
              <a:t> estadísticos que permiten a las </a:t>
            </a:r>
            <a:r>
              <a:rPr lang="es-ES" sz="2400" dirty="0" smtClean="0"/>
              <a:t>máquinas aprender </a:t>
            </a:r>
            <a:r>
              <a:rPr lang="es-ES" sz="2400" dirty="0"/>
              <a:t>y mejorar su rendimiento en una tarea específica </a:t>
            </a:r>
            <a:r>
              <a:rPr lang="es-ES" sz="2400" b="1" dirty="0">
                <a:solidFill>
                  <a:srgbClr val="FF0000"/>
                </a:solidFill>
              </a:rPr>
              <a:t>sin ser programadas </a:t>
            </a:r>
            <a:r>
              <a:rPr lang="es-ES" sz="2400" b="1" dirty="0" smtClean="0">
                <a:solidFill>
                  <a:srgbClr val="FF0000"/>
                </a:solidFill>
              </a:rPr>
              <a:t>explícitamente </a:t>
            </a:r>
            <a:r>
              <a:rPr lang="es-ES" sz="2400" dirty="0" smtClean="0"/>
              <a:t>para ello. </a:t>
            </a:r>
            <a:r>
              <a:rPr lang="es-ES" sz="2400" dirty="0"/>
              <a:t>Se basa en patrones e inferencias </a:t>
            </a:r>
            <a:r>
              <a:rPr lang="es-ES" sz="2400" dirty="0" smtClean="0"/>
              <a:t>y no en </a:t>
            </a:r>
            <a:r>
              <a:rPr lang="es-ES" sz="2400" dirty="0"/>
              <a:t>programación directa</a:t>
            </a:r>
            <a:endParaRPr lang="es-ES" sz="2400" dirty="0" smtClean="0"/>
          </a:p>
          <a:p>
            <a:pPr marL="0" indent="0" algn="just">
              <a:buNone/>
            </a:pPr>
            <a:endParaRPr lang="es-ES" sz="2400" dirty="0"/>
          </a:p>
          <a:p>
            <a:pPr marL="0" indent="0" algn="just">
              <a:buNone/>
            </a:pPr>
            <a:endParaRPr lang="es-ES" sz="2400" dirty="0" smtClean="0"/>
          </a:p>
          <a:p>
            <a:pPr marL="0" indent="0" algn="just">
              <a:buNone/>
            </a:pPr>
            <a:endParaRPr lang="es-ES" sz="2400" dirty="0" smtClean="0"/>
          </a:p>
          <a:p>
            <a:pPr marL="0" indent="0" algn="just">
              <a:buNone/>
            </a:pPr>
            <a:endParaRPr lang="es-ES" sz="2400" dirty="0"/>
          </a:p>
          <a:p>
            <a:pPr marL="0" indent="0" algn="just">
              <a:buNone/>
            </a:pPr>
            <a:endParaRPr lang="es-ES" sz="2400" dirty="0" smtClean="0"/>
          </a:p>
          <a:p>
            <a:pPr marL="0" indent="0" algn="just">
              <a:buNone/>
            </a:pPr>
            <a:endParaRPr lang="es-ES" sz="2400" dirty="0" smtClean="0"/>
          </a:p>
          <a:p>
            <a:pPr marL="0" indent="0" algn="just">
              <a:buNone/>
            </a:pPr>
            <a:endParaRPr lang="es-ES" sz="2400" dirty="0"/>
          </a:p>
          <a:p>
            <a:pPr marL="0" indent="0" algn="just">
              <a:buNone/>
            </a:pPr>
            <a:r>
              <a:rPr lang="es-ES" sz="2400" dirty="0" smtClean="0"/>
              <a:t>Machine </a:t>
            </a:r>
            <a:r>
              <a:rPr lang="es-ES" sz="2400" dirty="0" err="1" smtClean="0"/>
              <a:t>Learning</a:t>
            </a:r>
            <a:r>
              <a:rPr lang="es-ES" sz="2400" dirty="0" smtClean="0"/>
              <a:t> puede </a:t>
            </a:r>
            <a:r>
              <a:rPr lang="es-ES" sz="2400" dirty="0"/>
              <a:t>entenderse como el proceso de </a:t>
            </a:r>
            <a:r>
              <a:rPr lang="es-ES" sz="2400" b="1" dirty="0"/>
              <a:t>aprender a través de ejemplos</a:t>
            </a:r>
          </a:p>
        </p:txBody>
      </p:sp>
      <p:pic>
        <p:nvPicPr>
          <p:cNvPr id="4" name="Marcador de contenido 3"/>
          <p:cNvPicPr>
            <a:picLocks noChangeAspect="1"/>
          </p:cNvPicPr>
          <p:nvPr/>
        </p:nvPicPr>
        <p:blipFill rotWithShape="1">
          <a:blip r:embed="rId2"/>
          <a:srcRect t="17437"/>
          <a:stretch/>
        </p:blipFill>
        <p:spPr>
          <a:xfrm>
            <a:off x="3163561" y="2851435"/>
            <a:ext cx="6075567" cy="2791984"/>
          </a:xfrm>
          <a:prstGeom prst="rect">
            <a:avLst/>
          </a:prstGeom>
        </p:spPr>
      </p:pic>
    </p:spTree>
    <p:extLst>
      <p:ext uri="{BB962C8B-B14F-4D97-AF65-F5344CB8AC3E}">
        <p14:creationId xmlns:p14="http://schemas.microsoft.com/office/powerpoint/2010/main" val="802851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a:solidFill>
                  <a:srgbClr val="538DD3"/>
                </a:solidFill>
                <a:latin typeface="Times New Roman"/>
                <a:cs typeface="Times New Roman"/>
              </a:rPr>
              <a:t>Introducción</a:t>
            </a:r>
            <a:endParaRPr lang="es-ES" dirty="0"/>
          </a:p>
        </p:txBody>
      </p:sp>
      <p:pic>
        <p:nvPicPr>
          <p:cNvPr id="4" name="ukzFI9rgwfU"/>
          <p:cNvPicPr>
            <a:picLocks noGrp="1" noRot="1" noChangeAspect="1"/>
          </p:cNvPicPr>
          <p:nvPr>
            <p:ph idx="1"/>
            <a:videoFile r:link="rId1"/>
          </p:nvPr>
        </p:nvPicPr>
        <p:blipFill>
          <a:blip r:embed="rId3"/>
          <a:stretch>
            <a:fillRect/>
          </a:stretch>
        </p:blipFill>
        <p:spPr>
          <a:xfrm>
            <a:off x="2327563" y="1801091"/>
            <a:ext cx="6823621" cy="3838287"/>
          </a:xfrm>
          <a:prstGeom prst="rect">
            <a:avLst/>
          </a:prstGeom>
        </p:spPr>
      </p:pic>
      <p:sp>
        <p:nvSpPr>
          <p:cNvPr id="5" name="Rectángulo 4"/>
          <p:cNvSpPr/>
          <p:nvPr/>
        </p:nvSpPr>
        <p:spPr>
          <a:xfrm>
            <a:off x="3053355" y="5876698"/>
            <a:ext cx="4829143" cy="369332"/>
          </a:xfrm>
          <a:prstGeom prst="rect">
            <a:avLst/>
          </a:prstGeom>
        </p:spPr>
        <p:txBody>
          <a:bodyPr wrap="none">
            <a:spAutoFit/>
          </a:bodyPr>
          <a:lstStyle/>
          <a:p>
            <a:r>
              <a:rPr lang="es-ES" dirty="0"/>
              <a:t>https://www.youtube.com/watch?v=ukzFI9rgwfU</a:t>
            </a:r>
          </a:p>
        </p:txBody>
      </p:sp>
    </p:spTree>
    <p:extLst>
      <p:ext uri="{BB962C8B-B14F-4D97-AF65-F5344CB8AC3E}">
        <p14:creationId xmlns:p14="http://schemas.microsoft.com/office/powerpoint/2010/main" val="240223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18821"/>
            <a:ext cx="10515600" cy="1325563"/>
          </a:xfrm>
        </p:spPr>
        <p:txBody>
          <a:bodyPr/>
          <a:lstStyle/>
          <a:p>
            <a:r>
              <a:rPr lang="es-ES" b="1" spc="-5" dirty="0" smtClean="0">
                <a:solidFill>
                  <a:srgbClr val="538DD3"/>
                </a:solidFill>
                <a:latin typeface="Times New Roman"/>
                <a:cs typeface="Times New Roman"/>
              </a:rPr>
              <a:t>Introducción</a:t>
            </a:r>
            <a:endParaRPr lang="es-ES" dirty="0"/>
          </a:p>
        </p:txBody>
      </p:sp>
      <p:sp>
        <p:nvSpPr>
          <p:cNvPr id="3" name="Marcador de contenido 2"/>
          <p:cNvSpPr>
            <a:spLocks noGrp="1"/>
          </p:cNvSpPr>
          <p:nvPr>
            <p:ph idx="1"/>
          </p:nvPr>
        </p:nvSpPr>
        <p:spPr>
          <a:xfrm>
            <a:off x="420624" y="1353312"/>
            <a:ext cx="11301984" cy="5513832"/>
          </a:xfrm>
        </p:spPr>
        <p:txBody>
          <a:bodyPr>
            <a:normAutofit fontScale="40000" lnSpcReduction="20000"/>
          </a:bodyPr>
          <a:lstStyle/>
          <a:p>
            <a:pPr algn="just">
              <a:lnSpc>
                <a:spcPct val="170000"/>
              </a:lnSpc>
            </a:pPr>
            <a:r>
              <a:rPr lang="es-ES" sz="4000" b="1" dirty="0" smtClean="0">
                <a:latin typeface="Arial" panose="020B0604020202020204" pitchFamily="34" charset="0"/>
                <a:cs typeface="Arial" panose="020B0604020202020204" pitchFamily="34" charset="0"/>
              </a:rPr>
              <a:t>¿Qué es el Machine </a:t>
            </a:r>
            <a:r>
              <a:rPr lang="es-ES" sz="4000" b="1" dirty="0" err="1" smtClean="0">
                <a:latin typeface="Arial" panose="020B0604020202020204" pitchFamily="34" charset="0"/>
                <a:cs typeface="Arial" panose="020B0604020202020204" pitchFamily="34" charset="0"/>
              </a:rPr>
              <a:t>Learning</a:t>
            </a:r>
            <a:r>
              <a:rPr lang="es-ES" sz="4000" b="1" dirty="0" smtClean="0">
                <a:latin typeface="Arial" panose="020B0604020202020204" pitchFamily="34" charset="0"/>
                <a:cs typeface="Arial" panose="020B0604020202020204" pitchFamily="34" charset="0"/>
              </a:rPr>
              <a:t>?</a:t>
            </a:r>
            <a:r>
              <a:rPr lang="es-ES" sz="4000" dirty="0" smtClean="0">
                <a:latin typeface="Arial" panose="020B0604020202020204" pitchFamily="34" charset="0"/>
                <a:cs typeface="Arial" panose="020B0604020202020204" pitchFamily="34" charset="0"/>
              </a:rPr>
              <a:t> El Machine </a:t>
            </a:r>
            <a:r>
              <a:rPr lang="es-ES" sz="4000" dirty="0" err="1" smtClean="0">
                <a:latin typeface="Arial" panose="020B0604020202020204" pitchFamily="34" charset="0"/>
                <a:cs typeface="Arial" panose="020B0604020202020204" pitchFamily="34" charset="0"/>
              </a:rPr>
              <a:t>Learning</a:t>
            </a:r>
            <a:r>
              <a:rPr lang="es-ES" sz="4000" dirty="0" smtClean="0">
                <a:latin typeface="Arial" panose="020B0604020202020204" pitchFamily="34" charset="0"/>
                <a:cs typeface="Arial" panose="020B0604020202020204" pitchFamily="34" charset="0"/>
              </a:rPr>
              <a:t> o aprendizaje automático es una rama de la Inteligencia Artificial que permite que las máquinas “aprendan” sin haber sido expresamente programadas para ello.</a:t>
            </a:r>
          </a:p>
          <a:p>
            <a:pPr algn="just">
              <a:lnSpc>
                <a:spcPct val="170000"/>
              </a:lnSpc>
            </a:pPr>
            <a:r>
              <a:rPr lang="es-ES" sz="4000" b="1" dirty="0" smtClean="0">
                <a:latin typeface="Arial" panose="020B0604020202020204" pitchFamily="34" charset="0"/>
                <a:cs typeface="Arial" panose="020B0604020202020204" pitchFamily="34" charset="0"/>
              </a:rPr>
              <a:t>¿Qué significa que la máquina “aprenda”?</a:t>
            </a:r>
            <a:r>
              <a:rPr lang="es-ES" sz="4000" dirty="0" smtClean="0">
                <a:latin typeface="Arial" panose="020B0604020202020204" pitchFamily="34" charset="0"/>
                <a:cs typeface="Arial" panose="020B0604020202020204" pitchFamily="34" charset="0"/>
              </a:rPr>
              <a:t>  Que su desempeño mejora con la experiencia y mediante el uso de datos, pese a que esta habilidad no estaba en su caracterización original. </a:t>
            </a:r>
          </a:p>
          <a:p>
            <a:pPr algn="just">
              <a:lnSpc>
                <a:spcPct val="170000"/>
              </a:lnSpc>
            </a:pPr>
            <a:r>
              <a:rPr lang="es-ES" sz="4000" b="1" dirty="0" smtClean="0">
                <a:latin typeface="Arial" panose="020B0604020202020204" pitchFamily="34" charset="0"/>
                <a:cs typeface="Arial" panose="020B0604020202020204" pitchFamily="34" charset="0"/>
              </a:rPr>
              <a:t>¿Qué se consigue con técnicas de Machine </a:t>
            </a:r>
            <a:r>
              <a:rPr lang="es-ES" sz="4000" b="1" dirty="0" err="1" smtClean="0">
                <a:latin typeface="Arial" panose="020B0604020202020204" pitchFamily="34" charset="0"/>
                <a:cs typeface="Arial" panose="020B0604020202020204" pitchFamily="34" charset="0"/>
              </a:rPr>
              <a:t>Learning</a:t>
            </a:r>
            <a:r>
              <a:rPr lang="es-ES" sz="4000" b="1" dirty="0" smtClean="0">
                <a:latin typeface="Arial" panose="020B0604020202020204" pitchFamily="34" charset="0"/>
                <a:cs typeface="Arial" panose="020B0604020202020204" pitchFamily="34" charset="0"/>
              </a:rPr>
              <a:t>? </a:t>
            </a:r>
            <a:r>
              <a:rPr lang="es-ES" sz="4000" dirty="0">
                <a:latin typeface="Arial" panose="020B0604020202020204" pitchFamily="34" charset="0"/>
                <a:cs typeface="Arial" panose="020B0604020202020204" pitchFamily="34" charset="0"/>
              </a:rPr>
              <a:t> </a:t>
            </a:r>
            <a:r>
              <a:rPr lang="es-ES" sz="4000" dirty="0" smtClean="0">
                <a:latin typeface="Arial" panose="020B0604020202020204" pitchFamily="34" charset="0"/>
                <a:cs typeface="Arial" panose="020B0604020202020204" pitchFamily="34" charset="0"/>
              </a:rPr>
              <a:t>Dotar a las máquinas de la capacidad </a:t>
            </a:r>
            <a:r>
              <a:rPr lang="es-ES" sz="4000" dirty="0">
                <a:latin typeface="Arial" panose="020B0604020202020204" pitchFamily="34" charset="0"/>
                <a:cs typeface="Arial" panose="020B0604020202020204" pitchFamily="34" charset="0"/>
              </a:rPr>
              <a:t>de identificar patrones en datos masivos y elaborar </a:t>
            </a:r>
            <a:r>
              <a:rPr lang="es-ES" sz="4000" dirty="0" smtClean="0">
                <a:latin typeface="Arial" panose="020B0604020202020204" pitchFamily="34" charset="0"/>
                <a:cs typeface="Arial" panose="020B0604020202020204" pitchFamily="34" charset="0"/>
              </a:rPr>
              <a:t>predicciones</a:t>
            </a:r>
          </a:p>
          <a:p>
            <a:pPr algn="just">
              <a:lnSpc>
                <a:spcPct val="170000"/>
              </a:lnSpc>
            </a:pPr>
            <a:r>
              <a:rPr lang="es-ES" sz="4000" b="1" dirty="0" smtClean="0">
                <a:latin typeface="Arial" panose="020B0604020202020204" pitchFamily="34" charset="0"/>
                <a:cs typeface="Arial" panose="020B0604020202020204" pitchFamily="34" charset="0"/>
              </a:rPr>
              <a:t>¿De qué son capaces las técnicas de Machine </a:t>
            </a:r>
            <a:r>
              <a:rPr lang="es-ES" sz="4000" b="1" dirty="0" err="1" smtClean="0">
                <a:latin typeface="Arial" panose="020B0604020202020204" pitchFamily="34" charset="0"/>
                <a:cs typeface="Arial" panose="020B0604020202020204" pitchFamily="34" charset="0"/>
              </a:rPr>
              <a:t>Learning</a:t>
            </a:r>
            <a:r>
              <a:rPr lang="es-ES" sz="4000" b="1" dirty="0" smtClean="0">
                <a:latin typeface="Arial" panose="020B0604020202020204" pitchFamily="34" charset="0"/>
                <a:cs typeface="Arial" panose="020B0604020202020204" pitchFamily="34" charset="0"/>
              </a:rPr>
              <a:t>? </a:t>
            </a:r>
            <a:r>
              <a:rPr lang="es-ES" sz="4000" dirty="0" smtClean="0">
                <a:latin typeface="Arial" panose="020B0604020202020204" pitchFamily="34" charset="0"/>
                <a:cs typeface="Arial" panose="020B0604020202020204" pitchFamily="34" charset="0"/>
              </a:rPr>
              <a:t>De convertir  una muestra de datos en un programa informático capaz de extraer inferencias de nuevos conjuntos de datos para los que no han sido entrenadas previamente.</a:t>
            </a:r>
          </a:p>
          <a:p>
            <a:pPr algn="just">
              <a:lnSpc>
                <a:spcPct val="170000"/>
              </a:lnSpc>
            </a:pPr>
            <a:r>
              <a:rPr lang="es-ES" sz="4000" b="1" dirty="0" smtClean="0">
                <a:latin typeface="Arial" panose="020B0604020202020204" pitchFamily="34" charset="0"/>
                <a:cs typeface="Arial" panose="020B0604020202020204" pitchFamily="34" charset="0"/>
              </a:rPr>
              <a:t>En la práctica, ¿en qué situaciones se aplica Machine </a:t>
            </a:r>
            <a:r>
              <a:rPr lang="es-ES" sz="4000" b="1" dirty="0" err="1" smtClean="0">
                <a:latin typeface="Arial" panose="020B0604020202020204" pitchFamily="34" charset="0"/>
                <a:cs typeface="Arial" panose="020B0604020202020204" pitchFamily="34" charset="0"/>
              </a:rPr>
              <a:t>Learning</a:t>
            </a:r>
            <a:r>
              <a:rPr lang="es-ES" sz="4000" b="1" dirty="0" smtClean="0">
                <a:latin typeface="Arial" panose="020B0604020202020204" pitchFamily="34" charset="0"/>
                <a:cs typeface="Arial" panose="020B0604020202020204" pitchFamily="34" charset="0"/>
              </a:rPr>
              <a:t>? </a:t>
            </a:r>
            <a:r>
              <a:rPr lang="es-ES" sz="4000" dirty="0" smtClean="0">
                <a:latin typeface="Arial" panose="020B0604020202020204" pitchFamily="34" charset="0"/>
                <a:cs typeface="Arial" panose="020B0604020202020204" pitchFamily="34" charset="0"/>
              </a:rPr>
              <a:t>Recomendaciones de </a:t>
            </a:r>
            <a:r>
              <a:rPr lang="es-ES" sz="4000" dirty="0" err="1" smtClean="0">
                <a:latin typeface="Arial" panose="020B0604020202020204" pitchFamily="34" charset="0"/>
                <a:cs typeface="Arial" panose="020B0604020202020204" pitchFamily="34" charset="0"/>
              </a:rPr>
              <a:t>Netflix</a:t>
            </a:r>
            <a:r>
              <a:rPr lang="es-ES" sz="4000" dirty="0" smtClean="0">
                <a:latin typeface="Arial" panose="020B0604020202020204" pitchFamily="34" charset="0"/>
                <a:cs typeface="Arial" panose="020B0604020202020204" pitchFamily="34" charset="0"/>
              </a:rPr>
              <a:t> y </a:t>
            </a:r>
            <a:r>
              <a:rPr lang="es-ES" sz="4000" dirty="0" err="1" smtClean="0">
                <a:latin typeface="Arial" panose="020B0604020202020204" pitchFamily="34" charset="0"/>
                <a:cs typeface="Arial" panose="020B0604020202020204" pitchFamily="34" charset="0"/>
              </a:rPr>
              <a:t>Spotify</a:t>
            </a:r>
            <a:r>
              <a:rPr lang="es-ES" sz="4000" dirty="0" smtClean="0">
                <a:latin typeface="Arial" panose="020B0604020202020204" pitchFamily="34" charset="0"/>
                <a:cs typeface="Arial" panose="020B0604020202020204" pitchFamily="34" charset="0"/>
              </a:rPr>
              <a:t>, asistentes inteligentes como </a:t>
            </a:r>
            <a:r>
              <a:rPr lang="es-ES" sz="4000" dirty="0" err="1" smtClean="0">
                <a:latin typeface="Arial" panose="020B0604020202020204" pitchFamily="34" charset="0"/>
                <a:cs typeface="Arial" panose="020B0604020202020204" pitchFamily="34" charset="0"/>
              </a:rPr>
              <a:t>Siri</a:t>
            </a:r>
            <a:r>
              <a:rPr lang="es-ES" sz="4000" dirty="0" smtClean="0">
                <a:latin typeface="Arial" panose="020B0604020202020204" pitchFamily="34" charset="0"/>
                <a:cs typeface="Arial" panose="020B0604020202020204" pitchFamily="34" charset="0"/>
              </a:rPr>
              <a:t> o Alexa, respuestas de Gmail, detección de fraude, robótica, diagnóstico médico, mejora en motores de búsqueda, etc.</a:t>
            </a:r>
            <a:endParaRPr lang="es-ES" sz="4000" b="1" dirty="0" smtClean="0">
              <a:latin typeface="Arial" panose="020B0604020202020204" pitchFamily="34" charset="0"/>
              <a:cs typeface="Arial" panose="020B0604020202020204" pitchFamily="34" charset="0"/>
            </a:endParaRPr>
          </a:p>
          <a:p>
            <a:pPr marL="0" indent="0" algn="just">
              <a:buNone/>
            </a:pPr>
            <a:r>
              <a:rPr lang="es-ES" b="1" dirty="0" smtClean="0"/>
              <a:t> </a:t>
            </a:r>
            <a:endParaRPr lang="es-ES" b="1" dirty="0"/>
          </a:p>
        </p:txBody>
      </p:sp>
    </p:spTree>
    <p:extLst>
      <p:ext uri="{BB962C8B-B14F-4D97-AF65-F5344CB8AC3E}">
        <p14:creationId xmlns:p14="http://schemas.microsoft.com/office/powerpoint/2010/main" val="3901497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38912" y="365125"/>
            <a:ext cx="11530584" cy="1325563"/>
          </a:xfrm>
        </p:spPr>
        <p:txBody>
          <a:bodyPr/>
          <a:lstStyle/>
          <a:p>
            <a:r>
              <a:rPr lang="es-ES" sz="4000" b="1" spc="-5" dirty="0" smtClean="0">
                <a:solidFill>
                  <a:srgbClr val="538DD3"/>
                </a:solidFill>
                <a:latin typeface="Times New Roman"/>
                <a:cs typeface="Times New Roman"/>
              </a:rPr>
              <a:t>MACHINE LEARNING </a:t>
            </a:r>
            <a:r>
              <a:rPr lang="es-ES" sz="4000" b="1" i="1" spc="-5" dirty="0" smtClean="0">
                <a:solidFill>
                  <a:srgbClr val="538DD3"/>
                </a:solidFill>
                <a:latin typeface="Times New Roman"/>
                <a:cs typeface="Times New Roman"/>
              </a:rPr>
              <a:t>VS </a:t>
            </a:r>
            <a:r>
              <a:rPr lang="es-ES" sz="4000" b="1" spc="-5" dirty="0" smtClean="0">
                <a:solidFill>
                  <a:srgbClr val="538DD3"/>
                </a:solidFill>
                <a:latin typeface="Times New Roman"/>
                <a:cs typeface="Times New Roman"/>
              </a:rPr>
              <a:t>MINERÍA DE DATOS</a:t>
            </a:r>
            <a:endParaRPr lang="es-ES" i="1" dirty="0"/>
          </a:p>
        </p:txBody>
      </p:sp>
      <p:sp>
        <p:nvSpPr>
          <p:cNvPr id="3" name="Marcador de contenido 2"/>
          <p:cNvSpPr>
            <a:spLocks noGrp="1"/>
          </p:cNvSpPr>
          <p:nvPr>
            <p:ph idx="1"/>
          </p:nvPr>
        </p:nvSpPr>
        <p:spPr>
          <a:xfrm>
            <a:off x="838200" y="1325880"/>
            <a:ext cx="10515600" cy="4851083"/>
          </a:xfrm>
        </p:spPr>
        <p:txBody>
          <a:bodyPr>
            <a:normAutofit lnSpcReduction="10000"/>
          </a:bodyPr>
          <a:lstStyle/>
          <a:p>
            <a:pPr fontAlgn="base"/>
            <a:r>
              <a:rPr lang="es-ES" dirty="0" smtClean="0"/>
              <a:t>Con frecuencia se usan estos conceptos </a:t>
            </a:r>
            <a:r>
              <a:rPr lang="es-ES" b="1" dirty="0" smtClean="0"/>
              <a:t>indistintamente.</a:t>
            </a:r>
          </a:p>
          <a:p>
            <a:pPr fontAlgn="base"/>
            <a:r>
              <a:rPr lang="es-ES" dirty="0" smtClean="0"/>
              <a:t>Sin embargo, hay una diferencia importante relativa al </a:t>
            </a:r>
            <a:r>
              <a:rPr lang="es-ES" b="1" dirty="0" smtClean="0"/>
              <a:t>objetivo</a:t>
            </a:r>
            <a:r>
              <a:rPr lang="es-ES" dirty="0" smtClean="0"/>
              <a:t> de cada disciplina (</a:t>
            </a:r>
            <a:r>
              <a:rPr lang="es-ES" u="sng" dirty="0" smtClean="0"/>
              <a:t>aunque es una apreciación algo personal</a:t>
            </a:r>
            <a:r>
              <a:rPr lang="es-ES" dirty="0" smtClean="0"/>
              <a:t>):</a:t>
            </a:r>
          </a:p>
          <a:p>
            <a:pPr marL="457200" lvl="1" indent="0" fontAlgn="base">
              <a:buNone/>
            </a:pPr>
            <a:r>
              <a:rPr lang="es-ES" dirty="0" smtClean="0"/>
              <a:t>La </a:t>
            </a:r>
            <a:r>
              <a:rPr lang="es-ES" b="1" dirty="0">
                <a:solidFill>
                  <a:schemeClr val="accent6">
                    <a:lumMod val="75000"/>
                  </a:schemeClr>
                </a:solidFill>
              </a:rPr>
              <a:t>minería de datos</a:t>
            </a:r>
            <a:r>
              <a:rPr lang="es-ES" dirty="0">
                <a:solidFill>
                  <a:schemeClr val="accent6">
                    <a:lumMod val="75000"/>
                  </a:schemeClr>
                </a:solidFill>
              </a:rPr>
              <a:t> </a:t>
            </a:r>
            <a:r>
              <a:rPr lang="es-ES" dirty="0"/>
              <a:t>descubre patrones anteriormente </a:t>
            </a:r>
            <a:r>
              <a:rPr lang="es-ES" b="1" dirty="0">
                <a:solidFill>
                  <a:schemeClr val="accent6">
                    <a:lumMod val="75000"/>
                  </a:schemeClr>
                </a:solidFill>
              </a:rPr>
              <a:t>desconocidos</a:t>
            </a:r>
            <a:r>
              <a:rPr lang="es-ES" dirty="0"/>
              <a:t>, el </a:t>
            </a:r>
            <a:r>
              <a:rPr lang="es-ES" b="1" dirty="0" smtClean="0">
                <a:solidFill>
                  <a:schemeClr val="accent4">
                    <a:lumMod val="50000"/>
                  </a:schemeClr>
                </a:solidFill>
              </a:rPr>
              <a:t>Machine </a:t>
            </a:r>
            <a:r>
              <a:rPr lang="es-ES" b="1" dirty="0" err="1" smtClean="0">
                <a:solidFill>
                  <a:schemeClr val="accent4">
                    <a:lumMod val="50000"/>
                  </a:schemeClr>
                </a:solidFill>
              </a:rPr>
              <a:t>Learning</a:t>
            </a:r>
            <a:r>
              <a:rPr lang="es-ES" b="1" dirty="0" smtClean="0">
                <a:solidFill>
                  <a:schemeClr val="accent4">
                    <a:lumMod val="50000"/>
                  </a:schemeClr>
                </a:solidFill>
              </a:rPr>
              <a:t> </a:t>
            </a:r>
            <a:r>
              <a:rPr lang="es-ES" dirty="0"/>
              <a:t>se usa </a:t>
            </a:r>
            <a:r>
              <a:rPr lang="es-ES" b="1" dirty="0">
                <a:solidFill>
                  <a:schemeClr val="accent4">
                    <a:lumMod val="50000"/>
                  </a:schemeClr>
                </a:solidFill>
              </a:rPr>
              <a:t>para reproducir patrones conocidos</a:t>
            </a:r>
            <a:r>
              <a:rPr lang="es-ES" dirty="0">
                <a:solidFill>
                  <a:schemeClr val="accent4">
                    <a:lumMod val="50000"/>
                  </a:schemeClr>
                </a:solidFill>
              </a:rPr>
              <a:t> </a:t>
            </a:r>
            <a:r>
              <a:rPr lang="es-ES" dirty="0"/>
              <a:t>y hacer </a:t>
            </a:r>
            <a:r>
              <a:rPr lang="es-ES" b="1" dirty="0">
                <a:solidFill>
                  <a:schemeClr val="accent4">
                    <a:lumMod val="50000"/>
                  </a:schemeClr>
                </a:solidFill>
              </a:rPr>
              <a:t>predicciones</a:t>
            </a:r>
            <a:r>
              <a:rPr lang="es-ES" dirty="0">
                <a:solidFill>
                  <a:schemeClr val="accent4">
                    <a:lumMod val="50000"/>
                  </a:schemeClr>
                </a:solidFill>
              </a:rPr>
              <a:t> </a:t>
            </a:r>
            <a:r>
              <a:rPr lang="es-ES" dirty="0"/>
              <a:t>basadas en los patrones.</a:t>
            </a:r>
          </a:p>
          <a:p>
            <a:pPr marL="0" indent="0" fontAlgn="base">
              <a:buNone/>
            </a:pPr>
            <a:endParaRPr lang="es-ES" dirty="0" smtClean="0"/>
          </a:p>
          <a:p>
            <a:pPr marL="0" indent="0" fontAlgn="base">
              <a:buNone/>
            </a:pPr>
            <a:r>
              <a:rPr lang="es-ES" dirty="0" smtClean="0"/>
              <a:t>Se </a:t>
            </a:r>
            <a:r>
              <a:rPr lang="es-ES" dirty="0"/>
              <a:t>podría decir que la </a:t>
            </a:r>
            <a:r>
              <a:rPr lang="es-ES" b="1" dirty="0"/>
              <a:t>minería de datos </a:t>
            </a:r>
            <a:r>
              <a:rPr lang="es-ES" dirty="0"/>
              <a:t>tiene una función </a:t>
            </a:r>
            <a:r>
              <a:rPr lang="es-ES" dirty="0" smtClean="0"/>
              <a:t>de </a:t>
            </a:r>
            <a:r>
              <a:rPr lang="es-ES" b="1" dirty="0" smtClean="0"/>
              <a:t>exploración </a:t>
            </a:r>
            <a:r>
              <a:rPr lang="es-ES" dirty="0" smtClean="0"/>
              <a:t>y</a:t>
            </a:r>
            <a:r>
              <a:rPr lang="es-ES" b="1" dirty="0" smtClean="0"/>
              <a:t> análisis </a:t>
            </a:r>
            <a:r>
              <a:rPr lang="es-ES" dirty="0"/>
              <a:t>de grandes conjuntos de datos para descubrir patrones y tendencias</a:t>
            </a:r>
            <a:r>
              <a:rPr lang="es-ES" dirty="0" smtClean="0"/>
              <a:t> </a:t>
            </a:r>
            <a:r>
              <a:rPr lang="es-ES" dirty="0"/>
              <a:t>mientras que el </a:t>
            </a:r>
            <a:r>
              <a:rPr lang="es-ES" b="1" dirty="0" smtClean="0"/>
              <a:t>Machine </a:t>
            </a:r>
            <a:r>
              <a:rPr lang="es-ES" b="1" dirty="0" err="1" smtClean="0"/>
              <a:t>Learning</a:t>
            </a:r>
            <a:r>
              <a:rPr lang="es-ES" b="1" dirty="0" smtClean="0"/>
              <a:t> </a:t>
            </a:r>
            <a:r>
              <a:rPr lang="es-ES" dirty="0"/>
              <a:t>se </a:t>
            </a:r>
            <a:r>
              <a:rPr lang="es-ES" dirty="0" smtClean="0"/>
              <a:t>centra en la </a:t>
            </a:r>
            <a:r>
              <a:rPr lang="es-ES" b="1" dirty="0" smtClean="0"/>
              <a:t>predicción </a:t>
            </a:r>
            <a:r>
              <a:rPr lang="es-ES" dirty="0" smtClean="0"/>
              <a:t>o </a:t>
            </a:r>
            <a:r>
              <a:rPr lang="es-ES" b="1" dirty="0" smtClean="0"/>
              <a:t>creación</a:t>
            </a:r>
            <a:r>
              <a:rPr lang="es-ES" dirty="0" smtClean="0"/>
              <a:t> </a:t>
            </a:r>
            <a:r>
              <a:rPr lang="es-ES" dirty="0"/>
              <a:t>de </a:t>
            </a:r>
            <a:r>
              <a:rPr lang="es-ES" b="1" dirty="0"/>
              <a:t>algoritmos </a:t>
            </a:r>
            <a:r>
              <a:rPr lang="es-ES" dirty="0"/>
              <a:t>y </a:t>
            </a:r>
            <a:r>
              <a:rPr lang="es-ES" b="1" dirty="0"/>
              <a:t>modelos</a:t>
            </a:r>
            <a:r>
              <a:rPr lang="es-ES" dirty="0"/>
              <a:t> que permiten a las computadoras </a:t>
            </a:r>
            <a:r>
              <a:rPr lang="es-ES" b="1" dirty="0"/>
              <a:t>aprender</a:t>
            </a:r>
            <a:r>
              <a:rPr lang="es-ES" dirty="0"/>
              <a:t> de los datos para hacer predicciones o tomar decisiones en base a nuevos datos</a:t>
            </a:r>
            <a:r>
              <a:rPr lang="es-ES" dirty="0" smtClean="0"/>
              <a:t>.</a:t>
            </a:r>
            <a:endParaRPr lang="es-ES" dirty="0"/>
          </a:p>
          <a:p>
            <a:pPr fontAlgn="base"/>
            <a:endParaRPr lang="es-ES" dirty="0"/>
          </a:p>
        </p:txBody>
      </p:sp>
    </p:spTree>
    <p:extLst>
      <p:ext uri="{BB962C8B-B14F-4D97-AF65-F5344CB8AC3E}">
        <p14:creationId xmlns:p14="http://schemas.microsoft.com/office/powerpoint/2010/main" val="45033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a:solidFill>
                  <a:srgbClr val="538DD3"/>
                </a:solidFill>
                <a:latin typeface="Times New Roman"/>
                <a:cs typeface="Times New Roman"/>
              </a:rPr>
              <a:t>MACHINE LEARNING </a:t>
            </a:r>
            <a:r>
              <a:rPr lang="es-ES" b="1" i="1" spc="-5" dirty="0">
                <a:solidFill>
                  <a:srgbClr val="538DD3"/>
                </a:solidFill>
                <a:latin typeface="Times New Roman"/>
                <a:cs typeface="Times New Roman"/>
              </a:rPr>
              <a:t>VS </a:t>
            </a:r>
            <a:r>
              <a:rPr lang="es-ES" b="1" spc="-5" dirty="0">
                <a:solidFill>
                  <a:srgbClr val="538DD3"/>
                </a:solidFill>
                <a:latin typeface="Times New Roman"/>
                <a:cs typeface="Times New Roman"/>
              </a:rPr>
              <a:t>MINERÍA DE DATOS</a:t>
            </a:r>
            <a:endParaRPr lang="es-ES" dirty="0"/>
          </a:p>
        </p:txBody>
      </p:sp>
      <p:sp>
        <p:nvSpPr>
          <p:cNvPr id="3" name="Marcador de contenido 2"/>
          <p:cNvSpPr>
            <a:spLocks noGrp="1"/>
          </p:cNvSpPr>
          <p:nvPr>
            <p:ph idx="1"/>
          </p:nvPr>
        </p:nvSpPr>
        <p:spPr>
          <a:xfrm>
            <a:off x="692727" y="1690688"/>
            <a:ext cx="10372437" cy="4913312"/>
          </a:xfrm>
        </p:spPr>
        <p:txBody>
          <a:bodyPr>
            <a:normAutofit fontScale="47500" lnSpcReduction="20000"/>
          </a:bodyPr>
          <a:lstStyle/>
          <a:p>
            <a:r>
              <a:rPr lang="es-ES" sz="3400" b="1" dirty="0"/>
              <a:t>Definición:</a:t>
            </a:r>
            <a:endParaRPr lang="es-ES" sz="3400" dirty="0"/>
          </a:p>
          <a:p>
            <a:pPr lvl="1"/>
            <a:r>
              <a:rPr lang="es-ES" sz="2900" b="1" dirty="0"/>
              <a:t>Machine </a:t>
            </a:r>
            <a:r>
              <a:rPr lang="es-ES" sz="2900" b="1" dirty="0" err="1"/>
              <a:t>Learning</a:t>
            </a:r>
            <a:r>
              <a:rPr lang="es-ES" sz="2900" b="1" dirty="0"/>
              <a:t> (ML):</a:t>
            </a:r>
            <a:r>
              <a:rPr lang="es-ES" sz="2900" dirty="0"/>
              <a:t> Es un campo de la inteligencia artificial que se centra en el desarrollo de </a:t>
            </a:r>
            <a:r>
              <a:rPr lang="es-ES" sz="2900" b="1" dirty="0"/>
              <a:t>algoritmos y modelos </a:t>
            </a:r>
            <a:r>
              <a:rPr lang="es-ES" sz="2900" dirty="0"/>
              <a:t>que permiten a las máquinas </a:t>
            </a:r>
            <a:r>
              <a:rPr lang="es-ES" sz="2900" b="1" dirty="0"/>
              <a:t>aprender patrones</a:t>
            </a:r>
            <a:r>
              <a:rPr lang="es-ES" sz="2900" dirty="0"/>
              <a:t> y realizar tareas específicas </a:t>
            </a:r>
            <a:r>
              <a:rPr lang="es-ES" sz="2900" b="1" dirty="0" smtClean="0"/>
              <a:t>sin programación </a:t>
            </a:r>
            <a:r>
              <a:rPr lang="es-ES" sz="2900" b="1" dirty="0"/>
              <a:t>explícita</a:t>
            </a:r>
            <a:r>
              <a:rPr lang="es-ES" sz="2900" dirty="0"/>
              <a:t>.</a:t>
            </a:r>
          </a:p>
          <a:p>
            <a:pPr lvl="1"/>
            <a:r>
              <a:rPr lang="es-ES" sz="2900" b="1" dirty="0"/>
              <a:t>Minería de Datos (Data </a:t>
            </a:r>
            <a:r>
              <a:rPr lang="es-ES" sz="2900" b="1" dirty="0" err="1"/>
              <a:t>Mining</a:t>
            </a:r>
            <a:r>
              <a:rPr lang="es-ES" sz="2900" b="1" dirty="0"/>
              <a:t>):</a:t>
            </a:r>
            <a:r>
              <a:rPr lang="es-ES" sz="2900" dirty="0"/>
              <a:t> Es el proceso de </a:t>
            </a:r>
            <a:r>
              <a:rPr lang="es-ES" sz="2900" b="1" dirty="0"/>
              <a:t>descubrir patrones significativos</a:t>
            </a:r>
            <a:r>
              <a:rPr lang="es-ES" sz="2900" dirty="0"/>
              <a:t>, información y conocimientos útiles a partir de grandes conjuntos de datos. Involucra la aplicación de técnicas estadísticas y matemáticas para explorar y analizar datos.</a:t>
            </a:r>
          </a:p>
          <a:p>
            <a:r>
              <a:rPr lang="es-ES" sz="3400" b="1" dirty="0"/>
              <a:t>Objetivo:</a:t>
            </a:r>
            <a:endParaRPr lang="es-ES" sz="3400" dirty="0"/>
          </a:p>
          <a:p>
            <a:pPr lvl="1"/>
            <a:r>
              <a:rPr lang="es-ES" sz="2900" b="1" dirty="0"/>
              <a:t>ML:</a:t>
            </a:r>
            <a:r>
              <a:rPr lang="es-ES" sz="2900" dirty="0"/>
              <a:t> Se enfoca en la construcción de </a:t>
            </a:r>
            <a:r>
              <a:rPr lang="es-ES" sz="2900" b="1" dirty="0"/>
              <a:t>sistemas </a:t>
            </a:r>
            <a:r>
              <a:rPr lang="es-ES" sz="2900" dirty="0"/>
              <a:t>que pueden </a:t>
            </a:r>
            <a:r>
              <a:rPr lang="es-ES" sz="2900" b="1" dirty="0"/>
              <a:t>aprender</a:t>
            </a:r>
            <a:r>
              <a:rPr lang="es-ES" sz="2900" dirty="0"/>
              <a:t> de los datos para realizar tareas específicas sin ser programados explícitamente.</a:t>
            </a:r>
          </a:p>
          <a:p>
            <a:pPr lvl="1"/>
            <a:r>
              <a:rPr lang="es-ES" sz="2900" b="1" dirty="0"/>
              <a:t>Minería de Datos:</a:t>
            </a:r>
            <a:r>
              <a:rPr lang="es-ES" sz="2900" dirty="0"/>
              <a:t> Busca </a:t>
            </a:r>
            <a:r>
              <a:rPr lang="es-ES" sz="2900" b="1" dirty="0"/>
              <a:t>descubrir patrones </a:t>
            </a:r>
            <a:r>
              <a:rPr lang="es-ES" sz="2900" dirty="0"/>
              <a:t>y conocimientos previamente desconocidos en grandes conjuntos de datos.</a:t>
            </a:r>
          </a:p>
          <a:p>
            <a:r>
              <a:rPr lang="es-ES" sz="3400" b="1" dirty="0"/>
              <a:t>Enfoque:</a:t>
            </a:r>
            <a:endParaRPr lang="es-ES" sz="3400" dirty="0"/>
          </a:p>
          <a:p>
            <a:pPr lvl="1"/>
            <a:r>
              <a:rPr lang="es-ES" sz="2900" b="1" dirty="0"/>
              <a:t>ML:</a:t>
            </a:r>
            <a:r>
              <a:rPr lang="es-ES" sz="2900" dirty="0"/>
              <a:t> Se centra en la </a:t>
            </a:r>
            <a:r>
              <a:rPr lang="es-ES" sz="2900" b="1" dirty="0"/>
              <a:t>creación de modelos predictivos y descriptivos</a:t>
            </a:r>
            <a:r>
              <a:rPr lang="es-ES" sz="2900" dirty="0"/>
              <a:t> utilizando algoritmos que pueden mejorar su rendimiento con el tiempo a medida que se les proporciona más datos.</a:t>
            </a:r>
          </a:p>
          <a:p>
            <a:pPr lvl="1"/>
            <a:r>
              <a:rPr lang="es-ES" sz="2900" b="1" dirty="0"/>
              <a:t>Minería de Datos:</a:t>
            </a:r>
            <a:r>
              <a:rPr lang="es-ES" sz="2900" dirty="0"/>
              <a:t> Utiliza técnicas como la clasificación, la regresión, el agrupamiento y la asociación para analizar datos históricos y descubrir patrones y tendencias.</a:t>
            </a:r>
          </a:p>
          <a:p>
            <a:r>
              <a:rPr lang="es-ES" sz="3400" b="1" dirty="0"/>
              <a:t>Aplicación:</a:t>
            </a:r>
            <a:endParaRPr lang="es-ES" sz="3400" dirty="0"/>
          </a:p>
          <a:p>
            <a:pPr lvl="1"/>
            <a:r>
              <a:rPr lang="es-ES" sz="2900" b="1" dirty="0"/>
              <a:t>ML:</a:t>
            </a:r>
            <a:r>
              <a:rPr lang="es-ES" sz="2900" dirty="0"/>
              <a:t> Se aplica en una amplia variedad de campos, como reconocimiento de voz, visión por computadora, recomendaciones personalizadas, juegos, entre otros.</a:t>
            </a:r>
          </a:p>
          <a:p>
            <a:pPr lvl="1"/>
            <a:r>
              <a:rPr lang="es-ES" sz="2900" b="1" dirty="0"/>
              <a:t>Minería de Datos:</a:t>
            </a:r>
            <a:r>
              <a:rPr lang="es-ES" sz="2900" dirty="0"/>
              <a:t> Se utiliza comúnmente en la exploración de grandes conjuntos de datos empresariales para descubrir información relevante para la toma de decisiones.</a:t>
            </a:r>
          </a:p>
          <a:p>
            <a:r>
              <a:rPr lang="es-ES" sz="3400" b="1" dirty="0"/>
              <a:t>Énfasis en el Conocimiento:</a:t>
            </a:r>
            <a:endParaRPr lang="es-ES" sz="3400" dirty="0"/>
          </a:p>
          <a:p>
            <a:pPr lvl="1"/>
            <a:r>
              <a:rPr lang="es-ES" sz="2900" b="1" dirty="0"/>
              <a:t>ML:</a:t>
            </a:r>
            <a:r>
              <a:rPr lang="es-ES" sz="2900" dirty="0"/>
              <a:t> Se centra en la </a:t>
            </a:r>
            <a:r>
              <a:rPr lang="es-ES" sz="2900" b="1" dirty="0"/>
              <a:t>predicción </a:t>
            </a:r>
            <a:r>
              <a:rPr lang="es-ES" sz="2900" dirty="0"/>
              <a:t>y el </a:t>
            </a:r>
            <a:r>
              <a:rPr lang="es-ES" sz="2900" b="1" dirty="0" smtClean="0"/>
              <a:t>aprendizaje automatizado</a:t>
            </a:r>
            <a:r>
              <a:rPr lang="es-ES" sz="2900" dirty="0" smtClean="0"/>
              <a:t> a </a:t>
            </a:r>
            <a:r>
              <a:rPr lang="es-ES" sz="2900" dirty="0"/>
              <a:t>partir de datos.</a:t>
            </a:r>
          </a:p>
          <a:p>
            <a:pPr lvl="1"/>
            <a:r>
              <a:rPr lang="es-ES" sz="2900" b="1" dirty="0"/>
              <a:t>Minería de Datos:</a:t>
            </a:r>
            <a:r>
              <a:rPr lang="es-ES" sz="2900" dirty="0"/>
              <a:t> Se centra en la </a:t>
            </a:r>
            <a:r>
              <a:rPr lang="es-ES" sz="2900" dirty="0" smtClean="0"/>
              <a:t>identificación </a:t>
            </a:r>
            <a:r>
              <a:rPr lang="es-ES" sz="2900" dirty="0"/>
              <a:t>de </a:t>
            </a:r>
            <a:r>
              <a:rPr lang="es-ES" sz="2900" b="1" dirty="0"/>
              <a:t>patrones </a:t>
            </a:r>
            <a:r>
              <a:rPr lang="es-ES" sz="2900" dirty="0"/>
              <a:t>y </a:t>
            </a:r>
            <a:r>
              <a:rPr lang="es-ES" sz="2900" b="1" dirty="0"/>
              <a:t>conocimientos</a:t>
            </a:r>
            <a:r>
              <a:rPr lang="es-ES" sz="2900" dirty="0"/>
              <a:t> útiles a partir de </a:t>
            </a:r>
            <a:r>
              <a:rPr lang="es-ES" sz="2900" b="1" dirty="0"/>
              <a:t>datos existentes</a:t>
            </a:r>
            <a:r>
              <a:rPr lang="es-ES" sz="2900" dirty="0"/>
              <a:t>.</a:t>
            </a:r>
          </a:p>
          <a:p>
            <a:endParaRPr lang="es-ES" dirty="0"/>
          </a:p>
        </p:txBody>
      </p:sp>
    </p:spTree>
    <p:extLst>
      <p:ext uri="{BB962C8B-B14F-4D97-AF65-F5344CB8AC3E}">
        <p14:creationId xmlns:p14="http://schemas.microsoft.com/office/powerpoint/2010/main" val="3912616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884408" cy="1325563"/>
          </a:xfrm>
        </p:spPr>
        <p:txBody>
          <a:bodyPr/>
          <a:lstStyle/>
          <a:p>
            <a:r>
              <a:rPr lang="es-ES" b="1" spc="-5" dirty="0" smtClean="0">
                <a:solidFill>
                  <a:srgbClr val="538DD3"/>
                </a:solidFill>
                <a:latin typeface="Times New Roman"/>
                <a:cs typeface="Times New Roman"/>
              </a:rPr>
              <a:t>Grupos de algoritmos de Machine </a:t>
            </a:r>
            <a:r>
              <a:rPr lang="es-ES" b="1" spc="-5" dirty="0" err="1" smtClean="0">
                <a:solidFill>
                  <a:srgbClr val="538DD3"/>
                </a:solidFill>
                <a:latin typeface="Times New Roman"/>
                <a:cs typeface="Times New Roman"/>
              </a:rPr>
              <a:t>Learning</a:t>
            </a:r>
            <a:endParaRPr lang="es-ES" dirty="0"/>
          </a:p>
        </p:txBody>
      </p:sp>
      <p:sp>
        <p:nvSpPr>
          <p:cNvPr id="3" name="Marcador de contenido 2"/>
          <p:cNvSpPr>
            <a:spLocks noGrp="1"/>
          </p:cNvSpPr>
          <p:nvPr>
            <p:ph idx="1"/>
          </p:nvPr>
        </p:nvSpPr>
        <p:spPr>
          <a:xfrm>
            <a:off x="658368" y="1472184"/>
            <a:ext cx="10762488" cy="5093208"/>
          </a:xfrm>
        </p:spPr>
        <p:txBody>
          <a:bodyPr>
            <a:normAutofit fontScale="62500" lnSpcReduction="20000"/>
          </a:bodyPr>
          <a:lstStyle/>
          <a:p>
            <a:pPr algn="just">
              <a:buFont typeface="Wingdings" panose="05000000000000000000" pitchFamily="2" charset="2"/>
              <a:buChar char="q"/>
            </a:pPr>
            <a:r>
              <a:rPr lang="es-ES" sz="4400" b="1" dirty="0" smtClean="0">
                <a:solidFill>
                  <a:srgbClr val="002060"/>
                </a:solidFill>
              </a:rPr>
              <a:t>DOS GRUPOS PRINCIPALES</a:t>
            </a:r>
          </a:p>
          <a:p>
            <a:pPr algn="just"/>
            <a:r>
              <a:rPr lang="es-ES" sz="3600" b="1" dirty="0" smtClean="0">
                <a:solidFill>
                  <a:schemeClr val="accent1">
                    <a:lumMod val="75000"/>
                  </a:schemeClr>
                </a:solidFill>
              </a:rPr>
              <a:t>Aprendizaje Supervisado</a:t>
            </a:r>
            <a:r>
              <a:rPr lang="es-ES" sz="3600" b="1" dirty="0" smtClean="0"/>
              <a:t>: </a:t>
            </a:r>
            <a:r>
              <a:rPr lang="es-ES" sz="3600" dirty="0" smtClean="0"/>
              <a:t> algoritmos que enseñan a la máquina mediante el ejemplo. El programador proporciona al algoritmo un conjunto de datos conocidos que incluye los datos de </a:t>
            </a:r>
            <a:r>
              <a:rPr lang="es-ES" sz="3600" b="1" dirty="0" smtClean="0"/>
              <a:t>entrada</a:t>
            </a:r>
            <a:r>
              <a:rPr lang="es-ES" sz="3600" dirty="0" smtClean="0"/>
              <a:t> y </a:t>
            </a:r>
            <a:r>
              <a:rPr lang="es-ES" sz="3600" b="1" dirty="0" smtClean="0"/>
              <a:t>salida; </a:t>
            </a:r>
            <a:r>
              <a:rPr lang="es-ES" sz="3600" dirty="0" smtClean="0"/>
              <a:t>el algoritmo debe encontrar un método específico para llegar a esas salidas a partir de las entradas dadas. </a:t>
            </a:r>
            <a:r>
              <a:rPr lang="es-ES" sz="3600" dirty="0"/>
              <a:t>El </a:t>
            </a:r>
            <a:r>
              <a:rPr lang="es-ES" sz="3600" dirty="0" smtClean="0"/>
              <a:t>objetivo es crear </a:t>
            </a:r>
            <a:r>
              <a:rPr lang="es-ES" sz="3600" dirty="0"/>
              <a:t>una función capaz de predecir el valor correspondiente a cualquier objeto de entrada válida después de haber visto una serie de ejemplos, los datos de entrenamiento. Para ello, tiene que generalizar a partir de los datos presentados a las situaciones no vistas previamente</a:t>
            </a:r>
            <a:r>
              <a:rPr lang="es-ES" sz="3600" dirty="0" smtClean="0"/>
              <a:t>. Las utilidades más comunes de las técnicas de aprendizaje supervisado son de clasificación y regresión.</a:t>
            </a:r>
          </a:p>
          <a:p>
            <a:pPr algn="just"/>
            <a:r>
              <a:rPr lang="es-ES" sz="3600" b="1" dirty="0">
                <a:solidFill>
                  <a:schemeClr val="accent1">
                    <a:lumMod val="75000"/>
                  </a:schemeClr>
                </a:solidFill>
              </a:rPr>
              <a:t>Aprendizaje No Supervisado</a:t>
            </a:r>
            <a:r>
              <a:rPr lang="es-ES" sz="3600" dirty="0" smtClean="0"/>
              <a:t>: el algoritmo estudia los datos para identificar patrones en los mismos, </a:t>
            </a:r>
            <a:r>
              <a:rPr lang="es-ES" sz="3600" b="1" dirty="0" smtClean="0"/>
              <a:t>sin instrucciones ni conocimiento a priori</a:t>
            </a:r>
            <a:r>
              <a:rPr lang="es-ES" sz="3600" dirty="0" smtClean="0"/>
              <a:t>. La máquina determina las correlaciones y relaciones analizando los datos disponibles.  El aprendizaje no supervisado usa datos históricos que no están etiquetados, con el fin de explorarlos para encontrar alguna estructura o forma de organizarlos. Muy frecuente en campañas de marketing altamente segmentadas que buscan agrupar clientes con características o comportamientos similares.</a:t>
            </a:r>
          </a:p>
          <a:p>
            <a:endParaRPr lang="es-ES" b="1" dirty="0">
              <a:solidFill>
                <a:schemeClr val="accent1">
                  <a:lumMod val="75000"/>
                </a:schemeClr>
              </a:solidFill>
            </a:endParaRPr>
          </a:p>
        </p:txBody>
      </p:sp>
    </p:spTree>
    <p:extLst>
      <p:ext uri="{BB962C8B-B14F-4D97-AF65-F5344CB8AC3E}">
        <p14:creationId xmlns:p14="http://schemas.microsoft.com/office/powerpoint/2010/main" val="68326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884408" cy="1325563"/>
          </a:xfrm>
        </p:spPr>
        <p:txBody>
          <a:bodyPr/>
          <a:lstStyle/>
          <a:p>
            <a:r>
              <a:rPr lang="es-ES" b="1" spc="-5" dirty="0" smtClean="0">
                <a:solidFill>
                  <a:srgbClr val="538DD3"/>
                </a:solidFill>
                <a:latin typeface="Times New Roman"/>
                <a:cs typeface="Times New Roman"/>
              </a:rPr>
              <a:t>Grupos de algoritmos de Machine </a:t>
            </a:r>
            <a:r>
              <a:rPr lang="es-ES" b="1" spc="-5" dirty="0" err="1" smtClean="0">
                <a:solidFill>
                  <a:srgbClr val="538DD3"/>
                </a:solidFill>
                <a:latin typeface="Times New Roman"/>
                <a:cs typeface="Times New Roman"/>
              </a:rPr>
              <a:t>Learning</a:t>
            </a:r>
            <a:endParaRPr lang="es-ES" dirty="0"/>
          </a:p>
        </p:txBody>
      </p:sp>
      <p:sp>
        <p:nvSpPr>
          <p:cNvPr id="3" name="Marcador de contenido 2"/>
          <p:cNvSpPr>
            <a:spLocks noGrp="1"/>
          </p:cNvSpPr>
          <p:nvPr>
            <p:ph idx="1"/>
          </p:nvPr>
        </p:nvSpPr>
        <p:spPr>
          <a:xfrm>
            <a:off x="658368" y="1472184"/>
            <a:ext cx="10762488" cy="5093208"/>
          </a:xfrm>
        </p:spPr>
        <p:txBody>
          <a:bodyPr>
            <a:normAutofit fontScale="62500" lnSpcReduction="20000"/>
          </a:bodyPr>
          <a:lstStyle/>
          <a:p>
            <a:pPr algn="just">
              <a:buFont typeface="Wingdings" panose="05000000000000000000" pitchFamily="2" charset="2"/>
              <a:buChar char="q"/>
            </a:pPr>
            <a:r>
              <a:rPr lang="es-ES" sz="4400" b="1" dirty="0" smtClean="0">
                <a:solidFill>
                  <a:srgbClr val="002060"/>
                </a:solidFill>
              </a:rPr>
              <a:t>PERO </a:t>
            </a:r>
            <a:r>
              <a:rPr lang="es-ES" sz="4400" b="1" dirty="0">
                <a:solidFill>
                  <a:srgbClr val="002060"/>
                </a:solidFill>
              </a:rPr>
              <a:t>TAMBIÉN SE PUEDE DISTINGUIR</a:t>
            </a:r>
          </a:p>
          <a:p>
            <a:pPr algn="just"/>
            <a:r>
              <a:rPr lang="es-ES" sz="3600" b="1" dirty="0">
                <a:solidFill>
                  <a:schemeClr val="accent1">
                    <a:lumMod val="75000"/>
                  </a:schemeClr>
                </a:solidFill>
              </a:rPr>
              <a:t>Aprendizaje </a:t>
            </a:r>
            <a:r>
              <a:rPr lang="es-ES" sz="3600" b="1" dirty="0" err="1" smtClean="0">
                <a:solidFill>
                  <a:schemeClr val="accent1">
                    <a:lumMod val="75000"/>
                  </a:schemeClr>
                </a:solidFill>
              </a:rPr>
              <a:t>Semisupervisado</a:t>
            </a:r>
            <a:r>
              <a:rPr lang="es-ES" sz="3600" b="1" dirty="0" smtClean="0">
                <a:solidFill>
                  <a:schemeClr val="accent1">
                    <a:lumMod val="75000"/>
                  </a:schemeClr>
                </a:solidFill>
              </a:rPr>
              <a:t>: </a:t>
            </a:r>
            <a:r>
              <a:rPr lang="es-ES" sz="3600" dirty="0" smtClean="0"/>
              <a:t>estos algoritmos combinan las características de los grupos anteriores. </a:t>
            </a:r>
            <a:r>
              <a:rPr lang="es-ES" sz="3600" dirty="0"/>
              <a:t>S</a:t>
            </a:r>
            <a:r>
              <a:rPr lang="es-ES" sz="3600" dirty="0" smtClean="0"/>
              <a:t>e </a:t>
            </a:r>
            <a:r>
              <a:rPr lang="es-ES" sz="3600" dirty="0"/>
              <a:t>entrena un modelo matemático a partir de un conjunto de datos que contiene tanto datos etiquetados como no </a:t>
            </a:r>
            <a:r>
              <a:rPr lang="es-ES" sz="3600" dirty="0" smtClean="0"/>
              <a:t>etiquetados</a:t>
            </a:r>
            <a:r>
              <a:rPr lang="es-ES" sz="3700" dirty="0"/>
              <a:t>. </a:t>
            </a:r>
            <a:r>
              <a:rPr lang="es-ES" sz="3700" dirty="0" smtClean="0"/>
              <a:t>Utilizan </a:t>
            </a:r>
            <a:r>
              <a:rPr lang="es-ES" sz="3700" dirty="0"/>
              <a:t>la información </a:t>
            </a:r>
            <a:r>
              <a:rPr lang="es-ES" sz="3700" dirty="0" smtClean="0"/>
              <a:t>de </a:t>
            </a:r>
            <a:r>
              <a:rPr lang="es-ES" sz="3700" dirty="0"/>
              <a:t>los datos no etiquetados para mejorar el rendimiento del modelo en la tarea de clasificación o </a:t>
            </a:r>
            <a:r>
              <a:rPr lang="es-ES" sz="3700" dirty="0" smtClean="0"/>
              <a:t>predicción.</a:t>
            </a:r>
            <a:endParaRPr lang="es-ES" sz="3600" b="1" dirty="0" smtClean="0"/>
          </a:p>
          <a:p>
            <a:pPr algn="just"/>
            <a:r>
              <a:rPr lang="es-ES" sz="3600" b="1" dirty="0">
                <a:solidFill>
                  <a:schemeClr val="accent1">
                    <a:lumMod val="75000"/>
                  </a:schemeClr>
                </a:solidFill>
              </a:rPr>
              <a:t>Aprendizaje por </a:t>
            </a:r>
            <a:r>
              <a:rPr lang="es-ES" sz="3600" b="1" dirty="0" smtClean="0">
                <a:solidFill>
                  <a:schemeClr val="accent1">
                    <a:lumMod val="75000"/>
                  </a:schemeClr>
                </a:solidFill>
              </a:rPr>
              <a:t>Refuerzo: </a:t>
            </a:r>
            <a:r>
              <a:rPr lang="es-ES" sz="3600" dirty="0" smtClean="0"/>
              <a:t>algoritmos de aprendizaje </a:t>
            </a:r>
            <a:r>
              <a:rPr lang="es-ES" sz="3600" dirty="0"/>
              <a:t>reglamentados, </a:t>
            </a:r>
            <a:r>
              <a:rPr lang="es-ES" sz="3600" dirty="0" smtClean="0"/>
              <a:t>a los que </a:t>
            </a:r>
            <a:r>
              <a:rPr lang="es-ES" sz="3600" dirty="0"/>
              <a:t>se </a:t>
            </a:r>
            <a:r>
              <a:rPr lang="es-ES" sz="3600" dirty="0" smtClean="0"/>
              <a:t>proporciona un </a:t>
            </a:r>
            <a:r>
              <a:rPr lang="es-ES" sz="3600" dirty="0"/>
              <a:t>conjunto de acciones, parámetros y valores </a:t>
            </a:r>
            <a:r>
              <a:rPr lang="es-ES" sz="3600" dirty="0" smtClean="0"/>
              <a:t>finales. Al </a:t>
            </a:r>
            <a:r>
              <a:rPr lang="es-ES" sz="3600" dirty="0"/>
              <a:t>definir las reglas, el algoritmo de aprendizaje automático intenta explorar diferentes opciones y posibilidades, monitorizando y evaluando cada resultado para determinar cuál es el óptimo</a:t>
            </a:r>
            <a:r>
              <a:rPr lang="es-ES" sz="3600" dirty="0" smtClean="0"/>
              <a:t>. Este sistema enseña a la máquina a través del proceso de ensayo y error. Aprende de experiencias pasadas y comienza a adaptar su enfoque en respuesta a la situación para lograr el mejor </a:t>
            </a:r>
            <a:r>
              <a:rPr lang="es-ES" sz="3700" dirty="0"/>
              <a:t>resultado posible. modelo de aprendizaje en el que el sistema aprende a través de la interacción con su entorno. El sistema recibe retroalimentación en forma de recompensas o castigos en función de sus acciones, y su objetivo es maximizar la recompensa a largo plazo. El aprendizaje por refuerzo se utiliza comúnmente en robótica, juegos y otros escenarios donde el sistema debe aprender a tomar decisiones óptimas en un entorno cambiante</a:t>
            </a:r>
          </a:p>
          <a:p>
            <a:endParaRPr lang="es-ES" b="1" dirty="0">
              <a:solidFill>
                <a:schemeClr val="accent1">
                  <a:lumMod val="75000"/>
                </a:schemeClr>
              </a:solidFill>
            </a:endParaRPr>
          </a:p>
        </p:txBody>
      </p:sp>
    </p:spTree>
    <p:extLst>
      <p:ext uri="{BB962C8B-B14F-4D97-AF65-F5344CB8AC3E}">
        <p14:creationId xmlns:p14="http://schemas.microsoft.com/office/powerpoint/2010/main" val="864500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93776" y="1490472"/>
            <a:ext cx="11356848" cy="5285232"/>
          </a:xfrm>
        </p:spPr>
        <p:txBody>
          <a:bodyPr>
            <a:normAutofit fontScale="70000" lnSpcReduction="20000"/>
          </a:bodyPr>
          <a:lstStyle/>
          <a:p>
            <a:pPr algn="just"/>
            <a:r>
              <a:rPr lang="es-ES" b="1" dirty="0" smtClean="0">
                <a:solidFill>
                  <a:schemeClr val="accent1">
                    <a:lumMod val="75000"/>
                  </a:schemeClr>
                </a:solidFill>
              </a:rPr>
              <a:t>Reglas de asociación: </a:t>
            </a:r>
            <a:r>
              <a:rPr lang="es-ES" dirty="0" smtClean="0"/>
              <a:t>detectan relaciones entre variables. Algunos de los algoritmos son el </a:t>
            </a:r>
            <a:r>
              <a:rPr lang="es-ES" dirty="0" err="1" smtClean="0"/>
              <a:t>Eclat</a:t>
            </a:r>
            <a:r>
              <a:rPr lang="es-ES" dirty="0" smtClean="0"/>
              <a:t> y el de Patrón Frecuente.</a:t>
            </a:r>
            <a:endParaRPr lang="es-ES" b="1" dirty="0" smtClean="0"/>
          </a:p>
          <a:p>
            <a:pPr algn="just"/>
            <a:r>
              <a:rPr lang="es-ES" b="1" dirty="0" smtClean="0">
                <a:solidFill>
                  <a:schemeClr val="accent1">
                    <a:lumMod val="75000"/>
                  </a:schemeClr>
                </a:solidFill>
              </a:rPr>
              <a:t>Algoritmos genéticos: </a:t>
            </a:r>
            <a:r>
              <a:rPr lang="es-ES" dirty="0"/>
              <a:t>procesos de búsqueda heurística que imitan la evolución biológica como estrategia para resolver problemas de optimización de búsqueda global, </a:t>
            </a:r>
            <a:r>
              <a:rPr lang="es-ES" dirty="0" smtClean="0"/>
              <a:t>explorando </a:t>
            </a:r>
            <a:r>
              <a:rPr lang="es-ES" dirty="0"/>
              <a:t>todo el espacio de soluciones del problema permitiendo salir de posibles óptimos locales e ir en busca de óptimos </a:t>
            </a:r>
            <a:r>
              <a:rPr lang="es-ES" dirty="0" smtClean="0"/>
              <a:t>globales.</a:t>
            </a:r>
            <a:endParaRPr lang="es-ES" dirty="0"/>
          </a:p>
          <a:p>
            <a:pPr algn="just"/>
            <a:r>
              <a:rPr lang="es-ES" b="1" u="sng" dirty="0" smtClean="0">
                <a:solidFill>
                  <a:schemeClr val="accent1">
                    <a:lumMod val="75000"/>
                  </a:schemeClr>
                </a:solidFill>
              </a:rPr>
              <a:t>Árboles de decisión: </a:t>
            </a:r>
            <a:r>
              <a:rPr lang="es-ES" dirty="0"/>
              <a:t>son </a:t>
            </a:r>
            <a:r>
              <a:rPr lang="es-ES" dirty="0" smtClean="0"/>
              <a:t>algoritmos con una estructura </a:t>
            </a:r>
            <a:r>
              <a:rPr lang="es-ES" dirty="0"/>
              <a:t>de árbol similar a un diagrama de flujo que </a:t>
            </a:r>
            <a:r>
              <a:rPr lang="es-ES" dirty="0" smtClean="0"/>
              <a:t>utilizan </a:t>
            </a:r>
            <a:r>
              <a:rPr lang="es-ES" dirty="0"/>
              <a:t>un método de bifurcación para ilustrar cada resultado posible de una decisión. Cada nodo dentro del árbol representa una prueba en una variable específica, y cada rama es el resultado de esa prueba.</a:t>
            </a:r>
          </a:p>
          <a:p>
            <a:pPr algn="just"/>
            <a:r>
              <a:rPr lang="es-ES" b="1" u="sng" dirty="0" smtClean="0">
                <a:solidFill>
                  <a:schemeClr val="accent1">
                    <a:lumMod val="75000"/>
                  </a:schemeClr>
                </a:solidFill>
              </a:rPr>
              <a:t>Redes neuronales y aprendizaje profundo (</a:t>
            </a:r>
            <a:r>
              <a:rPr lang="es-ES" b="1" i="1" u="sng" dirty="0" err="1">
                <a:solidFill>
                  <a:schemeClr val="accent1">
                    <a:lumMod val="75000"/>
                  </a:schemeClr>
                </a:solidFill>
              </a:rPr>
              <a:t>d</a:t>
            </a:r>
            <a:r>
              <a:rPr lang="es-ES" b="1" i="1" u="sng" dirty="0" err="1" smtClean="0">
                <a:solidFill>
                  <a:schemeClr val="accent1">
                    <a:lumMod val="75000"/>
                  </a:schemeClr>
                </a:solidFill>
              </a:rPr>
              <a:t>eep</a:t>
            </a:r>
            <a:r>
              <a:rPr lang="es-ES" b="1" i="1" u="sng" dirty="0" smtClean="0">
                <a:solidFill>
                  <a:schemeClr val="accent1">
                    <a:lumMod val="75000"/>
                  </a:schemeClr>
                </a:solidFill>
              </a:rPr>
              <a:t> </a:t>
            </a:r>
            <a:r>
              <a:rPr lang="es-ES" b="1" i="1" u="sng" dirty="0" err="1" smtClean="0">
                <a:solidFill>
                  <a:schemeClr val="accent1">
                    <a:lumMod val="75000"/>
                  </a:schemeClr>
                </a:solidFill>
              </a:rPr>
              <a:t>learning</a:t>
            </a:r>
            <a:r>
              <a:rPr lang="es-ES" b="1" u="sng" dirty="0" smtClean="0">
                <a:solidFill>
                  <a:schemeClr val="accent1">
                    <a:lumMod val="75000"/>
                  </a:schemeClr>
                </a:solidFill>
              </a:rPr>
              <a:t>): comprenden muchos </a:t>
            </a:r>
            <a:r>
              <a:rPr lang="es-ES" dirty="0" smtClean="0"/>
              <a:t>elementos </a:t>
            </a:r>
            <a:r>
              <a:rPr lang="es-ES" dirty="0"/>
              <a:t>de procesamiento interconectados, que trabajan al unísono para resolver problemas </a:t>
            </a:r>
            <a:r>
              <a:rPr lang="es-ES" dirty="0" smtClean="0"/>
              <a:t>específicos. Aprenden </a:t>
            </a:r>
            <a:r>
              <a:rPr lang="es-ES" dirty="0"/>
              <a:t>con el ejemplo y la experiencia, y son </a:t>
            </a:r>
            <a:r>
              <a:rPr lang="es-ES" dirty="0" smtClean="0"/>
              <a:t>muy </a:t>
            </a:r>
            <a:r>
              <a:rPr lang="es-ES" dirty="0"/>
              <a:t>útiles para modelar relaciones no lineales en datos de alta dimensión, o donde la relación entre las variables de entrada es difícil de </a:t>
            </a:r>
            <a:r>
              <a:rPr lang="es-ES" dirty="0" smtClean="0"/>
              <a:t>entender.</a:t>
            </a:r>
            <a:endParaRPr lang="es-ES" b="1" u="sng" dirty="0" smtClean="0">
              <a:solidFill>
                <a:schemeClr val="accent1">
                  <a:lumMod val="75000"/>
                </a:schemeClr>
              </a:solidFill>
            </a:endParaRPr>
          </a:p>
          <a:p>
            <a:pPr algn="just"/>
            <a:r>
              <a:rPr lang="es-ES" b="1" u="sng" dirty="0" smtClean="0">
                <a:solidFill>
                  <a:schemeClr val="accent1">
                    <a:lumMod val="75000"/>
                  </a:schemeClr>
                </a:solidFill>
              </a:rPr>
              <a:t>Máquinas de vector soporte:</a:t>
            </a:r>
            <a:r>
              <a:rPr lang="es-ES" dirty="0">
                <a:solidFill>
                  <a:schemeClr val="accent1">
                    <a:lumMod val="75000"/>
                  </a:schemeClr>
                </a:solidFill>
              </a:rPr>
              <a:t> </a:t>
            </a:r>
            <a:r>
              <a:rPr lang="es-ES" sz="2900" dirty="0"/>
              <a:t>métodos utilizados para clasificación y regresión, usando un conjunto de ejemplos de entrenamiento clasificado en dos categorías para construir un modelo que prediga si un nuevo ejemplo pertenece a una u otra de dichas </a:t>
            </a:r>
            <a:r>
              <a:rPr lang="es-ES" sz="2900" dirty="0" smtClean="0"/>
              <a:t>categorías.</a:t>
            </a:r>
            <a:endParaRPr lang="es-ES" sz="2900" dirty="0"/>
          </a:p>
          <a:p>
            <a:pPr algn="just"/>
            <a:r>
              <a:rPr lang="es-ES" b="1" dirty="0" smtClean="0">
                <a:solidFill>
                  <a:schemeClr val="accent1">
                    <a:lumMod val="75000"/>
                  </a:schemeClr>
                </a:solidFill>
              </a:rPr>
              <a:t>Algoritmos de agrupamiento: </a:t>
            </a:r>
            <a:r>
              <a:rPr lang="es-ES" sz="2900" dirty="0"/>
              <a:t>permiten la clasificación </a:t>
            </a:r>
            <a:r>
              <a:rPr lang="es-ES" dirty="0"/>
              <a:t>de observaciones en </a:t>
            </a:r>
            <a:r>
              <a:rPr lang="es-ES" dirty="0" smtClean="0"/>
              <a:t>subgrupos, de modo que las </a:t>
            </a:r>
            <a:r>
              <a:rPr lang="es-ES" dirty="0"/>
              <a:t>observaciones en cada grupo se asemejen entre sí según ciertos criterios</a:t>
            </a:r>
            <a:r>
              <a:rPr lang="es-ES" dirty="0" smtClean="0"/>
              <a:t>.</a:t>
            </a:r>
            <a:endParaRPr lang="es-ES" b="1" dirty="0" smtClean="0">
              <a:solidFill>
                <a:schemeClr val="accent1">
                  <a:lumMod val="75000"/>
                </a:schemeClr>
              </a:solidFill>
            </a:endParaRPr>
          </a:p>
          <a:p>
            <a:pPr algn="just"/>
            <a:r>
              <a:rPr lang="es-ES" b="1" dirty="0" smtClean="0">
                <a:solidFill>
                  <a:schemeClr val="accent1">
                    <a:lumMod val="75000"/>
                  </a:schemeClr>
                </a:solidFill>
              </a:rPr>
              <a:t>Redes bayesianas: </a:t>
            </a:r>
            <a:r>
              <a:rPr lang="es-ES" dirty="0"/>
              <a:t> </a:t>
            </a:r>
            <a:r>
              <a:rPr lang="es-ES" dirty="0" smtClean="0"/>
              <a:t>modelos probabilísticos </a:t>
            </a:r>
            <a:r>
              <a:rPr lang="es-ES" dirty="0"/>
              <a:t>que </a:t>
            </a:r>
            <a:r>
              <a:rPr lang="es-ES" dirty="0" smtClean="0"/>
              <a:t>representan </a:t>
            </a:r>
            <a:r>
              <a:rPr lang="es-ES" dirty="0"/>
              <a:t>una serie de variables de azar y sus independencias condicionales a través de un grafo </a:t>
            </a:r>
            <a:r>
              <a:rPr lang="es-ES" dirty="0" err="1"/>
              <a:t>acíclico</a:t>
            </a:r>
            <a:r>
              <a:rPr lang="es-ES" dirty="0"/>
              <a:t> dirigido. </a:t>
            </a:r>
            <a:r>
              <a:rPr lang="es-ES" dirty="0" smtClean="0"/>
              <a:t>Se usan para modelar, por ejemplo, </a:t>
            </a:r>
            <a:r>
              <a:rPr lang="es-ES" dirty="0"/>
              <a:t>las relaciones probabilísticas entre enfermedades y </a:t>
            </a:r>
            <a:r>
              <a:rPr lang="es-ES" dirty="0" smtClean="0"/>
              <a:t>síntomas.</a:t>
            </a:r>
            <a:endParaRPr lang="es-ES" dirty="0"/>
          </a:p>
        </p:txBody>
      </p:sp>
      <p:sp>
        <p:nvSpPr>
          <p:cNvPr id="4" name="Título 1"/>
          <p:cNvSpPr>
            <a:spLocks noGrp="1"/>
          </p:cNvSpPr>
          <p:nvPr>
            <p:ph type="title"/>
          </p:nvPr>
        </p:nvSpPr>
        <p:spPr>
          <a:xfrm>
            <a:off x="838200" y="365125"/>
            <a:ext cx="10884408" cy="1325563"/>
          </a:xfrm>
        </p:spPr>
        <p:txBody>
          <a:bodyPr/>
          <a:lstStyle/>
          <a:p>
            <a:r>
              <a:rPr lang="es-ES" b="1" spc="-5" dirty="0" smtClean="0">
                <a:solidFill>
                  <a:srgbClr val="538DD3"/>
                </a:solidFill>
                <a:latin typeface="Times New Roman"/>
                <a:cs typeface="Times New Roman"/>
              </a:rPr>
              <a:t>Técnicas de clasificación/regresión</a:t>
            </a:r>
            <a:endParaRPr lang="es-ES" dirty="0"/>
          </a:p>
        </p:txBody>
      </p:sp>
    </p:spTree>
    <p:extLst>
      <p:ext uri="{BB962C8B-B14F-4D97-AF65-F5344CB8AC3E}">
        <p14:creationId xmlns:p14="http://schemas.microsoft.com/office/powerpoint/2010/main" val="281752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538DD3"/>
                </a:solidFill>
                <a:latin typeface="Times New Roman"/>
                <a:cs typeface="Times New Roman"/>
              </a:rPr>
              <a:t>Modelos de Machine </a:t>
            </a:r>
            <a:r>
              <a:rPr lang="es-ES" b="1" spc="-5" dirty="0" err="1" smtClean="0">
                <a:solidFill>
                  <a:srgbClr val="538DD3"/>
                </a:solidFill>
                <a:latin typeface="Times New Roman"/>
                <a:cs typeface="Times New Roman"/>
              </a:rPr>
              <a:t>Learning</a:t>
            </a:r>
            <a:endParaRPr lang="es-ES" dirty="0"/>
          </a:p>
        </p:txBody>
      </p:sp>
      <p:sp>
        <p:nvSpPr>
          <p:cNvPr id="3" name="Marcador de contenido 2"/>
          <p:cNvSpPr>
            <a:spLocks noGrp="1"/>
          </p:cNvSpPr>
          <p:nvPr>
            <p:ph idx="1"/>
          </p:nvPr>
        </p:nvSpPr>
        <p:spPr/>
        <p:txBody>
          <a:bodyPr/>
          <a:lstStyle/>
          <a:p>
            <a:pPr marL="0" indent="0">
              <a:buNone/>
            </a:pPr>
            <a:r>
              <a:rPr lang="es-ES" dirty="0"/>
              <a:t>https://www.youtube.com/watch?v=yN7ypxC7838&amp;t=207s</a:t>
            </a:r>
          </a:p>
        </p:txBody>
      </p:sp>
      <p:pic>
        <p:nvPicPr>
          <p:cNvPr id="4" name="yN7ypxC7838"/>
          <p:cNvPicPr>
            <a:picLocks noRot="1" noChangeAspect="1"/>
          </p:cNvPicPr>
          <p:nvPr>
            <a:videoFile r:link="rId1"/>
          </p:nvPr>
        </p:nvPicPr>
        <p:blipFill>
          <a:blip r:embed="rId3"/>
          <a:stretch>
            <a:fillRect/>
          </a:stretch>
        </p:blipFill>
        <p:spPr>
          <a:xfrm>
            <a:off x="2466108" y="2680422"/>
            <a:ext cx="6216073" cy="3496541"/>
          </a:xfrm>
          <a:prstGeom prst="rect">
            <a:avLst/>
          </a:prstGeom>
        </p:spPr>
      </p:pic>
    </p:spTree>
    <p:extLst>
      <p:ext uri="{BB962C8B-B14F-4D97-AF65-F5344CB8AC3E}">
        <p14:creationId xmlns:p14="http://schemas.microsoft.com/office/powerpoint/2010/main" val="4164733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38200" y="365125"/>
            <a:ext cx="10884408" cy="1325563"/>
          </a:xfrm>
        </p:spPr>
        <p:txBody>
          <a:bodyPr/>
          <a:lstStyle/>
          <a:p>
            <a:r>
              <a:rPr lang="es-ES" b="1" spc="-5" dirty="0" smtClean="0">
                <a:solidFill>
                  <a:srgbClr val="538DD3"/>
                </a:solidFill>
                <a:latin typeface="Times New Roman"/>
                <a:cs typeface="Times New Roman"/>
              </a:rPr>
              <a:t>Fases</a:t>
            </a:r>
            <a:endParaRPr lang="es-ES" dirty="0"/>
          </a:p>
        </p:txBody>
      </p:sp>
      <p:sp>
        <p:nvSpPr>
          <p:cNvPr id="2" name="Marcador de contenido 1"/>
          <p:cNvSpPr>
            <a:spLocks noGrp="1"/>
          </p:cNvSpPr>
          <p:nvPr>
            <p:ph idx="1"/>
          </p:nvPr>
        </p:nvSpPr>
        <p:spPr/>
        <p:txBody>
          <a:bodyPr>
            <a:normAutofit fontScale="77500" lnSpcReduction="20000"/>
          </a:bodyPr>
          <a:lstStyle/>
          <a:p>
            <a:pPr algn="just">
              <a:lnSpc>
                <a:spcPct val="120000"/>
              </a:lnSpc>
            </a:pPr>
            <a:r>
              <a:rPr lang="es-ES" b="1" dirty="0" smtClean="0">
                <a:solidFill>
                  <a:srgbClr val="0070C0"/>
                </a:solidFill>
              </a:rPr>
              <a:t>Definición del objetivo, </a:t>
            </a:r>
            <a:r>
              <a:rPr lang="es-ES" dirty="0" smtClean="0"/>
              <a:t>planteamiento de un problema que requiera una solución a medio-largo plazo.</a:t>
            </a:r>
          </a:p>
          <a:p>
            <a:pPr algn="just">
              <a:lnSpc>
                <a:spcPct val="120000"/>
              </a:lnSpc>
            </a:pPr>
            <a:r>
              <a:rPr lang="es-ES" b="1" dirty="0" smtClean="0">
                <a:solidFill>
                  <a:srgbClr val="0070C0"/>
                </a:solidFill>
              </a:rPr>
              <a:t>Recopilación y preparación de datos, </a:t>
            </a:r>
            <a:r>
              <a:rPr lang="es-ES" dirty="0"/>
              <a:t>procesamiento y limpieza de los mismos.</a:t>
            </a:r>
          </a:p>
          <a:p>
            <a:pPr algn="just">
              <a:lnSpc>
                <a:spcPct val="120000"/>
              </a:lnSpc>
            </a:pPr>
            <a:r>
              <a:rPr lang="es-ES" b="1" dirty="0" smtClean="0">
                <a:solidFill>
                  <a:srgbClr val="0070C0"/>
                </a:solidFill>
              </a:rPr>
              <a:t>Elección del modelo: </a:t>
            </a:r>
            <a:r>
              <a:rPr lang="es-ES" dirty="0" smtClean="0"/>
              <a:t>¿Clasificación </a:t>
            </a:r>
            <a:r>
              <a:rPr lang="es-ES" dirty="0"/>
              <a:t>binaria? </a:t>
            </a:r>
            <a:r>
              <a:rPr lang="es-ES" dirty="0" smtClean="0"/>
              <a:t>¿Clasificación </a:t>
            </a:r>
            <a:r>
              <a:rPr lang="es-ES" dirty="0" err="1"/>
              <a:t>multiclase</a:t>
            </a:r>
            <a:r>
              <a:rPr lang="es-ES" dirty="0"/>
              <a:t>? </a:t>
            </a:r>
            <a:r>
              <a:rPr lang="es-ES" dirty="0" smtClean="0"/>
              <a:t>¿Regresión</a:t>
            </a:r>
            <a:r>
              <a:rPr lang="es-ES" dirty="0"/>
              <a:t>?</a:t>
            </a:r>
          </a:p>
          <a:p>
            <a:pPr algn="just">
              <a:lnSpc>
                <a:spcPct val="120000"/>
              </a:lnSpc>
            </a:pPr>
            <a:r>
              <a:rPr lang="es-ES" b="1" dirty="0" smtClean="0">
                <a:solidFill>
                  <a:srgbClr val="0070C0"/>
                </a:solidFill>
              </a:rPr>
              <a:t>Entrenamiento del modelo, </a:t>
            </a:r>
            <a:r>
              <a:rPr lang="es-ES" dirty="0"/>
              <a:t>suministrando al algoritmo la información que necesita para el aprendizaje inicial.</a:t>
            </a:r>
          </a:p>
          <a:p>
            <a:pPr algn="just">
              <a:lnSpc>
                <a:spcPct val="120000"/>
              </a:lnSpc>
            </a:pPr>
            <a:r>
              <a:rPr lang="es-ES" b="1" dirty="0" smtClean="0">
                <a:solidFill>
                  <a:srgbClr val="0070C0"/>
                </a:solidFill>
              </a:rPr>
              <a:t>Evaluación del modelo, </a:t>
            </a:r>
            <a:r>
              <a:rPr lang="es-ES" dirty="0"/>
              <a:t>diferenciando entre los datos de prueba y los de entrenamiento.</a:t>
            </a:r>
          </a:p>
          <a:p>
            <a:pPr algn="just">
              <a:lnSpc>
                <a:spcPct val="120000"/>
              </a:lnSpc>
            </a:pPr>
            <a:r>
              <a:rPr lang="es-ES" b="1" dirty="0" smtClean="0">
                <a:solidFill>
                  <a:srgbClr val="0070C0"/>
                </a:solidFill>
              </a:rPr>
              <a:t>Análisis de errores, </a:t>
            </a:r>
            <a:r>
              <a:rPr lang="es-ES" dirty="0"/>
              <a:t>permite modelar y cambiar los aspectos no relevantes para mejorar el </a:t>
            </a:r>
            <a:r>
              <a:rPr lang="es-ES" dirty="0" smtClean="0"/>
              <a:t>rendimiento.</a:t>
            </a:r>
            <a:endParaRPr lang="es-ES" b="1" dirty="0" smtClean="0">
              <a:solidFill>
                <a:srgbClr val="0070C0"/>
              </a:solidFill>
            </a:endParaRPr>
          </a:p>
          <a:p>
            <a:endParaRPr lang="es-ES" b="1" dirty="0" smtClean="0">
              <a:solidFill>
                <a:srgbClr val="0070C0"/>
              </a:solidFill>
            </a:endParaRPr>
          </a:p>
          <a:p>
            <a:endParaRPr lang="es-ES" b="1" dirty="0">
              <a:solidFill>
                <a:srgbClr val="0070C0"/>
              </a:solidFill>
            </a:endParaRPr>
          </a:p>
        </p:txBody>
      </p:sp>
    </p:spTree>
    <p:extLst>
      <p:ext uri="{BB962C8B-B14F-4D97-AF65-F5344CB8AC3E}">
        <p14:creationId xmlns:p14="http://schemas.microsoft.com/office/powerpoint/2010/main" val="2615709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573" y="1569587"/>
            <a:ext cx="7862854" cy="4481538"/>
          </a:xfrm>
          <a:prstGeom prst="rect">
            <a:avLst/>
          </a:prstGeom>
        </p:spPr>
      </p:pic>
      <p:sp>
        <p:nvSpPr>
          <p:cNvPr id="5" name="Título 1"/>
          <p:cNvSpPr>
            <a:spLocks noGrp="1"/>
          </p:cNvSpPr>
          <p:nvPr>
            <p:ph type="title"/>
          </p:nvPr>
        </p:nvSpPr>
        <p:spPr/>
        <p:txBody>
          <a:bodyPr/>
          <a:lstStyle/>
          <a:p>
            <a:r>
              <a:rPr lang="es-ES" b="1" spc="-5" dirty="0" smtClean="0">
                <a:solidFill>
                  <a:srgbClr val="538DD3"/>
                </a:solidFill>
                <a:latin typeface="Times New Roman"/>
                <a:cs typeface="Times New Roman"/>
              </a:rPr>
              <a:t>Machine </a:t>
            </a:r>
            <a:r>
              <a:rPr lang="es-ES" b="1" spc="-5" dirty="0" err="1" smtClean="0">
                <a:solidFill>
                  <a:srgbClr val="538DD3"/>
                </a:solidFill>
                <a:latin typeface="Times New Roman"/>
                <a:cs typeface="Times New Roman"/>
              </a:rPr>
              <a:t>Learning</a:t>
            </a:r>
            <a:r>
              <a:rPr lang="es-ES" b="1" spc="-5" dirty="0" smtClean="0">
                <a:solidFill>
                  <a:srgbClr val="538DD3"/>
                </a:solidFill>
                <a:latin typeface="Times New Roman"/>
                <a:cs typeface="Times New Roman"/>
              </a:rPr>
              <a:t>: es un proceso iterativo</a:t>
            </a:r>
            <a:endParaRPr lang="es-ES" dirty="0"/>
          </a:p>
        </p:txBody>
      </p:sp>
    </p:spTree>
    <p:extLst>
      <p:ext uri="{BB962C8B-B14F-4D97-AF65-F5344CB8AC3E}">
        <p14:creationId xmlns:p14="http://schemas.microsoft.com/office/powerpoint/2010/main" val="679519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146304" y="227965"/>
            <a:ext cx="11722608" cy="1325563"/>
          </a:xfrm>
        </p:spPr>
        <p:txBody>
          <a:bodyPr/>
          <a:lstStyle/>
          <a:p>
            <a:r>
              <a:rPr lang="es-ES" b="1" spc="-5" dirty="0" smtClean="0">
                <a:solidFill>
                  <a:srgbClr val="538DD3"/>
                </a:solidFill>
                <a:latin typeface="Times New Roman"/>
                <a:cs typeface="Times New Roman"/>
              </a:rPr>
              <a:t>Programación tradicional VS Machine </a:t>
            </a:r>
            <a:r>
              <a:rPr lang="es-ES" b="1" spc="-5" dirty="0" err="1" smtClean="0">
                <a:solidFill>
                  <a:srgbClr val="538DD3"/>
                </a:solidFill>
                <a:latin typeface="Times New Roman"/>
                <a:cs typeface="Times New Roman"/>
              </a:rPr>
              <a:t>Learning</a:t>
            </a:r>
            <a:endParaRPr lang="es-ES" dirty="0"/>
          </a:p>
        </p:txBody>
      </p:sp>
      <p:sp>
        <p:nvSpPr>
          <p:cNvPr id="2" name="Marcador de contenido 1"/>
          <p:cNvSpPr>
            <a:spLocks noGrp="1"/>
          </p:cNvSpPr>
          <p:nvPr>
            <p:ph idx="1"/>
          </p:nvPr>
        </p:nvSpPr>
        <p:spPr/>
        <p:txBody>
          <a:bodyPr>
            <a:normAutofit/>
          </a:bodyPr>
          <a:lstStyle/>
          <a:p>
            <a:endParaRPr lang="es-ES" b="1" dirty="0" smtClean="0">
              <a:solidFill>
                <a:srgbClr val="0070C0"/>
              </a:solidFill>
            </a:endParaRPr>
          </a:p>
          <a:p>
            <a:endParaRPr lang="es-ES" b="1" dirty="0">
              <a:solidFill>
                <a:srgbClr val="0070C0"/>
              </a:solidFill>
            </a:endParaRPr>
          </a:p>
        </p:txBody>
      </p:sp>
      <p:cxnSp>
        <p:nvCxnSpPr>
          <p:cNvPr id="35" name="Conector angular 34"/>
          <p:cNvCxnSpPr>
            <a:stCxn id="19" idx="2"/>
            <a:endCxn id="18" idx="2"/>
          </p:cNvCxnSpPr>
          <p:nvPr/>
        </p:nvCxnSpPr>
        <p:spPr>
          <a:xfrm rot="5400000" flipH="1">
            <a:off x="8325596" y="2942892"/>
            <a:ext cx="6128" cy="4483608"/>
          </a:xfrm>
          <a:prstGeom prst="bentConnector3">
            <a:avLst>
              <a:gd name="adj1" fmla="val -8356136"/>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42" name="Grupo 41"/>
          <p:cNvGrpSpPr/>
          <p:nvPr/>
        </p:nvGrpSpPr>
        <p:grpSpPr>
          <a:xfrm>
            <a:off x="566928" y="3944732"/>
            <a:ext cx="10808208" cy="2146958"/>
            <a:chOff x="566928" y="3944732"/>
            <a:chExt cx="10808208" cy="2146958"/>
          </a:xfrm>
        </p:grpSpPr>
        <p:sp>
          <p:nvSpPr>
            <p:cNvPr id="16" name="Rectángulo 15"/>
            <p:cNvSpPr/>
            <p:nvPr/>
          </p:nvSpPr>
          <p:spPr>
            <a:xfrm>
              <a:off x="576072" y="4450112"/>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TAREA</a:t>
              </a:r>
              <a:endParaRPr lang="es-ES" dirty="0"/>
            </a:p>
          </p:txBody>
        </p:sp>
        <p:sp>
          <p:nvSpPr>
            <p:cNvPr id="17" name="Rectángulo 16"/>
            <p:cNvSpPr/>
            <p:nvPr/>
          </p:nvSpPr>
          <p:spPr>
            <a:xfrm>
              <a:off x="2923032" y="4450112"/>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DATOS</a:t>
              </a:r>
              <a:endParaRPr lang="es-ES" dirty="0"/>
            </a:p>
          </p:txBody>
        </p:sp>
        <p:sp>
          <p:nvSpPr>
            <p:cNvPr id="18" name="Rectángulo 17"/>
            <p:cNvSpPr/>
            <p:nvPr/>
          </p:nvSpPr>
          <p:spPr>
            <a:xfrm>
              <a:off x="5282184" y="4450112"/>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ALGORITMO</a:t>
              </a:r>
              <a:endParaRPr lang="es-ES" dirty="0"/>
            </a:p>
          </p:txBody>
        </p:sp>
        <p:sp>
          <p:nvSpPr>
            <p:cNvPr id="19" name="Rectángulo 18"/>
            <p:cNvSpPr/>
            <p:nvPr/>
          </p:nvSpPr>
          <p:spPr>
            <a:xfrm>
              <a:off x="9765792" y="4456240"/>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RESULTADO</a:t>
              </a:r>
              <a:endParaRPr lang="es-ES" dirty="0"/>
            </a:p>
          </p:txBody>
        </p:sp>
        <p:sp>
          <p:nvSpPr>
            <p:cNvPr id="20" name="Rectángulo 19"/>
            <p:cNvSpPr/>
            <p:nvPr/>
          </p:nvSpPr>
          <p:spPr>
            <a:xfrm>
              <a:off x="7574280" y="4450112"/>
              <a:ext cx="1609344" cy="7315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MODELO</a:t>
              </a:r>
              <a:endParaRPr lang="es-ES" dirty="0"/>
            </a:p>
          </p:txBody>
        </p:sp>
        <p:cxnSp>
          <p:nvCxnSpPr>
            <p:cNvPr id="21" name="Conector recto de flecha 20"/>
            <p:cNvCxnSpPr>
              <a:stCxn id="16" idx="3"/>
              <a:endCxn id="17" idx="1"/>
            </p:cNvCxnSpPr>
            <p:nvPr/>
          </p:nvCxnSpPr>
          <p:spPr>
            <a:xfrm>
              <a:off x="2185416" y="4815872"/>
              <a:ext cx="73761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flipV="1">
              <a:off x="4553712" y="4815871"/>
              <a:ext cx="737616" cy="30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p:nvPr/>
          </p:nvCxnSpPr>
          <p:spPr>
            <a:xfrm flipV="1">
              <a:off x="6830568" y="4812823"/>
              <a:ext cx="737616" cy="30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p:cNvCxnSpPr>
              <a:stCxn id="20" idx="3"/>
              <a:endCxn id="19" idx="1"/>
            </p:cNvCxnSpPr>
            <p:nvPr/>
          </p:nvCxnSpPr>
          <p:spPr>
            <a:xfrm>
              <a:off x="9183624" y="4815872"/>
              <a:ext cx="582168" cy="61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7" name="CuadroTexto 36"/>
            <p:cNvSpPr txBox="1"/>
            <p:nvPr/>
          </p:nvSpPr>
          <p:spPr>
            <a:xfrm>
              <a:off x="7568184" y="5722358"/>
              <a:ext cx="1155381" cy="369332"/>
            </a:xfrm>
            <a:prstGeom prst="rect">
              <a:avLst/>
            </a:prstGeom>
            <a:noFill/>
          </p:spPr>
          <p:txBody>
            <a:bodyPr wrap="none" rtlCol="0">
              <a:spAutoFit/>
            </a:bodyPr>
            <a:lstStyle/>
            <a:p>
              <a:r>
                <a:rPr lang="es-ES" dirty="0" smtClean="0"/>
                <a:t>FEEDBACK</a:t>
              </a:r>
              <a:endParaRPr lang="es-ES" dirty="0"/>
            </a:p>
          </p:txBody>
        </p:sp>
        <p:sp>
          <p:nvSpPr>
            <p:cNvPr id="38" name="CuadroTexto 37"/>
            <p:cNvSpPr txBox="1"/>
            <p:nvPr/>
          </p:nvSpPr>
          <p:spPr>
            <a:xfrm>
              <a:off x="566928" y="3944732"/>
              <a:ext cx="1888659" cy="369332"/>
            </a:xfrm>
            <a:prstGeom prst="rect">
              <a:avLst/>
            </a:prstGeom>
            <a:noFill/>
          </p:spPr>
          <p:txBody>
            <a:bodyPr wrap="none" rtlCol="0">
              <a:spAutoFit/>
            </a:bodyPr>
            <a:lstStyle/>
            <a:p>
              <a:r>
                <a:rPr lang="es-ES" b="1" dirty="0" smtClean="0">
                  <a:solidFill>
                    <a:srgbClr val="0070C0"/>
                  </a:solidFill>
                </a:rPr>
                <a:t>Machine </a:t>
              </a:r>
              <a:r>
                <a:rPr lang="es-ES" b="1" dirty="0" err="1" smtClean="0">
                  <a:solidFill>
                    <a:srgbClr val="0070C0"/>
                  </a:solidFill>
                </a:rPr>
                <a:t>Learning</a:t>
              </a:r>
              <a:endParaRPr lang="es-ES" b="1" dirty="0">
                <a:solidFill>
                  <a:srgbClr val="0070C0"/>
                </a:solidFill>
              </a:endParaRPr>
            </a:p>
          </p:txBody>
        </p:sp>
      </p:grpSp>
      <p:grpSp>
        <p:nvGrpSpPr>
          <p:cNvPr id="41" name="Grupo 40"/>
          <p:cNvGrpSpPr/>
          <p:nvPr/>
        </p:nvGrpSpPr>
        <p:grpSpPr>
          <a:xfrm>
            <a:off x="559060" y="1647802"/>
            <a:ext cx="6332468" cy="1369718"/>
            <a:chOff x="559060" y="1647802"/>
            <a:chExt cx="6332468" cy="1369718"/>
          </a:xfrm>
        </p:grpSpPr>
        <p:grpSp>
          <p:nvGrpSpPr>
            <p:cNvPr id="32" name="Grupo 31"/>
            <p:cNvGrpSpPr/>
            <p:nvPr/>
          </p:nvGrpSpPr>
          <p:grpSpPr>
            <a:xfrm>
              <a:off x="566928" y="2282952"/>
              <a:ext cx="6324600" cy="734568"/>
              <a:chOff x="1069848" y="2228088"/>
              <a:chExt cx="6324600" cy="734568"/>
            </a:xfrm>
          </p:grpSpPr>
          <p:sp>
            <p:nvSpPr>
              <p:cNvPr id="3" name="Rectángulo 2"/>
              <p:cNvSpPr/>
              <p:nvPr/>
            </p:nvSpPr>
            <p:spPr>
              <a:xfrm>
                <a:off x="1069848" y="2231136"/>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TAREA</a:t>
                </a:r>
                <a:endParaRPr lang="es-ES" dirty="0"/>
              </a:p>
            </p:txBody>
          </p:sp>
          <p:sp>
            <p:nvSpPr>
              <p:cNvPr id="5" name="Rectángulo 4"/>
              <p:cNvSpPr/>
              <p:nvPr/>
            </p:nvSpPr>
            <p:spPr>
              <a:xfrm>
                <a:off x="3416808" y="2228088"/>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CÓDIGO ESTÁTICO</a:t>
                </a:r>
                <a:endParaRPr lang="es-ES" dirty="0"/>
              </a:p>
            </p:txBody>
          </p:sp>
          <p:sp>
            <p:nvSpPr>
              <p:cNvPr id="6" name="Rectángulo 5"/>
              <p:cNvSpPr/>
              <p:nvPr/>
            </p:nvSpPr>
            <p:spPr>
              <a:xfrm>
                <a:off x="5785104" y="2228088"/>
                <a:ext cx="1609344" cy="731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mtClean="0"/>
                  <a:t>RESULTADO</a:t>
                </a:r>
                <a:endParaRPr lang="es-ES" dirty="0"/>
              </a:p>
            </p:txBody>
          </p:sp>
          <p:cxnSp>
            <p:nvCxnSpPr>
              <p:cNvPr id="12" name="Conector recto de flecha 11"/>
              <p:cNvCxnSpPr>
                <a:stCxn id="5" idx="3"/>
                <a:endCxn id="6" idx="1"/>
              </p:cNvCxnSpPr>
              <p:nvPr/>
            </p:nvCxnSpPr>
            <p:spPr>
              <a:xfrm>
                <a:off x="5026152" y="2593848"/>
                <a:ext cx="75895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p:cNvCxnSpPr>
                <a:stCxn id="3" idx="3"/>
                <a:endCxn id="5" idx="1"/>
              </p:cNvCxnSpPr>
              <p:nvPr/>
            </p:nvCxnSpPr>
            <p:spPr>
              <a:xfrm flipV="1">
                <a:off x="2679192" y="2593848"/>
                <a:ext cx="737616" cy="30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40" name="CuadroTexto 39"/>
            <p:cNvSpPr txBox="1"/>
            <p:nvPr/>
          </p:nvSpPr>
          <p:spPr>
            <a:xfrm>
              <a:off x="559060" y="1647802"/>
              <a:ext cx="3207801" cy="369332"/>
            </a:xfrm>
            <a:prstGeom prst="rect">
              <a:avLst/>
            </a:prstGeom>
            <a:noFill/>
          </p:spPr>
          <p:txBody>
            <a:bodyPr wrap="none" rtlCol="0">
              <a:spAutoFit/>
            </a:bodyPr>
            <a:lstStyle/>
            <a:p>
              <a:r>
                <a:rPr lang="es-ES" b="1" dirty="0" smtClean="0">
                  <a:solidFill>
                    <a:srgbClr val="0070C0"/>
                  </a:solidFill>
                </a:rPr>
                <a:t>PROGRAMACIÓN TRADICIONAL</a:t>
              </a:r>
              <a:endParaRPr lang="es-ES" b="1" dirty="0">
                <a:solidFill>
                  <a:srgbClr val="0070C0"/>
                </a:solidFill>
              </a:endParaRPr>
            </a:p>
          </p:txBody>
        </p:sp>
      </p:grpSp>
    </p:spTree>
    <p:extLst>
      <p:ext uri="{BB962C8B-B14F-4D97-AF65-F5344CB8AC3E}">
        <p14:creationId xmlns:p14="http://schemas.microsoft.com/office/powerpoint/2010/main" val="3023211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538DD3"/>
                </a:solidFill>
                <a:latin typeface="Times New Roman"/>
                <a:cs typeface="Times New Roman"/>
              </a:rPr>
              <a:t>CLASIFICACIÓN </a:t>
            </a:r>
            <a:r>
              <a:rPr lang="es-ES" b="1" i="1" spc="-5" dirty="0" smtClean="0">
                <a:solidFill>
                  <a:srgbClr val="538DD3"/>
                </a:solidFill>
                <a:latin typeface="Times New Roman"/>
                <a:cs typeface="Times New Roman"/>
              </a:rPr>
              <a:t>VS </a:t>
            </a:r>
            <a:r>
              <a:rPr lang="es-ES" b="1" spc="-5" dirty="0" smtClean="0">
                <a:solidFill>
                  <a:srgbClr val="538DD3"/>
                </a:solidFill>
                <a:latin typeface="Times New Roman"/>
                <a:cs typeface="Times New Roman"/>
              </a:rPr>
              <a:t>REGRESIÓN</a:t>
            </a:r>
            <a:endParaRPr lang="es-ES" i="1" dirty="0"/>
          </a:p>
        </p:txBody>
      </p:sp>
      <p:sp>
        <p:nvSpPr>
          <p:cNvPr id="3" name="Marcador de contenido 2"/>
          <p:cNvSpPr>
            <a:spLocks noGrp="1"/>
          </p:cNvSpPr>
          <p:nvPr>
            <p:ph idx="1"/>
          </p:nvPr>
        </p:nvSpPr>
        <p:spPr>
          <a:xfrm>
            <a:off x="838200" y="1408176"/>
            <a:ext cx="10515600" cy="4851083"/>
          </a:xfrm>
        </p:spPr>
        <p:txBody>
          <a:bodyPr>
            <a:normAutofit/>
          </a:bodyPr>
          <a:lstStyle/>
          <a:p>
            <a:pPr algn="just" fontAlgn="base"/>
            <a:r>
              <a:rPr lang="es-ES" i="1" dirty="0" smtClean="0">
                <a:solidFill>
                  <a:srgbClr val="C00000"/>
                </a:solidFill>
              </a:rPr>
              <a:t>Clasificación</a:t>
            </a:r>
            <a:r>
              <a:rPr lang="es-ES" dirty="0" smtClean="0">
                <a:solidFill>
                  <a:srgbClr val="C00000"/>
                </a:solidFill>
              </a:rPr>
              <a:t> </a:t>
            </a:r>
            <a:r>
              <a:rPr lang="es-ES" dirty="0" smtClean="0"/>
              <a:t>y </a:t>
            </a:r>
            <a:r>
              <a:rPr lang="es-ES" i="1" dirty="0" smtClean="0">
                <a:solidFill>
                  <a:srgbClr val="C00000"/>
                </a:solidFill>
              </a:rPr>
              <a:t>regresión</a:t>
            </a:r>
            <a:r>
              <a:rPr lang="es-ES" dirty="0" smtClean="0">
                <a:solidFill>
                  <a:srgbClr val="C00000"/>
                </a:solidFill>
              </a:rPr>
              <a:t> </a:t>
            </a:r>
            <a:r>
              <a:rPr lang="es-ES" dirty="0" smtClean="0"/>
              <a:t>son nociones relacionas con técnicas de </a:t>
            </a:r>
            <a:r>
              <a:rPr lang="es-ES" u="sng" dirty="0" smtClean="0">
                <a:solidFill>
                  <a:srgbClr val="C00000"/>
                </a:solidFill>
              </a:rPr>
              <a:t>Machine </a:t>
            </a:r>
            <a:r>
              <a:rPr lang="es-ES" u="sng" dirty="0" err="1" smtClean="0">
                <a:solidFill>
                  <a:srgbClr val="C00000"/>
                </a:solidFill>
              </a:rPr>
              <a:t>Learning</a:t>
            </a:r>
            <a:r>
              <a:rPr lang="es-ES" u="sng" dirty="0" smtClean="0">
                <a:solidFill>
                  <a:srgbClr val="C00000"/>
                </a:solidFill>
              </a:rPr>
              <a:t> </a:t>
            </a:r>
            <a:r>
              <a:rPr lang="es-ES" u="sng" dirty="0">
                <a:solidFill>
                  <a:srgbClr val="C00000"/>
                </a:solidFill>
              </a:rPr>
              <a:t>supervisado</a:t>
            </a:r>
            <a:r>
              <a:rPr lang="es-ES" dirty="0"/>
              <a:t>. </a:t>
            </a:r>
            <a:r>
              <a:rPr lang="es-ES" dirty="0" smtClean="0"/>
              <a:t>La diferencia es que un </a:t>
            </a:r>
            <a:r>
              <a:rPr lang="es-ES" dirty="0"/>
              <a:t>sistema de </a:t>
            </a:r>
            <a:r>
              <a:rPr lang="es-ES" b="1" dirty="0">
                <a:solidFill>
                  <a:schemeClr val="accent6">
                    <a:lumMod val="75000"/>
                  </a:schemeClr>
                </a:solidFill>
              </a:rPr>
              <a:t>clasificación</a:t>
            </a:r>
            <a:r>
              <a:rPr lang="es-ES" dirty="0">
                <a:solidFill>
                  <a:schemeClr val="accent6">
                    <a:lumMod val="75000"/>
                  </a:schemeClr>
                </a:solidFill>
              </a:rPr>
              <a:t> </a:t>
            </a:r>
            <a:r>
              <a:rPr lang="es-ES" dirty="0"/>
              <a:t>predice una </a:t>
            </a:r>
            <a:r>
              <a:rPr lang="es-ES" b="1" dirty="0">
                <a:solidFill>
                  <a:schemeClr val="accent6">
                    <a:lumMod val="75000"/>
                  </a:schemeClr>
                </a:solidFill>
              </a:rPr>
              <a:t>categoría</a:t>
            </a:r>
            <a:r>
              <a:rPr lang="es-ES" dirty="0"/>
              <a:t>, mientras que una </a:t>
            </a:r>
            <a:r>
              <a:rPr lang="es-ES" b="1" dirty="0">
                <a:solidFill>
                  <a:srgbClr val="FFC000"/>
                </a:solidFill>
              </a:rPr>
              <a:t>regresión</a:t>
            </a:r>
            <a:r>
              <a:rPr lang="es-ES" dirty="0"/>
              <a:t> predice un </a:t>
            </a:r>
            <a:r>
              <a:rPr lang="es-ES" b="1" dirty="0">
                <a:solidFill>
                  <a:srgbClr val="FFC000"/>
                </a:solidFill>
              </a:rPr>
              <a:t>número</a:t>
            </a:r>
            <a:r>
              <a:rPr lang="es-ES" dirty="0"/>
              <a:t>.</a:t>
            </a:r>
          </a:p>
          <a:p>
            <a:pPr algn="just" fontAlgn="base"/>
            <a:r>
              <a:rPr lang="es-ES" dirty="0" smtClean="0"/>
              <a:t>Ejemplo de clasificación: predicción de </a:t>
            </a:r>
            <a:r>
              <a:rPr lang="es-ES" b="1" dirty="0" smtClean="0"/>
              <a:t>correos spam</a:t>
            </a:r>
            <a:r>
              <a:rPr lang="es-ES" dirty="0" smtClean="0"/>
              <a:t>. </a:t>
            </a:r>
            <a:r>
              <a:rPr lang="es-ES" dirty="0"/>
              <a:t>Los correos </a:t>
            </a:r>
            <a:r>
              <a:rPr lang="es-ES" dirty="0" smtClean="0"/>
              <a:t>históricos se categorizan </a:t>
            </a:r>
            <a:r>
              <a:rPr lang="es-ES" dirty="0"/>
              <a:t>como “spam” o como “legítimos</a:t>
            </a:r>
            <a:r>
              <a:rPr lang="es-ES" dirty="0" smtClean="0"/>
              <a:t>”, y a partir de ellos se trata de clasificar un correo nuevo.</a:t>
            </a:r>
            <a:endParaRPr lang="es-ES" dirty="0"/>
          </a:p>
          <a:p>
            <a:pPr algn="just" fontAlgn="base"/>
            <a:r>
              <a:rPr lang="es-ES" dirty="0" smtClean="0"/>
              <a:t>Ejemplo de regresión: predecir </a:t>
            </a:r>
            <a:r>
              <a:rPr lang="es-ES" dirty="0"/>
              <a:t>el </a:t>
            </a:r>
            <a:r>
              <a:rPr lang="es-ES" b="1" dirty="0"/>
              <a:t>número de reservas </a:t>
            </a:r>
            <a:r>
              <a:rPr lang="es-ES" dirty="0"/>
              <a:t>que se harán en </a:t>
            </a:r>
            <a:r>
              <a:rPr lang="es-ES" dirty="0" smtClean="0"/>
              <a:t>2023 </a:t>
            </a:r>
            <a:r>
              <a:rPr lang="es-ES" dirty="0"/>
              <a:t>en un </a:t>
            </a:r>
            <a:r>
              <a:rPr lang="es-ES" dirty="0" smtClean="0"/>
              <a:t>hotel, conocido el histórico de los últimos 5 años.</a:t>
            </a:r>
            <a:endParaRPr lang="es-ES" dirty="0"/>
          </a:p>
        </p:txBody>
      </p:sp>
    </p:spTree>
    <p:extLst>
      <p:ext uri="{BB962C8B-B14F-4D97-AF65-F5344CB8AC3E}">
        <p14:creationId xmlns:p14="http://schemas.microsoft.com/office/powerpoint/2010/main" val="209985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538DD3"/>
                </a:solidFill>
                <a:latin typeface="Times New Roman"/>
                <a:cs typeface="Times New Roman"/>
              </a:rPr>
              <a:t>Elementos básicos de Machine </a:t>
            </a:r>
            <a:r>
              <a:rPr lang="es-ES" b="1" spc="-5" dirty="0" err="1" smtClean="0">
                <a:solidFill>
                  <a:srgbClr val="538DD3"/>
                </a:solidFill>
                <a:latin typeface="Times New Roman"/>
                <a:cs typeface="Times New Roman"/>
              </a:rPr>
              <a:t>Learning</a:t>
            </a:r>
            <a:endParaRPr lang="es-ES" i="1" dirty="0"/>
          </a:p>
        </p:txBody>
      </p:sp>
      <p:sp>
        <p:nvSpPr>
          <p:cNvPr id="4" name="Marcador de contenido 3"/>
          <p:cNvSpPr>
            <a:spLocks noGrp="1"/>
          </p:cNvSpPr>
          <p:nvPr>
            <p:ph idx="1"/>
          </p:nvPr>
        </p:nvSpPr>
        <p:spPr>
          <a:xfrm>
            <a:off x="838200" y="1399032"/>
            <a:ext cx="10728960" cy="5020056"/>
          </a:xfrm>
        </p:spPr>
        <p:txBody>
          <a:bodyPr>
            <a:normAutofit fontScale="70000" lnSpcReduction="20000"/>
          </a:bodyPr>
          <a:lstStyle/>
          <a:p>
            <a:pPr algn="just">
              <a:lnSpc>
                <a:spcPct val="120000"/>
              </a:lnSpc>
            </a:pPr>
            <a:r>
              <a:rPr lang="es-ES" b="1" dirty="0" err="1" smtClean="0">
                <a:solidFill>
                  <a:schemeClr val="accent1">
                    <a:lumMod val="75000"/>
                  </a:schemeClr>
                </a:solidFill>
              </a:rPr>
              <a:t>Dataset</a:t>
            </a:r>
            <a:r>
              <a:rPr lang="es-ES" dirty="0" smtClean="0">
                <a:solidFill>
                  <a:schemeClr val="accent1">
                    <a:lumMod val="75000"/>
                  </a:schemeClr>
                </a:solidFill>
              </a:rPr>
              <a:t> </a:t>
            </a:r>
            <a:r>
              <a:rPr lang="es-ES" dirty="0" smtClean="0"/>
              <a:t>o </a:t>
            </a:r>
            <a:r>
              <a:rPr lang="es-ES" b="1" dirty="0" smtClean="0">
                <a:solidFill>
                  <a:schemeClr val="accent1">
                    <a:lumMod val="75000"/>
                  </a:schemeClr>
                </a:solidFill>
              </a:rPr>
              <a:t>conjunto de datos</a:t>
            </a:r>
            <a:r>
              <a:rPr lang="es-ES" b="1" dirty="0" smtClean="0"/>
              <a:t>: </a:t>
            </a:r>
            <a:r>
              <a:rPr lang="es-ES" dirty="0" smtClean="0"/>
              <a:t>histórico </a:t>
            </a:r>
            <a:r>
              <a:rPr lang="es-ES" dirty="0"/>
              <a:t>de datos </a:t>
            </a:r>
            <a:r>
              <a:rPr lang="es-ES" dirty="0" smtClean="0"/>
              <a:t>usado para entrenar al sistema seleccionado para detectar patrones</a:t>
            </a:r>
            <a:r>
              <a:rPr lang="es-ES" dirty="0"/>
              <a:t>. </a:t>
            </a:r>
            <a:r>
              <a:rPr lang="es-ES" dirty="0" smtClean="0"/>
              <a:t>Un conjunto de datos se </a:t>
            </a:r>
            <a:r>
              <a:rPr lang="es-ES" dirty="0"/>
              <a:t>compone de </a:t>
            </a:r>
            <a:r>
              <a:rPr lang="es-ES" b="1" dirty="0" smtClean="0"/>
              <a:t>instancias </a:t>
            </a:r>
            <a:r>
              <a:rPr lang="es-ES" dirty="0" smtClean="0"/>
              <a:t>(</a:t>
            </a:r>
            <a:r>
              <a:rPr lang="es-ES" i="1" dirty="0" smtClean="0"/>
              <a:t>filas </a:t>
            </a:r>
            <a:r>
              <a:rPr lang="es-ES" dirty="0" smtClean="0"/>
              <a:t>u </a:t>
            </a:r>
            <a:r>
              <a:rPr lang="es-ES" i="1" dirty="0" smtClean="0"/>
              <a:t>observaciones</a:t>
            </a:r>
            <a:r>
              <a:rPr lang="es-ES" dirty="0" smtClean="0"/>
              <a:t>), que a su vez constan </a:t>
            </a:r>
            <a:r>
              <a:rPr lang="es-ES" dirty="0"/>
              <a:t>de </a:t>
            </a:r>
            <a:r>
              <a:rPr lang="es-ES" b="1" dirty="0" smtClean="0"/>
              <a:t>factores </a:t>
            </a:r>
            <a:r>
              <a:rPr lang="es-ES" i="1" dirty="0" smtClean="0"/>
              <a:t>(columnas </a:t>
            </a:r>
            <a:r>
              <a:rPr lang="es-ES" dirty="0" smtClean="0"/>
              <a:t> o </a:t>
            </a:r>
            <a:r>
              <a:rPr lang="es-ES" i="1" dirty="0" smtClean="0"/>
              <a:t>variables),</a:t>
            </a:r>
            <a:r>
              <a:rPr lang="es-ES" dirty="0" smtClean="0"/>
              <a:t> </a:t>
            </a:r>
            <a:r>
              <a:rPr lang="es-ES" dirty="0"/>
              <a:t>características o propiedades</a:t>
            </a:r>
            <a:r>
              <a:rPr lang="es-ES" dirty="0" smtClean="0"/>
              <a:t>.</a:t>
            </a:r>
          </a:p>
          <a:p>
            <a:pPr algn="just">
              <a:lnSpc>
                <a:spcPct val="120000"/>
              </a:lnSpc>
            </a:pPr>
            <a:r>
              <a:rPr lang="es-ES" b="1" dirty="0" smtClean="0">
                <a:solidFill>
                  <a:schemeClr val="accent1">
                    <a:lumMod val="75000"/>
                  </a:schemeClr>
                </a:solidFill>
              </a:rPr>
              <a:t>Instancia</a:t>
            </a:r>
            <a:r>
              <a:rPr lang="es-ES" b="1" dirty="0" smtClean="0"/>
              <a:t>: </a:t>
            </a:r>
            <a:r>
              <a:rPr lang="es-ES" dirty="0" smtClean="0"/>
              <a:t>cada </a:t>
            </a:r>
            <a:r>
              <a:rPr lang="es-ES" dirty="0"/>
              <a:t>uno de los datos </a:t>
            </a:r>
            <a:r>
              <a:rPr lang="es-ES" dirty="0" smtClean="0"/>
              <a:t>disponibles para el análisis es una instancia, compuesta a su vez de las características que la definen.</a:t>
            </a:r>
          </a:p>
          <a:p>
            <a:pPr algn="just" fontAlgn="base">
              <a:lnSpc>
                <a:spcPct val="120000"/>
              </a:lnSpc>
            </a:pPr>
            <a:r>
              <a:rPr lang="es-ES" b="1" dirty="0" smtClean="0">
                <a:solidFill>
                  <a:schemeClr val="accent1">
                    <a:lumMod val="75000"/>
                  </a:schemeClr>
                </a:solidFill>
              </a:rPr>
              <a:t>Característica</a:t>
            </a:r>
            <a:r>
              <a:rPr lang="es-ES" b="1" dirty="0" smtClean="0"/>
              <a:t>: </a:t>
            </a:r>
            <a:r>
              <a:rPr lang="es-ES" dirty="0" smtClean="0"/>
              <a:t>son </a:t>
            </a:r>
            <a:r>
              <a:rPr lang="es-ES" dirty="0"/>
              <a:t>los atributos que describen cada una de las instancias del conjunto de datos. </a:t>
            </a:r>
            <a:r>
              <a:rPr lang="es-ES" dirty="0" smtClean="0"/>
              <a:t> </a:t>
            </a:r>
          </a:p>
          <a:p>
            <a:pPr algn="just" fontAlgn="base">
              <a:lnSpc>
                <a:spcPct val="120000"/>
              </a:lnSpc>
            </a:pPr>
            <a:r>
              <a:rPr lang="es-ES" b="1" dirty="0" smtClean="0">
                <a:solidFill>
                  <a:schemeClr val="accent1">
                    <a:lumMod val="75000"/>
                  </a:schemeClr>
                </a:solidFill>
              </a:rPr>
              <a:t>Objetivo</a:t>
            </a:r>
            <a:r>
              <a:rPr lang="es-ES" b="1" dirty="0" smtClean="0"/>
              <a:t>: </a:t>
            </a:r>
            <a:r>
              <a:rPr lang="es-ES" dirty="0" smtClean="0"/>
              <a:t>atributo que se quiere predecir.</a:t>
            </a:r>
          </a:p>
          <a:p>
            <a:pPr algn="just" fontAlgn="base">
              <a:lnSpc>
                <a:spcPct val="120000"/>
              </a:lnSpc>
            </a:pPr>
            <a:r>
              <a:rPr lang="es-ES" b="1" dirty="0" smtClean="0">
                <a:solidFill>
                  <a:schemeClr val="accent1">
                    <a:lumMod val="75000"/>
                  </a:schemeClr>
                </a:solidFill>
              </a:rPr>
              <a:t>Confianza</a:t>
            </a:r>
            <a:r>
              <a:rPr lang="es-ES" b="1" dirty="0" smtClean="0"/>
              <a:t>: </a:t>
            </a:r>
            <a:r>
              <a:rPr lang="es-ES" dirty="0" smtClean="0"/>
              <a:t>probabilidad </a:t>
            </a:r>
            <a:r>
              <a:rPr lang="es-ES" dirty="0"/>
              <a:t>de acierto que calcula el sistema para </a:t>
            </a:r>
            <a:r>
              <a:rPr lang="es-ES" dirty="0" smtClean="0"/>
              <a:t>cada predicción hecha.</a:t>
            </a:r>
          </a:p>
          <a:p>
            <a:pPr algn="just" fontAlgn="base">
              <a:lnSpc>
                <a:spcPct val="120000"/>
              </a:lnSpc>
            </a:pPr>
            <a:r>
              <a:rPr lang="es-ES" b="1" dirty="0">
                <a:solidFill>
                  <a:schemeClr val="accent1">
                    <a:lumMod val="75000"/>
                  </a:schemeClr>
                </a:solidFill>
              </a:rPr>
              <a:t>Aprendizaje </a:t>
            </a:r>
            <a:r>
              <a:rPr lang="es-ES" dirty="0"/>
              <a:t>o</a:t>
            </a:r>
            <a:r>
              <a:rPr lang="es-ES" b="1" dirty="0"/>
              <a:t> </a:t>
            </a:r>
            <a:r>
              <a:rPr lang="es-ES" b="1" dirty="0">
                <a:solidFill>
                  <a:schemeClr val="accent1">
                    <a:lumMod val="75000"/>
                  </a:schemeClr>
                </a:solidFill>
              </a:rPr>
              <a:t>entrenamiento </a:t>
            </a:r>
            <a:r>
              <a:rPr lang="es-ES" b="1" dirty="0"/>
              <a:t>(</a:t>
            </a:r>
            <a:r>
              <a:rPr lang="es-ES" b="1" dirty="0" err="1"/>
              <a:t>learning</a:t>
            </a:r>
            <a:r>
              <a:rPr lang="es-ES" b="1" dirty="0"/>
              <a:t>, training</a:t>
            </a:r>
            <a:r>
              <a:rPr lang="es-ES" b="1" dirty="0" smtClean="0"/>
              <a:t>): </a:t>
            </a:r>
            <a:r>
              <a:rPr lang="es-ES" dirty="0" smtClean="0"/>
              <a:t> </a:t>
            </a:r>
            <a:r>
              <a:rPr lang="es-ES" dirty="0"/>
              <a:t>proceso en el que se detectan los patrones de un conjunto de </a:t>
            </a:r>
            <a:r>
              <a:rPr lang="es-ES" dirty="0" smtClean="0"/>
              <a:t>datos. Tras la identificación de los </a:t>
            </a:r>
            <a:r>
              <a:rPr lang="es-ES" dirty="0"/>
              <a:t>patrones, se pueden hacer predicciones </a:t>
            </a:r>
            <a:r>
              <a:rPr lang="es-ES" dirty="0" smtClean="0"/>
              <a:t>incorporando nuevos datos al sistema entrenado.</a:t>
            </a:r>
            <a:endParaRPr lang="es-ES" dirty="0"/>
          </a:p>
          <a:p>
            <a:pPr fontAlgn="base"/>
            <a:endParaRPr lang="es-ES" dirty="0"/>
          </a:p>
          <a:p>
            <a:pPr fontAlgn="base"/>
            <a:endParaRPr lang="es-ES" dirty="0"/>
          </a:p>
          <a:p>
            <a:pPr fontAlgn="base"/>
            <a:endParaRPr lang="es-ES" b="1" dirty="0"/>
          </a:p>
        </p:txBody>
      </p:sp>
    </p:spTree>
    <p:extLst>
      <p:ext uri="{BB962C8B-B14F-4D97-AF65-F5344CB8AC3E}">
        <p14:creationId xmlns:p14="http://schemas.microsoft.com/office/powerpoint/2010/main" val="358036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C00000"/>
                </a:solidFill>
                <a:latin typeface="Times New Roman"/>
                <a:cs typeface="Times New Roman"/>
              </a:rPr>
              <a:t>IMPORTANTE: </a:t>
            </a:r>
            <a:r>
              <a:rPr lang="es-ES" b="1" spc="-5" dirty="0" smtClean="0">
                <a:solidFill>
                  <a:srgbClr val="0070C0"/>
                </a:solidFill>
                <a:latin typeface="Times New Roman"/>
                <a:cs typeface="Times New Roman"/>
              </a:rPr>
              <a:t>división de datos</a:t>
            </a:r>
            <a:endParaRPr lang="es-ES" i="1" dirty="0">
              <a:solidFill>
                <a:srgbClr val="0070C0"/>
              </a:solidFill>
            </a:endParaRPr>
          </a:p>
        </p:txBody>
      </p:sp>
      <p:sp>
        <p:nvSpPr>
          <p:cNvPr id="4" name="Marcador de contenido 3"/>
          <p:cNvSpPr>
            <a:spLocks noGrp="1"/>
          </p:cNvSpPr>
          <p:nvPr>
            <p:ph idx="1"/>
          </p:nvPr>
        </p:nvSpPr>
        <p:spPr>
          <a:xfrm>
            <a:off x="838200" y="1399032"/>
            <a:ext cx="10728960" cy="5020056"/>
          </a:xfrm>
        </p:spPr>
        <p:txBody>
          <a:bodyPr>
            <a:normAutofit/>
          </a:bodyPr>
          <a:lstStyle/>
          <a:p>
            <a:pPr marL="0" indent="0" algn="just" fontAlgn="base">
              <a:buNone/>
            </a:pPr>
            <a:r>
              <a:rPr lang="es-ES" dirty="0"/>
              <a:t>Los </a:t>
            </a:r>
            <a:r>
              <a:rPr lang="es-ES" dirty="0" smtClean="0"/>
              <a:t>métodos de Machine </a:t>
            </a:r>
            <a:r>
              <a:rPr lang="es-ES" dirty="0" err="1" smtClean="0"/>
              <a:t>Learning</a:t>
            </a:r>
            <a:r>
              <a:rPr lang="es-ES" dirty="0" smtClean="0"/>
              <a:t> </a:t>
            </a:r>
            <a:r>
              <a:rPr lang="es-ES" b="1" dirty="0"/>
              <a:t>aprenden </a:t>
            </a:r>
            <a:r>
              <a:rPr lang="es-ES" dirty="0"/>
              <a:t>de los datos con los que los </a:t>
            </a:r>
            <a:r>
              <a:rPr lang="es-ES" b="1" dirty="0"/>
              <a:t>entrenamos</a:t>
            </a:r>
            <a:r>
              <a:rPr lang="es-ES" dirty="0"/>
              <a:t>. A partir de ellos, </a:t>
            </a:r>
            <a:r>
              <a:rPr lang="es-ES" dirty="0" smtClean="0"/>
              <a:t>intentan</a:t>
            </a:r>
            <a:r>
              <a:rPr lang="es-ES" i="1" dirty="0" smtClean="0"/>
              <a:t> </a:t>
            </a:r>
            <a:r>
              <a:rPr lang="es-ES" b="1" i="1" dirty="0"/>
              <a:t>inferir el patrón</a:t>
            </a:r>
            <a:r>
              <a:rPr lang="es-ES" dirty="0"/>
              <a:t> que </a:t>
            </a:r>
            <a:r>
              <a:rPr lang="es-ES" dirty="0" smtClean="0"/>
              <a:t>en que se organizan, para a su vez utilizar este patrón para predecir </a:t>
            </a:r>
            <a:r>
              <a:rPr lang="es-ES" dirty="0"/>
              <a:t>el resultado </a:t>
            </a:r>
            <a:r>
              <a:rPr lang="es-ES" dirty="0" smtClean="0"/>
              <a:t>de nuevos casos. </a:t>
            </a:r>
          </a:p>
          <a:p>
            <a:pPr marL="0" indent="0" algn="just" fontAlgn="base">
              <a:buNone/>
            </a:pPr>
            <a:r>
              <a:rPr lang="es-ES" dirty="0" smtClean="0"/>
              <a:t>Para evaluar el funcionamiento de un sistema de Machine </a:t>
            </a:r>
            <a:r>
              <a:rPr lang="es-ES" dirty="0" err="1" smtClean="0"/>
              <a:t>Learning</a:t>
            </a:r>
            <a:r>
              <a:rPr lang="es-ES" dirty="0" smtClean="0"/>
              <a:t> es </a:t>
            </a:r>
            <a:r>
              <a:rPr lang="es-ES" u="sng" dirty="0" smtClean="0"/>
              <a:t>IMPRESCINDIBLE</a:t>
            </a:r>
            <a:r>
              <a:rPr lang="es-ES" dirty="0" smtClean="0"/>
              <a:t> calibrarlo, probando su ejecución en un conjunto de datos </a:t>
            </a:r>
            <a:r>
              <a:rPr lang="es-ES" dirty="0" smtClean="0">
                <a:solidFill>
                  <a:srgbClr val="C00000"/>
                </a:solidFill>
              </a:rPr>
              <a:t>diferente</a:t>
            </a:r>
            <a:r>
              <a:rPr lang="es-ES" dirty="0" smtClean="0"/>
              <a:t> al utilizado para </a:t>
            </a:r>
            <a:r>
              <a:rPr lang="es-ES" dirty="0" smtClean="0">
                <a:solidFill>
                  <a:srgbClr val="C00000"/>
                </a:solidFill>
              </a:rPr>
              <a:t>entrenarlo</a:t>
            </a:r>
            <a:r>
              <a:rPr lang="es-ES" dirty="0" smtClean="0"/>
              <a:t>. </a:t>
            </a:r>
          </a:p>
          <a:p>
            <a:pPr marL="0" indent="0" algn="just" fontAlgn="base">
              <a:buNone/>
            </a:pPr>
            <a:r>
              <a:rPr lang="es-ES" dirty="0" smtClean="0"/>
              <a:t>En todo proceso de Machine </a:t>
            </a:r>
            <a:r>
              <a:rPr lang="es-ES" dirty="0" err="1" smtClean="0"/>
              <a:t>Learning</a:t>
            </a:r>
            <a:r>
              <a:rPr lang="es-ES" dirty="0" smtClean="0"/>
              <a:t>, los </a:t>
            </a:r>
            <a:r>
              <a:rPr lang="es-ES" dirty="0"/>
              <a:t>datos </a:t>
            </a:r>
            <a:r>
              <a:rPr lang="es-ES" b="1" dirty="0" smtClean="0"/>
              <a:t>disponibles</a:t>
            </a:r>
            <a:r>
              <a:rPr lang="es-ES" dirty="0" smtClean="0"/>
              <a:t> </a:t>
            </a:r>
            <a:r>
              <a:rPr lang="es-ES" dirty="0"/>
              <a:t>se dividen en dos partes: datos de </a:t>
            </a:r>
            <a:r>
              <a:rPr lang="es-ES" b="1" dirty="0"/>
              <a:t>entrenamiento</a:t>
            </a:r>
            <a:r>
              <a:rPr lang="es-ES" dirty="0"/>
              <a:t> y datos de </a:t>
            </a:r>
            <a:r>
              <a:rPr lang="es-ES" b="1" dirty="0" smtClean="0"/>
              <a:t>test </a:t>
            </a:r>
            <a:r>
              <a:rPr lang="es-ES" dirty="0" smtClean="0"/>
              <a:t>(que a su vez pueden constar de parte de validación y parte de test).</a:t>
            </a:r>
            <a:endParaRPr lang="es-ES" dirty="0"/>
          </a:p>
          <a:p>
            <a:pPr fontAlgn="base"/>
            <a:endParaRPr lang="es-ES" dirty="0"/>
          </a:p>
          <a:p>
            <a:pPr fontAlgn="base"/>
            <a:endParaRPr lang="es-ES" b="1" dirty="0"/>
          </a:p>
        </p:txBody>
      </p:sp>
    </p:spTree>
    <p:extLst>
      <p:ext uri="{BB962C8B-B14F-4D97-AF65-F5344CB8AC3E}">
        <p14:creationId xmlns:p14="http://schemas.microsoft.com/office/powerpoint/2010/main" val="72548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División de datos</a:t>
            </a:r>
            <a:endParaRPr lang="es-ES" i="1" dirty="0">
              <a:solidFill>
                <a:srgbClr val="0070C0"/>
              </a:solidFill>
            </a:endParaRPr>
          </a:p>
        </p:txBody>
      </p:sp>
      <p:sp>
        <p:nvSpPr>
          <p:cNvPr id="4" name="Marcador de contenido 3"/>
          <p:cNvSpPr>
            <a:spLocks noGrp="1"/>
          </p:cNvSpPr>
          <p:nvPr>
            <p:ph idx="1"/>
          </p:nvPr>
        </p:nvSpPr>
        <p:spPr>
          <a:xfrm>
            <a:off x="838200" y="1399032"/>
            <a:ext cx="10728960" cy="5020056"/>
          </a:xfrm>
        </p:spPr>
        <p:txBody>
          <a:bodyPr>
            <a:normAutofit fontScale="92500" lnSpcReduction="20000"/>
          </a:bodyPr>
          <a:lstStyle/>
          <a:p>
            <a:pPr algn="just" fontAlgn="base"/>
            <a:r>
              <a:rPr lang="es-ES" b="1" dirty="0" smtClean="0">
                <a:solidFill>
                  <a:srgbClr val="0070C0"/>
                </a:solidFill>
              </a:rPr>
              <a:t>Datos de entrenamiento</a:t>
            </a:r>
            <a:r>
              <a:rPr lang="es-ES" dirty="0"/>
              <a:t> (</a:t>
            </a:r>
            <a:r>
              <a:rPr lang="es-ES" i="1" dirty="0" smtClean="0"/>
              <a:t>training data</a:t>
            </a:r>
            <a:r>
              <a:rPr lang="es-ES" dirty="0" smtClean="0"/>
              <a:t>)</a:t>
            </a:r>
            <a:r>
              <a:rPr lang="es-ES" i="1" dirty="0"/>
              <a:t>:</a:t>
            </a:r>
            <a:r>
              <a:rPr lang="es-ES" i="1" dirty="0" smtClean="0"/>
              <a:t> </a:t>
            </a:r>
            <a:r>
              <a:rPr lang="es-ES" dirty="0" smtClean="0"/>
              <a:t>son </a:t>
            </a:r>
            <a:r>
              <a:rPr lang="es-ES" dirty="0"/>
              <a:t>los datos que </a:t>
            </a:r>
            <a:r>
              <a:rPr lang="es-ES" dirty="0" smtClean="0"/>
              <a:t>usados para</a:t>
            </a:r>
            <a:r>
              <a:rPr lang="es-ES" dirty="0"/>
              <a:t> </a:t>
            </a:r>
            <a:r>
              <a:rPr lang="es-ES" b="1" dirty="0"/>
              <a:t>entrenar</a:t>
            </a:r>
            <a:r>
              <a:rPr lang="es-ES" i="1" dirty="0"/>
              <a:t> </a:t>
            </a:r>
            <a:r>
              <a:rPr lang="es-ES" dirty="0"/>
              <a:t>un modelo. La </a:t>
            </a:r>
            <a:r>
              <a:rPr lang="es-ES" b="1" dirty="0"/>
              <a:t>calidad </a:t>
            </a:r>
            <a:r>
              <a:rPr lang="es-ES" b="1" dirty="0" smtClean="0"/>
              <a:t>del modelo </a:t>
            </a:r>
            <a:r>
              <a:rPr lang="es-ES" dirty="0" smtClean="0"/>
              <a:t>está directamente relacionada con la </a:t>
            </a:r>
            <a:r>
              <a:rPr lang="es-ES" b="1" dirty="0"/>
              <a:t>calidad</a:t>
            </a:r>
            <a:r>
              <a:rPr lang="es-ES" dirty="0"/>
              <a:t> de los </a:t>
            </a:r>
            <a:r>
              <a:rPr lang="es-ES" b="1" dirty="0" smtClean="0"/>
              <a:t>datos </a:t>
            </a:r>
            <a:r>
              <a:rPr lang="es-ES" dirty="0" smtClean="0"/>
              <a:t>de </a:t>
            </a:r>
            <a:r>
              <a:rPr lang="es-ES" b="1" dirty="0" smtClean="0"/>
              <a:t>entrenamiento</a:t>
            </a:r>
            <a:r>
              <a:rPr lang="es-ES" dirty="0" smtClean="0"/>
              <a:t>. </a:t>
            </a:r>
            <a:r>
              <a:rPr lang="es-ES" u="sng" dirty="0" smtClean="0"/>
              <a:t>IMPRESCINDIBLE</a:t>
            </a:r>
            <a:r>
              <a:rPr lang="es-ES" dirty="0" smtClean="0"/>
              <a:t> llevar a cabo un proceso de </a:t>
            </a:r>
            <a:r>
              <a:rPr lang="es-ES" b="1" dirty="0" smtClean="0"/>
              <a:t>depuración</a:t>
            </a:r>
            <a:r>
              <a:rPr lang="es-ES" dirty="0" smtClean="0"/>
              <a:t> y </a:t>
            </a:r>
            <a:r>
              <a:rPr lang="es-ES" b="1" dirty="0" smtClean="0"/>
              <a:t>limpieza</a:t>
            </a:r>
            <a:r>
              <a:rPr lang="es-ES" dirty="0" smtClean="0"/>
              <a:t> de datos antes de iniciar el ajuste del modelo.</a:t>
            </a:r>
            <a:endParaRPr lang="es-ES" dirty="0"/>
          </a:p>
          <a:p>
            <a:pPr algn="just" fontAlgn="base"/>
            <a:endParaRPr lang="es-ES" b="1" dirty="0" smtClean="0"/>
          </a:p>
          <a:p>
            <a:pPr algn="just"/>
            <a:r>
              <a:rPr lang="es-ES" b="1" dirty="0" smtClean="0">
                <a:solidFill>
                  <a:srgbClr val="0070C0"/>
                </a:solidFill>
              </a:rPr>
              <a:t>Datos </a:t>
            </a:r>
            <a:r>
              <a:rPr lang="es-ES" b="1" dirty="0">
                <a:solidFill>
                  <a:srgbClr val="0070C0"/>
                </a:solidFill>
              </a:rPr>
              <a:t>de </a:t>
            </a:r>
            <a:r>
              <a:rPr lang="es-ES" b="1" dirty="0" smtClean="0">
                <a:solidFill>
                  <a:srgbClr val="0070C0"/>
                </a:solidFill>
              </a:rPr>
              <a:t>prueba</a:t>
            </a:r>
            <a:r>
              <a:rPr lang="es-ES" dirty="0"/>
              <a:t> </a:t>
            </a:r>
            <a:r>
              <a:rPr lang="es-ES" dirty="0" smtClean="0"/>
              <a:t>o </a:t>
            </a:r>
            <a:r>
              <a:rPr lang="es-ES" b="1" dirty="0">
                <a:solidFill>
                  <a:srgbClr val="0070C0"/>
                </a:solidFill>
              </a:rPr>
              <a:t>validación</a:t>
            </a:r>
            <a:r>
              <a:rPr lang="es-ES" dirty="0" smtClean="0"/>
              <a:t> (</a:t>
            </a:r>
            <a:r>
              <a:rPr lang="es-ES" i="1" dirty="0" err="1" smtClean="0"/>
              <a:t>testing</a:t>
            </a:r>
            <a:r>
              <a:rPr lang="es-ES" i="1" dirty="0" smtClean="0"/>
              <a:t> data</a:t>
            </a:r>
            <a:r>
              <a:rPr lang="es-ES" dirty="0" smtClean="0"/>
              <a:t>)</a:t>
            </a:r>
            <a:r>
              <a:rPr lang="es-ES" i="1" dirty="0" smtClean="0"/>
              <a:t>:</a:t>
            </a:r>
            <a:r>
              <a:rPr lang="es-ES" dirty="0"/>
              <a:t> son los </a:t>
            </a:r>
            <a:r>
              <a:rPr lang="es-ES" dirty="0" smtClean="0"/>
              <a:t>datos reservados para comprobar </a:t>
            </a:r>
            <a:r>
              <a:rPr lang="es-ES" dirty="0"/>
              <a:t>si el modelo que </a:t>
            </a:r>
            <a:r>
              <a:rPr lang="es-ES" dirty="0" smtClean="0"/>
              <a:t>generado </a:t>
            </a:r>
            <a:r>
              <a:rPr lang="es-ES" dirty="0"/>
              <a:t>a partir de los datos de entrenamiento “funciona</a:t>
            </a:r>
            <a:r>
              <a:rPr lang="es-ES" dirty="0" smtClean="0"/>
              <a:t>”; esto es, si </a:t>
            </a:r>
            <a:r>
              <a:rPr lang="es-ES" dirty="0"/>
              <a:t>las respuestas predichas por el modelo para un caso totalmente nuevo son acertadas o no</a:t>
            </a:r>
            <a:r>
              <a:rPr lang="es-ES" dirty="0" smtClean="0"/>
              <a:t>.</a:t>
            </a:r>
          </a:p>
          <a:p>
            <a:pPr marL="0" indent="0" algn="just">
              <a:buNone/>
            </a:pPr>
            <a:endParaRPr lang="es-ES" dirty="0"/>
          </a:p>
          <a:p>
            <a:pPr algn="just"/>
            <a:r>
              <a:rPr lang="es-ES" u="sng" dirty="0" smtClean="0"/>
              <a:t>Importante </a:t>
            </a:r>
            <a:r>
              <a:rPr lang="es-ES" dirty="0"/>
              <a:t>que el </a:t>
            </a:r>
            <a:r>
              <a:rPr lang="es-ES" i="1" dirty="0"/>
              <a:t>conjunto de </a:t>
            </a:r>
            <a:r>
              <a:rPr lang="es-ES" b="1" i="1" dirty="0"/>
              <a:t>datos de prueba</a:t>
            </a:r>
            <a:r>
              <a:rPr lang="es-ES" i="1" dirty="0"/>
              <a:t> </a:t>
            </a:r>
            <a:r>
              <a:rPr lang="es-ES" dirty="0"/>
              <a:t>tenga un </a:t>
            </a:r>
            <a:r>
              <a:rPr lang="es-ES" b="1" i="1" dirty="0"/>
              <a:t>volumen</a:t>
            </a:r>
            <a:r>
              <a:rPr lang="es-ES" i="1" dirty="0"/>
              <a:t> </a:t>
            </a:r>
            <a:r>
              <a:rPr lang="es-ES" b="1" i="1" dirty="0"/>
              <a:t>suficiente</a:t>
            </a:r>
            <a:r>
              <a:rPr lang="es-ES" dirty="0"/>
              <a:t> como para generar resultados estadísticamente significativos, y a la vez, que sea </a:t>
            </a:r>
            <a:r>
              <a:rPr lang="es-ES" b="1" i="1" dirty="0"/>
              <a:t>representativo</a:t>
            </a:r>
            <a:r>
              <a:rPr lang="es-ES" i="1" dirty="0"/>
              <a:t> </a:t>
            </a:r>
            <a:r>
              <a:rPr lang="es-ES" dirty="0"/>
              <a:t>del conjunto de datos global.</a:t>
            </a:r>
          </a:p>
          <a:p>
            <a:pPr fontAlgn="base"/>
            <a:endParaRPr lang="es-ES" b="1" dirty="0"/>
          </a:p>
        </p:txBody>
      </p:sp>
    </p:spTree>
    <p:extLst>
      <p:ext uri="{BB962C8B-B14F-4D97-AF65-F5344CB8AC3E}">
        <p14:creationId xmlns:p14="http://schemas.microsoft.com/office/powerpoint/2010/main" val="3106448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717552" y="1772164"/>
            <a:ext cx="8608702" cy="4201481"/>
          </a:xfrm>
          <a:prstGeom prst="rect">
            <a:avLst/>
          </a:prstGeom>
        </p:spPr>
      </p:pic>
      <p:sp>
        <p:nvSpPr>
          <p:cNvPr id="5" name="Título 1"/>
          <p:cNvSpPr>
            <a:spLocks noGrp="1"/>
          </p:cNvSpPr>
          <p:nvPr>
            <p:ph type="title"/>
          </p:nvPr>
        </p:nvSpPr>
        <p:spPr>
          <a:xfrm>
            <a:off x="838200" y="365125"/>
            <a:ext cx="10515600" cy="1325563"/>
          </a:xfrm>
        </p:spPr>
        <p:txBody>
          <a:bodyPr/>
          <a:lstStyle/>
          <a:p>
            <a:r>
              <a:rPr lang="es-ES" b="1" spc="-5" dirty="0" smtClean="0">
                <a:solidFill>
                  <a:srgbClr val="0070C0"/>
                </a:solidFill>
                <a:latin typeface="Times New Roman"/>
                <a:cs typeface="Times New Roman"/>
              </a:rPr>
              <a:t>División de datos</a:t>
            </a:r>
            <a:endParaRPr lang="es-ES" i="1" dirty="0">
              <a:solidFill>
                <a:srgbClr val="0070C0"/>
              </a:solidFill>
            </a:endParaRPr>
          </a:p>
        </p:txBody>
      </p:sp>
    </p:spTree>
    <p:extLst>
      <p:ext uri="{BB962C8B-B14F-4D97-AF65-F5344CB8AC3E}">
        <p14:creationId xmlns:p14="http://schemas.microsoft.com/office/powerpoint/2010/main" val="2148337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Entrenamiento / Validación / Test</a:t>
            </a:r>
            <a:endParaRPr lang="es-ES" i="1" dirty="0">
              <a:solidFill>
                <a:srgbClr val="0070C0"/>
              </a:solidFill>
            </a:endParaRPr>
          </a:p>
        </p:txBody>
      </p:sp>
      <p:sp>
        <p:nvSpPr>
          <p:cNvPr id="4" name="Marcador de contenido 3"/>
          <p:cNvSpPr>
            <a:spLocks noGrp="1"/>
          </p:cNvSpPr>
          <p:nvPr>
            <p:ph idx="1"/>
          </p:nvPr>
        </p:nvSpPr>
        <p:spPr>
          <a:xfrm>
            <a:off x="594360" y="1399032"/>
            <a:ext cx="10972800" cy="5020056"/>
          </a:xfrm>
        </p:spPr>
        <p:txBody>
          <a:bodyPr>
            <a:normAutofit fontScale="92500" lnSpcReduction="20000"/>
          </a:bodyPr>
          <a:lstStyle/>
          <a:p>
            <a:pPr algn="just"/>
            <a:r>
              <a:rPr lang="es-ES" b="1" dirty="0">
                <a:solidFill>
                  <a:srgbClr val="C00000"/>
                </a:solidFill>
              </a:rPr>
              <a:t>Datos de entrenamiento: </a:t>
            </a:r>
            <a:r>
              <a:rPr lang="es-ES" dirty="0"/>
              <a:t>son los datos que entrenan los </a:t>
            </a:r>
            <a:r>
              <a:rPr lang="es-ES" dirty="0" smtClean="0"/>
              <a:t>modelos, usados para ajustar los parámetros</a:t>
            </a:r>
            <a:endParaRPr lang="es-ES" dirty="0"/>
          </a:p>
          <a:p>
            <a:pPr algn="just"/>
            <a:r>
              <a:rPr lang="es-ES" b="1" dirty="0">
                <a:solidFill>
                  <a:srgbClr val="C00000"/>
                </a:solidFill>
              </a:rPr>
              <a:t>Datos de validación: </a:t>
            </a:r>
            <a:r>
              <a:rPr lang="es-ES" dirty="0" smtClean="0"/>
              <a:t>se usan para seleccionar </a:t>
            </a:r>
            <a:r>
              <a:rPr lang="es-ES" dirty="0"/>
              <a:t>el mejor de los modelos </a:t>
            </a:r>
            <a:r>
              <a:rPr lang="es-ES" dirty="0" smtClean="0"/>
              <a:t>entrenados. Proporcionan una evaluación imparcial del ajuste de un modelo en el conjunto de datos de entrenamiento mientras ajusta lo parámetros del modelo. Estos datos se suelen utilizar cuando se aplica regularización mediante </a:t>
            </a:r>
            <a:r>
              <a:rPr lang="es-ES" i="1" dirty="0" err="1" smtClean="0"/>
              <a:t>early</a:t>
            </a:r>
            <a:r>
              <a:rPr lang="es-ES" i="1" dirty="0" smtClean="0"/>
              <a:t> </a:t>
            </a:r>
            <a:r>
              <a:rPr lang="es-ES" i="1" dirty="0" err="1" smtClean="0"/>
              <a:t>stopping</a:t>
            </a:r>
            <a:r>
              <a:rPr lang="es-ES" i="1" dirty="0" smtClean="0"/>
              <a:t>.</a:t>
            </a:r>
            <a:endParaRPr lang="es-ES" dirty="0" smtClean="0"/>
          </a:p>
          <a:p>
            <a:pPr algn="just"/>
            <a:r>
              <a:rPr lang="es-ES" b="1" dirty="0" smtClean="0">
                <a:solidFill>
                  <a:srgbClr val="C00000"/>
                </a:solidFill>
              </a:rPr>
              <a:t>Datos de test</a:t>
            </a:r>
            <a:r>
              <a:rPr lang="es-ES" dirty="0" smtClean="0"/>
              <a:t>: se usan para calcular el error real cometido con el modelo seleccionado</a:t>
            </a:r>
          </a:p>
          <a:p>
            <a:pPr algn="just"/>
            <a:endParaRPr lang="es-ES" b="1" dirty="0" smtClean="0"/>
          </a:p>
          <a:p>
            <a:pPr marL="0" indent="0" algn="just">
              <a:buNone/>
            </a:pPr>
            <a:r>
              <a:rPr lang="es-ES" b="1" u="sng" dirty="0" smtClean="0"/>
              <a:t>IMPORTANTE</a:t>
            </a:r>
            <a:r>
              <a:rPr lang="es-ES" u="sng" dirty="0" smtClean="0"/>
              <a:t>:</a:t>
            </a:r>
            <a:r>
              <a:rPr lang="es-ES" dirty="0" smtClean="0"/>
              <a:t> no mezclar datos!!! Cada instancia sólo puede pertenecer a uno de estos subconjuntos. Imprescindible que haya suficiente cantidad total de datos para poder hacer la división.</a:t>
            </a:r>
          </a:p>
          <a:p>
            <a:pPr marL="0" indent="0" algn="just">
              <a:buNone/>
            </a:pPr>
            <a:endParaRPr lang="es-ES" dirty="0" smtClean="0"/>
          </a:p>
          <a:p>
            <a:pPr marL="0" indent="0" algn="just">
              <a:buNone/>
            </a:pPr>
            <a:r>
              <a:rPr lang="es-ES" b="1" u="sng" dirty="0" smtClean="0"/>
              <a:t>Algunas divisiones comunes:</a:t>
            </a:r>
            <a:r>
              <a:rPr lang="es-ES" dirty="0" smtClean="0"/>
              <a:t> (80, 10, 10); (70</a:t>
            </a:r>
            <a:r>
              <a:rPr lang="es-ES" smtClean="0"/>
              <a:t>, 20, 10); </a:t>
            </a:r>
            <a:r>
              <a:rPr lang="es-ES" dirty="0" smtClean="0"/>
              <a:t>(70</a:t>
            </a:r>
            <a:r>
              <a:rPr lang="es-ES" smtClean="0"/>
              <a:t>, 15, 15); </a:t>
            </a:r>
            <a:r>
              <a:rPr lang="es-ES" dirty="0" smtClean="0"/>
              <a:t>(60, 20, 20)</a:t>
            </a:r>
            <a:endParaRPr lang="es-ES" b="1" u="sng" dirty="0" smtClean="0"/>
          </a:p>
        </p:txBody>
      </p:sp>
    </p:spTree>
    <p:extLst>
      <p:ext uri="{BB962C8B-B14F-4D97-AF65-F5344CB8AC3E}">
        <p14:creationId xmlns:p14="http://schemas.microsoft.com/office/powerpoint/2010/main" val="950374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Entrenamiento / Test</a:t>
            </a:r>
            <a:endParaRPr lang="es-ES" i="1" dirty="0">
              <a:solidFill>
                <a:srgbClr val="0070C0"/>
              </a:solidFill>
            </a:endParaRPr>
          </a:p>
        </p:txBody>
      </p:sp>
      <p:sp>
        <p:nvSpPr>
          <p:cNvPr id="4" name="Marcador de contenido 3"/>
          <p:cNvSpPr>
            <a:spLocks noGrp="1"/>
          </p:cNvSpPr>
          <p:nvPr>
            <p:ph idx="1"/>
          </p:nvPr>
        </p:nvSpPr>
        <p:spPr>
          <a:xfrm>
            <a:off x="594360" y="1399032"/>
            <a:ext cx="10972800" cy="5020056"/>
          </a:xfrm>
        </p:spPr>
        <p:txBody>
          <a:bodyPr>
            <a:normAutofit/>
          </a:bodyPr>
          <a:lstStyle/>
          <a:p>
            <a:pPr algn="just"/>
            <a:r>
              <a:rPr lang="es-ES" b="1" dirty="0">
                <a:solidFill>
                  <a:srgbClr val="C00000"/>
                </a:solidFill>
              </a:rPr>
              <a:t>Datos de entrenamiento: </a:t>
            </a:r>
            <a:r>
              <a:rPr lang="es-ES" dirty="0"/>
              <a:t>son los datos que entrenan los </a:t>
            </a:r>
            <a:r>
              <a:rPr lang="es-ES" dirty="0" smtClean="0"/>
              <a:t>modelos, usados para ajustar los parámetros</a:t>
            </a:r>
            <a:endParaRPr lang="es-ES" dirty="0"/>
          </a:p>
          <a:p>
            <a:pPr algn="just"/>
            <a:r>
              <a:rPr lang="es-ES" b="1" dirty="0" smtClean="0">
                <a:solidFill>
                  <a:srgbClr val="C00000"/>
                </a:solidFill>
              </a:rPr>
              <a:t>Datos de test</a:t>
            </a:r>
            <a:r>
              <a:rPr lang="es-ES" dirty="0" smtClean="0"/>
              <a:t>: se usan para calcular el error real cometido con el modelo seleccionado</a:t>
            </a:r>
          </a:p>
          <a:p>
            <a:pPr algn="just"/>
            <a:endParaRPr lang="es-ES" b="1" dirty="0" smtClean="0"/>
          </a:p>
          <a:p>
            <a:pPr marL="0" indent="0" algn="just">
              <a:buNone/>
            </a:pPr>
            <a:r>
              <a:rPr lang="es-ES" b="1" u="sng" dirty="0" smtClean="0"/>
              <a:t>IMPORTANTE</a:t>
            </a:r>
            <a:r>
              <a:rPr lang="es-ES" u="sng" dirty="0" smtClean="0"/>
              <a:t>:</a:t>
            </a:r>
            <a:r>
              <a:rPr lang="es-ES" dirty="0" smtClean="0"/>
              <a:t> no mezclar datos!!! Cada instancia sólo puede pertenecer a uno de estos subconjuntos. </a:t>
            </a:r>
            <a:r>
              <a:rPr lang="es-ES" dirty="0"/>
              <a:t>Imprescindible que haya suficiente cantidad total de datos para poder hacer la división.</a:t>
            </a:r>
            <a:endParaRPr lang="es-ES" dirty="0" smtClean="0"/>
          </a:p>
          <a:p>
            <a:pPr marL="0" indent="0" algn="just">
              <a:buNone/>
            </a:pPr>
            <a:endParaRPr lang="es-ES" dirty="0" smtClean="0"/>
          </a:p>
          <a:p>
            <a:pPr marL="0" indent="0" algn="just">
              <a:buNone/>
            </a:pPr>
            <a:r>
              <a:rPr lang="es-ES" b="1" u="sng" dirty="0" smtClean="0"/>
              <a:t>Algunas divisiones comunes:</a:t>
            </a:r>
            <a:r>
              <a:rPr lang="es-ES" dirty="0" smtClean="0"/>
              <a:t> (80, 20); (67, 33); (50, </a:t>
            </a:r>
            <a:r>
              <a:rPr lang="es-ES" smtClean="0"/>
              <a:t>50)</a:t>
            </a:r>
            <a:endParaRPr lang="es-ES" b="1" u="sng" dirty="0" smtClean="0"/>
          </a:p>
        </p:txBody>
      </p:sp>
    </p:spTree>
    <p:extLst>
      <p:ext uri="{BB962C8B-B14F-4D97-AF65-F5344CB8AC3E}">
        <p14:creationId xmlns:p14="http://schemas.microsoft.com/office/powerpoint/2010/main" val="629970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Problemas que surgen</a:t>
            </a:r>
            <a:endParaRPr lang="es-ES" i="1" dirty="0">
              <a:solidFill>
                <a:srgbClr val="0070C0"/>
              </a:solidFill>
            </a:endParaRPr>
          </a:p>
        </p:txBody>
      </p:sp>
      <p:sp>
        <p:nvSpPr>
          <p:cNvPr id="4" name="Marcador de contenido 3"/>
          <p:cNvSpPr>
            <a:spLocks noGrp="1"/>
          </p:cNvSpPr>
          <p:nvPr>
            <p:ph idx="1"/>
          </p:nvPr>
        </p:nvSpPr>
        <p:spPr>
          <a:xfrm>
            <a:off x="838200" y="1399032"/>
            <a:ext cx="10728960" cy="5020056"/>
          </a:xfrm>
        </p:spPr>
        <p:txBody>
          <a:bodyPr>
            <a:normAutofit fontScale="77500" lnSpcReduction="20000"/>
          </a:bodyPr>
          <a:lstStyle/>
          <a:p>
            <a:pPr algn="just" fontAlgn="base"/>
            <a:r>
              <a:rPr lang="es-ES" b="1" dirty="0" smtClean="0">
                <a:solidFill>
                  <a:srgbClr val="C00000"/>
                </a:solidFill>
              </a:rPr>
              <a:t>Sobreajuste u </a:t>
            </a:r>
            <a:r>
              <a:rPr lang="es-ES" b="1" dirty="0" err="1" smtClean="0">
                <a:solidFill>
                  <a:srgbClr val="C00000"/>
                </a:solidFill>
              </a:rPr>
              <a:t>overfitting</a:t>
            </a:r>
            <a:r>
              <a:rPr lang="es-ES" b="1" dirty="0" smtClean="0">
                <a:solidFill>
                  <a:srgbClr val="C00000"/>
                </a:solidFill>
              </a:rPr>
              <a:t>: </a:t>
            </a:r>
            <a:r>
              <a:rPr lang="es-ES" dirty="0"/>
              <a:t> ocurre cuando un modelo está “</a:t>
            </a:r>
            <a:r>
              <a:rPr lang="es-ES" dirty="0" smtClean="0"/>
              <a:t>sobre-entrenado”. Ocurre en modelos </a:t>
            </a:r>
            <a:r>
              <a:rPr lang="es-ES" dirty="0"/>
              <a:t>complejos que se </a:t>
            </a:r>
            <a:r>
              <a:rPr lang="es-ES" dirty="0" smtClean="0"/>
              <a:t>ajustan </a:t>
            </a:r>
            <a:r>
              <a:rPr lang="es-ES" dirty="0"/>
              <a:t>tan </a:t>
            </a:r>
            <a:r>
              <a:rPr lang="es-ES" dirty="0" smtClean="0"/>
              <a:t>exactamente al </a:t>
            </a:r>
            <a:r>
              <a:rPr lang="es-ES" dirty="0"/>
              <a:t>conjunto de </a:t>
            </a:r>
            <a:r>
              <a:rPr lang="es-ES" dirty="0" smtClean="0"/>
              <a:t>datos de entrenamiento </a:t>
            </a:r>
            <a:r>
              <a:rPr lang="es-ES" dirty="0"/>
              <a:t>a partir del cual se han creado, </a:t>
            </a:r>
            <a:r>
              <a:rPr lang="es-ES" dirty="0" smtClean="0"/>
              <a:t>que </a:t>
            </a:r>
            <a:r>
              <a:rPr lang="es-ES" dirty="0" smtClean="0">
                <a:solidFill>
                  <a:srgbClr val="C00000"/>
                </a:solidFill>
              </a:rPr>
              <a:t>no se generalizan bien a los datos de test, perdiendo gran </a:t>
            </a:r>
            <a:r>
              <a:rPr lang="es-ES" dirty="0">
                <a:solidFill>
                  <a:srgbClr val="C00000"/>
                </a:solidFill>
              </a:rPr>
              <a:t>parte de su </a:t>
            </a:r>
            <a:r>
              <a:rPr lang="es-ES" dirty="0" smtClean="0">
                <a:solidFill>
                  <a:srgbClr val="C00000"/>
                </a:solidFill>
              </a:rPr>
              <a:t>capacidad predictiva</a:t>
            </a:r>
            <a:r>
              <a:rPr lang="es-ES" dirty="0" smtClean="0"/>
              <a:t>. </a:t>
            </a:r>
            <a:r>
              <a:rPr lang="es-ES" dirty="0"/>
              <a:t>Esto se debe a que los datos siempre </a:t>
            </a:r>
            <a:r>
              <a:rPr lang="es-ES" dirty="0" smtClean="0"/>
              <a:t>presentan </a:t>
            </a:r>
            <a:r>
              <a:rPr lang="es-ES" dirty="0"/>
              <a:t>cierto grado de </a:t>
            </a:r>
            <a:r>
              <a:rPr lang="es-ES" dirty="0" smtClean="0"/>
              <a:t>error, imprecisión y variabilidad, </a:t>
            </a:r>
            <a:r>
              <a:rPr lang="es-ES" dirty="0"/>
              <a:t>e intentar ajustarse demasiado a ellos, complica el modelo inútilmente </a:t>
            </a:r>
            <a:r>
              <a:rPr lang="es-ES" dirty="0" smtClean="0"/>
              <a:t>y le </a:t>
            </a:r>
            <a:r>
              <a:rPr lang="es-ES" dirty="0"/>
              <a:t>resta </a:t>
            </a:r>
            <a:r>
              <a:rPr lang="es-ES" dirty="0" smtClean="0"/>
              <a:t>utilidad y capacidad de generalización. </a:t>
            </a:r>
          </a:p>
          <a:p>
            <a:pPr algn="just" fontAlgn="base"/>
            <a:r>
              <a:rPr lang="es-ES" dirty="0"/>
              <a:t>S</a:t>
            </a:r>
            <a:r>
              <a:rPr lang="es-ES" dirty="0" smtClean="0"/>
              <a:t>e </a:t>
            </a:r>
            <a:r>
              <a:rPr lang="es-ES" dirty="0"/>
              <a:t>produce cuando un sistema de M</a:t>
            </a:r>
            <a:r>
              <a:rPr lang="es-ES" dirty="0" smtClean="0"/>
              <a:t>achine </a:t>
            </a:r>
            <a:r>
              <a:rPr lang="es-ES" dirty="0" err="1"/>
              <a:t>L</a:t>
            </a:r>
            <a:r>
              <a:rPr lang="es-ES" dirty="0" err="1" smtClean="0"/>
              <a:t>earning</a:t>
            </a:r>
            <a:r>
              <a:rPr lang="es-ES" dirty="0" smtClean="0"/>
              <a:t> </a:t>
            </a:r>
            <a:r>
              <a:rPr lang="es-ES" dirty="0"/>
              <a:t>se </a:t>
            </a:r>
            <a:r>
              <a:rPr lang="es-ES" b="1" dirty="0"/>
              <a:t>entrena demasiado</a:t>
            </a:r>
            <a:r>
              <a:rPr lang="es-ES" dirty="0"/>
              <a:t> o con </a:t>
            </a:r>
            <a:r>
              <a:rPr lang="es-ES" b="1" dirty="0"/>
              <a:t>datos anómalos</a:t>
            </a:r>
            <a:r>
              <a:rPr lang="es-ES" dirty="0"/>
              <a:t>, </a:t>
            </a:r>
            <a:r>
              <a:rPr lang="es-ES" dirty="0" smtClean="0"/>
              <a:t>provocando que el </a:t>
            </a:r>
            <a:r>
              <a:rPr lang="es-ES" dirty="0"/>
              <a:t>algoritmo </a:t>
            </a:r>
            <a:r>
              <a:rPr lang="es-ES" i="1" dirty="0" smtClean="0"/>
              <a:t>aprenda</a:t>
            </a:r>
            <a:r>
              <a:rPr lang="es-ES" dirty="0" smtClean="0"/>
              <a:t> </a:t>
            </a:r>
            <a:r>
              <a:rPr lang="es-ES" dirty="0">
                <a:solidFill>
                  <a:srgbClr val="C00000"/>
                </a:solidFill>
              </a:rPr>
              <a:t>patrones que no son </a:t>
            </a:r>
            <a:r>
              <a:rPr lang="es-ES" dirty="0" smtClean="0">
                <a:solidFill>
                  <a:srgbClr val="C00000"/>
                </a:solidFill>
              </a:rPr>
              <a:t>generales </a:t>
            </a:r>
            <a:r>
              <a:rPr lang="es-ES" dirty="0" smtClean="0"/>
              <a:t>y características específicas de los datos utilizados. </a:t>
            </a:r>
            <a:r>
              <a:rPr lang="es-ES" dirty="0"/>
              <a:t>Los modelos </a:t>
            </a:r>
            <a:r>
              <a:rPr lang="es-ES" b="1" dirty="0"/>
              <a:t>más complejos</a:t>
            </a:r>
            <a:r>
              <a:rPr lang="es-ES" dirty="0"/>
              <a:t> tienden a </a:t>
            </a:r>
            <a:r>
              <a:rPr lang="es-ES" b="1" dirty="0" err="1" smtClean="0"/>
              <a:t>sobreajustar</a:t>
            </a:r>
            <a:r>
              <a:rPr lang="es-ES" dirty="0"/>
              <a:t>.</a:t>
            </a:r>
            <a:r>
              <a:rPr lang="es-ES" b="1" dirty="0" smtClean="0"/>
              <a:t> </a:t>
            </a:r>
            <a:r>
              <a:rPr lang="es-ES" dirty="0"/>
              <a:t>U</a:t>
            </a:r>
            <a:r>
              <a:rPr lang="es-ES" dirty="0" smtClean="0"/>
              <a:t>n </a:t>
            </a:r>
            <a:r>
              <a:rPr lang="es-ES" dirty="0"/>
              <a:t>mismo </a:t>
            </a:r>
            <a:r>
              <a:rPr lang="es-ES" dirty="0" smtClean="0"/>
              <a:t>modelo puede tender a </a:t>
            </a:r>
            <a:r>
              <a:rPr lang="es-ES" dirty="0" err="1" smtClean="0"/>
              <a:t>sobreajustarse</a:t>
            </a:r>
            <a:r>
              <a:rPr lang="es-ES" dirty="0" smtClean="0"/>
              <a:t> a </a:t>
            </a:r>
            <a:r>
              <a:rPr lang="es-ES" dirty="0"/>
              <a:t>menor cantidad de </a:t>
            </a:r>
            <a:r>
              <a:rPr lang="es-ES" dirty="0" smtClean="0"/>
              <a:t>datos.</a:t>
            </a:r>
          </a:p>
          <a:p>
            <a:pPr algn="just" fontAlgn="base"/>
            <a:r>
              <a:rPr lang="es-ES" dirty="0" smtClean="0"/>
              <a:t>Un método habitual para evaluar el sobreajuste consiste en la comparación del error obtenido en los datos de </a:t>
            </a:r>
            <a:r>
              <a:rPr lang="es-ES" i="1" dirty="0" err="1" smtClean="0"/>
              <a:t>train</a:t>
            </a:r>
            <a:r>
              <a:rPr lang="es-ES" dirty="0" smtClean="0"/>
              <a:t> y el error cometido en los datos de </a:t>
            </a:r>
            <a:r>
              <a:rPr lang="es-ES" i="1" dirty="0" smtClean="0"/>
              <a:t>test. </a:t>
            </a:r>
            <a:r>
              <a:rPr lang="es-ES" dirty="0" smtClean="0"/>
              <a:t>Lo ideal es que ambos tipos de error se parezcan lo más posible.</a:t>
            </a:r>
          </a:p>
          <a:p>
            <a:pPr algn="just" fontAlgn="base"/>
            <a:r>
              <a:rPr lang="es-ES" b="1" dirty="0">
                <a:solidFill>
                  <a:srgbClr val="C00000"/>
                </a:solidFill>
              </a:rPr>
              <a:t>¿Cómo evitar el sobreajuste?: </a:t>
            </a:r>
            <a:r>
              <a:rPr lang="es-ES" dirty="0" smtClean="0"/>
              <a:t>incorporando </a:t>
            </a:r>
            <a:r>
              <a:rPr lang="es-ES" dirty="0" smtClean="0">
                <a:solidFill>
                  <a:srgbClr val="C00000"/>
                </a:solidFill>
              </a:rPr>
              <a:t>más datos, </a:t>
            </a:r>
            <a:r>
              <a:rPr lang="es-ES" dirty="0" smtClean="0"/>
              <a:t>provocando que el algoritmo generalice mejor; modificando los </a:t>
            </a:r>
            <a:r>
              <a:rPr lang="es-ES" dirty="0">
                <a:solidFill>
                  <a:srgbClr val="C00000"/>
                </a:solidFill>
              </a:rPr>
              <a:t>parámetros</a:t>
            </a:r>
            <a:r>
              <a:rPr lang="es-ES" dirty="0" smtClean="0"/>
              <a:t> de los algoritmos y proponiendo </a:t>
            </a:r>
            <a:r>
              <a:rPr lang="es-ES" dirty="0">
                <a:solidFill>
                  <a:srgbClr val="C00000"/>
                </a:solidFill>
              </a:rPr>
              <a:t>sistemas sencillos</a:t>
            </a:r>
            <a:r>
              <a:rPr lang="es-ES" dirty="0" smtClean="0"/>
              <a:t>, e incorporando parámetros de </a:t>
            </a:r>
            <a:r>
              <a:rPr lang="es-ES" dirty="0">
                <a:solidFill>
                  <a:srgbClr val="C00000"/>
                </a:solidFill>
              </a:rPr>
              <a:t>regularización</a:t>
            </a:r>
            <a:r>
              <a:rPr lang="es-ES" dirty="0" smtClean="0"/>
              <a:t>.</a:t>
            </a:r>
            <a:endParaRPr lang="es-ES" b="1" dirty="0" smtClean="0"/>
          </a:p>
        </p:txBody>
      </p:sp>
    </p:spTree>
    <p:extLst>
      <p:ext uri="{BB962C8B-B14F-4D97-AF65-F5344CB8AC3E}">
        <p14:creationId xmlns:p14="http://schemas.microsoft.com/office/powerpoint/2010/main" val="738187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Problemas que surgen</a:t>
            </a:r>
            <a:endParaRPr lang="es-ES" i="1" dirty="0">
              <a:solidFill>
                <a:srgbClr val="0070C0"/>
              </a:solidFill>
            </a:endParaRPr>
          </a:p>
        </p:txBody>
      </p:sp>
      <p:sp>
        <p:nvSpPr>
          <p:cNvPr id="4" name="Marcador de contenido 3"/>
          <p:cNvSpPr>
            <a:spLocks noGrp="1"/>
          </p:cNvSpPr>
          <p:nvPr>
            <p:ph idx="1"/>
          </p:nvPr>
        </p:nvSpPr>
        <p:spPr>
          <a:xfrm>
            <a:off x="838200" y="1399032"/>
            <a:ext cx="10728960" cy="5020056"/>
          </a:xfrm>
        </p:spPr>
        <p:txBody>
          <a:bodyPr>
            <a:normAutofit/>
          </a:bodyPr>
          <a:lstStyle/>
          <a:p>
            <a:r>
              <a:rPr lang="es-ES" b="1" dirty="0" err="1" smtClean="0">
                <a:solidFill>
                  <a:srgbClr val="C00000"/>
                </a:solidFill>
              </a:rPr>
              <a:t>Subajuste</a:t>
            </a:r>
            <a:r>
              <a:rPr lang="es-ES" b="1" dirty="0" smtClean="0">
                <a:solidFill>
                  <a:srgbClr val="C00000"/>
                </a:solidFill>
              </a:rPr>
              <a:t> o </a:t>
            </a:r>
            <a:r>
              <a:rPr lang="es-ES" b="1" dirty="0" err="1" smtClean="0">
                <a:solidFill>
                  <a:srgbClr val="C00000"/>
                </a:solidFill>
              </a:rPr>
              <a:t>underfitting</a:t>
            </a:r>
            <a:r>
              <a:rPr lang="es-ES" b="1" dirty="0" smtClean="0">
                <a:solidFill>
                  <a:srgbClr val="C00000"/>
                </a:solidFill>
              </a:rPr>
              <a:t>: </a:t>
            </a:r>
            <a:r>
              <a:rPr lang="es-ES" dirty="0" smtClean="0"/>
              <a:t>es justamente lo contrario al sobreajuste. Sucede </a:t>
            </a:r>
            <a:r>
              <a:rPr lang="es-ES" dirty="0"/>
              <a:t>cuando el conjunto de datos de entrenamiento es </a:t>
            </a:r>
            <a:r>
              <a:rPr lang="es-ES" dirty="0" smtClean="0"/>
              <a:t>insuficiente o poco representativo, o tiene ruido </a:t>
            </a:r>
            <a:r>
              <a:rPr lang="es-ES" dirty="0"/>
              <a:t>en alguna de sus </a:t>
            </a:r>
            <a:r>
              <a:rPr lang="es-ES" dirty="0" smtClean="0"/>
              <a:t>dimensiones. Estas características pueden derivar en el entrenamiento de un modelo </a:t>
            </a:r>
            <a:r>
              <a:rPr lang="es-ES" dirty="0"/>
              <a:t>excesivamente </a:t>
            </a:r>
            <a:r>
              <a:rPr lang="es-ES" dirty="0" smtClean="0"/>
              <a:t>simple y </a:t>
            </a:r>
            <a:r>
              <a:rPr lang="es-ES" dirty="0"/>
              <a:t>con poco valor predictor.</a:t>
            </a:r>
          </a:p>
          <a:p>
            <a:endParaRPr lang="es-ES" dirty="0" smtClean="0"/>
          </a:p>
          <a:p>
            <a:pPr marL="0" indent="0">
              <a:buNone/>
            </a:pPr>
            <a:r>
              <a:rPr lang="es-ES" dirty="0" smtClean="0"/>
              <a:t>Para </a:t>
            </a:r>
            <a:r>
              <a:rPr lang="es-ES" dirty="0"/>
              <a:t>generar un buen modelo de </a:t>
            </a:r>
            <a:r>
              <a:rPr lang="es-ES" dirty="0" smtClean="0"/>
              <a:t>Machine </a:t>
            </a:r>
            <a:r>
              <a:rPr lang="es-ES" dirty="0" err="1" smtClean="0"/>
              <a:t>Learning</a:t>
            </a:r>
            <a:r>
              <a:rPr lang="es-ES" dirty="0" smtClean="0"/>
              <a:t>, </a:t>
            </a:r>
            <a:r>
              <a:rPr lang="es-ES" dirty="0"/>
              <a:t>es importante encontrar el </a:t>
            </a:r>
            <a:r>
              <a:rPr lang="es-ES" b="1" dirty="0" smtClean="0"/>
              <a:t>equilibrio</a:t>
            </a:r>
            <a:r>
              <a:rPr lang="es-ES" dirty="0" smtClean="0"/>
              <a:t> </a:t>
            </a:r>
            <a:r>
              <a:rPr lang="es-ES" dirty="0"/>
              <a:t>entre </a:t>
            </a:r>
            <a:r>
              <a:rPr lang="es-ES" u="sng" dirty="0" smtClean="0"/>
              <a:t>sobreajuste</a:t>
            </a:r>
            <a:r>
              <a:rPr lang="es-ES" dirty="0" smtClean="0"/>
              <a:t> y </a:t>
            </a:r>
            <a:r>
              <a:rPr lang="es-ES" u="sng" dirty="0" err="1" smtClean="0"/>
              <a:t>subajuste</a:t>
            </a:r>
            <a:r>
              <a:rPr lang="es-ES" dirty="0" smtClean="0"/>
              <a:t>: </a:t>
            </a:r>
            <a:r>
              <a:rPr lang="es-ES" i="1" dirty="0" err="1" smtClean="0">
                <a:solidFill>
                  <a:srgbClr val="C00000"/>
                </a:solidFill>
              </a:rPr>
              <a:t>Bias</a:t>
            </a:r>
            <a:r>
              <a:rPr lang="es-ES" i="1" dirty="0" smtClean="0">
                <a:solidFill>
                  <a:srgbClr val="C00000"/>
                </a:solidFill>
              </a:rPr>
              <a:t> </a:t>
            </a:r>
            <a:r>
              <a:rPr lang="es-ES" i="1" dirty="0">
                <a:solidFill>
                  <a:srgbClr val="C00000"/>
                </a:solidFill>
              </a:rPr>
              <a:t>vs </a:t>
            </a:r>
            <a:r>
              <a:rPr lang="es-ES" i="1" dirty="0" smtClean="0">
                <a:solidFill>
                  <a:srgbClr val="C00000"/>
                </a:solidFill>
              </a:rPr>
              <a:t>Varianza</a:t>
            </a:r>
            <a:r>
              <a:rPr lang="es-ES" dirty="0" smtClean="0"/>
              <a:t>. </a:t>
            </a:r>
            <a:r>
              <a:rPr lang="es-ES" dirty="0"/>
              <a:t> </a:t>
            </a:r>
            <a:endParaRPr lang="es-ES" b="1" dirty="0" smtClean="0"/>
          </a:p>
        </p:txBody>
      </p:sp>
    </p:spTree>
    <p:extLst>
      <p:ext uri="{BB962C8B-B14F-4D97-AF65-F5344CB8AC3E}">
        <p14:creationId xmlns:p14="http://schemas.microsoft.com/office/powerpoint/2010/main" val="31393012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Escenario típico en ML</a:t>
            </a:r>
            <a:endParaRPr lang="es-ES" dirty="0"/>
          </a:p>
        </p:txBody>
      </p:sp>
      <p:sp>
        <p:nvSpPr>
          <p:cNvPr id="3" name="Marcador de contenido 2"/>
          <p:cNvSpPr>
            <a:spLocks noGrp="1"/>
          </p:cNvSpPr>
          <p:nvPr>
            <p:ph idx="1"/>
          </p:nvPr>
        </p:nvSpPr>
        <p:spPr>
          <a:xfrm>
            <a:off x="6469253" y="2233614"/>
            <a:ext cx="5107712" cy="3900920"/>
          </a:xfrm>
        </p:spPr>
        <p:txBody>
          <a:bodyPr>
            <a:normAutofit fontScale="92500" lnSpcReduction="20000"/>
          </a:bodyPr>
          <a:lstStyle/>
          <a:p>
            <a:pPr algn="just"/>
            <a:r>
              <a:rPr lang="es-ES" sz="2000" dirty="0" smtClean="0"/>
              <a:t>Datos conocidos </a:t>
            </a:r>
            <a:r>
              <a:rPr lang="es-ES" sz="2000" dirty="0"/>
              <a:t>siempre:  </a:t>
            </a:r>
            <a:r>
              <a:rPr lang="es-ES" sz="2000" b="1" dirty="0"/>
              <a:t>VARIABLES DE </a:t>
            </a:r>
            <a:r>
              <a:rPr lang="es-ES" sz="2000" b="1" dirty="0" smtClean="0"/>
              <a:t>ENTRADA</a:t>
            </a:r>
            <a:r>
              <a:rPr lang="es-ES" sz="2000" dirty="0" smtClean="0"/>
              <a:t>, características </a:t>
            </a:r>
            <a:r>
              <a:rPr lang="es-ES" sz="2000" dirty="0"/>
              <a:t>que describen la variable de interés a predecir: la SALIDA.</a:t>
            </a:r>
          </a:p>
          <a:p>
            <a:pPr algn="just"/>
            <a:r>
              <a:rPr lang="es-ES" sz="2000" dirty="0"/>
              <a:t>Datos conocidos </a:t>
            </a:r>
            <a:r>
              <a:rPr lang="es-ES" sz="2000" b="1" dirty="0"/>
              <a:t>solo </a:t>
            </a:r>
            <a:r>
              <a:rPr lang="es-ES" sz="2000" dirty="0"/>
              <a:t>para </a:t>
            </a:r>
            <a:r>
              <a:rPr lang="es-ES" sz="2000" b="1" dirty="0"/>
              <a:t>algunos casos</a:t>
            </a:r>
            <a:r>
              <a:rPr lang="es-ES" sz="2000" dirty="0"/>
              <a:t>: </a:t>
            </a:r>
            <a:r>
              <a:rPr lang="es-ES" sz="2000" b="1" dirty="0"/>
              <a:t>VARIABLE DE SALIDA</a:t>
            </a:r>
            <a:r>
              <a:rPr lang="es-ES" sz="2000" dirty="0"/>
              <a:t>, la variable de interés para la cual se desean predicciones. Su valor es conocido para algunos casos utilizados para entrenar los modelos que permitirán predicciones.</a:t>
            </a:r>
          </a:p>
          <a:p>
            <a:pPr algn="just"/>
            <a:r>
              <a:rPr lang="es-ES" sz="2000" b="1" dirty="0" smtClean="0"/>
              <a:t>PREDICCIÓN</a:t>
            </a:r>
            <a:r>
              <a:rPr lang="es-ES" sz="2000" dirty="0" smtClean="0"/>
              <a:t>: </a:t>
            </a:r>
            <a:r>
              <a:rPr lang="es-ES" sz="2000" dirty="0"/>
              <a:t>una vez que el modelo ha sido entrenado utilizando variables explicativas (ENTRADA) para aprender cómo se comporta la variable de interés (SALIDA) en cada caso, el modelo puede utilizarse para hacer predicciones para casos en los que la variable de SALIDA es desconocida.</a:t>
            </a:r>
          </a:p>
          <a:p>
            <a:endParaRPr lang="es-ES" dirty="0"/>
          </a:p>
        </p:txBody>
      </p:sp>
      <p:pic>
        <p:nvPicPr>
          <p:cNvPr id="4" name="Marcador de contenido 4"/>
          <p:cNvPicPr>
            <a:picLocks noChangeAspect="1"/>
          </p:cNvPicPr>
          <p:nvPr/>
        </p:nvPicPr>
        <p:blipFill>
          <a:blip r:embed="rId2"/>
          <a:stretch>
            <a:fillRect/>
          </a:stretch>
        </p:blipFill>
        <p:spPr>
          <a:xfrm>
            <a:off x="750872" y="1521265"/>
            <a:ext cx="5718381" cy="2662809"/>
          </a:xfrm>
          <a:prstGeom prst="rect">
            <a:avLst/>
          </a:prstGeom>
        </p:spPr>
      </p:pic>
      <p:pic>
        <p:nvPicPr>
          <p:cNvPr id="5" name="Imagen 4"/>
          <p:cNvPicPr>
            <a:picLocks noChangeAspect="1"/>
          </p:cNvPicPr>
          <p:nvPr/>
        </p:nvPicPr>
        <p:blipFill>
          <a:blip r:embed="rId3"/>
          <a:stretch>
            <a:fillRect/>
          </a:stretch>
        </p:blipFill>
        <p:spPr>
          <a:xfrm>
            <a:off x="1498423" y="4524429"/>
            <a:ext cx="3563104" cy="2013204"/>
          </a:xfrm>
          <a:prstGeom prst="rect">
            <a:avLst/>
          </a:prstGeom>
        </p:spPr>
      </p:pic>
    </p:spTree>
    <p:extLst>
      <p:ext uri="{BB962C8B-B14F-4D97-AF65-F5344CB8AC3E}">
        <p14:creationId xmlns:p14="http://schemas.microsoft.com/office/powerpoint/2010/main" val="10411292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spc="-5" dirty="0" smtClean="0">
                <a:solidFill>
                  <a:srgbClr val="0070C0"/>
                </a:solidFill>
                <a:latin typeface="Times New Roman"/>
                <a:cs typeface="Times New Roman"/>
              </a:rPr>
              <a:t>Ejemplo típico en ML: </a:t>
            </a:r>
            <a:r>
              <a:rPr lang="es-ES" b="1" i="1" spc="-5" dirty="0" err="1" smtClean="0">
                <a:solidFill>
                  <a:srgbClr val="0070C0"/>
                </a:solidFill>
                <a:latin typeface="Times New Roman"/>
                <a:cs typeface="Times New Roman"/>
              </a:rPr>
              <a:t>breast</a:t>
            </a:r>
            <a:r>
              <a:rPr lang="es-ES" b="1" i="1" spc="-5" dirty="0" smtClean="0">
                <a:solidFill>
                  <a:srgbClr val="0070C0"/>
                </a:solidFill>
                <a:latin typeface="Times New Roman"/>
                <a:cs typeface="Times New Roman"/>
              </a:rPr>
              <a:t> </a:t>
            </a:r>
            <a:r>
              <a:rPr lang="es-ES" b="1" i="1" spc="-5" dirty="0" err="1" smtClean="0">
                <a:solidFill>
                  <a:srgbClr val="0070C0"/>
                </a:solidFill>
                <a:latin typeface="Times New Roman"/>
                <a:cs typeface="Times New Roman"/>
              </a:rPr>
              <a:t>cancer</a:t>
            </a:r>
            <a:r>
              <a:rPr lang="es-ES" b="1" i="1" spc="-5" dirty="0" smtClean="0">
                <a:solidFill>
                  <a:srgbClr val="0070C0"/>
                </a:solidFill>
                <a:latin typeface="Times New Roman"/>
                <a:cs typeface="Times New Roman"/>
              </a:rPr>
              <a:t> Wisconsin </a:t>
            </a:r>
            <a:r>
              <a:rPr lang="es-ES" b="1" i="1" spc="-5" dirty="0" err="1" smtClean="0">
                <a:solidFill>
                  <a:srgbClr val="0070C0"/>
                </a:solidFill>
                <a:latin typeface="Times New Roman"/>
                <a:cs typeface="Times New Roman"/>
              </a:rPr>
              <a:t>dataset</a:t>
            </a:r>
            <a:endParaRPr lang="es-ES" i="1" dirty="0"/>
          </a:p>
        </p:txBody>
      </p:sp>
      <p:sp>
        <p:nvSpPr>
          <p:cNvPr id="6" name="Marcador de contenido 5"/>
          <p:cNvSpPr>
            <a:spLocks noGrp="1"/>
          </p:cNvSpPr>
          <p:nvPr>
            <p:ph idx="1"/>
          </p:nvPr>
        </p:nvSpPr>
        <p:spPr/>
        <p:txBody>
          <a:bodyPr>
            <a:normAutofit lnSpcReduction="10000"/>
          </a:bodyPr>
          <a:lstStyle/>
          <a:p>
            <a:r>
              <a:rPr lang="es-ES" dirty="0"/>
              <a:t>Conjunto de datos </a:t>
            </a:r>
            <a:r>
              <a:rPr lang="es-ES" dirty="0" smtClean="0"/>
              <a:t>popular sobre </a:t>
            </a:r>
            <a:r>
              <a:rPr lang="es-ES" dirty="0"/>
              <a:t>la predicción del cáncer de </a:t>
            </a:r>
            <a:r>
              <a:rPr lang="es-ES" dirty="0" smtClean="0"/>
              <a:t>mama.</a:t>
            </a:r>
          </a:p>
          <a:p>
            <a:r>
              <a:rPr lang="es-ES" dirty="0" smtClean="0"/>
              <a:t>Las </a:t>
            </a:r>
            <a:r>
              <a:rPr lang="es-ES" dirty="0"/>
              <a:t>características se calculan a partir de una </a:t>
            </a:r>
            <a:r>
              <a:rPr lang="es-ES" b="1" dirty="0"/>
              <a:t>imagen digitalizada</a:t>
            </a:r>
            <a:r>
              <a:rPr lang="es-ES" dirty="0"/>
              <a:t> de una aspiración con aguja fina (FNA) de una masa mamaria. </a:t>
            </a:r>
            <a:r>
              <a:rPr lang="es-ES" b="1" dirty="0"/>
              <a:t>Describen</a:t>
            </a:r>
            <a:r>
              <a:rPr lang="es-ES" dirty="0"/>
              <a:t> las </a:t>
            </a:r>
            <a:r>
              <a:rPr lang="es-ES" b="1" dirty="0"/>
              <a:t>características</a:t>
            </a:r>
            <a:r>
              <a:rPr lang="es-ES" dirty="0"/>
              <a:t> de los núcleos celulares presentes en la imagen.</a:t>
            </a:r>
          </a:p>
          <a:p>
            <a:r>
              <a:rPr lang="es-ES" dirty="0"/>
              <a:t>Características de entrada: 30 atributos numéricos predictivos y la clase. </a:t>
            </a:r>
            <a:endParaRPr lang="es-ES" dirty="0" smtClean="0"/>
          </a:p>
          <a:p>
            <a:r>
              <a:rPr lang="es-ES" dirty="0" smtClean="0"/>
              <a:t>569 </a:t>
            </a:r>
            <a:r>
              <a:rPr lang="es-ES" dirty="0"/>
              <a:t>instancias. </a:t>
            </a:r>
            <a:endParaRPr lang="es-ES" dirty="0" smtClean="0"/>
          </a:p>
          <a:p>
            <a:r>
              <a:rPr lang="es-ES" b="1" dirty="0" smtClean="0"/>
              <a:t>Propósito</a:t>
            </a:r>
            <a:r>
              <a:rPr lang="es-ES" dirty="0"/>
              <a:t>: predecir si el tumor es benigno (1) o maligno (0). </a:t>
            </a:r>
            <a:endParaRPr lang="es-ES" dirty="0" smtClean="0"/>
          </a:p>
          <a:p>
            <a:r>
              <a:rPr lang="es-ES" b="1" dirty="0" smtClean="0"/>
              <a:t>Hipótesis </a:t>
            </a:r>
            <a:r>
              <a:rPr lang="es-ES" b="1" dirty="0"/>
              <a:t>de predicción</a:t>
            </a:r>
            <a:r>
              <a:rPr lang="es-ES" dirty="0"/>
              <a:t>: en relación con su descripción, </a:t>
            </a:r>
            <a:r>
              <a:rPr lang="es-ES" i="1" dirty="0"/>
              <a:t>¿es el tumor benigno?</a:t>
            </a:r>
          </a:p>
        </p:txBody>
      </p:sp>
    </p:spTree>
    <p:extLst>
      <p:ext uri="{BB962C8B-B14F-4D97-AF65-F5344CB8AC3E}">
        <p14:creationId xmlns:p14="http://schemas.microsoft.com/office/powerpoint/2010/main" val="9738643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009044" y="1690688"/>
            <a:ext cx="7294049" cy="3569809"/>
          </a:xfrm>
          <a:prstGeom prst="rect">
            <a:avLst/>
          </a:prstGeom>
        </p:spPr>
      </p:pic>
      <p:sp>
        <p:nvSpPr>
          <p:cNvPr id="5" name="Abrir llave 4"/>
          <p:cNvSpPr/>
          <p:nvPr/>
        </p:nvSpPr>
        <p:spPr>
          <a:xfrm>
            <a:off x="2632364" y="4147127"/>
            <a:ext cx="175491" cy="1089891"/>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CuadroTexto 5"/>
          <p:cNvSpPr txBox="1"/>
          <p:nvPr/>
        </p:nvSpPr>
        <p:spPr>
          <a:xfrm>
            <a:off x="544797" y="4215018"/>
            <a:ext cx="2004291" cy="1384995"/>
          </a:xfrm>
          <a:prstGeom prst="rect">
            <a:avLst/>
          </a:prstGeom>
          <a:noFill/>
        </p:spPr>
        <p:txBody>
          <a:bodyPr wrap="square" rtlCol="0">
            <a:spAutoFit/>
          </a:bodyPr>
          <a:lstStyle/>
          <a:p>
            <a:r>
              <a:rPr lang="es-ES" sz="1400" b="1" dirty="0" smtClean="0"/>
              <a:t>Nuevos datos</a:t>
            </a:r>
            <a:r>
              <a:rPr lang="es-ES" sz="1400" dirty="0" smtClean="0"/>
              <a:t>, no se conoce la naturaleza del tumor. Estas filas se usan para </a:t>
            </a:r>
            <a:r>
              <a:rPr lang="es-ES" sz="1400" b="1" dirty="0" smtClean="0"/>
              <a:t>predecir</a:t>
            </a:r>
            <a:r>
              <a:rPr lang="es-ES" sz="1400" dirty="0" smtClean="0"/>
              <a:t> nuevos valores de la variable objetivo.</a:t>
            </a:r>
            <a:endParaRPr lang="es-ES" sz="1400" dirty="0"/>
          </a:p>
        </p:txBody>
      </p:sp>
      <p:sp>
        <p:nvSpPr>
          <p:cNvPr id="7" name="CuadroTexto 6"/>
          <p:cNvSpPr txBox="1"/>
          <p:nvPr/>
        </p:nvSpPr>
        <p:spPr>
          <a:xfrm>
            <a:off x="637309" y="2309553"/>
            <a:ext cx="1911779" cy="1169551"/>
          </a:xfrm>
          <a:prstGeom prst="rect">
            <a:avLst/>
          </a:prstGeom>
          <a:noFill/>
        </p:spPr>
        <p:txBody>
          <a:bodyPr wrap="square" rtlCol="0">
            <a:spAutoFit/>
          </a:bodyPr>
          <a:lstStyle/>
          <a:p>
            <a:r>
              <a:rPr lang="es-ES" sz="1400" b="1" dirty="0" smtClean="0"/>
              <a:t>Datos disponibles</a:t>
            </a:r>
            <a:r>
              <a:rPr lang="es-ES" sz="1400" dirty="0" smtClean="0"/>
              <a:t>, la naturaleza del tumor se </a:t>
            </a:r>
            <a:r>
              <a:rPr lang="es-ES" sz="1400" b="1" dirty="0" smtClean="0"/>
              <a:t>conoce. </a:t>
            </a:r>
            <a:r>
              <a:rPr lang="es-ES" sz="1400" dirty="0" smtClean="0"/>
              <a:t>Estas filas se usan para </a:t>
            </a:r>
            <a:r>
              <a:rPr lang="es-ES" sz="1400" b="1" dirty="0" smtClean="0"/>
              <a:t>entrenar </a:t>
            </a:r>
            <a:r>
              <a:rPr lang="es-ES" sz="1400" dirty="0" smtClean="0"/>
              <a:t>los modelos.</a:t>
            </a:r>
            <a:endParaRPr lang="es-ES" sz="1400" dirty="0"/>
          </a:p>
        </p:txBody>
      </p:sp>
      <p:sp>
        <p:nvSpPr>
          <p:cNvPr id="8" name="Abrir llave 7"/>
          <p:cNvSpPr/>
          <p:nvPr/>
        </p:nvSpPr>
        <p:spPr>
          <a:xfrm>
            <a:off x="2618511" y="1962727"/>
            <a:ext cx="189344" cy="2101273"/>
          </a:xfrm>
          <a:prstGeom prst="leftBrace">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9" name="Título 1"/>
          <p:cNvSpPr>
            <a:spLocks noGrp="1"/>
          </p:cNvSpPr>
          <p:nvPr>
            <p:ph type="title"/>
          </p:nvPr>
        </p:nvSpPr>
        <p:spPr/>
        <p:txBody>
          <a:bodyPr/>
          <a:lstStyle/>
          <a:p>
            <a:r>
              <a:rPr lang="es-ES" b="1" spc="-5" dirty="0" smtClean="0">
                <a:solidFill>
                  <a:srgbClr val="0070C0"/>
                </a:solidFill>
                <a:latin typeface="Times New Roman"/>
                <a:cs typeface="Times New Roman"/>
              </a:rPr>
              <a:t>Ejemplo típico en ML: </a:t>
            </a:r>
            <a:r>
              <a:rPr lang="es-ES" b="1" i="1" spc="-5" dirty="0" err="1" smtClean="0">
                <a:solidFill>
                  <a:srgbClr val="0070C0"/>
                </a:solidFill>
                <a:latin typeface="Times New Roman"/>
                <a:cs typeface="Times New Roman"/>
              </a:rPr>
              <a:t>breast</a:t>
            </a:r>
            <a:r>
              <a:rPr lang="es-ES" b="1" i="1" spc="-5" dirty="0" smtClean="0">
                <a:solidFill>
                  <a:srgbClr val="0070C0"/>
                </a:solidFill>
                <a:latin typeface="Times New Roman"/>
                <a:cs typeface="Times New Roman"/>
              </a:rPr>
              <a:t> </a:t>
            </a:r>
            <a:r>
              <a:rPr lang="es-ES" b="1" i="1" spc="-5" dirty="0" err="1" smtClean="0">
                <a:solidFill>
                  <a:srgbClr val="0070C0"/>
                </a:solidFill>
                <a:latin typeface="Times New Roman"/>
                <a:cs typeface="Times New Roman"/>
              </a:rPr>
              <a:t>cancer</a:t>
            </a:r>
            <a:r>
              <a:rPr lang="es-ES" b="1" i="1" spc="-5" dirty="0" smtClean="0">
                <a:solidFill>
                  <a:srgbClr val="0070C0"/>
                </a:solidFill>
                <a:latin typeface="Times New Roman"/>
                <a:cs typeface="Times New Roman"/>
              </a:rPr>
              <a:t> Wisconsin </a:t>
            </a:r>
            <a:r>
              <a:rPr lang="es-ES" b="1" i="1" spc="-5" dirty="0" err="1" smtClean="0">
                <a:solidFill>
                  <a:srgbClr val="0070C0"/>
                </a:solidFill>
                <a:latin typeface="Times New Roman"/>
                <a:cs typeface="Times New Roman"/>
              </a:rPr>
              <a:t>dataset</a:t>
            </a:r>
            <a:endParaRPr lang="es-ES" i="1" dirty="0"/>
          </a:p>
        </p:txBody>
      </p:sp>
    </p:spTree>
    <p:extLst>
      <p:ext uri="{BB962C8B-B14F-4D97-AF65-F5344CB8AC3E}">
        <p14:creationId xmlns:p14="http://schemas.microsoft.com/office/powerpoint/2010/main" val="176008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1" descr="logo_uc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90391" y="2742765"/>
            <a:ext cx="32893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14016" y="2614178"/>
            <a:ext cx="14763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6917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785</TotalTime>
  <Words>2176</Words>
  <Application>Microsoft Office PowerPoint</Application>
  <PresentationFormat>Panorámica</PresentationFormat>
  <Paragraphs>157</Paragraphs>
  <Slides>29</Slides>
  <Notes>0</Notes>
  <HiddenSlides>0</HiddenSlides>
  <MMClips>2</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Arial</vt:lpstr>
      <vt:lpstr>Calibri</vt:lpstr>
      <vt:lpstr>Calibri Light</vt:lpstr>
      <vt:lpstr>Oxygen</vt:lpstr>
      <vt:lpstr>Times New Roman</vt:lpstr>
      <vt:lpstr>Wingdings</vt:lpstr>
      <vt:lpstr>Tema de Office</vt:lpstr>
      <vt:lpstr>Presentación de PowerPoint</vt:lpstr>
      <vt:lpstr>ChatGPT: LLM al alcance de todos</vt:lpstr>
      <vt:lpstr>Algunas herramientas asociadas a GPT:</vt:lpstr>
      <vt:lpstr>¿Qué hay detrás de esta “magia”?</vt:lpstr>
      <vt:lpstr>Introducción</vt:lpstr>
      <vt:lpstr>Introducción</vt:lpstr>
      <vt:lpstr>Introducción</vt:lpstr>
      <vt:lpstr>MACHINE LEARNING VS MINERÍA DE DATOS</vt:lpstr>
      <vt:lpstr>MACHINE LEARNING VS MINERÍA DE DATOS</vt:lpstr>
      <vt:lpstr>Grupos de algoritmos de Machine Learning</vt:lpstr>
      <vt:lpstr>Grupos de algoritmos de Machine Learning</vt:lpstr>
      <vt:lpstr>Técnicas de clasificación/regresión</vt:lpstr>
      <vt:lpstr>Modelos de Machine Learning</vt:lpstr>
      <vt:lpstr>Fases</vt:lpstr>
      <vt:lpstr>Machine Learning: es un proceso iterativo</vt:lpstr>
      <vt:lpstr>Programación tradicional VS Machine Learning</vt:lpstr>
      <vt:lpstr>CLASIFICACIÓN VS REGRESIÓN</vt:lpstr>
      <vt:lpstr>Elementos básicos de Machine Learning</vt:lpstr>
      <vt:lpstr>IMPORTANTE: división de datos</vt:lpstr>
      <vt:lpstr>División de datos</vt:lpstr>
      <vt:lpstr>División de datos</vt:lpstr>
      <vt:lpstr>Entrenamiento / Validación / Test</vt:lpstr>
      <vt:lpstr>Entrenamiento / Test</vt:lpstr>
      <vt:lpstr>Problemas que surgen</vt:lpstr>
      <vt:lpstr>Problemas que surgen</vt:lpstr>
      <vt:lpstr>Escenario típico en ML</vt:lpstr>
      <vt:lpstr>Ejemplo típico en ML: breast cancer Wisconsin dataset</vt:lpstr>
      <vt:lpstr>Ejemplo típico en ML: breast cancer Wisconsin dataset</vt:lpstr>
      <vt:lpstr>Presentación de PowerPoint</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Cuenta Microsoft</dc:creator>
  <cp:lastModifiedBy>user</cp:lastModifiedBy>
  <cp:revision>72</cp:revision>
  <dcterms:created xsi:type="dcterms:W3CDTF">2021-12-22T16:30:08Z</dcterms:created>
  <dcterms:modified xsi:type="dcterms:W3CDTF">2025-06-03T11:13:34Z</dcterms:modified>
</cp:coreProperties>
</file>