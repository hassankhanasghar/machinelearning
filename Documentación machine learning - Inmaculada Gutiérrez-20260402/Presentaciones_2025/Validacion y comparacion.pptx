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5" r:id="rId3"/>
    <p:sldId id="266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74" r:id="rId12"/>
    <p:sldId id="277" r:id="rId13"/>
    <p:sldId id="278" r:id="rId14"/>
    <p:sldId id="279" r:id="rId15"/>
    <p:sldId id="280" r:id="rId16"/>
    <p:sldId id="281" r:id="rId17"/>
    <p:sldId id="275" r:id="rId18"/>
    <p:sldId id="258" r:id="rId19"/>
    <p:sldId id="259" r:id="rId20"/>
    <p:sldId id="260" r:id="rId21"/>
    <p:sldId id="261" r:id="rId22"/>
    <p:sldId id="262" r:id="rId23"/>
    <p:sldId id="263" r:id="rId24"/>
    <p:sldId id="264" r:id="rId25"/>
    <p:sldId id="282" r:id="rId26"/>
    <p:sldId id="283" r:id="rId27"/>
    <p:sldId id="284" r:id="rId28"/>
    <p:sldId id="285" r:id="rId29"/>
    <p:sldId id="288" r:id="rId30"/>
    <p:sldId id="287" r:id="rId31"/>
    <p:sldId id="289" r:id="rId32"/>
    <p:sldId id="286" r:id="rId33"/>
    <p:sldId id="290" r:id="rId34"/>
    <p:sldId id="291" r:id="rId35"/>
    <p:sldId id="292" r:id="rId36"/>
    <p:sldId id="294" r:id="rId37"/>
    <p:sldId id="295" r:id="rId38"/>
    <p:sldId id="296" r:id="rId39"/>
    <p:sldId id="297" r:id="rId40"/>
    <p:sldId id="293" r:id="rId41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CE4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modificar el estilo de subtítulo del patrón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778BF-FD27-43CF-B39C-512D229A39F6}" type="datetimeFigureOut">
              <a:rPr lang="es-ES" smtClean="0"/>
              <a:t>03/06/2025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32C61-9530-460A-8F50-2673217BA14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66184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778BF-FD27-43CF-B39C-512D229A39F6}" type="datetimeFigureOut">
              <a:rPr lang="es-ES" smtClean="0"/>
              <a:t>03/06/2025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32C61-9530-460A-8F50-2673217BA14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01185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778BF-FD27-43CF-B39C-512D229A39F6}" type="datetimeFigureOut">
              <a:rPr lang="es-ES" smtClean="0"/>
              <a:t>03/06/2025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32C61-9530-460A-8F50-2673217BA14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057217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778BF-FD27-43CF-B39C-512D229A39F6}" type="datetimeFigureOut">
              <a:rPr lang="es-ES" smtClean="0"/>
              <a:t>03/06/2025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32C61-9530-460A-8F50-2673217BA14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831207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778BF-FD27-43CF-B39C-512D229A39F6}" type="datetimeFigureOut">
              <a:rPr lang="es-ES" smtClean="0"/>
              <a:t>03/06/2025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32C61-9530-460A-8F50-2673217BA14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8237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778BF-FD27-43CF-B39C-512D229A39F6}" type="datetimeFigureOut">
              <a:rPr lang="es-ES" smtClean="0"/>
              <a:t>03/06/2025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32C61-9530-460A-8F50-2673217BA14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16667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778BF-FD27-43CF-B39C-512D229A39F6}" type="datetimeFigureOut">
              <a:rPr lang="es-ES" smtClean="0"/>
              <a:t>03/06/2025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32C61-9530-460A-8F50-2673217BA14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768312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778BF-FD27-43CF-B39C-512D229A39F6}" type="datetimeFigureOut">
              <a:rPr lang="es-ES" smtClean="0"/>
              <a:t>03/06/2025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32C61-9530-460A-8F50-2673217BA14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72248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778BF-FD27-43CF-B39C-512D229A39F6}" type="datetimeFigureOut">
              <a:rPr lang="es-ES" smtClean="0"/>
              <a:t>03/06/2025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32C61-9530-460A-8F50-2673217BA14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72507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778BF-FD27-43CF-B39C-512D229A39F6}" type="datetimeFigureOut">
              <a:rPr lang="es-ES" smtClean="0"/>
              <a:t>03/06/2025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32C61-9530-460A-8F50-2673217BA14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769091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778BF-FD27-43CF-B39C-512D229A39F6}" type="datetimeFigureOut">
              <a:rPr lang="es-ES" smtClean="0"/>
              <a:t>03/06/2025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32C61-9530-460A-8F50-2673217BA14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91289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278186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76" b="0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5035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0778BF-FD27-43CF-B39C-512D229A39F6}" type="datetimeFigureOut">
              <a:rPr lang="es-ES" smtClean="0"/>
              <a:t>03/06/2025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B32C61-9530-460A-8F50-2673217BA14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80978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.jpg"/><Relationship Id="rId4" Type="http://schemas.openxmlformats.org/officeDocument/2006/relationships/image" Target="../media/image15.jp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hape 47"/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983" y="0"/>
            <a:ext cx="1025341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Shape 49">
            <a:extLst>
              <a:ext uri="{FF2B5EF4-FFF2-40B4-BE49-F238E27FC236}">
                <a16:creationId xmlns="" xmlns:a16="http://schemas.microsoft.com/office/drawing/2014/main" id="{24A6ABCE-206C-4C33-940C-027B2CD6E148}"/>
              </a:ext>
            </a:extLst>
          </p:cNvPr>
          <p:cNvSpPr txBox="1">
            <a:spLocks/>
          </p:cNvSpPr>
          <p:nvPr/>
        </p:nvSpPr>
        <p:spPr bwMode="auto">
          <a:xfrm>
            <a:off x="2893123" y="2988351"/>
            <a:ext cx="4947336" cy="5908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2714" tIns="72714" rIns="72714" bIns="72714"/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algn="ctr" rtl="0" eaLnBrk="0" fontAlgn="base" hangingPunct="0">
              <a:spcBef>
                <a:spcPts val="0"/>
              </a:spcBef>
              <a:spcAft>
                <a:spcPct val="0"/>
              </a:spcAft>
              <a:buClr>
                <a:schemeClr val="dk2"/>
              </a:buClr>
              <a:buNone/>
              <a:defRPr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 panose="020B0604020202020204" pitchFamily="34" charset="0"/>
                <a:rtl val="0"/>
              </a:defRPr>
            </a:lvl1pPr>
            <a:lvl2pPr marL="0" indent="190500" algn="ctr" rtl="0" eaLnBrk="0" fontAlgn="base" hangingPunct="0">
              <a:spcBef>
                <a:spcPts val="0"/>
              </a:spcBef>
              <a:spcAft>
                <a:spcPct val="0"/>
              </a:spcAft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  <a:latin typeface="Arial"/>
                <a:ea typeface="Arial"/>
                <a:cs typeface="Arial"/>
                <a:sym typeface="Arial" panose="020B0604020202020204" pitchFamily="34" charset="0"/>
                <a:rtl val="0"/>
              </a:defRPr>
            </a:lvl2pPr>
            <a:lvl3pPr marL="0" indent="190500" algn="ctr" rtl="0" eaLnBrk="0" fontAlgn="base" hangingPunct="0">
              <a:spcBef>
                <a:spcPts val="0"/>
              </a:spcBef>
              <a:spcAft>
                <a:spcPct val="0"/>
              </a:spcAft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  <a:latin typeface="Arial"/>
                <a:ea typeface="Arial"/>
                <a:cs typeface="Arial"/>
                <a:sym typeface="Arial" panose="020B0604020202020204" pitchFamily="34" charset="0"/>
                <a:rtl val="0"/>
              </a:defRPr>
            </a:lvl3pPr>
            <a:lvl4pPr marL="0" indent="190500" algn="ctr" rtl="0" eaLnBrk="0" fontAlgn="base" hangingPunct="0">
              <a:spcBef>
                <a:spcPts val="0"/>
              </a:spcBef>
              <a:spcAft>
                <a:spcPct val="0"/>
              </a:spcAft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  <a:latin typeface="Arial"/>
                <a:ea typeface="Arial"/>
                <a:cs typeface="Arial"/>
                <a:sym typeface="Arial" panose="020B0604020202020204" pitchFamily="34" charset="0"/>
                <a:rtl val="0"/>
              </a:defRPr>
            </a:lvl4pPr>
            <a:lvl5pPr marL="0" indent="190500" algn="ctr" rtl="0" eaLnBrk="0" fontAlgn="base" hangingPunct="0">
              <a:spcBef>
                <a:spcPts val="0"/>
              </a:spcBef>
              <a:spcAft>
                <a:spcPct val="0"/>
              </a:spcAft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  <a:latin typeface="Arial"/>
                <a:ea typeface="Arial"/>
                <a:cs typeface="Arial"/>
                <a:sym typeface="Arial" panose="020B0604020202020204" pitchFamily="34" charset="0"/>
                <a:rtl val="0"/>
              </a:defRPr>
            </a:lvl5pPr>
            <a:lvl6pPr marL="0" marR="0" indent="190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None/>
              <a:defRPr sz="3000" b="0" i="0" u="none" strike="noStrike" cap="none" baseline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6pPr>
            <a:lvl7pPr marL="0" marR="0" indent="190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None/>
              <a:defRPr sz="3000" b="0" i="0" u="none" strike="noStrike" cap="none" baseline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7pPr>
            <a:lvl8pPr marL="0" marR="0" indent="190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None/>
              <a:defRPr sz="3000" b="0" i="0" u="none" strike="noStrike" cap="none" baseline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8pPr>
            <a:lvl9pPr marL="0" marR="0" indent="190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None/>
              <a:defRPr sz="3000" b="0" i="0" u="none" strike="noStrike" cap="none" baseline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9pPr>
          </a:lstStyle>
          <a:p>
            <a:pPr marL="272727" indent="-121212" eaLnBrk="1" hangingPunct="1">
              <a:spcBef>
                <a:spcPct val="0"/>
              </a:spcBef>
              <a:buClr>
                <a:srgbClr val="000000"/>
              </a:buClr>
              <a:defRPr/>
            </a:pPr>
            <a:r>
              <a:rPr lang="es-ES" altLang="es-ES" sz="3181" kern="0" dirty="0">
                <a:solidFill>
                  <a:srgbClr val="0972CB"/>
                </a:solidFill>
                <a:latin typeface="Oxygen"/>
                <a:ea typeface="Oxygen"/>
                <a:cs typeface="Oxygen"/>
                <a:sym typeface="Oxygen"/>
              </a:rPr>
              <a:t>Machine </a:t>
            </a:r>
            <a:r>
              <a:rPr lang="es-ES" altLang="es-ES" sz="3181" kern="0" dirty="0" err="1">
                <a:solidFill>
                  <a:srgbClr val="0972CB"/>
                </a:solidFill>
                <a:latin typeface="Oxygen"/>
                <a:ea typeface="Oxygen"/>
                <a:cs typeface="Oxygen"/>
                <a:sym typeface="Oxygen"/>
              </a:rPr>
              <a:t>Learning</a:t>
            </a:r>
            <a:endParaRPr lang="es-ES" altLang="es-ES" sz="3181" kern="0" dirty="0">
              <a:solidFill>
                <a:srgbClr val="0972CB"/>
              </a:solidFill>
              <a:latin typeface="Oxygen"/>
              <a:ea typeface="Oxygen"/>
              <a:cs typeface="Oxygen"/>
              <a:sym typeface="Oxygen"/>
            </a:endParaRPr>
          </a:p>
          <a:p>
            <a:pPr marL="272727" indent="-121212" eaLnBrk="1" hangingPunct="1">
              <a:spcBef>
                <a:spcPct val="0"/>
              </a:spcBef>
              <a:buClr>
                <a:srgbClr val="000000"/>
              </a:buClr>
              <a:defRPr/>
            </a:pPr>
            <a:r>
              <a:rPr lang="es-ES" altLang="es-ES" sz="3181" kern="0" dirty="0">
                <a:solidFill>
                  <a:srgbClr val="0972CB"/>
                </a:solidFill>
                <a:latin typeface="Oxygen"/>
                <a:ea typeface="Oxygen"/>
                <a:cs typeface="Oxygen"/>
                <a:sym typeface="Oxygen"/>
              </a:rPr>
              <a:t>Redes Neuronales</a:t>
            </a:r>
          </a:p>
        </p:txBody>
      </p:sp>
      <p:sp>
        <p:nvSpPr>
          <p:cNvPr id="6" name="Shape 49">
            <a:extLst>
              <a:ext uri="{FF2B5EF4-FFF2-40B4-BE49-F238E27FC236}">
                <a16:creationId xmlns="" xmlns:a16="http://schemas.microsoft.com/office/drawing/2014/main" id="{3B39229B-4789-4E5F-A863-803DF35813F8}"/>
              </a:ext>
            </a:extLst>
          </p:cNvPr>
          <p:cNvSpPr txBox="1">
            <a:spLocks/>
          </p:cNvSpPr>
          <p:nvPr/>
        </p:nvSpPr>
        <p:spPr bwMode="auto">
          <a:xfrm>
            <a:off x="3992621" y="4648562"/>
            <a:ext cx="3017712" cy="5908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2714" tIns="72714" rIns="72714" bIns="72714"/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algn="ctr" rtl="0" eaLnBrk="0" fontAlgn="base" hangingPunct="0">
              <a:spcBef>
                <a:spcPts val="0"/>
              </a:spcBef>
              <a:spcAft>
                <a:spcPct val="0"/>
              </a:spcAft>
              <a:buClr>
                <a:schemeClr val="dk2"/>
              </a:buClr>
              <a:buNone/>
              <a:defRPr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 panose="020B0604020202020204" pitchFamily="34" charset="0"/>
                <a:rtl val="0"/>
              </a:defRPr>
            </a:lvl1pPr>
            <a:lvl2pPr marL="0" indent="190500" algn="ctr" rtl="0" eaLnBrk="0" fontAlgn="base" hangingPunct="0">
              <a:spcBef>
                <a:spcPts val="0"/>
              </a:spcBef>
              <a:spcAft>
                <a:spcPct val="0"/>
              </a:spcAft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  <a:latin typeface="Arial"/>
                <a:ea typeface="Arial"/>
                <a:cs typeface="Arial"/>
                <a:sym typeface="Arial" panose="020B0604020202020204" pitchFamily="34" charset="0"/>
                <a:rtl val="0"/>
              </a:defRPr>
            </a:lvl2pPr>
            <a:lvl3pPr marL="0" indent="190500" algn="ctr" rtl="0" eaLnBrk="0" fontAlgn="base" hangingPunct="0">
              <a:spcBef>
                <a:spcPts val="0"/>
              </a:spcBef>
              <a:spcAft>
                <a:spcPct val="0"/>
              </a:spcAft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  <a:latin typeface="Arial"/>
                <a:ea typeface="Arial"/>
                <a:cs typeface="Arial"/>
                <a:sym typeface="Arial" panose="020B0604020202020204" pitchFamily="34" charset="0"/>
                <a:rtl val="0"/>
              </a:defRPr>
            </a:lvl3pPr>
            <a:lvl4pPr marL="0" indent="190500" algn="ctr" rtl="0" eaLnBrk="0" fontAlgn="base" hangingPunct="0">
              <a:spcBef>
                <a:spcPts val="0"/>
              </a:spcBef>
              <a:spcAft>
                <a:spcPct val="0"/>
              </a:spcAft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  <a:latin typeface="Arial"/>
                <a:ea typeface="Arial"/>
                <a:cs typeface="Arial"/>
                <a:sym typeface="Arial" panose="020B0604020202020204" pitchFamily="34" charset="0"/>
                <a:rtl val="0"/>
              </a:defRPr>
            </a:lvl4pPr>
            <a:lvl5pPr marL="0" indent="190500" algn="ctr" rtl="0" eaLnBrk="0" fontAlgn="base" hangingPunct="0">
              <a:spcBef>
                <a:spcPts val="0"/>
              </a:spcBef>
              <a:spcAft>
                <a:spcPct val="0"/>
              </a:spcAft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  <a:latin typeface="Arial"/>
                <a:ea typeface="Arial"/>
                <a:cs typeface="Arial"/>
                <a:sym typeface="Arial" panose="020B0604020202020204" pitchFamily="34" charset="0"/>
                <a:rtl val="0"/>
              </a:defRPr>
            </a:lvl5pPr>
            <a:lvl6pPr marL="0" marR="0" indent="190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None/>
              <a:defRPr sz="3000" b="0" i="0" u="none" strike="noStrike" cap="none" baseline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6pPr>
            <a:lvl7pPr marL="0" marR="0" indent="190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None/>
              <a:defRPr sz="3000" b="0" i="0" u="none" strike="noStrike" cap="none" baseline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7pPr>
            <a:lvl8pPr marL="0" marR="0" indent="190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None/>
              <a:defRPr sz="3000" b="0" i="0" u="none" strike="noStrike" cap="none" baseline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8pPr>
            <a:lvl9pPr marL="0" marR="0" indent="190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None/>
              <a:defRPr sz="3000" b="0" i="0" u="none" strike="noStrike" cap="none" baseline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9pPr>
          </a:lstStyle>
          <a:p>
            <a:pPr marL="272727" indent="-121212" eaLnBrk="1" hangingPunct="1">
              <a:spcBef>
                <a:spcPct val="0"/>
              </a:spcBef>
              <a:buClr>
                <a:srgbClr val="000000"/>
              </a:buClr>
              <a:defRPr/>
            </a:pPr>
            <a:r>
              <a:rPr lang="es-ES" altLang="es-ES" sz="1272" kern="0" dirty="0">
                <a:solidFill>
                  <a:srgbClr val="0972CB"/>
                </a:solidFill>
                <a:latin typeface="Oxygen"/>
                <a:ea typeface="Oxygen"/>
                <a:cs typeface="Oxygen"/>
                <a:sym typeface="Oxygen"/>
              </a:rPr>
              <a:t>Inmaculada Gutiérrez García-Pardo</a:t>
            </a:r>
          </a:p>
        </p:txBody>
      </p:sp>
      <p:pic>
        <p:nvPicPr>
          <p:cNvPr id="7" name="Imagen 1" descr="logo_uc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4565" y="1130604"/>
            <a:ext cx="2616112" cy="9696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0345" y="1028334"/>
            <a:ext cx="1174220" cy="1174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34803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052088" y="674715"/>
            <a:ext cx="4513266" cy="513945"/>
          </a:xfrm>
          <a:prstGeom prst="rect">
            <a:avLst/>
          </a:prstGeom>
        </p:spPr>
        <p:txBody>
          <a:bodyPr vert="horz" wrap="square" lIns="0" tIns="11516" rIns="0" bIns="0" rtlCol="0">
            <a:spAutoFit/>
          </a:bodyPr>
          <a:lstStyle/>
          <a:p>
            <a:pPr marL="11516">
              <a:spcBef>
                <a:spcPts val="91"/>
              </a:spcBef>
            </a:pPr>
            <a:r>
              <a:rPr sz="3264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Comparación</a:t>
            </a:r>
            <a:r>
              <a:rPr sz="3264" b="1" spc="-32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3264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de</a:t>
            </a:r>
            <a:r>
              <a:rPr sz="3264" b="1" spc="-4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3264" b="1" dirty="0" err="1" smtClean="0">
                <a:solidFill>
                  <a:srgbClr val="006FC0"/>
                </a:solidFill>
                <a:latin typeface="Times New Roman"/>
                <a:cs typeface="Times New Roman"/>
              </a:rPr>
              <a:t>modelos</a:t>
            </a:r>
            <a:endParaRPr sz="3264" dirty="0">
              <a:latin typeface="Times New Roman"/>
              <a:cs typeface="Times New Roman"/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1671781" y="2567708"/>
            <a:ext cx="87930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En esta sección se presentan los distintos elementos que intervienen en la comparación de modelos: estructuras de validación, medidas de bondad de ajuste, problemas que pueden surgir y formas de evitarlos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67275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62234" y="280465"/>
            <a:ext cx="7591002" cy="513945"/>
          </a:xfrm>
          <a:prstGeom prst="rect">
            <a:avLst/>
          </a:prstGeom>
        </p:spPr>
        <p:txBody>
          <a:bodyPr vert="horz" wrap="square" lIns="0" tIns="11516" rIns="0" bIns="0" rtlCol="0" anchor="ctr">
            <a:spAutoFit/>
          </a:bodyPr>
          <a:lstStyle/>
          <a:p>
            <a:pPr marL="11516">
              <a:lnSpc>
                <a:spcPct val="100000"/>
              </a:lnSpc>
              <a:spcBef>
                <a:spcPts val="91"/>
              </a:spcBef>
            </a:pPr>
            <a:r>
              <a:rPr sz="3264" b="1" spc="-5" dirty="0">
                <a:solidFill>
                  <a:srgbClr val="006FC0"/>
                </a:solidFill>
                <a:ea typeface="+mn-ea"/>
                <a:cs typeface="Times New Roman"/>
              </a:rPr>
              <a:t>Medidas básicas de comparación de </a:t>
            </a:r>
            <a:r>
              <a:rPr lang="es-ES" sz="3264" b="1" spc="-5" dirty="0" smtClean="0">
                <a:solidFill>
                  <a:srgbClr val="006FC0"/>
                </a:solidFill>
                <a:ea typeface="+mn-ea"/>
                <a:cs typeface="Times New Roman"/>
              </a:rPr>
              <a:t>modelos</a:t>
            </a:r>
            <a:endParaRPr dirty="0"/>
          </a:p>
        </p:txBody>
      </p:sp>
      <p:sp>
        <p:nvSpPr>
          <p:cNvPr id="8" name="CuadroTexto 7"/>
          <p:cNvSpPr txBox="1"/>
          <p:nvPr/>
        </p:nvSpPr>
        <p:spPr>
          <a:xfrm>
            <a:off x="1063471" y="1339274"/>
            <a:ext cx="916334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9118" indent="-259118" algn="just">
              <a:buFont typeface="Arial" panose="020B0604020202020204" pitchFamily="34" charset="0"/>
              <a:buChar char="•"/>
            </a:pPr>
            <a:r>
              <a:rPr lang="es-ES" sz="3600" dirty="0"/>
              <a:t>En general, cuando se quiere evaluar o comparar un </a:t>
            </a:r>
            <a:r>
              <a:rPr lang="es-ES" sz="3600" b="1" dirty="0"/>
              <a:t>MISMO MODELO</a:t>
            </a:r>
            <a:r>
              <a:rPr lang="es-ES" sz="3600" dirty="0"/>
              <a:t> aplicado con </a:t>
            </a:r>
            <a:r>
              <a:rPr lang="es-ES" sz="3600" b="1" dirty="0"/>
              <a:t>DISTINTOS DATOS</a:t>
            </a:r>
            <a:r>
              <a:rPr lang="es-ES" sz="3600" dirty="0"/>
              <a:t>, mejor </a:t>
            </a:r>
            <a:r>
              <a:rPr lang="es-ES" sz="3600" b="1" dirty="0"/>
              <a:t>AIC, BIC, AICC</a:t>
            </a:r>
          </a:p>
          <a:p>
            <a:pPr algn="just"/>
            <a:endParaRPr lang="es-ES" sz="3600" b="1" dirty="0"/>
          </a:p>
          <a:p>
            <a:pPr marL="259118" indent="-259118" algn="just">
              <a:buFont typeface="Arial" panose="020B0604020202020204" pitchFamily="34" charset="0"/>
              <a:buChar char="•"/>
            </a:pPr>
            <a:r>
              <a:rPr lang="es-ES" sz="3600" dirty="0"/>
              <a:t>Cuando se quieren comparar </a:t>
            </a:r>
            <a:r>
              <a:rPr lang="es-ES" sz="3600" b="1" dirty="0"/>
              <a:t>DISTINTOS MODELOS </a:t>
            </a:r>
            <a:r>
              <a:rPr lang="es-ES" sz="3600" dirty="0"/>
              <a:t>para </a:t>
            </a:r>
            <a:r>
              <a:rPr lang="es-ES" sz="3600" b="1" dirty="0"/>
              <a:t>MISMOS DATOS</a:t>
            </a:r>
            <a:r>
              <a:rPr lang="es-ES" sz="3600" dirty="0"/>
              <a:t>, mejor </a:t>
            </a:r>
            <a:r>
              <a:rPr lang="es-ES" sz="3600" b="1" dirty="0"/>
              <a:t>validación cruzada, validación cruzada repetida, </a:t>
            </a:r>
            <a:r>
              <a:rPr lang="es-ES" sz="3600" b="1" dirty="0" err="1"/>
              <a:t>train</a:t>
            </a:r>
            <a:r>
              <a:rPr lang="es-ES" sz="3600" b="1" dirty="0"/>
              <a:t>/test</a:t>
            </a:r>
            <a:r>
              <a:rPr lang="es-ES" sz="3600" dirty="0" smtClean="0"/>
              <a:t>.</a:t>
            </a:r>
            <a:endParaRPr lang="es-ES" sz="3600" dirty="0"/>
          </a:p>
        </p:txBody>
      </p:sp>
    </p:spTree>
    <p:extLst>
      <p:ext uri="{BB962C8B-B14F-4D97-AF65-F5344CB8AC3E}">
        <p14:creationId xmlns:p14="http://schemas.microsoft.com/office/powerpoint/2010/main" val="3828190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62234" y="447246"/>
            <a:ext cx="8610563" cy="1018815"/>
          </a:xfrm>
          <a:prstGeom prst="rect">
            <a:avLst/>
          </a:prstGeom>
        </p:spPr>
        <p:txBody>
          <a:bodyPr vert="horz" wrap="square" lIns="0" tIns="43762" rIns="0" bIns="0" rtlCol="0" anchor="ctr">
            <a:spAutoFit/>
          </a:bodyPr>
          <a:lstStyle/>
          <a:p>
            <a:pPr marL="11516" marR="4607">
              <a:lnSpc>
                <a:spcPts val="3754"/>
              </a:lnSpc>
              <a:spcBef>
                <a:spcPts val="345"/>
              </a:spcBef>
            </a:pPr>
            <a:r>
              <a:rPr sz="3264" b="1" dirty="0">
                <a:latin typeface="Times New Roman"/>
                <a:cs typeface="Times New Roman"/>
              </a:rPr>
              <a:t>¿Son </a:t>
            </a:r>
            <a:r>
              <a:rPr sz="3264" b="1" spc="-5" dirty="0">
                <a:latin typeface="Times New Roman"/>
                <a:cs typeface="Times New Roman"/>
              </a:rPr>
              <a:t>suficientes </a:t>
            </a:r>
            <a:r>
              <a:rPr sz="3264" b="1" dirty="0">
                <a:latin typeface="Times New Roman"/>
                <a:cs typeface="Times New Roman"/>
              </a:rPr>
              <a:t>las </a:t>
            </a:r>
            <a:r>
              <a:rPr sz="3264" b="1" spc="-5" dirty="0">
                <a:latin typeface="Times New Roman"/>
                <a:cs typeface="Times New Roman"/>
              </a:rPr>
              <a:t>medidas de penalización (AIC, </a:t>
            </a:r>
            <a:r>
              <a:rPr sz="3264" b="1" spc="-803" dirty="0">
                <a:latin typeface="Times New Roman"/>
                <a:cs typeface="Times New Roman"/>
              </a:rPr>
              <a:t> </a:t>
            </a:r>
            <a:r>
              <a:rPr sz="3264" b="1" spc="-5" dirty="0">
                <a:latin typeface="Times New Roman"/>
                <a:cs typeface="Times New Roman"/>
              </a:rPr>
              <a:t>AICC,</a:t>
            </a:r>
            <a:r>
              <a:rPr sz="3264" b="1" spc="-9" dirty="0">
                <a:latin typeface="Times New Roman"/>
                <a:cs typeface="Times New Roman"/>
              </a:rPr>
              <a:t> </a:t>
            </a:r>
            <a:r>
              <a:rPr sz="3264" b="1" dirty="0">
                <a:latin typeface="Times New Roman"/>
                <a:cs typeface="Times New Roman"/>
              </a:rPr>
              <a:t>BIC, </a:t>
            </a:r>
            <a:r>
              <a:rPr sz="3264" b="1" spc="-5" dirty="0">
                <a:latin typeface="Times New Roman"/>
                <a:cs typeface="Times New Roman"/>
              </a:rPr>
              <a:t>Cp, </a:t>
            </a:r>
            <a:r>
              <a:rPr sz="3264" b="1" dirty="0">
                <a:latin typeface="Times New Roman"/>
                <a:cs typeface="Times New Roman"/>
              </a:rPr>
              <a:t>etc.</a:t>
            </a:r>
            <a:r>
              <a:rPr sz="3264" b="1" spc="-5" dirty="0">
                <a:latin typeface="Times New Roman"/>
                <a:cs typeface="Times New Roman"/>
              </a:rPr>
              <a:t> </a:t>
            </a:r>
            <a:r>
              <a:rPr sz="3264" b="1" dirty="0">
                <a:latin typeface="Times New Roman"/>
                <a:cs typeface="Times New Roman"/>
              </a:rPr>
              <a:t>?</a:t>
            </a:r>
            <a:endParaRPr sz="3264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27687" y="2254330"/>
            <a:ext cx="8536625" cy="2965102"/>
          </a:xfrm>
          <a:prstGeom prst="rect">
            <a:avLst/>
          </a:prstGeom>
        </p:spPr>
        <p:txBody>
          <a:bodyPr vert="horz" wrap="square" lIns="0" tIns="24760" rIns="0" bIns="0" rtlCol="0">
            <a:spAutoFit/>
          </a:bodyPr>
          <a:lstStyle/>
          <a:p>
            <a:pPr marL="11516" marR="152592" algn="just">
              <a:lnSpc>
                <a:spcPct val="95900"/>
              </a:lnSpc>
              <a:spcBef>
                <a:spcPts val="195"/>
              </a:spcBef>
            </a:pPr>
            <a:r>
              <a:rPr sz="2176" dirty="0">
                <a:latin typeface="Times New Roman"/>
                <a:cs typeface="Times New Roman"/>
              </a:rPr>
              <a:t>En</a:t>
            </a:r>
            <a:r>
              <a:rPr sz="2176" spc="5" dirty="0">
                <a:latin typeface="Times New Roman"/>
                <a:cs typeface="Times New Roman"/>
              </a:rPr>
              <a:t> </a:t>
            </a:r>
            <a:r>
              <a:rPr sz="2176" dirty="0">
                <a:latin typeface="Times New Roman"/>
                <a:cs typeface="Times New Roman"/>
              </a:rPr>
              <a:t>general,</a:t>
            </a:r>
            <a:r>
              <a:rPr sz="2176" spc="-5" dirty="0">
                <a:latin typeface="Times New Roman"/>
                <a:cs typeface="Times New Roman"/>
              </a:rPr>
              <a:t> </a:t>
            </a:r>
            <a:r>
              <a:rPr sz="2176" dirty="0">
                <a:latin typeface="Times New Roman"/>
                <a:cs typeface="Times New Roman"/>
              </a:rPr>
              <a:t>estas</a:t>
            </a:r>
            <a:r>
              <a:rPr sz="2176" spc="9" dirty="0">
                <a:latin typeface="Times New Roman"/>
                <a:cs typeface="Times New Roman"/>
              </a:rPr>
              <a:t> </a:t>
            </a:r>
            <a:r>
              <a:rPr sz="2176" spc="-5" dirty="0">
                <a:latin typeface="Times New Roman"/>
                <a:cs typeface="Times New Roman"/>
              </a:rPr>
              <a:t>medidas</a:t>
            </a:r>
            <a:r>
              <a:rPr sz="2176" spc="14" dirty="0">
                <a:latin typeface="Times New Roman"/>
                <a:cs typeface="Times New Roman"/>
              </a:rPr>
              <a:t> </a:t>
            </a:r>
            <a:r>
              <a:rPr sz="2176" dirty="0">
                <a:latin typeface="Times New Roman"/>
                <a:cs typeface="Times New Roman"/>
              </a:rPr>
              <a:t>no</a:t>
            </a:r>
            <a:r>
              <a:rPr sz="2176" spc="5" dirty="0">
                <a:latin typeface="Times New Roman"/>
                <a:cs typeface="Times New Roman"/>
              </a:rPr>
              <a:t> </a:t>
            </a:r>
            <a:r>
              <a:rPr sz="2176" spc="-5" dirty="0">
                <a:latin typeface="Times New Roman"/>
                <a:cs typeface="Times New Roman"/>
              </a:rPr>
              <a:t>funcionan</a:t>
            </a:r>
            <a:r>
              <a:rPr sz="2176" spc="9" dirty="0">
                <a:latin typeface="Times New Roman"/>
                <a:cs typeface="Times New Roman"/>
              </a:rPr>
              <a:t> </a:t>
            </a:r>
            <a:r>
              <a:rPr sz="2176" spc="-9" dirty="0">
                <a:latin typeface="Times New Roman"/>
                <a:cs typeface="Times New Roman"/>
              </a:rPr>
              <a:t>mal</a:t>
            </a:r>
            <a:r>
              <a:rPr sz="2176" spc="9" dirty="0">
                <a:latin typeface="Times New Roman"/>
                <a:cs typeface="Times New Roman"/>
              </a:rPr>
              <a:t> </a:t>
            </a:r>
            <a:r>
              <a:rPr sz="2176" dirty="0">
                <a:latin typeface="Times New Roman"/>
                <a:cs typeface="Times New Roman"/>
              </a:rPr>
              <a:t>para</a:t>
            </a:r>
            <a:r>
              <a:rPr sz="2176" spc="14" dirty="0">
                <a:latin typeface="Times New Roman"/>
                <a:cs typeface="Times New Roman"/>
              </a:rPr>
              <a:t> </a:t>
            </a:r>
            <a:r>
              <a:rPr sz="2176" b="1" spc="-5" dirty="0">
                <a:latin typeface="Times New Roman"/>
                <a:cs typeface="Times New Roman"/>
              </a:rPr>
              <a:t>selección de</a:t>
            </a:r>
            <a:r>
              <a:rPr sz="2176" b="1" dirty="0">
                <a:latin typeface="Times New Roman"/>
                <a:cs typeface="Times New Roman"/>
              </a:rPr>
              <a:t> </a:t>
            </a:r>
            <a:r>
              <a:rPr sz="2176" b="1" spc="-5" dirty="0">
                <a:latin typeface="Times New Roman"/>
                <a:cs typeface="Times New Roman"/>
              </a:rPr>
              <a:t>variables</a:t>
            </a:r>
            <a:r>
              <a:rPr sz="2176" b="1" dirty="0">
                <a:latin typeface="Times New Roman"/>
                <a:cs typeface="Times New Roman"/>
              </a:rPr>
              <a:t> </a:t>
            </a:r>
            <a:r>
              <a:rPr sz="2176" b="1" spc="-5" dirty="0">
                <a:latin typeface="Times New Roman"/>
                <a:cs typeface="Times New Roman"/>
              </a:rPr>
              <a:t>dentro </a:t>
            </a:r>
            <a:r>
              <a:rPr sz="2176" b="1" spc="-530" dirty="0">
                <a:latin typeface="Times New Roman"/>
                <a:cs typeface="Times New Roman"/>
              </a:rPr>
              <a:t> </a:t>
            </a:r>
            <a:r>
              <a:rPr sz="2176" b="1" spc="-5" dirty="0">
                <a:latin typeface="Times New Roman"/>
                <a:cs typeface="Times New Roman"/>
              </a:rPr>
              <a:t>de un </a:t>
            </a:r>
            <a:r>
              <a:rPr sz="2176" b="1" dirty="0">
                <a:latin typeface="Times New Roman"/>
                <a:cs typeface="Times New Roman"/>
              </a:rPr>
              <a:t>mismo tipo </a:t>
            </a:r>
            <a:r>
              <a:rPr sz="2176" b="1" spc="-5" dirty="0">
                <a:latin typeface="Times New Roman"/>
                <a:cs typeface="Times New Roman"/>
              </a:rPr>
              <a:t>de </a:t>
            </a:r>
            <a:r>
              <a:rPr sz="2176" b="1" dirty="0">
                <a:latin typeface="Times New Roman"/>
                <a:cs typeface="Times New Roman"/>
              </a:rPr>
              <a:t>modelo</a:t>
            </a:r>
            <a:r>
              <a:rPr sz="2176" dirty="0">
                <a:latin typeface="Times New Roman"/>
                <a:cs typeface="Times New Roman"/>
              </a:rPr>
              <a:t>, pero hay </a:t>
            </a:r>
            <a:r>
              <a:rPr sz="2176" spc="-5" dirty="0">
                <a:latin typeface="Times New Roman"/>
                <a:cs typeface="Times New Roman"/>
              </a:rPr>
              <a:t>opciones </a:t>
            </a:r>
            <a:r>
              <a:rPr sz="2176" spc="-9" dirty="0">
                <a:latin typeface="Times New Roman"/>
                <a:cs typeface="Times New Roman"/>
              </a:rPr>
              <a:t>más </a:t>
            </a:r>
            <a:r>
              <a:rPr sz="2176" dirty="0">
                <a:latin typeface="Times New Roman"/>
                <a:cs typeface="Times New Roman"/>
              </a:rPr>
              <a:t>apropiadas para </a:t>
            </a:r>
            <a:r>
              <a:rPr sz="2176" spc="5" dirty="0">
                <a:latin typeface="Times New Roman"/>
                <a:cs typeface="Times New Roman"/>
              </a:rPr>
              <a:t> </a:t>
            </a:r>
            <a:r>
              <a:rPr sz="2176" spc="-5" dirty="0">
                <a:latin typeface="Times New Roman"/>
                <a:cs typeface="Times New Roman"/>
              </a:rPr>
              <a:t>determinar</a:t>
            </a:r>
            <a:r>
              <a:rPr sz="2176" dirty="0">
                <a:latin typeface="Times New Roman"/>
                <a:cs typeface="Times New Roman"/>
              </a:rPr>
              <a:t> qué </a:t>
            </a:r>
            <a:r>
              <a:rPr sz="2176" spc="-5" dirty="0">
                <a:latin typeface="Times New Roman"/>
                <a:cs typeface="Times New Roman"/>
              </a:rPr>
              <a:t>modelo</a:t>
            </a:r>
            <a:r>
              <a:rPr sz="2176" dirty="0">
                <a:latin typeface="Times New Roman"/>
                <a:cs typeface="Times New Roman"/>
              </a:rPr>
              <a:t> de entre </a:t>
            </a:r>
            <a:r>
              <a:rPr sz="2176" spc="-5" dirty="0">
                <a:latin typeface="Times New Roman"/>
                <a:cs typeface="Times New Roman"/>
              </a:rPr>
              <a:t>varios modelos</a:t>
            </a:r>
            <a:r>
              <a:rPr sz="2176" dirty="0">
                <a:latin typeface="Times New Roman"/>
                <a:cs typeface="Times New Roman"/>
              </a:rPr>
              <a:t> </a:t>
            </a:r>
            <a:r>
              <a:rPr sz="2176" spc="5" dirty="0">
                <a:latin typeface="Times New Roman"/>
                <a:cs typeface="Times New Roman"/>
              </a:rPr>
              <a:t>de</a:t>
            </a:r>
            <a:r>
              <a:rPr sz="2176" dirty="0">
                <a:latin typeface="Times New Roman"/>
                <a:cs typeface="Times New Roman"/>
              </a:rPr>
              <a:t> diferente tipo </a:t>
            </a:r>
            <a:r>
              <a:rPr sz="2176" spc="-5" dirty="0">
                <a:latin typeface="Times New Roman"/>
                <a:cs typeface="Times New Roman"/>
              </a:rPr>
              <a:t>(redes, </a:t>
            </a:r>
            <a:r>
              <a:rPr sz="2176" dirty="0">
                <a:latin typeface="Times New Roman"/>
                <a:cs typeface="Times New Roman"/>
              </a:rPr>
              <a:t> </a:t>
            </a:r>
            <a:r>
              <a:rPr sz="2176" spc="-5" dirty="0">
                <a:latin typeface="Times New Roman"/>
                <a:cs typeface="Times New Roman"/>
              </a:rPr>
              <a:t>regresión, </a:t>
            </a:r>
            <a:r>
              <a:rPr sz="2176" dirty="0">
                <a:latin typeface="Times New Roman"/>
                <a:cs typeface="Times New Roman"/>
              </a:rPr>
              <a:t>árboles,</a:t>
            </a:r>
            <a:r>
              <a:rPr sz="2176" spc="-5" dirty="0">
                <a:latin typeface="Times New Roman"/>
                <a:cs typeface="Times New Roman"/>
              </a:rPr>
              <a:t> </a:t>
            </a:r>
            <a:r>
              <a:rPr sz="2176" dirty="0">
                <a:latin typeface="Times New Roman"/>
                <a:cs typeface="Times New Roman"/>
              </a:rPr>
              <a:t>etc.) funcionará </a:t>
            </a:r>
            <a:r>
              <a:rPr sz="2176" spc="-5" dirty="0">
                <a:latin typeface="Times New Roman"/>
                <a:cs typeface="Times New Roman"/>
              </a:rPr>
              <a:t>mejor </a:t>
            </a:r>
            <a:r>
              <a:rPr sz="2176" dirty="0">
                <a:latin typeface="Times New Roman"/>
                <a:cs typeface="Times New Roman"/>
              </a:rPr>
              <a:t>para</a:t>
            </a:r>
            <a:r>
              <a:rPr sz="2176" spc="14" dirty="0">
                <a:latin typeface="Times New Roman"/>
                <a:cs typeface="Times New Roman"/>
              </a:rPr>
              <a:t> </a:t>
            </a:r>
            <a:r>
              <a:rPr sz="2176" b="1" spc="-5" dirty="0">
                <a:latin typeface="Times New Roman"/>
                <a:cs typeface="Times New Roman"/>
              </a:rPr>
              <a:t>datos</a:t>
            </a:r>
            <a:r>
              <a:rPr sz="2176" b="1" dirty="0">
                <a:latin typeface="Times New Roman"/>
                <a:cs typeface="Times New Roman"/>
              </a:rPr>
              <a:t> </a:t>
            </a:r>
            <a:r>
              <a:rPr sz="2176" b="1" spc="-5" dirty="0">
                <a:latin typeface="Times New Roman"/>
                <a:cs typeface="Times New Roman"/>
              </a:rPr>
              <a:t>nuevos.</a:t>
            </a:r>
            <a:endParaRPr sz="2176" dirty="0">
              <a:latin typeface="Times New Roman"/>
              <a:cs typeface="Times New Roman"/>
            </a:endParaRPr>
          </a:p>
          <a:p>
            <a:pPr algn="just">
              <a:spcBef>
                <a:spcPts val="50"/>
              </a:spcBef>
            </a:pPr>
            <a:endParaRPr sz="2312" dirty="0">
              <a:latin typeface="Times New Roman"/>
              <a:cs typeface="Times New Roman"/>
            </a:endParaRPr>
          </a:p>
          <a:p>
            <a:pPr marL="11516" marR="4607" algn="just">
              <a:lnSpc>
                <a:spcPct val="95900"/>
              </a:lnSpc>
            </a:pPr>
            <a:r>
              <a:rPr sz="2176" b="1" u="sng" spc="-5" dirty="0">
                <a:solidFill>
                  <a:srgbClr val="365F91"/>
                </a:solidFill>
                <a:uFill>
                  <a:solidFill>
                    <a:srgbClr val="365F91"/>
                  </a:solidFill>
                </a:uFill>
                <a:latin typeface="Times New Roman"/>
                <a:cs typeface="Times New Roman"/>
              </a:rPr>
              <a:t>Definición </a:t>
            </a:r>
            <a:r>
              <a:rPr sz="2176" b="1" u="sng" dirty="0">
                <a:solidFill>
                  <a:srgbClr val="365F91"/>
                </a:solidFill>
                <a:uFill>
                  <a:solidFill>
                    <a:srgbClr val="365F91"/>
                  </a:solidFill>
                </a:uFill>
                <a:latin typeface="Times New Roman"/>
                <a:cs typeface="Times New Roman"/>
              </a:rPr>
              <a:t>1</a:t>
            </a:r>
            <a:r>
              <a:rPr sz="2176" b="1" dirty="0">
                <a:solidFill>
                  <a:srgbClr val="5F4879"/>
                </a:solidFill>
                <a:latin typeface="Times New Roman"/>
                <a:cs typeface="Times New Roman"/>
              </a:rPr>
              <a:t>: </a:t>
            </a:r>
            <a:r>
              <a:rPr sz="2176" spc="-5" dirty="0">
                <a:solidFill>
                  <a:srgbClr val="FF0000"/>
                </a:solidFill>
                <a:latin typeface="Times New Roman"/>
                <a:cs typeface="Times New Roman"/>
              </a:rPr>
              <a:t>Sobreajuste </a:t>
            </a:r>
            <a:r>
              <a:rPr sz="2176" dirty="0">
                <a:solidFill>
                  <a:srgbClr val="FF0000"/>
                </a:solidFill>
                <a:latin typeface="Times New Roman"/>
                <a:cs typeface="Times New Roman"/>
              </a:rPr>
              <a:t>(Overfitting)</a:t>
            </a:r>
            <a:r>
              <a:rPr lang="es-ES" sz="2176" dirty="0">
                <a:latin typeface="Times New Roman"/>
                <a:cs typeface="Times New Roman"/>
              </a:rPr>
              <a:t>: </a:t>
            </a:r>
            <a:r>
              <a:rPr sz="2176" dirty="0" err="1">
                <a:latin typeface="Times New Roman"/>
                <a:cs typeface="Times New Roman"/>
              </a:rPr>
              <a:t>cuando</a:t>
            </a:r>
            <a:r>
              <a:rPr sz="2176" dirty="0">
                <a:latin typeface="Times New Roman"/>
                <a:cs typeface="Times New Roman"/>
              </a:rPr>
              <a:t> un </a:t>
            </a:r>
            <a:r>
              <a:rPr sz="2176" spc="-5" dirty="0">
                <a:latin typeface="Times New Roman"/>
                <a:cs typeface="Times New Roman"/>
              </a:rPr>
              <a:t>modelo </a:t>
            </a:r>
            <a:r>
              <a:rPr sz="2176" dirty="0">
                <a:latin typeface="Times New Roman"/>
                <a:cs typeface="Times New Roman"/>
              </a:rPr>
              <a:t>está </a:t>
            </a:r>
            <a:r>
              <a:rPr sz="2176" spc="-5" dirty="0">
                <a:latin typeface="Times New Roman"/>
                <a:cs typeface="Times New Roman"/>
              </a:rPr>
              <a:t>demasiado </a:t>
            </a:r>
            <a:r>
              <a:rPr sz="2176" dirty="0">
                <a:latin typeface="Times New Roman"/>
                <a:cs typeface="Times New Roman"/>
              </a:rPr>
              <a:t> ajustado</a:t>
            </a:r>
            <a:r>
              <a:rPr sz="2176" spc="-9" dirty="0">
                <a:latin typeface="Times New Roman"/>
                <a:cs typeface="Times New Roman"/>
              </a:rPr>
              <a:t> </a:t>
            </a:r>
            <a:r>
              <a:rPr sz="2176" dirty="0">
                <a:latin typeface="Times New Roman"/>
                <a:cs typeface="Times New Roman"/>
              </a:rPr>
              <a:t>a</a:t>
            </a:r>
            <a:r>
              <a:rPr sz="2176" spc="9" dirty="0">
                <a:latin typeface="Times New Roman"/>
                <a:cs typeface="Times New Roman"/>
              </a:rPr>
              <a:t> </a:t>
            </a:r>
            <a:r>
              <a:rPr sz="2176" spc="-5" dirty="0">
                <a:latin typeface="Times New Roman"/>
                <a:cs typeface="Times New Roman"/>
              </a:rPr>
              <a:t>los</a:t>
            </a:r>
            <a:r>
              <a:rPr sz="2176" spc="5" dirty="0">
                <a:latin typeface="Times New Roman"/>
                <a:cs typeface="Times New Roman"/>
              </a:rPr>
              <a:t> </a:t>
            </a:r>
            <a:r>
              <a:rPr sz="2176" dirty="0">
                <a:latin typeface="Times New Roman"/>
                <a:cs typeface="Times New Roman"/>
              </a:rPr>
              <a:t>datos</a:t>
            </a:r>
            <a:r>
              <a:rPr sz="2176" spc="9" dirty="0">
                <a:latin typeface="Times New Roman"/>
                <a:cs typeface="Times New Roman"/>
              </a:rPr>
              <a:t> </a:t>
            </a:r>
            <a:r>
              <a:rPr sz="2176" spc="-5" dirty="0">
                <a:latin typeface="Times New Roman"/>
                <a:cs typeface="Times New Roman"/>
              </a:rPr>
              <a:t>utilizados</a:t>
            </a:r>
            <a:r>
              <a:rPr sz="2176" spc="9" dirty="0">
                <a:latin typeface="Times New Roman"/>
                <a:cs typeface="Times New Roman"/>
              </a:rPr>
              <a:t> </a:t>
            </a:r>
            <a:r>
              <a:rPr sz="2176" dirty="0">
                <a:latin typeface="Times New Roman"/>
                <a:cs typeface="Times New Roman"/>
              </a:rPr>
              <a:t>para</a:t>
            </a:r>
            <a:r>
              <a:rPr sz="2176" spc="14" dirty="0">
                <a:latin typeface="Times New Roman"/>
                <a:cs typeface="Times New Roman"/>
              </a:rPr>
              <a:t> </a:t>
            </a:r>
            <a:r>
              <a:rPr sz="2176" spc="-5" dirty="0">
                <a:latin typeface="Times New Roman"/>
                <a:cs typeface="Times New Roman"/>
              </a:rPr>
              <a:t>su</a:t>
            </a:r>
            <a:r>
              <a:rPr sz="2176" dirty="0">
                <a:latin typeface="Times New Roman"/>
                <a:cs typeface="Times New Roman"/>
              </a:rPr>
              <a:t> </a:t>
            </a:r>
            <a:r>
              <a:rPr sz="2176" spc="-5" dirty="0">
                <a:latin typeface="Times New Roman"/>
                <a:cs typeface="Times New Roman"/>
              </a:rPr>
              <a:t>construcción,</a:t>
            </a:r>
            <a:r>
              <a:rPr sz="2176" spc="9" dirty="0">
                <a:latin typeface="Times New Roman"/>
                <a:cs typeface="Times New Roman"/>
              </a:rPr>
              <a:t> </a:t>
            </a:r>
            <a:r>
              <a:rPr sz="2176" dirty="0">
                <a:latin typeface="Times New Roman"/>
                <a:cs typeface="Times New Roman"/>
              </a:rPr>
              <a:t>y</a:t>
            </a:r>
            <a:r>
              <a:rPr sz="2176" spc="5" dirty="0">
                <a:latin typeface="Times New Roman"/>
                <a:cs typeface="Times New Roman"/>
              </a:rPr>
              <a:t> </a:t>
            </a:r>
            <a:r>
              <a:rPr sz="2176" spc="-5" dirty="0">
                <a:latin typeface="Times New Roman"/>
                <a:cs typeface="Times New Roman"/>
              </a:rPr>
              <a:t>funciona</a:t>
            </a:r>
            <a:r>
              <a:rPr sz="2176" spc="9" dirty="0">
                <a:latin typeface="Times New Roman"/>
                <a:cs typeface="Times New Roman"/>
              </a:rPr>
              <a:t> </a:t>
            </a:r>
            <a:r>
              <a:rPr sz="2176" spc="-5" dirty="0">
                <a:latin typeface="Times New Roman"/>
                <a:cs typeface="Times New Roman"/>
              </a:rPr>
              <a:t>relativamente</a:t>
            </a:r>
            <a:r>
              <a:rPr sz="2176" spc="9" dirty="0">
                <a:latin typeface="Times New Roman"/>
                <a:cs typeface="Times New Roman"/>
              </a:rPr>
              <a:t> </a:t>
            </a:r>
            <a:r>
              <a:rPr sz="2176" spc="-9" dirty="0">
                <a:latin typeface="Times New Roman"/>
                <a:cs typeface="Times New Roman"/>
              </a:rPr>
              <a:t>mal </a:t>
            </a:r>
            <a:r>
              <a:rPr sz="2176" spc="-530" dirty="0">
                <a:latin typeface="Times New Roman"/>
                <a:cs typeface="Times New Roman"/>
              </a:rPr>
              <a:t> </a:t>
            </a:r>
            <a:r>
              <a:rPr sz="2176" dirty="0">
                <a:latin typeface="Times New Roman"/>
                <a:cs typeface="Times New Roman"/>
              </a:rPr>
              <a:t>para</a:t>
            </a:r>
            <a:r>
              <a:rPr sz="2176" spc="5" dirty="0">
                <a:latin typeface="Times New Roman"/>
                <a:cs typeface="Times New Roman"/>
              </a:rPr>
              <a:t> </a:t>
            </a:r>
            <a:r>
              <a:rPr sz="2176" b="1" spc="-5" dirty="0">
                <a:latin typeface="Times New Roman"/>
                <a:cs typeface="Times New Roman"/>
              </a:rPr>
              <a:t>nuevos</a:t>
            </a:r>
            <a:r>
              <a:rPr sz="2176" b="1" spc="-14" dirty="0">
                <a:latin typeface="Times New Roman"/>
                <a:cs typeface="Times New Roman"/>
              </a:rPr>
              <a:t> </a:t>
            </a:r>
            <a:r>
              <a:rPr sz="2176" b="1" spc="-5" dirty="0">
                <a:latin typeface="Times New Roman"/>
                <a:cs typeface="Times New Roman"/>
              </a:rPr>
              <a:t>datos</a:t>
            </a:r>
            <a:r>
              <a:rPr sz="2176" spc="-5" dirty="0">
                <a:latin typeface="Times New Roman"/>
                <a:cs typeface="Times New Roman"/>
              </a:rPr>
              <a:t>.</a:t>
            </a:r>
            <a:r>
              <a:rPr sz="2176" dirty="0">
                <a:latin typeface="Times New Roman"/>
                <a:cs typeface="Times New Roman"/>
              </a:rPr>
              <a:t> </a:t>
            </a:r>
            <a:r>
              <a:rPr sz="2176" spc="-5" dirty="0">
                <a:latin typeface="Times New Roman"/>
                <a:cs typeface="Times New Roman"/>
              </a:rPr>
              <a:t>Se </a:t>
            </a:r>
            <a:r>
              <a:rPr sz="2176" dirty="0">
                <a:latin typeface="Times New Roman"/>
                <a:cs typeface="Times New Roman"/>
              </a:rPr>
              <a:t>da este </a:t>
            </a:r>
            <a:r>
              <a:rPr sz="2176" spc="-5" dirty="0">
                <a:latin typeface="Times New Roman"/>
                <a:cs typeface="Times New Roman"/>
              </a:rPr>
              <a:t>fenómeno</a:t>
            </a:r>
            <a:r>
              <a:rPr sz="2176" dirty="0">
                <a:latin typeface="Times New Roman"/>
                <a:cs typeface="Times New Roman"/>
              </a:rPr>
              <a:t> cuando</a:t>
            </a:r>
            <a:r>
              <a:rPr sz="2176" spc="-14" dirty="0">
                <a:latin typeface="Times New Roman"/>
                <a:cs typeface="Times New Roman"/>
              </a:rPr>
              <a:t> </a:t>
            </a:r>
            <a:r>
              <a:rPr sz="2176" dirty="0">
                <a:latin typeface="Times New Roman"/>
                <a:cs typeface="Times New Roman"/>
              </a:rPr>
              <a:t>el</a:t>
            </a:r>
            <a:r>
              <a:rPr sz="2176" spc="5" dirty="0">
                <a:latin typeface="Times New Roman"/>
                <a:cs typeface="Times New Roman"/>
              </a:rPr>
              <a:t> </a:t>
            </a:r>
            <a:r>
              <a:rPr sz="2176" spc="-5" dirty="0">
                <a:latin typeface="Times New Roman"/>
                <a:cs typeface="Times New Roman"/>
              </a:rPr>
              <a:t>modelo</a:t>
            </a:r>
            <a:r>
              <a:rPr sz="2176" dirty="0">
                <a:latin typeface="Times New Roman"/>
                <a:cs typeface="Times New Roman"/>
              </a:rPr>
              <a:t> es</a:t>
            </a:r>
            <a:r>
              <a:rPr sz="2176" spc="18" dirty="0">
                <a:latin typeface="Times New Roman"/>
                <a:cs typeface="Times New Roman"/>
              </a:rPr>
              <a:t> </a:t>
            </a:r>
            <a:r>
              <a:rPr sz="2176" b="1" spc="-5" dirty="0">
                <a:latin typeface="Times New Roman"/>
                <a:cs typeface="Times New Roman"/>
              </a:rPr>
              <a:t>excesivamente </a:t>
            </a:r>
            <a:r>
              <a:rPr sz="2176" b="1" dirty="0">
                <a:latin typeface="Times New Roman"/>
                <a:cs typeface="Times New Roman"/>
              </a:rPr>
              <a:t> </a:t>
            </a:r>
            <a:r>
              <a:rPr sz="2176" b="1" spc="-5" dirty="0">
                <a:latin typeface="Times New Roman"/>
                <a:cs typeface="Times New Roman"/>
              </a:rPr>
              <a:t>complejo</a:t>
            </a:r>
            <a:r>
              <a:rPr sz="2176" b="1" spc="5" dirty="0">
                <a:latin typeface="Times New Roman"/>
                <a:cs typeface="Times New Roman"/>
              </a:rPr>
              <a:t> </a:t>
            </a:r>
            <a:r>
              <a:rPr sz="2176" dirty="0">
                <a:latin typeface="Times New Roman"/>
                <a:cs typeface="Times New Roman"/>
              </a:rPr>
              <a:t>o</a:t>
            </a:r>
            <a:r>
              <a:rPr sz="2176" spc="-14" dirty="0">
                <a:latin typeface="Times New Roman"/>
                <a:cs typeface="Times New Roman"/>
              </a:rPr>
              <a:t> </a:t>
            </a:r>
            <a:r>
              <a:rPr sz="2176" dirty="0">
                <a:latin typeface="Times New Roman"/>
                <a:cs typeface="Times New Roman"/>
              </a:rPr>
              <a:t>con un </a:t>
            </a:r>
            <a:r>
              <a:rPr sz="2176" b="1" spc="-5" dirty="0">
                <a:latin typeface="Times New Roman"/>
                <a:cs typeface="Times New Roman"/>
              </a:rPr>
              <a:t>número de parámetros</a:t>
            </a:r>
            <a:r>
              <a:rPr sz="2176" b="1" dirty="0">
                <a:latin typeface="Times New Roman"/>
                <a:cs typeface="Times New Roman"/>
              </a:rPr>
              <a:t> </a:t>
            </a:r>
            <a:r>
              <a:rPr sz="2176" b="1" spc="-5" dirty="0">
                <a:latin typeface="Times New Roman"/>
                <a:cs typeface="Times New Roman"/>
              </a:rPr>
              <a:t>excesivo</a:t>
            </a:r>
            <a:r>
              <a:rPr sz="2176" spc="-5" dirty="0">
                <a:latin typeface="Times New Roman"/>
                <a:cs typeface="Times New Roman"/>
              </a:rPr>
              <a:t>.</a:t>
            </a:r>
            <a:endParaRPr sz="2176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18571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62234" y="3581016"/>
            <a:ext cx="8813480" cy="2660322"/>
          </a:xfrm>
          <a:prstGeom prst="rect">
            <a:avLst/>
          </a:prstGeom>
        </p:spPr>
        <p:txBody>
          <a:bodyPr vert="horz" wrap="square" lIns="0" tIns="31094" rIns="0" bIns="0" rtlCol="0">
            <a:spAutoFit/>
          </a:bodyPr>
          <a:lstStyle/>
          <a:p>
            <a:pPr marL="11516" marR="6164132">
              <a:lnSpc>
                <a:spcPts val="2294"/>
              </a:lnSpc>
              <a:spcBef>
                <a:spcPts val="245"/>
              </a:spcBef>
            </a:pPr>
            <a:r>
              <a:rPr lang="es-ES" sz="1995" spc="-5" dirty="0">
                <a:solidFill>
                  <a:srgbClr val="0070C0"/>
                </a:solidFill>
                <a:latin typeface="Times New Roman"/>
                <a:cs typeface="Times New Roman"/>
              </a:rPr>
              <a:t>Datos entrenamiento azul </a:t>
            </a:r>
            <a:r>
              <a:rPr sz="1995" spc="-5" dirty="0" err="1">
                <a:solidFill>
                  <a:srgbClr val="FA8504"/>
                </a:solidFill>
                <a:latin typeface="Times New Roman"/>
                <a:cs typeface="Times New Roman"/>
              </a:rPr>
              <a:t>Nuevos</a:t>
            </a:r>
            <a:r>
              <a:rPr sz="1995" spc="-5" dirty="0">
                <a:solidFill>
                  <a:srgbClr val="FA8504"/>
                </a:solidFill>
                <a:latin typeface="Times New Roman"/>
                <a:cs typeface="Times New Roman"/>
              </a:rPr>
              <a:t> datos en naranja </a:t>
            </a:r>
            <a:r>
              <a:rPr sz="1995" dirty="0">
                <a:solidFill>
                  <a:srgbClr val="FA8504"/>
                </a:solidFill>
                <a:latin typeface="Times New Roman"/>
                <a:cs typeface="Times New Roman"/>
              </a:rPr>
              <a:t> </a:t>
            </a:r>
            <a:r>
              <a:rPr sz="1995" spc="-5" dirty="0">
                <a:solidFill>
                  <a:srgbClr val="00AF50"/>
                </a:solidFill>
                <a:latin typeface="Times New Roman"/>
                <a:cs typeface="Times New Roman"/>
              </a:rPr>
              <a:t>El</a:t>
            </a:r>
            <a:r>
              <a:rPr sz="1995" spc="-18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1995" spc="-5" dirty="0">
                <a:solidFill>
                  <a:srgbClr val="00AF50"/>
                </a:solidFill>
                <a:latin typeface="Times New Roman"/>
                <a:cs typeface="Times New Roman"/>
              </a:rPr>
              <a:t>modelo</a:t>
            </a:r>
            <a:r>
              <a:rPr sz="1995" spc="-14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1995" dirty="0">
                <a:solidFill>
                  <a:srgbClr val="00AF50"/>
                </a:solidFill>
                <a:latin typeface="Times New Roman"/>
                <a:cs typeface="Times New Roman"/>
              </a:rPr>
              <a:t>verde</a:t>
            </a:r>
            <a:r>
              <a:rPr sz="1995" spc="-18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1995" spc="-5" dirty="0">
                <a:solidFill>
                  <a:srgbClr val="00AF50"/>
                </a:solidFill>
                <a:latin typeface="Times New Roman"/>
                <a:cs typeface="Times New Roman"/>
              </a:rPr>
              <a:t>es</a:t>
            </a:r>
            <a:r>
              <a:rPr sz="1995" spc="-18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1995" spc="-5" dirty="0">
                <a:solidFill>
                  <a:srgbClr val="00AF50"/>
                </a:solidFill>
                <a:latin typeface="Times New Roman"/>
                <a:cs typeface="Times New Roman"/>
              </a:rPr>
              <a:t>bueno</a:t>
            </a:r>
            <a:endParaRPr sz="1995" dirty="0">
              <a:latin typeface="Times New Roman"/>
              <a:cs typeface="Times New Roman"/>
            </a:endParaRPr>
          </a:p>
          <a:p>
            <a:pPr marL="322458" indent="-310942">
              <a:lnSpc>
                <a:spcPts val="2185"/>
              </a:lnSpc>
              <a:buFont typeface="Arial" panose="020B0604020202020204" pitchFamily="34" charset="0"/>
              <a:buChar char="•"/>
            </a:pPr>
            <a:r>
              <a:rPr sz="1995" spc="-5" dirty="0">
                <a:latin typeface="Times New Roman"/>
                <a:cs typeface="Times New Roman"/>
              </a:rPr>
              <a:t>M=0,</a:t>
            </a:r>
            <a:r>
              <a:rPr sz="1995" dirty="0">
                <a:latin typeface="Times New Roman"/>
                <a:cs typeface="Times New Roman"/>
              </a:rPr>
              <a:t> </a:t>
            </a:r>
            <a:r>
              <a:rPr sz="1995" spc="-5" dirty="0">
                <a:latin typeface="Times New Roman"/>
                <a:cs typeface="Times New Roman"/>
              </a:rPr>
              <a:t>M=1:</a:t>
            </a:r>
            <a:r>
              <a:rPr sz="1995" spc="9" dirty="0">
                <a:latin typeface="Times New Roman"/>
                <a:cs typeface="Times New Roman"/>
              </a:rPr>
              <a:t> </a:t>
            </a:r>
            <a:r>
              <a:rPr lang="es-ES" sz="1995" spc="-5" dirty="0">
                <a:latin typeface="Times New Roman"/>
                <a:cs typeface="Times New Roman"/>
              </a:rPr>
              <a:t>e</a:t>
            </a:r>
            <a:r>
              <a:rPr sz="1995" spc="-5" dirty="0">
                <a:latin typeface="Times New Roman"/>
                <a:cs typeface="Times New Roman"/>
              </a:rPr>
              <a:t>l</a:t>
            </a:r>
            <a:r>
              <a:rPr sz="1995" spc="5" dirty="0">
                <a:latin typeface="Times New Roman"/>
                <a:cs typeface="Times New Roman"/>
              </a:rPr>
              <a:t> </a:t>
            </a:r>
            <a:r>
              <a:rPr sz="1995" spc="-5" dirty="0">
                <a:latin typeface="Times New Roman"/>
                <a:cs typeface="Times New Roman"/>
              </a:rPr>
              <a:t>modelo</a:t>
            </a:r>
            <a:r>
              <a:rPr sz="1995" spc="23" dirty="0">
                <a:latin typeface="Times New Roman"/>
                <a:cs typeface="Times New Roman"/>
              </a:rPr>
              <a:t> </a:t>
            </a:r>
            <a:r>
              <a:rPr sz="1995" b="1" spc="-5" dirty="0">
                <a:latin typeface="Times New Roman"/>
                <a:cs typeface="Times New Roman"/>
              </a:rPr>
              <a:t>rojo</a:t>
            </a:r>
            <a:r>
              <a:rPr sz="1995" b="1" spc="14" dirty="0">
                <a:latin typeface="Times New Roman"/>
                <a:cs typeface="Times New Roman"/>
              </a:rPr>
              <a:t> </a:t>
            </a:r>
            <a:r>
              <a:rPr sz="1995" spc="-5" dirty="0">
                <a:latin typeface="Times New Roman"/>
                <a:cs typeface="Times New Roman"/>
              </a:rPr>
              <a:t>es</a:t>
            </a:r>
            <a:r>
              <a:rPr sz="1995" dirty="0">
                <a:latin typeface="Times New Roman"/>
                <a:cs typeface="Times New Roman"/>
              </a:rPr>
              <a:t> </a:t>
            </a:r>
            <a:r>
              <a:rPr sz="1995" spc="-5" dirty="0">
                <a:latin typeface="Times New Roman"/>
                <a:cs typeface="Times New Roman"/>
              </a:rPr>
              <a:t>insuficientemente</a:t>
            </a:r>
            <a:r>
              <a:rPr sz="1995" spc="14" dirty="0">
                <a:latin typeface="Times New Roman"/>
                <a:cs typeface="Times New Roman"/>
              </a:rPr>
              <a:t> </a:t>
            </a:r>
            <a:r>
              <a:rPr sz="1995" dirty="0">
                <a:latin typeface="Times New Roman"/>
                <a:cs typeface="Times New Roman"/>
              </a:rPr>
              <a:t>complejo</a:t>
            </a:r>
            <a:r>
              <a:rPr sz="1995" b="1" dirty="0">
                <a:latin typeface="Times New Roman"/>
                <a:cs typeface="Times New Roman"/>
              </a:rPr>
              <a:t>. </a:t>
            </a:r>
            <a:r>
              <a:rPr sz="1995" b="1" spc="-5" dirty="0">
                <a:latin typeface="Times New Roman"/>
                <a:cs typeface="Times New Roman"/>
              </a:rPr>
              <a:t>La</a:t>
            </a:r>
            <a:r>
              <a:rPr sz="1995" b="1" spc="9" dirty="0">
                <a:latin typeface="Times New Roman"/>
                <a:cs typeface="Times New Roman"/>
              </a:rPr>
              <a:t> </a:t>
            </a:r>
            <a:r>
              <a:rPr sz="1995" b="1" spc="-9" dirty="0">
                <a:latin typeface="Times New Roman"/>
                <a:cs typeface="Times New Roman"/>
              </a:rPr>
              <a:t>predicción</a:t>
            </a:r>
            <a:r>
              <a:rPr sz="1995" b="1" spc="14" dirty="0">
                <a:latin typeface="Times New Roman"/>
                <a:cs typeface="Times New Roman"/>
              </a:rPr>
              <a:t> </a:t>
            </a:r>
            <a:r>
              <a:rPr sz="1995" b="1" spc="-5" dirty="0">
                <a:latin typeface="Times New Roman"/>
                <a:cs typeface="Times New Roman"/>
              </a:rPr>
              <a:t>es</a:t>
            </a:r>
            <a:r>
              <a:rPr sz="1995" b="1" dirty="0">
                <a:latin typeface="Times New Roman"/>
                <a:cs typeface="Times New Roman"/>
              </a:rPr>
              <a:t> </a:t>
            </a:r>
            <a:r>
              <a:rPr sz="1995" b="1" spc="-5" dirty="0">
                <a:latin typeface="Times New Roman"/>
                <a:cs typeface="Times New Roman"/>
              </a:rPr>
              <a:t>muy</a:t>
            </a:r>
            <a:endParaRPr sz="1995" dirty="0">
              <a:latin typeface="Times New Roman"/>
              <a:cs typeface="Times New Roman"/>
            </a:endParaRPr>
          </a:p>
          <a:p>
            <a:pPr marL="11516">
              <a:lnSpc>
                <a:spcPts val="2294"/>
              </a:lnSpc>
            </a:pPr>
            <a:r>
              <a:rPr lang="es-ES" sz="1995" b="1" spc="-5" dirty="0">
                <a:latin typeface="Times New Roman"/>
                <a:cs typeface="Times New Roman"/>
              </a:rPr>
              <a:t>	           </a:t>
            </a:r>
            <a:r>
              <a:rPr sz="1995" b="1" spc="-5" dirty="0" err="1">
                <a:latin typeface="Times New Roman"/>
                <a:cs typeface="Times New Roman"/>
              </a:rPr>
              <a:t>pobre</a:t>
            </a:r>
            <a:r>
              <a:rPr sz="1995" b="1" spc="-5" dirty="0">
                <a:latin typeface="Times New Roman"/>
                <a:cs typeface="Times New Roman"/>
              </a:rPr>
              <a:t> para</a:t>
            </a:r>
            <a:r>
              <a:rPr sz="1995" b="1" dirty="0">
                <a:latin typeface="Times New Roman"/>
                <a:cs typeface="Times New Roman"/>
              </a:rPr>
              <a:t> </a:t>
            </a:r>
            <a:r>
              <a:rPr sz="1995" b="1" spc="-5" dirty="0">
                <a:latin typeface="Times New Roman"/>
                <a:cs typeface="Times New Roman"/>
              </a:rPr>
              <a:t>los</a:t>
            </a:r>
            <a:r>
              <a:rPr sz="1995" b="1" dirty="0">
                <a:latin typeface="Times New Roman"/>
                <a:cs typeface="Times New Roman"/>
              </a:rPr>
              <a:t> </a:t>
            </a:r>
            <a:r>
              <a:rPr sz="1995" b="1" spc="-5" dirty="0">
                <a:latin typeface="Times New Roman"/>
                <a:cs typeface="Times New Roman"/>
              </a:rPr>
              <a:t>datos</a:t>
            </a:r>
            <a:r>
              <a:rPr sz="1995" b="1" dirty="0">
                <a:latin typeface="Times New Roman"/>
                <a:cs typeface="Times New Roman"/>
              </a:rPr>
              <a:t> </a:t>
            </a:r>
            <a:r>
              <a:rPr sz="1995" b="1" spc="-9" dirty="0">
                <a:latin typeface="Times New Roman"/>
                <a:cs typeface="Times New Roman"/>
              </a:rPr>
              <a:t>utilizados</a:t>
            </a:r>
            <a:r>
              <a:rPr sz="1995" b="1" dirty="0">
                <a:latin typeface="Times New Roman"/>
                <a:cs typeface="Times New Roman"/>
              </a:rPr>
              <a:t> </a:t>
            </a:r>
            <a:r>
              <a:rPr sz="1995" b="1" spc="-5" dirty="0">
                <a:latin typeface="Times New Roman"/>
                <a:cs typeface="Times New Roman"/>
              </a:rPr>
              <a:t>y</a:t>
            </a:r>
            <a:r>
              <a:rPr sz="1995" b="1" spc="9" dirty="0">
                <a:latin typeface="Times New Roman"/>
                <a:cs typeface="Times New Roman"/>
              </a:rPr>
              <a:t> </a:t>
            </a:r>
            <a:r>
              <a:rPr sz="1995" b="1" spc="-5" dirty="0">
                <a:latin typeface="Times New Roman"/>
                <a:cs typeface="Times New Roman"/>
              </a:rPr>
              <a:t>para nuevos</a:t>
            </a:r>
            <a:r>
              <a:rPr sz="1995" b="1" dirty="0">
                <a:latin typeface="Times New Roman"/>
                <a:cs typeface="Times New Roman"/>
              </a:rPr>
              <a:t> </a:t>
            </a:r>
            <a:r>
              <a:rPr sz="1995" b="1" spc="-5" dirty="0">
                <a:latin typeface="Times New Roman"/>
                <a:cs typeface="Times New Roman"/>
              </a:rPr>
              <a:t>datos.</a:t>
            </a:r>
            <a:endParaRPr sz="1995" dirty="0">
              <a:latin typeface="Times New Roman"/>
              <a:cs typeface="Times New Roman"/>
            </a:endParaRPr>
          </a:p>
          <a:p>
            <a:pPr marL="322458" marR="76584" indent="-310942">
              <a:lnSpc>
                <a:spcPts val="2303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z="1995" spc="-5" dirty="0">
                <a:latin typeface="Times New Roman"/>
                <a:cs typeface="Times New Roman"/>
              </a:rPr>
              <a:t>M=3:</a:t>
            </a:r>
            <a:r>
              <a:rPr sz="1995" spc="5" dirty="0">
                <a:latin typeface="Times New Roman"/>
                <a:cs typeface="Times New Roman"/>
              </a:rPr>
              <a:t> </a:t>
            </a:r>
            <a:r>
              <a:rPr lang="es-ES" sz="1995" spc="-5" dirty="0">
                <a:latin typeface="Times New Roman"/>
                <a:cs typeface="Times New Roman"/>
              </a:rPr>
              <a:t>e</a:t>
            </a:r>
            <a:r>
              <a:rPr sz="1995" spc="-5" dirty="0">
                <a:latin typeface="Times New Roman"/>
                <a:cs typeface="Times New Roman"/>
              </a:rPr>
              <a:t>l</a:t>
            </a:r>
            <a:r>
              <a:rPr sz="1995" spc="5" dirty="0">
                <a:latin typeface="Times New Roman"/>
                <a:cs typeface="Times New Roman"/>
              </a:rPr>
              <a:t> </a:t>
            </a:r>
            <a:r>
              <a:rPr sz="1995" spc="-5" dirty="0">
                <a:latin typeface="Times New Roman"/>
                <a:cs typeface="Times New Roman"/>
              </a:rPr>
              <a:t>modelo</a:t>
            </a:r>
            <a:r>
              <a:rPr sz="1995" spc="14" dirty="0">
                <a:latin typeface="Times New Roman"/>
                <a:cs typeface="Times New Roman"/>
              </a:rPr>
              <a:t> </a:t>
            </a:r>
            <a:r>
              <a:rPr sz="1995" b="1" spc="-5" dirty="0">
                <a:latin typeface="Times New Roman"/>
                <a:cs typeface="Times New Roman"/>
              </a:rPr>
              <a:t>rojo</a:t>
            </a:r>
            <a:r>
              <a:rPr sz="1995" b="1" spc="14" dirty="0">
                <a:latin typeface="Times New Roman"/>
                <a:cs typeface="Times New Roman"/>
              </a:rPr>
              <a:t> </a:t>
            </a:r>
            <a:r>
              <a:rPr sz="1995" spc="-5" dirty="0">
                <a:latin typeface="Times New Roman"/>
                <a:cs typeface="Times New Roman"/>
              </a:rPr>
              <a:t>es adecuado</a:t>
            </a:r>
            <a:r>
              <a:rPr sz="1995" spc="9" dirty="0">
                <a:latin typeface="Times New Roman"/>
                <a:cs typeface="Times New Roman"/>
              </a:rPr>
              <a:t> </a:t>
            </a:r>
            <a:r>
              <a:rPr sz="1995" dirty="0">
                <a:latin typeface="Times New Roman"/>
                <a:cs typeface="Times New Roman"/>
              </a:rPr>
              <a:t>(recordar</a:t>
            </a:r>
            <a:r>
              <a:rPr sz="1995" spc="5" dirty="0">
                <a:latin typeface="Times New Roman"/>
                <a:cs typeface="Times New Roman"/>
              </a:rPr>
              <a:t> </a:t>
            </a:r>
            <a:r>
              <a:rPr sz="1995" spc="-5" dirty="0">
                <a:latin typeface="Times New Roman"/>
                <a:cs typeface="Times New Roman"/>
              </a:rPr>
              <a:t>la</a:t>
            </a:r>
            <a:r>
              <a:rPr sz="1995" spc="14" dirty="0">
                <a:latin typeface="Times New Roman"/>
                <a:cs typeface="Times New Roman"/>
              </a:rPr>
              <a:t> </a:t>
            </a:r>
            <a:r>
              <a:rPr sz="1995" spc="-5" dirty="0">
                <a:latin typeface="Times New Roman"/>
                <a:cs typeface="Times New Roman"/>
              </a:rPr>
              <a:t>multiplicidad </a:t>
            </a:r>
            <a:r>
              <a:rPr sz="1995" dirty="0">
                <a:latin typeface="Times New Roman"/>
                <a:cs typeface="Times New Roman"/>
              </a:rPr>
              <a:t>de </a:t>
            </a:r>
            <a:r>
              <a:rPr sz="1995" spc="-5" dirty="0">
                <a:latin typeface="Times New Roman"/>
                <a:cs typeface="Times New Roman"/>
              </a:rPr>
              <a:t>modelos:</a:t>
            </a:r>
            <a:r>
              <a:rPr sz="1995" dirty="0">
                <a:latin typeface="Times New Roman"/>
                <a:cs typeface="Times New Roman"/>
              </a:rPr>
              <a:t> no</a:t>
            </a:r>
            <a:r>
              <a:rPr sz="1995" spc="9" dirty="0">
                <a:latin typeface="Times New Roman"/>
                <a:cs typeface="Times New Roman"/>
              </a:rPr>
              <a:t> </a:t>
            </a:r>
            <a:r>
              <a:rPr sz="1995" spc="-5" dirty="0" err="1">
                <a:latin typeface="Times New Roman"/>
                <a:cs typeface="Times New Roman"/>
              </a:rPr>
              <a:t>existe</a:t>
            </a:r>
            <a:r>
              <a:rPr sz="1995" spc="-5" dirty="0">
                <a:latin typeface="Times New Roman"/>
                <a:cs typeface="Times New Roman"/>
              </a:rPr>
              <a:t> </a:t>
            </a:r>
            <a:r>
              <a:rPr lang="es-ES" sz="1995" spc="-5" dirty="0">
                <a:latin typeface="Times New Roman"/>
                <a:cs typeface="Times New Roman"/>
              </a:rPr>
              <a:t>	  </a:t>
            </a:r>
            <a:r>
              <a:rPr sz="1995" spc="-5" dirty="0">
                <a:latin typeface="Times New Roman"/>
                <a:cs typeface="Times New Roman"/>
              </a:rPr>
              <a:t>un </a:t>
            </a:r>
            <a:r>
              <a:rPr sz="1995" spc="-485" dirty="0">
                <a:latin typeface="Times New Roman"/>
                <a:cs typeface="Times New Roman"/>
              </a:rPr>
              <a:t> </a:t>
            </a:r>
            <a:r>
              <a:rPr sz="1995" spc="-5" dirty="0">
                <a:latin typeface="Times New Roman"/>
                <a:cs typeface="Times New Roman"/>
              </a:rPr>
              <a:t>único</a:t>
            </a:r>
            <a:r>
              <a:rPr sz="1995" dirty="0">
                <a:latin typeface="Times New Roman"/>
                <a:cs typeface="Times New Roman"/>
              </a:rPr>
              <a:t> </a:t>
            </a:r>
            <a:r>
              <a:rPr sz="1995" spc="-5" dirty="0">
                <a:latin typeface="Times New Roman"/>
                <a:cs typeface="Times New Roman"/>
              </a:rPr>
              <a:t>modelo</a:t>
            </a:r>
            <a:r>
              <a:rPr sz="1995" dirty="0">
                <a:latin typeface="Times New Roman"/>
                <a:cs typeface="Times New Roman"/>
              </a:rPr>
              <a:t> correcto)</a:t>
            </a:r>
            <a:r>
              <a:rPr sz="1995" b="1" dirty="0">
                <a:latin typeface="Times New Roman"/>
                <a:cs typeface="Times New Roman"/>
              </a:rPr>
              <a:t>.</a:t>
            </a:r>
            <a:r>
              <a:rPr sz="1995" b="1" spc="-5" dirty="0">
                <a:latin typeface="Times New Roman"/>
                <a:cs typeface="Times New Roman"/>
              </a:rPr>
              <a:t> La</a:t>
            </a:r>
            <a:r>
              <a:rPr sz="1995" b="1" spc="5" dirty="0">
                <a:latin typeface="Times New Roman"/>
                <a:cs typeface="Times New Roman"/>
              </a:rPr>
              <a:t> </a:t>
            </a:r>
            <a:r>
              <a:rPr sz="1995" b="1" spc="-9" dirty="0">
                <a:latin typeface="Times New Roman"/>
                <a:cs typeface="Times New Roman"/>
              </a:rPr>
              <a:t>predicción</a:t>
            </a:r>
            <a:r>
              <a:rPr sz="1995" b="1" spc="9" dirty="0">
                <a:latin typeface="Times New Roman"/>
                <a:cs typeface="Times New Roman"/>
              </a:rPr>
              <a:t> </a:t>
            </a:r>
            <a:r>
              <a:rPr sz="1995" b="1" dirty="0">
                <a:latin typeface="Times New Roman"/>
                <a:cs typeface="Times New Roman"/>
              </a:rPr>
              <a:t>para</a:t>
            </a:r>
            <a:r>
              <a:rPr sz="1995" b="1" spc="5" dirty="0">
                <a:latin typeface="Times New Roman"/>
                <a:cs typeface="Times New Roman"/>
              </a:rPr>
              <a:t> </a:t>
            </a:r>
            <a:r>
              <a:rPr sz="1995" b="1" spc="-5" dirty="0">
                <a:latin typeface="Times New Roman"/>
                <a:cs typeface="Times New Roman"/>
              </a:rPr>
              <a:t>nuevos datos</a:t>
            </a:r>
            <a:r>
              <a:rPr sz="1995" b="1" dirty="0">
                <a:latin typeface="Times New Roman"/>
                <a:cs typeface="Times New Roman"/>
              </a:rPr>
              <a:t> </a:t>
            </a:r>
            <a:r>
              <a:rPr sz="1995" b="1" spc="-5" dirty="0">
                <a:latin typeface="Times New Roman"/>
                <a:cs typeface="Times New Roman"/>
              </a:rPr>
              <a:t>es</a:t>
            </a:r>
            <a:r>
              <a:rPr sz="1995" b="1" dirty="0">
                <a:latin typeface="Times New Roman"/>
                <a:cs typeface="Times New Roman"/>
              </a:rPr>
              <a:t> </a:t>
            </a:r>
            <a:r>
              <a:rPr sz="1995" b="1" spc="-5" dirty="0">
                <a:latin typeface="Times New Roman"/>
                <a:cs typeface="Times New Roman"/>
              </a:rPr>
              <a:t>correcta.</a:t>
            </a:r>
            <a:endParaRPr sz="1995" dirty="0">
              <a:latin typeface="Times New Roman"/>
              <a:cs typeface="Times New Roman"/>
            </a:endParaRPr>
          </a:p>
          <a:p>
            <a:pPr marL="322458" indent="-310942">
              <a:lnSpc>
                <a:spcPts val="2181"/>
              </a:lnSpc>
              <a:buFont typeface="Arial" panose="020B0604020202020204" pitchFamily="34" charset="0"/>
              <a:buChar char="•"/>
            </a:pPr>
            <a:r>
              <a:rPr sz="1995" spc="-5" dirty="0">
                <a:latin typeface="Times New Roman"/>
                <a:cs typeface="Times New Roman"/>
              </a:rPr>
              <a:t>M=9:</a:t>
            </a:r>
            <a:r>
              <a:rPr sz="1995" dirty="0">
                <a:latin typeface="Times New Roman"/>
                <a:cs typeface="Times New Roman"/>
              </a:rPr>
              <a:t> </a:t>
            </a:r>
            <a:r>
              <a:rPr sz="1995" spc="-5" dirty="0">
                <a:latin typeface="Times New Roman"/>
                <a:cs typeface="Times New Roman"/>
              </a:rPr>
              <a:t>El</a:t>
            </a:r>
            <a:r>
              <a:rPr sz="1995" dirty="0">
                <a:latin typeface="Times New Roman"/>
                <a:cs typeface="Times New Roman"/>
              </a:rPr>
              <a:t> </a:t>
            </a:r>
            <a:r>
              <a:rPr sz="1995" spc="-5" dirty="0">
                <a:latin typeface="Times New Roman"/>
                <a:cs typeface="Times New Roman"/>
              </a:rPr>
              <a:t>modelo</a:t>
            </a:r>
            <a:r>
              <a:rPr sz="1995" spc="18" dirty="0">
                <a:latin typeface="Times New Roman"/>
                <a:cs typeface="Times New Roman"/>
              </a:rPr>
              <a:t> </a:t>
            </a:r>
            <a:r>
              <a:rPr sz="1995" b="1" spc="-5" dirty="0">
                <a:latin typeface="Times New Roman"/>
                <a:cs typeface="Times New Roman"/>
              </a:rPr>
              <a:t>rojo</a:t>
            </a:r>
            <a:r>
              <a:rPr sz="1995" b="1" spc="14" dirty="0">
                <a:latin typeface="Times New Roman"/>
                <a:cs typeface="Times New Roman"/>
              </a:rPr>
              <a:t> </a:t>
            </a:r>
            <a:r>
              <a:rPr sz="1995" spc="-5" dirty="0">
                <a:latin typeface="Times New Roman"/>
                <a:cs typeface="Times New Roman"/>
              </a:rPr>
              <a:t>es</a:t>
            </a:r>
            <a:r>
              <a:rPr sz="1995" spc="5" dirty="0">
                <a:latin typeface="Times New Roman"/>
                <a:cs typeface="Times New Roman"/>
              </a:rPr>
              <a:t> </a:t>
            </a:r>
            <a:r>
              <a:rPr sz="1995" spc="-5" dirty="0">
                <a:latin typeface="Times New Roman"/>
                <a:cs typeface="Times New Roman"/>
              </a:rPr>
              <a:t>excesivamente</a:t>
            </a:r>
            <a:r>
              <a:rPr sz="1995" spc="9" dirty="0">
                <a:latin typeface="Times New Roman"/>
                <a:cs typeface="Times New Roman"/>
              </a:rPr>
              <a:t> </a:t>
            </a:r>
            <a:r>
              <a:rPr sz="1995" spc="-5" dirty="0">
                <a:latin typeface="Times New Roman"/>
                <a:cs typeface="Times New Roman"/>
              </a:rPr>
              <a:t>complejo:</a:t>
            </a:r>
            <a:r>
              <a:rPr sz="1995" spc="14" dirty="0">
                <a:latin typeface="Times New Roman"/>
                <a:cs typeface="Times New Roman"/>
              </a:rPr>
              <a:t> </a:t>
            </a:r>
            <a:r>
              <a:rPr sz="1995" b="1" spc="-5" dirty="0">
                <a:latin typeface="Times New Roman"/>
                <a:cs typeface="Times New Roman"/>
              </a:rPr>
              <a:t>está</a:t>
            </a:r>
            <a:r>
              <a:rPr sz="1995" b="1" spc="9" dirty="0">
                <a:latin typeface="Times New Roman"/>
                <a:cs typeface="Times New Roman"/>
              </a:rPr>
              <a:t> </a:t>
            </a:r>
            <a:r>
              <a:rPr sz="1995" b="1" spc="-5" dirty="0">
                <a:latin typeface="Times New Roman"/>
                <a:cs typeface="Times New Roman"/>
              </a:rPr>
              <a:t>sobreajustado.</a:t>
            </a:r>
            <a:r>
              <a:rPr sz="1995" b="1" spc="5" dirty="0">
                <a:latin typeface="Times New Roman"/>
                <a:cs typeface="Times New Roman"/>
              </a:rPr>
              <a:t> </a:t>
            </a:r>
            <a:r>
              <a:rPr sz="1995" b="1" spc="-5" dirty="0">
                <a:latin typeface="Times New Roman"/>
                <a:cs typeface="Times New Roman"/>
              </a:rPr>
              <a:t>La</a:t>
            </a:r>
            <a:r>
              <a:rPr sz="1995" b="1" spc="9" dirty="0">
                <a:latin typeface="Times New Roman"/>
                <a:cs typeface="Times New Roman"/>
              </a:rPr>
              <a:t> </a:t>
            </a:r>
            <a:r>
              <a:rPr lang="es-ES" sz="1995" b="1" spc="9" dirty="0">
                <a:latin typeface="Times New Roman"/>
                <a:cs typeface="Times New Roman"/>
              </a:rPr>
              <a:t>	  	  </a:t>
            </a:r>
            <a:r>
              <a:rPr sz="1995" b="1" spc="-5" dirty="0" err="1">
                <a:latin typeface="Times New Roman"/>
                <a:cs typeface="Times New Roman"/>
              </a:rPr>
              <a:t>predicción</a:t>
            </a:r>
            <a:r>
              <a:rPr lang="es-ES" sz="1995" dirty="0">
                <a:latin typeface="Times New Roman"/>
                <a:cs typeface="Times New Roman"/>
              </a:rPr>
              <a:t> </a:t>
            </a:r>
            <a:r>
              <a:rPr sz="1995" b="1" spc="-5" dirty="0">
                <a:latin typeface="Times New Roman"/>
                <a:cs typeface="Times New Roman"/>
              </a:rPr>
              <a:t>para</a:t>
            </a:r>
            <a:r>
              <a:rPr sz="1995" b="1" spc="-9" dirty="0">
                <a:latin typeface="Times New Roman"/>
                <a:cs typeface="Times New Roman"/>
              </a:rPr>
              <a:t> </a:t>
            </a:r>
            <a:r>
              <a:rPr sz="1995" b="1" spc="-5" dirty="0">
                <a:latin typeface="Times New Roman"/>
                <a:cs typeface="Times New Roman"/>
              </a:rPr>
              <a:t>nuevos</a:t>
            </a:r>
            <a:r>
              <a:rPr sz="1995" b="1" spc="-14" dirty="0">
                <a:latin typeface="Times New Roman"/>
                <a:cs typeface="Times New Roman"/>
              </a:rPr>
              <a:t> </a:t>
            </a:r>
            <a:r>
              <a:rPr sz="1995" b="1" spc="-5" dirty="0">
                <a:latin typeface="Times New Roman"/>
                <a:cs typeface="Times New Roman"/>
              </a:rPr>
              <a:t>datos</a:t>
            </a:r>
            <a:r>
              <a:rPr sz="1995" b="1" spc="-9" dirty="0">
                <a:latin typeface="Times New Roman"/>
                <a:cs typeface="Times New Roman"/>
              </a:rPr>
              <a:t> será</a:t>
            </a:r>
            <a:r>
              <a:rPr sz="1995" b="1" spc="5" dirty="0">
                <a:latin typeface="Times New Roman"/>
                <a:cs typeface="Times New Roman"/>
              </a:rPr>
              <a:t> </a:t>
            </a:r>
            <a:r>
              <a:rPr sz="1995" b="1" spc="-5" dirty="0">
                <a:latin typeface="Times New Roman"/>
                <a:cs typeface="Times New Roman"/>
              </a:rPr>
              <a:t>muy</a:t>
            </a:r>
            <a:r>
              <a:rPr sz="1995" b="1" dirty="0">
                <a:latin typeface="Times New Roman"/>
                <a:cs typeface="Times New Roman"/>
              </a:rPr>
              <a:t> </a:t>
            </a:r>
            <a:r>
              <a:rPr sz="1995" b="1" spc="-9" dirty="0">
                <a:latin typeface="Times New Roman"/>
                <a:cs typeface="Times New Roman"/>
              </a:rPr>
              <a:t>pobre.</a:t>
            </a:r>
            <a:endParaRPr sz="1995" dirty="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48810" y="276017"/>
            <a:ext cx="4527432" cy="3351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81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57401" y="2197749"/>
            <a:ext cx="7739003" cy="1636726"/>
          </a:xfrm>
          <a:prstGeom prst="rect">
            <a:avLst/>
          </a:prstGeom>
        </p:spPr>
        <p:txBody>
          <a:bodyPr vert="horz" wrap="square" lIns="0" tIns="33397" rIns="0" bIns="0" rtlCol="0" anchor="ctr">
            <a:spAutoFit/>
          </a:bodyPr>
          <a:lstStyle/>
          <a:p>
            <a:pPr marL="11516" marR="4607" algn="just">
              <a:lnSpc>
                <a:spcPts val="2503"/>
              </a:lnSpc>
              <a:spcBef>
                <a:spcPts val="263"/>
              </a:spcBef>
            </a:pPr>
            <a:r>
              <a:rPr b="1" u="sng" spc="-5" dirty="0">
                <a:solidFill>
                  <a:srgbClr val="365F91"/>
                </a:solidFill>
                <a:uFill>
                  <a:solidFill>
                    <a:srgbClr val="365F91"/>
                  </a:solidFill>
                </a:uFill>
              </a:rPr>
              <a:t>Definición</a:t>
            </a:r>
            <a:r>
              <a:rPr b="1" u="sng" spc="9" dirty="0">
                <a:solidFill>
                  <a:srgbClr val="365F91"/>
                </a:solidFill>
                <a:uFill>
                  <a:solidFill>
                    <a:srgbClr val="365F91"/>
                  </a:solidFill>
                </a:uFill>
              </a:rPr>
              <a:t> </a:t>
            </a:r>
            <a:r>
              <a:rPr b="1" u="sng" dirty="0">
                <a:solidFill>
                  <a:srgbClr val="365F91"/>
                </a:solidFill>
                <a:uFill>
                  <a:solidFill>
                    <a:srgbClr val="365F91"/>
                  </a:solidFill>
                </a:uFill>
                <a:latin typeface="Times New Roman"/>
                <a:cs typeface="Times New Roman"/>
              </a:rPr>
              <a:t>2</a:t>
            </a:r>
            <a:r>
              <a:rPr b="1" dirty="0">
                <a:solidFill>
                  <a:srgbClr val="5F4879"/>
                </a:solidFill>
                <a:latin typeface="Times New Roman"/>
                <a:cs typeface="Times New Roman"/>
              </a:rPr>
              <a:t>:</a:t>
            </a:r>
            <a:r>
              <a:rPr b="1" spc="14" dirty="0">
                <a:solidFill>
                  <a:srgbClr val="5F4879"/>
                </a:solidFill>
              </a:rPr>
              <a:t> </a:t>
            </a:r>
            <a:r>
              <a:rPr spc="-5" dirty="0"/>
              <a:t>Capacidad</a:t>
            </a:r>
            <a:r>
              <a:rPr spc="14" dirty="0"/>
              <a:t> </a:t>
            </a:r>
            <a:r>
              <a:rPr dirty="0"/>
              <a:t>de</a:t>
            </a:r>
            <a:r>
              <a:rPr spc="18" dirty="0"/>
              <a:t> </a:t>
            </a:r>
            <a:r>
              <a:rPr spc="-5" dirty="0"/>
              <a:t>generalización,</a:t>
            </a:r>
            <a:r>
              <a:rPr spc="14" dirty="0"/>
              <a:t> </a:t>
            </a:r>
            <a:r>
              <a:rPr spc="-5" dirty="0" err="1"/>
              <a:t>eficacia</a:t>
            </a:r>
            <a:r>
              <a:rPr spc="18" dirty="0"/>
              <a:t> </a:t>
            </a:r>
            <a:r>
              <a:rPr spc="-5" dirty="0" err="1"/>
              <a:t>predictiva</a:t>
            </a:r>
            <a:r>
              <a:rPr lang="es-ES" spc="-5" dirty="0">
                <a:solidFill>
                  <a:schemeClr val="tx1"/>
                </a:solidFill>
              </a:rPr>
              <a:t>: capacidad </a:t>
            </a:r>
            <a:r>
              <a:rPr dirty="0" smtClean="0">
                <a:solidFill>
                  <a:schemeClr val="tx1"/>
                </a:solidFill>
              </a:rPr>
              <a:t>de</a:t>
            </a:r>
            <a:r>
              <a:rPr spc="14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un </a:t>
            </a:r>
            <a:r>
              <a:rPr spc="-530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modelo de predecir bien nuevos </a:t>
            </a:r>
            <a:r>
              <a:rPr spc="-5" dirty="0">
                <a:solidFill>
                  <a:schemeClr val="tx1"/>
                </a:solidFill>
              </a:rPr>
              <a:t>datos tomados </a:t>
            </a:r>
            <a:r>
              <a:rPr spc="5" dirty="0">
                <a:solidFill>
                  <a:schemeClr val="tx1"/>
                </a:solidFill>
              </a:rPr>
              <a:t>de </a:t>
            </a:r>
            <a:r>
              <a:rPr dirty="0">
                <a:solidFill>
                  <a:schemeClr val="tx1"/>
                </a:solidFill>
              </a:rPr>
              <a:t>la </a:t>
            </a:r>
            <a:r>
              <a:rPr spc="-5" dirty="0">
                <a:solidFill>
                  <a:schemeClr val="tx1"/>
                </a:solidFill>
              </a:rPr>
              <a:t>misma </a:t>
            </a:r>
            <a:r>
              <a:rPr dirty="0">
                <a:solidFill>
                  <a:schemeClr val="tx1"/>
                </a:solidFill>
              </a:rPr>
              <a:t>población </a:t>
            </a:r>
            <a:r>
              <a:rPr spc="-5" dirty="0">
                <a:solidFill>
                  <a:schemeClr val="tx1"/>
                </a:solidFill>
              </a:rPr>
              <a:t>que </a:t>
            </a:r>
            <a:r>
              <a:rPr dirty="0">
                <a:solidFill>
                  <a:schemeClr val="tx1"/>
                </a:solidFill>
              </a:rPr>
              <a:t>los </a:t>
            </a:r>
            <a:r>
              <a:rPr spc="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datos </a:t>
            </a:r>
            <a:r>
              <a:rPr spc="-5" dirty="0">
                <a:solidFill>
                  <a:schemeClr val="tx1"/>
                </a:solidFill>
              </a:rPr>
              <a:t>training.</a:t>
            </a:r>
            <a:r>
              <a:rPr spc="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Estos</a:t>
            </a:r>
            <a:r>
              <a:rPr spc="9" dirty="0">
                <a:solidFill>
                  <a:schemeClr val="tx1"/>
                </a:solidFill>
              </a:rPr>
              <a:t> </a:t>
            </a:r>
            <a:r>
              <a:rPr spc="-5" dirty="0">
                <a:solidFill>
                  <a:schemeClr val="tx1"/>
                </a:solidFill>
              </a:rPr>
              <a:t>conceptos</a:t>
            </a:r>
            <a:r>
              <a:rPr dirty="0">
                <a:solidFill>
                  <a:schemeClr val="tx1"/>
                </a:solidFill>
              </a:rPr>
              <a:t> deben</a:t>
            </a:r>
            <a:r>
              <a:rPr spc="5" dirty="0">
                <a:solidFill>
                  <a:schemeClr val="tx1"/>
                </a:solidFill>
              </a:rPr>
              <a:t> </a:t>
            </a:r>
            <a:r>
              <a:rPr spc="-5" dirty="0">
                <a:solidFill>
                  <a:schemeClr val="tx1"/>
                </a:solidFill>
              </a:rPr>
              <a:t>tenerse</a:t>
            </a:r>
            <a:r>
              <a:rPr spc="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en</a:t>
            </a:r>
            <a:r>
              <a:rPr spc="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cuenta </a:t>
            </a:r>
            <a:r>
              <a:rPr spc="-5" dirty="0">
                <a:solidFill>
                  <a:schemeClr val="tx1"/>
                </a:solidFill>
              </a:rPr>
              <a:t>paralelamente</a:t>
            </a:r>
            <a:r>
              <a:rPr spc="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o</a:t>
            </a:r>
            <a:r>
              <a:rPr spc="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por </a:t>
            </a:r>
            <a:r>
              <a:rPr spc="5" dirty="0">
                <a:solidFill>
                  <a:schemeClr val="tx1"/>
                </a:solidFill>
              </a:rPr>
              <a:t> </a:t>
            </a:r>
            <a:r>
              <a:rPr spc="-5" dirty="0">
                <a:solidFill>
                  <a:schemeClr val="tx1"/>
                </a:solidFill>
              </a:rPr>
              <a:t>encima, </a:t>
            </a:r>
            <a:r>
              <a:rPr dirty="0">
                <a:solidFill>
                  <a:schemeClr val="tx1"/>
                </a:solidFill>
              </a:rPr>
              <a:t>de los clásicos conceptos de</a:t>
            </a:r>
            <a:r>
              <a:rPr spc="-9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ajuste.</a:t>
            </a:r>
          </a:p>
        </p:txBody>
      </p:sp>
    </p:spTree>
    <p:extLst>
      <p:ext uri="{BB962C8B-B14F-4D97-AF65-F5344CB8AC3E}">
        <p14:creationId xmlns:p14="http://schemas.microsoft.com/office/powerpoint/2010/main" val="1715638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73713" y="670078"/>
            <a:ext cx="8265071" cy="674924"/>
          </a:xfrm>
          <a:prstGeom prst="rect">
            <a:avLst/>
          </a:prstGeom>
        </p:spPr>
        <p:txBody>
          <a:bodyPr vert="horz" wrap="square" lIns="0" tIns="33397" rIns="0" bIns="0" rtlCol="0" anchor="ctr">
            <a:spAutoFit/>
          </a:bodyPr>
          <a:lstStyle/>
          <a:p>
            <a:pPr marL="11516" marR="4607">
              <a:lnSpc>
                <a:spcPts val="2503"/>
              </a:lnSpc>
              <a:spcBef>
                <a:spcPts val="263"/>
              </a:spcBef>
            </a:pPr>
            <a:r>
              <a:rPr sz="2539" b="1" dirty="0">
                <a:latin typeface="Times New Roman"/>
                <a:cs typeface="Times New Roman"/>
              </a:rPr>
              <a:t>Métodos</a:t>
            </a:r>
            <a:r>
              <a:rPr sz="2539" b="1" spc="-5" dirty="0">
                <a:latin typeface="Times New Roman"/>
                <a:cs typeface="Times New Roman"/>
              </a:rPr>
              <a:t> más</a:t>
            </a:r>
            <a:r>
              <a:rPr sz="2539" b="1" dirty="0">
                <a:latin typeface="Times New Roman"/>
                <a:cs typeface="Times New Roman"/>
              </a:rPr>
              <a:t> </a:t>
            </a:r>
            <a:r>
              <a:rPr sz="2539" b="1" spc="-5" dirty="0">
                <a:latin typeface="Times New Roman"/>
                <a:cs typeface="Times New Roman"/>
              </a:rPr>
              <a:t>habituales</a:t>
            </a:r>
            <a:r>
              <a:rPr sz="2539" b="1" dirty="0">
                <a:latin typeface="Times New Roman"/>
                <a:cs typeface="Times New Roman"/>
              </a:rPr>
              <a:t> </a:t>
            </a:r>
            <a:r>
              <a:rPr sz="2539" b="1" spc="-5" dirty="0">
                <a:latin typeface="Times New Roman"/>
                <a:cs typeface="Times New Roman"/>
              </a:rPr>
              <a:t>para</a:t>
            </a:r>
            <a:r>
              <a:rPr sz="2539" b="1" spc="14" dirty="0">
                <a:latin typeface="Times New Roman"/>
                <a:cs typeface="Times New Roman"/>
              </a:rPr>
              <a:t> </a:t>
            </a:r>
            <a:r>
              <a:rPr sz="2539" b="1" dirty="0">
                <a:latin typeface="Times New Roman"/>
                <a:cs typeface="Times New Roman"/>
              </a:rPr>
              <a:t>medir o </a:t>
            </a:r>
            <a:r>
              <a:rPr sz="2539" b="1" spc="-5" dirty="0">
                <a:latin typeface="Times New Roman"/>
                <a:cs typeface="Times New Roman"/>
              </a:rPr>
              <a:t>comparar</a:t>
            </a:r>
            <a:r>
              <a:rPr sz="2539" b="1" dirty="0">
                <a:latin typeface="Times New Roman"/>
                <a:cs typeface="Times New Roman"/>
              </a:rPr>
              <a:t> la </a:t>
            </a:r>
            <a:r>
              <a:rPr sz="2539" b="1" spc="-5" dirty="0">
                <a:latin typeface="Times New Roman"/>
                <a:cs typeface="Times New Roman"/>
              </a:rPr>
              <a:t>capacidad</a:t>
            </a:r>
            <a:r>
              <a:rPr sz="2539" b="1" dirty="0">
                <a:latin typeface="Times New Roman"/>
                <a:cs typeface="Times New Roman"/>
              </a:rPr>
              <a:t> </a:t>
            </a:r>
            <a:r>
              <a:rPr sz="2539" b="1" spc="-5" dirty="0">
                <a:latin typeface="Times New Roman"/>
                <a:cs typeface="Times New Roman"/>
              </a:rPr>
              <a:t>predictiva</a:t>
            </a:r>
            <a:r>
              <a:rPr sz="2539" b="1" spc="9" dirty="0">
                <a:latin typeface="Times New Roman"/>
                <a:cs typeface="Times New Roman"/>
              </a:rPr>
              <a:t> </a:t>
            </a:r>
            <a:r>
              <a:rPr sz="2539" b="1" spc="-5" dirty="0">
                <a:latin typeface="Times New Roman"/>
                <a:cs typeface="Times New Roman"/>
              </a:rPr>
              <a:t>de </a:t>
            </a:r>
            <a:r>
              <a:rPr sz="2539" b="1" spc="-530" dirty="0">
                <a:latin typeface="Times New Roman"/>
                <a:cs typeface="Times New Roman"/>
              </a:rPr>
              <a:t> </a:t>
            </a:r>
            <a:r>
              <a:rPr sz="2539" b="1" spc="-5" dirty="0">
                <a:latin typeface="Times New Roman"/>
                <a:cs typeface="Times New Roman"/>
              </a:rPr>
              <a:t>uno</a:t>
            </a:r>
            <a:r>
              <a:rPr sz="2539" b="1" spc="-9" dirty="0">
                <a:latin typeface="Times New Roman"/>
                <a:cs typeface="Times New Roman"/>
              </a:rPr>
              <a:t> </a:t>
            </a:r>
            <a:r>
              <a:rPr sz="2539" b="1" dirty="0">
                <a:latin typeface="Times New Roman"/>
                <a:cs typeface="Times New Roman"/>
              </a:rPr>
              <a:t>o </a:t>
            </a:r>
            <a:r>
              <a:rPr sz="2539" b="1" dirty="0" err="1">
                <a:latin typeface="Times New Roman"/>
                <a:cs typeface="Times New Roman"/>
              </a:rPr>
              <a:t>varios</a:t>
            </a:r>
            <a:r>
              <a:rPr sz="2539" b="1" dirty="0">
                <a:latin typeface="Times New Roman"/>
                <a:cs typeface="Times New Roman"/>
              </a:rPr>
              <a:t> </a:t>
            </a:r>
            <a:r>
              <a:rPr sz="2539" b="1" dirty="0" err="1">
                <a:latin typeface="Times New Roman"/>
                <a:cs typeface="Times New Roman"/>
              </a:rPr>
              <a:t>modelos</a:t>
            </a:r>
            <a:r>
              <a:rPr lang="es-ES" sz="2539" b="1" dirty="0">
                <a:latin typeface="Times New Roman"/>
                <a:cs typeface="Times New Roman"/>
              </a:rPr>
              <a:t> DISTINTOS</a:t>
            </a:r>
            <a:endParaRPr sz="2539" b="1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42812" y="1425151"/>
            <a:ext cx="8823269" cy="5081423"/>
          </a:xfrm>
          <a:prstGeom prst="rect">
            <a:avLst/>
          </a:prstGeom>
        </p:spPr>
        <p:txBody>
          <a:bodyPr vert="horz" wrap="square" lIns="0" tIns="156623" rIns="0" bIns="0" rtlCol="0">
            <a:spAutoFit/>
          </a:bodyPr>
          <a:lstStyle/>
          <a:p>
            <a:pPr marL="11516" algn="just">
              <a:spcBef>
                <a:spcPts val="1233"/>
              </a:spcBef>
            </a:pPr>
            <a:r>
              <a:rPr sz="2176" b="1" spc="-5" dirty="0">
                <a:solidFill>
                  <a:srgbClr val="538DD3"/>
                </a:solidFill>
                <a:latin typeface="Times New Roman"/>
                <a:cs typeface="Times New Roman"/>
              </a:rPr>
              <a:t>TRAINING,</a:t>
            </a:r>
            <a:r>
              <a:rPr sz="2176" b="1" spc="-14" dirty="0">
                <a:solidFill>
                  <a:srgbClr val="538DD3"/>
                </a:solidFill>
                <a:latin typeface="Times New Roman"/>
                <a:cs typeface="Times New Roman"/>
              </a:rPr>
              <a:t> </a:t>
            </a:r>
            <a:r>
              <a:rPr sz="2176" b="1" spc="-5" dirty="0">
                <a:solidFill>
                  <a:srgbClr val="538DD3"/>
                </a:solidFill>
                <a:latin typeface="Times New Roman"/>
                <a:cs typeface="Times New Roman"/>
              </a:rPr>
              <a:t>VALIDATION,</a:t>
            </a:r>
            <a:r>
              <a:rPr sz="2176" b="1" spc="-18" dirty="0">
                <a:solidFill>
                  <a:srgbClr val="538DD3"/>
                </a:solidFill>
                <a:latin typeface="Times New Roman"/>
                <a:cs typeface="Times New Roman"/>
              </a:rPr>
              <a:t> </a:t>
            </a:r>
            <a:r>
              <a:rPr sz="2176" b="1" spc="-5" dirty="0">
                <a:solidFill>
                  <a:srgbClr val="538DD3"/>
                </a:solidFill>
                <a:latin typeface="Times New Roman"/>
                <a:cs typeface="Times New Roman"/>
              </a:rPr>
              <a:t>TEST</a:t>
            </a:r>
            <a:endParaRPr sz="2176" dirty="0">
              <a:latin typeface="Times New Roman"/>
              <a:cs typeface="Times New Roman"/>
            </a:endParaRPr>
          </a:p>
          <a:p>
            <a:pPr marL="11516" marR="265452" algn="just">
              <a:lnSpc>
                <a:spcPct val="96700"/>
              </a:lnSpc>
              <a:spcBef>
                <a:spcPts val="1206"/>
              </a:spcBef>
            </a:pPr>
            <a:r>
              <a:rPr sz="2176" spc="-5" dirty="0">
                <a:latin typeface="Times New Roman"/>
                <a:cs typeface="Times New Roman"/>
              </a:rPr>
              <a:t>Se</a:t>
            </a:r>
            <a:r>
              <a:rPr sz="2176" spc="5" dirty="0">
                <a:latin typeface="Times New Roman"/>
                <a:cs typeface="Times New Roman"/>
              </a:rPr>
              <a:t> </a:t>
            </a:r>
            <a:r>
              <a:rPr sz="2176" spc="-5" dirty="0">
                <a:latin typeface="Times New Roman"/>
                <a:cs typeface="Times New Roman"/>
              </a:rPr>
              <a:t>dividen</a:t>
            </a:r>
            <a:r>
              <a:rPr sz="2176" spc="14" dirty="0">
                <a:latin typeface="Times New Roman"/>
                <a:cs typeface="Times New Roman"/>
              </a:rPr>
              <a:t> </a:t>
            </a:r>
            <a:r>
              <a:rPr sz="2176" spc="-5" dirty="0">
                <a:latin typeface="Times New Roman"/>
                <a:cs typeface="Times New Roman"/>
              </a:rPr>
              <a:t>aleatoriamente </a:t>
            </a:r>
            <a:r>
              <a:rPr sz="2176" dirty="0">
                <a:latin typeface="Times New Roman"/>
                <a:cs typeface="Times New Roman"/>
              </a:rPr>
              <a:t>(o</a:t>
            </a:r>
            <a:r>
              <a:rPr sz="2176" spc="9" dirty="0">
                <a:latin typeface="Times New Roman"/>
                <a:cs typeface="Times New Roman"/>
              </a:rPr>
              <a:t> </a:t>
            </a:r>
            <a:r>
              <a:rPr sz="2176" spc="-9" dirty="0">
                <a:latin typeface="Times New Roman"/>
                <a:cs typeface="Times New Roman"/>
              </a:rPr>
              <a:t>por</a:t>
            </a:r>
            <a:r>
              <a:rPr sz="2176" spc="9" dirty="0">
                <a:latin typeface="Times New Roman"/>
                <a:cs typeface="Times New Roman"/>
              </a:rPr>
              <a:t> </a:t>
            </a:r>
            <a:r>
              <a:rPr sz="2176" spc="-5" dirty="0">
                <a:latin typeface="Times New Roman"/>
                <a:cs typeface="Times New Roman"/>
              </a:rPr>
              <a:t>procedimientos</a:t>
            </a:r>
            <a:r>
              <a:rPr sz="2176" spc="5" dirty="0">
                <a:latin typeface="Times New Roman"/>
                <a:cs typeface="Times New Roman"/>
              </a:rPr>
              <a:t> </a:t>
            </a:r>
            <a:r>
              <a:rPr sz="2176" spc="-5" dirty="0">
                <a:latin typeface="Times New Roman"/>
                <a:cs typeface="Times New Roman"/>
              </a:rPr>
              <a:t>de</a:t>
            </a:r>
            <a:r>
              <a:rPr sz="2176" spc="5" dirty="0">
                <a:latin typeface="Times New Roman"/>
                <a:cs typeface="Times New Roman"/>
              </a:rPr>
              <a:t> </a:t>
            </a:r>
            <a:r>
              <a:rPr sz="2176" dirty="0">
                <a:latin typeface="Times New Roman"/>
                <a:cs typeface="Times New Roman"/>
              </a:rPr>
              <a:t>muestreo)</a:t>
            </a:r>
            <a:r>
              <a:rPr sz="2176" spc="18" dirty="0">
                <a:latin typeface="Times New Roman"/>
                <a:cs typeface="Times New Roman"/>
              </a:rPr>
              <a:t> </a:t>
            </a:r>
            <a:r>
              <a:rPr sz="2176" dirty="0">
                <a:latin typeface="Times New Roman"/>
                <a:cs typeface="Times New Roman"/>
              </a:rPr>
              <a:t>los</a:t>
            </a:r>
            <a:r>
              <a:rPr sz="2176" spc="5" dirty="0">
                <a:latin typeface="Times New Roman"/>
                <a:cs typeface="Times New Roman"/>
              </a:rPr>
              <a:t> </a:t>
            </a:r>
            <a:r>
              <a:rPr sz="2176" spc="-5" dirty="0">
                <a:latin typeface="Times New Roman"/>
                <a:cs typeface="Times New Roman"/>
              </a:rPr>
              <a:t>datos</a:t>
            </a:r>
            <a:r>
              <a:rPr sz="2176" dirty="0">
                <a:latin typeface="Times New Roman"/>
                <a:cs typeface="Times New Roman"/>
              </a:rPr>
              <a:t> en </a:t>
            </a:r>
            <a:r>
              <a:rPr sz="2176" spc="-5" dirty="0">
                <a:latin typeface="Times New Roman"/>
                <a:cs typeface="Times New Roman"/>
              </a:rPr>
              <a:t>tres</a:t>
            </a:r>
            <a:r>
              <a:rPr sz="2176" dirty="0">
                <a:latin typeface="Times New Roman"/>
                <a:cs typeface="Times New Roman"/>
              </a:rPr>
              <a:t> </a:t>
            </a:r>
            <a:r>
              <a:rPr sz="2176" spc="-5" dirty="0">
                <a:latin typeface="Times New Roman"/>
                <a:cs typeface="Times New Roman"/>
              </a:rPr>
              <a:t>grupos.</a:t>
            </a:r>
            <a:r>
              <a:rPr sz="2176" spc="23" dirty="0">
                <a:latin typeface="Times New Roman"/>
                <a:cs typeface="Times New Roman"/>
              </a:rPr>
              <a:t> </a:t>
            </a:r>
            <a:r>
              <a:rPr sz="2176" spc="-5" dirty="0">
                <a:solidFill>
                  <a:srgbClr val="FF0000"/>
                </a:solidFill>
                <a:latin typeface="Times New Roman"/>
                <a:cs typeface="Times New Roman"/>
              </a:rPr>
              <a:t>Se</a:t>
            </a:r>
            <a:r>
              <a:rPr sz="2176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176" spc="-5" dirty="0">
                <a:solidFill>
                  <a:srgbClr val="FF0000"/>
                </a:solidFill>
                <a:latin typeface="Times New Roman"/>
                <a:cs typeface="Times New Roman"/>
              </a:rPr>
              <a:t>necesitan </a:t>
            </a:r>
            <a:r>
              <a:rPr sz="2176" spc="-39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176" spc="-5" dirty="0" err="1">
                <a:solidFill>
                  <a:srgbClr val="FF0000"/>
                </a:solidFill>
                <a:latin typeface="Times New Roman"/>
                <a:cs typeface="Times New Roman"/>
              </a:rPr>
              <a:t>muchas</a:t>
            </a:r>
            <a:r>
              <a:rPr sz="2176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176" dirty="0" err="1">
                <a:solidFill>
                  <a:srgbClr val="FF0000"/>
                </a:solidFill>
                <a:latin typeface="Times New Roman"/>
                <a:cs typeface="Times New Roman"/>
              </a:rPr>
              <a:t>observaciones</a:t>
            </a:r>
            <a:r>
              <a:rPr lang="es-ES" sz="2176" dirty="0">
                <a:solidFill>
                  <a:srgbClr val="FF0000"/>
                </a:solidFill>
                <a:latin typeface="Times New Roman"/>
                <a:cs typeface="Times New Roman"/>
              </a:rPr>
              <a:t>. </a:t>
            </a:r>
            <a:r>
              <a:rPr sz="2176" spc="-5" dirty="0">
                <a:latin typeface="Times New Roman"/>
                <a:cs typeface="Times New Roman"/>
              </a:rPr>
              <a:t> </a:t>
            </a:r>
            <a:r>
              <a:rPr lang="es-ES" sz="2176" spc="-5" dirty="0">
                <a:latin typeface="Times New Roman"/>
                <a:cs typeface="Times New Roman"/>
              </a:rPr>
              <a:t>Dependiendo de la cantidad de observaciones, algunas particiones típicas son </a:t>
            </a:r>
            <a:r>
              <a:rPr sz="2176" spc="-5" dirty="0">
                <a:latin typeface="Times New Roman"/>
                <a:cs typeface="Times New Roman"/>
              </a:rPr>
              <a:t>(70,</a:t>
            </a:r>
            <a:r>
              <a:rPr sz="2176" spc="9" dirty="0">
                <a:latin typeface="Times New Roman"/>
                <a:cs typeface="Times New Roman"/>
              </a:rPr>
              <a:t> </a:t>
            </a:r>
            <a:r>
              <a:rPr sz="2176" spc="-5" dirty="0">
                <a:latin typeface="Times New Roman"/>
                <a:cs typeface="Times New Roman"/>
              </a:rPr>
              <a:t>20,</a:t>
            </a:r>
            <a:r>
              <a:rPr lang="es-ES" sz="2176" spc="-5" dirty="0">
                <a:latin typeface="Times New Roman"/>
                <a:cs typeface="Times New Roman"/>
              </a:rPr>
              <a:t> </a:t>
            </a:r>
            <a:r>
              <a:rPr sz="2176" spc="-5" dirty="0">
                <a:latin typeface="Times New Roman"/>
                <a:cs typeface="Times New Roman"/>
              </a:rPr>
              <a:t>10)</a:t>
            </a:r>
            <a:r>
              <a:rPr lang="es-ES" sz="2176" spc="-5" dirty="0">
                <a:latin typeface="Times New Roman"/>
                <a:cs typeface="Times New Roman"/>
              </a:rPr>
              <a:t>,</a:t>
            </a:r>
            <a:r>
              <a:rPr sz="2176" spc="-14" dirty="0">
                <a:latin typeface="Times New Roman"/>
                <a:cs typeface="Times New Roman"/>
              </a:rPr>
              <a:t> </a:t>
            </a:r>
            <a:r>
              <a:rPr sz="2176" dirty="0">
                <a:latin typeface="Times New Roman"/>
                <a:cs typeface="Times New Roman"/>
              </a:rPr>
              <a:t>(60,</a:t>
            </a:r>
            <a:r>
              <a:rPr sz="2176" spc="9" dirty="0">
                <a:latin typeface="Times New Roman"/>
                <a:cs typeface="Times New Roman"/>
              </a:rPr>
              <a:t> </a:t>
            </a:r>
            <a:r>
              <a:rPr sz="2176" spc="-5" dirty="0">
                <a:latin typeface="Times New Roman"/>
                <a:cs typeface="Times New Roman"/>
              </a:rPr>
              <a:t>20,20)</a:t>
            </a:r>
            <a:r>
              <a:rPr lang="es-ES" sz="2176" spc="-5" dirty="0">
                <a:latin typeface="Times New Roman"/>
                <a:cs typeface="Times New Roman"/>
              </a:rPr>
              <a:t>, (80, 10, 10), donde cada porcentaje se reserva a los datos:</a:t>
            </a:r>
            <a:r>
              <a:rPr sz="2176" spc="23" dirty="0">
                <a:latin typeface="Times New Roman"/>
                <a:cs typeface="Times New Roman"/>
              </a:rPr>
              <a:t> </a:t>
            </a:r>
            <a:endParaRPr sz="2176" dirty="0">
              <a:latin typeface="Times New Roman"/>
              <a:cs typeface="Times New Roman"/>
            </a:endParaRPr>
          </a:p>
          <a:p>
            <a:pPr marL="270634" indent="-259118" algn="just">
              <a:lnSpc>
                <a:spcPts val="1922"/>
              </a:lnSpc>
              <a:spcBef>
                <a:spcPts val="1134"/>
              </a:spcBef>
              <a:buFont typeface="Arial" panose="020B0604020202020204" pitchFamily="34" charset="0"/>
              <a:buChar char="•"/>
            </a:pPr>
            <a:r>
              <a:rPr sz="2176" b="1" spc="-5" dirty="0" err="1">
                <a:latin typeface="Times New Roman"/>
                <a:cs typeface="Times New Roman"/>
              </a:rPr>
              <a:t>Datos</a:t>
            </a:r>
            <a:r>
              <a:rPr sz="2176" b="1" spc="5" dirty="0">
                <a:latin typeface="Times New Roman"/>
                <a:cs typeface="Times New Roman"/>
              </a:rPr>
              <a:t> </a:t>
            </a:r>
            <a:r>
              <a:rPr sz="2176" b="1" spc="-5" dirty="0">
                <a:latin typeface="Times New Roman"/>
                <a:cs typeface="Times New Roman"/>
              </a:rPr>
              <a:t>Training</a:t>
            </a:r>
            <a:r>
              <a:rPr lang="es-ES" sz="2176" spc="-5" dirty="0">
                <a:latin typeface="Times New Roman"/>
                <a:cs typeface="Times New Roman"/>
              </a:rPr>
              <a:t>:</a:t>
            </a:r>
            <a:r>
              <a:rPr sz="2176" spc="14" dirty="0">
                <a:latin typeface="Times New Roman"/>
                <a:cs typeface="Times New Roman"/>
              </a:rPr>
              <a:t> </a:t>
            </a:r>
            <a:r>
              <a:rPr lang="es-ES" sz="2176" spc="-5" dirty="0">
                <a:latin typeface="Times New Roman"/>
                <a:cs typeface="Times New Roman"/>
              </a:rPr>
              <a:t>s</a:t>
            </a:r>
            <a:r>
              <a:rPr sz="2176" spc="-5" dirty="0">
                <a:latin typeface="Times New Roman"/>
                <a:cs typeface="Times New Roman"/>
              </a:rPr>
              <a:t>e</a:t>
            </a:r>
            <a:r>
              <a:rPr sz="2176" spc="5" dirty="0">
                <a:latin typeface="Times New Roman"/>
                <a:cs typeface="Times New Roman"/>
              </a:rPr>
              <a:t> </a:t>
            </a:r>
            <a:r>
              <a:rPr sz="2176" spc="-5" dirty="0">
                <a:latin typeface="Times New Roman"/>
                <a:cs typeface="Times New Roman"/>
              </a:rPr>
              <a:t>utilizan</a:t>
            </a:r>
            <a:r>
              <a:rPr sz="2176" spc="5" dirty="0">
                <a:latin typeface="Times New Roman"/>
                <a:cs typeface="Times New Roman"/>
              </a:rPr>
              <a:t> </a:t>
            </a:r>
            <a:r>
              <a:rPr sz="2176" spc="-5" dirty="0">
                <a:latin typeface="Times New Roman"/>
                <a:cs typeface="Times New Roman"/>
              </a:rPr>
              <a:t>para</a:t>
            </a:r>
            <a:r>
              <a:rPr sz="2176" spc="14" dirty="0">
                <a:latin typeface="Times New Roman"/>
                <a:cs typeface="Times New Roman"/>
              </a:rPr>
              <a:t> </a:t>
            </a:r>
            <a:r>
              <a:rPr sz="2176" spc="-5" dirty="0">
                <a:latin typeface="Times New Roman"/>
                <a:cs typeface="Times New Roman"/>
              </a:rPr>
              <a:t>estimar</a:t>
            </a:r>
            <a:r>
              <a:rPr sz="2176" spc="9" dirty="0">
                <a:latin typeface="Times New Roman"/>
                <a:cs typeface="Times New Roman"/>
              </a:rPr>
              <a:t> </a:t>
            </a:r>
            <a:r>
              <a:rPr sz="2176" dirty="0">
                <a:latin typeface="Times New Roman"/>
                <a:cs typeface="Times New Roman"/>
              </a:rPr>
              <a:t>los</a:t>
            </a:r>
            <a:r>
              <a:rPr sz="2176" spc="9" dirty="0">
                <a:latin typeface="Times New Roman"/>
                <a:cs typeface="Times New Roman"/>
              </a:rPr>
              <a:t> </a:t>
            </a:r>
            <a:r>
              <a:rPr sz="2176" spc="-5" dirty="0">
                <a:latin typeface="Times New Roman"/>
                <a:cs typeface="Times New Roman"/>
              </a:rPr>
              <a:t>posibles</a:t>
            </a:r>
            <a:r>
              <a:rPr sz="2176" spc="9" dirty="0">
                <a:latin typeface="Times New Roman"/>
                <a:cs typeface="Times New Roman"/>
              </a:rPr>
              <a:t> </a:t>
            </a:r>
            <a:r>
              <a:rPr sz="2176" spc="-5" dirty="0">
                <a:latin typeface="Times New Roman"/>
                <a:cs typeface="Times New Roman"/>
              </a:rPr>
              <a:t>modelos</a:t>
            </a:r>
            <a:endParaRPr sz="2176" dirty="0">
              <a:latin typeface="Times New Roman"/>
              <a:cs typeface="Times New Roman"/>
            </a:endParaRPr>
          </a:p>
          <a:p>
            <a:pPr marL="270634" marR="4607" indent="-259118" algn="just">
              <a:lnSpc>
                <a:spcPct val="95700"/>
              </a:lnSpc>
              <a:spcBef>
                <a:spcPts val="45"/>
              </a:spcBef>
              <a:buFont typeface="Arial" panose="020B0604020202020204" pitchFamily="34" charset="0"/>
              <a:buChar char="•"/>
            </a:pPr>
            <a:r>
              <a:rPr sz="2176" b="1" spc="-5" dirty="0" err="1">
                <a:latin typeface="Times New Roman"/>
                <a:cs typeface="Times New Roman"/>
              </a:rPr>
              <a:t>Datos</a:t>
            </a:r>
            <a:r>
              <a:rPr sz="2176" b="1" dirty="0">
                <a:latin typeface="Times New Roman"/>
                <a:cs typeface="Times New Roman"/>
              </a:rPr>
              <a:t> </a:t>
            </a:r>
            <a:r>
              <a:rPr sz="2176" b="1" spc="-5" dirty="0">
                <a:latin typeface="Times New Roman"/>
                <a:cs typeface="Times New Roman"/>
              </a:rPr>
              <a:t>Validation</a:t>
            </a:r>
            <a:r>
              <a:rPr lang="es-ES" sz="2176" spc="-5" dirty="0">
                <a:latin typeface="Times New Roman"/>
                <a:cs typeface="Times New Roman"/>
              </a:rPr>
              <a:t>: s</a:t>
            </a:r>
            <a:r>
              <a:rPr sz="2176" spc="-5" dirty="0">
                <a:latin typeface="Times New Roman"/>
                <a:cs typeface="Times New Roman"/>
              </a:rPr>
              <a:t>e </a:t>
            </a:r>
            <a:r>
              <a:rPr sz="2176" dirty="0">
                <a:latin typeface="Times New Roman"/>
                <a:cs typeface="Times New Roman"/>
              </a:rPr>
              <a:t>aplican</a:t>
            </a:r>
            <a:r>
              <a:rPr sz="2176" spc="-9" dirty="0">
                <a:latin typeface="Times New Roman"/>
                <a:cs typeface="Times New Roman"/>
              </a:rPr>
              <a:t> </a:t>
            </a:r>
            <a:r>
              <a:rPr sz="2176" spc="-5" dirty="0">
                <a:latin typeface="Times New Roman"/>
                <a:cs typeface="Times New Roman"/>
              </a:rPr>
              <a:t>los</a:t>
            </a:r>
            <a:r>
              <a:rPr sz="2176" dirty="0">
                <a:latin typeface="Times New Roman"/>
                <a:cs typeface="Times New Roman"/>
              </a:rPr>
              <a:t> </a:t>
            </a:r>
            <a:r>
              <a:rPr sz="2176" spc="-5" dirty="0">
                <a:latin typeface="Times New Roman"/>
                <a:cs typeface="Times New Roman"/>
              </a:rPr>
              <a:t>modelos</a:t>
            </a:r>
            <a:r>
              <a:rPr sz="2176" dirty="0">
                <a:latin typeface="Times New Roman"/>
                <a:cs typeface="Times New Roman"/>
              </a:rPr>
              <a:t> </a:t>
            </a:r>
            <a:r>
              <a:rPr sz="2176" spc="-5" dirty="0">
                <a:latin typeface="Times New Roman"/>
                <a:cs typeface="Times New Roman"/>
              </a:rPr>
              <a:t>sobre</a:t>
            </a:r>
            <a:r>
              <a:rPr sz="2176" dirty="0">
                <a:latin typeface="Times New Roman"/>
                <a:cs typeface="Times New Roman"/>
              </a:rPr>
              <a:t> esos</a:t>
            </a:r>
            <a:r>
              <a:rPr sz="2176" spc="-5" dirty="0">
                <a:latin typeface="Times New Roman"/>
                <a:cs typeface="Times New Roman"/>
              </a:rPr>
              <a:t> </a:t>
            </a:r>
            <a:r>
              <a:rPr sz="2176" dirty="0">
                <a:latin typeface="Times New Roman"/>
                <a:cs typeface="Times New Roman"/>
              </a:rPr>
              <a:t>datos</a:t>
            </a:r>
            <a:r>
              <a:rPr sz="2176" spc="-9" dirty="0">
                <a:latin typeface="Times New Roman"/>
                <a:cs typeface="Times New Roman"/>
              </a:rPr>
              <a:t> </a:t>
            </a:r>
            <a:r>
              <a:rPr sz="2176" dirty="0">
                <a:latin typeface="Times New Roman"/>
                <a:cs typeface="Times New Roman"/>
              </a:rPr>
              <a:t>y</a:t>
            </a:r>
            <a:r>
              <a:rPr sz="2176" spc="9" dirty="0">
                <a:latin typeface="Times New Roman"/>
                <a:cs typeface="Times New Roman"/>
              </a:rPr>
              <a:t> </a:t>
            </a:r>
            <a:r>
              <a:rPr sz="2176" spc="-9" dirty="0">
                <a:latin typeface="Times New Roman"/>
                <a:cs typeface="Times New Roman"/>
              </a:rPr>
              <a:t>se</a:t>
            </a:r>
            <a:r>
              <a:rPr sz="2176" spc="9" dirty="0">
                <a:latin typeface="Times New Roman"/>
                <a:cs typeface="Times New Roman"/>
              </a:rPr>
              <a:t> </a:t>
            </a:r>
            <a:r>
              <a:rPr sz="2176" spc="-5" dirty="0">
                <a:latin typeface="Times New Roman"/>
                <a:cs typeface="Times New Roman"/>
              </a:rPr>
              <a:t>observa</a:t>
            </a:r>
            <a:r>
              <a:rPr sz="2176" spc="5" dirty="0">
                <a:latin typeface="Times New Roman"/>
                <a:cs typeface="Times New Roman"/>
              </a:rPr>
              <a:t> </a:t>
            </a:r>
            <a:r>
              <a:rPr sz="2176" spc="-5" dirty="0">
                <a:latin typeface="Times New Roman"/>
                <a:cs typeface="Times New Roman"/>
              </a:rPr>
              <a:t>su</a:t>
            </a:r>
            <a:r>
              <a:rPr sz="2176" dirty="0">
                <a:latin typeface="Times New Roman"/>
                <a:cs typeface="Times New Roman"/>
              </a:rPr>
              <a:t> </a:t>
            </a:r>
            <a:r>
              <a:rPr sz="2176" spc="-5" dirty="0">
                <a:latin typeface="Times New Roman"/>
                <a:cs typeface="Times New Roman"/>
              </a:rPr>
              <a:t>performance.</a:t>
            </a:r>
            <a:r>
              <a:rPr sz="2176" dirty="0">
                <a:latin typeface="Times New Roman"/>
                <a:cs typeface="Times New Roman"/>
              </a:rPr>
              <a:t> </a:t>
            </a:r>
            <a:r>
              <a:rPr lang="es-ES" sz="2176" dirty="0">
                <a:latin typeface="Times New Roman"/>
                <a:cs typeface="Times New Roman"/>
              </a:rPr>
              <a:t>En algunos métodos como redes neuronales o </a:t>
            </a:r>
            <a:r>
              <a:rPr lang="es-ES" sz="2176" dirty="0" err="1">
                <a:latin typeface="Times New Roman"/>
                <a:cs typeface="Times New Roman"/>
              </a:rPr>
              <a:t>gradient</a:t>
            </a:r>
            <a:r>
              <a:rPr lang="es-ES" sz="2176" dirty="0">
                <a:latin typeface="Times New Roman"/>
                <a:cs typeface="Times New Roman"/>
              </a:rPr>
              <a:t> </a:t>
            </a:r>
            <a:r>
              <a:rPr lang="es-ES" sz="2176" dirty="0" err="1">
                <a:latin typeface="Times New Roman"/>
                <a:cs typeface="Times New Roman"/>
              </a:rPr>
              <a:t>boosting</a:t>
            </a:r>
            <a:r>
              <a:rPr lang="es-ES" sz="2176" dirty="0">
                <a:latin typeface="Times New Roman"/>
                <a:cs typeface="Times New Roman"/>
              </a:rPr>
              <a:t>,</a:t>
            </a:r>
            <a:r>
              <a:rPr sz="2176" dirty="0">
                <a:latin typeface="Times New Roman"/>
                <a:cs typeface="Times New Roman"/>
              </a:rPr>
              <a:t> </a:t>
            </a:r>
            <a:r>
              <a:rPr sz="2176" dirty="0" err="1">
                <a:latin typeface="Times New Roman"/>
                <a:cs typeface="Times New Roman"/>
              </a:rPr>
              <a:t>intervienen</a:t>
            </a:r>
            <a:r>
              <a:rPr sz="2176" spc="14" dirty="0">
                <a:latin typeface="Times New Roman"/>
                <a:cs typeface="Times New Roman"/>
              </a:rPr>
              <a:t> </a:t>
            </a:r>
            <a:r>
              <a:rPr lang="es-ES" sz="2176" spc="14" dirty="0">
                <a:latin typeface="Times New Roman"/>
                <a:cs typeface="Times New Roman"/>
              </a:rPr>
              <a:t>de alguna forma </a:t>
            </a:r>
            <a:r>
              <a:rPr sz="2176" dirty="0" err="1">
                <a:latin typeface="Times New Roman"/>
                <a:cs typeface="Times New Roman"/>
              </a:rPr>
              <a:t>en</a:t>
            </a:r>
            <a:r>
              <a:rPr sz="2176" spc="18" dirty="0">
                <a:latin typeface="Times New Roman"/>
                <a:cs typeface="Times New Roman"/>
              </a:rPr>
              <a:t> </a:t>
            </a:r>
            <a:r>
              <a:rPr sz="2176" spc="-5" dirty="0">
                <a:latin typeface="Times New Roman"/>
                <a:cs typeface="Times New Roman"/>
              </a:rPr>
              <a:t>el</a:t>
            </a:r>
            <a:r>
              <a:rPr sz="2176" spc="27" dirty="0">
                <a:latin typeface="Times New Roman"/>
                <a:cs typeface="Times New Roman"/>
              </a:rPr>
              <a:t> </a:t>
            </a:r>
            <a:r>
              <a:rPr sz="2176" spc="-5" dirty="0">
                <a:latin typeface="Times New Roman"/>
                <a:cs typeface="Times New Roman"/>
              </a:rPr>
              <a:t>proceso</a:t>
            </a:r>
            <a:r>
              <a:rPr sz="2176" spc="23" dirty="0">
                <a:latin typeface="Times New Roman"/>
                <a:cs typeface="Times New Roman"/>
              </a:rPr>
              <a:t> </a:t>
            </a:r>
            <a:r>
              <a:rPr sz="2176" dirty="0">
                <a:latin typeface="Times New Roman"/>
                <a:cs typeface="Times New Roman"/>
              </a:rPr>
              <a:t>de</a:t>
            </a:r>
            <a:r>
              <a:rPr sz="2176" spc="23" dirty="0">
                <a:latin typeface="Times New Roman"/>
                <a:cs typeface="Times New Roman"/>
              </a:rPr>
              <a:t> </a:t>
            </a:r>
            <a:r>
              <a:rPr sz="2176" spc="-5" dirty="0">
                <a:latin typeface="Times New Roman"/>
                <a:cs typeface="Times New Roman"/>
              </a:rPr>
              <a:t>construcción</a:t>
            </a:r>
            <a:r>
              <a:rPr sz="2176" spc="23" dirty="0">
                <a:latin typeface="Times New Roman"/>
                <a:cs typeface="Times New Roman"/>
              </a:rPr>
              <a:t> </a:t>
            </a:r>
            <a:r>
              <a:rPr sz="2176" dirty="0">
                <a:latin typeface="Times New Roman"/>
                <a:cs typeface="Times New Roman"/>
              </a:rPr>
              <a:t>de</a:t>
            </a:r>
            <a:r>
              <a:rPr sz="2176" spc="27" dirty="0">
                <a:latin typeface="Times New Roman"/>
                <a:cs typeface="Times New Roman"/>
              </a:rPr>
              <a:t> </a:t>
            </a:r>
            <a:r>
              <a:rPr sz="2176" spc="-5" dirty="0" err="1">
                <a:latin typeface="Times New Roman"/>
                <a:cs typeface="Times New Roman"/>
              </a:rPr>
              <a:t>modelos</a:t>
            </a:r>
            <a:r>
              <a:rPr sz="2176" spc="-5" dirty="0">
                <a:latin typeface="Times New Roman"/>
                <a:cs typeface="Times New Roman"/>
              </a:rPr>
              <a:t>.</a:t>
            </a:r>
            <a:endParaRPr lang="es-ES" sz="2176" spc="-5" dirty="0">
              <a:latin typeface="Times New Roman"/>
              <a:cs typeface="Times New Roman"/>
            </a:endParaRPr>
          </a:p>
          <a:p>
            <a:pPr marL="270634" marR="4607" indent="-259118" algn="just">
              <a:lnSpc>
                <a:spcPct val="95700"/>
              </a:lnSpc>
              <a:spcBef>
                <a:spcPts val="45"/>
              </a:spcBef>
              <a:buFont typeface="Arial" panose="020B0604020202020204" pitchFamily="34" charset="0"/>
              <a:buChar char="•"/>
            </a:pPr>
            <a:r>
              <a:rPr sz="2176" b="1" spc="-5" dirty="0" err="1">
                <a:latin typeface="Times New Roman"/>
                <a:cs typeface="Times New Roman"/>
              </a:rPr>
              <a:t>Datos</a:t>
            </a:r>
            <a:r>
              <a:rPr sz="2176" b="1" spc="9" dirty="0">
                <a:latin typeface="Times New Roman"/>
                <a:cs typeface="Times New Roman"/>
              </a:rPr>
              <a:t> </a:t>
            </a:r>
            <a:r>
              <a:rPr sz="2176" b="1" spc="-5" dirty="0">
                <a:latin typeface="Times New Roman"/>
                <a:cs typeface="Times New Roman"/>
              </a:rPr>
              <a:t>Test</a:t>
            </a:r>
            <a:r>
              <a:rPr lang="es-ES" sz="2176" spc="-5" dirty="0">
                <a:latin typeface="Times New Roman"/>
                <a:cs typeface="Times New Roman"/>
              </a:rPr>
              <a:t>: s</a:t>
            </a:r>
            <a:r>
              <a:rPr sz="2176" spc="-5" dirty="0">
                <a:latin typeface="Times New Roman"/>
                <a:cs typeface="Times New Roman"/>
              </a:rPr>
              <a:t>e</a:t>
            </a:r>
            <a:r>
              <a:rPr sz="2176" spc="14" dirty="0">
                <a:latin typeface="Times New Roman"/>
                <a:cs typeface="Times New Roman"/>
              </a:rPr>
              <a:t> </a:t>
            </a:r>
            <a:r>
              <a:rPr sz="2176" spc="-5" dirty="0">
                <a:latin typeface="Times New Roman"/>
                <a:cs typeface="Times New Roman"/>
              </a:rPr>
              <a:t>utilizan</a:t>
            </a:r>
            <a:r>
              <a:rPr sz="2176" dirty="0">
                <a:latin typeface="Times New Roman"/>
                <a:cs typeface="Times New Roman"/>
              </a:rPr>
              <a:t> para</a:t>
            </a:r>
            <a:r>
              <a:rPr sz="2176" spc="5" dirty="0">
                <a:latin typeface="Times New Roman"/>
                <a:cs typeface="Times New Roman"/>
              </a:rPr>
              <a:t> </a:t>
            </a:r>
            <a:r>
              <a:rPr sz="2176" spc="-5" dirty="0">
                <a:latin typeface="Times New Roman"/>
                <a:cs typeface="Times New Roman"/>
              </a:rPr>
              <a:t>calibrar</a:t>
            </a:r>
            <a:r>
              <a:rPr sz="2176" dirty="0">
                <a:latin typeface="Times New Roman"/>
                <a:cs typeface="Times New Roman"/>
              </a:rPr>
              <a:t> el</a:t>
            </a:r>
            <a:r>
              <a:rPr sz="2176" spc="9" dirty="0">
                <a:latin typeface="Times New Roman"/>
                <a:cs typeface="Times New Roman"/>
              </a:rPr>
              <a:t> </a:t>
            </a:r>
            <a:r>
              <a:rPr sz="2176" spc="-5" dirty="0">
                <a:latin typeface="Times New Roman"/>
                <a:cs typeface="Times New Roman"/>
              </a:rPr>
              <a:t>funcionamiento</a:t>
            </a:r>
            <a:r>
              <a:rPr sz="2176" spc="9" dirty="0">
                <a:latin typeface="Times New Roman"/>
                <a:cs typeface="Times New Roman"/>
              </a:rPr>
              <a:t> </a:t>
            </a:r>
            <a:r>
              <a:rPr sz="2176" spc="-5" dirty="0">
                <a:latin typeface="Times New Roman"/>
                <a:cs typeface="Times New Roman"/>
              </a:rPr>
              <a:t>predictivo</a:t>
            </a:r>
            <a:r>
              <a:rPr sz="2176" spc="9" dirty="0">
                <a:latin typeface="Times New Roman"/>
                <a:cs typeface="Times New Roman"/>
              </a:rPr>
              <a:t> </a:t>
            </a:r>
            <a:r>
              <a:rPr sz="2176" spc="-5" dirty="0">
                <a:latin typeface="Times New Roman"/>
                <a:cs typeface="Times New Roman"/>
              </a:rPr>
              <a:t>real</a:t>
            </a:r>
            <a:r>
              <a:rPr sz="2176" spc="14" dirty="0">
                <a:latin typeface="Times New Roman"/>
                <a:cs typeface="Times New Roman"/>
              </a:rPr>
              <a:t> </a:t>
            </a:r>
            <a:r>
              <a:rPr sz="2176" spc="-9" dirty="0">
                <a:latin typeface="Times New Roman"/>
                <a:cs typeface="Times New Roman"/>
              </a:rPr>
              <a:t>de</a:t>
            </a:r>
            <a:r>
              <a:rPr sz="2176" spc="14" dirty="0">
                <a:latin typeface="Times New Roman"/>
                <a:cs typeface="Times New Roman"/>
              </a:rPr>
              <a:t> </a:t>
            </a:r>
            <a:r>
              <a:rPr sz="2176" dirty="0">
                <a:latin typeface="Times New Roman"/>
                <a:cs typeface="Times New Roman"/>
              </a:rPr>
              <a:t>los </a:t>
            </a:r>
            <a:r>
              <a:rPr sz="2176" spc="-5" dirty="0">
                <a:latin typeface="Times New Roman"/>
                <a:cs typeface="Times New Roman"/>
              </a:rPr>
              <a:t>modelos.</a:t>
            </a:r>
            <a:r>
              <a:rPr sz="2176" spc="18" dirty="0">
                <a:latin typeface="Times New Roman"/>
                <a:cs typeface="Times New Roman"/>
              </a:rPr>
              <a:t> </a:t>
            </a:r>
            <a:r>
              <a:rPr sz="2176" spc="-5" dirty="0">
                <a:latin typeface="Times New Roman"/>
                <a:cs typeface="Times New Roman"/>
              </a:rPr>
              <a:t>Sirven</a:t>
            </a:r>
            <a:r>
              <a:rPr sz="2176" spc="14" dirty="0">
                <a:latin typeface="Times New Roman"/>
                <a:cs typeface="Times New Roman"/>
              </a:rPr>
              <a:t> </a:t>
            </a:r>
            <a:r>
              <a:rPr sz="2176" spc="-5" dirty="0">
                <a:latin typeface="Times New Roman"/>
                <a:cs typeface="Times New Roman"/>
              </a:rPr>
              <a:t>para</a:t>
            </a:r>
            <a:r>
              <a:rPr sz="2176" spc="9" dirty="0">
                <a:latin typeface="Times New Roman"/>
                <a:cs typeface="Times New Roman"/>
              </a:rPr>
              <a:t> </a:t>
            </a:r>
            <a:r>
              <a:rPr sz="2176" dirty="0">
                <a:latin typeface="Times New Roman"/>
                <a:cs typeface="Times New Roman"/>
              </a:rPr>
              <a:t>evaluar </a:t>
            </a:r>
            <a:r>
              <a:rPr sz="2176" spc="-394" dirty="0">
                <a:latin typeface="Times New Roman"/>
                <a:cs typeface="Times New Roman"/>
              </a:rPr>
              <a:t> </a:t>
            </a:r>
            <a:r>
              <a:rPr sz="2176" dirty="0">
                <a:latin typeface="Times New Roman"/>
                <a:cs typeface="Times New Roman"/>
              </a:rPr>
              <a:t>el</a:t>
            </a:r>
            <a:r>
              <a:rPr sz="2176" spc="-5" dirty="0">
                <a:latin typeface="Times New Roman"/>
                <a:cs typeface="Times New Roman"/>
              </a:rPr>
              <a:t> </a:t>
            </a:r>
            <a:r>
              <a:rPr sz="2176" dirty="0">
                <a:latin typeface="Times New Roman"/>
                <a:cs typeface="Times New Roman"/>
              </a:rPr>
              <a:t>error</a:t>
            </a:r>
            <a:r>
              <a:rPr sz="2176" spc="5" dirty="0">
                <a:latin typeface="Times New Roman"/>
                <a:cs typeface="Times New Roman"/>
              </a:rPr>
              <a:t> </a:t>
            </a:r>
            <a:r>
              <a:rPr sz="2176" spc="-9" dirty="0">
                <a:latin typeface="Times New Roman"/>
                <a:cs typeface="Times New Roman"/>
              </a:rPr>
              <a:t>de</a:t>
            </a:r>
            <a:r>
              <a:rPr sz="2176" spc="5" dirty="0">
                <a:latin typeface="Times New Roman"/>
                <a:cs typeface="Times New Roman"/>
              </a:rPr>
              <a:t> </a:t>
            </a:r>
            <a:r>
              <a:rPr sz="2176" spc="-5" dirty="0">
                <a:latin typeface="Times New Roman"/>
                <a:cs typeface="Times New Roman"/>
              </a:rPr>
              <a:t>predicción</a:t>
            </a:r>
            <a:r>
              <a:rPr sz="2176" spc="-9" dirty="0">
                <a:latin typeface="Times New Roman"/>
                <a:cs typeface="Times New Roman"/>
              </a:rPr>
              <a:t> </a:t>
            </a:r>
            <a:r>
              <a:rPr sz="2176" dirty="0">
                <a:latin typeface="Times New Roman"/>
                <a:cs typeface="Times New Roman"/>
              </a:rPr>
              <a:t>del </a:t>
            </a:r>
            <a:r>
              <a:rPr sz="2176" spc="-5" dirty="0">
                <a:latin typeface="Times New Roman"/>
                <a:cs typeface="Times New Roman"/>
              </a:rPr>
              <a:t>modelo</a:t>
            </a:r>
            <a:r>
              <a:rPr sz="2176" dirty="0">
                <a:latin typeface="Times New Roman"/>
                <a:cs typeface="Times New Roman"/>
              </a:rPr>
              <a:t> </a:t>
            </a:r>
            <a:r>
              <a:rPr sz="2176" spc="-5" dirty="0">
                <a:latin typeface="Times New Roman"/>
                <a:cs typeface="Times New Roman"/>
              </a:rPr>
              <a:t>"óptimo".</a:t>
            </a:r>
            <a:endParaRPr sz="2176" dirty="0">
              <a:latin typeface="Times New Roman"/>
              <a:cs typeface="Times New Roman"/>
            </a:endParaRPr>
          </a:p>
          <a:p>
            <a:pPr algn="just">
              <a:spcBef>
                <a:spcPts val="45"/>
              </a:spcBef>
            </a:pPr>
            <a:endParaRPr sz="2176" dirty="0">
              <a:latin typeface="Times New Roman"/>
              <a:cs typeface="Times New Roman"/>
            </a:endParaRPr>
          </a:p>
          <a:p>
            <a:pPr marL="11516" marR="169866" algn="just">
              <a:lnSpc>
                <a:spcPts val="1886"/>
              </a:lnSpc>
            </a:pPr>
            <a:r>
              <a:rPr sz="2176" dirty="0">
                <a:solidFill>
                  <a:srgbClr val="FF0000"/>
                </a:solidFill>
                <a:latin typeface="Times New Roman"/>
                <a:cs typeface="Times New Roman"/>
              </a:rPr>
              <a:t>El error</a:t>
            </a:r>
            <a:r>
              <a:rPr sz="2176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176" spc="-9" dirty="0">
                <a:solidFill>
                  <a:srgbClr val="FF0000"/>
                </a:solidFill>
                <a:latin typeface="Times New Roman"/>
                <a:cs typeface="Times New Roman"/>
              </a:rPr>
              <a:t>de</a:t>
            </a:r>
            <a:r>
              <a:rPr sz="2176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176" spc="-5" dirty="0">
                <a:solidFill>
                  <a:srgbClr val="FF0000"/>
                </a:solidFill>
                <a:latin typeface="Times New Roman"/>
                <a:cs typeface="Times New Roman"/>
              </a:rPr>
              <a:t>predicción</a:t>
            </a:r>
            <a:r>
              <a:rPr sz="2176" spc="-9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176" dirty="0">
                <a:solidFill>
                  <a:srgbClr val="FF0000"/>
                </a:solidFill>
                <a:latin typeface="Times New Roman"/>
                <a:cs typeface="Times New Roman"/>
              </a:rPr>
              <a:t>puede</a:t>
            </a:r>
            <a:r>
              <a:rPr sz="2176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176" spc="-5" dirty="0">
                <a:solidFill>
                  <a:srgbClr val="FF0000"/>
                </a:solidFill>
                <a:latin typeface="Times New Roman"/>
                <a:cs typeface="Times New Roman"/>
              </a:rPr>
              <a:t>estar</a:t>
            </a:r>
            <a:r>
              <a:rPr sz="2176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176" spc="-5" dirty="0">
                <a:solidFill>
                  <a:srgbClr val="FF0000"/>
                </a:solidFill>
                <a:latin typeface="Times New Roman"/>
                <a:cs typeface="Times New Roman"/>
              </a:rPr>
              <a:t>subestimado</a:t>
            </a:r>
            <a:r>
              <a:rPr sz="2176" spc="27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176" spc="-9" dirty="0">
                <a:latin typeface="Times New Roman"/>
                <a:cs typeface="Times New Roman"/>
              </a:rPr>
              <a:t>(en</a:t>
            </a:r>
            <a:r>
              <a:rPr sz="2176" dirty="0">
                <a:latin typeface="Times New Roman"/>
                <a:cs typeface="Times New Roman"/>
              </a:rPr>
              <a:t> </a:t>
            </a:r>
            <a:r>
              <a:rPr sz="2176" spc="-5" dirty="0">
                <a:latin typeface="Times New Roman"/>
                <a:cs typeface="Times New Roman"/>
              </a:rPr>
              <a:t>realidad</a:t>
            </a:r>
            <a:r>
              <a:rPr sz="2176" dirty="0">
                <a:latin typeface="Times New Roman"/>
                <a:cs typeface="Times New Roman"/>
              </a:rPr>
              <a:t> </a:t>
            </a:r>
            <a:r>
              <a:rPr sz="2176" spc="-5" dirty="0">
                <a:latin typeface="Times New Roman"/>
                <a:cs typeface="Times New Roman"/>
              </a:rPr>
              <a:t>puede ser</a:t>
            </a:r>
            <a:r>
              <a:rPr sz="2176" dirty="0">
                <a:latin typeface="Times New Roman"/>
                <a:cs typeface="Times New Roman"/>
              </a:rPr>
              <a:t> mayor,</a:t>
            </a:r>
            <a:r>
              <a:rPr sz="2176" spc="-5" dirty="0">
                <a:latin typeface="Times New Roman"/>
                <a:cs typeface="Times New Roman"/>
              </a:rPr>
              <a:t> </a:t>
            </a:r>
            <a:r>
              <a:rPr sz="2176" dirty="0">
                <a:latin typeface="Times New Roman"/>
                <a:cs typeface="Times New Roman"/>
              </a:rPr>
              <a:t>pues</a:t>
            </a:r>
            <a:r>
              <a:rPr sz="2176" spc="-5" dirty="0">
                <a:latin typeface="Times New Roman"/>
                <a:cs typeface="Times New Roman"/>
              </a:rPr>
              <a:t> se</a:t>
            </a:r>
            <a:r>
              <a:rPr sz="2176" dirty="0">
                <a:latin typeface="Times New Roman"/>
                <a:cs typeface="Times New Roman"/>
              </a:rPr>
              <a:t> ha elegido el</a:t>
            </a:r>
            <a:r>
              <a:rPr sz="2176" spc="-14" dirty="0">
                <a:latin typeface="Times New Roman"/>
                <a:cs typeface="Times New Roman"/>
              </a:rPr>
              <a:t> </a:t>
            </a:r>
            <a:r>
              <a:rPr sz="2176" dirty="0">
                <a:latin typeface="Times New Roman"/>
                <a:cs typeface="Times New Roman"/>
              </a:rPr>
              <a:t>modelo </a:t>
            </a:r>
            <a:r>
              <a:rPr sz="2176" spc="-394" dirty="0">
                <a:latin typeface="Times New Roman"/>
                <a:cs typeface="Times New Roman"/>
              </a:rPr>
              <a:t> </a:t>
            </a:r>
            <a:r>
              <a:rPr sz="2176" dirty="0">
                <a:latin typeface="Times New Roman"/>
                <a:cs typeface="Times New Roman"/>
              </a:rPr>
              <a:t>que </a:t>
            </a:r>
            <a:r>
              <a:rPr sz="2176" spc="-5" dirty="0">
                <a:latin typeface="Times New Roman"/>
                <a:cs typeface="Times New Roman"/>
              </a:rPr>
              <a:t>mejor</a:t>
            </a:r>
            <a:r>
              <a:rPr sz="2176" spc="-9" dirty="0">
                <a:latin typeface="Times New Roman"/>
                <a:cs typeface="Times New Roman"/>
              </a:rPr>
              <a:t> </a:t>
            </a:r>
            <a:r>
              <a:rPr sz="2176" spc="-5" dirty="0">
                <a:latin typeface="Times New Roman"/>
                <a:cs typeface="Times New Roman"/>
              </a:rPr>
              <a:t>funciona</a:t>
            </a:r>
            <a:r>
              <a:rPr sz="2176" spc="5" dirty="0">
                <a:latin typeface="Times New Roman"/>
                <a:cs typeface="Times New Roman"/>
              </a:rPr>
              <a:t> </a:t>
            </a:r>
            <a:r>
              <a:rPr sz="2176" dirty="0">
                <a:latin typeface="Times New Roman"/>
                <a:cs typeface="Times New Roman"/>
              </a:rPr>
              <a:t>en</a:t>
            </a:r>
            <a:r>
              <a:rPr sz="2176" spc="-5" dirty="0">
                <a:latin typeface="Times New Roman"/>
                <a:cs typeface="Times New Roman"/>
              </a:rPr>
              <a:t> </a:t>
            </a:r>
            <a:r>
              <a:rPr sz="2176" dirty="0">
                <a:latin typeface="Times New Roman"/>
                <a:cs typeface="Times New Roman"/>
              </a:rPr>
              <a:t>los </a:t>
            </a:r>
            <a:r>
              <a:rPr sz="2176" spc="-5" dirty="0">
                <a:latin typeface="Times New Roman"/>
                <a:cs typeface="Times New Roman"/>
              </a:rPr>
              <a:t>datos</a:t>
            </a:r>
            <a:r>
              <a:rPr sz="2176" spc="-14" dirty="0">
                <a:latin typeface="Times New Roman"/>
                <a:cs typeface="Times New Roman"/>
              </a:rPr>
              <a:t> </a:t>
            </a:r>
            <a:r>
              <a:rPr sz="2176" dirty="0">
                <a:latin typeface="Times New Roman"/>
                <a:cs typeface="Times New Roman"/>
              </a:rPr>
              <a:t>test).</a:t>
            </a:r>
          </a:p>
        </p:txBody>
      </p:sp>
    </p:spTree>
    <p:extLst>
      <p:ext uri="{BB962C8B-B14F-4D97-AF65-F5344CB8AC3E}">
        <p14:creationId xmlns:p14="http://schemas.microsoft.com/office/powerpoint/2010/main" val="2486646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664200" y="1701544"/>
            <a:ext cx="8646793" cy="4355007"/>
          </a:xfrm>
          <a:prstGeom prst="rect">
            <a:avLst/>
          </a:prstGeom>
        </p:spPr>
        <p:txBody>
          <a:bodyPr vert="horz" wrap="square" lIns="0" tIns="156623" rIns="0" bIns="0" rtlCol="0">
            <a:spAutoFit/>
          </a:bodyPr>
          <a:lstStyle/>
          <a:p>
            <a:pPr marL="11516" algn="just">
              <a:spcBef>
                <a:spcPts val="1211"/>
              </a:spcBef>
            </a:pPr>
            <a:r>
              <a:rPr sz="2176" b="1" spc="-5" dirty="0">
                <a:solidFill>
                  <a:srgbClr val="538DD3"/>
                </a:solidFill>
                <a:latin typeface="Times New Roman"/>
                <a:cs typeface="Times New Roman"/>
              </a:rPr>
              <a:t>TRAINING,</a:t>
            </a:r>
            <a:r>
              <a:rPr sz="2176" b="1" spc="-23" dirty="0">
                <a:solidFill>
                  <a:srgbClr val="538DD3"/>
                </a:solidFill>
                <a:latin typeface="Times New Roman"/>
                <a:cs typeface="Times New Roman"/>
              </a:rPr>
              <a:t> </a:t>
            </a:r>
            <a:r>
              <a:rPr sz="2176" b="1" spc="-5" dirty="0">
                <a:solidFill>
                  <a:srgbClr val="538DD3"/>
                </a:solidFill>
                <a:latin typeface="Times New Roman"/>
                <a:cs typeface="Times New Roman"/>
              </a:rPr>
              <a:t>TEST</a:t>
            </a:r>
            <a:endParaRPr sz="2176" dirty="0">
              <a:latin typeface="Times New Roman"/>
              <a:cs typeface="Times New Roman"/>
            </a:endParaRPr>
          </a:p>
          <a:p>
            <a:pPr marL="11516" algn="just">
              <a:spcBef>
                <a:spcPts val="1577"/>
              </a:spcBef>
            </a:pPr>
            <a:r>
              <a:rPr sz="2176" spc="-5" dirty="0">
                <a:latin typeface="Times New Roman"/>
                <a:cs typeface="Times New Roman"/>
              </a:rPr>
              <a:t>Se</a:t>
            </a:r>
            <a:r>
              <a:rPr sz="2176" dirty="0">
                <a:latin typeface="Times New Roman"/>
                <a:cs typeface="Times New Roman"/>
              </a:rPr>
              <a:t> </a:t>
            </a:r>
            <a:r>
              <a:rPr sz="2176" spc="-5" dirty="0">
                <a:latin typeface="Times New Roman"/>
                <a:cs typeface="Times New Roman"/>
              </a:rPr>
              <a:t>dividen</a:t>
            </a:r>
            <a:r>
              <a:rPr sz="2176" spc="9" dirty="0">
                <a:latin typeface="Times New Roman"/>
                <a:cs typeface="Times New Roman"/>
              </a:rPr>
              <a:t> </a:t>
            </a:r>
            <a:r>
              <a:rPr sz="2176" spc="-5" dirty="0">
                <a:latin typeface="Times New Roman"/>
                <a:cs typeface="Times New Roman"/>
              </a:rPr>
              <a:t>aleatoriamente</a:t>
            </a:r>
            <a:r>
              <a:rPr sz="2176" dirty="0">
                <a:latin typeface="Times New Roman"/>
                <a:cs typeface="Times New Roman"/>
              </a:rPr>
              <a:t> los </a:t>
            </a:r>
            <a:r>
              <a:rPr sz="2176" spc="-5" dirty="0">
                <a:latin typeface="Times New Roman"/>
                <a:cs typeface="Times New Roman"/>
              </a:rPr>
              <a:t>datos</a:t>
            </a:r>
            <a:r>
              <a:rPr sz="2176" dirty="0">
                <a:latin typeface="Times New Roman"/>
                <a:cs typeface="Times New Roman"/>
              </a:rPr>
              <a:t> en</a:t>
            </a:r>
            <a:r>
              <a:rPr sz="2176" spc="-5" dirty="0">
                <a:latin typeface="Times New Roman"/>
                <a:cs typeface="Times New Roman"/>
              </a:rPr>
              <a:t> dos </a:t>
            </a:r>
            <a:r>
              <a:rPr sz="2176" spc="-5" dirty="0" err="1">
                <a:latin typeface="Times New Roman"/>
                <a:cs typeface="Times New Roman"/>
              </a:rPr>
              <a:t>grupos</a:t>
            </a:r>
            <a:r>
              <a:rPr sz="2176" spc="-5" dirty="0">
                <a:latin typeface="Times New Roman"/>
                <a:cs typeface="Times New Roman"/>
              </a:rPr>
              <a:t>.</a:t>
            </a:r>
            <a:r>
              <a:rPr lang="es-ES" sz="2176" spc="-5" dirty="0">
                <a:latin typeface="Times New Roman"/>
                <a:cs typeface="Times New Roman"/>
              </a:rPr>
              <a:t> Dependiendo de la cantidad de observaciones, algunas particiones típicas son </a:t>
            </a:r>
            <a:r>
              <a:rPr lang="es-ES" sz="2176" dirty="0"/>
              <a:t>(80, 20); (67, 33); (50, 50)</a:t>
            </a:r>
            <a:r>
              <a:rPr lang="es-ES" sz="2176" spc="-5" dirty="0">
                <a:latin typeface="Times New Roman"/>
                <a:cs typeface="Times New Roman"/>
              </a:rPr>
              <a:t>, donde cada porcentaje se reserva a los datos</a:t>
            </a:r>
            <a:endParaRPr sz="2176" dirty="0">
              <a:latin typeface="Times New Roman"/>
              <a:cs typeface="Times New Roman"/>
            </a:endParaRPr>
          </a:p>
          <a:p>
            <a:pPr marL="270634" indent="-259118" algn="just">
              <a:lnSpc>
                <a:spcPct val="150000"/>
              </a:lnSpc>
              <a:spcBef>
                <a:spcPts val="1143"/>
              </a:spcBef>
              <a:buFont typeface="Arial" panose="020B0604020202020204" pitchFamily="34" charset="0"/>
              <a:buChar char="•"/>
            </a:pPr>
            <a:r>
              <a:rPr sz="2176" b="1" spc="-5" dirty="0" err="1">
                <a:latin typeface="Times New Roman"/>
                <a:cs typeface="Times New Roman"/>
              </a:rPr>
              <a:t>Datos</a:t>
            </a:r>
            <a:r>
              <a:rPr sz="2176" b="1" spc="5" dirty="0">
                <a:latin typeface="Times New Roman"/>
                <a:cs typeface="Times New Roman"/>
              </a:rPr>
              <a:t> </a:t>
            </a:r>
            <a:r>
              <a:rPr sz="2176" b="1" spc="-5" dirty="0">
                <a:latin typeface="Times New Roman"/>
                <a:cs typeface="Times New Roman"/>
              </a:rPr>
              <a:t>Training</a:t>
            </a:r>
            <a:r>
              <a:rPr lang="es-ES" sz="2176" b="1" spc="-5" dirty="0">
                <a:latin typeface="Times New Roman"/>
                <a:cs typeface="Times New Roman"/>
              </a:rPr>
              <a:t>:</a:t>
            </a:r>
            <a:r>
              <a:rPr sz="2176" spc="14" dirty="0">
                <a:latin typeface="Times New Roman"/>
                <a:cs typeface="Times New Roman"/>
              </a:rPr>
              <a:t> </a:t>
            </a:r>
            <a:r>
              <a:rPr lang="es-ES" sz="2176" spc="-5" dirty="0">
                <a:latin typeface="Times New Roman"/>
                <a:cs typeface="Times New Roman"/>
              </a:rPr>
              <a:t>s</a:t>
            </a:r>
            <a:r>
              <a:rPr sz="2176" spc="-5" dirty="0">
                <a:latin typeface="Times New Roman"/>
                <a:cs typeface="Times New Roman"/>
              </a:rPr>
              <a:t>e</a:t>
            </a:r>
            <a:r>
              <a:rPr sz="2176" spc="5" dirty="0">
                <a:latin typeface="Times New Roman"/>
                <a:cs typeface="Times New Roman"/>
              </a:rPr>
              <a:t> </a:t>
            </a:r>
            <a:r>
              <a:rPr sz="2176" spc="-5" dirty="0">
                <a:latin typeface="Times New Roman"/>
                <a:cs typeface="Times New Roman"/>
              </a:rPr>
              <a:t>utilizan</a:t>
            </a:r>
            <a:r>
              <a:rPr sz="2176" spc="5" dirty="0">
                <a:latin typeface="Times New Roman"/>
                <a:cs typeface="Times New Roman"/>
              </a:rPr>
              <a:t> </a:t>
            </a:r>
            <a:r>
              <a:rPr sz="2176" spc="-5" dirty="0">
                <a:latin typeface="Times New Roman"/>
                <a:cs typeface="Times New Roman"/>
              </a:rPr>
              <a:t>para</a:t>
            </a:r>
            <a:r>
              <a:rPr sz="2176" spc="14" dirty="0">
                <a:latin typeface="Times New Roman"/>
                <a:cs typeface="Times New Roman"/>
              </a:rPr>
              <a:t> </a:t>
            </a:r>
            <a:r>
              <a:rPr sz="2176" spc="-5" dirty="0">
                <a:latin typeface="Times New Roman"/>
                <a:cs typeface="Times New Roman"/>
              </a:rPr>
              <a:t>estimar</a:t>
            </a:r>
            <a:r>
              <a:rPr sz="2176" spc="9" dirty="0">
                <a:latin typeface="Times New Roman"/>
                <a:cs typeface="Times New Roman"/>
              </a:rPr>
              <a:t> </a:t>
            </a:r>
            <a:r>
              <a:rPr sz="2176" dirty="0">
                <a:latin typeface="Times New Roman"/>
                <a:cs typeface="Times New Roman"/>
              </a:rPr>
              <a:t>los</a:t>
            </a:r>
            <a:r>
              <a:rPr sz="2176" spc="9" dirty="0">
                <a:latin typeface="Times New Roman"/>
                <a:cs typeface="Times New Roman"/>
              </a:rPr>
              <a:t> </a:t>
            </a:r>
            <a:r>
              <a:rPr sz="2176" spc="-5" dirty="0">
                <a:latin typeface="Times New Roman"/>
                <a:cs typeface="Times New Roman"/>
              </a:rPr>
              <a:t>posibles</a:t>
            </a:r>
            <a:r>
              <a:rPr sz="2176" spc="9" dirty="0">
                <a:latin typeface="Times New Roman"/>
                <a:cs typeface="Times New Roman"/>
              </a:rPr>
              <a:t> </a:t>
            </a:r>
            <a:r>
              <a:rPr sz="2176" spc="-5" dirty="0">
                <a:latin typeface="Times New Roman"/>
                <a:cs typeface="Times New Roman"/>
              </a:rPr>
              <a:t>modelos</a:t>
            </a:r>
            <a:endParaRPr sz="2176" dirty="0">
              <a:latin typeface="Times New Roman"/>
              <a:cs typeface="Times New Roman"/>
            </a:endParaRPr>
          </a:p>
          <a:p>
            <a:pPr marL="270634" indent="-259118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176" b="1" spc="-5" dirty="0" err="1">
                <a:latin typeface="Times New Roman"/>
                <a:cs typeface="Times New Roman"/>
              </a:rPr>
              <a:t>Datos</a:t>
            </a:r>
            <a:r>
              <a:rPr sz="2176" b="1" spc="5" dirty="0">
                <a:latin typeface="Times New Roman"/>
                <a:cs typeface="Times New Roman"/>
              </a:rPr>
              <a:t> </a:t>
            </a:r>
            <a:r>
              <a:rPr sz="2176" b="1" spc="-5" dirty="0">
                <a:latin typeface="Times New Roman"/>
                <a:cs typeface="Times New Roman"/>
              </a:rPr>
              <a:t>Test</a:t>
            </a:r>
            <a:r>
              <a:rPr lang="es-ES" sz="2176" b="1" spc="-5" dirty="0">
                <a:latin typeface="Times New Roman"/>
                <a:cs typeface="Times New Roman"/>
              </a:rPr>
              <a:t>:</a:t>
            </a:r>
            <a:r>
              <a:rPr sz="2176" spc="9" dirty="0">
                <a:latin typeface="Times New Roman"/>
                <a:cs typeface="Times New Roman"/>
              </a:rPr>
              <a:t> </a:t>
            </a:r>
            <a:r>
              <a:rPr lang="es-ES" sz="2176" spc="-5" dirty="0">
                <a:latin typeface="Times New Roman"/>
                <a:cs typeface="Times New Roman"/>
              </a:rPr>
              <a:t>s</a:t>
            </a:r>
            <a:r>
              <a:rPr sz="2176" spc="-5" dirty="0">
                <a:latin typeface="Times New Roman"/>
                <a:cs typeface="Times New Roman"/>
              </a:rPr>
              <a:t>e</a:t>
            </a:r>
            <a:r>
              <a:rPr sz="2176" spc="-9" dirty="0">
                <a:latin typeface="Times New Roman"/>
                <a:cs typeface="Times New Roman"/>
              </a:rPr>
              <a:t> </a:t>
            </a:r>
            <a:r>
              <a:rPr sz="2176" dirty="0">
                <a:latin typeface="Times New Roman"/>
                <a:cs typeface="Times New Roman"/>
              </a:rPr>
              <a:t>aplican</a:t>
            </a:r>
            <a:r>
              <a:rPr sz="2176" spc="-5" dirty="0">
                <a:latin typeface="Times New Roman"/>
                <a:cs typeface="Times New Roman"/>
              </a:rPr>
              <a:t> </a:t>
            </a:r>
            <a:r>
              <a:rPr sz="2176" dirty="0">
                <a:latin typeface="Times New Roman"/>
                <a:cs typeface="Times New Roman"/>
              </a:rPr>
              <a:t>los</a:t>
            </a:r>
            <a:r>
              <a:rPr sz="2176" spc="5" dirty="0">
                <a:latin typeface="Times New Roman"/>
                <a:cs typeface="Times New Roman"/>
              </a:rPr>
              <a:t> </a:t>
            </a:r>
            <a:r>
              <a:rPr sz="2176" spc="-5" dirty="0">
                <a:latin typeface="Times New Roman"/>
                <a:cs typeface="Times New Roman"/>
              </a:rPr>
              <a:t>modelos</a:t>
            </a:r>
            <a:r>
              <a:rPr sz="2176" dirty="0">
                <a:latin typeface="Times New Roman"/>
                <a:cs typeface="Times New Roman"/>
              </a:rPr>
              <a:t> </a:t>
            </a:r>
            <a:r>
              <a:rPr sz="2176" spc="-5" dirty="0">
                <a:latin typeface="Times New Roman"/>
                <a:cs typeface="Times New Roman"/>
              </a:rPr>
              <a:t>sobre</a:t>
            </a:r>
            <a:r>
              <a:rPr sz="2176" dirty="0">
                <a:latin typeface="Times New Roman"/>
                <a:cs typeface="Times New Roman"/>
              </a:rPr>
              <a:t> esos </a:t>
            </a:r>
            <a:r>
              <a:rPr sz="2176" spc="-5" dirty="0">
                <a:latin typeface="Times New Roman"/>
                <a:cs typeface="Times New Roman"/>
              </a:rPr>
              <a:t>datos</a:t>
            </a:r>
            <a:r>
              <a:rPr sz="2176" spc="-14" dirty="0">
                <a:latin typeface="Times New Roman"/>
                <a:cs typeface="Times New Roman"/>
              </a:rPr>
              <a:t> </a:t>
            </a:r>
            <a:r>
              <a:rPr sz="2176" dirty="0">
                <a:latin typeface="Times New Roman"/>
                <a:cs typeface="Times New Roman"/>
              </a:rPr>
              <a:t>y</a:t>
            </a:r>
            <a:r>
              <a:rPr sz="2176" spc="14" dirty="0">
                <a:latin typeface="Times New Roman"/>
                <a:cs typeface="Times New Roman"/>
              </a:rPr>
              <a:t> </a:t>
            </a:r>
            <a:r>
              <a:rPr sz="2176" spc="-5" dirty="0">
                <a:latin typeface="Times New Roman"/>
                <a:cs typeface="Times New Roman"/>
              </a:rPr>
              <a:t>se</a:t>
            </a:r>
            <a:r>
              <a:rPr sz="2176" spc="-9" dirty="0">
                <a:latin typeface="Times New Roman"/>
                <a:cs typeface="Times New Roman"/>
              </a:rPr>
              <a:t> </a:t>
            </a:r>
            <a:r>
              <a:rPr sz="2176" dirty="0">
                <a:latin typeface="Times New Roman"/>
                <a:cs typeface="Times New Roman"/>
              </a:rPr>
              <a:t>observa </a:t>
            </a:r>
            <a:r>
              <a:rPr sz="2176" spc="-5" dirty="0">
                <a:latin typeface="Times New Roman"/>
                <a:cs typeface="Times New Roman"/>
              </a:rPr>
              <a:t>su</a:t>
            </a:r>
            <a:r>
              <a:rPr sz="2176" dirty="0">
                <a:latin typeface="Times New Roman"/>
                <a:cs typeface="Times New Roman"/>
              </a:rPr>
              <a:t> </a:t>
            </a:r>
            <a:r>
              <a:rPr sz="2176" spc="-5" dirty="0">
                <a:latin typeface="Times New Roman"/>
                <a:cs typeface="Times New Roman"/>
              </a:rPr>
              <a:t>performance.</a:t>
            </a:r>
            <a:endParaRPr sz="2176" dirty="0">
              <a:latin typeface="Times New Roman"/>
              <a:cs typeface="Times New Roman"/>
            </a:endParaRPr>
          </a:p>
          <a:p>
            <a:pPr algn="just">
              <a:spcBef>
                <a:spcPts val="45"/>
              </a:spcBef>
            </a:pPr>
            <a:endParaRPr sz="2176" dirty="0">
              <a:latin typeface="Times New Roman"/>
              <a:cs typeface="Times New Roman"/>
            </a:endParaRPr>
          </a:p>
          <a:p>
            <a:pPr marL="11516" marR="169866" algn="just"/>
            <a:r>
              <a:rPr sz="2176" dirty="0">
                <a:solidFill>
                  <a:srgbClr val="FF0000"/>
                </a:solidFill>
                <a:latin typeface="Times New Roman"/>
                <a:cs typeface="Times New Roman"/>
              </a:rPr>
              <a:t>El error</a:t>
            </a:r>
            <a:r>
              <a:rPr sz="2176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176" spc="-9" dirty="0">
                <a:solidFill>
                  <a:srgbClr val="FF0000"/>
                </a:solidFill>
                <a:latin typeface="Times New Roman"/>
                <a:cs typeface="Times New Roman"/>
              </a:rPr>
              <a:t>de</a:t>
            </a:r>
            <a:r>
              <a:rPr sz="2176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176" spc="-5" dirty="0">
                <a:solidFill>
                  <a:srgbClr val="FF0000"/>
                </a:solidFill>
                <a:latin typeface="Times New Roman"/>
                <a:cs typeface="Times New Roman"/>
              </a:rPr>
              <a:t>predicción</a:t>
            </a:r>
            <a:r>
              <a:rPr sz="2176" spc="-9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176" dirty="0">
                <a:solidFill>
                  <a:srgbClr val="FF0000"/>
                </a:solidFill>
                <a:latin typeface="Times New Roman"/>
                <a:cs typeface="Times New Roman"/>
              </a:rPr>
              <a:t>puede</a:t>
            </a:r>
            <a:r>
              <a:rPr sz="2176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176" spc="-5" dirty="0">
                <a:solidFill>
                  <a:srgbClr val="FF0000"/>
                </a:solidFill>
                <a:latin typeface="Times New Roman"/>
                <a:cs typeface="Times New Roman"/>
              </a:rPr>
              <a:t>estar</a:t>
            </a:r>
            <a:r>
              <a:rPr sz="2176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176" spc="-5" dirty="0">
                <a:solidFill>
                  <a:srgbClr val="FF0000"/>
                </a:solidFill>
                <a:latin typeface="Times New Roman"/>
                <a:cs typeface="Times New Roman"/>
              </a:rPr>
              <a:t>subestimado</a:t>
            </a:r>
            <a:r>
              <a:rPr sz="2176" spc="27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176" spc="-9" dirty="0">
                <a:latin typeface="Times New Roman"/>
                <a:cs typeface="Times New Roman"/>
              </a:rPr>
              <a:t>(en</a:t>
            </a:r>
            <a:r>
              <a:rPr sz="2176" dirty="0">
                <a:latin typeface="Times New Roman"/>
                <a:cs typeface="Times New Roman"/>
              </a:rPr>
              <a:t> </a:t>
            </a:r>
            <a:r>
              <a:rPr sz="2176" spc="-5" dirty="0">
                <a:latin typeface="Times New Roman"/>
                <a:cs typeface="Times New Roman"/>
              </a:rPr>
              <a:t>realidad</a:t>
            </a:r>
            <a:r>
              <a:rPr sz="2176" dirty="0">
                <a:latin typeface="Times New Roman"/>
                <a:cs typeface="Times New Roman"/>
              </a:rPr>
              <a:t> </a:t>
            </a:r>
            <a:r>
              <a:rPr sz="2176" spc="-5" dirty="0">
                <a:latin typeface="Times New Roman"/>
                <a:cs typeface="Times New Roman"/>
              </a:rPr>
              <a:t>puede ser</a:t>
            </a:r>
            <a:r>
              <a:rPr sz="2176" dirty="0">
                <a:latin typeface="Times New Roman"/>
                <a:cs typeface="Times New Roman"/>
              </a:rPr>
              <a:t> mayor,</a:t>
            </a:r>
            <a:r>
              <a:rPr sz="2176" spc="-5" dirty="0">
                <a:latin typeface="Times New Roman"/>
                <a:cs typeface="Times New Roman"/>
              </a:rPr>
              <a:t> </a:t>
            </a:r>
            <a:r>
              <a:rPr sz="2176" dirty="0">
                <a:latin typeface="Times New Roman"/>
                <a:cs typeface="Times New Roman"/>
              </a:rPr>
              <a:t>pues</a:t>
            </a:r>
            <a:r>
              <a:rPr sz="2176" spc="-5" dirty="0">
                <a:latin typeface="Times New Roman"/>
                <a:cs typeface="Times New Roman"/>
              </a:rPr>
              <a:t> se</a:t>
            </a:r>
            <a:r>
              <a:rPr sz="2176" dirty="0">
                <a:latin typeface="Times New Roman"/>
                <a:cs typeface="Times New Roman"/>
              </a:rPr>
              <a:t> ha elegido el</a:t>
            </a:r>
            <a:r>
              <a:rPr sz="2176" spc="-14" dirty="0">
                <a:latin typeface="Times New Roman"/>
                <a:cs typeface="Times New Roman"/>
              </a:rPr>
              <a:t> </a:t>
            </a:r>
            <a:r>
              <a:rPr sz="2176" dirty="0">
                <a:latin typeface="Times New Roman"/>
                <a:cs typeface="Times New Roman"/>
              </a:rPr>
              <a:t>modelo </a:t>
            </a:r>
            <a:r>
              <a:rPr sz="2176" spc="-394" dirty="0">
                <a:latin typeface="Times New Roman"/>
                <a:cs typeface="Times New Roman"/>
              </a:rPr>
              <a:t> </a:t>
            </a:r>
            <a:r>
              <a:rPr sz="2176" dirty="0">
                <a:latin typeface="Times New Roman"/>
                <a:cs typeface="Times New Roman"/>
              </a:rPr>
              <a:t>que </a:t>
            </a:r>
            <a:r>
              <a:rPr sz="2176" spc="-5" dirty="0">
                <a:latin typeface="Times New Roman"/>
                <a:cs typeface="Times New Roman"/>
              </a:rPr>
              <a:t>mejor</a:t>
            </a:r>
            <a:r>
              <a:rPr sz="2176" spc="-9" dirty="0">
                <a:latin typeface="Times New Roman"/>
                <a:cs typeface="Times New Roman"/>
              </a:rPr>
              <a:t> </a:t>
            </a:r>
            <a:r>
              <a:rPr sz="2176" spc="-5" dirty="0">
                <a:latin typeface="Times New Roman"/>
                <a:cs typeface="Times New Roman"/>
              </a:rPr>
              <a:t>funciona</a:t>
            </a:r>
            <a:r>
              <a:rPr sz="2176" spc="5" dirty="0">
                <a:latin typeface="Times New Roman"/>
                <a:cs typeface="Times New Roman"/>
              </a:rPr>
              <a:t> </a:t>
            </a:r>
            <a:r>
              <a:rPr sz="2176" dirty="0">
                <a:latin typeface="Times New Roman"/>
                <a:cs typeface="Times New Roman"/>
              </a:rPr>
              <a:t>en</a:t>
            </a:r>
            <a:r>
              <a:rPr sz="2176" spc="-5" dirty="0">
                <a:latin typeface="Times New Roman"/>
                <a:cs typeface="Times New Roman"/>
              </a:rPr>
              <a:t> </a:t>
            </a:r>
            <a:r>
              <a:rPr sz="2176" dirty="0">
                <a:latin typeface="Times New Roman"/>
                <a:cs typeface="Times New Roman"/>
              </a:rPr>
              <a:t>los </a:t>
            </a:r>
            <a:r>
              <a:rPr sz="2176" spc="-5" dirty="0">
                <a:latin typeface="Times New Roman"/>
                <a:cs typeface="Times New Roman"/>
              </a:rPr>
              <a:t>datos</a:t>
            </a:r>
            <a:r>
              <a:rPr sz="2176" spc="-14" dirty="0">
                <a:latin typeface="Times New Roman"/>
                <a:cs typeface="Times New Roman"/>
              </a:rPr>
              <a:t> </a:t>
            </a:r>
            <a:r>
              <a:rPr sz="2176" dirty="0">
                <a:latin typeface="Times New Roman"/>
                <a:cs typeface="Times New Roman"/>
              </a:rPr>
              <a:t>test).</a:t>
            </a:r>
          </a:p>
        </p:txBody>
      </p:sp>
      <p:sp>
        <p:nvSpPr>
          <p:cNvPr id="4" name="object 2"/>
          <p:cNvSpPr txBox="1">
            <a:spLocks/>
          </p:cNvSpPr>
          <p:nvPr/>
        </p:nvSpPr>
        <p:spPr>
          <a:xfrm>
            <a:off x="1664200" y="665071"/>
            <a:ext cx="8265071" cy="674924"/>
          </a:xfrm>
          <a:prstGeom prst="rect">
            <a:avLst/>
          </a:prstGeom>
        </p:spPr>
        <p:txBody>
          <a:bodyPr vert="horz" wrap="square" lIns="0" tIns="33397" rIns="0" bIns="0" rtlCol="0">
            <a:spAutoFit/>
          </a:bodyPr>
          <a:lstStyle>
            <a:lvl1pPr>
              <a:defRPr sz="2400" b="0" i="0">
                <a:solidFill>
                  <a:srgbClr val="FF0000"/>
                </a:solidFill>
                <a:latin typeface="Times New Roman"/>
                <a:ea typeface="+mj-ea"/>
                <a:cs typeface="Times New Roman"/>
              </a:defRPr>
            </a:lvl1pPr>
          </a:lstStyle>
          <a:p>
            <a:pPr marL="11516" marR="4607">
              <a:lnSpc>
                <a:spcPts val="2503"/>
              </a:lnSpc>
              <a:spcBef>
                <a:spcPts val="263"/>
              </a:spcBef>
            </a:pPr>
            <a:r>
              <a:rPr lang="es-ES" sz="2539" b="1" kern="0" dirty="0">
                <a:solidFill>
                  <a:schemeClr val="tx1"/>
                </a:solidFill>
              </a:rPr>
              <a:t>Métodos</a:t>
            </a:r>
            <a:r>
              <a:rPr lang="es-ES" sz="2539" b="1" kern="0" spc="-5" dirty="0">
                <a:solidFill>
                  <a:schemeClr val="tx1"/>
                </a:solidFill>
              </a:rPr>
              <a:t> más</a:t>
            </a:r>
            <a:r>
              <a:rPr lang="es-ES" sz="2539" b="1" kern="0" dirty="0">
                <a:solidFill>
                  <a:schemeClr val="tx1"/>
                </a:solidFill>
              </a:rPr>
              <a:t> </a:t>
            </a:r>
            <a:r>
              <a:rPr lang="es-ES" sz="2539" b="1" kern="0" spc="-5" dirty="0">
                <a:solidFill>
                  <a:schemeClr val="tx1"/>
                </a:solidFill>
              </a:rPr>
              <a:t>habituales</a:t>
            </a:r>
            <a:r>
              <a:rPr lang="es-ES" sz="2539" b="1" kern="0" dirty="0">
                <a:solidFill>
                  <a:schemeClr val="tx1"/>
                </a:solidFill>
              </a:rPr>
              <a:t> </a:t>
            </a:r>
            <a:r>
              <a:rPr lang="es-ES" sz="2539" b="1" kern="0" spc="-5" dirty="0">
                <a:solidFill>
                  <a:schemeClr val="tx1"/>
                </a:solidFill>
              </a:rPr>
              <a:t>para</a:t>
            </a:r>
            <a:r>
              <a:rPr lang="es-ES" sz="2539" b="1" kern="0" spc="14" dirty="0">
                <a:solidFill>
                  <a:schemeClr val="tx1"/>
                </a:solidFill>
              </a:rPr>
              <a:t> </a:t>
            </a:r>
            <a:r>
              <a:rPr lang="es-ES" sz="2539" b="1" kern="0" dirty="0">
                <a:solidFill>
                  <a:schemeClr val="tx1"/>
                </a:solidFill>
              </a:rPr>
              <a:t>medir o </a:t>
            </a:r>
            <a:r>
              <a:rPr lang="es-ES" sz="2539" b="1" kern="0" spc="-5" dirty="0">
                <a:solidFill>
                  <a:schemeClr val="tx1"/>
                </a:solidFill>
              </a:rPr>
              <a:t>comparar</a:t>
            </a:r>
            <a:r>
              <a:rPr lang="es-ES" sz="2539" b="1" kern="0" dirty="0">
                <a:solidFill>
                  <a:schemeClr val="tx1"/>
                </a:solidFill>
              </a:rPr>
              <a:t> la </a:t>
            </a:r>
            <a:r>
              <a:rPr lang="es-ES" sz="2539" b="1" kern="0" spc="-5" dirty="0">
                <a:solidFill>
                  <a:schemeClr val="tx1"/>
                </a:solidFill>
              </a:rPr>
              <a:t>capacidad</a:t>
            </a:r>
            <a:r>
              <a:rPr lang="es-ES" sz="2539" b="1" kern="0" dirty="0">
                <a:solidFill>
                  <a:schemeClr val="tx1"/>
                </a:solidFill>
              </a:rPr>
              <a:t> </a:t>
            </a:r>
            <a:r>
              <a:rPr lang="es-ES" sz="2539" b="1" kern="0" spc="-5" dirty="0">
                <a:solidFill>
                  <a:schemeClr val="tx1"/>
                </a:solidFill>
              </a:rPr>
              <a:t>predictiva</a:t>
            </a:r>
            <a:r>
              <a:rPr lang="es-ES" sz="2539" b="1" kern="0" spc="9" dirty="0">
                <a:solidFill>
                  <a:schemeClr val="tx1"/>
                </a:solidFill>
              </a:rPr>
              <a:t> </a:t>
            </a:r>
            <a:r>
              <a:rPr lang="es-ES" sz="2539" b="1" kern="0" spc="-5" dirty="0">
                <a:solidFill>
                  <a:schemeClr val="tx1"/>
                </a:solidFill>
              </a:rPr>
              <a:t>de </a:t>
            </a:r>
            <a:r>
              <a:rPr lang="es-ES" sz="2539" b="1" kern="0" spc="-530" dirty="0">
                <a:solidFill>
                  <a:schemeClr val="tx1"/>
                </a:solidFill>
              </a:rPr>
              <a:t> </a:t>
            </a:r>
            <a:r>
              <a:rPr lang="es-ES" sz="2539" b="1" kern="0" spc="-5" dirty="0">
                <a:solidFill>
                  <a:schemeClr val="tx1"/>
                </a:solidFill>
              </a:rPr>
              <a:t>uno</a:t>
            </a:r>
            <a:r>
              <a:rPr lang="es-ES" sz="2539" b="1" kern="0" spc="-9" dirty="0">
                <a:solidFill>
                  <a:schemeClr val="tx1"/>
                </a:solidFill>
              </a:rPr>
              <a:t> </a:t>
            </a:r>
            <a:r>
              <a:rPr lang="es-ES" sz="2539" b="1" kern="0" dirty="0">
                <a:solidFill>
                  <a:schemeClr val="tx1"/>
                </a:solidFill>
              </a:rPr>
              <a:t>o varios modelos DISTINTOS</a:t>
            </a:r>
          </a:p>
        </p:txBody>
      </p:sp>
    </p:spTree>
    <p:extLst>
      <p:ext uri="{BB962C8B-B14F-4D97-AF65-F5344CB8AC3E}">
        <p14:creationId xmlns:p14="http://schemas.microsoft.com/office/powerpoint/2010/main" val="1920682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27684" y="181383"/>
            <a:ext cx="8696013" cy="3997015"/>
          </a:xfrm>
          <a:prstGeom prst="rect">
            <a:avLst/>
          </a:prstGeom>
        </p:spPr>
        <p:txBody>
          <a:bodyPr vert="horz" wrap="square" lIns="0" tIns="11516" rIns="0" bIns="0" rtlCol="0">
            <a:spAutoFit/>
          </a:bodyPr>
          <a:lstStyle/>
          <a:p>
            <a:pPr marL="460079">
              <a:spcBef>
                <a:spcPts val="91"/>
              </a:spcBef>
            </a:pPr>
            <a:r>
              <a:rPr sz="2539" b="1" spc="-5" dirty="0">
                <a:solidFill>
                  <a:srgbClr val="538DD3"/>
                </a:solidFill>
                <a:latin typeface="Times New Roman"/>
                <a:cs typeface="Times New Roman"/>
              </a:rPr>
              <a:t>VALIDACIÓN</a:t>
            </a:r>
            <a:r>
              <a:rPr sz="2539" b="1" spc="5" dirty="0">
                <a:solidFill>
                  <a:srgbClr val="538DD3"/>
                </a:solidFill>
                <a:latin typeface="Times New Roman"/>
                <a:cs typeface="Times New Roman"/>
              </a:rPr>
              <a:t> </a:t>
            </a:r>
            <a:r>
              <a:rPr sz="2539" b="1" spc="-5" dirty="0">
                <a:solidFill>
                  <a:srgbClr val="538DD3"/>
                </a:solidFill>
                <a:latin typeface="Times New Roman"/>
                <a:cs typeface="Times New Roman"/>
              </a:rPr>
              <a:t>CRUZADA</a:t>
            </a:r>
            <a:r>
              <a:rPr sz="2539" b="1" spc="-14" dirty="0">
                <a:solidFill>
                  <a:srgbClr val="538DD3"/>
                </a:solidFill>
                <a:latin typeface="Times New Roman"/>
                <a:cs typeface="Times New Roman"/>
              </a:rPr>
              <a:t> </a:t>
            </a:r>
            <a:r>
              <a:rPr sz="2539" b="1" dirty="0">
                <a:solidFill>
                  <a:srgbClr val="538DD3"/>
                </a:solidFill>
                <a:latin typeface="Times New Roman"/>
                <a:cs typeface="Times New Roman"/>
              </a:rPr>
              <a:t>(k</a:t>
            </a:r>
            <a:r>
              <a:rPr sz="2539" b="1" spc="-9" dirty="0">
                <a:solidFill>
                  <a:srgbClr val="538DD3"/>
                </a:solidFill>
                <a:latin typeface="Times New Roman"/>
                <a:cs typeface="Times New Roman"/>
              </a:rPr>
              <a:t> </a:t>
            </a:r>
            <a:r>
              <a:rPr sz="2539" b="1" spc="-5" dirty="0">
                <a:solidFill>
                  <a:srgbClr val="538DD3"/>
                </a:solidFill>
                <a:latin typeface="Times New Roman"/>
                <a:cs typeface="Times New Roman"/>
              </a:rPr>
              <a:t>grupos)</a:t>
            </a:r>
            <a:endParaRPr sz="2539" dirty="0">
              <a:latin typeface="Times New Roman"/>
              <a:cs typeface="Times New Roman"/>
            </a:endParaRPr>
          </a:p>
          <a:p>
            <a:pPr>
              <a:spcBef>
                <a:spcPts val="41"/>
              </a:spcBef>
            </a:pPr>
            <a:endParaRPr sz="1632" dirty="0">
              <a:latin typeface="Times New Roman"/>
              <a:cs typeface="Times New Roman"/>
            </a:endParaRPr>
          </a:p>
          <a:p>
            <a:pPr marL="46065" marR="16123">
              <a:lnSpc>
                <a:spcPts val="1886"/>
              </a:lnSpc>
            </a:pPr>
            <a:r>
              <a:rPr sz="1632" b="1" spc="-5" dirty="0">
                <a:latin typeface="Times New Roman"/>
                <a:cs typeface="Times New Roman"/>
              </a:rPr>
              <a:t>Si</a:t>
            </a:r>
            <a:r>
              <a:rPr sz="1632" b="1" dirty="0">
                <a:latin typeface="Times New Roman"/>
                <a:cs typeface="Times New Roman"/>
              </a:rPr>
              <a:t> </a:t>
            </a:r>
            <a:r>
              <a:rPr sz="1632" b="1" spc="-5" dirty="0">
                <a:latin typeface="Times New Roman"/>
                <a:cs typeface="Times New Roman"/>
              </a:rPr>
              <a:t>no</a:t>
            </a:r>
            <a:r>
              <a:rPr sz="1632" b="1" spc="9" dirty="0">
                <a:latin typeface="Times New Roman"/>
                <a:cs typeface="Times New Roman"/>
              </a:rPr>
              <a:t> </a:t>
            </a:r>
            <a:r>
              <a:rPr sz="1632" b="1" spc="-5" dirty="0">
                <a:latin typeface="Times New Roman"/>
                <a:cs typeface="Times New Roman"/>
              </a:rPr>
              <a:t>se</a:t>
            </a:r>
            <a:r>
              <a:rPr sz="1632" b="1" spc="9" dirty="0">
                <a:latin typeface="Times New Roman"/>
                <a:cs typeface="Times New Roman"/>
              </a:rPr>
              <a:t> </a:t>
            </a:r>
            <a:r>
              <a:rPr sz="1632" b="1" spc="-5" dirty="0">
                <a:latin typeface="Times New Roman"/>
                <a:cs typeface="Times New Roman"/>
              </a:rPr>
              <a:t>tienen</a:t>
            </a:r>
            <a:r>
              <a:rPr sz="1632" b="1" dirty="0">
                <a:latin typeface="Times New Roman"/>
                <a:cs typeface="Times New Roman"/>
              </a:rPr>
              <a:t> muchas observaciones,</a:t>
            </a:r>
            <a:r>
              <a:rPr sz="1632" b="1" spc="9" dirty="0">
                <a:latin typeface="Times New Roman"/>
                <a:cs typeface="Times New Roman"/>
              </a:rPr>
              <a:t> </a:t>
            </a:r>
            <a:r>
              <a:rPr sz="1632" b="1" dirty="0">
                <a:latin typeface="Times New Roman"/>
                <a:cs typeface="Times New Roman"/>
              </a:rPr>
              <a:t>la</a:t>
            </a:r>
            <a:r>
              <a:rPr sz="1632" b="1" spc="5" dirty="0">
                <a:latin typeface="Times New Roman"/>
                <a:cs typeface="Times New Roman"/>
              </a:rPr>
              <a:t> </a:t>
            </a:r>
            <a:r>
              <a:rPr sz="1632" b="1" spc="-5" dirty="0">
                <a:latin typeface="Times New Roman"/>
                <a:cs typeface="Times New Roman"/>
              </a:rPr>
              <a:t>división</a:t>
            </a:r>
            <a:r>
              <a:rPr sz="1632" b="1" spc="9" dirty="0">
                <a:latin typeface="Times New Roman"/>
                <a:cs typeface="Times New Roman"/>
              </a:rPr>
              <a:t> </a:t>
            </a:r>
            <a:r>
              <a:rPr sz="1632" b="1" dirty="0">
                <a:latin typeface="Times New Roman"/>
                <a:cs typeface="Times New Roman"/>
              </a:rPr>
              <a:t>en</a:t>
            </a:r>
            <a:r>
              <a:rPr sz="1632" b="1" spc="5" dirty="0">
                <a:latin typeface="Times New Roman"/>
                <a:cs typeface="Times New Roman"/>
              </a:rPr>
              <a:t> </a:t>
            </a:r>
            <a:r>
              <a:rPr sz="1632" b="1" spc="-5" dirty="0">
                <a:latin typeface="Times New Roman"/>
                <a:cs typeface="Times New Roman"/>
              </a:rPr>
              <a:t>Training-Validación-Test</a:t>
            </a:r>
            <a:r>
              <a:rPr sz="1632" b="1" spc="9" dirty="0">
                <a:latin typeface="Times New Roman"/>
                <a:cs typeface="Times New Roman"/>
              </a:rPr>
              <a:t> </a:t>
            </a:r>
            <a:r>
              <a:rPr sz="1632" b="1" spc="-5" dirty="0">
                <a:latin typeface="Times New Roman"/>
                <a:cs typeface="Times New Roman"/>
              </a:rPr>
              <a:t>arrojará</a:t>
            </a:r>
            <a:r>
              <a:rPr sz="1632" b="1" spc="9" dirty="0">
                <a:latin typeface="Times New Roman"/>
                <a:cs typeface="Times New Roman"/>
              </a:rPr>
              <a:t> </a:t>
            </a:r>
            <a:r>
              <a:rPr sz="1632" b="1" spc="-5" dirty="0">
                <a:latin typeface="Times New Roman"/>
                <a:cs typeface="Times New Roman"/>
              </a:rPr>
              <a:t>resultados </a:t>
            </a:r>
            <a:r>
              <a:rPr sz="1632" b="1" spc="-394" dirty="0">
                <a:latin typeface="Times New Roman"/>
                <a:cs typeface="Times New Roman"/>
              </a:rPr>
              <a:t> </a:t>
            </a:r>
            <a:r>
              <a:rPr sz="1632" b="1" dirty="0">
                <a:latin typeface="Times New Roman"/>
                <a:cs typeface="Times New Roman"/>
              </a:rPr>
              <a:t>muy</a:t>
            </a:r>
            <a:r>
              <a:rPr sz="1632" b="1" spc="5" dirty="0">
                <a:latin typeface="Times New Roman"/>
                <a:cs typeface="Times New Roman"/>
              </a:rPr>
              <a:t> </a:t>
            </a:r>
            <a:r>
              <a:rPr sz="1632" b="1" spc="-5" dirty="0">
                <a:latin typeface="Times New Roman"/>
                <a:cs typeface="Times New Roman"/>
              </a:rPr>
              <a:t>variables</a:t>
            </a:r>
            <a:r>
              <a:rPr sz="1632" b="1" dirty="0">
                <a:latin typeface="Times New Roman"/>
                <a:cs typeface="Times New Roman"/>
              </a:rPr>
              <a:t> </a:t>
            </a:r>
            <a:r>
              <a:rPr sz="1632" b="1" spc="-5" dirty="0">
                <a:latin typeface="Times New Roman"/>
                <a:cs typeface="Times New Roman"/>
              </a:rPr>
              <a:t>según</a:t>
            </a:r>
            <a:r>
              <a:rPr sz="1632" b="1" dirty="0">
                <a:latin typeface="Times New Roman"/>
                <a:cs typeface="Times New Roman"/>
              </a:rPr>
              <a:t> la</a:t>
            </a:r>
            <a:r>
              <a:rPr sz="1632" b="1" spc="5" dirty="0">
                <a:latin typeface="Times New Roman"/>
                <a:cs typeface="Times New Roman"/>
              </a:rPr>
              <a:t> </a:t>
            </a:r>
            <a:r>
              <a:rPr sz="1632" b="1" spc="-5" dirty="0">
                <a:latin typeface="Times New Roman"/>
                <a:cs typeface="Times New Roman"/>
              </a:rPr>
              <a:t>selección aleatoria</a:t>
            </a:r>
            <a:r>
              <a:rPr sz="1632" b="1" spc="5" dirty="0">
                <a:latin typeface="Times New Roman"/>
                <a:cs typeface="Times New Roman"/>
              </a:rPr>
              <a:t> </a:t>
            </a:r>
            <a:r>
              <a:rPr sz="1632" b="1" spc="-5" dirty="0">
                <a:latin typeface="Times New Roman"/>
                <a:cs typeface="Times New Roman"/>
              </a:rPr>
              <a:t>de</a:t>
            </a:r>
            <a:r>
              <a:rPr sz="1632" b="1" spc="-9" dirty="0">
                <a:latin typeface="Times New Roman"/>
                <a:cs typeface="Times New Roman"/>
              </a:rPr>
              <a:t> </a:t>
            </a:r>
            <a:r>
              <a:rPr sz="1632" b="1" spc="-5" dirty="0">
                <a:latin typeface="Times New Roman"/>
                <a:cs typeface="Times New Roman"/>
              </a:rPr>
              <a:t>esos</a:t>
            </a:r>
            <a:r>
              <a:rPr sz="1632" b="1" spc="-9" dirty="0">
                <a:latin typeface="Times New Roman"/>
                <a:cs typeface="Times New Roman"/>
              </a:rPr>
              <a:t> </a:t>
            </a:r>
            <a:r>
              <a:rPr sz="1632" b="1" spc="-5" dirty="0">
                <a:latin typeface="Times New Roman"/>
                <a:cs typeface="Times New Roman"/>
              </a:rPr>
              <a:t>grupos.</a:t>
            </a:r>
            <a:endParaRPr sz="1632" dirty="0">
              <a:latin typeface="Times New Roman"/>
              <a:cs typeface="Times New Roman"/>
            </a:endParaRPr>
          </a:p>
          <a:p>
            <a:pPr marL="46065">
              <a:spcBef>
                <a:spcPts val="1111"/>
              </a:spcBef>
            </a:pPr>
            <a:r>
              <a:rPr sz="1814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Algoritmo</a:t>
            </a:r>
            <a:r>
              <a:rPr sz="1814" b="1" spc="-9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14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de</a:t>
            </a:r>
            <a:r>
              <a:rPr sz="1814" b="1" spc="-18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14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validación</a:t>
            </a:r>
            <a:r>
              <a:rPr sz="1814" b="1" spc="9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14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cruzada</a:t>
            </a:r>
            <a:endParaRPr sz="1814" dirty="0">
              <a:latin typeface="Times New Roman"/>
              <a:cs typeface="Times New Roman"/>
            </a:endParaRPr>
          </a:p>
          <a:p>
            <a:pPr>
              <a:spcBef>
                <a:spcPts val="41"/>
              </a:spcBef>
            </a:pPr>
            <a:endParaRPr sz="1496" dirty="0">
              <a:latin typeface="Times New Roman"/>
              <a:cs typeface="Times New Roman"/>
            </a:endParaRPr>
          </a:p>
          <a:p>
            <a:pPr marL="270634" indent="-225145">
              <a:lnSpc>
                <a:spcPts val="1922"/>
              </a:lnSpc>
              <a:buAutoNum type="arabicParenR"/>
              <a:tabLst>
                <a:tab pos="271210" algn="l"/>
              </a:tabLst>
            </a:pPr>
            <a:r>
              <a:rPr sz="1814" spc="-5" dirty="0">
                <a:latin typeface="Times New Roman"/>
                <a:cs typeface="Times New Roman"/>
              </a:rPr>
              <a:t>Se</a:t>
            </a:r>
            <a:r>
              <a:rPr sz="1814" dirty="0">
                <a:latin typeface="Times New Roman"/>
                <a:cs typeface="Times New Roman"/>
              </a:rPr>
              <a:t> </a:t>
            </a:r>
            <a:r>
              <a:rPr sz="1814" spc="-5" dirty="0">
                <a:latin typeface="Times New Roman"/>
                <a:cs typeface="Times New Roman"/>
              </a:rPr>
              <a:t>dividen</a:t>
            </a:r>
            <a:r>
              <a:rPr sz="1814" spc="-9" dirty="0">
                <a:latin typeface="Times New Roman"/>
                <a:cs typeface="Times New Roman"/>
              </a:rPr>
              <a:t> </a:t>
            </a:r>
            <a:r>
              <a:rPr sz="1814" dirty="0">
                <a:latin typeface="Times New Roman"/>
                <a:cs typeface="Times New Roman"/>
              </a:rPr>
              <a:t>los datos</a:t>
            </a:r>
            <a:r>
              <a:rPr sz="1814" spc="-9" dirty="0">
                <a:latin typeface="Times New Roman"/>
                <a:cs typeface="Times New Roman"/>
              </a:rPr>
              <a:t> </a:t>
            </a:r>
            <a:r>
              <a:rPr sz="1814" spc="-5" dirty="0">
                <a:latin typeface="Times New Roman"/>
                <a:cs typeface="Times New Roman"/>
              </a:rPr>
              <a:t>aleatoriamente</a:t>
            </a:r>
            <a:r>
              <a:rPr sz="1814" spc="5" dirty="0">
                <a:latin typeface="Times New Roman"/>
                <a:cs typeface="Times New Roman"/>
              </a:rPr>
              <a:t> </a:t>
            </a:r>
            <a:r>
              <a:rPr sz="1814" dirty="0">
                <a:latin typeface="Times New Roman"/>
                <a:cs typeface="Times New Roman"/>
              </a:rPr>
              <a:t>en</a:t>
            </a:r>
            <a:r>
              <a:rPr sz="1814" spc="-5" dirty="0">
                <a:latin typeface="Times New Roman"/>
                <a:cs typeface="Times New Roman"/>
              </a:rPr>
              <a:t> </a:t>
            </a:r>
            <a:r>
              <a:rPr sz="1814" i="1" dirty="0">
                <a:latin typeface="Times New Roman"/>
                <a:cs typeface="Times New Roman"/>
              </a:rPr>
              <a:t>k</a:t>
            </a:r>
            <a:r>
              <a:rPr sz="1814" dirty="0">
                <a:latin typeface="Times New Roman"/>
                <a:cs typeface="Times New Roman"/>
              </a:rPr>
              <a:t> </a:t>
            </a:r>
            <a:r>
              <a:rPr sz="1814" spc="-5" dirty="0" err="1">
                <a:latin typeface="Times New Roman"/>
                <a:cs typeface="Times New Roman"/>
              </a:rPr>
              <a:t>grupos</a:t>
            </a:r>
            <a:r>
              <a:rPr lang="es-ES" sz="1814" spc="-5" dirty="0">
                <a:latin typeface="Times New Roman"/>
                <a:cs typeface="Times New Roman"/>
              </a:rPr>
              <a:t>. La idea es que </a:t>
            </a:r>
            <a:r>
              <a:rPr lang="es-ES" sz="1814" b="1" spc="-5" dirty="0">
                <a:latin typeface="Times New Roman"/>
                <a:cs typeface="Times New Roman"/>
              </a:rPr>
              <a:t>todos los datos pasen</a:t>
            </a:r>
            <a:r>
              <a:rPr lang="es-ES" sz="1814" spc="-5" dirty="0">
                <a:latin typeface="Times New Roman"/>
                <a:cs typeface="Times New Roman"/>
              </a:rPr>
              <a:t> por alguna fase de </a:t>
            </a:r>
            <a:r>
              <a:rPr lang="es-ES" sz="1814" b="1" spc="-5" dirty="0" err="1">
                <a:latin typeface="Times New Roman"/>
                <a:cs typeface="Times New Roman"/>
              </a:rPr>
              <a:t>train</a:t>
            </a:r>
            <a:r>
              <a:rPr lang="es-ES" sz="1814" spc="-5" dirty="0">
                <a:latin typeface="Times New Roman"/>
                <a:cs typeface="Times New Roman"/>
              </a:rPr>
              <a:t> y por alguna de </a:t>
            </a:r>
            <a:r>
              <a:rPr lang="es-ES" sz="1814" b="1" spc="-5" dirty="0">
                <a:latin typeface="Times New Roman"/>
                <a:cs typeface="Times New Roman"/>
              </a:rPr>
              <a:t>test</a:t>
            </a:r>
            <a:r>
              <a:rPr lang="es-ES" sz="1814" spc="-5" dirty="0">
                <a:latin typeface="Times New Roman"/>
                <a:cs typeface="Times New Roman"/>
              </a:rPr>
              <a:t>.</a:t>
            </a:r>
            <a:endParaRPr sz="1814" dirty="0">
              <a:latin typeface="Times New Roman"/>
              <a:cs typeface="Times New Roman"/>
            </a:endParaRPr>
          </a:p>
          <a:p>
            <a:pPr marL="271210" marR="4443012" indent="-271210">
              <a:lnSpc>
                <a:spcPts val="1868"/>
              </a:lnSpc>
              <a:spcBef>
                <a:spcPts val="103"/>
              </a:spcBef>
              <a:buAutoNum type="arabicParenR"/>
              <a:tabLst>
                <a:tab pos="271210" algn="l"/>
              </a:tabLst>
            </a:pPr>
            <a:r>
              <a:rPr sz="1814" spc="-5" dirty="0">
                <a:latin typeface="Times New Roman"/>
                <a:cs typeface="Times New Roman"/>
              </a:rPr>
              <a:t>Se</a:t>
            </a:r>
            <a:r>
              <a:rPr sz="1814" spc="5" dirty="0">
                <a:latin typeface="Times New Roman"/>
                <a:cs typeface="Times New Roman"/>
              </a:rPr>
              <a:t> </a:t>
            </a:r>
            <a:r>
              <a:rPr sz="1814" spc="-5" dirty="0" err="1">
                <a:latin typeface="Times New Roman"/>
                <a:cs typeface="Times New Roman"/>
              </a:rPr>
              <a:t>realiza</a:t>
            </a:r>
            <a:r>
              <a:rPr sz="1814" spc="5" dirty="0">
                <a:latin typeface="Times New Roman"/>
                <a:cs typeface="Times New Roman"/>
              </a:rPr>
              <a:t> </a:t>
            </a:r>
            <a:r>
              <a:rPr sz="1814" spc="-5" dirty="0" err="1">
                <a:latin typeface="Times New Roman"/>
                <a:cs typeface="Times New Roman"/>
              </a:rPr>
              <a:t>iterativamente</a:t>
            </a:r>
            <a:r>
              <a:rPr sz="1814" spc="-5" dirty="0">
                <a:latin typeface="Times New Roman"/>
                <a:cs typeface="Times New Roman"/>
              </a:rPr>
              <a:t>: </a:t>
            </a:r>
            <a:endParaRPr lang="es-ES" sz="1814" spc="-5" dirty="0">
              <a:latin typeface="Times New Roman"/>
              <a:cs typeface="Times New Roman"/>
            </a:endParaRPr>
          </a:p>
          <a:p>
            <a:pPr marR="4443012">
              <a:lnSpc>
                <a:spcPts val="1868"/>
              </a:lnSpc>
              <a:spcBef>
                <a:spcPts val="103"/>
              </a:spcBef>
              <a:tabLst>
                <a:tab pos="271210" algn="l"/>
              </a:tabLst>
            </a:pPr>
            <a:r>
              <a:rPr lang="es-ES" sz="1814" spc="-5" dirty="0">
                <a:latin typeface="Times New Roman"/>
                <a:cs typeface="Times New Roman"/>
              </a:rPr>
              <a:t>       </a:t>
            </a:r>
            <a:r>
              <a:rPr sz="1814" i="1" spc="-394" dirty="0">
                <a:latin typeface="Times New Roman"/>
                <a:cs typeface="Times New Roman"/>
              </a:rPr>
              <a:t> </a:t>
            </a:r>
            <a:r>
              <a:rPr sz="1814" i="1" spc="-5" dirty="0">
                <a:latin typeface="Times New Roman"/>
                <a:cs typeface="Times New Roman"/>
              </a:rPr>
              <a:t>Desde </a:t>
            </a:r>
            <a:r>
              <a:rPr sz="1814" i="1" dirty="0">
                <a:latin typeface="Times New Roman"/>
                <a:cs typeface="Times New Roman"/>
              </a:rPr>
              <a:t>i=1</a:t>
            </a:r>
            <a:r>
              <a:rPr sz="1814" i="1" spc="-9" dirty="0">
                <a:latin typeface="Times New Roman"/>
                <a:cs typeface="Times New Roman"/>
              </a:rPr>
              <a:t> </a:t>
            </a:r>
            <a:r>
              <a:rPr sz="1814" i="1" spc="-5" dirty="0">
                <a:latin typeface="Times New Roman"/>
                <a:cs typeface="Times New Roman"/>
              </a:rPr>
              <a:t>hasta</a:t>
            </a:r>
            <a:r>
              <a:rPr sz="1814" i="1" dirty="0">
                <a:latin typeface="Times New Roman"/>
                <a:cs typeface="Times New Roman"/>
              </a:rPr>
              <a:t> k</a:t>
            </a:r>
          </a:p>
          <a:p>
            <a:pPr marL="861424">
              <a:lnSpc>
                <a:spcPts val="1795"/>
              </a:lnSpc>
            </a:pPr>
            <a:r>
              <a:rPr sz="1814" i="1" spc="-5" dirty="0">
                <a:latin typeface="Times New Roman"/>
                <a:cs typeface="Times New Roman"/>
              </a:rPr>
              <a:t>Dejar</a:t>
            </a:r>
            <a:r>
              <a:rPr sz="1814" i="1" spc="-9" dirty="0">
                <a:latin typeface="Times New Roman"/>
                <a:cs typeface="Times New Roman"/>
              </a:rPr>
              <a:t> </a:t>
            </a:r>
            <a:r>
              <a:rPr sz="1814" i="1" spc="-5" dirty="0">
                <a:latin typeface="Times New Roman"/>
                <a:cs typeface="Times New Roman"/>
              </a:rPr>
              <a:t>aparte</a:t>
            </a:r>
            <a:r>
              <a:rPr sz="1814" i="1" spc="-9" dirty="0">
                <a:latin typeface="Times New Roman"/>
                <a:cs typeface="Times New Roman"/>
              </a:rPr>
              <a:t> </a:t>
            </a:r>
            <a:r>
              <a:rPr sz="1814" i="1" dirty="0">
                <a:latin typeface="Times New Roman"/>
                <a:cs typeface="Times New Roman"/>
              </a:rPr>
              <a:t>el</a:t>
            </a:r>
            <a:r>
              <a:rPr sz="1814" i="1" spc="-9" dirty="0">
                <a:latin typeface="Times New Roman"/>
                <a:cs typeface="Times New Roman"/>
              </a:rPr>
              <a:t> </a:t>
            </a:r>
            <a:r>
              <a:rPr sz="1814" i="1" spc="-5" dirty="0" err="1">
                <a:latin typeface="Times New Roman"/>
                <a:cs typeface="Times New Roman"/>
              </a:rPr>
              <a:t>grupo</a:t>
            </a:r>
            <a:r>
              <a:rPr sz="1814" i="1" spc="-5" dirty="0">
                <a:latin typeface="Times New Roman"/>
                <a:cs typeface="Times New Roman"/>
              </a:rPr>
              <a:t> </a:t>
            </a:r>
            <a:r>
              <a:rPr sz="1814" i="1" dirty="0" err="1">
                <a:latin typeface="Times New Roman"/>
                <a:cs typeface="Times New Roman"/>
              </a:rPr>
              <a:t>i</a:t>
            </a:r>
            <a:r>
              <a:rPr lang="es-ES" sz="1814" i="1" dirty="0">
                <a:latin typeface="Times New Roman"/>
                <a:cs typeface="Times New Roman"/>
              </a:rPr>
              <a:t>;</a:t>
            </a:r>
            <a:endParaRPr sz="1814" i="1" dirty="0">
              <a:latin typeface="Times New Roman"/>
              <a:cs typeface="Times New Roman"/>
            </a:endParaRPr>
          </a:p>
          <a:p>
            <a:pPr marL="861424">
              <a:lnSpc>
                <a:spcPts val="1877"/>
              </a:lnSpc>
            </a:pPr>
            <a:r>
              <a:rPr sz="1814" i="1" dirty="0">
                <a:latin typeface="Times New Roman"/>
                <a:cs typeface="Times New Roman"/>
              </a:rPr>
              <a:t>Construir </a:t>
            </a:r>
            <a:r>
              <a:rPr sz="1814" i="1" spc="-5" dirty="0">
                <a:latin typeface="Times New Roman"/>
                <a:cs typeface="Times New Roman"/>
              </a:rPr>
              <a:t>el</a:t>
            </a:r>
            <a:r>
              <a:rPr sz="1814" i="1" dirty="0">
                <a:latin typeface="Times New Roman"/>
                <a:cs typeface="Times New Roman"/>
              </a:rPr>
              <a:t> </a:t>
            </a:r>
            <a:r>
              <a:rPr sz="1814" i="1" spc="-5" dirty="0">
                <a:latin typeface="Times New Roman"/>
                <a:cs typeface="Times New Roman"/>
              </a:rPr>
              <a:t>modelo</a:t>
            </a:r>
            <a:r>
              <a:rPr sz="1814" i="1" spc="-14" dirty="0">
                <a:latin typeface="Times New Roman"/>
                <a:cs typeface="Times New Roman"/>
              </a:rPr>
              <a:t> </a:t>
            </a:r>
            <a:r>
              <a:rPr sz="1814" i="1" dirty="0">
                <a:latin typeface="Times New Roman"/>
                <a:cs typeface="Times New Roman"/>
              </a:rPr>
              <a:t>con</a:t>
            </a:r>
            <a:r>
              <a:rPr sz="1814" i="1" spc="399" dirty="0">
                <a:latin typeface="Times New Roman"/>
                <a:cs typeface="Times New Roman"/>
              </a:rPr>
              <a:t> </a:t>
            </a:r>
            <a:r>
              <a:rPr sz="1814" i="1" dirty="0">
                <a:latin typeface="Times New Roman"/>
                <a:cs typeface="Times New Roman"/>
              </a:rPr>
              <a:t>los</a:t>
            </a:r>
            <a:r>
              <a:rPr sz="1814" i="1" spc="-5" dirty="0">
                <a:latin typeface="Times New Roman"/>
                <a:cs typeface="Times New Roman"/>
              </a:rPr>
              <a:t> </a:t>
            </a:r>
            <a:r>
              <a:rPr sz="1814" i="1" spc="-5" dirty="0" err="1">
                <a:latin typeface="Times New Roman"/>
                <a:cs typeface="Times New Roman"/>
              </a:rPr>
              <a:t>grupos</a:t>
            </a:r>
            <a:r>
              <a:rPr sz="1814" i="1" dirty="0">
                <a:latin typeface="Times New Roman"/>
                <a:cs typeface="Times New Roman"/>
              </a:rPr>
              <a:t> </a:t>
            </a:r>
            <a:r>
              <a:rPr sz="1814" i="1" spc="-5" dirty="0" err="1">
                <a:latin typeface="Times New Roman"/>
                <a:cs typeface="Times New Roman"/>
              </a:rPr>
              <a:t>restantes</a:t>
            </a:r>
            <a:r>
              <a:rPr lang="es-ES" sz="1814" i="1" spc="-5" dirty="0">
                <a:latin typeface="Times New Roman"/>
                <a:cs typeface="Times New Roman"/>
              </a:rPr>
              <a:t>;</a:t>
            </a:r>
            <a:endParaRPr sz="1814" i="1" dirty="0">
              <a:latin typeface="Times New Roman"/>
              <a:cs typeface="Times New Roman"/>
            </a:endParaRPr>
          </a:p>
          <a:p>
            <a:pPr marL="861424">
              <a:lnSpc>
                <a:spcPts val="1877"/>
              </a:lnSpc>
            </a:pPr>
            <a:r>
              <a:rPr sz="1814" i="1" spc="-5" dirty="0">
                <a:latin typeface="Times New Roman"/>
                <a:cs typeface="Times New Roman"/>
              </a:rPr>
              <a:t>Estimar</a:t>
            </a:r>
            <a:r>
              <a:rPr sz="1814" i="1" dirty="0">
                <a:latin typeface="Times New Roman"/>
                <a:cs typeface="Times New Roman"/>
              </a:rPr>
              <a:t> </a:t>
            </a:r>
            <a:r>
              <a:rPr sz="1814" i="1" spc="-5" dirty="0">
                <a:latin typeface="Times New Roman"/>
                <a:cs typeface="Times New Roman"/>
              </a:rPr>
              <a:t>el</a:t>
            </a:r>
            <a:r>
              <a:rPr sz="1814" i="1" dirty="0">
                <a:latin typeface="Times New Roman"/>
                <a:cs typeface="Times New Roman"/>
              </a:rPr>
              <a:t> error (por </a:t>
            </a:r>
            <a:r>
              <a:rPr sz="1814" i="1" spc="-5" dirty="0">
                <a:latin typeface="Times New Roman"/>
                <a:cs typeface="Times New Roman"/>
              </a:rPr>
              <a:t>ejemplo</a:t>
            </a:r>
            <a:r>
              <a:rPr sz="1814" i="1" dirty="0">
                <a:latin typeface="Times New Roman"/>
                <a:cs typeface="Times New Roman"/>
              </a:rPr>
              <a:t> </a:t>
            </a:r>
            <a:r>
              <a:rPr sz="1814" i="1" spc="-5" dirty="0">
                <a:latin typeface="Times New Roman"/>
                <a:cs typeface="Times New Roman"/>
              </a:rPr>
              <a:t>ASE)</a:t>
            </a:r>
            <a:r>
              <a:rPr sz="1814" i="1" spc="5" dirty="0">
                <a:latin typeface="Times New Roman"/>
                <a:cs typeface="Times New Roman"/>
              </a:rPr>
              <a:t> </a:t>
            </a:r>
            <a:r>
              <a:rPr sz="1814" i="1" spc="-5" dirty="0">
                <a:latin typeface="Times New Roman"/>
                <a:cs typeface="Times New Roman"/>
              </a:rPr>
              <a:t>al</a:t>
            </a:r>
            <a:r>
              <a:rPr sz="1814" i="1" spc="5" dirty="0">
                <a:latin typeface="Times New Roman"/>
                <a:cs typeface="Times New Roman"/>
              </a:rPr>
              <a:t> </a:t>
            </a:r>
            <a:r>
              <a:rPr sz="1814" i="1" spc="-5" dirty="0">
                <a:latin typeface="Times New Roman"/>
                <a:cs typeface="Times New Roman"/>
              </a:rPr>
              <a:t>predecir</a:t>
            </a:r>
            <a:r>
              <a:rPr sz="1814" i="1" dirty="0">
                <a:latin typeface="Times New Roman"/>
                <a:cs typeface="Times New Roman"/>
              </a:rPr>
              <a:t> </a:t>
            </a:r>
            <a:r>
              <a:rPr sz="1814" i="1" spc="5" dirty="0">
                <a:latin typeface="Times New Roman"/>
                <a:cs typeface="Times New Roman"/>
              </a:rPr>
              <a:t>el</a:t>
            </a:r>
            <a:r>
              <a:rPr sz="1814" i="1" spc="-14" dirty="0">
                <a:latin typeface="Times New Roman"/>
                <a:cs typeface="Times New Roman"/>
              </a:rPr>
              <a:t> </a:t>
            </a:r>
            <a:r>
              <a:rPr sz="1814" i="1" dirty="0">
                <a:latin typeface="Times New Roman"/>
                <a:cs typeface="Times New Roman"/>
              </a:rPr>
              <a:t>grupo i:  Error</a:t>
            </a:r>
            <a:r>
              <a:rPr sz="1632" i="1" baseline="-12077" dirty="0">
                <a:latin typeface="Times New Roman"/>
                <a:cs typeface="Times New Roman"/>
              </a:rPr>
              <a:t>i</a:t>
            </a:r>
          </a:p>
          <a:p>
            <a:pPr marL="453745">
              <a:lnSpc>
                <a:spcPts val="1877"/>
              </a:lnSpc>
            </a:pPr>
            <a:r>
              <a:rPr sz="1814" i="1" spc="-5" dirty="0">
                <a:latin typeface="Times New Roman"/>
                <a:cs typeface="Times New Roman"/>
              </a:rPr>
              <a:t>Fin</a:t>
            </a:r>
            <a:endParaRPr sz="1814" i="1" dirty="0">
              <a:latin typeface="Times New Roman"/>
              <a:cs typeface="Times New Roman"/>
            </a:endParaRPr>
          </a:p>
          <a:p>
            <a:pPr marL="270634" indent="-225145">
              <a:lnSpc>
                <a:spcPts val="1922"/>
              </a:lnSpc>
              <a:buAutoNum type="arabicParenR" startAt="3"/>
              <a:tabLst>
                <a:tab pos="271210" algn="l"/>
              </a:tabLst>
            </a:pPr>
            <a:r>
              <a:rPr sz="1814" spc="-5" dirty="0">
                <a:latin typeface="Times New Roman"/>
                <a:cs typeface="Times New Roman"/>
              </a:rPr>
              <a:t>Una</a:t>
            </a:r>
            <a:r>
              <a:rPr sz="1814" dirty="0">
                <a:latin typeface="Times New Roman"/>
                <a:cs typeface="Times New Roman"/>
              </a:rPr>
              <a:t> </a:t>
            </a:r>
            <a:r>
              <a:rPr sz="1814" spc="-5" dirty="0">
                <a:latin typeface="Times New Roman"/>
                <a:cs typeface="Times New Roman"/>
              </a:rPr>
              <a:t>medida</a:t>
            </a:r>
            <a:r>
              <a:rPr sz="1814" spc="9" dirty="0">
                <a:latin typeface="Times New Roman"/>
                <a:cs typeface="Times New Roman"/>
              </a:rPr>
              <a:t> </a:t>
            </a:r>
            <a:r>
              <a:rPr sz="1814" spc="-9" dirty="0">
                <a:latin typeface="Times New Roman"/>
                <a:cs typeface="Times New Roman"/>
              </a:rPr>
              <a:t>de</a:t>
            </a:r>
            <a:r>
              <a:rPr sz="1814" spc="5" dirty="0">
                <a:latin typeface="Times New Roman"/>
                <a:cs typeface="Times New Roman"/>
              </a:rPr>
              <a:t> </a:t>
            </a:r>
            <a:r>
              <a:rPr sz="1814" dirty="0">
                <a:latin typeface="Times New Roman"/>
                <a:cs typeface="Times New Roman"/>
              </a:rPr>
              <a:t>error</a:t>
            </a:r>
            <a:r>
              <a:rPr sz="1814" spc="-5" dirty="0">
                <a:latin typeface="Times New Roman"/>
                <a:cs typeface="Times New Roman"/>
              </a:rPr>
              <a:t> </a:t>
            </a:r>
            <a:r>
              <a:rPr sz="1814" dirty="0">
                <a:latin typeface="Times New Roman"/>
                <a:cs typeface="Times New Roman"/>
              </a:rPr>
              <a:t>de</a:t>
            </a:r>
            <a:r>
              <a:rPr sz="1814" spc="-5" dirty="0">
                <a:latin typeface="Times New Roman"/>
                <a:cs typeface="Times New Roman"/>
              </a:rPr>
              <a:t> predicción</a:t>
            </a:r>
            <a:r>
              <a:rPr sz="1814" spc="5" dirty="0">
                <a:latin typeface="Times New Roman"/>
                <a:cs typeface="Times New Roman"/>
              </a:rPr>
              <a:t> </a:t>
            </a:r>
            <a:r>
              <a:rPr sz="1814" spc="-5" dirty="0">
                <a:latin typeface="Times New Roman"/>
                <a:cs typeface="Times New Roman"/>
              </a:rPr>
              <a:t>del</a:t>
            </a:r>
            <a:r>
              <a:rPr sz="1814" spc="14" dirty="0">
                <a:latin typeface="Times New Roman"/>
                <a:cs typeface="Times New Roman"/>
              </a:rPr>
              <a:t> </a:t>
            </a:r>
            <a:r>
              <a:rPr sz="1814" spc="-5" dirty="0">
                <a:latin typeface="Times New Roman"/>
                <a:cs typeface="Times New Roman"/>
              </a:rPr>
              <a:t>modelo</a:t>
            </a:r>
            <a:r>
              <a:rPr sz="1814" spc="-18" dirty="0">
                <a:latin typeface="Times New Roman"/>
                <a:cs typeface="Times New Roman"/>
              </a:rPr>
              <a:t> </a:t>
            </a:r>
            <a:r>
              <a:rPr sz="1814" spc="-5" dirty="0">
                <a:latin typeface="Times New Roman"/>
                <a:cs typeface="Times New Roman"/>
              </a:rPr>
              <a:t>será</a:t>
            </a:r>
            <a:r>
              <a:rPr sz="1814" spc="9" dirty="0">
                <a:latin typeface="Times New Roman"/>
                <a:cs typeface="Times New Roman"/>
              </a:rPr>
              <a:t> </a:t>
            </a:r>
            <a:r>
              <a:rPr sz="1814" spc="-5" dirty="0">
                <a:latin typeface="Times New Roman"/>
                <a:cs typeface="Times New Roman"/>
              </a:rPr>
              <a:t>la</a:t>
            </a:r>
            <a:r>
              <a:rPr sz="1814" spc="5" dirty="0">
                <a:latin typeface="Times New Roman"/>
                <a:cs typeface="Times New Roman"/>
              </a:rPr>
              <a:t> </a:t>
            </a:r>
            <a:r>
              <a:rPr sz="1814" spc="-9" dirty="0">
                <a:latin typeface="Times New Roman"/>
                <a:cs typeface="Times New Roman"/>
              </a:rPr>
              <a:t>suma</a:t>
            </a:r>
            <a:r>
              <a:rPr sz="1814" spc="9" dirty="0">
                <a:latin typeface="Times New Roman"/>
                <a:cs typeface="Times New Roman"/>
              </a:rPr>
              <a:t> </a:t>
            </a:r>
            <a:r>
              <a:rPr sz="1814" dirty="0">
                <a:latin typeface="Times New Roman"/>
                <a:cs typeface="Times New Roman"/>
              </a:rPr>
              <a:t>o</a:t>
            </a:r>
            <a:r>
              <a:rPr sz="1814" spc="-9" dirty="0">
                <a:latin typeface="Times New Roman"/>
                <a:cs typeface="Times New Roman"/>
              </a:rPr>
              <a:t> </a:t>
            </a:r>
            <a:r>
              <a:rPr sz="1814" spc="-5" dirty="0">
                <a:latin typeface="Times New Roman"/>
                <a:cs typeface="Times New Roman"/>
              </a:rPr>
              <a:t>media</a:t>
            </a:r>
            <a:r>
              <a:rPr sz="1814" dirty="0">
                <a:latin typeface="Times New Roman"/>
                <a:cs typeface="Times New Roman"/>
              </a:rPr>
              <a:t> de</a:t>
            </a:r>
            <a:r>
              <a:rPr sz="1814" spc="-5" dirty="0">
                <a:latin typeface="Times New Roman"/>
                <a:cs typeface="Times New Roman"/>
              </a:rPr>
              <a:t> </a:t>
            </a:r>
            <a:r>
              <a:rPr sz="1814" dirty="0" err="1">
                <a:latin typeface="Times New Roman"/>
                <a:cs typeface="Times New Roman"/>
              </a:rPr>
              <a:t>los</a:t>
            </a:r>
            <a:r>
              <a:rPr sz="1814" spc="5" dirty="0">
                <a:latin typeface="Times New Roman"/>
                <a:cs typeface="Times New Roman"/>
              </a:rPr>
              <a:t> </a:t>
            </a:r>
            <a:r>
              <a:rPr lang="es-ES" sz="1814" spc="5" dirty="0" err="1">
                <a:latin typeface="Times New Roman"/>
                <a:cs typeface="Times New Roman"/>
              </a:rPr>
              <a:t>e</a:t>
            </a:r>
            <a:r>
              <a:rPr sz="1814" spc="5" dirty="0" err="1">
                <a:latin typeface="Times New Roman"/>
                <a:cs typeface="Times New Roman"/>
              </a:rPr>
              <a:t>rro</a:t>
            </a:r>
            <a:r>
              <a:rPr lang="es-ES" sz="1814" spc="5" dirty="0">
                <a:latin typeface="Times New Roman"/>
                <a:cs typeface="Times New Roman"/>
              </a:rPr>
              <a:t>res, </a:t>
            </a:r>
            <a:r>
              <a:rPr lang="es-ES" sz="1814" i="1" spc="5" dirty="0" err="1">
                <a:latin typeface="Times New Roman"/>
                <a:cs typeface="Times New Roman"/>
              </a:rPr>
              <a:t>Error</a:t>
            </a:r>
            <a:r>
              <a:rPr lang="es-ES" sz="1814" i="1" spc="5" baseline="-25000" dirty="0" err="1">
                <a:latin typeface="Times New Roman"/>
                <a:cs typeface="Times New Roman"/>
              </a:rPr>
              <a:t>i</a:t>
            </a:r>
            <a:endParaRPr sz="1632" i="1" baseline="-25000" dirty="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24776" y="4327278"/>
            <a:ext cx="5085054" cy="1987725"/>
          </a:xfrm>
          <a:prstGeom prst="rect">
            <a:avLst/>
          </a:prstGeom>
        </p:spPr>
      </p:pic>
      <p:sp>
        <p:nvSpPr>
          <p:cNvPr id="4" name="CuadroTexto 3"/>
          <p:cNvSpPr txBox="1"/>
          <p:nvPr/>
        </p:nvSpPr>
        <p:spPr>
          <a:xfrm>
            <a:off x="1458367" y="6262028"/>
            <a:ext cx="9299341" cy="3434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632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 distintos conjuntos de </a:t>
            </a:r>
            <a:r>
              <a:rPr lang="es-ES" sz="1632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train</a:t>
            </a:r>
            <a:r>
              <a:rPr lang="es-ES" sz="1632" dirty="0">
                <a:latin typeface="Times New Roman" panose="02020603050405020304" pitchFamily="18" charset="0"/>
                <a:cs typeface="Times New Roman" panose="02020603050405020304" pitchFamily="18" charset="0"/>
              </a:rPr>
              <a:t>/test, usamos la validación cruzada para evaluar cómo se comporta el modelo</a:t>
            </a:r>
          </a:p>
        </p:txBody>
      </p:sp>
    </p:spTree>
    <p:extLst>
      <p:ext uri="{BB962C8B-B14F-4D97-AF65-F5344CB8AC3E}">
        <p14:creationId xmlns:p14="http://schemas.microsoft.com/office/powerpoint/2010/main" val="2643847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742812" y="1010561"/>
            <a:ext cx="8222690" cy="5327640"/>
          </a:xfrm>
          <a:prstGeom prst="rect">
            <a:avLst/>
          </a:prstGeom>
        </p:spPr>
        <p:txBody>
          <a:bodyPr vert="horz" wrap="square" lIns="0" tIns="12092" rIns="0" bIns="0" rtlCol="0">
            <a:spAutoFit/>
          </a:bodyPr>
          <a:lstStyle/>
          <a:p>
            <a:pPr marL="218811" algn="just">
              <a:spcBef>
                <a:spcPts val="95"/>
              </a:spcBef>
              <a:buClr>
                <a:srgbClr val="FF0000"/>
              </a:buClr>
              <a:buSzPct val="110000"/>
              <a:tabLst>
                <a:tab pos="426105" algn="l"/>
              </a:tabLst>
            </a:pPr>
            <a:r>
              <a:rPr lang="es-ES" sz="1814" b="1"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Ventajas </a:t>
            </a:r>
            <a:r>
              <a:rPr lang="es-ES" sz="1814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</a:t>
            </a:r>
            <a:r>
              <a:rPr lang="es-ES" sz="1814" b="1"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1814" b="1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</a:t>
            </a:r>
            <a:r>
              <a:rPr lang="es-ES" sz="1814" b="1"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1814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validación </a:t>
            </a:r>
            <a:r>
              <a:rPr lang="es-ES" sz="1814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cruzada:</a:t>
            </a:r>
          </a:p>
          <a:p>
            <a:pPr marL="218811" algn="just">
              <a:spcBef>
                <a:spcPts val="95"/>
              </a:spcBef>
              <a:buClr>
                <a:srgbClr val="FF0000"/>
              </a:buClr>
              <a:buSzPct val="110000"/>
              <a:tabLst>
                <a:tab pos="426105" algn="l"/>
              </a:tabLst>
            </a:pPr>
            <a:endParaRPr lang="es-ES" sz="1814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26105" indent="-207294" algn="just">
              <a:buFont typeface="Symbol"/>
              <a:buChar char=""/>
              <a:tabLst>
                <a:tab pos="426105" algn="l"/>
              </a:tabLst>
            </a:pPr>
            <a:r>
              <a:rPr lang="es-ES" sz="18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 el mejor esquema de validación, pues utiliza todos los datos</a:t>
            </a:r>
          </a:p>
          <a:p>
            <a:pPr marL="426105" indent="-207294" algn="just">
              <a:buFont typeface="Symbol"/>
              <a:buChar char=""/>
              <a:tabLst>
                <a:tab pos="426105" algn="l"/>
              </a:tabLst>
            </a:pPr>
            <a:r>
              <a:rPr lang="es-ES" sz="18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validación cruzada repetida permite evaluar la variabilidad del modelo</a:t>
            </a:r>
          </a:p>
          <a:p>
            <a:pPr marL="218811" algn="just">
              <a:spcBef>
                <a:spcPts val="95"/>
              </a:spcBef>
              <a:buClr>
                <a:srgbClr val="FF0000"/>
              </a:buClr>
              <a:buSzPct val="110000"/>
              <a:tabLst>
                <a:tab pos="426105" algn="l"/>
              </a:tabLst>
            </a:pPr>
            <a:endParaRPr lang="es-ES" sz="1814" b="1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8811" algn="just">
              <a:spcBef>
                <a:spcPts val="95"/>
              </a:spcBef>
              <a:buClr>
                <a:srgbClr val="FF0000"/>
              </a:buClr>
              <a:buSzPct val="110000"/>
              <a:tabLst>
                <a:tab pos="426105" algn="l"/>
              </a:tabLst>
            </a:pPr>
            <a:r>
              <a:rPr sz="1814" b="1" spc="-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Desventajas</a:t>
            </a:r>
            <a:r>
              <a:rPr sz="1814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14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</a:t>
            </a:r>
            <a:r>
              <a:rPr sz="1814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14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</a:t>
            </a:r>
            <a:r>
              <a:rPr sz="1814" b="1" spc="-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validación</a:t>
            </a:r>
            <a:r>
              <a:rPr sz="1814" b="1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14" b="1" spc="-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cruzada</a:t>
            </a:r>
            <a:r>
              <a:rPr sz="1814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sz="1814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26105" indent="-207294" algn="just">
              <a:spcBef>
                <a:spcPts val="1922"/>
              </a:spcBef>
              <a:buFont typeface="Symbol"/>
              <a:buChar char=""/>
              <a:tabLst>
                <a:tab pos="426105" algn="l"/>
              </a:tabLst>
            </a:pPr>
            <a:r>
              <a:rPr sz="18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1814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veces</a:t>
            </a:r>
            <a:r>
              <a:rPr sz="1814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</a:t>
            </a:r>
            <a:r>
              <a:rPr sz="1814" spc="-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14" spc="-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resultado</a:t>
            </a:r>
            <a:r>
              <a:rPr sz="1814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sz="1814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qué</a:t>
            </a:r>
            <a:r>
              <a:rPr sz="1814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14" spc="-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modelo</a:t>
            </a:r>
            <a:r>
              <a:rPr sz="1814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14" spc="-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funciona</a:t>
            </a:r>
            <a:r>
              <a:rPr sz="1814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14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mejor</a:t>
            </a:r>
            <a:r>
              <a:rPr sz="18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sz="1814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14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depende</a:t>
            </a:r>
            <a:r>
              <a:rPr sz="1814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</a:t>
            </a:r>
            <a:r>
              <a:rPr sz="1814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14" spc="-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número</a:t>
            </a:r>
            <a:r>
              <a:rPr sz="1814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</a:t>
            </a:r>
            <a:r>
              <a:rPr sz="1814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14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grupos</a:t>
            </a:r>
            <a:r>
              <a:rPr sz="1814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14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</a:p>
          <a:p>
            <a:pPr marL="425530" marR="4607" indent="-207294" algn="just">
              <a:lnSpc>
                <a:spcPts val="2077"/>
              </a:lnSpc>
              <a:buFont typeface="Symbol"/>
              <a:buChar char=""/>
              <a:tabLst>
                <a:tab pos="426105" algn="l"/>
              </a:tabLst>
            </a:pPr>
            <a:r>
              <a:rPr sz="18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</a:t>
            </a:r>
            <a:r>
              <a:rPr sz="1814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14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método</a:t>
            </a:r>
            <a:r>
              <a:rPr sz="1814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14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también</a:t>
            </a:r>
            <a:r>
              <a:rPr sz="1814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14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</a:t>
            </a:r>
            <a:r>
              <a:rPr sz="18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la</a:t>
            </a:r>
            <a:r>
              <a:rPr sz="1814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14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asignación</a:t>
            </a:r>
            <a:r>
              <a:rPr sz="1814"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aleatoria</a:t>
            </a:r>
            <a:r>
              <a:rPr sz="1814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814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14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</a:t>
            </a:r>
            <a:r>
              <a:rPr sz="1814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grupos</a:t>
            </a:r>
            <a:r>
              <a:rPr sz="1814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(habría</a:t>
            </a:r>
            <a:r>
              <a:rPr sz="1814"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14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</a:t>
            </a:r>
            <a:r>
              <a:rPr sz="1814"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14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probar</a:t>
            </a:r>
            <a:r>
              <a:rPr sz="1814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14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 </a:t>
            </a:r>
            <a:r>
              <a:rPr sz="1814" spc="-4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varias</a:t>
            </a:r>
            <a:r>
              <a:rPr sz="1814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14" spc="-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semillas</a:t>
            </a:r>
            <a:r>
              <a:rPr sz="1814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sz="1814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26105" indent="-207294" algn="just">
              <a:buFont typeface="Symbol"/>
              <a:buChar char=""/>
              <a:tabLst>
                <a:tab pos="426105" algn="l"/>
              </a:tabLst>
            </a:pPr>
            <a:r>
              <a:rPr sz="18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 error</a:t>
            </a:r>
            <a:r>
              <a:rPr sz="1814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</a:t>
            </a:r>
            <a:r>
              <a:rPr sz="1814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predicción</a:t>
            </a:r>
            <a:r>
              <a:rPr sz="1814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14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también</a:t>
            </a:r>
            <a:r>
              <a:rPr sz="1814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14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suele</a:t>
            </a:r>
            <a:r>
              <a:rPr sz="1814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14" spc="-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estar</a:t>
            </a:r>
            <a:r>
              <a:rPr sz="1814"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14" spc="-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subestimado</a:t>
            </a:r>
            <a:endParaRPr sz="1814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26105" indent="-207294" algn="just">
              <a:buFont typeface="Symbol"/>
              <a:buChar char=""/>
              <a:tabLst>
                <a:tab pos="426105" algn="l"/>
              </a:tabLst>
            </a:pPr>
            <a:r>
              <a:rPr sz="1814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Algunos</a:t>
            </a:r>
            <a:r>
              <a:rPr sz="1814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14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investigadores </a:t>
            </a:r>
            <a:r>
              <a:rPr sz="18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proponen </a:t>
            </a:r>
            <a:r>
              <a:rPr sz="1814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incluir</a:t>
            </a:r>
            <a:r>
              <a:rPr sz="1814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</a:t>
            </a:r>
            <a:r>
              <a:rPr sz="1814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14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selección</a:t>
            </a:r>
            <a:r>
              <a:rPr sz="1814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</a:t>
            </a:r>
            <a:r>
              <a:rPr sz="1814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14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variables</a:t>
            </a:r>
            <a:r>
              <a:rPr sz="1814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14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</a:t>
            </a:r>
            <a:r>
              <a:rPr sz="1814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14" spc="-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cada</a:t>
            </a:r>
            <a:r>
              <a:rPr sz="18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14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iteración</a:t>
            </a:r>
            <a:endParaRPr lang="es-ES" sz="1814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26105" indent="-207294" algn="just">
              <a:buFont typeface="Symbol"/>
              <a:buChar char=""/>
              <a:tabLst>
                <a:tab pos="426105" algn="l"/>
              </a:tabLst>
            </a:pPr>
            <a:endParaRPr lang="es-ES" sz="1814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26105" indent="-207294" algn="just">
              <a:buFont typeface="Symbol"/>
              <a:buChar char=""/>
              <a:tabLst>
                <a:tab pos="426105" algn="l"/>
              </a:tabLst>
            </a:pPr>
            <a:endParaRPr lang="es-ES" sz="1814" spc="32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8811" algn="just">
              <a:tabLst>
                <a:tab pos="426105" algn="l"/>
              </a:tabLst>
            </a:pPr>
            <a:r>
              <a:rPr lang="es-ES" sz="1814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Selección de variables en cada paso de la validación cruzada</a:t>
            </a:r>
          </a:p>
          <a:p>
            <a:pPr marL="218811" algn="just">
              <a:tabLst>
                <a:tab pos="426105" algn="l"/>
              </a:tabLst>
            </a:pPr>
            <a:endParaRPr lang="es-ES" sz="1814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29753" indent="-310942" algn="just">
              <a:buFont typeface="Arial" panose="020B0604020202020204" pitchFamily="34" charset="0"/>
              <a:buChar char="•"/>
              <a:tabLst>
                <a:tab pos="426105" algn="l"/>
              </a:tabLst>
            </a:pPr>
            <a:r>
              <a:rPr lang="es-ES" sz="1814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Seguramente mejora el modelo, pero puede tener mucho coste computacional</a:t>
            </a:r>
          </a:p>
          <a:p>
            <a:pPr marL="218811">
              <a:tabLst>
                <a:tab pos="426105" algn="l"/>
              </a:tabLst>
            </a:pPr>
            <a:endParaRPr sz="1995" spc="-5" dirty="0">
              <a:solidFill>
                <a:srgbClr val="FF0000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34614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1819" y="0"/>
            <a:ext cx="11102109" cy="6713720"/>
          </a:xfrm>
          <a:prstGeom prst="rect">
            <a:avLst/>
          </a:prstGeom>
        </p:spPr>
        <p:txBody>
          <a:bodyPr vert="horz" wrap="square" lIns="0" tIns="11516" rIns="0" bIns="0" rtlCol="0">
            <a:spAutoFit/>
          </a:bodyPr>
          <a:lstStyle/>
          <a:p>
            <a:pPr algn="just">
              <a:spcBef>
                <a:spcPts val="5"/>
              </a:spcBef>
            </a:pPr>
            <a:endParaRPr sz="1723" dirty="0">
              <a:latin typeface="Times New Roman"/>
              <a:cs typeface="Times New Roman"/>
            </a:endParaRPr>
          </a:p>
          <a:p>
            <a:pPr marL="14395" algn="just">
              <a:lnSpc>
                <a:spcPts val="2126"/>
              </a:lnSpc>
              <a:tabLst>
                <a:tab pos="265452" algn="l"/>
              </a:tabLst>
            </a:pPr>
            <a:r>
              <a:rPr lang="es-ES" sz="1814" spc="-5" dirty="0" smtClean="0">
                <a:latin typeface="Times New Roman"/>
                <a:cs typeface="Times New Roman"/>
              </a:rPr>
              <a:t>En problemas de regresión cuantitativa: s</a:t>
            </a:r>
            <a:r>
              <a:rPr sz="1814" spc="-5" dirty="0" smtClean="0">
                <a:latin typeface="Times New Roman"/>
                <a:cs typeface="Times New Roman"/>
              </a:rPr>
              <a:t>e</a:t>
            </a:r>
            <a:r>
              <a:rPr sz="1814" spc="5" dirty="0" smtClean="0">
                <a:latin typeface="Times New Roman"/>
                <a:cs typeface="Times New Roman"/>
              </a:rPr>
              <a:t> </a:t>
            </a:r>
            <a:r>
              <a:rPr sz="1814" spc="-5" dirty="0" err="1">
                <a:latin typeface="Times New Roman"/>
                <a:cs typeface="Times New Roman"/>
              </a:rPr>
              <a:t>suele</a:t>
            </a:r>
            <a:r>
              <a:rPr sz="1814" spc="-9" dirty="0">
                <a:latin typeface="Times New Roman"/>
                <a:cs typeface="Times New Roman"/>
              </a:rPr>
              <a:t> </a:t>
            </a:r>
            <a:r>
              <a:rPr lang="es-ES" sz="1814" spc="-5" dirty="0">
                <a:latin typeface="Times New Roman"/>
                <a:cs typeface="Times New Roman"/>
              </a:rPr>
              <a:t>usar </a:t>
            </a:r>
            <a:r>
              <a:rPr sz="1814" dirty="0">
                <a:solidFill>
                  <a:srgbClr val="FF0000"/>
                </a:solidFill>
                <a:latin typeface="Times New Roman"/>
                <a:cs typeface="Times New Roman"/>
              </a:rPr>
              <a:t>ASE-MSE</a:t>
            </a:r>
            <a:r>
              <a:rPr sz="1814" spc="-9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s-ES" sz="1814" spc="-9" dirty="0">
                <a:latin typeface="Times New Roman"/>
                <a:cs typeface="Times New Roman"/>
              </a:rPr>
              <a:t>(error cuadrático medio) </a:t>
            </a:r>
            <a:r>
              <a:rPr sz="1814" spc="-5" dirty="0" err="1">
                <a:latin typeface="Times New Roman"/>
                <a:cs typeface="Times New Roman"/>
              </a:rPr>
              <a:t>como</a:t>
            </a:r>
            <a:r>
              <a:rPr sz="1814" spc="9" dirty="0">
                <a:latin typeface="Times New Roman"/>
                <a:cs typeface="Times New Roman"/>
              </a:rPr>
              <a:t> </a:t>
            </a:r>
            <a:r>
              <a:rPr sz="1814" spc="-5" dirty="0">
                <a:latin typeface="Times New Roman"/>
                <a:cs typeface="Times New Roman"/>
              </a:rPr>
              <a:t>medida</a:t>
            </a:r>
            <a:r>
              <a:rPr sz="1814" spc="9" dirty="0">
                <a:latin typeface="Times New Roman"/>
                <a:cs typeface="Times New Roman"/>
              </a:rPr>
              <a:t> </a:t>
            </a:r>
            <a:r>
              <a:rPr sz="1814" dirty="0">
                <a:latin typeface="Times New Roman"/>
                <a:cs typeface="Times New Roman"/>
              </a:rPr>
              <a:t>básica</a:t>
            </a:r>
            <a:r>
              <a:rPr sz="1814" spc="-5" dirty="0">
                <a:latin typeface="Times New Roman"/>
                <a:cs typeface="Times New Roman"/>
              </a:rPr>
              <a:t> </a:t>
            </a:r>
            <a:r>
              <a:rPr sz="1814" dirty="0">
                <a:latin typeface="Times New Roman"/>
                <a:cs typeface="Times New Roman"/>
              </a:rPr>
              <a:t>del</a:t>
            </a:r>
            <a:r>
              <a:rPr sz="1814" spc="5" dirty="0">
                <a:latin typeface="Times New Roman"/>
                <a:cs typeface="Times New Roman"/>
              </a:rPr>
              <a:t> </a:t>
            </a:r>
            <a:r>
              <a:rPr sz="1814" b="1" spc="-5" dirty="0">
                <a:latin typeface="Times New Roman"/>
                <a:cs typeface="Times New Roman"/>
              </a:rPr>
              <a:t>error</a:t>
            </a:r>
            <a:r>
              <a:rPr sz="1814" b="1" spc="9" dirty="0">
                <a:latin typeface="Times New Roman"/>
                <a:cs typeface="Times New Roman"/>
              </a:rPr>
              <a:t> </a:t>
            </a:r>
            <a:r>
              <a:rPr sz="1814" b="1" dirty="0">
                <a:latin typeface="Times New Roman"/>
                <a:cs typeface="Times New Roman"/>
              </a:rPr>
              <a:t>de </a:t>
            </a:r>
            <a:r>
              <a:rPr sz="1814" b="1" spc="-5" dirty="0" err="1" smtClean="0">
                <a:latin typeface="Times New Roman"/>
                <a:cs typeface="Times New Roman"/>
              </a:rPr>
              <a:t>predicción</a:t>
            </a:r>
            <a:endParaRPr lang="es-ES" sz="1814" b="1" dirty="0">
              <a:latin typeface="Times New Roman"/>
              <a:cs typeface="Times New Roman"/>
            </a:endParaRPr>
          </a:p>
          <a:p>
            <a:pPr marL="14395" algn="just">
              <a:lnSpc>
                <a:spcPts val="2126"/>
              </a:lnSpc>
              <a:tabLst>
                <a:tab pos="265452" algn="l"/>
              </a:tabLst>
            </a:pPr>
            <a:r>
              <a:rPr lang="es-ES" sz="1814" spc="-5" dirty="0" smtClean="0">
                <a:latin typeface="Times New Roman"/>
                <a:cs typeface="Times New Roman"/>
              </a:rPr>
              <a:t>En problemas de clasificación: se</a:t>
            </a:r>
            <a:r>
              <a:rPr lang="es-ES" sz="1814" spc="5" dirty="0" smtClean="0">
                <a:latin typeface="Times New Roman"/>
                <a:cs typeface="Times New Roman"/>
              </a:rPr>
              <a:t> </a:t>
            </a:r>
            <a:r>
              <a:rPr lang="es-ES" sz="1814" spc="-5" dirty="0" smtClean="0">
                <a:latin typeface="Times New Roman"/>
                <a:cs typeface="Times New Roman"/>
              </a:rPr>
              <a:t>suele</a:t>
            </a:r>
            <a:r>
              <a:rPr lang="es-ES" sz="1814" spc="-9" dirty="0" smtClean="0">
                <a:latin typeface="Times New Roman"/>
                <a:cs typeface="Times New Roman"/>
              </a:rPr>
              <a:t> </a:t>
            </a:r>
            <a:r>
              <a:rPr lang="es-ES" sz="1814" spc="-5" dirty="0" smtClean="0">
                <a:latin typeface="Times New Roman"/>
                <a:cs typeface="Times New Roman"/>
              </a:rPr>
              <a:t>usar la tasa de fallos como</a:t>
            </a:r>
            <a:r>
              <a:rPr lang="es-ES" sz="1814" spc="5" dirty="0" smtClean="0">
                <a:latin typeface="Times New Roman"/>
                <a:cs typeface="Times New Roman"/>
              </a:rPr>
              <a:t> </a:t>
            </a:r>
            <a:r>
              <a:rPr lang="es-ES" sz="1814" b="1" spc="-5" dirty="0" smtClean="0">
                <a:latin typeface="Times New Roman"/>
                <a:cs typeface="Times New Roman"/>
              </a:rPr>
              <a:t>error</a:t>
            </a:r>
            <a:r>
              <a:rPr lang="es-ES" sz="1814" b="1" spc="9" dirty="0" smtClean="0">
                <a:latin typeface="Times New Roman"/>
                <a:cs typeface="Times New Roman"/>
              </a:rPr>
              <a:t> </a:t>
            </a:r>
            <a:r>
              <a:rPr lang="es-ES" sz="1814" b="1" dirty="0" smtClean="0">
                <a:latin typeface="Times New Roman"/>
                <a:cs typeface="Times New Roman"/>
              </a:rPr>
              <a:t>de </a:t>
            </a:r>
            <a:r>
              <a:rPr lang="es-ES" sz="1814" b="1" spc="-5" dirty="0" smtClean="0">
                <a:latin typeface="Times New Roman"/>
                <a:cs typeface="Times New Roman"/>
              </a:rPr>
              <a:t>predicción, </a:t>
            </a:r>
            <a:r>
              <a:rPr lang="es-ES" sz="1814" spc="-5" dirty="0" smtClean="0">
                <a:latin typeface="Times New Roman"/>
                <a:cs typeface="Times New Roman"/>
              </a:rPr>
              <a:t> el </a:t>
            </a:r>
            <a:r>
              <a:rPr lang="es-ES" sz="1814" spc="-5" dirty="0" err="1" smtClean="0">
                <a:latin typeface="Times New Roman"/>
                <a:cs typeface="Times New Roman"/>
              </a:rPr>
              <a:t>accuracy</a:t>
            </a:r>
            <a:r>
              <a:rPr lang="es-ES" sz="1814" spc="-5" dirty="0" smtClean="0">
                <a:latin typeface="Times New Roman"/>
                <a:cs typeface="Times New Roman"/>
              </a:rPr>
              <a:t> o la tasa de </a:t>
            </a:r>
            <a:r>
              <a:rPr lang="es-ES" sz="1814" spc="-5" dirty="0" err="1" smtClean="0">
                <a:latin typeface="Times New Roman"/>
                <a:cs typeface="Times New Roman"/>
              </a:rPr>
              <a:t>acierdos</a:t>
            </a:r>
            <a:r>
              <a:rPr lang="es-ES" sz="1814" spc="-5" dirty="0" smtClean="0">
                <a:latin typeface="Times New Roman"/>
                <a:cs typeface="Times New Roman"/>
              </a:rPr>
              <a:t>. No obstante, lo ideal es fijarse en la </a:t>
            </a:r>
            <a:r>
              <a:rPr lang="es-ES" sz="1814" b="1" spc="-5" dirty="0" smtClean="0">
                <a:latin typeface="Times New Roman"/>
                <a:cs typeface="Times New Roman"/>
              </a:rPr>
              <a:t>matriz de confusión</a:t>
            </a:r>
            <a:r>
              <a:rPr lang="es-ES" sz="1814" spc="-5" dirty="0" smtClean="0">
                <a:latin typeface="Times New Roman"/>
                <a:cs typeface="Times New Roman"/>
              </a:rPr>
              <a:t> y establecer la medida de ajuste mejor para el problema abordado…</a:t>
            </a:r>
            <a:r>
              <a:rPr lang="es-ES" sz="1814" i="1" spc="-5" dirty="0" smtClean="0">
                <a:latin typeface="Times New Roman"/>
                <a:cs typeface="Times New Roman"/>
              </a:rPr>
              <a:t>¿es mejor que me equivoque en falsos positivos que en falsos negativos?</a:t>
            </a:r>
            <a:endParaRPr lang="es-ES" sz="1814" b="1" spc="-5" dirty="0" smtClean="0">
              <a:latin typeface="Times New Roman"/>
              <a:cs typeface="Times New Roman"/>
            </a:endParaRPr>
          </a:p>
          <a:p>
            <a:pPr marL="14395" algn="just">
              <a:lnSpc>
                <a:spcPts val="2126"/>
              </a:lnSpc>
              <a:tabLst>
                <a:tab pos="265452" algn="l"/>
              </a:tabLst>
            </a:pPr>
            <a:endParaRPr lang="es-ES" sz="1814" b="1" spc="-5" dirty="0">
              <a:latin typeface="Times New Roman"/>
              <a:cs typeface="Times New Roman"/>
            </a:endParaRPr>
          </a:p>
          <a:p>
            <a:pPr marL="14395" algn="just">
              <a:lnSpc>
                <a:spcPts val="2126"/>
              </a:lnSpc>
              <a:tabLst>
                <a:tab pos="265452" algn="l"/>
              </a:tabLst>
            </a:pPr>
            <a:r>
              <a:rPr sz="1814" spc="-5" dirty="0" smtClean="0">
                <a:latin typeface="Times New Roman"/>
                <a:cs typeface="Times New Roman"/>
              </a:rPr>
              <a:t>Para</a:t>
            </a:r>
            <a:r>
              <a:rPr sz="1814" spc="-9" dirty="0" smtClean="0">
                <a:latin typeface="Times New Roman"/>
                <a:cs typeface="Times New Roman"/>
              </a:rPr>
              <a:t> </a:t>
            </a:r>
            <a:r>
              <a:rPr sz="1814" dirty="0">
                <a:latin typeface="Times New Roman"/>
                <a:cs typeface="Times New Roman"/>
              </a:rPr>
              <a:t>evaluar</a:t>
            </a:r>
            <a:r>
              <a:rPr sz="1814" spc="-9" dirty="0">
                <a:latin typeface="Times New Roman"/>
                <a:cs typeface="Times New Roman"/>
              </a:rPr>
              <a:t> </a:t>
            </a:r>
            <a:r>
              <a:rPr sz="1814" dirty="0">
                <a:latin typeface="Times New Roman"/>
                <a:cs typeface="Times New Roman"/>
              </a:rPr>
              <a:t>la capacidad</a:t>
            </a:r>
            <a:r>
              <a:rPr sz="1814" spc="-5" dirty="0">
                <a:latin typeface="Times New Roman"/>
                <a:cs typeface="Times New Roman"/>
              </a:rPr>
              <a:t> </a:t>
            </a:r>
            <a:r>
              <a:rPr sz="1814" dirty="0">
                <a:latin typeface="Times New Roman"/>
                <a:cs typeface="Times New Roman"/>
              </a:rPr>
              <a:t>predictiva del modelo,</a:t>
            </a:r>
            <a:r>
              <a:rPr sz="1814" spc="5" dirty="0">
                <a:latin typeface="Times New Roman"/>
                <a:cs typeface="Times New Roman"/>
              </a:rPr>
              <a:t> </a:t>
            </a:r>
            <a:r>
              <a:rPr sz="1814" b="1" spc="-5" dirty="0">
                <a:latin typeface="Times New Roman"/>
                <a:cs typeface="Times New Roman"/>
              </a:rPr>
              <a:t>de</a:t>
            </a:r>
            <a:r>
              <a:rPr sz="1814" b="1" dirty="0">
                <a:latin typeface="Times New Roman"/>
                <a:cs typeface="Times New Roman"/>
              </a:rPr>
              <a:t> </a:t>
            </a:r>
            <a:r>
              <a:rPr sz="1814" b="1" spc="-5" dirty="0">
                <a:latin typeface="Times New Roman"/>
                <a:cs typeface="Times New Roman"/>
              </a:rPr>
              <a:t>peor </a:t>
            </a:r>
            <a:r>
              <a:rPr sz="1814" b="1" dirty="0">
                <a:latin typeface="Times New Roman"/>
                <a:cs typeface="Times New Roman"/>
              </a:rPr>
              <a:t>a</a:t>
            </a:r>
            <a:r>
              <a:rPr sz="1814" b="1" spc="9" dirty="0">
                <a:latin typeface="Times New Roman"/>
                <a:cs typeface="Times New Roman"/>
              </a:rPr>
              <a:t> </a:t>
            </a:r>
            <a:r>
              <a:rPr sz="1814" b="1" dirty="0" err="1">
                <a:latin typeface="Times New Roman"/>
                <a:cs typeface="Times New Roman"/>
              </a:rPr>
              <a:t>mejor</a:t>
            </a:r>
            <a:r>
              <a:rPr lang="es-ES" sz="1814" b="1" dirty="0">
                <a:latin typeface="Times New Roman"/>
                <a:cs typeface="Times New Roman"/>
              </a:rPr>
              <a:t> metodología</a:t>
            </a:r>
            <a:r>
              <a:rPr sz="1814" dirty="0">
                <a:latin typeface="Times New Roman"/>
                <a:cs typeface="Times New Roman"/>
              </a:rPr>
              <a:t>:</a:t>
            </a:r>
          </a:p>
          <a:p>
            <a:pPr algn="just">
              <a:spcBef>
                <a:spcPts val="18"/>
              </a:spcBef>
              <a:buClr>
                <a:srgbClr val="FF0000"/>
              </a:buClr>
              <a:buFont typeface="Times New Roman"/>
              <a:buAutoNum type="arabicParenR"/>
            </a:pPr>
            <a:endParaRPr sz="1723" dirty="0">
              <a:latin typeface="Times New Roman"/>
              <a:cs typeface="Times New Roman"/>
            </a:endParaRPr>
          </a:p>
          <a:p>
            <a:pPr marL="252208" lvl="1" indent="-237813" algn="just">
              <a:lnSpc>
                <a:spcPts val="2126"/>
              </a:lnSpc>
              <a:buAutoNum type="alphaLcParenR"/>
              <a:tabLst>
                <a:tab pos="252784" algn="l"/>
              </a:tabLst>
            </a:pPr>
            <a:r>
              <a:rPr sz="1814" spc="-5" dirty="0">
                <a:solidFill>
                  <a:srgbClr val="FF0000"/>
                </a:solidFill>
                <a:latin typeface="Times New Roman"/>
                <a:cs typeface="Times New Roman"/>
              </a:rPr>
              <a:t>Training-test</a:t>
            </a:r>
            <a:r>
              <a:rPr sz="1814" spc="-9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14" dirty="0">
                <a:solidFill>
                  <a:srgbClr val="FF0000"/>
                </a:solidFill>
                <a:latin typeface="Times New Roman"/>
                <a:cs typeface="Times New Roman"/>
              </a:rPr>
              <a:t>una</a:t>
            </a:r>
            <a:r>
              <a:rPr sz="1814" spc="-18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14" dirty="0">
                <a:solidFill>
                  <a:srgbClr val="FF0000"/>
                </a:solidFill>
                <a:latin typeface="Times New Roman"/>
                <a:cs typeface="Times New Roman"/>
              </a:rPr>
              <a:t>sola</a:t>
            </a:r>
            <a:r>
              <a:rPr sz="1814" spc="-23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14" dirty="0">
                <a:solidFill>
                  <a:srgbClr val="FF0000"/>
                </a:solidFill>
                <a:latin typeface="Times New Roman"/>
                <a:cs typeface="Times New Roman"/>
              </a:rPr>
              <a:t>vez</a:t>
            </a:r>
            <a:endParaRPr sz="1814" dirty="0">
              <a:latin typeface="Times New Roman"/>
              <a:cs typeface="Times New Roman"/>
            </a:endParaRPr>
          </a:p>
          <a:p>
            <a:pPr marL="14971" marR="702498" algn="just">
              <a:lnSpc>
                <a:spcPts val="2095"/>
              </a:lnSpc>
              <a:spcBef>
                <a:spcPts val="91"/>
              </a:spcBef>
            </a:pPr>
            <a:r>
              <a:rPr sz="1814" dirty="0">
                <a:latin typeface="Times New Roman"/>
                <a:cs typeface="Times New Roman"/>
              </a:rPr>
              <a:t>Recomendado </a:t>
            </a:r>
            <a:r>
              <a:rPr sz="1814" spc="-5" dirty="0">
                <a:latin typeface="Times New Roman"/>
                <a:cs typeface="Times New Roman"/>
              </a:rPr>
              <a:t>solo</a:t>
            </a:r>
            <a:r>
              <a:rPr sz="1814" spc="5" dirty="0">
                <a:latin typeface="Times New Roman"/>
                <a:cs typeface="Times New Roman"/>
              </a:rPr>
              <a:t> </a:t>
            </a:r>
            <a:r>
              <a:rPr sz="1814" dirty="0">
                <a:latin typeface="Times New Roman"/>
                <a:cs typeface="Times New Roman"/>
              </a:rPr>
              <a:t>para</a:t>
            </a:r>
            <a:r>
              <a:rPr sz="1814" spc="-5" dirty="0">
                <a:latin typeface="Times New Roman"/>
                <a:cs typeface="Times New Roman"/>
              </a:rPr>
              <a:t> </a:t>
            </a:r>
            <a:r>
              <a:rPr sz="1814" dirty="0">
                <a:latin typeface="Times New Roman"/>
                <a:cs typeface="Times New Roman"/>
              </a:rPr>
              <a:t>datos</a:t>
            </a:r>
            <a:r>
              <a:rPr sz="1814" spc="-5" dirty="0">
                <a:latin typeface="Times New Roman"/>
                <a:cs typeface="Times New Roman"/>
              </a:rPr>
              <a:t> </a:t>
            </a:r>
            <a:r>
              <a:rPr sz="1814" dirty="0">
                <a:latin typeface="Times New Roman"/>
                <a:cs typeface="Times New Roman"/>
              </a:rPr>
              <a:t>muy grandes,</a:t>
            </a:r>
            <a:r>
              <a:rPr sz="1814" spc="-9" dirty="0">
                <a:latin typeface="Times New Roman"/>
                <a:cs typeface="Times New Roman"/>
              </a:rPr>
              <a:t> </a:t>
            </a:r>
            <a:r>
              <a:rPr sz="1814" dirty="0">
                <a:latin typeface="Times New Roman"/>
                <a:cs typeface="Times New Roman"/>
              </a:rPr>
              <a:t>y </a:t>
            </a:r>
            <a:r>
              <a:rPr sz="1814" spc="-5" dirty="0">
                <a:latin typeface="Times New Roman"/>
                <a:cs typeface="Times New Roman"/>
              </a:rPr>
              <a:t>siempre</a:t>
            </a:r>
            <a:r>
              <a:rPr sz="1814" spc="5" dirty="0">
                <a:latin typeface="Times New Roman"/>
                <a:cs typeface="Times New Roman"/>
              </a:rPr>
              <a:t> </a:t>
            </a:r>
            <a:r>
              <a:rPr sz="1814" dirty="0">
                <a:latin typeface="Times New Roman"/>
                <a:cs typeface="Times New Roman"/>
              </a:rPr>
              <a:t>dependiendo</a:t>
            </a:r>
            <a:r>
              <a:rPr sz="1814" spc="5" dirty="0">
                <a:latin typeface="Times New Roman"/>
                <a:cs typeface="Times New Roman"/>
              </a:rPr>
              <a:t> </a:t>
            </a:r>
            <a:r>
              <a:rPr sz="1814" dirty="0">
                <a:latin typeface="Times New Roman"/>
                <a:cs typeface="Times New Roman"/>
              </a:rPr>
              <a:t>de la</a:t>
            </a:r>
            <a:r>
              <a:rPr sz="1814" spc="5" dirty="0">
                <a:latin typeface="Times New Roman"/>
                <a:cs typeface="Times New Roman"/>
              </a:rPr>
              <a:t> </a:t>
            </a:r>
            <a:r>
              <a:rPr sz="1814" dirty="0">
                <a:latin typeface="Times New Roman"/>
                <a:cs typeface="Times New Roman"/>
              </a:rPr>
              <a:t>complejidad</a:t>
            </a:r>
            <a:r>
              <a:rPr sz="1814" spc="5" dirty="0">
                <a:latin typeface="Times New Roman"/>
                <a:cs typeface="Times New Roman"/>
              </a:rPr>
              <a:t> </a:t>
            </a:r>
            <a:r>
              <a:rPr sz="1814" dirty="0">
                <a:latin typeface="Times New Roman"/>
                <a:cs typeface="Times New Roman"/>
              </a:rPr>
              <a:t>del </a:t>
            </a:r>
            <a:r>
              <a:rPr sz="1814" spc="-439" dirty="0">
                <a:latin typeface="Times New Roman"/>
                <a:cs typeface="Times New Roman"/>
              </a:rPr>
              <a:t> </a:t>
            </a:r>
            <a:r>
              <a:rPr sz="1814" dirty="0">
                <a:latin typeface="Times New Roman"/>
                <a:cs typeface="Times New Roman"/>
              </a:rPr>
              <a:t>modelo</a:t>
            </a:r>
            <a:r>
              <a:rPr sz="1814" spc="-18" dirty="0">
                <a:latin typeface="Times New Roman"/>
                <a:cs typeface="Times New Roman"/>
              </a:rPr>
              <a:t> </a:t>
            </a:r>
            <a:r>
              <a:rPr sz="1814" dirty="0">
                <a:latin typeface="Times New Roman"/>
                <a:cs typeface="Times New Roman"/>
              </a:rPr>
              <a:t>(número</a:t>
            </a:r>
            <a:r>
              <a:rPr sz="1814" spc="18" dirty="0">
                <a:latin typeface="Times New Roman"/>
                <a:cs typeface="Times New Roman"/>
              </a:rPr>
              <a:t> </a:t>
            </a:r>
            <a:r>
              <a:rPr sz="1814" dirty="0">
                <a:latin typeface="Times New Roman"/>
                <a:cs typeface="Times New Roman"/>
              </a:rPr>
              <a:t>de</a:t>
            </a:r>
            <a:r>
              <a:rPr sz="1814" spc="-14" dirty="0">
                <a:latin typeface="Times New Roman"/>
                <a:cs typeface="Times New Roman"/>
              </a:rPr>
              <a:t> </a:t>
            </a:r>
            <a:r>
              <a:rPr sz="1814" dirty="0">
                <a:latin typeface="Times New Roman"/>
                <a:cs typeface="Times New Roman"/>
              </a:rPr>
              <a:t>variables,</a:t>
            </a:r>
            <a:r>
              <a:rPr sz="1814" spc="-14" dirty="0">
                <a:latin typeface="Times New Roman"/>
                <a:cs typeface="Times New Roman"/>
              </a:rPr>
              <a:t> </a:t>
            </a:r>
            <a:r>
              <a:rPr sz="1814" dirty="0">
                <a:latin typeface="Times New Roman"/>
                <a:cs typeface="Times New Roman"/>
              </a:rPr>
              <a:t>número</a:t>
            </a:r>
            <a:r>
              <a:rPr sz="1814" spc="9" dirty="0">
                <a:latin typeface="Times New Roman"/>
                <a:cs typeface="Times New Roman"/>
              </a:rPr>
              <a:t> </a:t>
            </a:r>
            <a:r>
              <a:rPr sz="1814" dirty="0">
                <a:latin typeface="Times New Roman"/>
                <a:cs typeface="Times New Roman"/>
              </a:rPr>
              <a:t>de parámetros)&gt;&gt;10.000</a:t>
            </a:r>
            <a:r>
              <a:rPr sz="1814" spc="-5" dirty="0">
                <a:latin typeface="Times New Roman"/>
                <a:cs typeface="Times New Roman"/>
              </a:rPr>
              <a:t> </a:t>
            </a:r>
            <a:r>
              <a:rPr sz="1814" dirty="0">
                <a:latin typeface="Times New Roman"/>
                <a:cs typeface="Times New Roman"/>
              </a:rPr>
              <a:t>observaciones.</a:t>
            </a:r>
          </a:p>
          <a:p>
            <a:pPr algn="just">
              <a:spcBef>
                <a:spcPts val="5"/>
              </a:spcBef>
            </a:pPr>
            <a:endParaRPr sz="1678" dirty="0">
              <a:latin typeface="Times New Roman"/>
              <a:cs typeface="Times New Roman"/>
            </a:endParaRPr>
          </a:p>
          <a:p>
            <a:pPr marL="264876" lvl="1" indent="-250481" algn="just">
              <a:lnSpc>
                <a:spcPts val="2145"/>
              </a:lnSpc>
              <a:buAutoNum type="alphaLcParenR" startAt="2"/>
              <a:tabLst>
                <a:tab pos="265452" algn="l"/>
              </a:tabLst>
            </a:pPr>
            <a:r>
              <a:rPr sz="1814" spc="-5" dirty="0">
                <a:solidFill>
                  <a:srgbClr val="FF0000"/>
                </a:solidFill>
                <a:latin typeface="Times New Roman"/>
                <a:cs typeface="Times New Roman"/>
              </a:rPr>
              <a:t>Training-test</a:t>
            </a:r>
            <a:r>
              <a:rPr sz="181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14" spc="-5" dirty="0">
                <a:solidFill>
                  <a:srgbClr val="FF0000"/>
                </a:solidFill>
                <a:latin typeface="Times New Roman"/>
                <a:cs typeface="Times New Roman"/>
              </a:rPr>
              <a:t>repetido,</a:t>
            </a:r>
            <a:r>
              <a:rPr sz="1814" dirty="0">
                <a:solidFill>
                  <a:srgbClr val="FF0000"/>
                </a:solidFill>
                <a:latin typeface="Times New Roman"/>
                <a:cs typeface="Times New Roman"/>
              </a:rPr>
              <a:t> variando</a:t>
            </a:r>
            <a:r>
              <a:rPr sz="1814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14" dirty="0">
                <a:solidFill>
                  <a:srgbClr val="FF0000"/>
                </a:solidFill>
                <a:latin typeface="Times New Roman"/>
                <a:cs typeface="Times New Roman"/>
              </a:rPr>
              <a:t>la</a:t>
            </a:r>
            <a:r>
              <a:rPr sz="1814" spc="-9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14" spc="-5" dirty="0">
                <a:solidFill>
                  <a:srgbClr val="FF0000"/>
                </a:solidFill>
                <a:latin typeface="Times New Roman"/>
                <a:cs typeface="Times New Roman"/>
              </a:rPr>
              <a:t>semilla</a:t>
            </a:r>
            <a:r>
              <a:rPr sz="1814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14" dirty="0">
                <a:solidFill>
                  <a:srgbClr val="FF0000"/>
                </a:solidFill>
                <a:latin typeface="Times New Roman"/>
                <a:cs typeface="Times New Roman"/>
              </a:rPr>
              <a:t>de </a:t>
            </a:r>
            <a:r>
              <a:rPr sz="1814" spc="-5" dirty="0">
                <a:solidFill>
                  <a:srgbClr val="FF0000"/>
                </a:solidFill>
                <a:latin typeface="Times New Roman"/>
                <a:cs typeface="Times New Roman"/>
              </a:rPr>
              <a:t>selección</a:t>
            </a:r>
            <a:endParaRPr sz="1814" dirty="0">
              <a:latin typeface="Times New Roman"/>
              <a:cs typeface="Times New Roman"/>
            </a:endParaRPr>
          </a:p>
          <a:p>
            <a:pPr marL="11516" marR="223993" algn="just">
              <a:lnSpc>
                <a:spcPts val="2086"/>
              </a:lnSpc>
              <a:spcBef>
                <a:spcPts val="113"/>
              </a:spcBef>
            </a:pPr>
            <a:r>
              <a:rPr sz="1814" spc="-5" dirty="0">
                <a:latin typeface="Times New Roman"/>
                <a:cs typeface="Times New Roman"/>
              </a:rPr>
              <a:t>Mejor </a:t>
            </a:r>
            <a:r>
              <a:rPr sz="1814" dirty="0">
                <a:latin typeface="Times New Roman"/>
                <a:cs typeface="Times New Roman"/>
              </a:rPr>
              <a:t>que el anterior esquema, pero </a:t>
            </a:r>
            <a:r>
              <a:rPr sz="1814" spc="-5" dirty="0">
                <a:latin typeface="Times New Roman"/>
                <a:cs typeface="Times New Roman"/>
              </a:rPr>
              <a:t>solo </a:t>
            </a:r>
            <a:r>
              <a:rPr sz="1814" dirty="0">
                <a:latin typeface="Times New Roman"/>
                <a:cs typeface="Times New Roman"/>
              </a:rPr>
              <a:t>para datos muy grandes, y </a:t>
            </a:r>
            <a:r>
              <a:rPr sz="1814" spc="-5" dirty="0">
                <a:latin typeface="Times New Roman"/>
                <a:cs typeface="Times New Roman"/>
              </a:rPr>
              <a:t>siempre </a:t>
            </a:r>
            <a:r>
              <a:rPr sz="1814" dirty="0">
                <a:latin typeface="Times New Roman"/>
                <a:cs typeface="Times New Roman"/>
              </a:rPr>
              <a:t>dependiendo de la </a:t>
            </a:r>
            <a:r>
              <a:rPr sz="1814" spc="-439" dirty="0">
                <a:latin typeface="Times New Roman"/>
                <a:cs typeface="Times New Roman"/>
              </a:rPr>
              <a:t> </a:t>
            </a:r>
            <a:r>
              <a:rPr sz="1814" dirty="0">
                <a:latin typeface="Times New Roman"/>
                <a:cs typeface="Times New Roman"/>
              </a:rPr>
              <a:t>complejidad del</a:t>
            </a:r>
            <a:r>
              <a:rPr sz="1814" spc="9" dirty="0">
                <a:latin typeface="Times New Roman"/>
                <a:cs typeface="Times New Roman"/>
              </a:rPr>
              <a:t> </a:t>
            </a:r>
            <a:r>
              <a:rPr sz="1814" dirty="0">
                <a:latin typeface="Times New Roman"/>
                <a:cs typeface="Times New Roman"/>
              </a:rPr>
              <a:t>modelo</a:t>
            </a:r>
            <a:r>
              <a:rPr sz="1814" spc="5" dirty="0">
                <a:latin typeface="Times New Roman"/>
                <a:cs typeface="Times New Roman"/>
              </a:rPr>
              <a:t> </a:t>
            </a:r>
            <a:r>
              <a:rPr sz="1814" dirty="0">
                <a:latin typeface="Times New Roman"/>
                <a:cs typeface="Times New Roman"/>
              </a:rPr>
              <a:t>(número</a:t>
            </a:r>
            <a:r>
              <a:rPr sz="1814" spc="5" dirty="0">
                <a:latin typeface="Times New Roman"/>
                <a:cs typeface="Times New Roman"/>
              </a:rPr>
              <a:t> </a:t>
            </a:r>
            <a:r>
              <a:rPr sz="1814" dirty="0">
                <a:latin typeface="Times New Roman"/>
                <a:cs typeface="Times New Roman"/>
              </a:rPr>
              <a:t>de</a:t>
            </a:r>
            <a:r>
              <a:rPr sz="1814" spc="-14" dirty="0">
                <a:latin typeface="Times New Roman"/>
                <a:cs typeface="Times New Roman"/>
              </a:rPr>
              <a:t> </a:t>
            </a:r>
            <a:r>
              <a:rPr sz="1814" dirty="0">
                <a:latin typeface="Times New Roman"/>
                <a:cs typeface="Times New Roman"/>
              </a:rPr>
              <a:t>variables,</a:t>
            </a:r>
            <a:r>
              <a:rPr sz="1814" spc="9" dirty="0">
                <a:latin typeface="Times New Roman"/>
                <a:cs typeface="Times New Roman"/>
              </a:rPr>
              <a:t> </a:t>
            </a:r>
            <a:r>
              <a:rPr sz="1814" dirty="0">
                <a:latin typeface="Times New Roman"/>
                <a:cs typeface="Times New Roman"/>
              </a:rPr>
              <a:t>número de</a:t>
            </a:r>
            <a:r>
              <a:rPr sz="1814" spc="5" dirty="0">
                <a:latin typeface="Times New Roman"/>
                <a:cs typeface="Times New Roman"/>
              </a:rPr>
              <a:t> </a:t>
            </a:r>
            <a:r>
              <a:rPr sz="1814" dirty="0">
                <a:latin typeface="Times New Roman"/>
                <a:cs typeface="Times New Roman"/>
              </a:rPr>
              <a:t>parámetros)&gt;&gt;5.000</a:t>
            </a:r>
            <a:r>
              <a:rPr sz="1814" spc="5" dirty="0">
                <a:latin typeface="Times New Roman"/>
                <a:cs typeface="Times New Roman"/>
              </a:rPr>
              <a:t> </a:t>
            </a:r>
            <a:r>
              <a:rPr sz="1814" dirty="0" err="1">
                <a:latin typeface="Times New Roman"/>
                <a:cs typeface="Times New Roman"/>
              </a:rPr>
              <a:t>observaciones</a:t>
            </a:r>
            <a:r>
              <a:rPr sz="1814" dirty="0">
                <a:latin typeface="Times New Roman"/>
                <a:cs typeface="Times New Roman"/>
              </a:rPr>
              <a:t>.</a:t>
            </a:r>
            <a:endParaRPr sz="1995" dirty="0">
              <a:latin typeface="Times New Roman"/>
              <a:cs typeface="Times New Roman"/>
            </a:endParaRPr>
          </a:p>
          <a:p>
            <a:pPr marL="252784" lvl="1" indent="-238389" algn="just">
              <a:lnSpc>
                <a:spcPts val="2131"/>
              </a:lnSpc>
              <a:spcBef>
                <a:spcPts val="1700"/>
              </a:spcBef>
              <a:buAutoNum type="alphaLcParenR" startAt="3"/>
              <a:tabLst>
                <a:tab pos="253360" algn="l"/>
              </a:tabLst>
            </a:pPr>
            <a:r>
              <a:rPr sz="1814" spc="-5" dirty="0">
                <a:solidFill>
                  <a:srgbClr val="FF0000"/>
                </a:solidFill>
                <a:latin typeface="Times New Roman"/>
                <a:cs typeface="Times New Roman"/>
              </a:rPr>
              <a:t>Validación cruzada una</a:t>
            </a:r>
            <a:r>
              <a:rPr sz="181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14" spc="-5" dirty="0">
                <a:solidFill>
                  <a:srgbClr val="FF0000"/>
                </a:solidFill>
                <a:latin typeface="Times New Roman"/>
                <a:cs typeface="Times New Roman"/>
              </a:rPr>
              <a:t>sola </a:t>
            </a:r>
            <a:r>
              <a:rPr sz="1814" dirty="0">
                <a:solidFill>
                  <a:srgbClr val="FF0000"/>
                </a:solidFill>
                <a:latin typeface="Times New Roman"/>
                <a:cs typeface="Times New Roman"/>
              </a:rPr>
              <a:t>vez</a:t>
            </a:r>
            <a:endParaRPr sz="1814" dirty="0">
              <a:latin typeface="Times New Roman"/>
              <a:cs typeface="Times New Roman"/>
            </a:endParaRPr>
          </a:p>
          <a:p>
            <a:pPr marL="14971" marR="14971" algn="just">
              <a:lnSpc>
                <a:spcPts val="2086"/>
              </a:lnSpc>
              <a:spcBef>
                <a:spcPts val="104"/>
              </a:spcBef>
            </a:pPr>
            <a:r>
              <a:rPr sz="1814" spc="-5" dirty="0">
                <a:latin typeface="Times New Roman"/>
                <a:cs typeface="Times New Roman"/>
              </a:rPr>
              <a:t>Mejor </a:t>
            </a:r>
            <a:r>
              <a:rPr sz="1814" spc="5" dirty="0">
                <a:latin typeface="Times New Roman"/>
                <a:cs typeface="Times New Roman"/>
              </a:rPr>
              <a:t>que</a:t>
            </a:r>
            <a:r>
              <a:rPr sz="1814" spc="-5" dirty="0">
                <a:latin typeface="Times New Roman"/>
                <a:cs typeface="Times New Roman"/>
              </a:rPr>
              <a:t> </a:t>
            </a:r>
            <a:r>
              <a:rPr sz="1814" dirty="0">
                <a:latin typeface="Times New Roman"/>
                <a:cs typeface="Times New Roman"/>
              </a:rPr>
              <a:t>el</a:t>
            </a:r>
            <a:r>
              <a:rPr sz="1814" spc="9" dirty="0">
                <a:latin typeface="Times New Roman"/>
                <a:cs typeface="Times New Roman"/>
              </a:rPr>
              <a:t> </a:t>
            </a:r>
            <a:r>
              <a:rPr sz="1814" spc="-5" dirty="0">
                <a:latin typeface="Times New Roman"/>
                <a:cs typeface="Times New Roman"/>
              </a:rPr>
              <a:t>anterior</a:t>
            </a:r>
            <a:r>
              <a:rPr sz="1814" spc="14" dirty="0">
                <a:latin typeface="Times New Roman"/>
                <a:cs typeface="Times New Roman"/>
              </a:rPr>
              <a:t> </a:t>
            </a:r>
            <a:r>
              <a:rPr sz="1814" spc="-5" dirty="0">
                <a:latin typeface="Times New Roman"/>
                <a:cs typeface="Times New Roman"/>
              </a:rPr>
              <a:t>esquema,</a:t>
            </a:r>
            <a:r>
              <a:rPr sz="1814" spc="27" dirty="0">
                <a:latin typeface="Times New Roman"/>
                <a:cs typeface="Times New Roman"/>
              </a:rPr>
              <a:t> </a:t>
            </a:r>
            <a:r>
              <a:rPr sz="1814" spc="-5" dirty="0">
                <a:latin typeface="Times New Roman"/>
                <a:cs typeface="Times New Roman"/>
              </a:rPr>
              <a:t>para</a:t>
            </a:r>
            <a:r>
              <a:rPr sz="1814" spc="5" dirty="0">
                <a:latin typeface="Times New Roman"/>
                <a:cs typeface="Times New Roman"/>
              </a:rPr>
              <a:t> </a:t>
            </a:r>
            <a:r>
              <a:rPr sz="1814" dirty="0">
                <a:latin typeface="Times New Roman"/>
                <a:cs typeface="Times New Roman"/>
              </a:rPr>
              <a:t>datos</a:t>
            </a:r>
            <a:r>
              <a:rPr sz="1814" spc="5" dirty="0">
                <a:latin typeface="Times New Roman"/>
                <a:cs typeface="Times New Roman"/>
              </a:rPr>
              <a:t> </a:t>
            </a:r>
            <a:r>
              <a:rPr sz="1814" spc="-5" dirty="0">
                <a:latin typeface="Times New Roman"/>
                <a:cs typeface="Times New Roman"/>
              </a:rPr>
              <a:t>moderados </a:t>
            </a:r>
            <a:r>
              <a:rPr sz="1814" dirty="0">
                <a:latin typeface="Times New Roman"/>
                <a:cs typeface="Times New Roman"/>
              </a:rPr>
              <a:t>o</a:t>
            </a:r>
            <a:r>
              <a:rPr sz="1814" spc="9" dirty="0">
                <a:latin typeface="Times New Roman"/>
                <a:cs typeface="Times New Roman"/>
              </a:rPr>
              <a:t> </a:t>
            </a:r>
            <a:r>
              <a:rPr sz="1814" spc="-5" dirty="0">
                <a:latin typeface="Times New Roman"/>
                <a:cs typeface="Times New Roman"/>
              </a:rPr>
              <a:t>grandes,</a:t>
            </a:r>
            <a:r>
              <a:rPr sz="1814" spc="14" dirty="0">
                <a:latin typeface="Times New Roman"/>
                <a:cs typeface="Times New Roman"/>
              </a:rPr>
              <a:t> </a:t>
            </a:r>
            <a:r>
              <a:rPr sz="1814" spc="-5" dirty="0">
                <a:latin typeface="Times New Roman"/>
                <a:cs typeface="Times New Roman"/>
              </a:rPr>
              <a:t>según</a:t>
            </a:r>
            <a:r>
              <a:rPr sz="1814" spc="9" dirty="0">
                <a:latin typeface="Times New Roman"/>
                <a:cs typeface="Times New Roman"/>
              </a:rPr>
              <a:t> </a:t>
            </a:r>
            <a:r>
              <a:rPr sz="1814" spc="-5" dirty="0">
                <a:latin typeface="Times New Roman"/>
                <a:cs typeface="Times New Roman"/>
              </a:rPr>
              <a:t>la</a:t>
            </a:r>
            <a:r>
              <a:rPr sz="1814" dirty="0">
                <a:latin typeface="Times New Roman"/>
                <a:cs typeface="Times New Roman"/>
              </a:rPr>
              <a:t> potencia</a:t>
            </a:r>
            <a:r>
              <a:rPr sz="1814" spc="9" dirty="0">
                <a:latin typeface="Times New Roman"/>
                <a:cs typeface="Times New Roman"/>
              </a:rPr>
              <a:t> </a:t>
            </a:r>
            <a:r>
              <a:rPr sz="1814" dirty="0">
                <a:latin typeface="Times New Roman"/>
                <a:cs typeface="Times New Roman"/>
              </a:rPr>
              <a:t>del</a:t>
            </a:r>
            <a:r>
              <a:rPr sz="1814" spc="-5" dirty="0">
                <a:latin typeface="Times New Roman"/>
                <a:cs typeface="Times New Roman"/>
              </a:rPr>
              <a:t> ordenador, </a:t>
            </a:r>
            <a:r>
              <a:rPr sz="1814" spc="-439" dirty="0">
                <a:latin typeface="Times New Roman"/>
                <a:cs typeface="Times New Roman"/>
              </a:rPr>
              <a:t> </a:t>
            </a:r>
            <a:r>
              <a:rPr sz="1814" dirty="0">
                <a:latin typeface="Times New Roman"/>
                <a:cs typeface="Times New Roman"/>
              </a:rPr>
              <a:t>y </a:t>
            </a:r>
            <a:r>
              <a:rPr sz="1814" spc="-5" dirty="0">
                <a:latin typeface="Times New Roman"/>
                <a:cs typeface="Times New Roman"/>
              </a:rPr>
              <a:t>siempre</a:t>
            </a:r>
            <a:r>
              <a:rPr sz="1814" dirty="0">
                <a:latin typeface="Times New Roman"/>
                <a:cs typeface="Times New Roman"/>
              </a:rPr>
              <a:t> dependiendo de la</a:t>
            </a:r>
            <a:r>
              <a:rPr sz="1814" spc="5" dirty="0">
                <a:latin typeface="Times New Roman"/>
                <a:cs typeface="Times New Roman"/>
              </a:rPr>
              <a:t> </a:t>
            </a:r>
            <a:r>
              <a:rPr sz="1814" dirty="0">
                <a:latin typeface="Times New Roman"/>
                <a:cs typeface="Times New Roman"/>
              </a:rPr>
              <a:t>complejidad del</a:t>
            </a:r>
            <a:r>
              <a:rPr sz="1814" spc="-23" dirty="0">
                <a:latin typeface="Times New Roman"/>
                <a:cs typeface="Times New Roman"/>
              </a:rPr>
              <a:t> </a:t>
            </a:r>
            <a:r>
              <a:rPr sz="1814" dirty="0">
                <a:latin typeface="Times New Roman"/>
                <a:cs typeface="Times New Roman"/>
              </a:rPr>
              <a:t>modelo</a:t>
            </a:r>
            <a:r>
              <a:rPr sz="1814" spc="23" dirty="0">
                <a:latin typeface="Times New Roman"/>
                <a:cs typeface="Times New Roman"/>
              </a:rPr>
              <a:t> </a:t>
            </a:r>
            <a:r>
              <a:rPr sz="1814" dirty="0">
                <a:latin typeface="Times New Roman"/>
                <a:cs typeface="Times New Roman"/>
              </a:rPr>
              <a:t>(número</a:t>
            </a:r>
            <a:r>
              <a:rPr sz="1814" spc="5" dirty="0">
                <a:latin typeface="Times New Roman"/>
                <a:cs typeface="Times New Roman"/>
              </a:rPr>
              <a:t> </a:t>
            </a:r>
            <a:r>
              <a:rPr sz="1814" dirty="0">
                <a:latin typeface="Times New Roman"/>
                <a:cs typeface="Times New Roman"/>
              </a:rPr>
              <a:t>de variables,</a:t>
            </a:r>
            <a:r>
              <a:rPr sz="1814" spc="-14" dirty="0">
                <a:latin typeface="Times New Roman"/>
                <a:cs typeface="Times New Roman"/>
              </a:rPr>
              <a:t> </a:t>
            </a:r>
            <a:r>
              <a:rPr sz="1814" dirty="0">
                <a:latin typeface="Times New Roman"/>
                <a:cs typeface="Times New Roman"/>
              </a:rPr>
              <a:t>número</a:t>
            </a:r>
            <a:r>
              <a:rPr sz="1814" spc="5" dirty="0">
                <a:latin typeface="Times New Roman"/>
                <a:cs typeface="Times New Roman"/>
              </a:rPr>
              <a:t> </a:t>
            </a:r>
            <a:r>
              <a:rPr sz="1814" dirty="0">
                <a:latin typeface="Times New Roman"/>
                <a:cs typeface="Times New Roman"/>
              </a:rPr>
              <a:t>de </a:t>
            </a:r>
            <a:r>
              <a:rPr sz="1814" spc="5" dirty="0">
                <a:latin typeface="Times New Roman"/>
                <a:cs typeface="Times New Roman"/>
              </a:rPr>
              <a:t> </a:t>
            </a:r>
            <a:r>
              <a:rPr sz="1814" dirty="0">
                <a:latin typeface="Times New Roman"/>
                <a:cs typeface="Times New Roman"/>
              </a:rPr>
              <a:t>parámetros)&gt;&gt;5.000</a:t>
            </a:r>
            <a:r>
              <a:rPr sz="1814" spc="-5" dirty="0">
                <a:latin typeface="Times New Roman"/>
                <a:cs typeface="Times New Roman"/>
              </a:rPr>
              <a:t> </a:t>
            </a:r>
            <a:r>
              <a:rPr sz="1814" dirty="0">
                <a:latin typeface="Times New Roman"/>
                <a:cs typeface="Times New Roman"/>
              </a:rPr>
              <a:t>observaciones.</a:t>
            </a:r>
          </a:p>
          <a:p>
            <a:pPr algn="just">
              <a:spcBef>
                <a:spcPts val="14"/>
              </a:spcBef>
            </a:pPr>
            <a:endParaRPr sz="1678" dirty="0">
              <a:latin typeface="Times New Roman"/>
              <a:cs typeface="Times New Roman"/>
            </a:endParaRPr>
          </a:p>
          <a:p>
            <a:pPr marL="264876" lvl="1" indent="-250481" algn="just">
              <a:lnSpc>
                <a:spcPts val="2126"/>
              </a:lnSpc>
              <a:spcBef>
                <a:spcPts val="5"/>
              </a:spcBef>
              <a:buAutoNum type="alphaLcParenR" startAt="4"/>
              <a:tabLst>
                <a:tab pos="265452" algn="l"/>
              </a:tabLst>
            </a:pPr>
            <a:r>
              <a:rPr sz="1814" spc="-5" dirty="0">
                <a:solidFill>
                  <a:srgbClr val="FF0000"/>
                </a:solidFill>
                <a:latin typeface="Times New Roman"/>
                <a:cs typeface="Times New Roman"/>
              </a:rPr>
              <a:t>Validación</a:t>
            </a:r>
            <a:r>
              <a:rPr sz="181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14" spc="-5" dirty="0">
                <a:solidFill>
                  <a:srgbClr val="FF0000"/>
                </a:solidFill>
                <a:latin typeface="Times New Roman"/>
                <a:cs typeface="Times New Roman"/>
              </a:rPr>
              <a:t>cruzada</a:t>
            </a:r>
            <a:r>
              <a:rPr sz="1814" spc="9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14" spc="-5" dirty="0">
                <a:solidFill>
                  <a:srgbClr val="FF0000"/>
                </a:solidFill>
                <a:latin typeface="Times New Roman"/>
                <a:cs typeface="Times New Roman"/>
              </a:rPr>
              <a:t>repetida,</a:t>
            </a:r>
            <a:r>
              <a:rPr sz="1814" spc="9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14" spc="-5" dirty="0">
                <a:solidFill>
                  <a:srgbClr val="FF0000"/>
                </a:solidFill>
                <a:latin typeface="Times New Roman"/>
                <a:cs typeface="Times New Roman"/>
              </a:rPr>
              <a:t>variando</a:t>
            </a:r>
            <a:r>
              <a:rPr sz="1814" spc="9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14" dirty="0">
                <a:solidFill>
                  <a:srgbClr val="FF0000"/>
                </a:solidFill>
                <a:latin typeface="Times New Roman"/>
                <a:cs typeface="Times New Roman"/>
              </a:rPr>
              <a:t>la</a:t>
            </a:r>
            <a:r>
              <a:rPr sz="1814" spc="1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14" spc="-5" dirty="0">
                <a:solidFill>
                  <a:srgbClr val="FF0000"/>
                </a:solidFill>
                <a:latin typeface="Times New Roman"/>
                <a:cs typeface="Times New Roman"/>
              </a:rPr>
              <a:t>semilla</a:t>
            </a:r>
            <a:r>
              <a:rPr sz="1814" spc="9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14" dirty="0">
                <a:solidFill>
                  <a:srgbClr val="FF0000"/>
                </a:solidFill>
                <a:latin typeface="Times New Roman"/>
                <a:cs typeface="Times New Roman"/>
              </a:rPr>
              <a:t>de</a:t>
            </a:r>
            <a:r>
              <a:rPr sz="1814" spc="18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14" spc="-5" dirty="0">
                <a:solidFill>
                  <a:srgbClr val="FF0000"/>
                </a:solidFill>
                <a:latin typeface="Times New Roman"/>
                <a:cs typeface="Times New Roman"/>
              </a:rPr>
              <a:t>ordenación</a:t>
            </a:r>
            <a:endParaRPr sz="1814" dirty="0">
              <a:latin typeface="Times New Roman"/>
              <a:cs typeface="Times New Roman"/>
            </a:endParaRPr>
          </a:p>
          <a:p>
            <a:pPr marL="14971" marR="4607" algn="just">
              <a:lnSpc>
                <a:spcPts val="2086"/>
              </a:lnSpc>
              <a:spcBef>
                <a:spcPts val="95"/>
              </a:spcBef>
            </a:pPr>
            <a:r>
              <a:rPr sz="1814" dirty="0">
                <a:latin typeface="Times New Roman"/>
                <a:cs typeface="Times New Roman"/>
              </a:rPr>
              <a:t>El</a:t>
            </a:r>
            <a:r>
              <a:rPr sz="1814" spc="5" dirty="0">
                <a:latin typeface="Times New Roman"/>
                <a:cs typeface="Times New Roman"/>
              </a:rPr>
              <a:t> </a:t>
            </a:r>
            <a:r>
              <a:rPr sz="1814" spc="-5" dirty="0">
                <a:latin typeface="Times New Roman"/>
                <a:cs typeface="Times New Roman"/>
              </a:rPr>
              <a:t>mejor</a:t>
            </a:r>
            <a:r>
              <a:rPr sz="1814" spc="18" dirty="0">
                <a:latin typeface="Times New Roman"/>
                <a:cs typeface="Times New Roman"/>
              </a:rPr>
              <a:t> </a:t>
            </a:r>
            <a:r>
              <a:rPr sz="1814" spc="-5" dirty="0">
                <a:latin typeface="Times New Roman"/>
                <a:cs typeface="Times New Roman"/>
              </a:rPr>
              <a:t>esquema,</a:t>
            </a:r>
            <a:r>
              <a:rPr sz="1814" spc="9" dirty="0">
                <a:latin typeface="Times New Roman"/>
                <a:cs typeface="Times New Roman"/>
              </a:rPr>
              <a:t> </a:t>
            </a:r>
            <a:r>
              <a:rPr sz="1814" dirty="0">
                <a:latin typeface="Times New Roman"/>
                <a:cs typeface="Times New Roman"/>
              </a:rPr>
              <a:t>para</a:t>
            </a:r>
            <a:r>
              <a:rPr sz="1814" spc="-5" dirty="0">
                <a:latin typeface="Times New Roman"/>
                <a:cs typeface="Times New Roman"/>
              </a:rPr>
              <a:t> datos</a:t>
            </a:r>
            <a:r>
              <a:rPr sz="1814" dirty="0">
                <a:latin typeface="Times New Roman"/>
                <a:cs typeface="Times New Roman"/>
              </a:rPr>
              <a:t> </a:t>
            </a:r>
            <a:r>
              <a:rPr sz="1814" u="sng" spc="-5" dirty="0">
                <a:latin typeface="Times New Roman"/>
                <a:cs typeface="Times New Roman"/>
              </a:rPr>
              <a:t>pequeños</a:t>
            </a:r>
            <a:r>
              <a:rPr sz="1814" spc="-5" dirty="0">
                <a:latin typeface="Times New Roman"/>
                <a:cs typeface="Times New Roman"/>
              </a:rPr>
              <a:t>,</a:t>
            </a:r>
            <a:r>
              <a:rPr sz="1814" spc="9" dirty="0">
                <a:latin typeface="Times New Roman"/>
                <a:cs typeface="Times New Roman"/>
              </a:rPr>
              <a:t> </a:t>
            </a:r>
            <a:r>
              <a:rPr sz="1814" spc="-5" dirty="0">
                <a:latin typeface="Times New Roman"/>
                <a:cs typeface="Times New Roman"/>
              </a:rPr>
              <a:t>moderados </a:t>
            </a:r>
            <a:r>
              <a:rPr sz="1814" dirty="0">
                <a:latin typeface="Times New Roman"/>
                <a:cs typeface="Times New Roman"/>
              </a:rPr>
              <a:t>o</a:t>
            </a:r>
            <a:r>
              <a:rPr sz="1814" spc="9" dirty="0">
                <a:latin typeface="Times New Roman"/>
                <a:cs typeface="Times New Roman"/>
              </a:rPr>
              <a:t> </a:t>
            </a:r>
            <a:r>
              <a:rPr sz="1814" dirty="0">
                <a:latin typeface="Times New Roman"/>
                <a:cs typeface="Times New Roman"/>
              </a:rPr>
              <a:t>grandes,</a:t>
            </a:r>
            <a:r>
              <a:rPr sz="1814" spc="9" dirty="0">
                <a:latin typeface="Times New Roman"/>
                <a:cs typeface="Times New Roman"/>
              </a:rPr>
              <a:t> </a:t>
            </a:r>
            <a:r>
              <a:rPr sz="1814" spc="-5" dirty="0">
                <a:latin typeface="Times New Roman"/>
                <a:cs typeface="Times New Roman"/>
              </a:rPr>
              <a:t>según</a:t>
            </a:r>
            <a:r>
              <a:rPr sz="1814" spc="14" dirty="0">
                <a:latin typeface="Times New Roman"/>
                <a:cs typeface="Times New Roman"/>
              </a:rPr>
              <a:t> </a:t>
            </a:r>
            <a:r>
              <a:rPr sz="1814" dirty="0">
                <a:latin typeface="Times New Roman"/>
                <a:cs typeface="Times New Roman"/>
              </a:rPr>
              <a:t>la</a:t>
            </a:r>
            <a:r>
              <a:rPr sz="1814" spc="-9" dirty="0">
                <a:latin typeface="Times New Roman"/>
                <a:cs typeface="Times New Roman"/>
              </a:rPr>
              <a:t> </a:t>
            </a:r>
            <a:r>
              <a:rPr sz="1814" spc="-5" dirty="0">
                <a:latin typeface="Times New Roman"/>
                <a:cs typeface="Times New Roman"/>
              </a:rPr>
              <a:t>potencia</a:t>
            </a:r>
            <a:r>
              <a:rPr sz="1814" spc="9" dirty="0">
                <a:latin typeface="Times New Roman"/>
                <a:cs typeface="Times New Roman"/>
              </a:rPr>
              <a:t> </a:t>
            </a:r>
            <a:r>
              <a:rPr sz="1814" dirty="0">
                <a:latin typeface="Times New Roman"/>
                <a:cs typeface="Times New Roman"/>
              </a:rPr>
              <a:t>del</a:t>
            </a:r>
            <a:r>
              <a:rPr sz="1814" spc="-9" dirty="0">
                <a:latin typeface="Times New Roman"/>
                <a:cs typeface="Times New Roman"/>
              </a:rPr>
              <a:t> </a:t>
            </a:r>
            <a:r>
              <a:rPr sz="1814" dirty="0">
                <a:latin typeface="Times New Roman"/>
                <a:cs typeface="Times New Roman"/>
              </a:rPr>
              <a:t>ordenador,</a:t>
            </a:r>
            <a:r>
              <a:rPr sz="1814" spc="18" dirty="0">
                <a:latin typeface="Times New Roman"/>
                <a:cs typeface="Times New Roman"/>
              </a:rPr>
              <a:t> </a:t>
            </a:r>
            <a:r>
              <a:rPr sz="1814" dirty="0">
                <a:latin typeface="Times New Roman"/>
                <a:cs typeface="Times New Roman"/>
              </a:rPr>
              <a:t>y </a:t>
            </a:r>
            <a:r>
              <a:rPr sz="1814" spc="-439" dirty="0">
                <a:latin typeface="Times New Roman"/>
                <a:cs typeface="Times New Roman"/>
              </a:rPr>
              <a:t> </a:t>
            </a:r>
            <a:r>
              <a:rPr sz="1814" spc="-5" dirty="0">
                <a:latin typeface="Times New Roman"/>
                <a:cs typeface="Times New Roman"/>
              </a:rPr>
              <a:t>siempre </a:t>
            </a:r>
            <a:r>
              <a:rPr sz="1814" dirty="0">
                <a:latin typeface="Times New Roman"/>
                <a:cs typeface="Times New Roman"/>
              </a:rPr>
              <a:t>dependiendo de la complejidad del modelo (número de variables</a:t>
            </a:r>
            <a:r>
              <a:rPr lang="es-ES" sz="1814" dirty="0">
                <a:latin typeface="Times New Roman"/>
                <a:cs typeface="Times New Roman"/>
              </a:rPr>
              <a:t> y parámetros</a:t>
            </a:r>
            <a:r>
              <a:rPr sz="1814" dirty="0">
                <a:latin typeface="Times New Roman"/>
                <a:cs typeface="Times New Roman"/>
              </a:rPr>
              <a:t>)&gt;&gt;500</a:t>
            </a:r>
            <a:r>
              <a:rPr sz="1814" spc="-5" dirty="0">
                <a:latin typeface="Times New Roman"/>
                <a:cs typeface="Times New Roman"/>
              </a:rPr>
              <a:t> </a:t>
            </a:r>
            <a:r>
              <a:rPr sz="1814" dirty="0" err="1">
                <a:latin typeface="Times New Roman"/>
                <a:cs typeface="Times New Roman"/>
              </a:rPr>
              <a:t>observaciones</a:t>
            </a:r>
            <a:r>
              <a:rPr sz="1814" dirty="0">
                <a:latin typeface="Times New Roman"/>
                <a:cs typeface="Times New Roman"/>
              </a:rPr>
              <a:t>.</a:t>
            </a:r>
            <a:r>
              <a:rPr lang="es-ES" sz="1814" dirty="0">
                <a:latin typeface="Times New Roman"/>
                <a:cs typeface="Times New Roman"/>
              </a:rPr>
              <a:t> Se repite el esquema de la validación cruzada tantas veces como se indique.</a:t>
            </a:r>
            <a:endParaRPr sz="1814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69581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942207" y="1956977"/>
            <a:ext cx="4305396" cy="1162325"/>
          </a:xfrm>
          <a:prstGeom prst="rect">
            <a:avLst/>
          </a:prstGeom>
        </p:spPr>
        <p:txBody>
          <a:bodyPr vert="horz" wrap="square" lIns="0" tIns="10941" rIns="0" bIns="0" rtlCol="0">
            <a:spAutoFit/>
          </a:bodyPr>
          <a:lstStyle/>
          <a:p>
            <a:pPr marL="11516">
              <a:spcBef>
                <a:spcPts val="86"/>
              </a:spcBef>
            </a:pPr>
            <a:r>
              <a:rPr sz="2539" b="1" spc="-5" dirty="0">
                <a:solidFill>
                  <a:srgbClr val="339966"/>
                </a:solidFill>
                <a:latin typeface="Times New Roman"/>
                <a:cs typeface="Times New Roman"/>
              </a:rPr>
              <a:t>El</a:t>
            </a:r>
            <a:r>
              <a:rPr sz="2539" b="1" spc="-18" dirty="0">
                <a:solidFill>
                  <a:srgbClr val="339966"/>
                </a:solidFill>
                <a:latin typeface="Times New Roman"/>
                <a:cs typeface="Times New Roman"/>
              </a:rPr>
              <a:t> </a:t>
            </a:r>
            <a:r>
              <a:rPr sz="2539" b="1" spc="-5" dirty="0">
                <a:solidFill>
                  <a:srgbClr val="339966"/>
                </a:solidFill>
                <a:latin typeface="Times New Roman"/>
                <a:cs typeface="Times New Roman"/>
              </a:rPr>
              <a:t>intercambio</a:t>
            </a:r>
            <a:r>
              <a:rPr sz="2539" b="1" dirty="0">
                <a:solidFill>
                  <a:srgbClr val="339966"/>
                </a:solidFill>
                <a:latin typeface="Times New Roman"/>
                <a:cs typeface="Times New Roman"/>
              </a:rPr>
              <a:t> </a:t>
            </a:r>
            <a:r>
              <a:rPr sz="2539" b="1" spc="-5" dirty="0">
                <a:solidFill>
                  <a:srgbClr val="339966"/>
                </a:solidFill>
                <a:latin typeface="Times New Roman"/>
                <a:cs typeface="Times New Roman"/>
              </a:rPr>
              <a:t>Sesgo-Varianza</a:t>
            </a:r>
            <a:endParaRPr sz="2539" dirty="0">
              <a:latin typeface="Times New Roman"/>
              <a:cs typeface="Times New Roman"/>
            </a:endParaRPr>
          </a:p>
          <a:p>
            <a:pPr>
              <a:spcBef>
                <a:spcPts val="32"/>
              </a:spcBef>
            </a:pPr>
            <a:endParaRPr sz="2403" dirty="0">
              <a:latin typeface="Times New Roman"/>
              <a:cs typeface="Times New Roman"/>
            </a:endParaRPr>
          </a:p>
          <a:p>
            <a:pPr marL="57006"/>
            <a:r>
              <a:rPr sz="2539" b="1" spc="-5" dirty="0">
                <a:solidFill>
                  <a:srgbClr val="339966"/>
                </a:solidFill>
                <a:latin typeface="Times New Roman"/>
                <a:cs typeface="Times New Roman"/>
              </a:rPr>
              <a:t>(The Bias-Variance</a:t>
            </a:r>
            <a:r>
              <a:rPr sz="2539" b="1" spc="-9" dirty="0">
                <a:solidFill>
                  <a:srgbClr val="339966"/>
                </a:solidFill>
                <a:latin typeface="Times New Roman"/>
                <a:cs typeface="Times New Roman"/>
              </a:rPr>
              <a:t> </a:t>
            </a:r>
            <a:r>
              <a:rPr sz="2539" b="1" spc="-5" dirty="0">
                <a:solidFill>
                  <a:srgbClr val="339966"/>
                </a:solidFill>
                <a:latin typeface="Times New Roman"/>
                <a:cs typeface="Times New Roman"/>
              </a:rPr>
              <a:t>Trade-off)</a:t>
            </a:r>
            <a:endParaRPr sz="2539" dirty="0">
              <a:latin typeface="Times New Roman"/>
              <a:cs typeface="Times New Roman"/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1811910" y="3912688"/>
            <a:ext cx="8377408" cy="21013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9118" indent="-259118" algn="just">
              <a:buFont typeface="Arial" panose="020B0604020202020204" pitchFamily="34" charset="0"/>
              <a:buChar char="•"/>
            </a:pPr>
            <a:r>
              <a:rPr lang="es-ES" sz="2176" dirty="0"/>
              <a:t>El </a:t>
            </a:r>
            <a:r>
              <a:rPr lang="es-ES" sz="2176" b="1" dirty="0"/>
              <a:t>sesgo</a:t>
            </a:r>
            <a:r>
              <a:rPr lang="es-ES" sz="2176" dirty="0"/>
              <a:t> representa el </a:t>
            </a:r>
            <a:r>
              <a:rPr lang="es-ES" sz="2176" b="1" dirty="0"/>
              <a:t>error</a:t>
            </a:r>
            <a:r>
              <a:rPr lang="es-ES" sz="2176" dirty="0"/>
              <a:t> cometido al ajustar el modelo durante el </a:t>
            </a:r>
            <a:r>
              <a:rPr lang="es-ES" sz="2176" b="1" dirty="0"/>
              <a:t>entrenamiento</a:t>
            </a:r>
          </a:p>
          <a:p>
            <a:pPr marL="259118" indent="-259118" algn="just">
              <a:buFont typeface="Arial" panose="020B0604020202020204" pitchFamily="34" charset="0"/>
              <a:buChar char="•"/>
            </a:pPr>
            <a:r>
              <a:rPr lang="es-ES" sz="2176" dirty="0"/>
              <a:t>La </a:t>
            </a:r>
            <a:r>
              <a:rPr lang="es-ES" sz="2176" b="1" dirty="0"/>
              <a:t>varianza </a:t>
            </a:r>
            <a:r>
              <a:rPr lang="es-ES" sz="2176" dirty="0"/>
              <a:t>representa el </a:t>
            </a:r>
            <a:r>
              <a:rPr lang="es-ES" sz="2176" b="1" dirty="0"/>
              <a:t>error</a:t>
            </a:r>
            <a:r>
              <a:rPr lang="es-ES" sz="2176" dirty="0"/>
              <a:t> cometido cuando se aplica el error obtenido a </a:t>
            </a:r>
            <a:r>
              <a:rPr lang="es-ES" sz="2176" b="1" dirty="0"/>
              <a:t>datos nuevos</a:t>
            </a:r>
          </a:p>
          <a:p>
            <a:pPr marL="259118" indent="-259118" algn="just">
              <a:buFont typeface="Arial" panose="020B0604020202020204" pitchFamily="34" charset="0"/>
              <a:buChar char="•"/>
            </a:pPr>
            <a:r>
              <a:rPr lang="es-ES" sz="2176" dirty="0"/>
              <a:t>Lo ideal sería que SESGO y VARIANZA fueran lo MÁS PEQUEÑOS POSIBLE (buscar un </a:t>
            </a:r>
            <a:r>
              <a:rPr lang="es-ES" sz="2176" b="1" dirty="0">
                <a:solidFill>
                  <a:srgbClr val="FF0000"/>
                </a:solidFill>
              </a:rPr>
              <a:t>equilibrio</a:t>
            </a:r>
            <a:r>
              <a:rPr lang="es-ES" sz="2176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4035415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39365" y="844047"/>
            <a:ext cx="4405713" cy="4973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1993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42811" y="307186"/>
            <a:ext cx="8622079" cy="2834508"/>
          </a:xfrm>
          <a:prstGeom prst="rect">
            <a:avLst/>
          </a:prstGeom>
        </p:spPr>
        <p:txBody>
          <a:bodyPr vert="horz" wrap="square" lIns="0" tIns="35701" rIns="0" bIns="0" rtlCol="0">
            <a:spAutoFit/>
          </a:bodyPr>
          <a:lstStyle/>
          <a:p>
            <a:pPr marL="23033" marR="39731" algn="just">
              <a:lnSpc>
                <a:spcPts val="2711"/>
              </a:lnSpc>
              <a:spcBef>
                <a:spcPts val="281"/>
              </a:spcBef>
            </a:pPr>
            <a:r>
              <a:rPr sz="2176" spc="-5" dirty="0">
                <a:latin typeface="Times New Roman"/>
                <a:cs typeface="Times New Roman"/>
              </a:rPr>
              <a:t>Al</a:t>
            </a:r>
            <a:r>
              <a:rPr sz="2176" spc="23" dirty="0">
                <a:latin typeface="Times New Roman"/>
                <a:cs typeface="Times New Roman"/>
              </a:rPr>
              <a:t> </a:t>
            </a:r>
            <a:r>
              <a:rPr sz="2176" spc="-5" dirty="0">
                <a:latin typeface="Times New Roman"/>
                <a:cs typeface="Times New Roman"/>
              </a:rPr>
              <a:t>utilizar</a:t>
            </a:r>
            <a:r>
              <a:rPr sz="2176" spc="27" dirty="0">
                <a:latin typeface="Times New Roman"/>
                <a:cs typeface="Times New Roman"/>
              </a:rPr>
              <a:t> </a:t>
            </a:r>
            <a:r>
              <a:rPr sz="2176" dirty="0">
                <a:latin typeface="Times New Roman"/>
                <a:cs typeface="Times New Roman"/>
              </a:rPr>
              <a:t>un</a:t>
            </a:r>
            <a:r>
              <a:rPr sz="2176" spc="32" dirty="0">
                <a:latin typeface="Times New Roman"/>
                <a:cs typeface="Times New Roman"/>
              </a:rPr>
              <a:t> </a:t>
            </a:r>
            <a:r>
              <a:rPr sz="2176" spc="-5" dirty="0">
                <a:latin typeface="Times New Roman"/>
                <a:cs typeface="Times New Roman"/>
              </a:rPr>
              <a:t>modelo</a:t>
            </a:r>
            <a:r>
              <a:rPr sz="2176" spc="23" dirty="0">
                <a:latin typeface="Times New Roman"/>
                <a:cs typeface="Times New Roman"/>
              </a:rPr>
              <a:t> </a:t>
            </a:r>
            <a:r>
              <a:rPr sz="2176" dirty="0">
                <a:latin typeface="Times New Roman"/>
                <a:cs typeface="Times New Roman"/>
              </a:rPr>
              <a:t>predictivo,</a:t>
            </a:r>
            <a:r>
              <a:rPr sz="2176" spc="23" dirty="0">
                <a:latin typeface="Times New Roman"/>
                <a:cs typeface="Times New Roman"/>
              </a:rPr>
              <a:t> </a:t>
            </a:r>
            <a:r>
              <a:rPr sz="2176" dirty="0">
                <a:latin typeface="Times New Roman"/>
                <a:cs typeface="Times New Roman"/>
              </a:rPr>
              <a:t>el</a:t>
            </a:r>
            <a:r>
              <a:rPr sz="2176" spc="36" dirty="0">
                <a:latin typeface="Times New Roman"/>
                <a:cs typeface="Times New Roman"/>
              </a:rPr>
              <a:t> </a:t>
            </a:r>
            <a:r>
              <a:rPr sz="2176" b="1" spc="-5" dirty="0">
                <a:latin typeface="Times New Roman"/>
                <a:cs typeface="Times New Roman"/>
              </a:rPr>
              <a:t>error</a:t>
            </a:r>
            <a:r>
              <a:rPr sz="2176" b="1" spc="23" dirty="0">
                <a:latin typeface="Times New Roman"/>
                <a:cs typeface="Times New Roman"/>
              </a:rPr>
              <a:t> </a:t>
            </a:r>
            <a:r>
              <a:rPr sz="2176" b="1" dirty="0">
                <a:latin typeface="Times New Roman"/>
                <a:cs typeface="Times New Roman"/>
              </a:rPr>
              <a:t>global</a:t>
            </a:r>
            <a:r>
              <a:rPr sz="2176" b="1" spc="27" dirty="0">
                <a:latin typeface="Times New Roman"/>
                <a:cs typeface="Times New Roman"/>
              </a:rPr>
              <a:t> </a:t>
            </a:r>
            <a:r>
              <a:rPr sz="2176" spc="-5" dirty="0">
                <a:latin typeface="Times New Roman"/>
                <a:cs typeface="Times New Roman"/>
              </a:rPr>
              <a:t>cometido</a:t>
            </a:r>
            <a:r>
              <a:rPr sz="2176" spc="27" dirty="0">
                <a:latin typeface="Times New Roman"/>
                <a:cs typeface="Times New Roman"/>
              </a:rPr>
              <a:t> </a:t>
            </a:r>
            <a:r>
              <a:rPr sz="2176" dirty="0">
                <a:latin typeface="Times New Roman"/>
                <a:cs typeface="Times New Roman"/>
              </a:rPr>
              <a:t>por</a:t>
            </a:r>
            <a:r>
              <a:rPr sz="2176" spc="18" dirty="0">
                <a:latin typeface="Times New Roman"/>
                <a:cs typeface="Times New Roman"/>
              </a:rPr>
              <a:t> </a:t>
            </a:r>
            <a:r>
              <a:rPr sz="2176" spc="-5" dirty="0">
                <a:latin typeface="Times New Roman"/>
                <a:cs typeface="Times New Roman"/>
              </a:rPr>
              <a:t>éste</a:t>
            </a:r>
            <a:r>
              <a:rPr sz="2176" spc="18" dirty="0">
                <a:latin typeface="Times New Roman"/>
                <a:cs typeface="Times New Roman"/>
              </a:rPr>
              <a:t> </a:t>
            </a:r>
            <a:r>
              <a:rPr sz="2176" spc="-5" dirty="0">
                <a:latin typeface="Times New Roman"/>
                <a:cs typeface="Times New Roman"/>
              </a:rPr>
              <a:t>se</a:t>
            </a:r>
            <a:r>
              <a:rPr sz="2176" spc="9" dirty="0">
                <a:latin typeface="Times New Roman"/>
                <a:cs typeface="Times New Roman"/>
              </a:rPr>
              <a:t> </a:t>
            </a:r>
            <a:r>
              <a:rPr sz="2176" dirty="0">
                <a:latin typeface="Times New Roman"/>
                <a:cs typeface="Times New Roman"/>
              </a:rPr>
              <a:t>debe </a:t>
            </a:r>
            <a:r>
              <a:rPr sz="2176" spc="-576" dirty="0">
                <a:latin typeface="Times New Roman"/>
                <a:cs typeface="Times New Roman"/>
              </a:rPr>
              <a:t> </a:t>
            </a:r>
            <a:r>
              <a:rPr sz="2176" dirty="0">
                <a:latin typeface="Times New Roman"/>
                <a:cs typeface="Times New Roman"/>
              </a:rPr>
              <a:t>a</a:t>
            </a:r>
            <a:r>
              <a:rPr sz="2176" spc="-5" dirty="0">
                <a:latin typeface="Times New Roman"/>
                <a:cs typeface="Times New Roman"/>
              </a:rPr>
              <a:t> tres</a:t>
            </a:r>
            <a:r>
              <a:rPr sz="2176" spc="-9" dirty="0">
                <a:latin typeface="Times New Roman"/>
                <a:cs typeface="Times New Roman"/>
              </a:rPr>
              <a:t> </a:t>
            </a:r>
            <a:r>
              <a:rPr sz="2176" dirty="0">
                <a:latin typeface="Times New Roman"/>
                <a:cs typeface="Times New Roman"/>
              </a:rPr>
              <a:t>factores</a:t>
            </a:r>
            <a:r>
              <a:rPr sz="2176" spc="-9" dirty="0">
                <a:latin typeface="Times New Roman"/>
                <a:cs typeface="Times New Roman"/>
              </a:rPr>
              <a:t> </a:t>
            </a:r>
            <a:r>
              <a:rPr sz="2176" dirty="0">
                <a:latin typeface="Times New Roman"/>
                <a:cs typeface="Times New Roman"/>
              </a:rPr>
              <a:t>que </a:t>
            </a:r>
            <a:r>
              <a:rPr sz="2176" spc="-9" dirty="0">
                <a:latin typeface="Times New Roman"/>
                <a:cs typeface="Times New Roman"/>
              </a:rPr>
              <a:t>se</a:t>
            </a:r>
            <a:r>
              <a:rPr sz="2176" dirty="0">
                <a:latin typeface="Times New Roman"/>
                <a:cs typeface="Times New Roman"/>
              </a:rPr>
              <a:t> </a:t>
            </a:r>
            <a:r>
              <a:rPr sz="2176" spc="-5" dirty="0">
                <a:latin typeface="Times New Roman"/>
                <a:cs typeface="Times New Roman"/>
              </a:rPr>
              <a:t>suman:</a:t>
            </a:r>
            <a:endParaRPr sz="2176" dirty="0">
              <a:latin typeface="Times New Roman"/>
              <a:cs typeface="Times New Roman"/>
            </a:endParaRPr>
          </a:p>
          <a:p>
            <a:pPr algn="just">
              <a:spcBef>
                <a:spcPts val="32"/>
              </a:spcBef>
            </a:pPr>
            <a:endParaRPr sz="2176" dirty="0">
              <a:latin typeface="Times New Roman"/>
              <a:cs typeface="Times New Roman"/>
            </a:endParaRPr>
          </a:p>
          <a:p>
            <a:pPr marL="437622" indent="-207294" algn="just">
              <a:spcBef>
                <a:spcPts val="5"/>
              </a:spcBef>
              <a:buFont typeface="Symbol"/>
              <a:buChar char=""/>
              <a:tabLst>
                <a:tab pos="437622" algn="l"/>
              </a:tabLst>
            </a:pPr>
            <a:r>
              <a:rPr sz="2176" dirty="0">
                <a:latin typeface="Times New Roman"/>
                <a:cs typeface="Times New Roman"/>
              </a:rPr>
              <a:t>El</a:t>
            </a:r>
            <a:r>
              <a:rPr sz="2176" spc="-5" dirty="0">
                <a:latin typeface="Times New Roman"/>
                <a:cs typeface="Times New Roman"/>
              </a:rPr>
              <a:t> error </a:t>
            </a:r>
            <a:r>
              <a:rPr sz="2176" dirty="0">
                <a:latin typeface="Times New Roman"/>
                <a:cs typeface="Times New Roman"/>
              </a:rPr>
              <a:t>“irreducible”</a:t>
            </a:r>
            <a:r>
              <a:rPr sz="2176" spc="-9" dirty="0">
                <a:latin typeface="Times New Roman"/>
                <a:cs typeface="Times New Roman"/>
              </a:rPr>
              <a:t> </a:t>
            </a:r>
            <a:r>
              <a:rPr sz="2176" dirty="0">
                <a:latin typeface="Times New Roman"/>
                <a:cs typeface="Times New Roman"/>
              </a:rPr>
              <a:t>o</a:t>
            </a:r>
            <a:r>
              <a:rPr sz="2176" spc="-14" dirty="0">
                <a:latin typeface="Times New Roman"/>
                <a:cs typeface="Times New Roman"/>
              </a:rPr>
              <a:t> </a:t>
            </a:r>
            <a:r>
              <a:rPr sz="2176" dirty="0">
                <a:latin typeface="Times New Roman"/>
                <a:cs typeface="Times New Roman"/>
              </a:rPr>
              <a:t>no</a:t>
            </a:r>
            <a:r>
              <a:rPr sz="2176" spc="5" dirty="0">
                <a:latin typeface="Times New Roman"/>
                <a:cs typeface="Times New Roman"/>
              </a:rPr>
              <a:t> </a:t>
            </a:r>
            <a:r>
              <a:rPr sz="2176" spc="-5" dirty="0">
                <a:latin typeface="Times New Roman"/>
                <a:cs typeface="Times New Roman"/>
              </a:rPr>
              <a:t>explicable</a:t>
            </a:r>
            <a:endParaRPr sz="2176" dirty="0">
              <a:latin typeface="Times New Roman"/>
              <a:cs typeface="Times New Roman"/>
            </a:endParaRPr>
          </a:p>
          <a:p>
            <a:pPr marL="437046" marR="41459" indent="-207294" algn="just">
              <a:lnSpc>
                <a:spcPts val="2720"/>
              </a:lnSpc>
              <a:spcBef>
                <a:spcPts val="222"/>
              </a:spcBef>
              <a:buFont typeface="Symbol"/>
              <a:buChar char=""/>
              <a:tabLst>
                <a:tab pos="437622" algn="l"/>
                <a:tab pos="861424" algn="l"/>
                <a:tab pos="1758547" algn="l"/>
                <a:tab pos="1988875" algn="l"/>
                <a:tab pos="2580240" algn="l"/>
                <a:tab pos="2986192" algn="l"/>
                <a:tab pos="3360474" algn="l"/>
                <a:tab pos="4099248" algn="l"/>
                <a:tab pos="5406355" algn="l"/>
                <a:tab pos="6677185" algn="l"/>
                <a:tab pos="7233426" algn="l"/>
                <a:tab pos="8270474" algn="l"/>
                <a:tab pos="8712126" algn="l"/>
              </a:tabLst>
            </a:pPr>
            <a:r>
              <a:rPr sz="2176" dirty="0">
                <a:latin typeface="Times New Roman"/>
                <a:cs typeface="Times New Roman"/>
              </a:rPr>
              <a:t>El	</a:t>
            </a:r>
            <a:r>
              <a:rPr sz="2176" spc="-5" dirty="0">
                <a:latin typeface="Times New Roman"/>
                <a:cs typeface="Times New Roman"/>
              </a:rPr>
              <a:t>s</a:t>
            </a:r>
            <a:r>
              <a:rPr sz="2176" spc="-14" dirty="0">
                <a:latin typeface="Times New Roman"/>
                <a:cs typeface="Times New Roman"/>
              </a:rPr>
              <a:t>e</a:t>
            </a:r>
            <a:r>
              <a:rPr sz="2176" spc="-5" dirty="0">
                <a:latin typeface="Times New Roman"/>
                <a:cs typeface="Times New Roman"/>
              </a:rPr>
              <a:t>sg</a:t>
            </a:r>
            <a:r>
              <a:rPr sz="2176" spc="9" dirty="0">
                <a:latin typeface="Times New Roman"/>
                <a:cs typeface="Times New Roman"/>
              </a:rPr>
              <a:t>o</a:t>
            </a:r>
            <a:r>
              <a:rPr sz="2176" baseline="39215" dirty="0">
                <a:latin typeface="Times New Roman"/>
                <a:cs typeface="Times New Roman"/>
              </a:rPr>
              <a:t>2</a:t>
            </a:r>
            <a:r>
              <a:rPr sz="2176" dirty="0">
                <a:latin typeface="Times New Roman"/>
                <a:cs typeface="Times New Roman"/>
              </a:rPr>
              <a:t>,	q</a:t>
            </a:r>
            <a:r>
              <a:rPr sz="2176" spc="9" dirty="0">
                <a:latin typeface="Times New Roman"/>
                <a:cs typeface="Times New Roman"/>
              </a:rPr>
              <a:t>u</a:t>
            </a:r>
            <a:r>
              <a:rPr sz="2176" dirty="0">
                <a:latin typeface="Times New Roman"/>
                <a:cs typeface="Times New Roman"/>
              </a:rPr>
              <a:t>e</a:t>
            </a:r>
            <a:r>
              <a:rPr lang="es-ES" sz="2176" dirty="0">
                <a:latin typeface="Times New Roman"/>
                <a:cs typeface="Times New Roman"/>
              </a:rPr>
              <a:t> </a:t>
            </a:r>
            <a:r>
              <a:rPr sz="2176" dirty="0" err="1">
                <a:latin typeface="Times New Roman"/>
                <a:cs typeface="Times New Roman"/>
              </a:rPr>
              <a:t>es</a:t>
            </a:r>
            <a:r>
              <a:rPr sz="2176" dirty="0">
                <a:latin typeface="Times New Roman"/>
                <a:cs typeface="Times New Roman"/>
              </a:rPr>
              <a:t>	el</a:t>
            </a:r>
            <a:r>
              <a:rPr lang="es-ES" sz="2176" dirty="0">
                <a:latin typeface="Times New Roman"/>
                <a:cs typeface="Times New Roman"/>
              </a:rPr>
              <a:t> </a:t>
            </a:r>
            <a:r>
              <a:rPr sz="2176" dirty="0">
                <a:latin typeface="Times New Roman"/>
                <a:cs typeface="Times New Roman"/>
              </a:rPr>
              <a:t>er</a:t>
            </a:r>
            <a:r>
              <a:rPr sz="2176" spc="-9" dirty="0">
                <a:latin typeface="Times New Roman"/>
                <a:cs typeface="Times New Roman"/>
              </a:rPr>
              <a:t>r</a:t>
            </a:r>
            <a:r>
              <a:rPr sz="2176" dirty="0">
                <a:latin typeface="Times New Roman"/>
                <a:cs typeface="Times New Roman"/>
              </a:rPr>
              <a:t>or</a:t>
            </a:r>
            <a:r>
              <a:rPr lang="es-ES" sz="2176" dirty="0">
                <a:latin typeface="Times New Roman"/>
                <a:cs typeface="Times New Roman"/>
              </a:rPr>
              <a:t> </a:t>
            </a:r>
            <a:r>
              <a:rPr sz="2176" dirty="0" err="1">
                <a:latin typeface="Times New Roman"/>
                <a:cs typeface="Times New Roman"/>
              </a:rPr>
              <a:t>pr</a:t>
            </a:r>
            <a:r>
              <a:rPr sz="2176" spc="5" dirty="0" err="1">
                <a:latin typeface="Times New Roman"/>
                <a:cs typeface="Times New Roman"/>
              </a:rPr>
              <a:t>o</a:t>
            </a:r>
            <a:r>
              <a:rPr sz="2176" spc="-9" dirty="0" err="1">
                <a:latin typeface="Times New Roman"/>
                <a:cs typeface="Times New Roman"/>
              </a:rPr>
              <a:t>m</a:t>
            </a:r>
            <a:r>
              <a:rPr sz="2176" dirty="0" err="1">
                <a:latin typeface="Times New Roman"/>
                <a:cs typeface="Times New Roman"/>
              </a:rPr>
              <a:t>edio</a:t>
            </a:r>
            <a:r>
              <a:rPr lang="es-ES" sz="2176" dirty="0">
                <a:latin typeface="Times New Roman"/>
                <a:cs typeface="Times New Roman"/>
              </a:rPr>
              <a:t> </a:t>
            </a:r>
            <a:r>
              <a:rPr sz="2176" dirty="0" err="1">
                <a:latin typeface="Times New Roman"/>
                <a:cs typeface="Times New Roman"/>
              </a:rPr>
              <a:t>c</a:t>
            </a:r>
            <a:r>
              <a:rPr sz="2176" spc="-9" dirty="0" err="1">
                <a:latin typeface="Times New Roman"/>
                <a:cs typeface="Times New Roman"/>
              </a:rPr>
              <a:t>om</a:t>
            </a:r>
            <a:r>
              <a:rPr sz="2176" dirty="0" err="1">
                <a:latin typeface="Times New Roman"/>
                <a:cs typeface="Times New Roman"/>
              </a:rPr>
              <a:t>e</a:t>
            </a:r>
            <a:r>
              <a:rPr sz="2176" spc="-9" dirty="0" err="1">
                <a:latin typeface="Times New Roman"/>
                <a:cs typeface="Times New Roman"/>
              </a:rPr>
              <a:t>t</a:t>
            </a:r>
            <a:r>
              <a:rPr sz="2176" dirty="0" err="1">
                <a:latin typeface="Times New Roman"/>
                <a:cs typeface="Times New Roman"/>
              </a:rPr>
              <a:t>ido</a:t>
            </a:r>
            <a:r>
              <a:rPr lang="es-ES" sz="2176" dirty="0">
                <a:latin typeface="Times New Roman"/>
                <a:cs typeface="Times New Roman"/>
              </a:rPr>
              <a:t> </a:t>
            </a:r>
            <a:r>
              <a:rPr sz="2176" dirty="0" err="1">
                <a:latin typeface="Times New Roman"/>
                <a:cs typeface="Times New Roman"/>
              </a:rPr>
              <a:t>p</a:t>
            </a:r>
            <a:r>
              <a:rPr sz="2176" spc="9" dirty="0" err="1">
                <a:latin typeface="Times New Roman"/>
                <a:cs typeface="Times New Roman"/>
              </a:rPr>
              <a:t>o</a:t>
            </a:r>
            <a:r>
              <a:rPr sz="2176" dirty="0" err="1">
                <a:latin typeface="Times New Roman"/>
                <a:cs typeface="Times New Roman"/>
              </a:rPr>
              <a:t>r</a:t>
            </a:r>
            <a:r>
              <a:rPr lang="es-ES" sz="2176" dirty="0">
                <a:latin typeface="Times New Roman"/>
                <a:cs typeface="Times New Roman"/>
              </a:rPr>
              <a:t> </a:t>
            </a:r>
            <a:r>
              <a:rPr sz="2176" dirty="0" err="1">
                <a:latin typeface="Times New Roman"/>
                <a:cs typeface="Times New Roman"/>
              </a:rPr>
              <a:t>desf</a:t>
            </a:r>
            <a:r>
              <a:rPr sz="2176" spc="-14" dirty="0" err="1">
                <a:latin typeface="Times New Roman"/>
                <a:cs typeface="Times New Roman"/>
              </a:rPr>
              <a:t>a</a:t>
            </a:r>
            <a:r>
              <a:rPr sz="2176" spc="-5" dirty="0" err="1">
                <a:latin typeface="Times New Roman"/>
                <a:cs typeface="Times New Roman"/>
              </a:rPr>
              <a:t>s</a:t>
            </a:r>
            <a:r>
              <a:rPr sz="2176" dirty="0" err="1">
                <a:latin typeface="Times New Roman"/>
                <a:cs typeface="Times New Roman"/>
              </a:rPr>
              <a:t>e</a:t>
            </a:r>
            <a:r>
              <a:rPr lang="es-ES" sz="2176" dirty="0">
                <a:latin typeface="Times New Roman"/>
                <a:cs typeface="Times New Roman"/>
              </a:rPr>
              <a:t> </a:t>
            </a:r>
            <a:r>
              <a:rPr sz="2176" spc="14" dirty="0">
                <a:latin typeface="Times New Roman"/>
                <a:cs typeface="Times New Roman"/>
              </a:rPr>
              <a:t>d</a:t>
            </a:r>
            <a:r>
              <a:rPr sz="2176" dirty="0">
                <a:latin typeface="Times New Roman"/>
                <a:cs typeface="Times New Roman"/>
              </a:rPr>
              <a:t>e</a:t>
            </a:r>
            <a:r>
              <a:rPr lang="es-ES" sz="2176" dirty="0">
                <a:latin typeface="Times New Roman"/>
                <a:cs typeface="Times New Roman"/>
              </a:rPr>
              <a:t> </a:t>
            </a:r>
            <a:r>
              <a:rPr sz="2176" dirty="0" err="1">
                <a:latin typeface="Times New Roman"/>
                <a:cs typeface="Times New Roman"/>
              </a:rPr>
              <a:t>los</a:t>
            </a:r>
            <a:r>
              <a:rPr lang="es-ES" sz="2176" dirty="0">
                <a:latin typeface="Times New Roman"/>
                <a:cs typeface="Times New Roman"/>
              </a:rPr>
              <a:t> </a:t>
            </a:r>
            <a:r>
              <a:rPr sz="2176" dirty="0" err="1">
                <a:latin typeface="Times New Roman"/>
                <a:cs typeface="Times New Roman"/>
              </a:rPr>
              <a:t>verdaderos</a:t>
            </a:r>
            <a:r>
              <a:rPr sz="2176" spc="-5" dirty="0">
                <a:latin typeface="Times New Roman"/>
                <a:cs typeface="Times New Roman"/>
              </a:rPr>
              <a:t> valores.</a:t>
            </a:r>
            <a:endParaRPr sz="2176" dirty="0">
              <a:latin typeface="Times New Roman"/>
              <a:cs typeface="Times New Roman"/>
            </a:endParaRPr>
          </a:p>
          <a:p>
            <a:pPr marL="437046" marR="39156" indent="-207294" algn="just">
              <a:lnSpc>
                <a:spcPts val="2720"/>
              </a:lnSpc>
              <a:spcBef>
                <a:spcPts val="154"/>
              </a:spcBef>
              <a:buFont typeface="Symbol"/>
              <a:buChar char=""/>
              <a:tabLst>
                <a:tab pos="437622" algn="l"/>
                <a:tab pos="871213" algn="l"/>
                <a:tab pos="2075824" algn="l"/>
                <a:tab pos="2626306" algn="l"/>
                <a:tab pos="2992526" algn="l"/>
                <a:tab pos="3324196" algn="l"/>
                <a:tab pos="4873148" algn="l"/>
                <a:tab pos="5272765" algn="l"/>
                <a:tab pos="5721328" algn="l"/>
                <a:tab pos="7351468" algn="l"/>
                <a:tab pos="7834580" algn="l"/>
                <a:tab pos="8850323" algn="l"/>
              </a:tabLst>
            </a:pPr>
            <a:r>
              <a:rPr sz="2176" dirty="0">
                <a:latin typeface="Times New Roman"/>
                <a:cs typeface="Times New Roman"/>
              </a:rPr>
              <a:t>La	vari</a:t>
            </a:r>
            <a:r>
              <a:rPr sz="2176" spc="-14" dirty="0">
                <a:latin typeface="Times New Roman"/>
                <a:cs typeface="Times New Roman"/>
              </a:rPr>
              <a:t>a</a:t>
            </a:r>
            <a:r>
              <a:rPr sz="2176" dirty="0">
                <a:latin typeface="Times New Roman"/>
                <a:cs typeface="Times New Roman"/>
              </a:rPr>
              <a:t>n</a:t>
            </a:r>
            <a:r>
              <a:rPr sz="2176" spc="-14" dirty="0">
                <a:latin typeface="Times New Roman"/>
                <a:cs typeface="Times New Roman"/>
              </a:rPr>
              <a:t>z</a:t>
            </a:r>
            <a:r>
              <a:rPr sz="2176" dirty="0">
                <a:latin typeface="Times New Roman"/>
                <a:cs typeface="Times New Roman"/>
              </a:rPr>
              <a:t>a,	q</a:t>
            </a:r>
            <a:r>
              <a:rPr sz="2176" spc="9" dirty="0">
                <a:latin typeface="Times New Roman"/>
                <a:cs typeface="Times New Roman"/>
              </a:rPr>
              <a:t>u</a:t>
            </a:r>
            <a:r>
              <a:rPr sz="2176" dirty="0">
                <a:latin typeface="Times New Roman"/>
                <a:cs typeface="Times New Roman"/>
              </a:rPr>
              <a:t>e	es	</a:t>
            </a:r>
            <a:r>
              <a:rPr sz="2176" spc="-18" dirty="0">
                <a:latin typeface="Times New Roman"/>
                <a:cs typeface="Times New Roman"/>
              </a:rPr>
              <a:t>l</a:t>
            </a:r>
            <a:r>
              <a:rPr sz="2176" dirty="0">
                <a:latin typeface="Times New Roman"/>
                <a:cs typeface="Times New Roman"/>
              </a:rPr>
              <a:t>a	va</a:t>
            </a:r>
            <a:r>
              <a:rPr sz="2176" spc="14" dirty="0">
                <a:latin typeface="Times New Roman"/>
                <a:cs typeface="Times New Roman"/>
              </a:rPr>
              <a:t>r</a:t>
            </a:r>
            <a:r>
              <a:rPr sz="2176" dirty="0">
                <a:latin typeface="Times New Roman"/>
                <a:cs typeface="Times New Roman"/>
              </a:rPr>
              <a:t>i</a:t>
            </a:r>
            <a:r>
              <a:rPr sz="2176" spc="-9" dirty="0">
                <a:latin typeface="Times New Roman"/>
                <a:cs typeface="Times New Roman"/>
              </a:rPr>
              <a:t>a</a:t>
            </a:r>
            <a:r>
              <a:rPr sz="2176" dirty="0">
                <a:latin typeface="Times New Roman"/>
                <a:cs typeface="Times New Roman"/>
              </a:rPr>
              <a:t>bili</a:t>
            </a:r>
            <a:r>
              <a:rPr sz="2176" spc="-14" dirty="0">
                <a:latin typeface="Times New Roman"/>
                <a:cs typeface="Times New Roman"/>
              </a:rPr>
              <a:t>d</a:t>
            </a:r>
            <a:r>
              <a:rPr sz="2176" dirty="0">
                <a:latin typeface="Times New Roman"/>
                <a:cs typeface="Times New Roman"/>
              </a:rPr>
              <a:t>ad	de	l</a:t>
            </a:r>
            <a:r>
              <a:rPr sz="2176" spc="-9" dirty="0">
                <a:latin typeface="Times New Roman"/>
                <a:cs typeface="Times New Roman"/>
              </a:rPr>
              <a:t>a</a:t>
            </a:r>
            <a:r>
              <a:rPr sz="2176" dirty="0">
                <a:latin typeface="Times New Roman"/>
                <a:cs typeface="Times New Roman"/>
              </a:rPr>
              <a:t>s	p</a:t>
            </a:r>
            <a:r>
              <a:rPr sz="2176" spc="-14" dirty="0">
                <a:latin typeface="Times New Roman"/>
                <a:cs typeface="Times New Roman"/>
              </a:rPr>
              <a:t>r</a:t>
            </a:r>
            <a:r>
              <a:rPr sz="2176" dirty="0">
                <a:latin typeface="Times New Roman"/>
                <a:cs typeface="Times New Roman"/>
              </a:rPr>
              <a:t>edic</a:t>
            </a:r>
            <a:r>
              <a:rPr sz="2176" spc="-9" dirty="0">
                <a:latin typeface="Times New Roman"/>
                <a:cs typeface="Times New Roman"/>
              </a:rPr>
              <a:t>c</a:t>
            </a:r>
            <a:r>
              <a:rPr sz="2176" dirty="0">
                <a:latin typeface="Times New Roman"/>
                <a:cs typeface="Times New Roman"/>
              </a:rPr>
              <a:t>io</a:t>
            </a:r>
            <a:r>
              <a:rPr sz="2176" spc="5" dirty="0">
                <a:latin typeface="Times New Roman"/>
                <a:cs typeface="Times New Roman"/>
              </a:rPr>
              <a:t>n</a:t>
            </a:r>
            <a:r>
              <a:rPr sz="2176" dirty="0">
                <a:latin typeface="Times New Roman"/>
                <a:cs typeface="Times New Roman"/>
              </a:rPr>
              <a:t>es	del	</a:t>
            </a:r>
            <a:r>
              <a:rPr sz="2176" spc="-9" dirty="0" err="1">
                <a:latin typeface="Times New Roman"/>
                <a:cs typeface="Times New Roman"/>
              </a:rPr>
              <a:t>m</a:t>
            </a:r>
            <a:r>
              <a:rPr sz="2176" dirty="0" err="1">
                <a:latin typeface="Times New Roman"/>
                <a:cs typeface="Times New Roman"/>
              </a:rPr>
              <a:t>ode</a:t>
            </a:r>
            <a:r>
              <a:rPr sz="2176" spc="-9" dirty="0" err="1">
                <a:latin typeface="Times New Roman"/>
                <a:cs typeface="Times New Roman"/>
              </a:rPr>
              <a:t>l</a:t>
            </a:r>
            <a:r>
              <a:rPr sz="2176" dirty="0" err="1">
                <a:latin typeface="Times New Roman"/>
                <a:cs typeface="Times New Roman"/>
              </a:rPr>
              <a:t>o</a:t>
            </a:r>
            <a:r>
              <a:rPr lang="es-ES" sz="2176" dirty="0">
                <a:latin typeface="Times New Roman"/>
                <a:cs typeface="Times New Roman"/>
              </a:rPr>
              <a:t> </a:t>
            </a:r>
            <a:r>
              <a:rPr sz="2176" spc="-18" dirty="0">
                <a:latin typeface="Times New Roman"/>
                <a:cs typeface="Times New Roman"/>
              </a:rPr>
              <a:t>a</a:t>
            </a:r>
            <a:r>
              <a:rPr sz="2176" dirty="0">
                <a:latin typeface="Times New Roman"/>
                <a:cs typeface="Times New Roman"/>
              </a:rPr>
              <a:t>l  </a:t>
            </a:r>
            <a:r>
              <a:rPr sz="2176" spc="-5" dirty="0">
                <a:latin typeface="Times New Roman"/>
                <a:cs typeface="Times New Roman"/>
              </a:rPr>
              <a:t>variar</a:t>
            </a:r>
            <a:r>
              <a:rPr sz="2176" dirty="0">
                <a:latin typeface="Times New Roman"/>
                <a:cs typeface="Times New Roman"/>
              </a:rPr>
              <a:t> </a:t>
            </a:r>
            <a:r>
              <a:rPr sz="2176" spc="-5" dirty="0">
                <a:latin typeface="Times New Roman"/>
                <a:cs typeface="Times New Roman"/>
              </a:rPr>
              <a:t>los</a:t>
            </a:r>
            <a:r>
              <a:rPr sz="2176" dirty="0">
                <a:latin typeface="Times New Roman"/>
                <a:cs typeface="Times New Roman"/>
              </a:rPr>
              <a:t> datos utilizados para</a:t>
            </a:r>
            <a:r>
              <a:rPr sz="2176" spc="-9" dirty="0">
                <a:latin typeface="Times New Roman"/>
                <a:cs typeface="Times New Roman"/>
              </a:rPr>
              <a:t> </a:t>
            </a:r>
            <a:r>
              <a:rPr sz="2176" spc="-5" dirty="0">
                <a:latin typeface="Times New Roman"/>
                <a:cs typeface="Times New Roman"/>
              </a:rPr>
              <a:t>construirlo.</a:t>
            </a:r>
            <a:endParaRPr sz="2176" dirty="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19204" y="3201603"/>
            <a:ext cx="7888246" cy="2605795"/>
          </a:xfrm>
          <a:prstGeom prst="rect">
            <a:avLst/>
          </a:prstGeom>
        </p:spPr>
      </p:pic>
      <p:sp>
        <p:nvSpPr>
          <p:cNvPr id="4" name="CuadroTexto 3"/>
          <p:cNvSpPr txBox="1"/>
          <p:nvPr/>
        </p:nvSpPr>
        <p:spPr>
          <a:xfrm>
            <a:off x="4162166" y="5985635"/>
            <a:ext cx="4365939" cy="3715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814" b="1" dirty="0">
                <a:solidFill>
                  <a:srgbClr val="FF0000"/>
                </a:solidFill>
              </a:rPr>
              <a:t>¡¡¡EQUILIBRIO ENTRE SESGO Y VARIANZA!!!</a:t>
            </a:r>
            <a:endParaRPr lang="es-ES" sz="1632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13422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64696" y="665070"/>
            <a:ext cx="6600050" cy="4230557"/>
          </a:xfrm>
          <a:prstGeom prst="rect">
            <a:avLst/>
          </a:prstGeom>
        </p:spPr>
      </p:pic>
      <p:sp>
        <p:nvSpPr>
          <p:cNvPr id="3" name="CuadroTexto 2"/>
          <p:cNvSpPr txBox="1"/>
          <p:nvPr/>
        </p:nvSpPr>
        <p:spPr>
          <a:xfrm>
            <a:off x="1881008" y="5018259"/>
            <a:ext cx="8337434" cy="14882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10942" indent="-310942" algn="just">
              <a:buFont typeface="Arial" panose="020B0604020202020204" pitchFamily="34" charset="0"/>
              <a:buChar char="•"/>
            </a:pPr>
            <a:r>
              <a:rPr lang="es-ES" sz="18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Cuanto más complejo es el modelo, más se ajusta a los datos usados para su construcción, por lo que mayor es la varianza al usar datos nuevos.</a:t>
            </a:r>
          </a:p>
          <a:p>
            <a:pPr marL="310942" indent="-310942" algn="just">
              <a:buFont typeface="Arial" panose="020B0604020202020204" pitchFamily="34" charset="0"/>
              <a:buChar char="•"/>
            </a:pPr>
            <a:r>
              <a:rPr lang="es-ES" sz="18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Cuanto más simple es el modelo, más general es para datos nuevos, por lo que inferior es la varianza, pero como no se ajusta perfectamente a los datos usados para su construcción, aumenta el sesgo.</a:t>
            </a:r>
          </a:p>
        </p:txBody>
      </p:sp>
    </p:spTree>
    <p:extLst>
      <p:ext uri="{BB962C8B-B14F-4D97-AF65-F5344CB8AC3E}">
        <p14:creationId xmlns:p14="http://schemas.microsoft.com/office/powerpoint/2010/main" val="4088587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804571" y="526874"/>
            <a:ext cx="6131679" cy="4271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2176" b="1" dirty="0">
                <a:solidFill>
                  <a:srgbClr val="FF0000"/>
                </a:solidFill>
              </a:rPr>
              <a:t>INCISO: interpretación del gráfico de cajas y bigotes</a:t>
            </a:r>
          </a:p>
        </p:txBody>
      </p:sp>
      <p:sp>
        <p:nvSpPr>
          <p:cNvPr id="3" name="CuadroTexto 2"/>
          <p:cNvSpPr txBox="1"/>
          <p:nvPr/>
        </p:nvSpPr>
        <p:spPr>
          <a:xfrm>
            <a:off x="1673714" y="1356053"/>
            <a:ext cx="8706377" cy="4110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176" dirty="0"/>
              <a:t>Los gráficos de cajas y bigotes son métodos gráficos para representar una serie de datos numéricos a partir de sus cuartiles: de un vistazo se puede ver la </a:t>
            </a:r>
            <a:r>
              <a:rPr lang="es-ES" sz="2176" b="1" dirty="0"/>
              <a:t>mediana</a:t>
            </a:r>
            <a:r>
              <a:rPr lang="es-ES" sz="2176" dirty="0"/>
              <a:t>, </a:t>
            </a:r>
            <a:r>
              <a:rPr lang="es-ES" sz="2176" b="1" dirty="0"/>
              <a:t>cuartiles</a:t>
            </a:r>
            <a:r>
              <a:rPr lang="es-ES" sz="2176" dirty="0"/>
              <a:t>, y </a:t>
            </a:r>
            <a:r>
              <a:rPr lang="es-ES" sz="2176" b="1" dirty="0"/>
              <a:t>valores atípicos</a:t>
            </a:r>
            <a:r>
              <a:rPr lang="es-ES" sz="2176" dirty="0"/>
              <a:t>.</a:t>
            </a:r>
          </a:p>
          <a:p>
            <a:endParaRPr lang="es-ES" sz="2176" dirty="0"/>
          </a:p>
          <a:p>
            <a:r>
              <a:rPr lang="es-ES" sz="2176" dirty="0"/>
              <a:t>Los </a:t>
            </a:r>
            <a:r>
              <a:rPr lang="es-ES" sz="2176" b="1" dirty="0"/>
              <a:t>bigotes</a:t>
            </a:r>
            <a:r>
              <a:rPr lang="es-ES" sz="2176" dirty="0"/>
              <a:t> son las líneas  que se extienden fuera de la caja. Indican la variabilidad fuera de los cuartiles superior e inferior: cualquier punto fuera de esas líneas o bigotes se considera un valor atípico.</a:t>
            </a:r>
          </a:p>
          <a:p>
            <a:endParaRPr lang="es-ES" sz="2176" dirty="0"/>
          </a:p>
          <a:p>
            <a:r>
              <a:rPr lang="es-ES" sz="2176" dirty="0"/>
              <a:t>En nuestro caso, en el eje X representamos cada modelo. En el eje Y representamos la media del error, con lo que lo utilizaremos para evaluar el valor del sesgo. Cuanto más "</a:t>
            </a:r>
            <a:r>
              <a:rPr lang="es-ES" sz="2176" dirty="0">
                <a:solidFill>
                  <a:srgbClr val="FF0000"/>
                </a:solidFill>
              </a:rPr>
              <a:t>abajo</a:t>
            </a:r>
            <a:r>
              <a:rPr lang="es-ES" sz="2176" dirty="0"/>
              <a:t>" en el eje Y aparezca una caja, </a:t>
            </a:r>
            <a:r>
              <a:rPr lang="es-ES" sz="2176" dirty="0">
                <a:solidFill>
                  <a:srgbClr val="FF0000"/>
                </a:solidFill>
              </a:rPr>
              <a:t>menor</a:t>
            </a:r>
            <a:r>
              <a:rPr lang="es-ES" sz="2176" dirty="0"/>
              <a:t> será su </a:t>
            </a:r>
            <a:r>
              <a:rPr lang="es-ES" sz="2176" dirty="0">
                <a:solidFill>
                  <a:srgbClr val="FF0000"/>
                </a:solidFill>
              </a:rPr>
              <a:t>sesgo</a:t>
            </a:r>
            <a:r>
              <a:rPr lang="es-ES" sz="2176" dirty="0"/>
              <a:t>. Cuanto más "</a:t>
            </a:r>
            <a:r>
              <a:rPr lang="es-ES" sz="2176" dirty="0">
                <a:solidFill>
                  <a:schemeClr val="accent5">
                    <a:lumMod val="75000"/>
                  </a:schemeClr>
                </a:solidFill>
              </a:rPr>
              <a:t>corta</a:t>
            </a:r>
            <a:r>
              <a:rPr lang="es-ES" sz="2176" dirty="0"/>
              <a:t>" sea la caja, </a:t>
            </a:r>
            <a:r>
              <a:rPr lang="es-ES" sz="2176" dirty="0">
                <a:solidFill>
                  <a:schemeClr val="accent5">
                    <a:lumMod val="75000"/>
                  </a:schemeClr>
                </a:solidFill>
              </a:rPr>
              <a:t>menor</a:t>
            </a:r>
            <a:r>
              <a:rPr lang="es-ES" sz="2176" dirty="0"/>
              <a:t> será su </a:t>
            </a:r>
            <a:r>
              <a:rPr lang="es-ES" sz="2176" dirty="0">
                <a:solidFill>
                  <a:schemeClr val="accent5">
                    <a:lumMod val="75000"/>
                  </a:schemeClr>
                </a:solidFill>
              </a:rPr>
              <a:t>variabilidad</a:t>
            </a:r>
            <a:r>
              <a:rPr lang="es-ES" sz="2176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25446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2779285" y="932826"/>
            <a:ext cx="7012319" cy="5329202"/>
            <a:chOff x="1369084" y="418592"/>
            <a:chExt cx="7733030" cy="587692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69084" y="753000"/>
              <a:ext cx="7732885" cy="554222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358256" y="418592"/>
              <a:ext cx="76200" cy="429259"/>
            </a:xfrm>
            <a:custGeom>
              <a:avLst/>
              <a:gdLst/>
              <a:ahLst/>
              <a:cxnLst/>
              <a:rect l="l" t="t" r="r" b="b"/>
              <a:pathLst>
                <a:path w="76200" h="429259">
                  <a:moveTo>
                    <a:pt x="0" y="350520"/>
                  </a:moveTo>
                  <a:lnTo>
                    <a:pt x="32892" y="429133"/>
                  </a:lnTo>
                  <a:lnTo>
                    <a:pt x="69699" y="366268"/>
                  </a:lnTo>
                  <a:lnTo>
                    <a:pt x="45084" y="366268"/>
                  </a:lnTo>
                  <a:lnTo>
                    <a:pt x="29209" y="365252"/>
                  </a:lnTo>
                  <a:lnTo>
                    <a:pt x="30059" y="352530"/>
                  </a:lnTo>
                  <a:lnTo>
                    <a:pt x="0" y="350520"/>
                  </a:lnTo>
                  <a:close/>
                </a:path>
                <a:path w="76200" h="429259">
                  <a:moveTo>
                    <a:pt x="30059" y="352530"/>
                  </a:moveTo>
                  <a:lnTo>
                    <a:pt x="29209" y="365252"/>
                  </a:lnTo>
                  <a:lnTo>
                    <a:pt x="45084" y="366268"/>
                  </a:lnTo>
                  <a:lnTo>
                    <a:pt x="45926" y="353592"/>
                  </a:lnTo>
                  <a:lnTo>
                    <a:pt x="30059" y="352530"/>
                  </a:lnTo>
                  <a:close/>
                </a:path>
                <a:path w="76200" h="429259">
                  <a:moveTo>
                    <a:pt x="45926" y="353592"/>
                  </a:moveTo>
                  <a:lnTo>
                    <a:pt x="45084" y="366268"/>
                  </a:lnTo>
                  <a:lnTo>
                    <a:pt x="69699" y="366268"/>
                  </a:lnTo>
                  <a:lnTo>
                    <a:pt x="75945" y="355600"/>
                  </a:lnTo>
                  <a:lnTo>
                    <a:pt x="45926" y="353592"/>
                  </a:lnTo>
                  <a:close/>
                </a:path>
                <a:path w="76200" h="429259">
                  <a:moveTo>
                    <a:pt x="53593" y="0"/>
                  </a:moveTo>
                  <a:lnTo>
                    <a:pt x="30059" y="352530"/>
                  </a:lnTo>
                  <a:lnTo>
                    <a:pt x="45926" y="353592"/>
                  </a:lnTo>
                  <a:lnTo>
                    <a:pt x="69341" y="1016"/>
                  </a:lnTo>
                  <a:lnTo>
                    <a:pt x="53593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 sz="1632"/>
            </a:p>
          </p:txBody>
        </p:sp>
      </p:grpSp>
      <p:sp>
        <p:nvSpPr>
          <p:cNvPr id="6" name="CuadroTexto 5"/>
          <p:cNvSpPr txBox="1"/>
          <p:nvPr/>
        </p:nvSpPr>
        <p:spPr>
          <a:xfrm>
            <a:off x="1604615" y="319579"/>
            <a:ext cx="9051869" cy="8458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32" dirty="0"/>
              <a:t>En esta tabla se presentan varios estudios, en los que se han utilizado distintas medidas de error, tamaños de datos y métodos de validación, así como la comparativa entre métodos clásicos y métodos de machine </a:t>
            </a:r>
            <a:r>
              <a:rPr lang="es-ES" sz="1632" dirty="0" err="1"/>
              <a:t>learning</a:t>
            </a:r>
            <a:r>
              <a:rPr lang="es-ES" sz="1632" dirty="0"/>
              <a:t>.</a:t>
            </a:r>
          </a:p>
        </p:txBody>
      </p:sp>
      <p:sp>
        <p:nvSpPr>
          <p:cNvPr id="7" name="Rectángulo 6"/>
          <p:cNvSpPr/>
          <p:nvPr/>
        </p:nvSpPr>
        <p:spPr>
          <a:xfrm>
            <a:off x="6130549" y="872365"/>
            <a:ext cx="794630" cy="55278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sz="1632"/>
          </a:p>
        </p:txBody>
      </p:sp>
    </p:spTree>
    <p:extLst>
      <p:ext uri="{BB962C8B-B14F-4D97-AF65-F5344CB8AC3E}">
        <p14:creationId xmlns:p14="http://schemas.microsoft.com/office/powerpoint/2010/main" val="70003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48191" y="288903"/>
            <a:ext cx="6689285" cy="513945"/>
          </a:xfrm>
          <a:prstGeom prst="rect">
            <a:avLst/>
          </a:prstGeom>
        </p:spPr>
        <p:txBody>
          <a:bodyPr vert="horz" wrap="square" lIns="0" tIns="11516" rIns="0" bIns="0" rtlCol="0" anchor="ctr">
            <a:spAutoFit/>
          </a:bodyPr>
          <a:lstStyle/>
          <a:p>
            <a:pPr marL="11516">
              <a:lnSpc>
                <a:spcPct val="100000"/>
              </a:lnSpc>
              <a:spcBef>
                <a:spcPts val="91"/>
              </a:spcBef>
            </a:pPr>
            <a:r>
              <a:rPr sz="3264" b="1" spc="-5" dirty="0">
                <a:solidFill>
                  <a:srgbClr val="538DD3"/>
                </a:solidFill>
                <a:latin typeface="Times New Roman"/>
                <a:cs typeface="Times New Roman"/>
              </a:rPr>
              <a:t>Conceptos</a:t>
            </a:r>
            <a:r>
              <a:rPr sz="3264" b="1" spc="-18" dirty="0">
                <a:solidFill>
                  <a:srgbClr val="538DD3"/>
                </a:solidFill>
                <a:latin typeface="Times New Roman"/>
                <a:cs typeface="Times New Roman"/>
              </a:rPr>
              <a:t> </a:t>
            </a:r>
            <a:r>
              <a:rPr sz="3264" b="1" dirty="0">
                <a:solidFill>
                  <a:srgbClr val="538DD3"/>
                </a:solidFill>
                <a:latin typeface="Times New Roman"/>
                <a:cs typeface="Times New Roman"/>
              </a:rPr>
              <a:t>básicos</a:t>
            </a:r>
            <a:r>
              <a:rPr sz="3264" b="1" spc="-9" dirty="0">
                <a:solidFill>
                  <a:srgbClr val="538DD3"/>
                </a:solidFill>
                <a:latin typeface="Times New Roman"/>
                <a:cs typeface="Times New Roman"/>
              </a:rPr>
              <a:t> </a:t>
            </a:r>
            <a:r>
              <a:rPr sz="3264" b="1" spc="-5" dirty="0">
                <a:solidFill>
                  <a:srgbClr val="538DD3"/>
                </a:solidFill>
                <a:latin typeface="Times New Roman"/>
                <a:cs typeface="Times New Roman"/>
              </a:rPr>
              <a:t>sobre</a:t>
            </a:r>
            <a:r>
              <a:rPr sz="3264" b="1" spc="-14" dirty="0">
                <a:solidFill>
                  <a:srgbClr val="538DD3"/>
                </a:solidFill>
                <a:latin typeface="Times New Roman"/>
                <a:cs typeface="Times New Roman"/>
              </a:rPr>
              <a:t> </a:t>
            </a:r>
            <a:r>
              <a:rPr sz="3264" b="1" spc="-5" dirty="0">
                <a:solidFill>
                  <a:srgbClr val="538DD3"/>
                </a:solidFill>
                <a:latin typeface="Times New Roman"/>
                <a:cs typeface="Times New Roman"/>
              </a:rPr>
              <a:t>optimización</a:t>
            </a:r>
            <a:endParaRPr sz="3264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61433" y="2015291"/>
            <a:ext cx="8587756" cy="4579070"/>
          </a:xfrm>
          <a:prstGeom prst="rect">
            <a:avLst/>
          </a:prstGeom>
        </p:spPr>
        <p:txBody>
          <a:bodyPr vert="horz" wrap="square" lIns="0" tIns="33397" rIns="0" bIns="0" rtlCol="0">
            <a:spAutoFit/>
          </a:bodyPr>
          <a:lstStyle/>
          <a:p>
            <a:pPr>
              <a:spcBef>
                <a:spcPts val="36"/>
              </a:spcBef>
            </a:pPr>
            <a:r>
              <a:rPr lang="es-ES" sz="2176" spc="-5" dirty="0">
                <a:solidFill>
                  <a:srgbClr val="FF0000"/>
                </a:solidFill>
                <a:latin typeface="Times New Roman"/>
                <a:cs typeface="Times New Roman"/>
              </a:rPr>
              <a:t>			   </a:t>
            </a:r>
            <a:r>
              <a:rPr sz="2176" spc="-5" dirty="0">
                <a:solidFill>
                  <a:srgbClr val="FF0000"/>
                </a:solidFill>
                <a:latin typeface="Times New Roman"/>
                <a:cs typeface="Times New Roman"/>
              </a:rPr>
              <a:t>MSE=</a:t>
            </a:r>
            <a:endParaRPr sz="2176" dirty="0">
              <a:latin typeface="Times New Roman"/>
              <a:cs typeface="Times New Roman"/>
            </a:endParaRPr>
          </a:p>
          <a:p>
            <a:pPr>
              <a:spcBef>
                <a:spcPts val="14"/>
              </a:spcBef>
            </a:pPr>
            <a:endParaRPr sz="2222" dirty="0">
              <a:latin typeface="Times New Roman"/>
              <a:cs typeface="Times New Roman"/>
            </a:endParaRPr>
          </a:p>
          <a:p>
            <a:pPr marL="11516" marR="4607">
              <a:lnSpc>
                <a:spcPts val="2503"/>
              </a:lnSpc>
              <a:tabLst>
                <a:tab pos="1952599" algn="l"/>
              </a:tabLst>
            </a:pPr>
            <a:r>
              <a:rPr sz="2176" dirty="0">
                <a:latin typeface="Times New Roman"/>
                <a:cs typeface="Times New Roman"/>
              </a:rPr>
              <a:t>La</a:t>
            </a:r>
            <a:r>
              <a:rPr sz="2176" spc="9" dirty="0">
                <a:latin typeface="Times New Roman"/>
                <a:cs typeface="Times New Roman"/>
              </a:rPr>
              <a:t> </a:t>
            </a:r>
            <a:r>
              <a:rPr sz="2176" spc="-5" dirty="0">
                <a:latin typeface="Times New Roman"/>
                <a:cs typeface="Times New Roman"/>
              </a:rPr>
              <a:t>predicción	</a:t>
            </a:r>
            <a:r>
              <a:rPr sz="2176" dirty="0">
                <a:latin typeface="Times New Roman"/>
                <a:cs typeface="Times New Roman"/>
              </a:rPr>
              <a:t>depende</a:t>
            </a:r>
            <a:r>
              <a:rPr sz="2176" spc="-5" dirty="0">
                <a:latin typeface="Times New Roman"/>
                <a:cs typeface="Times New Roman"/>
              </a:rPr>
              <a:t> </a:t>
            </a:r>
            <a:r>
              <a:rPr sz="2176" dirty="0">
                <a:latin typeface="Times New Roman"/>
                <a:cs typeface="Times New Roman"/>
              </a:rPr>
              <a:t>de la</a:t>
            </a:r>
            <a:r>
              <a:rPr sz="2176" spc="-5" dirty="0">
                <a:latin typeface="Times New Roman"/>
                <a:cs typeface="Times New Roman"/>
              </a:rPr>
              <a:t> </a:t>
            </a:r>
            <a:r>
              <a:rPr sz="2176" dirty="0">
                <a:latin typeface="Times New Roman"/>
                <a:cs typeface="Times New Roman"/>
              </a:rPr>
              <a:t>forma</a:t>
            </a:r>
            <a:r>
              <a:rPr sz="2176" spc="-5" dirty="0">
                <a:latin typeface="Times New Roman"/>
                <a:cs typeface="Times New Roman"/>
              </a:rPr>
              <a:t> funcional</a:t>
            </a:r>
            <a:r>
              <a:rPr sz="2176" spc="-9" dirty="0">
                <a:latin typeface="Times New Roman"/>
                <a:cs typeface="Times New Roman"/>
              </a:rPr>
              <a:t> </a:t>
            </a:r>
            <a:r>
              <a:rPr sz="2176" dirty="0">
                <a:latin typeface="Times New Roman"/>
                <a:cs typeface="Times New Roman"/>
              </a:rPr>
              <a:t>de</a:t>
            </a:r>
            <a:r>
              <a:rPr sz="2176" spc="-5" dirty="0">
                <a:latin typeface="Times New Roman"/>
                <a:cs typeface="Times New Roman"/>
              </a:rPr>
              <a:t> </a:t>
            </a:r>
            <a:r>
              <a:rPr sz="2176" dirty="0">
                <a:latin typeface="Times New Roman"/>
                <a:cs typeface="Times New Roman"/>
              </a:rPr>
              <a:t>la</a:t>
            </a:r>
            <a:r>
              <a:rPr sz="2176" spc="5" dirty="0">
                <a:latin typeface="Times New Roman"/>
                <a:cs typeface="Times New Roman"/>
              </a:rPr>
              <a:t> </a:t>
            </a:r>
            <a:r>
              <a:rPr sz="2176" dirty="0">
                <a:latin typeface="Times New Roman"/>
                <a:cs typeface="Times New Roman"/>
              </a:rPr>
              <a:t>red.</a:t>
            </a:r>
            <a:r>
              <a:rPr sz="2176" spc="-5" dirty="0">
                <a:latin typeface="Times New Roman"/>
                <a:cs typeface="Times New Roman"/>
              </a:rPr>
              <a:t> </a:t>
            </a:r>
            <a:r>
              <a:rPr sz="2176" spc="14" dirty="0">
                <a:latin typeface="Times New Roman"/>
                <a:cs typeface="Times New Roman"/>
              </a:rPr>
              <a:t>En</a:t>
            </a:r>
            <a:r>
              <a:rPr sz="2176" spc="-18" dirty="0">
                <a:latin typeface="Times New Roman"/>
                <a:cs typeface="Times New Roman"/>
              </a:rPr>
              <a:t> </a:t>
            </a:r>
            <a:r>
              <a:rPr sz="2176" dirty="0">
                <a:latin typeface="Times New Roman"/>
                <a:cs typeface="Times New Roman"/>
              </a:rPr>
              <a:t>el </a:t>
            </a:r>
            <a:r>
              <a:rPr sz="2176" spc="-5" dirty="0">
                <a:latin typeface="Times New Roman"/>
                <a:cs typeface="Times New Roman"/>
              </a:rPr>
              <a:t>primer</a:t>
            </a:r>
            <a:r>
              <a:rPr sz="2176" dirty="0">
                <a:latin typeface="Times New Roman"/>
                <a:cs typeface="Times New Roman"/>
              </a:rPr>
              <a:t> </a:t>
            </a:r>
            <a:r>
              <a:rPr sz="2176" spc="-5" dirty="0" err="1">
                <a:latin typeface="Times New Roman"/>
                <a:cs typeface="Times New Roman"/>
              </a:rPr>
              <a:t>ejemplo</a:t>
            </a:r>
            <a:r>
              <a:rPr sz="2176" spc="-5" dirty="0">
                <a:latin typeface="Times New Roman"/>
                <a:cs typeface="Times New Roman"/>
              </a:rPr>
              <a:t> </a:t>
            </a:r>
            <a:r>
              <a:rPr sz="2176" spc="-530" dirty="0">
                <a:latin typeface="Times New Roman"/>
                <a:cs typeface="Times New Roman"/>
              </a:rPr>
              <a:t> </a:t>
            </a:r>
            <a:endParaRPr lang="es-ES" sz="2176" dirty="0">
              <a:latin typeface="Times New Roman"/>
              <a:cs typeface="Times New Roman"/>
            </a:endParaRPr>
          </a:p>
          <a:p>
            <a:pPr marL="11516" marR="4607">
              <a:lnSpc>
                <a:spcPts val="2503"/>
              </a:lnSpc>
              <a:tabLst>
                <a:tab pos="1952599" algn="l"/>
              </a:tabLst>
            </a:pPr>
            <a:endParaRPr sz="2176" dirty="0">
              <a:latin typeface="Times New Roman"/>
              <a:cs typeface="Times New Roman"/>
            </a:endParaRPr>
          </a:p>
          <a:p>
            <a:pPr marL="419196">
              <a:lnSpc>
                <a:spcPts val="2385"/>
              </a:lnSpc>
            </a:pPr>
            <a:r>
              <a:rPr lang="es-ES" sz="1814" spc="-5" dirty="0">
                <a:latin typeface="Times New Roman"/>
                <a:cs typeface="Times New Roman"/>
              </a:rPr>
              <a:t>	</a:t>
            </a:r>
            <a:r>
              <a:rPr sz="1814" spc="-5" dirty="0">
                <a:latin typeface="Times New Roman"/>
                <a:cs typeface="Times New Roman"/>
              </a:rPr>
              <a:t>=tanh(</a:t>
            </a:r>
            <a:r>
              <a:rPr sz="2176" spc="-5" dirty="0">
                <a:latin typeface="Times New Roman"/>
                <a:cs typeface="Times New Roman"/>
              </a:rPr>
              <a:t>w</a:t>
            </a:r>
            <a:r>
              <a:rPr sz="1270" spc="-5" dirty="0">
                <a:latin typeface="Times New Roman"/>
                <a:cs typeface="Times New Roman"/>
              </a:rPr>
              <a:t>1,out</a:t>
            </a:r>
            <a:r>
              <a:rPr sz="1814" spc="-5" dirty="0">
                <a:latin typeface="Times New Roman"/>
                <a:cs typeface="Times New Roman"/>
              </a:rPr>
              <a:t>(tanh(</a:t>
            </a:r>
            <a:r>
              <a:rPr sz="2176" spc="-5" dirty="0">
                <a:latin typeface="Times New Roman"/>
                <a:cs typeface="Times New Roman"/>
              </a:rPr>
              <a:t>w</a:t>
            </a:r>
            <a:r>
              <a:rPr sz="1270" spc="-5" dirty="0">
                <a:latin typeface="Times New Roman"/>
                <a:cs typeface="Times New Roman"/>
              </a:rPr>
              <a:t>11</a:t>
            </a:r>
            <a:r>
              <a:rPr sz="1814" spc="-5" dirty="0">
                <a:latin typeface="Times New Roman"/>
                <a:cs typeface="Times New Roman"/>
              </a:rPr>
              <a:t>X1</a:t>
            </a:r>
            <a:r>
              <a:rPr sz="2176" spc="-5" dirty="0">
                <a:latin typeface="Times New Roman"/>
                <a:cs typeface="Times New Roman"/>
              </a:rPr>
              <a:t>+w</a:t>
            </a:r>
            <a:r>
              <a:rPr sz="1270" spc="-5" dirty="0">
                <a:latin typeface="Times New Roman"/>
                <a:cs typeface="Times New Roman"/>
              </a:rPr>
              <a:t>21</a:t>
            </a:r>
            <a:r>
              <a:rPr sz="1814" spc="-5" dirty="0">
                <a:latin typeface="Times New Roman"/>
                <a:cs typeface="Times New Roman"/>
              </a:rPr>
              <a:t>X2+</a:t>
            </a:r>
            <a:r>
              <a:rPr sz="2176" spc="-5" dirty="0">
                <a:latin typeface="Times New Roman"/>
                <a:cs typeface="Times New Roman"/>
              </a:rPr>
              <a:t>w</a:t>
            </a:r>
            <a:r>
              <a:rPr sz="1270" spc="-5" dirty="0">
                <a:latin typeface="Times New Roman"/>
                <a:cs typeface="Times New Roman"/>
              </a:rPr>
              <a:t>31</a:t>
            </a:r>
            <a:r>
              <a:rPr sz="1814" spc="-5" dirty="0">
                <a:latin typeface="Times New Roman"/>
                <a:cs typeface="Times New Roman"/>
              </a:rPr>
              <a:t>X3+</a:t>
            </a:r>
            <a:r>
              <a:rPr sz="2176" spc="-5" dirty="0">
                <a:latin typeface="Times New Roman"/>
                <a:cs typeface="Times New Roman"/>
              </a:rPr>
              <a:t>w</a:t>
            </a:r>
            <a:r>
              <a:rPr sz="1270" spc="-5" dirty="0">
                <a:latin typeface="Times New Roman"/>
                <a:cs typeface="Times New Roman"/>
              </a:rPr>
              <a:t>41</a:t>
            </a:r>
            <a:r>
              <a:rPr sz="1814" spc="-5" dirty="0">
                <a:latin typeface="Times New Roman"/>
                <a:cs typeface="Times New Roman"/>
              </a:rPr>
              <a:t>X4+</a:t>
            </a:r>
            <a:r>
              <a:rPr sz="2176" spc="-5" dirty="0">
                <a:solidFill>
                  <a:srgbClr val="1F487C"/>
                </a:solidFill>
                <a:latin typeface="Times New Roman"/>
                <a:cs typeface="Times New Roman"/>
              </a:rPr>
              <a:t>b</a:t>
            </a:r>
            <a:r>
              <a:rPr sz="1270" spc="-5" dirty="0">
                <a:solidFill>
                  <a:srgbClr val="1F487C"/>
                </a:solidFill>
                <a:latin typeface="Times New Roman"/>
                <a:cs typeface="Times New Roman"/>
              </a:rPr>
              <a:t>1</a:t>
            </a:r>
            <a:r>
              <a:rPr sz="1814" spc="-5" dirty="0">
                <a:latin typeface="Times New Roman"/>
                <a:cs typeface="Times New Roman"/>
              </a:rPr>
              <a:t>))</a:t>
            </a:r>
            <a:endParaRPr sz="1814" dirty="0">
              <a:latin typeface="Times New Roman"/>
              <a:cs typeface="Times New Roman"/>
            </a:endParaRPr>
          </a:p>
          <a:p>
            <a:pPr marL="11516">
              <a:lnSpc>
                <a:spcPts val="2503"/>
              </a:lnSpc>
            </a:pPr>
            <a:r>
              <a:rPr lang="es-ES" sz="1814" spc="-5" dirty="0">
                <a:latin typeface="Times New Roman"/>
                <a:cs typeface="Times New Roman"/>
              </a:rPr>
              <a:t>	</a:t>
            </a:r>
            <a:r>
              <a:rPr sz="1814" spc="-5" dirty="0">
                <a:latin typeface="Times New Roman"/>
                <a:cs typeface="Times New Roman"/>
              </a:rPr>
              <a:t>+</a:t>
            </a:r>
            <a:r>
              <a:rPr sz="2176" spc="-5" dirty="0">
                <a:latin typeface="Times New Roman"/>
                <a:cs typeface="Times New Roman"/>
              </a:rPr>
              <a:t>w</a:t>
            </a:r>
            <a:r>
              <a:rPr sz="1270" spc="-5" dirty="0">
                <a:latin typeface="Times New Roman"/>
                <a:cs typeface="Times New Roman"/>
              </a:rPr>
              <a:t>2,out</a:t>
            </a:r>
            <a:r>
              <a:rPr sz="1814" spc="-5" dirty="0">
                <a:latin typeface="Times New Roman"/>
                <a:cs typeface="Times New Roman"/>
              </a:rPr>
              <a:t>(tanh(</a:t>
            </a:r>
            <a:r>
              <a:rPr sz="2176" spc="-5" dirty="0">
                <a:latin typeface="Times New Roman"/>
                <a:cs typeface="Times New Roman"/>
              </a:rPr>
              <a:t>w</a:t>
            </a:r>
            <a:r>
              <a:rPr sz="1270" spc="-5" dirty="0">
                <a:latin typeface="Times New Roman"/>
                <a:cs typeface="Times New Roman"/>
              </a:rPr>
              <a:t>12</a:t>
            </a:r>
            <a:r>
              <a:rPr sz="1814" spc="-5" dirty="0">
                <a:latin typeface="Times New Roman"/>
                <a:cs typeface="Times New Roman"/>
              </a:rPr>
              <a:t>X1</a:t>
            </a:r>
            <a:r>
              <a:rPr sz="2176" spc="-5" dirty="0">
                <a:latin typeface="Times New Roman"/>
                <a:cs typeface="Times New Roman"/>
              </a:rPr>
              <a:t>+w</a:t>
            </a:r>
            <a:r>
              <a:rPr sz="1270" spc="-5" dirty="0">
                <a:latin typeface="Times New Roman"/>
                <a:cs typeface="Times New Roman"/>
              </a:rPr>
              <a:t>22</a:t>
            </a:r>
            <a:r>
              <a:rPr sz="1814" spc="-5" dirty="0">
                <a:latin typeface="Times New Roman"/>
                <a:cs typeface="Times New Roman"/>
              </a:rPr>
              <a:t>X2+</a:t>
            </a:r>
            <a:r>
              <a:rPr sz="2176" spc="-5" dirty="0">
                <a:latin typeface="Times New Roman"/>
                <a:cs typeface="Times New Roman"/>
              </a:rPr>
              <a:t>w</a:t>
            </a:r>
            <a:r>
              <a:rPr sz="1270" spc="-5" dirty="0">
                <a:latin typeface="Times New Roman"/>
                <a:cs typeface="Times New Roman"/>
              </a:rPr>
              <a:t>32</a:t>
            </a:r>
            <a:r>
              <a:rPr sz="1814" spc="-5" dirty="0">
                <a:latin typeface="Times New Roman"/>
                <a:cs typeface="Times New Roman"/>
              </a:rPr>
              <a:t>X3+</a:t>
            </a:r>
            <a:r>
              <a:rPr sz="2176" spc="-5" dirty="0">
                <a:latin typeface="Times New Roman"/>
                <a:cs typeface="Times New Roman"/>
              </a:rPr>
              <a:t>w</a:t>
            </a:r>
            <a:r>
              <a:rPr sz="1270" spc="-5" dirty="0">
                <a:latin typeface="Times New Roman"/>
                <a:cs typeface="Times New Roman"/>
              </a:rPr>
              <a:t>42</a:t>
            </a:r>
            <a:r>
              <a:rPr sz="1814" spc="-5" dirty="0">
                <a:latin typeface="Times New Roman"/>
                <a:cs typeface="Times New Roman"/>
              </a:rPr>
              <a:t>X4+</a:t>
            </a:r>
            <a:r>
              <a:rPr sz="2176" spc="-5" dirty="0">
                <a:solidFill>
                  <a:srgbClr val="1F487C"/>
                </a:solidFill>
                <a:latin typeface="Times New Roman"/>
                <a:cs typeface="Times New Roman"/>
              </a:rPr>
              <a:t>b</a:t>
            </a:r>
            <a:r>
              <a:rPr sz="1270" spc="-5" dirty="0">
                <a:solidFill>
                  <a:srgbClr val="1F487C"/>
                </a:solidFill>
                <a:latin typeface="Times New Roman"/>
                <a:cs typeface="Times New Roman"/>
              </a:rPr>
              <a:t>2</a:t>
            </a:r>
            <a:r>
              <a:rPr sz="1814" spc="-5" dirty="0">
                <a:latin typeface="Times New Roman"/>
                <a:cs typeface="Times New Roman"/>
              </a:rPr>
              <a:t>))+</a:t>
            </a:r>
            <a:endParaRPr sz="1814" dirty="0">
              <a:latin typeface="Times New Roman"/>
              <a:cs typeface="Times New Roman"/>
            </a:endParaRPr>
          </a:p>
          <a:p>
            <a:pPr marL="11516">
              <a:lnSpc>
                <a:spcPts val="2503"/>
              </a:lnSpc>
            </a:pPr>
            <a:r>
              <a:rPr lang="es-ES" sz="1270" spc="-5" dirty="0">
                <a:latin typeface="Times New Roman"/>
                <a:cs typeface="Times New Roman"/>
              </a:rPr>
              <a:t>	</a:t>
            </a:r>
            <a:r>
              <a:rPr sz="1270" spc="-5" dirty="0">
                <a:latin typeface="Times New Roman"/>
                <a:cs typeface="Times New Roman"/>
              </a:rPr>
              <a:t>+</a:t>
            </a:r>
            <a:r>
              <a:rPr sz="2176" spc="-5" dirty="0">
                <a:latin typeface="Times New Roman"/>
                <a:cs typeface="Times New Roman"/>
              </a:rPr>
              <a:t>w</a:t>
            </a:r>
            <a:r>
              <a:rPr sz="1270" spc="-5" dirty="0">
                <a:latin typeface="Times New Roman"/>
                <a:cs typeface="Times New Roman"/>
              </a:rPr>
              <a:t>3,out</a:t>
            </a:r>
            <a:r>
              <a:rPr sz="1814" spc="-5" dirty="0">
                <a:latin typeface="Times New Roman"/>
                <a:cs typeface="Times New Roman"/>
              </a:rPr>
              <a:t>(tanh(</a:t>
            </a:r>
            <a:r>
              <a:rPr sz="2176" spc="-5" dirty="0">
                <a:latin typeface="Times New Roman"/>
                <a:cs typeface="Times New Roman"/>
              </a:rPr>
              <a:t>w</a:t>
            </a:r>
            <a:r>
              <a:rPr sz="1270" spc="-5" dirty="0">
                <a:latin typeface="Times New Roman"/>
                <a:cs typeface="Times New Roman"/>
              </a:rPr>
              <a:t>13</a:t>
            </a:r>
            <a:r>
              <a:rPr sz="1814" spc="-5" dirty="0">
                <a:latin typeface="Times New Roman"/>
                <a:cs typeface="Times New Roman"/>
              </a:rPr>
              <a:t>X1</a:t>
            </a:r>
            <a:r>
              <a:rPr sz="2176" spc="-5" dirty="0">
                <a:latin typeface="Times New Roman"/>
                <a:cs typeface="Times New Roman"/>
              </a:rPr>
              <a:t>+w</a:t>
            </a:r>
            <a:r>
              <a:rPr sz="1270" spc="-5" dirty="0">
                <a:latin typeface="Times New Roman"/>
                <a:cs typeface="Times New Roman"/>
              </a:rPr>
              <a:t>23</a:t>
            </a:r>
            <a:r>
              <a:rPr sz="1814" spc="-5" dirty="0">
                <a:latin typeface="Times New Roman"/>
                <a:cs typeface="Times New Roman"/>
              </a:rPr>
              <a:t>X2+</a:t>
            </a:r>
            <a:r>
              <a:rPr sz="2176" spc="-5" dirty="0">
                <a:latin typeface="Times New Roman"/>
                <a:cs typeface="Times New Roman"/>
              </a:rPr>
              <a:t>w</a:t>
            </a:r>
            <a:r>
              <a:rPr sz="1270" spc="-5" dirty="0">
                <a:latin typeface="Times New Roman"/>
                <a:cs typeface="Times New Roman"/>
              </a:rPr>
              <a:t>33</a:t>
            </a:r>
            <a:r>
              <a:rPr sz="1814" spc="-5" dirty="0">
                <a:latin typeface="Times New Roman"/>
                <a:cs typeface="Times New Roman"/>
              </a:rPr>
              <a:t>X3+</a:t>
            </a:r>
            <a:r>
              <a:rPr sz="2176" spc="-5" dirty="0">
                <a:latin typeface="Times New Roman"/>
                <a:cs typeface="Times New Roman"/>
              </a:rPr>
              <a:t>w</a:t>
            </a:r>
            <a:r>
              <a:rPr sz="1270" spc="-5" dirty="0">
                <a:latin typeface="Times New Roman"/>
                <a:cs typeface="Times New Roman"/>
              </a:rPr>
              <a:t>43</a:t>
            </a:r>
            <a:r>
              <a:rPr sz="1814" spc="-5" dirty="0">
                <a:latin typeface="Times New Roman"/>
                <a:cs typeface="Times New Roman"/>
              </a:rPr>
              <a:t>X4+</a:t>
            </a:r>
            <a:r>
              <a:rPr sz="2176" spc="-5" dirty="0">
                <a:solidFill>
                  <a:srgbClr val="1F487C"/>
                </a:solidFill>
                <a:latin typeface="Times New Roman"/>
                <a:cs typeface="Times New Roman"/>
              </a:rPr>
              <a:t>b</a:t>
            </a:r>
            <a:r>
              <a:rPr sz="1270" spc="-5" dirty="0">
                <a:solidFill>
                  <a:srgbClr val="1F487C"/>
                </a:solidFill>
                <a:latin typeface="Times New Roman"/>
                <a:cs typeface="Times New Roman"/>
              </a:rPr>
              <a:t>3</a:t>
            </a:r>
            <a:r>
              <a:rPr sz="1814" spc="-5" dirty="0">
                <a:latin typeface="Times New Roman"/>
                <a:cs typeface="Times New Roman"/>
              </a:rPr>
              <a:t>))+</a:t>
            </a:r>
            <a:endParaRPr sz="1814" dirty="0">
              <a:latin typeface="Times New Roman"/>
              <a:cs typeface="Times New Roman"/>
            </a:endParaRPr>
          </a:p>
          <a:p>
            <a:pPr marL="11516">
              <a:lnSpc>
                <a:spcPts val="2503"/>
              </a:lnSpc>
            </a:pPr>
            <a:r>
              <a:rPr lang="es-ES" sz="1270" spc="-5" dirty="0">
                <a:latin typeface="Times New Roman"/>
                <a:cs typeface="Times New Roman"/>
              </a:rPr>
              <a:t>	</a:t>
            </a:r>
            <a:r>
              <a:rPr sz="1270" spc="-5" dirty="0">
                <a:latin typeface="Times New Roman"/>
                <a:cs typeface="Times New Roman"/>
              </a:rPr>
              <a:t>+</a:t>
            </a:r>
            <a:r>
              <a:rPr sz="2176" spc="-5" dirty="0">
                <a:latin typeface="Times New Roman"/>
                <a:cs typeface="Times New Roman"/>
              </a:rPr>
              <a:t>w</a:t>
            </a:r>
            <a:r>
              <a:rPr sz="1270" spc="-5" dirty="0">
                <a:latin typeface="Times New Roman"/>
                <a:cs typeface="Times New Roman"/>
              </a:rPr>
              <a:t>4,out</a:t>
            </a:r>
            <a:r>
              <a:rPr sz="1814" spc="-5" dirty="0">
                <a:latin typeface="Times New Roman"/>
                <a:cs typeface="Times New Roman"/>
              </a:rPr>
              <a:t>(tanh(</a:t>
            </a:r>
            <a:r>
              <a:rPr sz="2176" spc="-5" dirty="0">
                <a:latin typeface="Times New Roman"/>
                <a:cs typeface="Times New Roman"/>
              </a:rPr>
              <a:t>w</a:t>
            </a:r>
            <a:r>
              <a:rPr sz="1270" spc="-5" dirty="0">
                <a:latin typeface="Times New Roman"/>
                <a:cs typeface="Times New Roman"/>
              </a:rPr>
              <a:t>14</a:t>
            </a:r>
            <a:r>
              <a:rPr sz="1814" spc="-5" dirty="0">
                <a:latin typeface="Times New Roman"/>
                <a:cs typeface="Times New Roman"/>
              </a:rPr>
              <a:t>X1</a:t>
            </a:r>
            <a:r>
              <a:rPr sz="2176" spc="-5" dirty="0">
                <a:latin typeface="Times New Roman"/>
                <a:cs typeface="Times New Roman"/>
              </a:rPr>
              <a:t>+w</a:t>
            </a:r>
            <a:r>
              <a:rPr sz="1270" spc="-5" dirty="0">
                <a:latin typeface="Times New Roman"/>
                <a:cs typeface="Times New Roman"/>
              </a:rPr>
              <a:t>24</a:t>
            </a:r>
            <a:r>
              <a:rPr sz="1814" spc="-5" dirty="0">
                <a:latin typeface="Times New Roman"/>
                <a:cs typeface="Times New Roman"/>
              </a:rPr>
              <a:t>X2+</a:t>
            </a:r>
            <a:r>
              <a:rPr sz="2176" spc="-5" dirty="0">
                <a:latin typeface="Times New Roman"/>
                <a:cs typeface="Times New Roman"/>
              </a:rPr>
              <a:t>w</a:t>
            </a:r>
            <a:r>
              <a:rPr sz="1270" spc="-5" dirty="0">
                <a:latin typeface="Times New Roman"/>
                <a:cs typeface="Times New Roman"/>
              </a:rPr>
              <a:t>34</a:t>
            </a:r>
            <a:r>
              <a:rPr sz="1814" spc="-5" dirty="0">
                <a:latin typeface="Times New Roman"/>
                <a:cs typeface="Times New Roman"/>
              </a:rPr>
              <a:t>X3+</a:t>
            </a:r>
            <a:r>
              <a:rPr sz="2176" spc="-5" dirty="0">
                <a:latin typeface="Times New Roman"/>
                <a:cs typeface="Times New Roman"/>
              </a:rPr>
              <a:t>w</a:t>
            </a:r>
            <a:r>
              <a:rPr sz="1270" spc="-5" dirty="0">
                <a:latin typeface="Times New Roman"/>
                <a:cs typeface="Times New Roman"/>
              </a:rPr>
              <a:t>44</a:t>
            </a:r>
            <a:r>
              <a:rPr sz="1814" spc="-5" dirty="0">
                <a:latin typeface="Times New Roman"/>
                <a:cs typeface="Times New Roman"/>
              </a:rPr>
              <a:t>X4+</a:t>
            </a:r>
            <a:r>
              <a:rPr sz="2176" spc="-5" dirty="0">
                <a:solidFill>
                  <a:srgbClr val="1F487C"/>
                </a:solidFill>
                <a:latin typeface="Times New Roman"/>
                <a:cs typeface="Times New Roman"/>
              </a:rPr>
              <a:t>b</a:t>
            </a:r>
            <a:r>
              <a:rPr sz="1270" spc="-5" dirty="0">
                <a:solidFill>
                  <a:srgbClr val="1F487C"/>
                </a:solidFill>
                <a:latin typeface="Times New Roman"/>
                <a:cs typeface="Times New Roman"/>
              </a:rPr>
              <a:t>4</a:t>
            </a:r>
            <a:r>
              <a:rPr sz="1814" spc="-5" dirty="0">
                <a:latin typeface="Times New Roman"/>
                <a:cs typeface="Times New Roman"/>
              </a:rPr>
              <a:t>))+</a:t>
            </a:r>
            <a:endParaRPr sz="1814" dirty="0">
              <a:latin typeface="Times New Roman"/>
              <a:cs typeface="Times New Roman"/>
            </a:endParaRPr>
          </a:p>
          <a:p>
            <a:pPr marL="11516">
              <a:lnSpc>
                <a:spcPts val="2557"/>
              </a:lnSpc>
            </a:pPr>
            <a:r>
              <a:rPr lang="es-ES" sz="1814" spc="-5" dirty="0">
                <a:latin typeface="Times New Roman"/>
                <a:cs typeface="Times New Roman"/>
              </a:rPr>
              <a:t>	</a:t>
            </a:r>
            <a:r>
              <a:rPr sz="1814" spc="-5" dirty="0">
                <a:latin typeface="Times New Roman"/>
                <a:cs typeface="Times New Roman"/>
              </a:rPr>
              <a:t>+</a:t>
            </a:r>
            <a:r>
              <a:rPr sz="2176" spc="-5" dirty="0">
                <a:solidFill>
                  <a:srgbClr val="1F487C"/>
                </a:solidFill>
                <a:latin typeface="Times New Roman"/>
                <a:cs typeface="Times New Roman"/>
              </a:rPr>
              <a:t>b</a:t>
            </a:r>
            <a:r>
              <a:rPr sz="1270" spc="-5" dirty="0">
                <a:solidFill>
                  <a:srgbClr val="1F487C"/>
                </a:solidFill>
                <a:latin typeface="Times New Roman"/>
                <a:cs typeface="Times New Roman"/>
              </a:rPr>
              <a:t>out</a:t>
            </a:r>
            <a:r>
              <a:rPr sz="1814" spc="-5" dirty="0">
                <a:latin typeface="Times New Roman"/>
                <a:cs typeface="Times New Roman"/>
              </a:rPr>
              <a:t>)</a:t>
            </a:r>
            <a:endParaRPr sz="1814" dirty="0">
              <a:latin typeface="Times New Roman"/>
              <a:cs typeface="Times New Roman"/>
            </a:endParaRPr>
          </a:p>
          <a:p>
            <a:pPr>
              <a:spcBef>
                <a:spcPts val="18"/>
              </a:spcBef>
            </a:pPr>
            <a:endParaRPr sz="2222" dirty="0">
              <a:latin typeface="Times New Roman"/>
              <a:cs typeface="Times New Roman"/>
            </a:endParaRPr>
          </a:p>
          <a:p>
            <a:pPr marL="11516" marR="19002" algn="just">
              <a:lnSpc>
                <a:spcPts val="2503"/>
              </a:lnSpc>
            </a:pPr>
            <a:r>
              <a:rPr sz="2176" dirty="0">
                <a:latin typeface="Times New Roman"/>
                <a:cs typeface="Times New Roman"/>
              </a:rPr>
              <a:t>Y habrá que </a:t>
            </a:r>
            <a:r>
              <a:rPr sz="2176" spc="-5" dirty="0">
                <a:latin typeface="Times New Roman"/>
                <a:cs typeface="Times New Roman"/>
              </a:rPr>
              <a:t>hallar </a:t>
            </a:r>
            <a:r>
              <a:rPr sz="2176" dirty="0">
                <a:latin typeface="Times New Roman"/>
                <a:cs typeface="Times New Roman"/>
              </a:rPr>
              <a:t>los </a:t>
            </a:r>
            <a:r>
              <a:rPr sz="2176" b="1" spc="-5" dirty="0">
                <a:latin typeface="Times New Roman"/>
                <a:cs typeface="Times New Roman"/>
              </a:rPr>
              <a:t>parámetros</a:t>
            </a:r>
            <a:r>
              <a:rPr sz="2176" spc="-5" dirty="0">
                <a:latin typeface="Times New Roman"/>
                <a:cs typeface="Times New Roman"/>
              </a:rPr>
              <a:t> (que llamaremos </a:t>
            </a:r>
            <a:r>
              <a:rPr sz="2176" dirty="0">
                <a:latin typeface="Times New Roman"/>
                <a:cs typeface="Times New Roman"/>
              </a:rPr>
              <a:t>pesos o </a:t>
            </a:r>
            <a:r>
              <a:rPr sz="2176" spc="-5" dirty="0">
                <a:latin typeface="Times New Roman"/>
                <a:cs typeface="Times New Roman"/>
              </a:rPr>
              <a:t>weights)</a:t>
            </a:r>
            <a:r>
              <a:rPr sz="2176" dirty="0">
                <a:latin typeface="Times New Roman"/>
                <a:cs typeface="Times New Roman"/>
              </a:rPr>
              <a:t> </a:t>
            </a:r>
            <a:r>
              <a:rPr sz="2176" spc="-5" dirty="0">
                <a:latin typeface="Times New Roman"/>
                <a:cs typeface="Times New Roman"/>
              </a:rPr>
              <a:t>w</a:t>
            </a:r>
            <a:r>
              <a:rPr sz="1270" spc="-5" dirty="0">
                <a:latin typeface="Times New Roman"/>
                <a:cs typeface="Times New Roman"/>
              </a:rPr>
              <a:t>1,out, </a:t>
            </a:r>
            <a:r>
              <a:rPr sz="2176" dirty="0">
                <a:latin typeface="Times New Roman"/>
                <a:cs typeface="Times New Roman"/>
              </a:rPr>
              <a:t>w</a:t>
            </a:r>
            <a:r>
              <a:rPr sz="1270" dirty="0">
                <a:latin typeface="Times New Roman"/>
                <a:cs typeface="Times New Roman"/>
              </a:rPr>
              <a:t>11</a:t>
            </a:r>
            <a:r>
              <a:rPr sz="1814" dirty="0">
                <a:latin typeface="Times New Roman"/>
                <a:cs typeface="Times New Roman"/>
              </a:rPr>
              <a:t>, </a:t>
            </a:r>
            <a:r>
              <a:rPr sz="1814" spc="5" dirty="0">
                <a:latin typeface="Times New Roman"/>
                <a:cs typeface="Times New Roman"/>
              </a:rPr>
              <a:t> </a:t>
            </a:r>
            <a:r>
              <a:rPr sz="2176" dirty="0">
                <a:latin typeface="Times New Roman"/>
                <a:cs typeface="Times New Roman"/>
              </a:rPr>
              <a:t>w</a:t>
            </a:r>
            <a:r>
              <a:rPr sz="1270" dirty="0">
                <a:latin typeface="Times New Roman"/>
                <a:cs typeface="Times New Roman"/>
              </a:rPr>
              <a:t>21</a:t>
            </a:r>
            <a:r>
              <a:rPr sz="2176" dirty="0">
                <a:latin typeface="Times New Roman"/>
                <a:cs typeface="Times New Roman"/>
              </a:rPr>
              <a:t>, …, </a:t>
            </a:r>
            <a:r>
              <a:rPr sz="2176" spc="-5" dirty="0">
                <a:latin typeface="Times New Roman"/>
                <a:cs typeface="Times New Roman"/>
              </a:rPr>
              <a:t>etc. </a:t>
            </a:r>
            <a:r>
              <a:rPr sz="2176" dirty="0">
                <a:latin typeface="Times New Roman"/>
                <a:cs typeface="Times New Roman"/>
              </a:rPr>
              <a:t>que </a:t>
            </a:r>
            <a:r>
              <a:rPr sz="2176" b="1" spc="-5" dirty="0">
                <a:latin typeface="Times New Roman"/>
                <a:cs typeface="Times New Roman"/>
              </a:rPr>
              <a:t>minimicen </a:t>
            </a:r>
            <a:r>
              <a:rPr sz="2176" b="1" dirty="0">
                <a:latin typeface="Times New Roman"/>
                <a:cs typeface="Times New Roman"/>
              </a:rPr>
              <a:t>el MSE</a:t>
            </a:r>
            <a:r>
              <a:rPr sz="2176" dirty="0">
                <a:latin typeface="Times New Roman"/>
                <a:cs typeface="Times New Roman"/>
              </a:rPr>
              <a:t>. Es decir, </a:t>
            </a:r>
            <a:r>
              <a:rPr sz="2176" spc="-5" dirty="0">
                <a:latin typeface="Times New Roman"/>
                <a:cs typeface="Times New Roman"/>
              </a:rPr>
              <a:t>se trata </a:t>
            </a:r>
            <a:r>
              <a:rPr sz="2176" dirty="0">
                <a:latin typeface="Times New Roman"/>
                <a:cs typeface="Times New Roman"/>
              </a:rPr>
              <a:t>de </a:t>
            </a:r>
            <a:r>
              <a:rPr sz="2176" spc="-5" dirty="0">
                <a:latin typeface="Times New Roman"/>
                <a:cs typeface="Times New Roman"/>
              </a:rPr>
              <a:t>minimizar MSE como </a:t>
            </a:r>
            <a:r>
              <a:rPr sz="2176" spc="-530" dirty="0">
                <a:latin typeface="Times New Roman"/>
                <a:cs typeface="Times New Roman"/>
              </a:rPr>
              <a:t> </a:t>
            </a:r>
            <a:r>
              <a:rPr sz="2176" dirty="0">
                <a:latin typeface="Times New Roman"/>
                <a:cs typeface="Times New Roman"/>
              </a:rPr>
              <a:t>función</a:t>
            </a:r>
            <a:r>
              <a:rPr sz="2176" spc="-5" dirty="0">
                <a:latin typeface="Times New Roman"/>
                <a:cs typeface="Times New Roman"/>
              </a:rPr>
              <a:t> </a:t>
            </a:r>
            <a:r>
              <a:rPr sz="2176" dirty="0">
                <a:latin typeface="Times New Roman"/>
                <a:cs typeface="Times New Roman"/>
              </a:rPr>
              <a:t>de los </a:t>
            </a:r>
            <a:r>
              <a:rPr sz="2176" spc="-5" dirty="0">
                <a:latin typeface="Times New Roman"/>
                <a:cs typeface="Times New Roman"/>
              </a:rPr>
              <a:t>parámetros</a:t>
            </a:r>
            <a:r>
              <a:rPr sz="2176" spc="14" dirty="0">
                <a:latin typeface="Times New Roman"/>
                <a:cs typeface="Times New Roman"/>
              </a:rPr>
              <a:t> </a:t>
            </a:r>
            <a:r>
              <a:rPr sz="2176" spc="-5" dirty="0">
                <a:latin typeface="Times New Roman"/>
                <a:cs typeface="Times New Roman"/>
              </a:rPr>
              <a:t>w</a:t>
            </a:r>
            <a:r>
              <a:rPr sz="1270" spc="-5" dirty="0">
                <a:latin typeface="Times New Roman"/>
                <a:cs typeface="Times New Roman"/>
              </a:rPr>
              <a:t>1,out, </a:t>
            </a:r>
            <a:r>
              <a:rPr sz="2176" spc="-5" dirty="0">
                <a:latin typeface="Times New Roman"/>
                <a:cs typeface="Times New Roman"/>
              </a:rPr>
              <a:t>w</a:t>
            </a:r>
            <a:r>
              <a:rPr sz="1270" spc="-5" dirty="0">
                <a:latin typeface="Times New Roman"/>
                <a:cs typeface="Times New Roman"/>
              </a:rPr>
              <a:t>11</a:t>
            </a:r>
            <a:r>
              <a:rPr sz="1814" spc="-5" dirty="0">
                <a:latin typeface="Times New Roman"/>
                <a:cs typeface="Times New Roman"/>
              </a:rPr>
              <a:t>, </a:t>
            </a:r>
            <a:r>
              <a:rPr sz="2176" dirty="0">
                <a:latin typeface="Times New Roman"/>
                <a:cs typeface="Times New Roman"/>
              </a:rPr>
              <a:t>w</a:t>
            </a:r>
            <a:r>
              <a:rPr sz="1270" dirty="0">
                <a:latin typeface="Times New Roman"/>
                <a:cs typeface="Times New Roman"/>
              </a:rPr>
              <a:t>21</a:t>
            </a:r>
            <a:r>
              <a:rPr sz="2176" dirty="0">
                <a:latin typeface="Times New Roman"/>
                <a:cs typeface="Times New Roman"/>
              </a:rPr>
              <a:t>, …, </a:t>
            </a:r>
            <a:r>
              <a:rPr sz="2176" spc="-5" dirty="0">
                <a:latin typeface="Times New Roman"/>
                <a:cs typeface="Times New Roman"/>
              </a:rPr>
              <a:t>etc.</a:t>
            </a:r>
            <a:endParaRPr sz="2176" dirty="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61887" y="1910551"/>
            <a:ext cx="1461889" cy="64538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70267" y="2783525"/>
            <a:ext cx="241844" cy="28503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73333" y="3653569"/>
            <a:ext cx="267756" cy="328217"/>
          </a:xfrm>
          <a:prstGeom prst="rect">
            <a:avLst/>
          </a:prstGeom>
        </p:spPr>
      </p:pic>
      <p:sp>
        <p:nvSpPr>
          <p:cNvPr id="7" name="CuadroTexto 6"/>
          <p:cNvSpPr txBox="1"/>
          <p:nvPr/>
        </p:nvSpPr>
        <p:spPr>
          <a:xfrm>
            <a:off x="1580257" y="1055996"/>
            <a:ext cx="9025152" cy="1013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176" spc="-5" dirty="0">
                <a:solidFill>
                  <a:srgbClr val="0000FF"/>
                </a:solidFill>
                <a:latin typeface="Times New Roman"/>
                <a:cs typeface="Times New Roman"/>
              </a:rPr>
              <a:t>Objetivo </a:t>
            </a:r>
            <a:r>
              <a:rPr lang="es-ES" sz="2176" dirty="0">
                <a:solidFill>
                  <a:srgbClr val="0000FF"/>
                </a:solidFill>
                <a:latin typeface="Times New Roman"/>
                <a:cs typeface="Times New Roman"/>
              </a:rPr>
              <a:t>del </a:t>
            </a:r>
            <a:r>
              <a:rPr lang="es-ES" sz="2176" spc="-5" dirty="0">
                <a:solidFill>
                  <a:srgbClr val="0000FF"/>
                </a:solidFill>
                <a:latin typeface="Times New Roman"/>
                <a:cs typeface="Times New Roman"/>
              </a:rPr>
              <a:t>algoritmo </a:t>
            </a:r>
            <a:r>
              <a:rPr lang="es-ES" sz="2176" dirty="0">
                <a:solidFill>
                  <a:srgbClr val="0000FF"/>
                </a:solidFill>
                <a:latin typeface="Times New Roman"/>
                <a:cs typeface="Times New Roman"/>
              </a:rPr>
              <a:t>de </a:t>
            </a:r>
            <a:r>
              <a:rPr lang="es-ES" sz="2176" spc="-5" dirty="0">
                <a:solidFill>
                  <a:srgbClr val="0000FF"/>
                </a:solidFill>
                <a:latin typeface="Times New Roman"/>
                <a:cs typeface="Times New Roman"/>
              </a:rPr>
              <a:t>optimización: </a:t>
            </a:r>
            <a:r>
              <a:rPr lang="es-ES" sz="2176" spc="-5" dirty="0">
                <a:latin typeface="Times New Roman"/>
                <a:cs typeface="Times New Roman"/>
              </a:rPr>
              <a:t>minimizar la función de error o función objetivo (en este caso, diferencia entre valor real y valor estimado):</a:t>
            </a:r>
          </a:p>
          <a:p>
            <a:pPr algn="just"/>
            <a:endParaRPr lang="es-ES" sz="1632" dirty="0"/>
          </a:p>
        </p:txBody>
      </p:sp>
    </p:spTree>
    <p:extLst>
      <p:ext uri="{BB962C8B-B14F-4D97-AF65-F5344CB8AC3E}">
        <p14:creationId xmlns:p14="http://schemas.microsoft.com/office/powerpoint/2010/main" val="418166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62234" y="325555"/>
            <a:ext cx="9669184" cy="288627"/>
          </a:xfrm>
          <a:prstGeom prst="rect">
            <a:avLst/>
          </a:prstGeom>
        </p:spPr>
        <p:txBody>
          <a:bodyPr vert="horz" wrap="square" lIns="0" tIns="11516" rIns="0" bIns="0" rtlCol="0" anchor="ctr">
            <a:spAutoFit/>
          </a:bodyPr>
          <a:lstStyle/>
          <a:p>
            <a:pPr marL="11516">
              <a:lnSpc>
                <a:spcPct val="100000"/>
              </a:lnSpc>
              <a:spcBef>
                <a:spcPts val="91"/>
              </a:spcBef>
            </a:pPr>
            <a:r>
              <a:rPr sz="1800" dirty="0">
                <a:latin typeface="+mn-lt"/>
                <a:ea typeface="+mn-ea"/>
                <a:cs typeface="+mn-cs"/>
              </a:rPr>
              <a:t>Es decir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bject 20"/>
              <p:cNvSpPr txBox="1"/>
              <p:nvPr/>
            </p:nvSpPr>
            <p:spPr>
              <a:xfrm>
                <a:off x="1197801" y="3014248"/>
                <a:ext cx="9691872" cy="2879145"/>
              </a:xfrm>
              <a:prstGeom prst="rect">
                <a:avLst/>
              </a:prstGeom>
            </p:spPr>
            <p:txBody>
              <a:bodyPr vert="horz" wrap="square" lIns="0" tIns="11516" rIns="0" bIns="0" rtlCol="0">
                <a:spAutoFit/>
              </a:bodyPr>
              <a:lstStyle/>
              <a:p>
                <a:pPr marL="264876" indent="-207294">
                  <a:spcBef>
                    <a:spcPts val="91"/>
                  </a:spcBef>
                  <a:buFont typeface="Symbol"/>
                  <a:buChar char=""/>
                  <a:tabLst>
                    <a:tab pos="264876" algn="l"/>
                  </a:tabLst>
                </a:pPr>
                <a:r>
                  <a:rPr lang="es-ES" dirty="0"/>
                  <a:t>Se trata de una función de los parámetros wij.</a:t>
                </a:r>
              </a:p>
              <a:p>
                <a:pPr>
                  <a:spcBef>
                    <a:spcPts val="45"/>
                  </a:spcBef>
                  <a:buClr>
                    <a:srgbClr val="FF0000"/>
                  </a:buClr>
                  <a:buFont typeface="Symbol"/>
                  <a:buChar char=""/>
                </a:pPr>
                <a:endParaRPr lang="es-ES" dirty="0"/>
              </a:p>
              <a:p>
                <a:pPr marL="264876" indent="-207294">
                  <a:buFont typeface="Symbol"/>
                  <a:buChar char=""/>
                  <a:tabLst>
                    <a:tab pos="264876" algn="l"/>
                  </a:tabLst>
                </a:pPr>
                <a:r>
                  <a:rPr lang="es-ES" dirty="0"/>
                  <a:t>Hay que hallar los valores de los wij que hagan mínima esa función.</a:t>
                </a:r>
              </a:p>
              <a:p>
                <a:pPr>
                  <a:spcBef>
                    <a:spcPts val="9"/>
                  </a:spcBef>
                  <a:buClr>
                    <a:srgbClr val="FF0000"/>
                  </a:buClr>
                  <a:buFont typeface="Symbol"/>
                  <a:buChar char=""/>
                </a:pPr>
                <a:endParaRPr lang="es-ES" dirty="0"/>
              </a:p>
              <a:p>
                <a:pPr marL="264300" marR="245298" indent="-207294">
                  <a:lnSpc>
                    <a:spcPct val="95700"/>
                  </a:lnSpc>
                  <a:buFont typeface="Symbol"/>
                  <a:buChar char=""/>
                  <a:tabLst>
                    <a:tab pos="264876" algn="l"/>
                  </a:tabLst>
                </a:pPr>
                <a:r>
                  <a:rPr lang="es-ES" dirty="0"/>
                  <a:t>Todos los valores </a:t>
                </a:r>
                <a:r>
                  <a:rPr lang="es-ES" i="1" dirty="0"/>
                  <a:t>x</a:t>
                </a:r>
                <a:r>
                  <a:rPr lang="es-ES" i="1" baseline="-25000" dirty="0"/>
                  <a:t>1i</a:t>
                </a:r>
                <a:r>
                  <a:rPr lang="es-ES" i="1" dirty="0"/>
                  <a:t>, x</a:t>
                </a:r>
                <a:r>
                  <a:rPr lang="es-ES" i="1" baseline="-25000" dirty="0"/>
                  <a:t>2i</a:t>
                </a:r>
                <a:r>
                  <a:rPr lang="es-ES" dirty="0"/>
                  <a:t>, etc. son valores reales de nuestros datos: </a:t>
                </a:r>
                <a:r>
                  <a:rPr lang="es-ES" i="1" dirty="0" smtClean="0"/>
                  <a:t>x</a:t>
                </a:r>
                <a:r>
                  <a:rPr lang="es-ES" i="1" baseline="-25000" dirty="0" smtClean="0"/>
                  <a:t>1i</a:t>
                </a:r>
                <a:r>
                  <a:rPr lang="es-ES" dirty="0" smtClean="0"/>
                  <a:t> </a:t>
                </a:r>
                <a:r>
                  <a:rPr lang="es-ES" dirty="0"/>
                  <a:t>valor en la observación </a:t>
                </a:r>
                <a:r>
                  <a:rPr lang="es-ES" i="1" dirty="0"/>
                  <a:t>i</a:t>
                </a:r>
                <a:r>
                  <a:rPr lang="es-ES" dirty="0"/>
                  <a:t> de la variable </a:t>
                </a:r>
                <a:r>
                  <a:rPr lang="es-ES" i="1" dirty="0" smtClean="0"/>
                  <a:t>x</a:t>
                </a:r>
                <a:r>
                  <a:rPr lang="es-ES" i="1" baseline="-25000" dirty="0" smtClean="0"/>
                  <a:t>1</a:t>
                </a:r>
                <a:r>
                  <a:rPr lang="es-ES" dirty="0" smtClean="0"/>
                  <a:t>; </a:t>
                </a:r>
                <a:r>
                  <a:rPr lang="es-ES" i="1" dirty="0" smtClean="0"/>
                  <a:t>x</a:t>
                </a:r>
                <a:r>
                  <a:rPr lang="es-ES" i="1" baseline="-25000" dirty="0"/>
                  <a:t>2</a:t>
                </a:r>
                <a:r>
                  <a:rPr lang="es-ES" i="1" baseline="-25000" dirty="0" smtClean="0"/>
                  <a:t>i</a:t>
                </a:r>
                <a:r>
                  <a:rPr lang="es-ES" dirty="0" smtClean="0"/>
                  <a:t> </a:t>
                </a:r>
                <a:r>
                  <a:rPr lang="es-ES" dirty="0"/>
                  <a:t>valor en la observación </a:t>
                </a:r>
                <a:r>
                  <a:rPr lang="es-ES" i="1" dirty="0"/>
                  <a:t>i</a:t>
                </a:r>
                <a:r>
                  <a:rPr lang="es-ES" dirty="0"/>
                  <a:t> de la variable </a:t>
                </a:r>
                <a:r>
                  <a:rPr lang="es-ES" i="1" dirty="0" smtClean="0"/>
                  <a:t>x</a:t>
                </a:r>
                <a:r>
                  <a:rPr lang="es-ES" i="1" baseline="-25000" dirty="0"/>
                  <a:t>2</a:t>
                </a:r>
                <a:r>
                  <a:rPr lang="es-ES" dirty="0" smtClean="0"/>
                  <a:t>, </a:t>
                </a:r>
                <a:r>
                  <a:rPr lang="es-ES" dirty="0"/>
                  <a:t>etc. El  sumatorio tiene tantos términos como observaciones (por ejemplo, 5000  términos).</a:t>
                </a:r>
              </a:p>
              <a:p>
                <a:pPr marL="264300" marR="16123" indent="-207294">
                  <a:lnSpc>
                    <a:spcPts val="2494"/>
                  </a:lnSpc>
                  <a:buFont typeface="Symbol"/>
                  <a:buChar char=""/>
                  <a:tabLst>
                    <a:tab pos="264876" algn="l"/>
                  </a:tabLst>
                </a:pPr>
                <a:r>
                  <a:rPr lang="es-ES" dirty="0"/>
                  <a:t>La complejidad y dificultad del proceso de optimización viene dada por el  número de parámetros a </a:t>
                </a:r>
                <a:r>
                  <a:rPr lang="es-ES" dirty="0" err="1"/>
                  <a:t>estimar</a:t>
                </a:r>
                <a:r>
                  <a:rPr lang="es-ES" dirty="0"/>
                  <a:t>.</a:t>
                </a:r>
              </a:p>
              <a:p>
                <a:pPr marL="264300" marR="16123" indent="-207294">
                  <a:lnSpc>
                    <a:spcPts val="2494"/>
                  </a:lnSpc>
                  <a:buFont typeface="Symbol"/>
                  <a:buChar char=""/>
                  <a:tabLst>
                    <a:tab pos="264876" algn="l"/>
                  </a:tabLst>
                </a:pPr>
                <a:r>
                  <a:rPr lang="es-ES" dirty="0"/>
                  <a:t>OJO:  para encontrar los valores </a:t>
                </a:r>
                <a:r>
                  <a:rPr lang="es-ES" i="1" dirty="0" err="1"/>
                  <a:t>w</a:t>
                </a:r>
                <a:r>
                  <a:rPr lang="es-ES" i="1" baseline="-25000" dirty="0" err="1" smtClean="0"/>
                  <a:t>ij</a:t>
                </a:r>
                <a:r>
                  <a:rPr lang="es-ES" dirty="0" smtClean="0"/>
                  <a:t> </a:t>
                </a:r>
                <a:r>
                  <a:rPr lang="es-ES" dirty="0"/>
                  <a:t>que minimizan el MSE no hace falta tener  en cuenta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endParaRPr sz="2000" dirty="0"/>
              </a:p>
            </p:txBody>
          </p:sp>
        </mc:Choice>
        <mc:Fallback xmlns="">
          <p:sp>
            <p:nvSpPr>
              <p:cNvPr id="20" name="object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7801" y="3014248"/>
                <a:ext cx="9691872" cy="2879145"/>
              </a:xfrm>
              <a:prstGeom prst="rect">
                <a:avLst/>
              </a:prstGeom>
              <a:blipFill rotWithShape="0">
                <a:blip r:embed="rId2"/>
                <a:stretch>
                  <a:fillRect l="-881" t="-2748" b="-2748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uadroTexto 20"/>
              <p:cNvSpPr txBox="1"/>
              <p:nvPr/>
            </p:nvSpPr>
            <p:spPr>
              <a:xfrm>
                <a:off x="1994751" y="1839741"/>
                <a:ext cx="8014373" cy="77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1632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632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𝑚𝑖𝑛</m:t>
                          </m:r>
                        </m:e>
                        <m:sub>
                          <m:sSub>
                            <m:sSubPr>
                              <m:ctrlPr>
                                <a:rPr lang="es-ES" sz="1632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632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s-ES" sz="1632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sub>
                      </m:sSub>
                      <m:nary>
                        <m:naryPr>
                          <m:chr m:val="∑"/>
                          <m:ctrlPr>
                            <a:rPr lang="es-ES" sz="1632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ES" sz="1632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ES" sz="1632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s-ES" sz="1632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s-ES" sz="1632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f>
                            <m:fPr>
                              <m:ctrlPr>
                                <a:rPr lang="es-ES" sz="1632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ES" sz="1632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s-ES" sz="1632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r>
                            <a:rPr lang="es-ES" sz="1632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s-ES" sz="1632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632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ES" sz="1632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s-ES" sz="1632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s-ES" sz="1632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tanh</m:t>
                          </m:r>
                          <m:r>
                            <a:rPr lang="es-ES" sz="1632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⁡(</m:t>
                          </m:r>
                          <m:sSub>
                            <m:sSubPr>
                              <m:ctrlPr>
                                <a:rPr lang="es-ES" sz="1632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632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s-ES" sz="1632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s-ES" sz="1632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s-ES" sz="1632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sub>
                          </m:sSub>
                          <m:r>
                            <a:rPr lang="es-ES" sz="1632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func>
                            <m:funcPr>
                              <m:ctrlPr>
                                <a:rPr lang="es-ES" sz="1632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s-ES" sz="1632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tanh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s-ES" sz="1632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s-ES" sz="1632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S" sz="1632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s-ES" sz="1632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s-ES" sz="1632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S" sz="1632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s-ES" sz="1632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a:rPr lang="es-ES" sz="1632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s-ES" sz="1632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+…</m:t>
                                  </m:r>
                                </m:e>
                              </m:d>
                            </m:e>
                          </m:func>
                          <m:r>
                            <a:rPr lang="es-ES" sz="1632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s-ES" sz="1632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632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s-ES" sz="1632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s-ES" sz="1632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s-ES" sz="1632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sub>
                          </m:sSub>
                          <m:r>
                            <a:rPr lang="es-ES" sz="1632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func>
                            <m:funcPr>
                              <m:ctrlPr>
                                <a:rPr lang="es-ES" sz="1632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s-ES" sz="1632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tanh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s-ES" sz="1632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s-ES" sz="1632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S" sz="1632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s-ES" sz="1632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s-ES" sz="1632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S" sz="1632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s-ES" sz="1632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a:rPr lang="es-ES" sz="1632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s-ES" sz="1632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+…</m:t>
                                  </m:r>
                                </m:e>
                              </m:d>
                            </m:e>
                          </m:func>
                          <m:r>
                            <a:rPr lang="es-ES" sz="1632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+…)))</m:t>
                          </m:r>
                          <m:sSup>
                            <m:sSupPr>
                              <m:ctrlPr>
                                <a:rPr lang="es-ES" sz="1632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1632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s-ES" sz="1632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s-ES" sz="1632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1" name="CuadroTexto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934" y="2028825"/>
                <a:ext cx="8907375" cy="848566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/>
              <p:cNvSpPr txBox="1"/>
              <p:nvPr/>
            </p:nvSpPr>
            <p:spPr>
              <a:xfrm>
                <a:off x="2848383" y="1215950"/>
                <a:ext cx="5661409" cy="68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1632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632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𝑚𝑖𝑛</m:t>
                          </m:r>
                        </m:e>
                        <m:sub>
                          <m:sSub>
                            <m:sSubPr>
                              <m:ctrlPr>
                                <a:rPr lang="es-ES" sz="1632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632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s-ES" sz="1632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sub>
                      </m:sSub>
                      <m:r>
                        <a:rPr lang="es-ES" sz="1632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𝑀𝑆𝐸</m:t>
                      </m:r>
                      <m:r>
                        <a:rPr lang="es-ES" sz="1632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" sz="1632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632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𝑚𝑖𝑛</m:t>
                          </m:r>
                        </m:e>
                        <m:sub>
                          <m:sSub>
                            <m:sSubPr>
                              <m:ctrlPr>
                                <a:rPr lang="es-ES" sz="1632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632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s-ES" sz="1632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sub>
                      </m:sSub>
                      <m:nary>
                        <m:naryPr>
                          <m:chr m:val="∑"/>
                          <m:ctrlPr>
                            <a:rPr lang="es-ES" sz="1632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ES" sz="1632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ES" sz="1632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s-ES" sz="1632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s-ES" sz="1632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s-ES" sz="1632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s-ES" sz="1632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1632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s-ES" sz="1632" i="1" baseline="-250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s-ES" sz="1632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̂"/>
                                  <m:ctrlPr>
                                    <a:rPr lang="es-ES" sz="1632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ES" sz="1632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r>
                                <a:rPr lang="es-ES" sz="1632" i="1" baseline="-250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s-ES" sz="1632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s-ES" sz="1632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s-ES" sz="1632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s-ES" sz="1632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CuadroTexto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5300" y="1340922"/>
                <a:ext cx="6243276" cy="756233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06165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19204" y="595972"/>
            <a:ext cx="8429985" cy="5392241"/>
          </a:xfrm>
          <a:prstGeom prst="rect">
            <a:avLst/>
          </a:prstGeom>
        </p:spPr>
        <p:txBody>
          <a:bodyPr vert="horz" wrap="square" lIns="0" tIns="33397" rIns="0" bIns="0" rtlCol="0">
            <a:spAutoFit/>
          </a:bodyPr>
          <a:lstStyle/>
          <a:p>
            <a:pPr marL="11516" marR="1008833" algn="just">
              <a:lnSpc>
                <a:spcPts val="2503"/>
              </a:lnSpc>
              <a:spcBef>
                <a:spcPts val="263"/>
              </a:spcBef>
            </a:pPr>
            <a:r>
              <a:rPr sz="2400" spc="-5" dirty="0">
                <a:cs typeface="Times New Roman"/>
              </a:rPr>
              <a:t>Como</a:t>
            </a:r>
            <a:r>
              <a:rPr sz="2400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se </a:t>
            </a:r>
            <a:r>
              <a:rPr sz="2400" dirty="0">
                <a:cs typeface="Times New Roman"/>
              </a:rPr>
              <a:t>trata</a:t>
            </a:r>
            <a:r>
              <a:rPr sz="2400" spc="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de una función</a:t>
            </a:r>
            <a:r>
              <a:rPr sz="2400" spc="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de los</a:t>
            </a:r>
            <a:r>
              <a:rPr sz="2400" spc="5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parámetros</a:t>
            </a:r>
            <a:r>
              <a:rPr sz="2400" dirty="0">
                <a:cs typeface="Times New Roman"/>
              </a:rPr>
              <a:t> </a:t>
            </a:r>
            <a:r>
              <a:rPr sz="2400" b="1" dirty="0">
                <a:cs typeface="Times New Roman"/>
              </a:rPr>
              <a:t>no </a:t>
            </a:r>
            <a:r>
              <a:rPr sz="2400" b="1" spc="-5" dirty="0">
                <a:cs typeface="Times New Roman"/>
              </a:rPr>
              <a:t>lineal</a:t>
            </a:r>
            <a:r>
              <a:rPr sz="2400" spc="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y </a:t>
            </a:r>
            <a:r>
              <a:rPr sz="2400" b="1" spc="-5" dirty="0">
                <a:cs typeface="Times New Roman"/>
              </a:rPr>
              <a:t>compleja</a:t>
            </a:r>
            <a:r>
              <a:rPr sz="2400" spc="-5" dirty="0">
                <a:cs typeface="Times New Roman"/>
              </a:rPr>
              <a:t>,</a:t>
            </a:r>
            <a:r>
              <a:rPr sz="2400" dirty="0">
                <a:cs typeface="Times New Roman"/>
              </a:rPr>
              <a:t> es </a:t>
            </a:r>
            <a:r>
              <a:rPr sz="2400" spc="-530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necesario utilizar</a:t>
            </a:r>
            <a:r>
              <a:rPr sz="2400" spc="5" dirty="0">
                <a:cs typeface="Times New Roman"/>
              </a:rPr>
              <a:t> </a:t>
            </a:r>
            <a:r>
              <a:rPr sz="2400" b="1" spc="-5" dirty="0">
                <a:cs typeface="Times New Roman"/>
              </a:rPr>
              <a:t>algoritmos</a:t>
            </a:r>
            <a:r>
              <a:rPr sz="2400" b="1" dirty="0">
                <a:cs typeface="Times New Roman"/>
              </a:rPr>
              <a:t> </a:t>
            </a:r>
            <a:r>
              <a:rPr sz="2400" b="1" spc="-5" dirty="0">
                <a:cs typeface="Times New Roman"/>
              </a:rPr>
              <a:t>numéricos de</a:t>
            </a:r>
            <a:r>
              <a:rPr sz="2400" b="1" dirty="0">
                <a:cs typeface="Times New Roman"/>
              </a:rPr>
              <a:t> aproximación</a:t>
            </a:r>
            <a:r>
              <a:rPr sz="2400" dirty="0">
                <a:cs typeface="Times New Roman"/>
              </a:rPr>
              <a:t>.</a:t>
            </a:r>
          </a:p>
          <a:p>
            <a:pPr algn="just">
              <a:spcBef>
                <a:spcPts val="36"/>
              </a:spcBef>
            </a:pPr>
            <a:endParaRPr sz="2000" dirty="0">
              <a:cs typeface="Times New Roman"/>
            </a:endParaRPr>
          </a:p>
          <a:p>
            <a:pPr marL="11516" algn="just"/>
            <a:r>
              <a:rPr sz="2400" dirty="0">
                <a:cs typeface="Times New Roman"/>
              </a:rPr>
              <a:t>En</a:t>
            </a:r>
            <a:r>
              <a:rPr sz="2400" spc="-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general,</a:t>
            </a:r>
            <a:r>
              <a:rPr sz="2400" spc="-14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el</a:t>
            </a:r>
            <a:r>
              <a:rPr sz="2400" spc="5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funcionamiento</a:t>
            </a:r>
            <a:r>
              <a:rPr sz="2400" dirty="0">
                <a:cs typeface="Times New Roman"/>
              </a:rPr>
              <a:t> es</a:t>
            </a:r>
            <a:r>
              <a:rPr sz="2400" spc="-9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similar</a:t>
            </a:r>
            <a:r>
              <a:rPr sz="2400" spc="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en todos </a:t>
            </a:r>
            <a:r>
              <a:rPr sz="2400" spc="-5" dirty="0">
                <a:cs typeface="Times New Roman"/>
              </a:rPr>
              <a:t>ellos:</a:t>
            </a:r>
            <a:endParaRPr sz="2400" dirty="0">
              <a:cs typeface="Times New Roman"/>
            </a:endParaRPr>
          </a:p>
          <a:p>
            <a:pPr algn="just">
              <a:spcBef>
                <a:spcPts val="50"/>
              </a:spcBef>
            </a:pPr>
            <a:endParaRPr sz="2000" dirty="0">
              <a:cs typeface="Times New Roman"/>
            </a:endParaRPr>
          </a:p>
          <a:p>
            <a:pPr marL="633400" indent="-415164" algn="just">
              <a:lnSpc>
                <a:spcPts val="2557"/>
              </a:lnSpc>
              <a:buAutoNum type="arabicParenR"/>
              <a:tabLst>
                <a:tab pos="633400" algn="l"/>
                <a:tab pos="633976" algn="l"/>
              </a:tabLst>
            </a:pPr>
            <a:r>
              <a:rPr sz="2400" spc="-5" dirty="0">
                <a:cs typeface="Times New Roman"/>
              </a:rPr>
              <a:t>Tomar</a:t>
            </a:r>
            <a:r>
              <a:rPr sz="2400" spc="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unos</a:t>
            </a:r>
            <a:r>
              <a:rPr sz="2400" spc="9" dirty="0">
                <a:cs typeface="Times New Roman"/>
              </a:rPr>
              <a:t> </a:t>
            </a:r>
            <a:r>
              <a:rPr sz="2400" b="1" dirty="0">
                <a:cs typeface="Times New Roman"/>
              </a:rPr>
              <a:t>valores </a:t>
            </a:r>
            <a:r>
              <a:rPr sz="2400" b="1" spc="-5" dirty="0">
                <a:cs typeface="Times New Roman"/>
              </a:rPr>
              <a:t>iniciales</a:t>
            </a:r>
            <a:r>
              <a:rPr sz="2400" b="1" spc="14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para</a:t>
            </a:r>
            <a:r>
              <a:rPr sz="2400" spc="5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los</a:t>
            </a:r>
            <a:r>
              <a:rPr sz="2400" dirty="0">
                <a:cs typeface="Times New Roman"/>
              </a:rPr>
              <a:t> pesos</a:t>
            </a:r>
            <a:r>
              <a:rPr sz="2400" spc="5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(se suelen</a:t>
            </a:r>
            <a:r>
              <a:rPr sz="2400" spc="5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aleatorizar)</a:t>
            </a:r>
            <a:endParaRPr sz="2400" dirty="0">
              <a:cs typeface="Times New Roman"/>
            </a:endParaRPr>
          </a:p>
          <a:p>
            <a:pPr marL="633400" indent="-415741" algn="just">
              <a:lnSpc>
                <a:spcPts val="2503"/>
              </a:lnSpc>
              <a:buAutoNum type="arabicParenR"/>
              <a:tabLst>
                <a:tab pos="633400" algn="l"/>
                <a:tab pos="633976" algn="l"/>
              </a:tabLst>
            </a:pPr>
            <a:r>
              <a:rPr sz="2400" spc="-5" dirty="0">
                <a:cs typeface="Times New Roman"/>
              </a:rPr>
              <a:t>Calcular </a:t>
            </a:r>
            <a:r>
              <a:rPr sz="2400" dirty="0">
                <a:cs typeface="Times New Roman"/>
              </a:rPr>
              <a:t>la</a:t>
            </a:r>
            <a:r>
              <a:rPr sz="2400" spc="-9" dirty="0">
                <a:cs typeface="Times New Roman"/>
              </a:rPr>
              <a:t> </a:t>
            </a:r>
            <a:r>
              <a:rPr sz="2400" b="1" spc="-5" dirty="0">
                <a:cs typeface="Times New Roman"/>
              </a:rPr>
              <a:t>función</a:t>
            </a:r>
            <a:r>
              <a:rPr sz="2400" b="1" spc="-9" dirty="0">
                <a:cs typeface="Times New Roman"/>
              </a:rPr>
              <a:t> </a:t>
            </a:r>
            <a:r>
              <a:rPr sz="2400" b="1" spc="-5" dirty="0">
                <a:cs typeface="Times New Roman"/>
              </a:rPr>
              <a:t>de</a:t>
            </a:r>
            <a:r>
              <a:rPr sz="2400" b="1" spc="-9" dirty="0">
                <a:cs typeface="Times New Roman"/>
              </a:rPr>
              <a:t> </a:t>
            </a:r>
            <a:r>
              <a:rPr sz="2400" b="1" dirty="0">
                <a:cs typeface="Times New Roman"/>
              </a:rPr>
              <a:t>error</a:t>
            </a:r>
            <a:r>
              <a:rPr sz="2400" b="1" spc="9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con</a:t>
            </a:r>
            <a:r>
              <a:rPr sz="2400" spc="-5" dirty="0">
                <a:cs typeface="Times New Roman"/>
              </a:rPr>
              <a:t> esos</a:t>
            </a:r>
            <a:r>
              <a:rPr sz="2400" dirty="0">
                <a:cs typeface="Times New Roman"/>
              </a:rPr>
              <a:t> valores</a:t>
            </a:r>
          </a:p>
          <a:p>
            <a:pPr marL="633400" indent="-415741" algn="just">
              <a:lnSpc>
                <a:spcPts val="2503"/>
              </a:lnSpc>
              <a:buAutoNum type="arabicParenR"/>
              <a:tabLst>
                <a:tab pos="633400" algn="l"/>
                <a:tab pos="633976" algn="l"/>
              </a:tabLst>
            </a:pPr>
            <a:r>
              <a:rPr sz="2400" spc="-5" dirty="0">
                <a:cs typeface="Times New Roman"/>
              </a:rPr>
              <a:t>Calcular</a:t>
            </a:r>
            <a:r>
              <a:rPr sz="2400" dirty="0">
                <a:cs typeface="Times New Roman"/>
              </a:rPr>
              <a:t> una </a:t>
            </a:r>
            <a:r>
              <a:rPr sz="2400" b="1" spc="-5" dirty="0">
                <a:cs typeface="Times New Roman"/>
              </a:rPr>
              <a:t>dirección</a:t>
            </a:r>
            <a:r>
              <a:rPr sz="2400" b="1" spc="5" dirty="0">
                <a:cs typeface="Times New Roman"/>
              </a:rPr>
              <a:t> </a:t>
            </a:r>
            <a:r>
              <a:rPr sz="2400" b="1" spc="-5" dirty="0">
                <a:cs typeface="Times New Roman"/>
              </a:rPr>
              <a:t>de</a:t>
            </a:r>
            <a:r>
              <a:rPr sz="2400" b="1" spc="5" dirty="0">
                <a:cs typeface="Times New Roman"/>
              </a:rPr>
              <a:t> </a:t>
            </a:r>
            <a:r>
              <a:rPr sz="2400" b="1" spc="-5" dirty="0">
                <a:cs typeface="Times New Roman"/>
              </a:rPr>
              <a:t>decrecimiento</a:t>
            </a:r>
            <a:r>
              <a:rPr sz="2400" b="1" spc="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de</a:t>
            </a:r>
            <a:r>
              <a:rPr sz="2400" spc="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la</a:t>
            </a:r>
            <a:r>
              <a:rPr sz="2400" spc="9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función</a:t>
            </a:r>
            <a:r>
              <a:rPr sz="2400" spc="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de </a:t>
            </a:r>
            <a:r>
              <a:rPr sz="2400" spc="-5" dirty="0">
                <a:cs typeface="Times New Roman"/>
              </a:rPr>
              <a:t>error</a:t>
            </a:r>
            <a:endParaRPr sz="2400" dirty="0">
              <a:cs typeface="Times New Roman"/>
            </a:endParaRPr>
          </a:p>
          <a:p>
            <a:pPr marL="633400" indent="-415741" algn="just">
              <a:lnSpc>
                <a:spcPts val="2503"/>
              </a:lnSpc>
              <a:buFont typeface="Times New Roman"/>
              <a:buAutoNum type="arabicParenR"/>
              <a:tabLst>
                <a:tab pos="633400" algn="l"/>
                <a:tab pos="633976" algn="l"/>
              </a:tabLst>
            </a:pPr>
            <a:r>
              <a:rPr sz="2400" b="1" spc="-5" dirty="0">
                <a:cs typeface="Times New Roman"/>
              </a:rPr>
              <a:t>Retocar </a:t>
            </a:r>
            <a:r>
              <a:rPr sz="2400" dirty="0">
                <a:cs typeface="Times New Roman"/>
              </a:rPr>
              <a:t>los</a:t>
            </a:r>
            <a:r>
              <a:rPr sz="2400" spc="-9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valores</a:t>
            </a:r>
            <a:r>
              <a:rPr sz="2400" spc="-9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de</a:t>
            </a:r>
            <a:r>
              <a:rPr sz="2400" spc="-5" dirty="0">
                <a:cs typeface="Times New Roman"/>
              </a:rPr>
              <a:t> los</a:t>
            </a:r>
            <a:r>
              <a:rPr sz="2400" spc="-14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pesos</a:t>
            </a:r>
            <a:r>
              <a:rPr sz="2400" spc="-9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en</a:t>
            </a:r>
            <a:r>
              <a:rPr sz="2400" spc="-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esa</a:t>
            </a:r>
            <a:r>
              <a:rPr sz="2400" spc="-9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dirección</a:t>
            </a:r>
            <a:r>
              <a:rPr sz="2400" spc="-23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de</a:t>
            </a:r>
            <a:r>
              <a:rPr sz="2400" spc="-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decrecimiento</a:t>
            </a:r>
          </a:p>
          <a:p>
            <a:pPr marL="633400" indent="-415741" algn="just">
              <a:lnSpc>
                <a:spcPts val="2557"/>
              </a:lnSpc>
              <a:buAutoNum type="arabicParenR"/>
              <a:tabLst>
                <a:tab pos="633400" algn="l"/>
                <a:tab pos="633976" algn="l"/>
              </a:tabLst>
            </a:pPr>
            <a:r>
              <a:rPr sz="2400" spc="-5" dirty="0">
                <a:cs typeface="Times New Roman"/>
              </a:rPr>
              <a:t>Volver</a:t>
            </a:r>
            <a:r>
              <a:rPr sz="2400" spc="-23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al</a:t>
            </a:r>
            <a:r>
              <a:rPr sz="2400" spc="-18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paso</a:t>
            </a:r>
            <a:r>
              <a:rPr sz="2400" spc="-23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2)</a:t>
            </a:r>
          </a:p>
          <a:p>
            <a:pPr algn="just">
              <a:spcBef>
                <a:spcPts val="45"/>
              </a:spcBef>
            </a:pPr>
            <a:endParaRPr sz="2000" dirty="0">
              <a:cs typeface="Times New Roman"/>
            </a:endParaRPr>
          </a:p>
          <a:p>
            <a:pPr marL="218811" algn="just"/>
            <a:r>
              <a:rPr sz="2400" dirty="0">
                <a:cs typeface="Times New Roman"/>
              </a:rPr>
              <a:t>El</a:t>
            </a:r>
            <a:r>
              <a:rPr sz="2400" spc="-9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algoritmo</a:t>
            </a:r>
            <a:r>
              <a:rPr sz="2400" spc="-9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se</a:t>
            </a:r>
            <a:r>
              <a:rPr sz="2400" spc="-9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detiene</a:t>
            </a:r>
            <a:r>
              <a:rPr sz="2400" spc="-9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al</a:t>
            </a:r>
            <a:r>
              <a:rPr sz="2400" spc="-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llegar</a:t>
            </a:r>
            <a:r>
              <a:rPr sz="2400" spc="-9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a</a:t>
            </a:r>
            <a:r>
              <a:rPr sz="2400" spc="-18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cualquier</a:t>
            </a:r>
            <a:r>
              <a:rPr sz="2400" spc="-9" dirty="0">
                <a:cs typeface="Times New Roman"/>
              </a:rPr>
              <a:t> </a:t>
            </a:r>
            <a:r>
              <a:rPr sz="2400" b="1" dirty="0">
                <a:cs typeface="Times New Roman"/>
              </a:rPr>
              <a:t>criterio</a:t>
            </a:r>
            <a:r>
              <a:rPr sz="2400" b="1" spc="-5" dirty="0">
                <a:cs typeface="Times New Roman"/>
              </a:rPr>
              <a:t> de</a:t>
            </a:r>
            <a:r>
              <a:rPr sz="2400" b="1" spc="-14" dirty="0">
                <a:cs typeface="Times New Roman"/>
              </a:rPr>
              <a:t> </a:t>
            </a:r>
            <a:r>
              <a:rPr sz="2400" b="1" spc="-5" dirty="0">
                <a:cs typeface="Times New Roman"/>
              </a:rPr>
              <a:t>parada</a:t>
            </a:r>
            <a:r>
              <a:rPr sz="2400" b="1" spc="-9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preestablecido</a:t>
            </a:r>
            <a:r>
              <a:rPr sz="2000" dirty="0">
                <a:cs typeface="Times New Roman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72713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62233" y="610598"/>
            <a:ext cx="9094251" cy="3928598"/>
          </a:xfrm>
          <a:prstGeom prst="rect">
            <a:avLst/>
          </a:prstGeom>
        </p:spPr>
        <p:txBody>
          <a:bodyPr vert="horz" wrap="square" lIns="0" tIns="11516" rIns="0" bIns="0" rtlCol="0">
            <a:spAutoFit/>
          </a:bodyPr>
          <a:lstStyle/>
          <a:p>
            <a:pPr marL="218811">
              <a:lnSpc>
                <a:spcPts val="2566"/>
              </a:lnSpc>
              <a:spcBef>
                <a:spcPts val="91"/>
              </a:spcBef>
            </a:pPr>
            <a:r>
              <a:rPr sz="2000" dirty="0">
                <a:latin typeface="Calibri cuerpo"/>
                <a:cs typeface="Times New Roman"/>
              </a:rPr>
              <a:t>En general los algoritmos que utilizaremos se basarán en el</a:t>
            </a:r>
          </a:p>
          <a:p>
            <a:pPr marL="11516">
              <a:lnSpc>
                <a:spcPts val="2566"/>
              </a:lnSpc>
            </a:pPr>
            <a:r>
              <a:rPr lang="es-ES" sz="2000" dirty="0">
                <a:latin typeface="Calibri cuerpo"/>
                <a:cs typeface="Times New Roman"/>
              </a:rPr>
              <a:t>  </a:t>
            </a:r>
            <a:r>
              <a:rPr sz="2000" b="1" dirty="0" err="1">
                <a:latin typeface="Calibri cuerpo"/>
                <a:cs typeface="Times New Roman"/>
              </a:rPr>
              <a:t>Algoritmo</a:t>
            </a:r>
            <a:r>
              <a:rPr sz="2000" b="1" dirty="0">
                <a:latin typeface="Calibri cuerpo"/>
                <a:cs typeface="Times New Roman"/>
              </a:rPr>
              <a:t> básico Gradient Descent</a:t>
            </a:r>
          </a:p>
          <a:p>
            <a:pPr>
              <a:spcBef>
                <a:spcPts val="9"/>
              </a:spcBef>
            </a:pPr>
            <a:endParaRPr sz="2000" dirty="0">
              <a:latin typeface="Calibri cuerpo"/>
              <a:cs typeface="Times New Roman"/>
            </a:endParaRPr>
          </a:p>
          <a:p>
            <a:pPr marL="11516" marR="1117087">
              <a:lnSpc>
                <a:spcPts val="2503"/>
              </a:lnSpc>
              <a:spcBef>
                <a:spcPts val="5"/>
              </a:spcBef>
            </a:pPr>
            <a:r>
              <a:rPr sz="2000" b="1" dirty="0">
                <a:latin typeface="Calibri cuerpo"/>
                <a:cs typeface="Times New Roman"/>
              </a:rPr>
              <a:t>El objetivo es hallar los pesos </a:t>
            </a:r>
            <a:r>
              <a:rPr sz="2000" b="1" i="1" dirty="0">
                <a:latin typeface="Calibri cuerpo"/>
                <a:cs typeface="Times New Roman"/>
              </a:rPr>
              <a:t>w</a:t>
            </a:r>
            <a:r>
              <a:rPr sz="2000" b="1" i="1" baseline="-25000" dirty="0">
                <a:latin typeface="Calibri cuerpo"/>
                <a:cs typeface="Times New Roman"/>
              </a:rPr>
              <a:t>ij</a:t>
            </a:r>
            <a:r>
              <a:rPr sz="2000" b="1" dirty="0">
                <a:latin typeface="Calibri cuerpo"/>
                <a:cs typeface="Times New Roman"/>
              </a:rPr>
              <a:t> que minimicen el error (MSE)  </a:t>
            </a:r>
            <a:r>
              <a:rPr sz="2000" dirty="0">
                <a:latin typeface="Calibri cuerpo"/>
                <a:cs typeface="Times New Roman"/>
              </a:rPr>
              <a:t>Proceso básico:</a:t>
            </a:r>
          </a:p>
          <a:p>
            <a:pPr marL="310366" indent="-299425">
              <a:lnSpc>
                <a:spcPts val="2417"/>
              </a:lnSpc>
              <a:buAutoNum type="arabicParenR"/>
              <a:tabLst>
                <a:tab pos="310942" algn="l"/>
              </a:tabLst>
            </a:pPr>
            <a:r>
              <a:rPr sz="2000" dirty="0">
                <a:latin typeface="Calibri cuerpo"/>
                <a:cs typeface="Times New Roman"/>
              </a:rPr>
              <a:t>Se inicializan los pesos wij aleatoriamente</a:t>
            </a:r>
          </a:p>
          <a:p>
            <a:pPr>
              <a:spcBef>
                <a:spcPts val="9"/>
              </a:spcBef>
              <a:buClr>
                <a:srgbClr val="FF0000"/>
              </a:buClr>
              <a:buFont typeface="Times New Roman"/>
              <a:buAutoNum type="arabicParenR"/>
            </a:pPr>
            <a:endParaRPr sz="2000" dirty="0">
              <a:latin typeface="Calibri cuerpo"/>
              <a:cs typeface="Times New Roman"/>
            </a:endParaRPr>
          </a:p>
          <a:p>
            <a:pPr marL="11516" marR="620156">
              <a:lnSpc>
                <a:spcPts val="2503"/>
              </a:lnSpc>
              <a:spcBef>
                <a:spcPts val="5"/>
              </a:spcBef>
              <a:buAutoNum type="arabicParenR"/>
              <a:tabLst>
                <a:tab pos="310942" algn="l"/>
              </a:tabLst>
            </a:pPr>
            <a:r>
              <a:rPr lang="es-ES" sz="2000" dirty="0">
                <a:latin typeface="Calibri cuerpo"/>
                <a:cs typeface="Times New Roman"/>
              </a:rPr>
              <a:t> </a:t>
            </a:r>
            <a:r>
              <a:rPr sz="2000" dirty="0">
                <a:latin typeface="Calibri cuerpo"/>
                <a:cs typeface="Times New Roman"/>
              </a:rPr>
              <a:t>Se calcula la derivada de la función del error en ese punto (esos pesos  </a:t>
            </a:r>
            <a:r>
              <a:rPr lang="es-ES" sz="2000" dirty="0">
                <a:latin typeface="Calibri cuerpo"/>
                <a:cs typeface="Times New Roman"/>
              </a:rPr>
              <a:t>   	</a:t>
            </a:r>
            <a:r>
              <a:rPr sz="2000" dirty="0" err="1">
                <a:latin typeface="Calibri cuerpo"/>
                <a:cs typeface="Times New Roman"/>
              </a:rPr>
              <a:t>concretos</a:t>
            </a:r>
            <a:r>
              <a:rPr sz="2000" dirty="0">
                <a:latin typeface="Calibri cuerpo"/>
                <a:cs typeface="Times New Roman"/>
              </a:rPr>
              <a:t> </a:t>
            </a:r>
            <a:r>
              <a:rPr sz="2000" i="1" dirty="0">
                <a:latin typeface="Calibri cuerpo"/>
                <a:cs typeface="Times New Roman"/>
              </a:rPr>
              <a:t>w</a:t>
            </a:r>
            <a:r>
              <a:rPr sz="2000" i="1" baseline="-25000" dirty="0">
                <a:latin typeface="Calibri cuerpo"/>
                <a:cs typeface="Times New Roman"/>
              </a:rPr>
              <a:t>ij</a:t>
            </a:r>
            <a:r>
              <a:rPr sz="2000" dirty="0">
                <a:latin typeface="Calibri cuerpo"/>
                <a:cs typeface="Times New Roman"/>
              </a:rPr>
              <a:t>):</a:t>
            </a:r>
          </a:p>
          <a:p>
            <a:pPr>
              <a:lnSpc>
                <a:spcPct val="100000"/>
              </a:lnSpc>
              <a:buClr>
                <a:srgbClr val="FF0000"/>
              </a:buClr>
              <a:buFont typeface="Times New Roman"/>
              <a:buAutoNum type="arabicParenR"/>
            </a:pPr>
            <a:endParaRPr sz="2000" dirty="0">
              <a:latin typeface="Calibri cuerpo"/>
              <a:cs typeface="Times New Roman"/>
            </a:endParaRPr>
          </a:p>
          <a:p>
            <a:pPr marL="11516" marR="4607">
              <a:lnSpc>
                <a:spcPts val="2503"/>
              </a:lnSpc>
              <a:buAutoNum type="arabicParenR"/>
              <a:tabLst>
                <a:tab pos="310942" algn="l"/>
                <a:tab pos="2468532" algn="l"/>
                <a:tab pos="7280067" algn="l"/>
              </a:tabLst>
            </a:pPr>
            <a:r>
              <a:rPr lang="es-ES" sz="2000" dirty="0">
                <a:latin typeface="Calibri cuerpo"/>
                <a:cs typeface="Times New Roman"/>
              </a:rPr>
              <a:t> </a:t>
            </a:r>
            <a:r>
              <a:rPr sz="2000" dirty="0">
                <a:latin typeface="Calibri cuerpo"/>
                <a:cs typeface="Times New Roman"/>
              </a:rPr>
              <a:t>Se hacen variar los pesos en la dirección de descenso del error (</a:t>
            </a:r>
            <a:r>
              <a:rPr sz="2000" dirty="0" err="1">
                <a:latin typeface="Calibri cuerpo"/>
                <a:cs typeface="Times New Roman"/>
              </a:rPr>
              <a:t>recordemos</a:t>
            </a:r>
            <a:r>
              <a:rPr sz="2000" dirty="0">
                <a:latin typeface="Calibri cuerpo"/>
                <a:cs typeface="Times New Roman"/>
              </a:rPr>
              <a:t>  que wij es un vector)</a:t>
            </a:r>
            <a:r>
              <a:rPr lang="es-ES" sz="2000" dirty="0">
                <a:latin typeface="Calibri cuerpo"/>
                <a:cs typeface="Times New Roman"/>
              </a:rPr>
              <a:t> </a:t>
            </a:r>
            <a:r>
              <a:rPr sz="2000" dirty="0">
                <a:latin typeface="Calibri cuerpo"/>
                <a:cs typeface="Times New Roman"/>
              </a:rPr>
              <a:t>(</a:t>
            </a:r>
            <a:r>
              <a:rPr sz="2000" dirty="0" err="1">
                <a:latin typeface="Calibri cuerpo"/>
                <a:cs typeface="Times New Roman"/>
              </a:rPr>
              <a:t>los</a:t>
            </a:r>
            <a:r>
              <a:rPr sz="2000" dirty="0">
                <a:latin typeface="Calibri cuerpo"/>
                <a:cs typeface="Times New Roman"/>
              </a:rPr>
              <a:t> pesos varían según un learning rate</a:t>
            </a:r>
            <a:r>
              <a:rPr lang="es-ES" sz="2000" dirty="0">
                <a:latin typeface="Calibri cuerpo"/>
                <a:cs typeface="Times New Roman"/>
              </a:rPr>
              <a:t> </a:t>
            </a:r>
            <a:r>
              <a:rPr sz="2000" dirty="0">
                <a:latin typeface="Calibri cuerpo"/>
                <a:cs typeface="Times New Roman"/>
              </a:rPr>
              <a:t>ε):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62234" y="5749618"/>
            <a:ext cx="4644602" cy="674924"/>
          </a:xfrm>
          <a:prstGeom prst="rect">
            <a:avLst/>
          </a:prstGeom>
        </p:spPr>
        <p:txBody>
          <a:bodyPr vert="horz" wrap="square" lIns="0" tIns="33397" rIns="0" bIns="0" rtlCol="0">
            <a:spAutoFit/>
          </a:bodyPr>
          <a:lstStyle/>
          <a:p>
            <a:pPr marL="11516" marR="4607">
              <a:lnSpc>
                <a:spcPts val="2503"/>
              </a:lnSpc>
              <a:spcBef>
                <a:spcPts val="263"/>
              </a:spcBef>
            </a:pPr>
            <a:r>
              <a:rPr sz="2000" dirty="0">
                <a:latin typeface="Calibri cuerpo"/>
                <a:cs typeface="Times New Roman"/>
              </a:rPr>
              <a:t>4)</a:t>
            </a:r>
            <a:r>
              <a:rPr sz="2000" spc="-14" dirty="0">
                <a:latin typeface="Calibri cuerpo"/>
                <a:cs typeface="Times New Roman"/>
              </a:rPr>
              <a:t> </a:t>
            </a:r>
            <a:r>
              <a:rPr sz="2000" spc="-5" dirty="0">
                <a:latin typeface="Calibri cuerpo"/>
                <a:cs typeface="Times New Roman"/>
              </a:rPr>
              <a:t>Se</a:t>
            </a:r>
            <a:r>
              <a:rPr sz="2000" spc="-14" dirty="0">
                <a:latin typeface="Calibri cuerpo"/>
                <a:cs typeface="Times New Roman"/>
              </a:rPr>
              <a:t> </a:t>
            </a:r>
            <a:r>
              <a:rPr sz="2000" dirty="0">
                <a:latin typeface="Calibri cuerpo"/>
                <a:cs typeface="Times New Roman"/>
              </a:rPr>
              <a:t>repiten</a:t>
            </a:r>
            <a:r>
              <a:rPr sz="2000" spc="-18" dirty="0">
                <a:latin typeface="Calibri cuerpo"/>
                <a:cs typeface="Times New Roman"/>
              </a:rPr>
              <a:t> </a:t>
            </a:r>
            <a:r>
              <a:rPr sz="2000" dirty="0">
                <a:latin typeface="Calibri cuerpo"/>
                <a:cs typeface="Times New Roman"/>
              </a:rPr>
              <a:t>los</a:t>
            </a:r>
            <a:r>
              <a:rPr sz="2000" spc="-9" dirty="0">
                <a:latin typeface="Calibri cuerpo"/>
                <a:cs typeface="Times New Roman"/>
              </a:rPr>
              <a:t> </a:t>
            </a:r>
            <a:r>
              <a:rPr sz="2000" dirty="0">
                <a:latin typeface="Calibri cuerpo"/>
                <a:cs typeface="Times New Roman"/>
              </a:rPr>
              <a:t>pasos</a:t>
            </a:r>
            <a:r>
              <a:rPr sz="2000" spc="-5" dirty="0">
                <a:latin typeface="Calibri cuerpo"/>
                <a:cs typeface="Times New Roman"/>
              </a:rPr>
              <a:t> </a:t>
            </a:r>
            <a:r>
              <a:rPr sz="2000" dirty="0">
                <a:latin typeface="Calibri cuerpo"/>
                <a:cs typeface="Times New Roman"/>
              </a:rPr>
              <a:t>2</a:t>
            </a:r>
            <a:r>
              <a:rPr sz="2000" spc="-23" dirty="0">
                <a:latin typeface="Calibri cuerpo"/>
                <a:cs typeface="Times New Roman"/>
              </a:rPr>
              <a:t> </a:t>
            </a:r>
            <a:r>
              <a:rPr sz="2000" dirty="0">
                <a:latin typeface="Calibri cuerpo"/>
                <a:cs typeface="Times New Roman"/>
              </a:rPr>
              <a:t>y</a:t>
            </a:r>
            <a:r>
              <a:rPr sz="2000" spc="-9" dirty="0">
                <a:latin typeface="Calibri cuerpo"/>
                <a:cs typeface="Times New Roman"/>
              </a:rPr>
              <a:t> </a:t>
            </a:r>
            <a:r>
              <a:rPr sz="2000" dirty="0">
                <a:latin typeface="Calibri cuerpo"/>
                <a:cs typeface="Times New Roman"/>
              </a:rPr>
              <a:t>3</a:t>
            </a:r>
            <a:r>
              <a:rPr sz="2000" spc="-5" dirty="0">
                <a:latin typeface="Calibri cuerpo"/>
                <a:cs typeface="Times New Roman"/>
              </a:rPr>
              <a:t> </a:t>
            </a:r>
            <a:r>
              <a:rPr sz="2000" dirty="0">
                <a:latin typeface="Calibri cuerpo"/>
                <a:cs typeface="Times New Roman"/>
              </a:rPr>
              <a:t>hasta </a:t>
            </a:r>
            <a:r>
              <a:rPr sz="2000" spc="-530" dirty="0">
                <a:latin typeface="Calibri cuerpo"/>
                <a:cs typeface="Times New Roman"/>
              </a:rPr>
              <a:t> </a:t>
            </a:r>
            <a:r>
              <a:rPr sz="2000" dirty="0">
                <a:latin typeface="Calibri cuerpo"/>
                <a:cs typeface="Times New Roman"/>
              </a:rPr>
              <a:t>llegar</a:t>
            </a:r>
            <a:r>
              <a:rPr sz="2000" spc="-5" dirty="0">
                <a:latin typeface="Calibri cuerpo"/>
                <a:cs typeface="Times New Roman"/>
              </a:rPr>
              <a:t> </a:t>
            </a:r>
            <a:r>
              <a:rPr sz="2000" dirty="0">
                <a:latin typeface="Calibri cuerpo"/>
                <a:cs typeface="Times New Roman"/>
              </a:rPr>
              <a:t>a</a:t>
            </a:r>
            <a:r>
              <a:rPr sz="2000" spc="-5" dirty="0">
                <a:latin typeface="Calibri cuerpo"/>
                <a:cs typeface="Times New Roman"/>
              </a:rPr>
              <a:t> </a:t>
            </a:r>
            <a:r>
              <a:rPr sz="2000" dirty="0">
                <a:latin typeface="Calibri cuerpo"/>
                <a:cs typeface="Times New Roman"/>
              </a:rPr>
              <a:t>un</a:t>
            </a:r>
            <a:r>
              <a:rPr sz="2000" spc="-5" dirty="0">
                <a:latin typeface="Calibri cuerpo"/>
                <a:cs typeface="Times New Roman"/>
              </a:rPr>
              <a:t> criterio de </a:t>
            </a:r>
            <a:r>
              <a:rPr sz="2000" dirty="0">
                <a:latin typeface="Calibri cuerpo"/>
                <a:cs typeface="Times New Roman"/>
              </a:rPr>
              <a:t>parada.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79506" y="4604403"/>
            <a:ext cx="2685584" cy="219153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00393" y="5308587"/>
            <a:ext cx="2706348" cy="26245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57207" y="4609083"/>
            <a:ext cx="1989453" cy="46576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 rotWithShape="1">
          <a:blip r:embed="rId5" cstate="print"/>
          <a:srcRect t="21918"/>
          <a:stretch/>
        </p:blipFill>
        <p:spPr>
          <a:xfrm>
            <a:off x="3746660" y="3213068"/>
            <a:ext cx="604610" cy="492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909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07687" y="605577"/>
            <a:ext cx="9535557" cy="653060"/>
          </a:xfrm>
          <a:prstGeom prst="rect">
            <a:avLst/>
          </a:prstGeom>
        </p:spPr>
        <p:txBody>
          <a:bodyPr vert="horz" wrap="square" lIns="0" tIns="33397" rIns="0" bIns="0" rtlCol="0" anchor="ctr">
            <a:spAutoFit/>
          </a:bodyPr>
          <a:lstStyle/>
          <a:p>
            <a:pPr marL="11516" marR="4607">
              <a:lnSpc>
                <a:spcPts val="2503"/>
              </a:lnSpc>
              <a:spcBef>
                <a:spcPts val="263"/>
              </a:spcBef>
            </a:pPr>
            <a:r>
              <a:rPr sz="1995" spc="-5" dirty="0">
                <a:latin typeface="Calibri cuerpo"/>
                <a:ea typeface="+mn-ea"/>
                <a:cs typeface="Times New Roman"/>
              </a:rPr>
              <a:t>En ciertas versiones se introduce una constante α llamada weight decay o  momentum: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10374" y="1884769"/>
            <a:ext cx="8907914" cy="4142820"/>
          </a:xfrm>
          <a:prstGeom prst="rect">
            <a:avLst/>
          </a:prstGeom>
        </p:spPr>
        <p:txBody>
          <a:bodyPr vert="horz" wrap="square" lIns="0" tIns="10941" rIns="0" bIns="0" rtlCol="0">
            <a:spAutoFit/>
          </a:bodyPr>
          <a:lstStyle/>
          <a:p>
            <a:pPr marL="11516">
              <a:spcBef>
                <a:spcPts val="86"/>
              </a:spcBef>
            </a:pPr>
            <a:r>
              <a:rPr lang="es-ES" sz="1995" spc="-9" dirty="0">
                <a:solidFill>
                  <a:srgbClr val="FF0000"/>
                </a:solidFill>
                <a:latin typeface="Times New Roman"/>
                <a:cs typeface="Times New Roman"/>
              </a:rPr>
              <a:t>OJO</a:t>
            </a:r>
            <a:r>
              <a:rPr sz="1995" spc="-9" dirty="0">
                <a:solidFill>
                  <a:srgbClr val="FF0000"/>
                </a:solidFill>
                <a:latin typeface="Times New Roman"/>
                <a:cs typeface="Times New Roman"/>
              </a:rPr>
              <a:t>:</a:t>
            </a:r>
            <a:endParaRPr sz="1995" dirty="0">
              <a:latin typeface="Times New Roman"/>
              <a:cs typeface="Times New Roman"/>
            </a:endParaRPr>
          </a:p>
          <a:p>
            <a:pPr algn="just">
              <a:spcBef>
                <a:spcPts val="14"/>
              </a:spcBef>
            </a:pPr>
            <a:endParaRPr sz="2040" dirty="0">
              <a:latin typeface="Times New Roman"/>
              <a:cs typeface="Times New Roman"/>
            </a:endParaRPr>
          </a:p>
          <a:p>
            <a:pPr marL="11516" marR="803266" algn="just">
              <a:lnSpc>
                <a:spcPts val="2294"/>
              </a:lnSpc>
              <a:buAutoNum type="arabicParenR"/>
              <a:tabLst>
                <a:tab pos="286757" algn="l"/>
              </a:tabLst>
            </a:pPr>
            <a:r>
              <a:rPr lang="es-ES" sz="1995" spc="-5" dirty="0">
                <a:latin typeface="Calibri cuerpo"/>
                <a:cs typeface="Times New Roman"/>
              </a:rPr>
              <a:t> </a:t>
            </a:r>
            <a:r>
              <a:rPr sz="1995" b="1" spc="-5" dirty="0">
                <a:latin typeface="Calibri cuerpo"/>
                <a:cs typeface="Times New Roman"/>
              </a:rPr>
              <a:t>El</a:t>
            </a:r>
            <a:r>
              <a:rPr sz="1995" b="1" dirty="0">
                <a:latin typeface="Calibri cuerpo"/>
                <a:cs typeface="Times New Roman"/>
              </a:rPr>
              <a:t> </a:t>
            </a:r>
            <a:r>
              <a:rPr sz="1995" b="1" spc="-5" dirty="0">
                <a:latin typeface="Calibri cuerpo"/>
                <a:cs typeface="Times New Roman"/>
              </a:rPr>
              <a:t>learning</a:t>
            </a:r>
            <a:r>
              <a:rPr sz="1995" b="1" dirty="0">
                <a:latin typeface="Calibri cuerpo"/>
                <a:cs typeface="Times New Roman"/>
              </a:rPr>
              <a:t> </a:t>
            </a:r>
            <a:r>
              <a:rPr sz="1995" b="1" spc="-5" dirty="0">
                <a:latin typeface="Calibri cuerpo"/>
                <a:cs typeface="Times New Roman"/>
              </a:rPr>
              <a:t>rate</a:t>
            </a:r>
            <a:r>
              <a:rPr sz="1995" b="1" spc="5" dirty="0">
                <a:latin typeface="Calibri cuerpo"/>
                <a:cs typeface="Times New Roman"/>
              </a:rPr>
              <a:t> </a:t>
            </a:r>
            <a:r>
              <a:rPr sz="1995" b="1" spc="-5" dirty="0">
                <a:latin typeface="Calibri cuerpo"/>
                <a:cs typeface="Times New Roman"/>
              </a:rPr>
              <a:t>ε</a:t>
            </a:r>
            <a:r>
              <a:rPr sz="1995" b="1" spc="5" dirty="0">
                <a:latin typeface="Calibri cuerpo"/>
                <a:cs typeface="Times New Roman"/>
              </a:rPr>
              <a:t> </a:t>
            </a:r>
            <a:r>
              <a:rPr sz="1995" b="1" spc="-5" dirty="0">
                <a:latin typeface="Calibri cuerpo"/>
                <a:cs typeface="Times New Roman"/>
              </a:rPr>
              <a:t>refleja</a:t>
            </a:r>
            <a:r>
              <a:rPr sz="1995" b="1" spc="9" dirty="0">
                <a:latin typeface="Calibri cuerpo"/>
                <a:cs typeface="Times New Roman"/>
              </a:rPr>
              <a:t> </a:t>
            </a:r>
            <a:r>
              <a:rPr sz="1995" b="1" spc="-5" dirty="0">
                <a:latin typeface="Calibri cuerpo"/>
                <a:cs typeface="Times New Roman"/>
              </a:rPr>
              <a:t>en</a:t>
            </a:r>
            <a:r>
              <a:rPr sz="1995" b="1" spc="5" dirty="0">
                <a:latin typeface="Calibri cuerpo"/>
                <a:cs typeface="Times New Roman"/>
              </a:rPr>
              <a:t> </a:t>
            </a:r>
            <a:r>
              <a:rPr sz="1995" b="1" spc="-5" dirty="0">
                <a:latin typeface="Calibri cuerpo"/>
                <a:cs typeface="Times New Roman"/>
              </a:rPr>
              <a:t>qué</a:t>
            </a:r>
            <a:r>
              <a:rPr sz="1995" b="1" dirty="0">
                <a:latin typeface="Calibri cuerpo"/>
                <a:cs typeface="Times New Roman"/>
              </a:rPr>
              <a:t> </a:t>
            </a:r>
            <a:r>
              <a:rPr sz="1995" b="1" spc="-5" dirty="0">
                <a:latin typeface="Calibri cuerpo"/>
                <a:cs typeface="Times New Roman"/>
              </a:rPr>
              <a:t>medida</a:t>
            </a:r>
            <a:r>
              <a:rPr sz="1995" b="1" dirty="0">
                <a:latin typeface="Calibri cuerpo"/>
                <a:cs typeface="Times New Roman"/>
              </a:rPr>
              <a:t> </a:t>
            </a:r>
            <a:r>
              <a:rPr sz="1995" b="1" spc="-5" dirty="0">
                <a:latin typeface="Calibri cuerpo"/>
                <a:cs typeface="Times New Roman"/>
              </a:rPr>
              <a:t>vamos</a:t>
            </a:r>
            <a:r>
              <a:rPr sz="1995" b="1" spc="5" dirty="0">
                <a:latin typeface="Calibri cuerpo"/>
                <a:cs typeface="Times New Roman"/>
              </a:rPr>
              <a:t> </a:t>
            </a:r>
            <a:r>
              <a:rPr sz="1995" b="1" spc="-5" dirty="0">
                <a:latin typeface="Calibri cuerpo"/>
                <a:cs typeface="Times New Roman"/>
              </a:rPr>
              <a:t>a</a:t>
            </a:r>
            <a:r>
              <a:rPr sz="1995" b="1" dirty="0">
                <a:latin typeface="Calibri cuerpo"/>
                <a:cs typeface="Times New Roman"/>
              </a:rPr>
              <a:t> </a:t>
            </a:r>
            <a:r>
              <a:rPr sz="1995" b="1" spc="-5" dirty="0">
                <a:latin typeface="Calibri cuerpo"/>
                <a:cs typeface="Times New Roman"/>
              </a:rPr>
              <a:t>cambiar</a:t>
            </a:r>
            <a:r>
              <a:rPr sz="1995" b="1" dirty="0">
                <a:latin typeface="Calibri cuerpo"/>
                <a:cs typeface="Times New Roman"/>
              </a:rPr>
              <a:t> los</a:t>
            </a:r>
            <a:r>
              <a:rPr sz="1995" b="1" spc="5" dirty="0">
                <a:latin typeface="Calibri cuerpo"/>
                <a:cs typeface="Times New Roman"/>
              </a:rPr>
              <a:t> </a:t>
            </a:r>
            <a:r>
              <a:rPr sz="1995" b="1" spc="-5" dirty="0">
                <a:latin typeface="Calibri cuerpo"/>
                <a:cs typeface="Times New Roman"/>
              </a:rPr>
              <a:t>pesos</a:t>
            </a:r>
            <a:r>
              <a:rPr sz="1995" b="1" spc="5" dirty="0">
                <a:latin typeface="Calibri cuerpo"/>
                <a:cs typeface="Times New Roman"/>
              </a:rPr>
              <a:t> </a:t>
            </a:r>
            <a:r>
              <a:rPr sz="1995" b="1" i="1" spc="-5" dirty="0" err="1">
                <a:latin typeface="Calibri cuerpo"/>
                <a:cs typeface="Times New Roman"/>
              </a:rPr>
              <a:t>w</a:t>
            </a:r>
            <a:r>
              <a:rPr sz="1995" b="1" i="1" spc="-5" baseline="-25000" dirty="0" err="1">
                <a:latin typeface="Calibri cuerpo"/>
                <a:cs typeface="Times New Roman"/>
              </a:rPr>
              <a:t>ij</a:t>
            </a:r>
            <a:r>
              <a:rPr sz="1995" b="1" dirty="0">
                <a:latin typeface="Calibri cuerpo"/>
                <a:cs typeface="Times New Roman"/>
              </a:rPr>
              <a:t> </a:t>
            </a:r>
            <a:r>
              <a:rPr sz="1995" b="1" spc="-5" dirty="0" err="1" smtClean="0">
                <a:latin typeface="Calibri cuerpo"/>
                <a:cs typeface="Times New Roman"/>
              </a:rPr>
              <a:t>en</a:t>
            </a:r>
            <a:r>
              <a:rPr sz="1995" b="1" spc="5" dirty="0" smtClean="0">
                <a:latin typeface="Calibri cuerpo"/>
                <a:cs typeface="Times New Roman"/>
              </a:rPr>
              <a:t> </a:t>
            </a:r>
            <a:r>
              <a:rPr sz="1995" b="1" spc="-5" dirty="0" err="1">
                <a:latin typeface="Calibri cuerpo"/>
                <a:cs typeface="Times New Roman"/>
              </a:rPr>
              <a:t>cada</a:t>
            </a:r>
            <a:r>
              <a:rPr sz="1995" b="1" spc="-5" dirty="0">
                <a:latin typeface="Calibri cuerpo"/>
                <a:cs typeface="Times New Roman"/>
              </a:rPr>
              <a:t> </a:t>
            </a:r>
            <a:r>
              <a:rPr sz="1995" b="1" spc="-485" dirty="0">
                <a:latin typeface="Calibri cuerpo"/>
                <a:cs typeface="Times New Roman"/>
              </a:rPr>
              <a:t> </a:t>
            </a:r>
            <a:r>
              <a:rPr lang="es-ES" sz="1995" b="1" spc="-485" dirty="0">
                <a:latin typeface="Calibri cuerpo"/>
                <a:cs typeface="Times New Roman"/>
              </a:rPr>
              <a:t> </a:t>
            </a:r>
            <a:r>
              <a:rPr sz="1995" b="1" spc="-5" dirty="0" err="1">
                <a:latin typeface="Calibri cuerpo"/>
                <a:cs typeface="Times New Roman"/>
              </a:rPr>
              <a:t>iteración</a:t>
            </a:r>
            <a:r>
              <a:rPr lang="es-ES" sz="1995" b="1" spc="-5" dirty="0">
                <a:latin typeface="Calibri cuerpo"/>
                <a:cs typeface="Times New Roman"/>
              </a:rPr>
              <a:t> </a:t>
            </a:r>
            <a:r>
              <a:rPr lang="es-ES" sz="1995" spc="-5" dirty="0">
                <a:latin typeface="Calibri cuerpo"/>
                <a:cs typeface="Times New Roman"/>
              </a:rPr>
              <a:t>(interesa que sea pequeño)</a:t>
            </a:r>
            <a:r>
              <a:rPr sz="1995" spc="-5" dirty="0">
                <a:latin typeface="Calibri cuerpo"/>
                <a:cs typeface="Times New Roman"/>
              </a:rPr>
              <a:t>:</a:t>
            </a:r>
            <a:endParaRPr sz="1995" dirty="0">
              <a:latin typeface="Calibri cuerpo"/>
              <a:cs typeface="Times New Roman"/>
            </a:endParaRPr>
          </a:p>
          <a:p>
            <a:pPr marL="678889" lvl="1" indent="-260270" algn="just">
              <a:lnSpc>
                <a:spcPts val="2176"/>
              </a:lnSpc>
              <a:buAutoNum type="alphaLcParenR"/>
              <a:tabLst>
                <a:tab pos="679465" algn="l"/>
                <a:tab pos="3093869" algn="l"/>
                <a:tab pos="4457407" algn="l"/>
              </a:tabLst>
            </a:pPr>
            <a:r>
              <a:rPr lang="es-ES" sz="1995" spc="-5" dirty="0">
                <a:latin typeface="Calibri cuerpo"/>
                <a:cs typeface="Times New Roman"/>
              </a:rPr>
              <a:t>L</a:t>
            </a:r>
            <a:r>
              <a:rPr sz="1995" spc="-5" dirty="0">
                <a:latin typeface="Calibri cuerpo"/>
                <a:cs typeface="Times New Roman"/>
              </a:rPr>
              <a:t>earning</a:t>
            </a:r>
            <a:r>
              <a:rPr sz="1995" spc="18" dirty="0">
                <a:latin typeface="Calibri cuerpo"/>
                <a:cs typeface="Times New Roman"/>
              </a:rPr>
              <a:t> </a:t>
            </a:r>
            <a:r>
              <a:rPr sz="1995" spc="-5" dirty="0">
                <a:latin typeface="Calibri cuerpo"/>
                <a:cs typeface="Times New Roman"/>
              </a:rPr>
              <a:t>rate</a:t>
            </a:r>
            <a:r>
              <a:rPr sz="1995" spc="23" dirty="0">
                <a:latin typeface="Calibri cuerpo"/>
                <a:cs typeface="Times New Roman"/>
              </a:rPr>
              <a:t> </a:t>
            </a:r>
            <a:r>
              <a:rPr sz="1995" spc="-9" dirty="0" err="1">
                <a:latin typeface="Calibri cuerpo"/>
                <a:cs typeface="Times New Roman"/>
              </a:rPr>
              <a:t>muy</a:t>
            </a:r>
            <a:r>
              <a:rPr sz="1995" spc="36" dirty="0">
                <a:latin typeface="Calibri cuerpo"/>
                <a:cs typeface="Times New Roman"/>
              </a:rPr>
              <a:t> </a:t>
            </a:r>
            <a:r>
              <a:rPr sz="1995" spc="-5" dirty="0" err="1" smtClean="0">
                <a:latin typeface="Calibri cuerpo"/>
                <a:cs typeface="Times New Roman"/>
              </a:rPr>
              <a:t>bajo</a:t>
            </a:r>
            <a:r>
              <a:rPr lang="es-ES" sz="1995" spc="-5" dirty="0" smtClean="0">
                <a:latin typeface="Calibri cuerpo"/>
                <a:cs typeface="Times New Roman"/>
              </a:rPr>
              <a:t> </a:t>
            </a:r>
            <a:r>
              <a:rPr sz="1995" spc="-5" dirty="0" smtClean="0">
                <a:latin typeface="Calibri cuerpo"/>
                <a:cs typeface="Times New Roman"/>
              </a:rPr>
              <a:t>(</a:t>
            </a:r>
            <a:r>
              <a:rPr sz="1995" spc="-5" dirty="0" err="1" smtClean="0">
                <a:latin typeface="Calibri cuerpo"/>
                <a:cs typeface="Times New Roman"/>
              </a:rPr>
              <a:t>p.ej</a:t>
            </a:r>
            <a:r>
              <a:rPr sz="1995" spc="-5" dirty="0">
                <a:latin typeface="Calibri cuerpo"/>
                <a:cs typeface="Times New Roman"/>
              </a:rPr>
              <a:t>.</a:t>
            </a:r>
            <a:r>
              <a:rPr sz="1995" spc="9" dirty="0">
                <a:latin typeface="Calibri cuerpo"/>
                <a:cs typeface="Times New Roman"/>
              </a:rPr>
              <a:t> </a:t>
            </a:r>
            <a:r>
              <a:rPr sz="1995" spc="-5" dirty="0" smtClean="0">
                <a:latin typeface="Calibri cuerpo"/>
                <a:cs typeface="Times New Roman"/>
              </a:rPr>
              <a:t>0.001)</a:t>
            </a:r>
            <a:r>
              <a:rPr lang="es-ES" sz="1995" spc="-5" dirty="0" smtClean="0">
                <a:latin typeface="Calibri cuerpo"/>
                <a:cs typeface="Times New Roman"/>
              </a:rPr>
              <a:t> </a:t>
            </a:r>
            <a:r>
              <a:rPr sz="1995" spc="-9" dirty="0" err="1" smtClean="0">
                <a:latin typeface="Calibri cuerpo"/>
                <a:cs typeface="Times New Roman"/>
              </a:rPr>
              <a:t>hace</a:t>
            </a:r>
            <a:r>
              <a:rPr sz="1995" spc="-9" dirty="0" smtClean="0">
                <a:latin typeface="Calibri cuerpo"/>
                <a:cs typeface="Times New Roman"/>
              </a:rPr>
              <a:t> </a:t>
            </a:r>
            <a:r>
              <a:rPr sz="1995" spc="-5" dirty="0">
                <a:latin typeface="Calibri cuerpo"/>
                <a:cs typeface="Times New Roman"/>
              </a:rPr>
              <a:t>que</a:t>
            </a:r>
            <a:r>
              <a:rPr sz="1995" dirty="0">
                <a:latin typeface="Calibri cuerpo"/>
                <a:cs typeface="Times New Roman"/>
              </a:rPr>
              <a:t> </a:t>
            </a:r>
            <a:r>
              <a:rPr sz="1995" spc="-5" dirty="0">
                <a:latin typeface="Calibri cuerpo"/>
                <a:cs typeface="Times New Roman"/>
              </a:rPr>
              <a:t>el</a:t>
            </a:r>
            <a:r>
              <a:rPr sz="1995" dirty="0">
                <a:latin typeface="Calibri cuerpo"/>
                <a:cs typeface="Times New Roman"/>
              </a:rPr>
              <a:t> </a:t>
            </a:r>
            <a:r>
              <a:rPr sz="1995" spc="-5" dirty="0">
                <a:latin typeface="Calibri cuerpo"/>
                <a:cs typeface="Times New Roman"/>
              </a:rPr>
              <a:t>proceso</a:t>
            </a:r>
            <a:r>
              <a:rPr sz="1995" dirty="0">
                <a:latin typeface="Calibri cuerpo"/>
                <a:cs typeface="Times New Roman"/>
              </a:rPr>
              <a:t> </a:t>
            </a:r>
            <a:r>
              <a:rPr sz="1995" spc="-5" dirty="0">
                <a:latin typeface="Calibri cuerpo"/>
                <a:cs typeface="Times New Roman"/>
              </a:rPr>
              <a:t>de</a:t>
            </a:r>
            <a:r>
              <a:rPr sz="1995" dirty="0">
                <a:latin typeface="Calibri cuerpo"/>
                <a:cs typeface="Times New Roman"/>
              </a:rPr>
              <a:t> </a:t>
            </a:r>
            <a:r>
              <a:rPr sz="1995" spc="-5" dirty="0" err="1">
                <a:latin typeface="Calibri cuerpo"/>
                <a:cs typeface="Times New Roman"/>
              </a:rPr>
              <a:t>optimización</a:t>
            </a:r>
            <a:r>
              <a:rPr sz="1995" spc="5" dirty="0">
                <a:latin typeface="Calibri cuerpo"/>
                <a:cs typeface="Times New Roman"/>
              </a:rPr>
              <a:t> </a:t>
            </a:r>
            <a:r>
              <a:rPr sz="1995" spc="-9" dirty="0" smtClean="0">
                <a:latin typeface="Calibri cuerpo"/>
                <a:cs typeface="Times New Roman"/>
              </a:rPr>
              <a:t>sea</a:t>
            </a:r>
            <a:r>
              <a:rPr lang="es-ES" sz="1995" spc="-9" dirty="0" smtClean="0">
                <a:latin typeface="Calibri cuerpo"/>
                <a:cs typeface="Times New Roman"/>
              </a:rPr>
              <a:t> </a:t>
            </a:r>
            <a:r>
              <a:rPr sz="1995" spc="-5" dirty="0" smtClean="0">
                <a:latin typeface="Calibri cuerpo"/>
                <a:cs typeface="Times New Roman"/>
              </a:rPr>
              <a:t>lento</a:t>
            </a:r>
            <a:r>
              <a:rPr sz="1995" spc="-5" dirty="0">
                <a:latin typeface="Calibri cuerpo"/>
                <a:cs typeface="Times New Roman"/>
              </a:rPr>
              <a:t>,</a:t>
            </a:r>
            <a:r>
              <a:rPr sz="1995" spc="5" dirty="0">
                <a:latin typeface="Calibri cuerpo"/>
                <a:cs typeface="Times New Roman"/>
              </a:rPr>
              <a:t> </a:t>
            </a:r>
            <a:r>
              <a:rPr sz="1995" spc="-5" dirty="0">
                <a:latin typeface="Calibri cuerpo"/>
                <a:cs typeface="Times New Roman"/>
              </a:rPr>
              <a:t>y</a:t>
            </a:r>
            <a:r>
              <a:rPr sz="1995" spc="18" dirty="0">
                <a:latin typeface="Calibri cuerpo"/>
                <a:cs typeface="Times New Roman"/>
              </a:rPr>
              <a:t> </a:t>
            </a:r>
            <a:r>
              <a:rPr sz="1995" spc="-5" dirty="0">
                <a:latin typeface="Calibri cuerpo"/>
                <a:cs typeface="Times New Roman"/>
              </a:rPr>
              <a:t>con</a:t>
            </a:r>
            <a:r>
              <a:rPr sz="1995" spc="5" dirty="0">
                <a:latin typeface="Calibri cuerpo"/>
                <a:cs typeface="Times New Roman"/>
              </a:rPr>
              <a:t> </a:t>
            </a:r>
            <a:r>
              <a:rPr sz="1995" spc="-5" dirty="0">
                <a:latin typeface="Calibri cuerpo"/>
                <a:cs typeface="Times New Roman"/>
              </a:rPr>
              <a:t>el</a:t>
            </a:r>
            <a:r>
              <a:rPr sz="1995" spc="9" dirty="0">
                <a:latin typeface="Calibri cuerpo"/>
                <a:cs typeface="Times New Roman"/>
              </a:rPr>
              <a:t> </a:t>
            </a:r>
            <a:r>
              <a:rPr sz="1995" spc="-5" dirty="0">
                <a:latin typeface="Calibri cuerpo"/>
                <a:cs typeface="Times New Roman"/>
              </a:rPr>
              <a:t>peligro</a:t>
            </a:r>
            <a:r>
              <a:rPr sz="1995" spc="14" dirty="0">
                <a:latin typeface="Calibri cuerpo"/>
                <a:cs typeface="Times New Roman"/>
              </a:rPr>
              <a:t> </a:t>
            </a:r>
            <a:r>
              <a:rPr sz="1995" spc="-5" dirty="0">
                <a:latin typeface="Calibri cuerpo"/>
                <a:cs typeface="Times New Roman"/>
              </a:rPr>
              <a:t>de</a:t>
            </a:r>
            <a:r>
              <a:rPr sz="1995" spc="9" dirty="0">
                <a:latin typeface="Calibri cuerpo"/>
                <a:cs typeface="Times New Roman"/>
              </a:rPr>
              <a:t> </a:t>
            </a:r>
            <a:r>
              <a:rPr sz="1995" spc="-5" dirty="0">
                <a:latin typeface="Calibri cuerpo"/>
                <a:cs typeface="Times New Roman"/>
              </a:rPr>
              <a:t>quedarse</a:t>
            </a:r>
            <a:r>
              <a:rPr sz="1995" dirty="0">
                <a:latin typeface="Calibri cuerpo"/>
                <a:cs typeface="Times New Roman"/>
              </a:rPr>
              <a:t> </a:t>
            </a:r>
            <a:r>
              <a:rPr sz="1995" spc="-5" dirty="0">
                <a:latin typeface="Calibri cuerpo"/>
                <a:cs typeface="Times New Roman"/>
              </a:rPr>
              <a:t>enganchado</a:t>
            </a:r>
            <a:r>
              <a:rPr sz="1995" spc="18" dirty="0">
                <a:latin typeface="Calibri cuerpo"/>
                <a:cs typeface="Times New Roman"/>
              </a:rPr>
              <a:t> </a:t>
            </a:r>
            <a:r>
              <a:rPr sz="1995" spc="-5" dirty="0">
                <a:latin typeface="Calibri cuerpo"/>
                <a:cs typeface="Times New Roman"/>
              </a:rPr>
              <a:t>en</a:t>
            </a:r>
            <a:r>
              <a:rPr sz="1995" spc="18" dirty="0">
                <a:latin typeface="Calibri cuerpo"/>
                <a:cs typeface="Times New Roman"/>
              </a:rPr>
              <a:t> </a:t>
            </a:r>
            <a:r>
              <a:rPr sz="1995" spc="-5" dirty="0">
                <a:latin typeface="Calibri cuerpo"/>
                <a:cs typeface="Times New Roman"/>
              </a:rPr>
              <a:t>óptimos</a:t>
            </a:r>
            <a:r>
              <a:rPr sz="1995" spc="5" dirty="0">
                <a:latin typeface="Calibri cuerpo"/>
                <a:cs typeface="Times New Roman"/>
              </a:rPr>
              <a:t> </a:t>
            </a:r>
            <a:r>
              <a:rPr sz="1995" spc="-5" dirty="0">
                <a:latin typeface="Calibri cuerpo"/>
                <a:cs typeface="Times New Roman"/>
              </a:rPr>
              <a:t>locales</a:t>
            </a:r>
            <a:r>
              <a:rPr sz="1995" spc="18" dirty="0">
                <a:latin typeface="Calibri cuerpo"/>
                <a:cs typeface="Times New Roman"/>
              </a:rPr>
              <a:t> </a:t>
            </a:r>
            <a:r>
              <a:rPr sz="1995" spc="-5" dirty="0">
                <a:latin typeface="Calibri cuerpo"/>
                <a:cs typeface="Times New Roman"/>
              </a:rPr>
              <a:t>(el</a:t>
            </a:r>
            <a:r>
              <a:rPr sz="1995" spc="5" dirty="0">
                <a:latin typeface="Calibri cuerpo"/>
                <a:cs typeface="Times New Roman"/>
              </a:rPr>
              <a:t> </a:t>
            </a:r>
            <a:r>
              <a:rPr sz="1995" spc="-5" dirty="0" err="1" smtClean="0">
                <a:latin typeface="Calibri cuerpo"/>
                <a:cs typeface="Times New Roman"/>
              </a:rPr>
              <a:t>entrenamiento</a:t>
            </a:r>
            <a:r>
              <a:rPr sz="1995" spc="-5" dirty="0" smtClean="0">
                <a:latin typeface="Calibri cuerpo"/>
                <a:cs typeface="Times New Roman"/>
              </a:rPr>
              <a:t> </a:t>
            </a:r>
            <a:r>
              <a:rPr sz="1995" spc="-485" dirty="0" smtClean="0">
                <a:latin typeface="Calibri cuerpo"/>
                <a:cs typeface="Times New Roman"/>
              </a:rPr>
              <a:t> </a:t>
            </a:r>
            <a:r>
              <a:rPr sz="1995" spc="-5" dirty="0">
                <a:latin typeface="Calibri cuerpo"/>
                <a:cs typeface="Times New Roman"/>
              </a:rPr>
              <a:t>preliminar</a:t>
            </a:r>
            <a:r>
              <a:rPr sz="1995" spc="-9" dirty="0">
                <a:latin typeface="Calibri cuerpo"/>
                <a:cs typeface="Times New Roman"/>
              </a:rPr>
              <a:t> </a:t>
            </a:r>
            <a:r>
              <a:rPr sz="1995" spc="-5" dirty="0">
                <a:latin typeface="Calibri cuerpo"/>
                <a:cs typeface="Times New Roman"/>
              </a:rPr>
              <a:t>reduce </a:t>
            </a:r>
            <a:r>
              <a:rPr sz="1995" spc="-5" dirty="0" err="1">
                <a:latin typeface="Calibri cuerpo"/>
                <a:cs typeface="Times New Roman"/>
              </a:rPr>
              <a:t>este</a:t>
            </a:r>
            <a:r>
              <a:rPr sz="1995" spc="-5" dirty="0">
                <a:latin typeface="Calibri cuerpo"/>
                <a:cs typeface="Times New Roman"/>
              </a:rPr>
              <a:t> </a:t>
            </a:r>
            <a:r>
              <a:rPr sz="1995" dirty="0" err="1">
                <a:latin typeface="Calibri cuerpo"/>
                <a:cs typeface="Times New Roman"/>
              </a:rPr>
              <a:t>riesgo</a:t>
            </a:r>
            <a:r>
              <a:rPr sz="1995" dirty="0">
                <a:latin typeface="Calibri cuerpo"/>
                <a:cs typeface="Times New Roman"/>
              </a:rPr>
              <a:t>)</a:t>
            </a:r>
            <a:endParaRPr lang="es-ES" sz="1995" dirty="0">
              <a:latin typeface="Calibri cuerpo"/>
              <a:cs typeface="Times New Roman"/>
            </a:endParaRPr>
          </a:p>
          <a:p>
            <a:pPr marL="11516" marR="494052" algn="just">
              <a:lnSpc>
                <a:spcPts val="2294"/>
              </a:lnSpc>
              <a:spcBef>
                <a:spcPts val="109"/>
              </a:spcBef>
            </a:pPr>
            <a:r>
              <a:rPr lang="es-ES" sz="1995" spc="-5" dirty="0">
                <a:latin typeface="Calibri cuerpo"/>
                <a:cs typeface="Times New Roman"/>
              </a:rPr>
              <a:t>      b) </a:t>
            </a:r>
            <a:r>
              <a:rPr sz="1995" spc="-5" dirty="0">
                <a:latin typeface="Calibri cuerpo"/>
                <a:cs typeface="Times New Roman"/>
              </a:rPr>
              <a:t>Learning</a:t>
            </a:r>
            <a:r>
              <a:rPr sz="1995" spc="9" dirty="0">
                <a:latin typeface="Calibri cuerpo"/>
                <a:cs typeface="Times New Roman"/>
              </a:rPr>
              <a:t> </a:t>
            </a:r>
            <a:r>
              <a:rPr sz="1995" spc="-5" dirty="0">
                <a:latin typeface="Calibri cuerpo"/>
                <a:cs typeface="Times New Roman"/>
              </a:rPr>
              <a:t>rate</a:t>
            </a:r>
            <a:r>
              <a:rPr sz="1995" spc="9" dirty="0">
                <a:latin typeface="Calibri cuerpo"/>
                <a:cs typeface="Times New Roman"/>
              </a:rPr>
              <a:t> </a:t>
            </a:r>
            <a:r>
              <a:rPr sz="1995" spc="-9" dirty="0">
                <a:latin typeface="Calibri cuerpo"/>
                <a:cs typeface="Times New Roman"/>
              </a:rPr>
              <a:t>muy</a:t>
            </a:r>
            <a:r>
              <a:rPr sz="1995" spc="23" dirty="0">
                <a:latin typeface="Calibri cuerpo"/>
                <a:cs typeface="Times New Roman"/>
              </a:rPr>
              <a:t> </a:t>
            </a:r>
            <a:r>
              <a:rPr sz="1995" spc="-5" dirty="0">
                <a:latin typeface="Calibri cuerpo"/>
                <a:cs typeface="Times New Roman"/>
              </a:rPr>
              <a:t>alto</a:t>
            </a:r>
            <a:r>
              <a:rPr sz="1995" spc="14" dirty="0">
                <a:latin typeface="Calibri cuerpo"/>
                <a:cs typeface="Times New Roman"/>
              </a:rPr>
              <a:t> </a:t>
            </a:r>
            <a:r>
              <a:rPr sz="1995" spc="-5" dirty="0">
                <a:latin typeface="Calibri cuerpo"/>
                <a:cs typeface="Times New Roman"/>
              </a:rPr>
              <a:t>(p.</a:t>
            </a:r>
            <a:r>
              <a:rPr sz="1995" spc="9" dirty="0">
                <a:latin typeface="Calibri cuerpo"/>
                <a:cs typeface="Times New Roman"/>
              </a:rPr>
              <a:t> </a:t>
            </a:r>
            <a:r>
              <a:rPr sz="1995" dirty="0">
                <a:latin typeface="Calibri cuerpo"/>
                <a:cs typeface="Times New Roman"/>
              </a:rPr>
              <a:t>ej.0.5)</a:t>
            </a:r>
            <a:r>
              <a:rPr sz="1995" spc="-5" dirty="0">
                <a:latin typeface="Calibri cuerpo"/>
                <a:cs typeface="Times New Roman"/>
              </a:rPr>
              <a:t> hace</a:t>
            </a:r>
            <a:r>
              <a:rPr sz="1995" dirty="0">
                <a:latin typeface="Calibri cuerpo"/>
                <a:cs typeface="Times New Roman"/>
              </a:rPr>
              <a:t> </a:t>
            </a:r>
            <a:r>
              <a:rPr sz="1995" spc="-5" dirty="0">
                <a:latin typeface="Calibri cuerpo"/>
                <a:cs typeface="Times New Roman"/>
              </a:rPr>
              <a:t>diverger</a:t>
            </a:r>
            <a:r>
              <a:rPr sz="1995" dirty="0">
                <a:latin typeface="Calibri cuerpo"/>
                <a:cs typeface="Times New Roman"/>
              </a:rPr>
              <a:t> </a:t>
            </a:r>
            <a:r>
              <a:rPr sz="1995" spc="-5" dirty="0">
                <a:latin typeface="Calibri cuerpo"/>
                <a:cs typeface="Times New Roman"/>
              </a:rPr>
              <a:t>demasiado</a:t>
            </a:r>
            <a:r>
              <a:rPr sz="1995" spc="14" dirty="0">
                <a:latin typeface="Calibri cuerpo"/>
                <a:cs typeface="Times New Roman"/>
              </a:rPr>
              <a:t> </a:t>
            </a:r>
            <a:r>
              <a:rPr sz="1995" dirty="0">
                <a:latin typeface="Calibri cuerpo"/>
                <a:cs typeface="Times New Roman"/>
              </a:rPr>
              <a:t>los </a:t>
            </a:r>
            <a:r>
              <a:rPr sz="1995" spc="-5" dirty="0" err="1">
                <a:latin typeface="Calibri cuerpo"/>
                <a:cs typeface="Times New Roman"/>
              </a:rPr>
              <a:t>valores</a:t>
            </a:r>
            <a:r>
              <a:rPr sz="1995" dirty="0">
                <a:latin typeface="Calibri cuerpo"/>
                <a:cs typeface="Times New Roman"/>
              </a:rPr>
              <a:t> </a:t>
            </a:r>
            <a:r>
              <a:rPr lang="es-ES" sz="1995" dirty="0">
                <a:latin typeface="Calibri cuerpo"/>
                <a:cs typeface="Times New Roman"/>
              </a:rPr>
              <a:t>	</a:t>
            </a:r>
            <a:r>
              <a:rPr sz="1995" spc="-5" dirty="0" err="1">
                <a:latin typeface="Calibri cuerpo"/>
                <a:cs typeface="Times New Roman"/>
              </a:rPr>
              <a:t>provocando</a:t>
            </a:r>
            <a:r>
              <a:rPr sz="1995" spc="-5" dirty="0">
                <a:latin typeface="Calibri cuerpo"/>
                <a:cs typeface="Times New Roman"/>
              </a:rPr>
              <a:t> </a:t>
            </a:r>
            <a:r>
              <a:rPr sz="1995" spc="-485" dirty="0">
                <a:latin typeface="Calibri cuerpo"/>
                <a:cs typeface="Times New Roman"/>
              </a:rPr>
              <a:t> </a:t>
            </a:r>
            <a:r>
              <a:rPr sz="1995" spc="-5" dirty="0">
                <a:latin typeface="Calibri cuerpo"/>
                <a:cs typeface="Times New Roman"/>
              </a:rPr>
              <a:t>inconstancia</a:t>
            </a:r>
            <a:r>
              <a:rPr sz="1995" spc="-9" dirty="0">
                <a:latin typeface="Calibri cuerpo"/>
                <a:cs typeface="Times New Roman"/>
              </a:rPr>
              <a:t> </a:t>
            </a:r>
            <a:r>
              <a:rPr sz="1995" spc="-5" dirty="0">
                <a:latin typeface="Calibri cuerpo"/>
                <a:cs typeface="Times New Roman"/>
              </a:rPr>
              <a:t>y</a:t>
            </a:r>
            <a:r>
              <a:rPr sz="1995" spc="14" dirty="0">
                <a:latin typeface="Calibri cuerpo"/>
                <a:cs typeface="Times New Roman"/>
              </a:rPr>
              <a:t> </a:t>
            </a:r>
            <a:r>
              <a:rPr sz="1995" spc="-9" dirty="0">
                <a:latin typeface="Calibri cuerpo"/>
                <a:cs typeface="Times New Roman"/>
              </a:rPr>
              <a:t>mala</a:t>
            </a:r>
            <a:r>
              <a:rPr sz="1995" spc="-5" dirty="0">
                <a:latin typeface="Calibri cuerpo"/>
                <a:cs typeface="Times New Roman"/>
              </a:rPr>
              <a:t> optimización</a:t>
            </a:r>
            <a:endParaRPr sz="1995" dirty="0">
              <a:latin typeface="Calibri cuerpo"/>
              <a:cs typeface="Times New Roman"/>
            </a:endParaRPr>
          </a:p>
          <a:p>
            <a:pPr lvl="1" algn="just">
              <a:spcBef>
                <a:spcPts val="32"/>
              </a:spcBef>
              <a:buClr>
                <a:srgbClr val="FF0000"/>
              </a:buClr>
              <a:buFont typeface="Times New Roman"/>
              <a:buAutoNum type="alphaLcParenR" startAt="2"/>
            </a:pPr>
            <a:endParaRPr sz="1904" dirty="0">
              <a:latin typeface="Calibri cuerpo"/>
              <a:cs typeface="Times New Roman"/>
            </a:endParaRPr>
          </a:p>
          <a:p>
            <a:pPr marL="11516" marR="54127" algn="just">
              <a:lnSpc>
                <a:spcPct val="96000"/>
              </a:lnSpc>
              <a:tabLst>
                <a:tab pos="286757" algn="l"/>
              </a:tabLst>
            </a:pPr>
            <a:r>
              <a:rPr lang="es-ES" sz="1995" spc="-5" dirty="0">
                <a:latin typeface="Calibri cuerpo"/>
                <a:cs typeface="Times New Roman"/>
              </a:rPr>
              <a:t>2) </a:t>
            </a:r>
            <a:r>
              <a:rPr sz="1995" spc="-5" dirty="0">
                <a:latin typeface="Calibri cuerpo"/>
                <a:cs typeface="Times New Roman"/>
              </a:rPr>
              <a:t>El </a:t>
            </a:r>
            <a:r>
              <a:rPr lang="es-ES" sz="1995" b="1" spc="-5" dirty="0" err="1">
                <a:latin typeface="Calibri cuerpo"/>
                <a:cs typeface="Times New Roman"/>
              </a:rPr>
              <a:t>weight</a:t>
            </a:r>
            <a:r>
              <a:rPr lang="es-ES" sz="1995" b="1" spc="-5" dirty="0">
                <a:latin typeface="Calibri cuerpo"/>
                <a:cs typeface="Times New Roman"/>
              </a:rPr>
              <a:t> </a:t>
            </a:r>
            <a:r>
              <a:rPr lang="es-ES" sz="1995" b="1" spc="-5" dirty="0" err="1">
                <a:latin typeface="Calibri cuerpo"/>
                <a:cs typeface="Times New Roman"/>
              </a:rPr>
              <a:t>decay</a:t>
            </a:r>
            <a:r>
              <a:rPr lang="es-ES" sz="1995" b="1" spc="-5" dirty="0">
                <a:latin typeface="Calibri cuerpo"/>
                <a:cs typeface="Times New Roman"/>
              </a:rPr>
              <a:t> </a:t>
            </a:r>
            <a:r>
              <a:rPr lang="es-ES" sz="1995" spc="-5" dirty="0">
                <a:latin typeface="Calibri cuerpo"/>
                <a:cs typeface="Times New Roman"/>
              </a:rPr>
              <a:t>o </a:t>
            </a:r>
            <a:r>
              <a:rPr sz="1995" spc="-5" dirty="0">
                <a:latin typeface="Calibri cuerpo"/>
                <a:cs typeface="Times New Roman"/>
              </a:rPr>
              <a:t>momentum</a:t>
            </a:r>
            <a:r>
              <a:rPr sz="1995" spc="-9" dirty="0">
                <a:latin typeface="Calibri cuerpo"/>
                <a:cs typeface="Times New Roman"/>
              </a:rPr>
              <a:t> </a:t>
            </a:r>
            <a:r>
              <a:rPr sz="1995" dirty="0">
                <a:latin typeface="Calibri cuerpo"/>
                <a:cs typeface="Times New Roman"/>
              </a:rPr>
              <a:t>(&lt;1</a:t>
            </a:r>
            <a:r>
              <a:rPr sz="1995" spc="-5" dirty="0">
                <a:latin typeface="Calibri cuerpo"/>
                <a:cs typeface="Times New Roman"/>
              </a:rPr>
              <a:t> siempre)</a:t>
            </a:r>
            <a:r>
              <a:rPr sz="1995" dirty="0">
                <a:latin typeface="Calibri cuerpo"/>
                <a:cs typeface="Times New Roman"/>
              </a:rPr>
              <a:t> </a:t>
            </a:r>
            <a:r>
              <a:rPr sz="1995" spc="-5" dirty="0">
                <a:latin typeface="Calibri cuerpo"/>
                <a:cs typeface="Times New Roman"/>
              </a:rPr>
              <a:t>hace</a:t>
            </a:r>
            <a:r>
              <a:rPr sz="1995" spc="-9" dirty="0">
                <a:latin typeface="Calibri cuerpo"/>
                <a:cs typeface="Times New Roman"/>
              </a:rPr>
              <a:t> </a:t>
            </a:r>
            <a:r>
              <a:rPr sz="1995" spc="-5" dirty="0">
                <a:latin typeface="Calibri cuerpo"/>
                <a:cs typeface="Times New Roman"/>
              </a:rPr>
              <a:t>que</a:t>
            </a:r>
            <a:r>
              <a:rPr sz="1995" dirty="0">
                <a:latin typeface="Calibri cuerpo"/>
                <a:cs typeface="Times New Roman"/>
              </a:rPr>
              <a:t> en</a:t>
            </a:r>
            <a:r>
              <a:rPr sz="1995" spc="9" dirty="0">
                <a:latin typeface="Calibri cuerpo"/>
                <a:cs typeface="Times New Roman"/>
              </a:rPr>
              <a:t> </a:t>
            </a:r>
            <a:r>
              <a:rPr sz="1995" spc="-5" dirty="0">
                <a:latin typeface="Calibri cuerpo"/>
                <a:cs typeface="Times New Roman"/>
              </a:rPr>
              <a:t>cada iteración</a:t>
            </a:r>
            <a:r>
              <a:rPr sz="1995" spc="9" dirty="0">
                <a:latin typeface="Calibri cuerpo"/>
                <a:cs typeface="Times New Roman"/>
              </a:rPr>
              <a:t> </a:t>
            </a:r>
            <a:r>
              <a:rPr sz="1995" dirty="0">
                <a:latin typeface="Calibri cuerpo"/>
                <a:cs typeface="Times New Roman"/>
              </a:rPr>
              <a:t>del</a:t>
            </a:r>
            <a:r>
              <a:rPr sz="1995" spc="-5" dirty="0">
                <a:latin typeface="Calibri cuerpo"/>
                <a:cs typeface="Times New Roman"/>
              </a:rPr>
              <a:t> </a:t>
            </a:r>
            <a:r>
              <a:rPr lang="es-ES" sz="1995" spc="-5" dirty="0">
                <a:latin typeface="Calibri cuerpo"/>
                <a:cs typeface="Times New Roman"/>
              </a:rPr>
              <a:t>	</a:t>
            </a:r>
            <a:r>
              <a:rPr sz="1995" spc="-5" dirty="0" err="1">
                <a:latin typeface="Calibri cuerpo"/>
                <a:cs typeface="Times New Roman"/>
              </a:rPr>
              <a:t>algoritmo</a:t>
            </a:r>
            <a:r>
              <a:rPr sz="1995" spc="9" dirty="0">
                <a:latin typeface="Calibri cuerpo"/>
                <a:cs typeface="Times New Roman"/>
              </a:rPr>
              <a:t> </a:t>
            </a:r>
            <a:r>
              <a:rPr sz="1995" spc="-5" dirty="0" err="1" smtClean="0">
                <a:latin typeface="Calibri cuerpo"/>
                <a:cs typeface="Times New Roman"/>
              </a:rPr>
              <a:t>los</a:t>
            </a:r>
            <a:r>
              <a:rPr lang="es-ES" sz="1995" dirty="0">
                <a:latin typeface="Calibri cuerpo"/>
                <a:cs typeface="Times New Roman"/>
              </a:rPr>
              <a:t> </a:t>
            </a:r>
            <a:r>
              <a:rPr sz="1995" spc="-5" dirty="0" smtClean="0">
                <a:latin typeface="Calibri cuerpo"/>
                <a:cs typeface="Times New Roman"/>
              </a:rPr>
              <a:t>pesos</a:t>
            </a:r>
            <a:r>
              <a:rPr sz="1995" spc="9" dirty="0" smtClean="0">
                <a:latin typeface="Calibri cuerpo"/>
                <a:cs typeface="Times New Roman"/>
              </a:rPr>
              <a:t> </a:t>
            </a:r>
            <a:r>
              <a:rPr sz="1995" spc="-9" dirty="0" smtClean="0">
                <a:latin typeface="Calibri cuerpo"/>
                <a:cs typeface="Times New Roman"/>
              </a:rPr>
              <a:t>se</a:t>
            </a:r>
            <a:r>
              <a:rPr lang="es-ES" sz="1995" spc="-9" dirty="0" smtClean="0">
                <a:latin typeface="Calibri cuerpo"/>
                <a:cs typeface="Times New Roman"/>
              </a:rPr>
              <a:t> </a:t>
            </a:r>
            <a:r>
              <a:rPr sz="1995" spc="-5" dirty="0" err="1" smtClean="0">
                <a:latin typeface="Calibri cuerpo"/>
                <a:cs typeface="Times New Roman"/>
              </a:rPr>
              <a:t>vayan</a:t>
            </a:r>
            <a:r>
              <a:rPr sz="1995" spc="5" dirty="0" smtClean="0">
                <a:latin typeface="Calibri cuerpo"/>
                <a:cs typeface="Times New Roman"/>
              </a:rPr>
              <a:t> </a:t>
            </a:r>
            <a:r>
              <a:rPr sz="1995" spc="-5" dirty="0">
                <a:latin typeface="Calibri cuerpo"/>
                <a:cs typeface="Times New Roman"/>
              </a:rPr>
              <a:t>cambiando</a:t>
            </a:r>
            <a:r>
              <a:rPr sz="1995" spc="9" dirty="0">
                <a:latin typeface="Calibri cuerpo"/>
                <a:cs typeface="Times New Roman"/>
              </a:rPr>
              <a:t> </a:t>
            </a:r>
            <a:r>
              <a:rPr sz="1995" spc="-5" dirty="0">
                <a:latin typeface="Calibri cuerpo"/>
                <a:cs typeface="Times New Roman"/>
              </a:rPr>
              <a:t>algo</a:t>
            </a:r>
            <a:r>
              <a:rPr sz="1995" spc="5" dirty="0">
                <a:latin typeface="Calibri cuerpo"/>
                <a:cs typeface="Times New Roman"/>
              </a:rPr>
              <a:t> </a:t>
            </a:r>
            <a:r>
              <a:rPr sz="1995" spc="-5" dirty="0">
                <a:latin typeface="Calibri cuerpo"/>
                <a:cs typeface="Times New Roman"/>
              </a:rPr>
              <a:t>menos,</a:t>
            </a:r>
            <a:r>
              <a:rPr sz="1995" dirty="0">
                <a:latin typeface="Calibri cuerpo"/>
                <a:cs typeface="Times New Roman"/>
              </a:rPr>
              <a:t> </a:t>
            </a:r>
            <a:r>
              <a:rPr sz="1995" spc="-5" dirty="0">
                <a:latin typeface="Calibri cuerpo"/>
                <a:cs typeface="Times New Roman"/>
              </a:rPr>
              <a:t>acercándose</a:t>
            </a:r>
            <a:r>
              <a:rPr sz="1995" spc="9" dirty="0">
                <a:latin typeface="Calibri cuerpo"/>
                <a:cs typeface="Times New Roman"/>
              </a:rPr>
              <a:t> </a:t>
            </a:r>
            <a:r>
              <a:rPr sz="1995" spc="-5" dirty="0">
                <a:latin typeface="Calibri cuerpo"/>
                <a:cs typeface="Times New Roman"/>
              </a:rPr>
              <a:t>“</a:t>
            </a:r>
            <a:r>
              <a:rPr sz="1995" spc="-5" dirty="0" smtClean="0">
                <a:latin typeface="Calibri cuerpo"/>
                <a:cs typeface="Times New Roman"/>
              </a:rPr>
              <a:t>con</a:t>
            </a:r>
            <a:r>
              <a:rPr lang="es-ES" sz="1995" spc="5" dirty="0">
                <a:latin typeface="Calibri cuerpo"/>
                <a:cs typeface="Times New Roman"/>
              </a:rPr>
              <a:t> </a:t>
            </a:r>
            <a:r>
              <a:rPr sz="1995" spc="-5" dirty="0" err="1" smtClean="0">
                <a:latin typeface="Calibri cuerpo"/>
                <a:cs typeface="Times New Roman"/>
              </a:rPr>
              <a:t>cuidado</a:t>
            </a:r>
            <a:r>
              <a:rPr sz="1995" spc="-5" dirty="0">
                <a:latin typeface="Calibri cuerpo"/>
                <a:cs typeface="Times New Roman"/>
              </a:rPr>
              <a:t>”</a:t>
            </a:r>
            <a:r>
              <a:rPr sz="1995" spc="5" dirty="0">
                <a:latin typeface="Calibri cuerpo"/>
                <a:cs typeface="Times New Roman"/>
              </a:rPr>
              <a:t> </a:t>
            </a:r>
            <a:r>
              <a:rPr sz="1995" spc="-5" dirty="0">
                <a:latin typeface="Calibri cuerpo"/>
                <a:cs typeface="Times New Roman"/>
              </a:rPr>
              <a:t>al</a:t>
            </a:r>
            <a:r>
              <a:rPr sz="1995" spc="5" dirty="0">
                <a:latin typeface="Calibri cuerpo"/>
                <a:cs typeface="Times New Roman"/>
              </a:rPr>
              <a:t> </a:t>
            </a:r>
            <a:r>
              <a:rPr sz="1995" spc="-5" dirty="0" err="1" smtClean="0">
                <a:latin typeface="Calibri cuerpo"/>
                <a:cs typeface="Times New Roman"/>
              </a:rPr>
              <a:t>mínimo</a:t>
            </a:r>
            <a:r>
              <a:rPr sz="1995" spc="-5" dirty="0">
                <a:latin typeface="Calibri cuerpo"/>
                <a:cs typeface="Times New Roman"/>
              </a:rPr>
              <a:t>,</a:t>
            </a:r>
            <a:r>
              <a:rPr sz="1995" spc="5" dirty="0">
                <a:latin typeface="Calibri cuerpo"/>
                <a:cs typeface="Times New Roman"/>
              </a:rPr>
              <a:t> </a:t>
            </a:r>
            <a:r>
              <a:rPr sz="1995" spc="-5" dirty="0">
                <a:latin typeface="Calibri cuerpo"/>
                <a:cs typeface="Times New Roman"/>
              </a:rPr>
              <a:t>más</a:t>
            </a:r>
            <a:r>
              <a:rPr sz="1995" spc="9" dirty="0">
                <a:latin typeface="Calibri cuerpo"/>
                <a:cs typeface="Times New Roman"/>
              </a:rPr>
              <a:t> </a:t>
            </a:r>
            <a:r>
              <a:rPr sz="1995" spc="-5" dirty="0" err="1">
                <a:latin typeface="Calibri cuerpo"/>
                <a:cs typeface="Times New Roman"/>
              </a:rPr>
              <a:t>despacio</a:t>
            </a:r>
            <a:r>
              <a:rPr sz="1995" dirty="0">
                <a:latin typeface="Calibri cuerpo"/>
                <a:cs typeface="Times New Roman"/>
              </a:rPr>
              <a:t> </a:t>
            </a:r>
            <a:r>
              <a:rPr sz="1995" spc="-5" dirty="0" err="1">
                <a:latin typeface="Calibri cuerpo"/>
                <a:cs typeface="Times New Roman"/>
              </a:rPr>
              <a:t>cada</a:t>
            </a:r>
            <a:r>
              <a:rPr sz="1995" spc="-5" dirty="0">
                <a:latin typeface="Calibri cuerpo"/>
                <a:cs typeface="Times New Roman"/>
              </a:rPr>
              <a:t> </a:t>
            </a:r>
            <a:r>
              <a:rPr sz="1995" spc="-5" dirty="0" err="1" smtClean="0">
                <a:latin typeface="Calibri cuerpo"/>
                <a:cs typeface="Times New Roman"/>
              </a:rPr>
              <a:t>vez</a:t>
            </a:r>
            <a:r>
              <a:rPr sz="1995" spc="-5" dirty="0">
                <a:latin typeface="Calibri cuerpo"/>
                <a:cs typeface="Times New Roman"/>
              </a:rPr>
              <a:t>.</a:t>
            </a:r>
            <a:r>
              <a:rPr sz="1995" dirty="0">
                <a:latin typeface="Calibri cuerpo"/>
                <a:cs typeface="Times New Roman"/>
              </a:rPr>
              <a:t> </a:t>
            </a:r>
            <a:r>
              <a:rPr sz="1995" b="1" spc="-9" dirty="0">
                <a:latin typeface="Calibri cuerpo"/>
                <a:cs typeface="Times New Roman"/>
              </a:rPr>
              <a:t>Medida</a:t>
            </a:r>
            <a:r>
              <a:rPr sz="1995" b="1" dirty="0">
                <a:latin typeface="Calibri cuerpo"/>
                <a:cs typeface="Times New Roman"/>
              </a:rPr>
              <a:t> </a:t>
            </a:r>
            <a:r>
              <a:rPr sz="1995" b="1" spc="-5" dirty="0">
                <a:latin typeface="Calibri cuerpo"/>
                <a:cs typeface="Times New Roman"/>
              </a:rPr>
              <a:t>para</a:t>
            </a:r>
            <a:r>
              <a:rPr sz="1995" b="1" dirty="0">
                <a:latin typeface="Calibri cuerpo"/>
                <a:cs typeface="Times New Roman"/>
              </a:rPr>
              <a:t> </a:t>
            </a:r>
            <a:r>
              <a:rPr sz="1995" b="1" spc="-5" dirty="0">
                <a:latin typeface="Calibri cuerpo"/>
                <a:cs typeface="Times New Roman"/>
              </a:rPr>
              <a:t>limitar</a:t>
            </a:r>
            <a:r>
              <a:rPr sz="1995" b="1" dirty="0">
                <a:latin typeface="Calibri cuerpo"/>
                <a:cs typeface="Times New Roman"/>
              </a:rPr>
              <a:t> </a:t>
            </a:r>
            <a:r>
              <a:rPr sz="1995" b="1" spc="-5" dirty="0">
                <a:latin typeface="Calibri cuerpo"/>
                <a:cs typeface="Times New Roman"/>
              </a:rPr>
              <a:t>el</a:t>
            </a:r>
            <a:r>
              <a:rPr sz="1995" b="1" dirty="0">
                <a:latin typeface="Calibri cuerpo"/>
                <a:cs typeface="Times New Roman"/>
              </a:rPr>
              <a:t> </a:t>
            </a:r>
            <a:r>
              <a:rPr sz="1995" b="1" spc="-5" dirty="0">
                <a:latin typeface="Calibri cuerpo"/>
                <a:cs typeface="Times New Roman"/>
              </a:rPr>
              <a:t>efecto</a:t>
            </a:r>
            <a:r>
              <a:rPr sz="1995" b="1" spc="5" dirty="0">
                <a:latin typeface="Calibri cuerpo"/>
                <a:cs typeface="Times New Roman"/>
              </a:rPr>
              <a:t> </a:t>
            </a:r>
            <a:r>
              <a:rPr sz="1995" b="1" spc="-5" dirty="0">
                <a:latin typeface="Calibri cuerpo"/>
                <a:cs typeface="Times New Roman"/>
              </a:rPr>
              <a:t>de</a:t>
            </a:r>
            <a:r>
              <a:rPr sz="1995" b="1" dirty="0">
                <a:latin typeface="Calibri cuerpo"/>
                <a:cs typeface="Times New Roman"/>
              </a:rPr>
              <a:t> </a:t>
            </a:r>
            <a:r>
              <a:rPr sz="1995" b="1" spc="-5" dirty="0">
                <a:latin typeface="Calibri cuerpo"/>
                <a:cs typeface="Times New Roman"/>
              </a:rPr>
              <a:t>los</a:t>
            </a:r>
            <a:r>
              <a:rPr sz="1995" b="1" spc="5" dirty="0">
                <a:latin typeface="Calibri cuerpo"/>
                <a:cs typeface="Times New Roman"/>
              </a:rPr>
              <a:t> </a:t>
            </a:r>
            <a:r>
              <a:rPr sz="1995" b="1" spc="-5" dirty="0">
                <a:latin typeface="Calibri cuerpo"/>
                <a:cs typeface="Times New Roman"/>
              </a:rPr>
              <a:t>pesos</a:t>
            </a:r>
            <a:r>
              <a:rPr sz="1995" b="1" spc="5" dirty="0">
                <a:latin typeface="Calibri cuerpo"/>
                <a:cs typeface="Times New Roman"/>
              </a:rPr>
              <a:t> </a:t>
            </a:r>
            <a:r>
              <a:rPr sz="1995" b="1" spc="-5" dirty="0">
                <a:latin typeface="Calibri cuerpo"/>
                <a:cs typeface="Times New Roman"/>
              </a:rPr>
              <a:t>altos</a:t>
            </a:r>
            <a:r>
              <a:rPr sz="1995" spc="-5" dirty="0">
                <a:latin typeface="Calibri cuerpo"/>
                <a:cs typeface="Times New Roman"/>
              </a:rPr>
              <a:t>.</a:t>
            </a:r>
            <a:endParaRPr sz="1995" dirty="0">
              <a:latin typeface="Calibri cuerpo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77562" y="1356053"/>
            <a:ext cx="3518252" cy="640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233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42811" y="457776"/>
            <a:ext cx="8807376" cy="5362128"/>
          </a:xfrm>
          <a:prstGeom prst="rect">
            <a:avLst/>
          </a:prstGeom>
        </p:spPr>
        <p:txBody>
          <a:bodyPr vert="horz" wrap="square" lIns="0" tIns="10941" rIns="0" bIns="0" rtlCol="0">
            <a:spAutoFit/>
          </a:bodyPr>
          <a:lstStyle/>
          <a:p>
            <a:pPr marL="11516" algn="just">
              <a:spcBef>
                <a:spcPts val="86"/>
              </a:spcBef>
            </a:pPr>
            <a:r>
              <a:rPr sz="1995" b="1" spc="-9" dirty="0">
                <a:solidFill>
                  <a:srgbClr val="FF0000"/>
                </a:solidFill>
                <a:latin typeface="Times New Roman"/>
                <a:cs typeface="Times New Roman"/>
              </a:rPr>
              <a:t>Nota</a:t>
            </a:r>
            <a:r>
              <a:rPr sz="1995" b="1" spc="-27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95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1</a:t>
            </a:r>
            <a:endParaRPr sz="1995" dirty="0">
              <a:latin typeface="Times New Roman"/>
              <a:cs typeface="Times New Roman"/>
            </a:endParaRPr>
          </a:p>
          <a:p>
            <a:pPr algn="just">
              <a:spcBef>
                <a:spcPts val="45"/>
              </a:spcBef>
            </a:pPr>
            <a:endParaRPr sz="1950" dirty="0">
              <a:latin typeface="Times New Roman"/>
              <a:cs typeface="Times New Roman"/>
            </a:endParaRPr>
          </a:p>
          <a:p>
            <a:pPr marL="11516" marR="181383" algn="just">
              <a:lnSpc>
                <a:spcPct val="95800"/>
              </a:lnSpc>
            </a:pPr>
            <a:r>
              <a:rPr sz="1995" spc="-5" dirty="0">
                <a:latin typeface="Times New Roman"/>
                <a:cs typeface="Times New Roman"/>
              </a:rPr>
              <a:t>La</a:t>
            </a:r>
            <a:r>
              <a:rPr sz="1995" spc="9" dirty="0">
                <a:latin typeface="Times New Roman"/>
                <a:cs typeface="Times New Roman"/>
              </a:rPr>
              <a:t> </a:t>
            </a:r>
            <a:r>
              <a:rPr sz="1995" b="1" spc="-5" dirty="0">
                <a:latin typeface="Times New Roman"/>
                <a:cs typeface="Times New Roman"/>
              </a:rPr>
              <a:t>inicialización</a:t>
            </a:r>
            <a:r>
              <a:rPr sz="1995" b="1" spc="5" dirty="0">
                <a:latin typeface="Times New Roman"/>
                <a:cs typeface="Times New Roman"/>
              </a:rPr>
              <a:t> </a:t>
            </a:r>
            <a:r>
              <a:rPr sz="1995" b="1" spc="-5" dirty="0">
                <a:latin typeface="Times New Roman"/>
                <a:cs typeface="Times New Roman"/>
              </a:rPr>
              <a:t>aleatoria</a:t>
            </a:r>
            <a:r>
              <a:rPr sz="1995" b="1" spc="5" dirty="0">
                <a:latin typeface="Times New Roman"/>
                <a:cs typeface="Times New Roman"/>
              </a:rPr>
              <a:t> </a:t>
            </a:r>
            <a:r>
              <a:rPr sz="1995" b="1" spc="-5" dirty="0">
                <a:latin typeface="Times New Roman"/>
                <a:cs typeface="Times New Roman"/>
              </a:rPr>
              <a:t>de</a:t>
            </a:r>
            <a:r>
              <a:rPr sz="1995" b="1" spc="5" dirty="0">
                <a:latin typeface="Times New Roman"/>
                <a:cs typeface="Times New Roman"/>
              </a:rPr>
              <a:t> </a:t>
            </a:r>
            <a:r>
              <a:rPr sz="1995" b="1" spc="-5" dirty="0">
                <a:latin typeface="Times New Roman"/>
                <a:cs typeface="Times New Roman"/>
              </a:rPr>
              <a:t>los</a:t>
            </a:r>
            <a:r>
              <a:rPr sz="1995" b="1" spc="14" dirty="0">
                <a:latin typeface="Times New Roman"/>
                <a:cs typeface="Times New Roman"/>
              </a:rPr>
              <a:t> </a:t>
            </a:r>
            <a:r>
              <a:rPr sz="1995" b="1" spc="-9" dirty="0">
                <a:latin typeface="Times New Roman"/>
                <a:cs typeface="Times New Roman"/>
              </a:rPr>
              <a:t>pesos</a:t>
            </a:r>
            <a:r>
              <a:rPr sz="1995" b="1" spc="27" dirty="0">
                <a:latin typeface="Times New Roman"/>
                <a:cs typeface="Times New Roman"/>
              </a:rPr>
              <a:t> </a:t>
            </a:r>
            <a:r>
              <a:rPr sz="1995" spc="-5" dirty="0">
                <a:latin typeface="Times New Roman"/>
                <a:cs typeface="Times New Roman"/>
              </a:rPr>
              <a:t>puede</a:t>
            </a:r>
            <a:r>
              <a:rPr sz="1995" spc="9" dirty="0">
                <a:latin typeface="Times New Roman"/>
                <a:cs typeface="Times New Roman"/>
              </a:rPr>
              <a:t> </a:t>
            </a:r>
            <a:r>
              <a:rPr sz="1995" spc="-5" dirty="0">
                <a:latin typeface="Times New Roman"/>
                <a:cs typeface="Times New Roman"/>
              </a:rPr>
              <a:t>tener</a:t>
            </a:r>
            <a:r>
              <a:rPr sz="1995" spc="5" dirty="0">
                <a:latin typeface="Times New Roman"/>
                <a:cs typeface="Times New Roman"/>
              </a:rPr>
              <a:t> </a:t>
            </a:r>
            <a:r>
              <a:rPr sz="1995" spc="-5" dirty="0">
                <a:latin typeface="Times New Roman"/>
                <a:cs typeface="Times New Roman"/>
              </a:rPr>
              <a:t>gran</a:t>
            </a:r>
            <a:r>
              <a:rPr sz="1995" spc="9" dirty="0">
                <a:latin typeface="Times New Roman"/>
                <a:cs typeface="Times New Roman"/>
              </a:rPr>
              <a:t> </a:t>
            </a:r>
            <a:r>
              <a:rPr sz="1995" spc="-5" dirty="0">
                <a:latin typeface="Times New Roman"/>
                <a:cs typeface="Times New Roman"/>
              </a:rPr>
              <a:t>influencia</a:t>
            </a:r>
            <a:r>
              <a:rPr sz="1995" spc="9" dirty="0">
                <a:latin typeface="Times New Roman"/>
                <a:cs typeface="Times New Roman"/>
              </a:rPr>
              <a:t> </a:t>
            </a:r>
            <a:r>
              <a:rPr sz="1995" spc="-5" dirty="0">
                <a:latin typeface="Times New Roman"/>
                <a:cs typeface="Times New Roman"/>
              </a:rPr>
              <a:t>en</a:t>
            </a:r>
            <a:r>
              <a:rPr sz="1995" spc="9" dirty="0">
                <a:latin typeface="Times New Roman"/>
                <a:cs typeface="Times New Roman"/>
              </a:rPr>
              <a:t> </a:t>
            </a:r>
            <a:r>
              <a:rPr sz="1995" spc="-5" dirty="0">
                <a:latin typeface="Times New Roman"/>
                <a:cs typeface="Times New Roman"/>
              </a:rPr>
              <a:t>los</a:t>
            </a:r>
            <a:r>
              <a:rPr sz="1995" spc="9" dirty="0">
                <a:latin typeface="Times New Roman"/>
                <a:cs typeface="Times New Roman"/>
              </a:rPr>
              <a:t> </a:t>
            </a:r>
            <a:r>
              <a:rPr sz="1995" spc="-5" dirty="0">
                <a:latin typeface="Times New Roman"/>
                <a:cs typeface="Times New Roman"/>
              </a:rPr>
              <a:t>resultados, </a:t>
            </a:r>
            <a:r>
              <a:rPr sz="1995" dirty="0">
                <a:latin typeface="Times New Roman"/>
                <a:cs typeface="Times New Roman"/>
              </a:rPr>
              <a:t> </a:t>
            </a:r>
            <a:r>
              <a:rPr sz="1995" spc="-5" dirty="0">
                <a:latin typeface="Times New Roman"/>
                <a:cs typeface="Times New Roman"/>
              </a:rPr>
              <a:t>cambiando</a:t>
            </a:r>
            <a:r>
              <a:rPr sz="1995" spc="18" dirty="0">
                <a:latin typeface="Times New Roman"/>
                <a:cs typeface="Times New Roman"/>
              </a:rPr>
              <a:t> </a:t>
            </a:r>
            <a:r>
              <a:rPr sz="1995" spc="-5" dirty="0">
                <a:latin typeface="Times New Roman"/>
                <a:cs typeface="Times New Roman"/>
              </a:rPr>
              <a:t>mucho</a:t>
            </a:r>
            <a:r>
              <a:rPr sz="1995" spc="23" dirty="0">
                <a:latin typeface="Times New Roman"/>
                <a:cs typeface="Times New Roman"/>
              </a:rPr>
              <a:t> </a:t>
            </a:r>
            <a:r>
              <a:rPr sz="1995" spc="-5" dirty="0">
                <a:latin typeface="Times New Roman"/>
                <a:cs typeface="Times New Roman"/>
              </a:rPr>
              <a:t>los</a:t>
            </a:r>
            <a:r>
              <a:rPr sz="1995" dirty="0">
                <a:latin typeface="Times New Roman"/>
                <a:cs typeface="Times New Roman"/>
              </a:rPr>
              <a:t> </a:t>
            </a:r>
            <a:r>
              <a:rPr sz="1995" spc="-5" dirty="0">
                <a:latin typeface="Times New Roman"/>
                <a:cs typeface="Times New Roman"/>
              </a:rPr>
              <a:t>parámetros</a:t>
            </a:r>
            <a:r>
              <a:rPr sz="1995" dirty="0">
                <a:latin typeface="Times New Roman"/>
                <a:cs typeface="Times New Roman"/>
              </a:rPr>
              <a:t> </a:t>
            </a:r>
            <a:r>
              <a:rPr sz="1995" spc="-5" dirty="0">
                <a:latin typeface="Times New Roman"/>
                <a:cs typeface="Times New Roman"/>
              </a:rPr>
              <a:t>finales de</a:t>
            </a:r>
            <a:r>
              <a:rPr sz="1995" spc="23" dirty="0">
                <a:latin typeface="Times New Roman"/>
                <a:cs typeface="Times New Roman"/>
              </a:rPr>
              <a:t> </a:t>
            </a:r>
            <a:r>
              <a:rPr sz="1995" spc="-5" dirty="0">
                <a:latin typeface="Times New Roman"/>
                <a:cs typeface="Times New Roman"/>
              </a:rPr>
              <a:t>la red,</a:t>
            </a:r>
            <a:r>
              <a:rPr sz="1995" spc="9" dirty="0">
                <a:latin typeface="Times New Roman"/>
                <a:cs typeface="Times New Roman"/>
              </a:rPr>
              <a:t> </a:t>
            </a:r>
            <a:r>
              <a:rPr sz="1995" spc="-5" dirty="0">
                <a:latin typeface="Times New Roman"/>
                <a:cs typeface="Times New Roman"/>
              </a:rPr>
              <a:t>si</a:t>
            </a:r>
            <a:r>
              <a:rPr sz="1995" dirty="0">
                <a:latin typeface="Times New Roman"/>
                <a:cs typeface="Times New Roman"/>
              </a:rPr>
              <a:t> </a:t>
            </a:r>
            <a:r>
              <a:rPr sz="1995" spc="-5" dirty="0">
                <a:latin typeface="Times New Roman"/>
                <a:cs typeface="Times New Roman"/>
              </a:rPr>
              <a:t>ésta</a:t>
            </a:r>
            <a:r>
              <a:rPr sz="1995" dirty="0">
                <a:latin typeface="Times New Roman"/>
                <a:cs typeface="Times New Roman"/>
              </a:rPr>
              <a:t> </a:t>
            </a:r>
            <a:r>
              <a:rPr sz="1995" spc="-5" dirty="0">
                <a:latin typeface="Times New Roman"/>
                <a:cs typeface="Times New Roman"/>
              </a:rPr>
              <a:t>no</a:t>
            </a:r>
            <a:r>
              <a:rPr sz="1995" spc="9" dirty="0">
                <a:latin typeface="Times New Roman"/>
                <a:cs typeface="Times New Roman"/>
              </a:rPr>
              <a:t> </a:t>
            </a:r>
            <a:r>
              <a:rPr sz="1995" spc="-5" dirty="0">
                <a:latin typeface="Times New Roman"/>
                <a:cs typeface="Times New Roman"/>
              </a:rPr>
              <a:t>está </a:t>
            </a:r>
            <a:r>
              <a:rPr sz="1995" dirty="0">
                <a:latin typeface="Times New Roman"/>
                <a:cs typeface="Times New Roman"/>
              </a:rPr>
              <a:t>bien</a:t>
            </a:r>
            <a:r>
              <a:rPr sz="1995" spc="5" dirty="0">
                <a:latin typeface="Times New Roman"/>
                <a:cs typeface="Times New Roman"/>
              </a:rPr>
              <a:t> </a:t>
            </a:r>
            <a:r>
              <a:rPr sz="1995" spc="-5" dirty="0">
                <a:latin typeface="Times New Roman"/>
                <a:cs typeface="Times New Roman"/>
              </a:rPr>
              <a:t>calibrada</a:t>
            </a:r>
            <a:r>
              <a:rPr sz="1995" dirty="0">
                <a:latin typeface="Times New Roman"/>
                <a:cs typeface="Times New Roman"/>
              </a:rPr>
              <a:t> </a:t>
            </a:r>
            <a:r>
              <a:rPr sz="1995" spc="-5" dirty="0">
                <a:latin typeface="Times New Roman"/>
                <a:cs typeface="Times New Roman"/>
              </a:rPr>
              <a:t>o</a:t>
            </a:r>
            <a:r>
              <a:rPr sz="1995" spc="9" dirty="0">
                <a:latin typeface="Times New Roman"/>
                <a:cs typeface="Times New Roman"/>
              </a:rPr>
              <a:t> </a:t>
            </a:r>
            <a:r>
              <a:rPr sz="1995" spc="-5" dirty="0">
                <a:latin typeface="Times New Roman"/>
                <a:cs typeface="Times New Roman"/>
              </a:rPr>
              <a:t>el </a:t>
            </a:r>
            <a:r>
              <a:rPr sz="1995" dirty="0">
                <a:latin typeface="Times New Roman"/>
                <a:cs typeface="Times New Roman"/>
              </a:rPr>
              <a:t> </a:t>
            </a:r>
            <a:r>
              <a:rPr sz="1995" spc="-5" dirty="0">
                <a:latin typeface="Times New Roman"/>
                <a:cs typeface="Times New Roman"/>
              </a:rPr>
              <a:t>programa de</a:t>
            </a:r>
            <a:r>
              <a:rPr sz="1995" dirty="0">
                <a:latin typeface="Times New Roman"/>
                <a:cs typeface="Times New Roman"/>
              </a:rPr>
              <a:t> </a:t>
            </a:r>
            <a:r>
              <a:rPr sz="1995" spc="-5" dirty="0">
                <a:latin typeface="Times New Roman"/>
                <a:cs typeface="Times New Roman"/>
              </a:rPr>
              <a:t>optimización</a:t>
            </a:r>
            <a:r>
              <a:rPr sz="1995" spc="5" dirty="0">
                <a:latin typeface="Times New Roman"/>
                <a:cs typeface="Times New Roman"/>
              </a:rPr>
              <a:t> </a:t>
            </a:r>
            <a:r>
              <a:rPr sz="1995" dirty="0">
                <a:latin typeface="Times New Roman"/>
                <a:cs typeface="Times New Roman"/>
              </a:rPr>
              <a:t>no</a:t>
            </a:r>
            <a:r>
              <a:rPr sz="1995" spc="9" dirty="0">
                <a:latin typeface="Times New Roman"/>
                <a:cs typeface="Times New Roman"/>
              </a:rPr>
              <a:t> </a:t>
            </a:r>
            <a:r>
              <a:rPr sz="1995" spc="-5" dirty="0">
                <a:latin typeface="Times New Roman"/>
                <a:cs typeface="Times New Roman"/>
              </a:rPr>
              <a:t>es</a:t>
            </a:r>
            <a:r>
              <a:rPr sz="1995" dirty="0">
                <a:latin typeface="Times New Roman"/>
                <a:cs typeface="Times New Roman"/>
              </a:rPr>
              <a:t> </a:t>
            </a:r>
            <a:r>
              <a:rPr sz="1995" spc="-5" dirty="0">
                <a:latin typeface="Times New Roman"/>
                <a:cs typeface="Times New Roman"/>
              </a:rPr>
              <a:t>demasiado</a:t>
            </a:r>
            <a:r>
              <a:rPr sz="1995" spc="9" dirty="0">
                <a:latin typeface="Times New Roman"/>
                <a:cs typeface="Times New Roman"/>
              </a:rPr>
              <a:t> </a:t>
            </a:r>
            <a:r>
              <a:rPr sz="1995" spc="-5" dirty="0">
                <a:latin typeface="Times New Roman"/>
                <a:cs typeface="Times New Roman"/>
              </a:rPr>
              <a:t>fino.</a:t>
            </a:r>
            <a:r>
              <a:rPr sz="1995" spc="9" dirty="0">
                <a:latin typeface="Times New Roman"/>
                <a:cs typeface="Times New Roman"/>
              </a:rPr>
              <a:t> </a:t>
            </a:r>
            <a:r>
              <a:rPr sz="1995" dirty="0">
                <a:latin typeface="Times New Roman"/>
                <a:cs typeface="Times New Roman"/>
              </a:rPr>
              <a:t>(</a:t>
            </a:r>
            <a:r>
              <a:rPr sz="1995" b="1" dirty="0">
                <a:latin typeface="Times New Roman"/>
                <a:cs typeface="Times New Roman"/>
              </a:rPr>
              <a:t>probar </a:t>
            </a:r>
            <a:r>
              <a:rPr sz="1995" b="1" spc="-5" dirty="0">
                <a:latin typeface="Times New Roman"/>
                <a:cs typeface="Times New Roman"/>
              </a:rPr>
              <a:t>a</a:t>
            </a:r>
            <a:r>
              <a:rPr sz="1995" b="1" spc="9" dirty="0">
                <a:latin typeface="Times New Roman"/>
                <a:cs typeface="Times New Roman"/>
              </a:rPr>
              <a:t> </a:t>
            </a:r>
            <a:r>
              <a:rPr sz="1995" b="1" spc="-5" dirty="0">
                <a:latin typeface="Times New Roman"/>
                <a:cs typeface="Times New Roman"/>
              </a:rPr>
              <a:t>variar la</a:t>
            </a:r>
            <a:r>
              <a:rPr sz="1995" b="1" spc="9" dirty="0">
                <a:latin typeface="Times New Roman"/>
                <a:cs typeface="Times New Roman"/>
              </a:rPr>
              <a:t> </a:t>
            </a:r>
            <a:r>
              <a:rPr sz="1995" b="1" spc="-5" dirty="0">
                <a:latin typeface="Times New Roman"/>
                <a:cs typeface="Times New Roman"/>
              </a:rPr>
              <a:t>semilla</a:t>
            </a:r>
            <a:r>
              <a:rPr sz="1995" b="1" spc="9" dirty="0">
                <a:latin typeface="Times New Roman"/>
                <a:cs typeface="Times New Roman"/>
              </a:rPr>
              <a:t> </a:t>
            </a:r>
            <a:r>
              <a:rPr sz="1995" b="1" spc="-5" dirty="0">
                <a:latin typeface="Times New Roman"/>
                <a:cs typeface="Times New Roman"/>
              </a:rPr>
              <a:t>de</a:t>
            </a:r>
            <a:r>
              <a:rPr sz="1995" b="1" dirty="0">
                <a:latin typeface="Times New Roman"/>
                <a:cs typeface="Times New Roman"/>
              </a:rPr>
              <a:t> </a:t>
            </a:r>
            <a:r>
              <a:rPr sz="1995" b="1" spc="-5" dirty="0">
                <a:latin typeface="Times New Roman"/>
                <a:cs typeface="Times New Roman"/>
              </a:rPr>
              <a:t>la</a:t>
            </a:r>
            <a:r>
              <a:rPr sz="1995" b="1" spc="9" dirty="0">
                <a:latin typeface="Times New Roman"/>
                <a:cs typeface="Times New Roman"/>
              </a:rPr>
              <a:t> </a:t>
            </a:r>
            <a:r>
              <a:rPr sz="1995" b="1" spc="-5" dirty="0">
                <a:latin typeface="Times New Roman"/>
                <a:cs typeface="Times New Roman"/>
              </a:rPr>
              <a:t>red </a:t>
            </a:r>
            <a:r>
              <a:rPr sz="1995" b="1" spc="-485" dirty="0">
                <a:latin typeface="Times New Roman"/>
                <a:cs typeface="Times New Roman"/>
              </a:rPr>
              <a:t> </a:t>
            </a:r>
            <a:r>
              <a:rPr sz="1995" b="1" spc="-5" dirty="0">
                <a:latin typeface="Times New Roman"/>
                <a:cs typeface="Times New Roman"/>
              </a:rPr>
              <a:t>en el primer</a:t>
            </a:r>
            <a:r>
              <a:rPr sz="1995" b="1" spc="14" dirty="0">
                <a:latin typeface="Times New Roman"/>
                <a:cs typeface="Times New Roman"/>
              </a:rPr>
              <a:t> </a:t>
            </a:r>
            <a:r>
              <a:rPr sz="1995" b="1" spc="-5" dirty="0">
                <a:latin typeface="Times New Roman"/>
                <a:cs typeface="Times New Roman"/>
              </a:rPr>
              <a:t>ejemplo</a:t>
            </a:r>
            <a:r>
              <a:rPr sz="1995" b="1" spc="5" dirty="0">
                <a:latin typeface="Times New Roman"/>
                <a:cs typeface="Times New Roman"/>
              </a:rPr>
              <a:t> </a:t>
            </a:r>
            <a:r>
              <a:rPr sz="1995" b="1" spc="-5" dirty="0">
                <a:latin typeface="Times New Roman"/>
                <a:cs typeface="Times New Roman"/>
              </a:rPr>
              <a:t>cstrengh</a:t>
            </a:r>
            <a:r>
              <a:rPr sz="1995" b="1" spc="14" dirty="0">
                <a:latin typeface="Times New Roman"/>
                <a:cs typeface="Times New Roman"/>
              </a:rPr>
              <a:t> </a:t>
            </a:r>
            <a:r>
              <a:rPr sz="1995" b="1" dirty="0">
                <a:latin typeface="Times New Roman"/>
                <a:cs typeface="Times New Roman"/>
              </a:rPr>
              <a:t>–age, </a:t>
            </a:r>
            <a:r>
              <a:rPr sz="1995" b="1" spc="-5" dirty="0">
                <a:latin typeface="Times New Roman"/>
                <a:cs typeface="Times New Roman"/>
              </a:rPr>
              <a:t>water y</a:t>
            </a:r>
            <a:r>
              <a:rPr sz="1995" b="1" dirty="0">
                <a:latin typeface="Times New Roman"/>
                <a:cs typeface="Times New Roman"/>
              </a:rPr>
              <a:t> </a:t>
            </a:r>
            <a:r>
              <a:rPr sz="1995" b="1" spc="-5" dirty="0">
                <a:latin typeface="Times New Roman"/>
                <a:cs typeface="Times New Roman"/>
              </a:rPr>
              <a:t>observar</a:t>
            </a:r>
            <a:r>
              <a:rPr sz="1995" b="1" dirty="0">
                <a:latin typeface="Times New Roman"/>
                <a:cs typeface="Times New Roman"/>
              </a:rPr>
              <a:t> </a:t>
            </a:r>
            <a:r>
              <a:rPr sz="1995" b="1" spc="-5" dirty="0">
                <a:latin typeface="Times New Roman"/>
                <a:cs typeface="Times New Roman"/>
              </a:rPr>
              <a:t>el MSE</a:t>
            </a:r>
            <a:r>
              <a:rPr sz="1995" b="1" spc="14" dirty="0">
                <a:latin typeface="Times New Roman"/>
                <a:cs typeface="Times New Roman"/>
              </a:rPr>
              <a:t> </a:t>
            </a:r>
            <a:r>
              <a:rPr sz="1995" b="1" spc="-5" dirty="0">
                <a:latin typeface="Times New Roman"/>
                <a:cs typeface="Times New Roman"/>
              </a:rPr>
              <a:t>sobre</a:t>
            </a:r>
            <a:r>
              <a:rPr sz="1995" b="1" dirty="0">
                <a:latin typeface="Times New Roman"/>
                <a:cs typeface="Times New Roman"/>
              </a:rPr>
              <a:t> </a:t>
            </a:r>
            <a:r>
              <a:rPr sz="1995" b="1" spc="-5" dirty="0">
                <a:latin typeface="Times New Roman"/>
                <a:cs typeface="Times New Roman"/>
              </a:rPr>
              <a:t>datos</a:t>
            </a:r>
            <a:r>
              <a:rPr sz="1995" b="1" dirty="0">
                <a:latin typeface="Times New Roman"/>
                <a:cs typeface="Times New Roman"/>
              </a:rPr>
              <a:t> test</a:t>
            </a:r>
            <a:r>
              <a:rPr sz="1995" dirty="0">
                <a:latin typeface="Times New Roman"/>
                <a:cs typeface="Times New Roman"/>
              </a:rPr>
              <a:t>).</a:t>
            </a:r>
          </a:p>
          <a:p>
            <a:pPr algn="just">
              <a:spcBef>
                <a:spcPts val="14"/>
              </a:spcBef>
            </a:pPr>
            <a:endParaRPr sz="2040" dirty="0">
              <a:latin typeface="Times New Roman"/>
              <a:cs typeface="Times New Roman"/>
            </a:endParaRPr>
          </a:p>
          <a:p>
            <a:pPr marL="11516" marR="445683" algn="just">
              <a:lnSpc>
                <a:spcPts val="2294"/>
              </a:lnSpc>
              <a:spcBef>
                <a:spcPts val="5"/>
              </a:spcBef>
            </a:pPr>
            <a:r>
              <a:rPr sz="1995" spc="-9" dirty="0">
                <a:latin typeface="Times New Roman"/>
                <a:cs typeface="Times New Roman"/>
              </a:rPr>
              <a:t>Una</a:t>
            </a:r>
            <a:r>
              <a:rPr sz="1995" spc="18" dirty="0">
                <a:latin typeface="Times New Roman"/>
                <a:cs typeface="Times New Roman"/>
              </a:rPr>
              <a:t> </a:t>
            </a:r>
            <a:r>
              <a:rPr sz="1995" spc="-5" dirty="0">
                <a:latin typeface="Times New Roman"/>
                <a:cs typeface="Times New Roman"/>
              </a:rPr>
              <a:t>manera</a:t>
            </a:r>
            <a:r>
              <a:rPr sz="1995" spc="9" dirty="0">
                <a:latin typeface="Times New Roman"/>
                <a:cs typeface="Times New Roman"/>
              </a:rPr>
              <a:t> </a:t>
            </a:r>
            <a:r>
              <a:rPr sz="1995" spc="-5" dirty="0">
                <a:latin typeface="Times New Roman"/>
                <a:cs typeface="Times New Roman"/>
              </a:rPr>
              <a:t>de</a:t>
            </a:r>
            <a:r>
              <a:rPr sz="1995" dirty="0">
                <a:latin typeface="Times New Roman"/>
                <a:cs typeface="Times New Roman"/>
              </a:rPr>
              <a:t> </a:t>
            </a:r>
            <a:r>
              <a:rPr sz="1995" spc="-5" dirty="0">
                <a:latin typeface="Times New Roman"/>
                <a:cs typeface="Times New Roman"/>
              </a:rPr>
              <a:t>corregir</a:t>
            </a:r>
            <a:r>
              <a:rPr sz="1995" spc="5" dirty="0">
                <a:latin typeface="Times New Roman"/>
                <a:cs typeface="Times New Roman"/>
              </a:rPr>
              <a:t> </a:t>
            </a:r>
            <a:r>
              <a:rPr sz="1995" spc="-5" dirty="0">
                <a:latin typeface="Times New Roman"/>
                <a:cs typeface="Times New Roman"/>
              </a:rPr>
              <a:t>esto</a:t>
            </a:r>
            <a:r>
              <a:rPr sz="1995" spc="9" dirty="0">
                <a:latin typeface="Times New Roman"/>
                <a:cs typeface="Times New Roman"/>
              </a:rPr>
              <a:t> </a:t>
            </a:r>
            <a:r>
              <a:rPr sz="1995" spc="-5" dirty="0">
                <a:latin typeface="Times New Roman"/>
                <a:cs typeface="Times New Roman"/>
              </a:rPr>
              <a:t>es</a:t>
            </a:r>
            <a:r>
              <a:rPr sz="1995" dirty="0">
                <a:latin typeface="Times New Roman"/>
                <a:cs typeface="Times New Roman"/>
              </a:rPr>
              <a:t> </a:t>
            </a:r>
            <a:r>
              <a:rPr sz="1995" spc="-5" dirty="0">
                <a:latin typeface="Times New Roman"/>
                <a:cs typeface="Times New Roman"/>
              </a:rPr>
              <a:t>construir</a:t>
            </a:r>
            <a:r>
              <a:rPr sz="1995" dirty="0">
                <a:latin typeface="Times New Roman"/>
                <a:cs typeface="Times New Roman"/>
              </a:rPr>
              <a:t> </a:t>
            </a:r>
            <a:r>
              <a:rPr sz="1995" spc="-5" dirty="0">
                <a:latin typeface="Times New Roman"/>
                <a:cs typeface="Times New Roman"/>
              </a:rPr>
              <a:t>la</a:t>
            </a:r>
            <a:r>
              <a:rPr sz="1995" dirty="0">
                <a:latin typeface="Times New Roman"/>
                <a:cs typeface="Times New Roman"/>
              </a:rPr>
              <a:t> </a:t>
            </a:r>
            <a:r>
              <a:rPr sz="1995" spc="-5" dirty="0">
                <a:latin typeface="Times New Roman"/>
                <a:cs typeface="Times New Roman"/>
              </a:rPr>
              <a:t>red</a:t>
            </a:r>
            <a:r>
              <a:rPr sz="1995" spc="14" dirty="0">
                <a:latin typeface="Times New Roman"/>
                <a:cs typeface="Times New Roman"/>
              </a:rPr>
              <a:t> </a:t>
            </a:r>
            <a:r>
              <a:rPr sz="1995" dirty="0">
                <a:latin typeface="Times New Roman"/>
                <a:cs typeface="Times New Roman"/>
              </a:rPr>
              <a:t>de </a:t>
            </a:r>
            <a:r>
              <a:rPr sz="1995" spc="-5" dirty="0">
                <a:latin typeface="Times New Roman"/>
                <a:cs typeface="Times New Roman"/>
              </a:rPr>
              <a:t>manera</a:t>
            </a:r>
            <a:r>
              <a:rPr sz="1995" dirty="0">
                <a:latin typeface="Times New Roman"/>
                <a:cs typeface="Times New Roman"/>
              </a:rPr>
              <a:t> </a:t>
            </a:r>
            <a:r>
              <a:rPr sz="1995" spc="-5" dirty="0">
                <a:latin typeface="Times New Roman"/>
                <a:cs typeface="Times New Roman"/>
              </a:rPr>
              <a:t>repetida</a:t>
            </a:r>
            <a:r>
              <a:rPr sz="1995" spc="9" dirty="0">
                <a:latin typeface="Times New Roman"/>
                <a:cs typeface="Times New Roman"/>
              </a:rPr>
              <a:t> </a:t>
            </a:r>
            <a:r>
              <a:rPr sz="1995" spc="-5" dirty="0">
                <a:latin typeface="Times New Roman"/>
                <a:cs typeface="Times New Roman"/>
              </a:rPr>
              <a:t>con</a:t>
            </a:r>
            <a:r>
              <a:rPr sz="1995" spc="14" dirty="0">
                <a:latin typeface="Times New Roman"/>
                <a:cs typeface="Times New Roman"/>
              </a:rPr>
              <a:t> </a:t>
            </a:r>
            <a:r>
              <a:rPr sz="1995" spc="-5" dirty="0">
                <a:latin typeface="Times New Roman"/>
                <a:cs typeface="Times New Roman"/>
              </a:rPr>
              <a:t>diferentes </a:t>
            </a:r>
            <a:r>
              <a:rPr sz="1995" dirty="0">
                <a:latin typeface="Times New Roman"/>
                <a:cs typeface="Times New Roman"/>
              </a:rPr>
              <a:t> </a:t>
            </a:r>
            <a:r>
              <a:rPr sz="1995" spc="-5" dirty="0">
                <a:latin typeface="Times New Roman"/>
                <a:cs typeface="Times New Roman"/>
              </a:rPr>
              <a:t>semillas</a:t>
            </a:r>
            <a:r>
              <a:rPr sz="1995" dirty="0">
                <a:latin typeface="Times New Roman"/>
                <a:cs typeface="Times New Roman"/>
              </a:rPr>
              <a:t> </a:t>
            </a:r>
            <a:r>
              <a:rPr sz="1995" spc="-5" dirty="0">
                <a:latin typeface="Times New Roman"/>
                <a:cs typeface="Times New Roman"/>
              </a:rPr>
              <a:t>y</a:t>
            </a:r>
            <a:r>
              <a:rPr sz="1995" spc="18" dirty="0">
                <a:latin typeface="Times New Roman"/>
                <a:cs typeface="Times New Roman"/>
              </a:rPr>
              <a:t> </a:t>
            </a:r>
            <a:r>
              <a:rPr sz="1995" spc="-5" dirty="0">
                <a:latin typeface="Times New Roman"/>
                <a:cs typeface="Times New Roman"/>
              </a:rPr>
              <a:t>promediar</a:t>
            </a:r>
            <a:r>
              <a:rPr sz="1995" spc="5" dirty="0">
                <a:latin typeface="Times New Roman"/>
                <a:cs typeface="Times New Roman"/>
              </a:rPr>
              <a:t> </a:t>
            </a:r>
            <a:r>
              <a:rPr sz="1995" spc="-5" dirty="0">
                <a:latin typeface="Times New Roman"/>
                <a:cs typeface="Times New Roman"/>
              </a:rPr>
              <a:t>la</a:t>
            </a:r>
            <a:r>
              <a:rPr sz="1995" spc="5" dirty="0">
                <a:latin typeface="Times New Roman"/>
                <a:cs typeface="Times New Roman"/>
              </a:rPr>
              <a:t> </a:t>
            </a:r>
            <a:r>
              <a:rPr sz="1995" spc="-5" dirty="0" err="1">
                <a:latin typeface="Times New Roman"/>
                <a:cs typeface="Times New Roman"/>
              </a:rPr>
              <a:t>predicción</a:t>
            </a:r>
            <a:r>
              <a:rPr sz="1995" spc="-5" dirty="0" smtClean="0">
                <a:latin typeface="Times New Roman"/>
                <a:cs typeface="Times New Roman"/>
              </a:rPr>
              <a:t>.</a:t>
            </a:r>
            <a:endParaRPr sz="1995" dirty="0">
              <a:latin typeface="Times New Roman"/>
              <a:cs typeface="Times New Roman"/>
            </a:endParaRPr>
          </a:p>
          <a:p>
            <a:pPr algn="just">
              <a:spcBef>
                <a:spcPts val="5"/>
              </a:spcBef>
            </a:pPr>
            <a:endParaRPr sz="1859" dirty="0">
              <a:latin typeface="Times New Roman"/>
              <a:cs typeface="Times New Roman"/>
            </a:endParaRPr>
          </a:p>
          <a:p>
            <a:pPr marL="11516" algn="just"/>
            <a:r>
              <a:rPr sz="1995" b="1" spc="-9" dirty="0">
                <a:solidFill>
                  <a:srgbClr val="FF0000"/>
                </a:solidFill>
                <a:latin typeface="Times New Roman"/>
                <a:cs typeface="Times New Roman"/>
              </a:rPr>
              <a:t>Nota</a:t>
            </a:r>
            <a:r>
              <a:rPr sz="1995" b="1" spc="-27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95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2</a:t>
            </a:r>
            <a:endParaRPr sz="1995" dirty="0">
              <a:latin typeface="Times New Roman"/>
              <a:cs typeface="Times New Roman"/>
            </a:endParaRPr>
          </a:p>
          <a:p>
            <a:pPr algn="just">
              <a:spcBef>
                <a:spcPts val="45"/>
              </a:spcBef>
            </a:pPr>
            <a:endParaRPr sz="1950" dirty="0">
              <a:latin typeface="Times New Roman"/>
              <a:cs typeface="Times New Roman"/>
            </a:endParaRPr>
          </a:p>
          <a:p>
            <a:pPr marL="11516" marR="4607" algn="just">
              <a:lnSpc>
                <a:spcPct val="95800"/>
              </a:lnSpc>
            </a:pPr>
            <a:r>
              <a:rPr sz="1995" spc="-5" dirty="0">
                <a:latin typeface="Times New Roman"/>
                <a:cs typeface="Times New Roman"/>
              </a:rPr>
              <a:t>Aumentar</a:t>
            </a:r>
            <a:r>
              <a:rPr sz="1995" spc="23" dirty="0">
                <a:latin typeface="Times New Roman"/>
                <a:cs typeface="Times New Roman"/>
              </a:rPr>
              <a:t> </a:t>
            </a:r>
            <a:r>
              <a:rPr sz="1995" spc="-5" dirty="0">
                <a:latin typeface="Times New Roman"/>
                <a:cs typeface="Times New Roman"/>
              </a:rPr>
              <a:t>mucho</a:t>
            </a:r>
            <a:r>
              <a:rPr sz="1995" spc="14" dirty="0">
                <a:latin typeface="Times New Roman"/>
                <a:cs typeface="Times New Roman"/>
              </a:rPr>
              <a:t> </a:t>
            </a:r>
            <a:r>
              <a:rPr sz="1995" spc="-5" dirty="0">
                <a:latin typeface="Times New Roman"/>
                <a:cs typeface="Times New Roman"/>
              </a:rPr>
              <a:t>el</a:t>
            </a:r>
            <a:r>
              <a:rPr sz="1995" spc="5" dirty="0">
                <a:latin typeface="Times New Roman"/>
                <a:cs typeface="Times New Roman"/>
              </a:rPr>
              <a:t> </a:t>
            </a:r>
            <a:r>
              <a:rPr sz="1995" spc="-5" dirty="0">
                <a:latin typeface="Times New Roman"/>
                <a:cs typeface="Times New Roman"/>
              </a:rPr>
              <a:t>número</a:t>
            </a:r>
            <a:r>
              <a:rPr sz="1995" spc="14" dirty="0">
                <a:latin typeface="Times New Roman"/>
                <a:cs typeface="Times New Roman"/>
              </a:rPr>
              <a:t> </a:t>
            </a:r>
            <a:r>
              <a:rPr sz="1995" spc="-5" dirty="0">
                <a:latin typeface="Times New Roman"/>
                <a:cs typeface="Times New Roman"/>
              </a:rPr>
              <a:t>de</a:t>
            </a:r>
            <a:r>
              <a:rPr sz="1995" dirty="0">
                <a:latin typeface="Times New Roman"/>
                <a:cs typeface="Times New Roman"/>
              </a:rPr>
              <a:t> </a:t>
            </a:r>
            <a:r>
              <a:rPr sz="1995" spc="-5" dirty="0">
                <a:latin typeface="Times New Roman"/>
                <a:cs typeface="Times New Roman"/>
              </a:rPr>
              <a:t>iteraciones</a:t>
            </a:r>
            <a:r>
              <a:rPr sz="1995" spc="5" dirty="0">
                <a:latin typeface="Times New Roman"/>
                <a:cs typeface="Times New Roman"/>
              </a:rPr>
              <a:t> </a:t>
            </a:r>
            <a:r>
              <a:rPr sz="1995" spc="-5" dirty="0">
                <a:latin typeface="Times New Roman"/>
                <a:cs typeface="Times New Roman"/>
              </a:rPr>
              <a:t>en</a:t>
            </a:r>
            <a:r>
              <a:rPr sz="1995" spc="9" dirty="0">
                <a:latin typeface="Times New Roman"/>
                <a:cs typeface="Times New Roman"/>
              </a:rPr>
              <a:t> </a:t>
            </a:r>
            <a:r>
              <a:rPr sz="1995" spc="-5" dirty="0">
                <a:latin typeface="Times New Roman"/>
                <a:cs typeface="Times New Roman"/>
              </a:rPr>
              <a:t>algunos</a:t>
            </a:r>
            <a:r>
              <a:rPr sz="1995" spc="9" dirty="0">
                <a:latin typeface="Times New Roman"/>
                <a:cs typeface="Times New Roman"/>
              </a:rPr>
              <a:t> </a:t>
            </a:r>
            <a:r>
              <a:rPr sz="1995" spc="-5" dirty="0">
                <a:latin typeface="Times New Roman"/>
                <a:cs typeface="Times New Roman"/>
              </a:rPr>
              <a:t>casos</a:t>
            </a:r>
            <a:r>
              <a:rPr sz="1995" spc="5" dirty="0">
                <a:latin typeface="Times New Roman"/>
                <a:cs typeface="Times New Roman"/>
              </a:rPr>
              <a:t> </a:t>
            </a:r>
            <a:r>
              <a:rPr sz="1995" spc="-5" dirty="0">
                <a:latin typeface="Times New Roman"/>
                <a:cs typeface="Times New Roman"/>
              </a:rPr>
              <a:t>puede</a:t>
            </a:r>
            <a:r>
              <a:rPr sz="1995" spc="5" dirty="0">
                <a:latin typeface="Times New Roman"/>
                <a:cs typeface="Times New Roman"/>
              </a:rPr>
              <a:t> </a:t>
            </a:r>
            <a:r>
              <a:rPr sz="1995" spc="-5" dirty="0">
                <a:latin typeface="Times New Roman"/>
                <a:cs typeface="Times New Roman"/>
              </a:rPr>
              <a:t>afectar</a:t>
            </a:r>
            <a:r>
              <a:rPr sz="1995" spc="5" dirty="0">
                <a:latin typeface="Times New Roman"/>
                <a:cs typeface="Times New Roman"/>
              </a:rPr>
              <a:t> </a:t>
            </a:r>
            <a:r>
              <a:rPr sz="1995" spc="-5" dirty="0">
                <a:latin typeface="Times New Roman"/>
                <a:cs typeface="Times New Roman"/>
              </a:rPr>
              <a:t>negativamente </a:t>
            </a:r>
            <a:r>
              <a:rPr sz="1995" spc="-485" dirty="0">
                <a:latin typeface="Times New Roman"/>
                <a:cs typeface="Times New Roman"/>
              </a:rPr>
              <a:t> </a:t>
            </a:r>
            <a:r>
              <a:rPr sz="1995" spc="-5" dirty="0">
                <a:latin typeface="Times New Roman"/>
                <a:cs typeface="Times New Roman"/>
              </a:rPr>
              <a:t>a</a:t>
            </a:r>
            <a:r>
              <a:rPr sz="1995" dirty="0">
                <a:latin typeface="Times New Roman"/>
                <a:cs typeface="Times New Roman"/>
              </a:rPr>
              <a:t> </a:t>
            </a:r>
            <a:r>
              <a:rPr sz="1995" spc="-5" dirty="0">
                <a:latin typeface="Times New Roman"/>
                <a:cs typeface="Times New Roman"/>
              </a:rPr>
              <a:t>la</a:t>
            </a:r>
            <a:r>
              <a:rPr sz="1995" dirty="0">
                <a:latin typeface="Times New Roman"/>
                <a:cs typeface="Times New Roman"/>
              </a:rPr>
              <a:t> </a:t>
            </a:r>
            <a:r>
              <a:rPr sz="1995" spc="-5" dirty="0">
                <a:latin typeface="Times New Roman"/>
                <a:cs typeface="Times New Roman"/>
              </a:rPr>
              <a:t>red,</a:t>
            </a:r>
            <a:r>
              <a:rPr sz="1995" spc="14" dirty="0">
                <a:latin typeface="Times New Roman"/>
                <a:cs typeface="Times New Roman"/>
              </a:rPr>
              <a:t> </a:t>
            </a:r>
            <a:r>
              <a:rPr sz="1995" spc="-5" dirty="0">
                <a:latin typeface="Times New Roman"/>
                <a:cs typeface="Times New Roman"/>
              </a:rPr>
              <a:t>ajustando</a:t>
            </a:r>
            <a:r>
              <a:rPr sz="1995" spc="9" dirty="0">
                <a:latin typeface="Times New Roman"/>
                <a:cs typeface="Times New Roman"/>
              </a:rPr>
              <a:t> </a:t>
            </a:r>
            <a:r>
              <a:rPr sz="1995" spc="-5" dirty="0">
                <a:latin typeface="Times New Roman"/>
                <a:cs typeface="Times New Roman"/>
              </a:rPr>
              <a:t>“demasiado</a:t>
            </a:r>
            <a:r>
              <a:rPr sz="1995" spc="14" dirty="0">
                <a:latin typeface="Times New Roman"/>
                <a:cs typeface="Times New Roman"/>
              </a:rPr>
              <a:t> </a:t>
            </a:r>
            <a:r>
              <a:rPr sz="1995" spc="-5" dirty="0">
                <a:latin typeface="Times New Roman"/>
                <a:cs typeface="Times New Roman"/>
              </a:rPr>
              <a:t>bien”</a:t>
            </a:r>
            <a:r>
              <a:rPr sz="1995" dirty="0">
                <a:latin typeface="Times New Roman"/>
                <a:cs typeface="Times New Roman"/>
              </a:rPr>
              <a:t> los</a:t>
            </a:r>
            <a:r>
              <a:rPr sz="1995" spc="-5" dirty="0">
                <a:latin typeface="Times New Roman"/>
                <a:cs typeface="Times New Roman"/>
              </a:rPr>
              <a:t> pesos</a:t>
            </a:r>
            <a:r>
              <a:rPr sz="1995" dirty="0">
                <a:latin typeface="Times New Roman"/>
                <a:cs typeface="Times New Roman"/>
              </a:rPr>
              <a:t> </a:t>
            </a:r>
            <a:r>
              <a:rPr sz="1995" spc="-5" dirty="0">
                <a:latin typeface="Times New Roman"/>
                <a:cs typeface="Times New Roman"/>
              </a:rPr>
              <a:t>y</a:t>
            </a:r>
            <a:r>
              <a:rPr sz="1995" spc="14" dirty="0">
                <a:latin typeface="Times New Roman"/>
                <a:cs typeface="Times New Roman"/>
              </a:rPr>
              <a:t> </a:t>
            </a:r>
            <a:r>
              <a:rPr sz="1995" spc="-5" dirty="0">
                <a:latin typeface="Times New Roman"/>
                <a:cs typeface="Times New Roman"/>
              </a:rPr>
              <a:t>provocando</a:t>
            </a:r>
            <a:r>
              <a:rPr sz="1995" spc="9" dirty="0">
                <a:latin typeface="Times New Roman"/>
                <a:cs typeface="Times New Roman"/>
              </a:rPr>
              <a:t> </a:t>
            </a:r>
            <a:r>
              <a:rPr sz="1995" spc="-5" dirty="0">
                <a:latin typeface="Times New Roman"/>
                <a:cs typeface="Times New Roman"/>
              </a:rPr>
              <a:t>mala</a:t>
            </a:r>
            <a:r>
              <a:rPr sz="1995" spc="5" dirty="0">
                <a:latin typeface="Times New Roman"/>
                <a:cs typeface="Times New Roman"/>
              </a:rPr>
              <a:t> </a:t>
            </a:r>
            <a:r>
              <a:rPr sz="1995" spc="-5" dirty="0">
                <a:latin typeface="Times New Roman"/>
                <a:cs typeface="Times New Roman"/>
              </a:rPr>
              <a:t>generalización</a:t>
            </a:r>
            <a:r>
              <a:rPr sz="1995" spc="5" dirty="0">
                <a:latin typeface="Times New Roman"/>
                <a:cs typeface="Times New Roman"/>
              </a:rPr>
              <a:t> </a:t>
            </a:r>
            <a:r>
              <a:rPr sz="1995" spc="-5" dirty="0">
                <a:latin typeface="Times New Roman"/>
                <a:cs typeface="Times New Roman"/>
              </a:rPr>
              <a:t>(la</a:t>
            </a:r>
            <a:r>
              <a:rPr sz="1995" spc="5" dirty="0">
                <a:latin typeface="Times New Roman"/>
                <a:cs typeface="Times New Roman"/>
              </a:rPr>
              <a:t> </a:t>
            </a:r>
            <a:r>
              <a:rPr sz="1995" spc="-5" dirty="0">
                <a:latin typeface="Times New Roman"/>
                <a:cs typeface="Times New Roman"/>
              </a:rPr>
              <a:t>red </a:t>
            </a:r>
            <a:r>
              <a:rPr sz="1995" dirty="0">
                <a:latin typeface="Times New Roman"/>
                <a:cs typeface="Times New Roman"/>
              </a:rPr>
              <a:t> </a:t>
            </a:r>
            <a:r>
              <a:rPr sz="1995" spc="-5" dirty="0">
                <a:latin typeface="Times New Roman"/>
                <a:cs typeface="Times New Roman"/>
              </a:rPr>
              <a:t>funciona</a:t>
            </a:r>
            <a:r>
              <a:rPr sz="1995" dirty="0">
                <a:latin typeface="Times New Roman"/>
                <a:cs typeface="Times New Roman"/>
              </a:rPr>
              <a:t> </a:t>
            </a:r>
            <a:r>
              <a:rPr sz="1995" spc="-9" dirty="0">
                <a:latin typeface="Times New Roman"/>
                <a:cs typeface="Times New Roman"/>
              </a:rPr>
              <a:t>mal</a:t>
            </a:r>
            <a:r>
              <a:rPr sz="1995" spc="14" dirty="0">
                <a:latin typeface="Times New Roman"/>
                <a:cs typeface="Times New Roman"/>
              </a:rPr>
              <a:t> </a:t>
            </a:r>
            <a:r>
              <a:rPr sz="1995" spc="-5" dirty="0">
                <a:latin typeface="Times New Roman"/>
                <a:cs typeface="Times New Roman"/>
              </a:rPr>
              <a:t>para</a:t>
            </a:r>
            <a:r>
              <a:rPr sz="1995" dirty="0">
                <a:latin typeface="Times New Roman"/>
                <a:cs typeface="Times New Roman"/>
              </a:rPr>
              <a:t> </a:t>
            </a:r>
            <a:r>
              <a:rPr sz="1995" spc="-5" dirty="0">
                <a:latin typeface="Times New Roman"/>
                <a:cs typeface="Times New Roman"/>
              </a:rPr>
              <a:t>datos</a:t>
            </a:r>
            <a:r>
              <a:rPr sz="1995" dirty="0">
                <a:latin typeface="Times New Roman"/>
                <a:cs typeface="Times New Roman"/>
              </a:rPr>
              <a:t> </a:t>
            </a:r>
            <a:r>
              <a:rPr sz="1995" spc="-5" dirty="0">
                <a:latin typeface="Times New Roman"/>
                <a:cs typeface="Times New Roman"/>
              </a:rPr>
              <a:t>test</a:t>
            </a:r>
            <a:r>
              <a:rPr sz="1995" dirty="0">
                <a:latin typeface="Times New Roman"/>
                <a:cs typeface="Times New Roman"/>
              </a:rPr>
              <a:t> </a:t>
            </a:r>
            <a:r>
              <a:rPr sz="1995" spc="-5" dirty="0">
                <a:latin typeface="Times New Roman"/>
                <a:cs typeface="Times New Roman"/>
              </a:rPr>
              <a:t>a</a:t>
            </a:r>
            <a:r>
              <a:rPr sz="1995" dirty="0">
                <a:latin typeface="Times New Roman"/>
                <a:cs typeface="Times New Roman"/>
              </a:rPr>
              <a:t> </a:t>
            </a:r>
            <a:r>
              <a:rPr sz="1995" spc="-5" dirty="0">
                <a:latin typeface="Times New Roman"/>
                <a:cs typeface="Times New Roman"/>
              </a:rPr>
              <a:t>partir</a:t>
            </a:r>
            <a:r>
              <a:rPr sz="1995" dirty="0">
                <a:latin typeface="Times New Roman"/>
                <a:cs typeface="Times New Roman"/>
              </a:rPr>
              <a:t> de </a:t>
            </a:r>
            <a:r>
              <a:rPr sz="1995" spc="-5" dirty="0">
                <a:latin typeface="Times New Roman"/>
                <a:cs typeface="Times New Roman"/>
              </a:rPr>
              <a:t>un</a:t>
            </a:r>
            <a:r>
              <a:rPr sz="1995" dirty="0">
                <a:latin typeface="Times New Roman"/>
                <a:cs typeface="Times New Roman"/>
              </a:rPr>
              <a:t> </a:t>
            </a:r>
            <a:r>
              <a:rPr sz="1995" spc="-5" dirty="0">
                <a:latin typeface="Times New Roman"/>
                <a:cs typeface="Times New Roman"/>
              </a:rPr>
              <a:t>número</a:t>
            </a:r>
            <a:r>
              <a:rPr sz="1995" spc="5" dirty="0">
                <a:latin typeface="Times New Roman"/>
                <a:cs typeface="Times New Roman"/>
              </a:rPr>
              <a:t> </a:t>
            </a:r>
            <a:r>
              <a:rPr sz="1995" spc="-5" dirty="0">
                <a:latin typeface="Times New Roman"/>
                <a:cs typeface="Times New Roman"/>
              </a:rPr>
              <a:t>de</a:t>
            </a:r>
            <a:r>
              <a:rPr sz="1995" dirty="0">
                <a:latin typeface="Times New Roman"/>
                <a:cs typeface="Times New Roman"/>
              </a:rPr>
              <a:t> iteraciones). Reducir </a:t>
            </a:r>
            <a:r>
              <a:rPr sz="1995" spc="-5" dirty="0">
                <a:latin typeface="Times New Roman"/>
                <a:cs typeface="Times New Roman"/>
              </a:rPr>
              <a:t>el</a:t>
            </a:r>
            <a:r>
              <a:rPr sz="1995" dirty="0">
                <a:latin typeface="Times New Roman"/>
                <a:cs typeface="Times New Roman"/>
              </a:rPr>
              <a:t> </a:t>
            </a:r>
            <a:r>
              <a:rPr sz="1995" spc="-5" dirty="0">
                <a:latin typeface="Times New Roman"/>
                <a:cs typeface="Times New Roman"/>
              </a:rPr>
              <a:t>número</a:t>
            </a:r>
            <a:r>
              <a:rPr sz="1995" spc="9" dirty="0">
                <a:latin typeface="Times New Roman"/>
                <a:cs typeface="Times New Roman"/>
              </a:rPr>
              <a:t> </a:t>
            </a:r>
            <a:r>
              <a:rPr sz="1995" spc="-5" dirty="0">
                <a:latin typeface="Times New Roman"/>
                <a:cs typeface="Times New Roman"/>
              </a:rPr>
              <a:t>de </a:t>
            </a:r>
            <a:r>
              <a:rPr sz="1995" dirty="0">
                <a:latin typeface="Times New Roman"/>
                <a:cs typeface="Times New Roman"/>
              </a:rPr>
              <a:t> </a:t>
            </a:r>
            <a:r>
              <a:rPr sz="1995" spc="-5" dirty="0">
                <a:latin typeface="Times New Roman"/>
                <a:cs typeface="Times New Roman"/>
              </a:rPr>
              <a:t>iteraciones</a:t>
            </a:r>
            <a:r>
              <a:rPr sz="1995" dirty="0">
                <a:latin typeface="Times New Roman"/>
                <a:cs typeface="Times New Roman"/>
              </a:rPr>
              <a:t> para</a:t>
            </a:r>
            <a:r>
              <a:rPr sz="1995" spc="5" dirty="0">
                <a:latin typeface="Times New Roman"/>
                <a:cs typeface="Times New Roman"/>
              </a:rPr>
              <a:t> </a:t>
            </a:r>
            <a:r>
              <a:rPr sz="1995" spc="-5" dirty="0">
                <a:latin typeface="Times New Roman"/>
                <a:cs typeface="Times New Roman"/>
              </a:rPr>
              <a:t>evitar</a:t>
            </a:r>
            <a:r>
              <a:rPr sz="1995" spc="5" dirty="0">
                <a:latin typeface="Times New Roman"/>
                <a:cs typeface="Times New Roman"/>
              </a:rPr>
              <a:t> </a:t>
            </a:r>
            <a:r>
              <a:rPr sz="1995" spc="-5" dirty="0">
                <a:latin typeface="Times New Roman"/>
                <a:cs typeface="Times New Roman"/>
              </a:rPr>
              <a:t>esto</a:t>
            </a:r>
            <a:r>
              <a:rPr sz="1995" spc="23" dirty="0">
                <a:latin typeface="Times New Roman"/>
                <a:cs typeface="Times New Roman"/>
              </a:rPr>
              <a:t> </a:t>
            </a:r>
            <a:r>
              <a:rPr sz="1995" spc="-5" dirty="0">
                <a:latin typeface="Times New Roman"/>
                <a:cs typeface="Times New Roman"/>
              </a:rPr>
              <a:t>es</a:t>
            </a:r>
            <a:r>
              <a:rPr sz="1995" spc="5" dirty="0">
                <a:latin typeface="Times New Roman"/>
                <a:cs typeface="Times New Roman"/>
              </a:rPr>
              <a:t> </a:t>
            </a:r>
            <a:r>
              <a:rPr sz="1995" spc="-5" dirty="0">
                <a:latin typeface="Times New Roman"/>
                <a:cs typeface="Times New Roman"/>
              </a:rPr>
              <a:t>una</a:t>
            </a:r>
            <a:r>
              <a:rPr sz="1995" spc="5" dirty="0">
                <a:latin typeface="Times New Roman"/>
                <a:cs typeface="Times New Roman"/>
              </a:rPr>
              <a:t> </a:t>
            </a:r>
            <a:r>
              <a:rPr sz="1995" spc="-5" dirty="0">
                <a:latin typeface="Times New Roman"/>
                <a:cs typeface="Times New Roman"/>
              </a:rPr>
              <a:t>técnica</a:t>
            </a:r>
            <a:r>
              <a:rPr sz="1995" spc="5" dirty="0">
                <a:latin typeface="Times New Roman"/>
                <a:cs typeface="Times New Roman"/>
              </a:rPr>
              <a:t> </a:t>
            </a:r>
            <a:r>
              <a:rPr sz="1995" spc="-5" dirty="0">
                <a:latin typeface="Times New Roman"/>
                <a:cs typeface="Times New Roman"/>
              </a:rPr>
              <a:t>que</a:t>
            </a:r>
            <a:r>
              <a:rPr sz="1995" spc="5" dirty="0">
                <a:latin typeface="Times New Roman"/>
                <a:cs typeface="Times New Roman"/>
              </a:rPr>
              <a:t> </a:t>
            </a:r>
            <a:r>
              <a:rPr sz="1995" spc="-5" dirty="0">
                <a:latin typeface="Times New Roman"/>
                <a:cs typeface="Times New Roman"/>
              </a:rPr>
              <a:t>se</a:t>
            </a:r>
            <a:r>
              <a:rPr sz="1995" spc="5" dirty="0">
                <a:latin typeface="Times New Roman"/>
                <a:cs typeface="Times New Roman"/>
              </a:rPr>
              <a:t> </a:t>
            </a:r>
            <a:r>
              <a:rPr sz="1995" spc="-5" dirty="0">
                <a:latin typeface="Times New Roman"/>
                <a:cs typeface="Times New Roman"/>
              </a:rPr>
              <a:t>denomina</a:t>
            </a:r>
            <a:r>
              <a:rPr sz="1995" spc="5" dirty="0">
                <a:latin typeface="Times New Roman"/>
                <a:cs typeface="Times New Roman"/>
              </a:rPr>
              <a:t> </a:t>
            </a:r>
            <a:r>
              <a:rPr sz="1995" spc="-5" dirty="0">
                <a:latin typeface="Times New Roman"/>
                <a:cs typeface="Times New Roman"/>
              </a:rPr>
              <a:t>“</a:t>
            </a:r>
            <a:r>
              <a:rPr sz="1995" b="1" spc="-5" dirty="0">
                <a:latin typeface="Times New Roman"/>
                <a:cs typeface="Times New Roman"/>
              </a:rPr>
              <a:t>early</a:t>
            </a:r>
            <a:r>
              <a:rPr sz="1995" b="1" spc="27" dirty="0">
                <a:latin typeface="Times New Roman"/>
                <a:cs typeface="Times New Roman"/>
              </a:rPr>
              <a:t> </a:t>
            </a:r>
            <a:r>
              <a:rPr sz="1995" b="1" spc="-5" dirty="0">
                <a:latin typeface="Times New Roman"/>
                <a:cs typeface="Times New Roman"/>
              </a:rPr>
              <a:t>stopping</a:t>
            </a:r>
            <a:r>
              <a:rPr sz="1995" spc="-5" dirty="0">
                <a:latin typeface="Times New Roman"/>
                <a:cs typeface="Times New Roman"/>
              </a:rPr>
              <a:t>”.</a:t>
            </a:r>
            <a:r>
              <a:rPr sz="1995" spc="45" dirty="0">
                <a:latin typeface="Times New Roman"/>
                <a:cs typeface="Times New Roman"/>
              </a:rPr>
              <a:t> </a:t>
            </a:r>
            <a:r>
              <a:rPr sz="1995" spc="-5" dirty="0">
                <a:latin typeface="Times New Roman"/>
                <a:cs typeface="Times New Roman"/>
              </a:rPr>
              <a:t>No</a:t>
            </a:r>
            <a:r>
              <a:rPr sz="1995" spc="5" dirty="0">
                <a:latin typeface="Times New Roman"/>
                <a:cs typeface="Times New Roman"/>
              </a:rPr>
              <a:t> </a:t>
            </a:r>
            <a:r>
              <a:rPr sz="1995" spc="-9" dirty="0">
                <a:latin typeface="Times New Roman"/>
                <a:cs typeface="Times New Roman"/>
              </a:rPr>
              <a:t>siempre </a:t>
            </a:r>
            <a:r>
              <a:rPr sz="1995" spc="-485" dirty="0">
                <a:latin typeface="Times New Roman"/>
                <a:cs typeface="Times New Roman"/>
              </a:rPr>
              <a:t> </a:t>
            </a:r>
            <a:r>
              <a:rPr sz="1995" spc="-5" dirty="0">
                <a:latin typeface="Times New Roman"/>
                <a:cs typeface="Times New Roman"/>
              </a:rPr>
              <a:t>es</a:t>
            </a:r>
            <a:r>
              <a:rPr sz="1995" spc="-9" dirty="0">
                <a:latin typeface="Times New Roman"/>
                <a:cs typeface="Times New Roman"/>
              </a:rPr>
              <a:t> </a:t>
            </a:r>
            <a:r>
              <a:rPr sz="1995" spc="-5" dirty="0">
                <a:latin typeface="Times New Roman"/>
                <a:cs typeface="Times New Roman"/>
              </a:rPr>
              <a:t>necesario,</a:t>
            </a:r>
            <a:r>
              <a:rPr sz="1995" dirty="0">
                <a:latin typeface="Times New Roman"/>
                <a:cs typeface="Times New Roman"/>
              </a:rPr>
              <a:t> </a:t>
            </a:r>
            <a:r>
              <a:rPr sz="1995" spc="-5" dirty="0">
                <a:latin typeface="Times New Roman"/>
                <a:cs typeface="Times New Roman"/>
              </a:rPr>
              <a:t>depende de los</a:t>
            </a:r>
            <a:r>
              <a:rPr sz="1995" spc="-9" dirty="0">
                <a:latin typeface="Times New Roman"/>
                <a:cs typeface="Times New Roman"/>
              </a:rPr>
              <a:t> </a:t>
            </a:r>
            <a:r>
              <a:rPr sz="1995" spc="-5" dirty="0">
                <a:latin typeface="Times New Roman"/>
                <a:cs typeface="Times New Roman"/>
              </a:rPr>
              <a:t>casos.</a:t>
            </a:r>
            <a:endParaRPr sz="1995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27349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9818" y="483750"/>
            <a:ext cx="9386318" cy="320853"/>
          </a:xfrm>
          <a:prstGeom prst="rect">
            <a:avLst/>
          </a:prstGeom>
        </p:spPr>
        <p:txBody>
          <a:bodyPr vert="horz" wrap="square" lIns="0" tIns="33397" rIns="0" bIns="0" rtlCol="0" anchor="ctr">
            <a:spAutoFit/>
          </a:bodyPr>
          <a:lstStyle/>
          <a:p>
            <a:pPr marL="11516" marR="4607">
              <a:lnSpc>
                <a:spcPts val="2503"/>
              </a:lnSpc>
              <a:spcBef>
                <a:spcPts val="263"/>
              </a:spcBef>
            </a:pPr>
            <a:r>
              <a:rPr lang="es-ES" sz="1600" dirty="0" smtClean="0">
                <a:latin typeface="Calibri cuerpo"/>
              </a:rPr>
              <a:t>Ejemplo de los valores calculados para los parámetros de una red</a:t>
            </a:r>
            <a:endParaRPr sz="1600" spc="-5" dirty="0">
              <a:latin typeface="Calibri cuerp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62234" y="1069411"/>
            <a:ext cx="2381010" cy="932600"/>
          </a:xfrm>
          <a:prstGeom prst="rect">
            <a:avLst/>
          </a:prstGeom>
        </p:spPr>
        <p:txBody>
          <a:bodyPr vert="horz" wrap="square" lIns="0" tIns="21881" rIns="0" bIns="0" rtlCol="0">
            <a:spAutoFit/>
          </a:bodyPr>
          <a:lstStyle/>
          <a:p>
            <a:pPr marL="11516" marR="4607">
              <a:lnSpc>
                <a:spcPts val="1025"/>
              </a:lnSpc>
              <a:spcBef>
                <a:spcPts val="172"/>
              </a:spcBef>
            </a:pPr>
            <a:r>
              <a:rPr sz="907" spc="-5" dirty="0">
                <a:latin typeface="Lucida Console"/>
                <a:cs typeface="Lucida Console"/>
              </a:rPr>
              <a:t>a</a:t>
            </a:r>
            <a:r>
              <a:rPr sz="907" spc="-9" dirty="0">
                <a:latin typeface="Lucida Console"/>
                <a:cs typeface="Lucida Console"/>
              </a:rPr>
              <a:t> </a:t>
            </a:r>
            <a:r>
              <a:rPr sz="907" spc="-5" dirty="0">
                <a:latin typeface="Lucida Console"/>
                <a:cs typeface="Lucida Console"/>
              </a:rPr>
              <a:t>2-3-1</a:t>
            </a:r>
            <a:r>
              <a:rPr sz="907" spc="-9" dirty="0">
                <a:latin typeface="Lucida Console"/>
                <a:cs typeface="Lucida Console"/>
              </a:rPr>
              <a:t> </a:t>
            </a:r>
            <a:r>
              <a:rPr sz="907" spc="-5" dirty="0">
                <a:latin typeface="Lucida Console"/>
                <a:cs typeface="Lucida Console"/>
              </a:rPr>
              <a:t>network</a:t>
            </a:r>
            <a:r>
              <a:rPr sz="907" spc="9" dirty="0">
                <a:latin typeface="Lucida Console"/>
                <a:cs typeface="Lucida Console"/>
              </a:rPr>
              <a:t> </a:t>
            </a:r>
            <a:r>
              <a:rPr sz="907" spc="-9" dirty="0">
                <a:latin typeface="Lucida Console"/>
                <a:cs typeface="Lucida Console"/>
              </a:rPr>
              <a:t>with</a:t>
            </a:r>
            <a:r>
              <a:rPr sz="907" dirty="0">
                <a:latin typeface="Lucida Console"/>
                <a:cs typeface="Lucida Console"/>
              </a:rPr>
              <a:t> </a:t>
            </a:r>
            <a:r>
              <a:rPr sz="907" spc="-5" dirty="0">
                <a:latin typeface="Lucida Console"/>
                <a:cs typeface="Lucida Console"/>
              </a:rPr>
              <a:t>13 weights </a:t>
            </a:r>
            <a:r>
              <a:rPr sz="907" dirty="0">
                <a:latin typeface="Lucida Console"/>
                <a:cs typeface="Lucida Console"/>
              </a:rPr>
              <a:t> </a:t>
            </a:r>
            <a:r>
              <a:rPr sz="907" spc="-5" dirty="0">
                <a:latin typeface="Lucida Console"/>
                <a:cs typeface="Lucida Console"/>
              </a:rPr>
              <a:t>options</a:t>
            </a:r>
            <a:r>
              <a:rPr sz="907" spc="-9" dirty="0">
                <a:latin typeface="Lucida Console"/>
                <a:cs typeface="Lucida Console"/>
              </a:rPr>
              <a:t> </a:t>
            </a:r>
            <a:r>
              <a:rPr sz="907" spc="-5" dirty="0">
                <a:latin typeface="Lucida Console"/>
                <a:cs typeface="Lucida Console"/>
              </a:rPr>
              <a:t>were - </a:t>
            </a:r>
            <a:r>
              <a:rPr sz="907" dirty="0">
                <a:latin typeface="Lucida Console"/>
                <a:cs typeface="Lucida Console"/>
              </a:rPr>
              <a:t>linear</a:t>
            </a:r>
            <a:r>
              <a:rPr sz="907" spc="-9" dirty="0">
                <a:latin typeface="Lucida Console"/>
                <a:cs typeface="Lucida Console"/>
              </a:rPr>
              <a:t> </a:t>
            </a:r>
            <a:r>
              <a:rPr sz="907" spc="-5" dirty="0">
                <a:latin typeface="Lucida Console"/>
                <a:cs typeface="Lucida Console"/>
              </a:rPr>
              <a:t>output units</a:t>
            </a:r>
            <a:endParaRPr sz="907" dirty="0">
              <a:latin typeface="Lucida Console"/>
              <a:cs typeface="Lucida Console"/>
            </a:endParaRPr>
          </a:p>
          <a:p>
            <a:pPr marR="976012" algn="r">
              <a:lnSpc>
                <a:spcPts val="952"/>
              </a:lnSpc>
            </a:pPr>
            <a:r>
              <a:rPr sz="907" spc="-9" dirty="0">
                <a:latin typeface="Lucida Console"/>
                <a:cs typeface="Lucida Console"/>
              </a:rPr>
              <a:t>b-&gt;h1</a:t>
            </a:r>
            <a:r>
              <a:rPr sz="907" spc="-27" dirty="0">
                <a:latin typeface="Lucida Console"/>
                <a:cs typeface="Lucida Console"/>
              </a:rPr>
              <a:t> </a:t>
            </a:r>
            <a:r>
              <a:rPr sz="907" spc="-5" dirty="0">
                <a:latin typeface="Lucida Console"/>
                <a:cs typeface="Lucida Console"/>
              </a:rPr>
              <a:t>i1-&gt;h1</a:t>
            </a:r>
            <a:r>
              <a:rPr sz="907" spc="-36" dirty="0">
                <a:latin typeface="Lucida Console"/>
                <a:cs typeface="Lucida Console"/>
              </a:rPr>
              <a:t> </a:t>
            </a:r>
            <a:r>
              <a:rPr sz="907" spc="-5" dirty="0">
                <a:latin typeface="Lucida Console"/>
                <a:cs typeface="Lucida Console"/>
              </a:rPr>
              <a:t>i2-&gt;h1</a:t>
            </a:r>
            <a:endParaRPr sz="907" dirty="0">
              <a:latin typeface="Lucida Console"/>
              <a:cs typeface="Lucida Console"/>
            </a:endParaRPr>
          </a:p>
          <a:p>
            <a:pPr marR="976012" algn="r">
              <a:lnSpc>
                <a:spcPts val="1025"/>
              </a:lnSpc>
              <a:tabLst>
                <a:tab pos="484839" algn="l"/>
                <a:tab pos="971405" algn="l"/>
              </a:tabLst>
            </a:pPr>
            <a:r>
              <a:rPr sz="907" spc="-9" dirty="0">
                <a:latin typeface="Lucida Console"/>
                <a:cs typeface="Lucida Console"/>
              </a:rPr>
              <a:t>3.05	</a:t>
            </a:r>
            <a:r>
              <a:rPr sz="907" dirty="0">
                <a:latin typeface="Lucida Console"/>
                <a:cs typeface="Lucida Console"/>
              </a:rPr>
              <a:t>3.31	</a:t>
            </a:r>
            <a:r>
              <a:rPr sz="907" spc="-9" dirty="0">
                <a:latin typeface="Lucida Console"/>
                <a:cs typeface="Lucida Console"/>
              </a:rPr>
              <a:t>0.13</a:t>
            </a:r>
            <a:endParaRPr sz="907" dirty="0">
              <a:latin typeface="Lucida Console"/>
              <a:cs typeface="Lucida Console"/>
            </a:endParaRPr>
          </a:p>
          <a:p>
            <a:pPr marR="976012" algn="r">
              <a:lnSpc>
                <a:spcPts val="1025"/>
              </a:lnSpc>
            </a:pPr>
            <a:r>
              <a:rPr sz="907" spc="-9" dirty="0">
                <a:latin typeface="Lucida Console"/>
                <a:cs typeface="Lucida Console"/>
              </a:rPr>
              <a:t>b-&gt;h2</a:t>
            </a:r>
            <a:r>
              <a:rPr sz="907" spc="-27" dirty="0">
                <a:latin typeface="Lucida Console"/>
                <a:cs typeface="Lucida Console"/>
              </a:rPr>
              <a:t> </a:t>
            </a:r>
            <a:r>
              <a:rPr sz="907" spc="-5" dirty="0">
                <a:latin typeface="Lucida Console"/>
                <a:cs typeface="Lucida Console"/>
              </a:rPr>
              <a:t>i1-&gt;h2</a:t>
            </a:r>
            <a:r>
              <a:rPr sz="907" spc="-36" dirty="0">
                <a:latin typeface="Lucida Console"/>
                <a:cs typeface="Lucida Console"/>
              </a:rPr>
              <a:t> </a:t>
            </a:r>
            <a:r>
              <a:rPr sz="907" spc="-5" dirty="0">
                <a:latin typeface="Lucida Console"/>
                <a:cs typeface="Lucida Console"/>
              </a:rPr>
              <a:t>i2-&gt;h2</a:t>
            </a:r>
            <a:endParaRPr sz="907" dirty="0">
              <a:latin typeface="Lucida Console"/>
              <a:cs typeface="Lucida Console"/>
            </a:endParaRPr>
          </a:p>
          <a:p>
            <a:pPr marR="976012" algn="r">
              <a:lnSpc>
                <a:spcPts val="1016"/>
              </a:lnSpc>
              <a:tabLst>
                <a:tab pos="553937" algn="l"/>
                <a:tab pos="970253" algn="l"/>
              </a:tabLst>
            </a:pPr>
            <a:r>
              <a:rPr sz="907" spc="-9" dirty="0">
                <a:latin typeface="Lucida Console"/>
                <a:cs typeface="Lucida Console"/>
              </a:rPr>
              <a:t>-0.96	</a:t>
            </a:r>
            <a:r>
              <a:rPr sz="907" dirty="0">
                <a:latin typeface="Lucida Console"/>
                <a:cs typeface="Lucida Console"/>
              </a:rPr>
              <a:t>0.13	</a:t>
            </a:r>
            <a:r>
              <a:rPr sz="907" spc="-5" dirty="0">
                <a:latin typeface="Lucida Console"/>
                <a:cs typeface="Lucida Console"/>
              </a:rPr>
              <a:t>-1.89</a:t>
            </a:r>
            <a:endParaRPr sz="907" dirty="0">
              <a:latin typeface="Lucida Console"/>
              <a:cs typeface="Lucida Console"/>
            </a:endParaRPr>
          </a:p>
          <a:p>
            <a:pPr marR="976012" algn="r">
              <a:lnSpc>
                <a:spcPts val="1052"/>
              </a:lnSpc>
            </a:pPr>
            <a:r>
              <a:rPr sz="907" spc="-9" dirty="0">
                <a:latin typeface="Lucida Console"/>
                <a:cs typeface="Lucida Console"/>
              </a:rPr>
              <a:t>b-&gt;h3</a:t>
            </a:r>
            <a:r>
              <a:rPr sz="907" spc="-27" dirty="0">
                <a:latin typeface="Lucida Console"/>
                <a:cs typeface="Lucida Console"/>
              </a:rPr>
              <a:t> </a:t>
            </a:r>
            <a:r>
              <a:rPr sz="907" spc="-5" dirty="0">
                <a:latin typeface="Lucida Console"/>
                <a:cs typeface="Lucida Console"/>
              </a:rPr>
              <a:t>i1-&gt;h3</a:t>
            </a:r>
            <a:r>
              <a:rPr sz="907" spc="-36" dirty="0">
                <a:latin typeface="Lucida Console"/>
                <a:cs typeface="Lucida Console"/>
              </a:rPr>
              <a:t> </a:t>
            </a:r>
            <a:r>
              <a:rPr sz="907" spc="-5" dirty="0">
                <a:latin typeface="Lucida Console"/>
                <a:cs typeface="Lucida Console"/>
              </a:rPr>
              <a:t>i2-&gt;h3</a:t>
            </a:r>
            <a:endParaRPr sz="907" dirty="0">
              <a:latin typeface="Lucida Console"/>
              <a:cs typeface="Lucida Consol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62234" y="1975979"/>
            <a:ext cx="437622" cy="421417"/>
          </a:xfrm>
          <a:prstGeom prst="rect">
            <a:avLst/>
          </a:prstGeom>
        </p:spPr>
        <p:txBody>
          <a:bodyPr vert="horz" wrap="square" lIns="0" tIns="10941" rIns="0" bIns="0" rtlCol="0">
            <a:spAutoFit/>
          </a:bodyPr>
          <a:lstStyle/>
          <a:p>
            <a:pPr marR="4607" algn="r">
              <a:lnSpc>
                <a:spcPts val="1056"/>
              </a:lnSpc>
              <a:spcBef>
                <a:spcPts val="86"/>
              </a:spcBef>
            </a:pPr>
            <a:r>
              <a:rPr sz="907" spc="-9" dirty="0">
                <a:latin typeface="Lucida Console"/>
                <a:cs typeface="Lucida Console"/>
              </a:rPr>
              <a:t>-73.01</a:t>
            </a:r>
            <a:endParaRPr sz="907" dirty="0">
              <a:latin typeface="Lucida Console"/>
              <a:cs typeface="Lucida Console"/>
            </a:endParaRPr>
          </a:p>
          <a:p>
            <a:pPr marR="4607" algn="r">
              <a:lnSpc>
                <a:spcPts val="1025"/>
              </a:lnSpc>
            </a:pPr>
            <a:r>
              <a:rPr sz="907" spc="-9" dirty="0">
                <a:latin typeface="Lucida Console"/>
                <a:cs typeface="Lucida Console"/>
              </a:rPr>
              <a:t>b-&gt;o</a:t>
            </a:r>
            <a:endParaRPr sz="907" dirty="0">
              <a:latin typeface="Lucida Console"/>
              <a:cs typeface="Lucida Console"/>
            </a:endParaRPr>
          </a:p>
          <a:p>
            <a:pPr marR="4607" algn="r">
              <a:lnSpc>
                <a:spcPts val="1056"/>
              </a:lnSpc>
            </a:pPr>
            <a:r>
              <a:rPr sz="907" spc="-9" dirty="0">
                <a:latin typeface="Lucida Console"/>
                <a:cs typeface="Lucida Console"/>
              </a:rPr>
              <a:t>-51.42</a:t>
            </a:r>
            <a:endParaRPr sz="907" dirty="0">
              <a:latin typeface="Lucida Console"/>
              <a:cs typeface="Lucida Consol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16403" y="1975979"/>
            <a:ext cx="370251" cy="421417"/>
          </a:xfrm>
          <a:prstGeom prst="rect">
            <a:avLst/>
          </a:prstGeom>
        </p:spPr>
        <p:txBody>
          <a:bodyPr vert="horz" wrap="square" lIns="0" tIns="10941" rIns="0" bIns="0" rtlCol="0">
            <a:spAutoFit/>
          </a:bodyPr>
          <a:lstStyle/>
          <a:p>
            <a:pPr marL="80615">
              <a:lnSpc>
                <a:spcPts val="1056"/>
              </a:lnSpc>
              <a:spcBef>
                <a:spcPts val="86"/>
              </a:spcBef>
            </a:pPr>
            <a:r>
              <a:rPr sz="907" spc="-5" dirty="0">
                <a:latin typeface="Lucida Console"/>
                <a:cs typeface="Lucida Console"/>
              </a:rPr>
              <a:t>0</a:t>
            </a:r>
            <a:r>
              <a:rPr sz="907" spc="5" dirty="0">
                <a:latin typeface="Lucida Console"/>
                <a:cs typeface="Lucida Console"/>
              </a:rPr>
              <a:t>.</a:t>
            </a:r>
            <a:r>
              <a:rPr sz="907" spc="-5" dirty="0">
                <a:latin typeface="Lucida Console"/>
                <a:cs typeface="Lucida Console"/>
              </a:rPr>
              <a:t>02</a:t>
            </a:r>
            <a:endParaRPr sz="907" dirty="0">
              <a:latin typeface="Lucida Console"/>
              <a:cs typeface="Lucida Console"/>
            </a:endParaRPr>
          </a:p>
          <a:p>
            <a:pPr marL="11516" marR="4607">
              <a:lnSpc>
                <a:spcPts val="1025"/>
              </a:lnSpc>
              <a:spcBef>
                <a:spcPts val="54"/>
              </a:spcBef>
            </a:pPr>
            <a:r>
              <a:rPr sz="907" spc="-9" dirty="0">
                <a:latin typeface="Lucida Console"/>
                <a:cs typeface="Lucida Console"/>
              </a:rPr>
              <a:t>h</a:t>
            </a:r>
            <a:r>
              <a:rPr sz="907" spc="-5" dirty="0">
                <a:latin typeface="Lucida Console"/>
                <a:cs typeface="Lucida Console"/>
              </a:rPr>
              <a:t>1</a:t>
            </a:r>
            <a:r>
              <a:rPr sz="907" spc="5" dirty="0">
                <a:latin typeface="Lucida Console"/>
                <a:cs typeface="Lucida Console"/>
              </a:rPr>
              <a:t>-</a:t>
            </a:r>
            <a:r>
              <a:rPr sz="907" spc="-9" dirty="0">
                <a:latin typeface="Lucida Console"/>
                <a:cs typeface="Lucida Console"/>
              </a:rPr>
              <a:t>&gt;o  </a:t>
            </a:r>
            <a:r>
              <a:rPr sz="907" spc="-5" dirty="0">
                <a:latin typeface="Lucida Console"/>
                <a:cs typeface="Lucida Console"/>
              </a:rPr>
              <a:t>88</a:t>
            </a:r>
            <a:r>
              <a:rPr sz="907" dirty="0">
                <a:latin typeface="Lucida Console"/>
                <a:cs typeface="Lucida Console"/>
              </a:rPr>
              <a:t>.</a:t>
            </a:r>
            <a:r>
              <a:rPr sz="907" spc="-5" dirty="0">
                <a:latin typeface="Lucida Console"/>
                <a:cs typeface="Lucida Console"/>
              </a:rPr>
              <a:t>52</a:t>
            </a:r>
            <a:endParaRPr sz="907" dirty="0">
              <a:latin typeface="Lucida Console"/>
              <a:cs typeface="Lucida Consol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01703" y="1975979"/>
            <a:ext cx="370251" cy="421417"/>
          </a:xfrm>
          <a:prstGeom prst="rect">
            <a:avLst/>
          </a:prstGeom>
        </p:spPr>
        <p:txBody>
          <a:bodyPr vert="horz" wrap="square" lIns="0" tIns="10941" rIns="0" bIns="0" rtlCol="0">
            <a:spAutoFit/>
          </a:bodyPr>
          <a:lstStyle/>
          <a:p>
            <a:pPr marL="11516">
              <a:lnSpc>
                <a:spcPts val="1056"/>
              </a:lnSpc>
              <a:spcBef>
                <a:spcPts val="86"/>
              </a:spcBef>
            </a:pPr>
            <a:r>
              <a:rPr sz="907" spc="5" dirty="0">
                <a:latin typeface="Lucida Console"/>
                <a:cs typeface="Lucida Console"/>
              </a:rPr>
              <a:t>3</a:t>
            </a:r>
            <a:r>
              <a:rPr sz="907" spc="-5" dirty="0">
                <a:latin typeface="Lucida Console"/>
                <a:cs typeface="Lucida Console"/>
              </a:rPr>
              <a:t>6.16</a:t>
            </a:r>
            <a:endParaRPr sz="907" dirty="0">
              <a:latin typeface="Lucida Console"/>
              <a:cs typeface="Lucida Console"/>
            </a:endParaRPr>
          </a:p>
          <a:p>
            <a:pPr marL="11516" marR="4607">
              <a:lnSpc>
                <a:spcPts val="1025"/>
              </a:lnSpc>
              <a:spcBef>
                <a:spcPts val="54"/>
              </a:spcBef>
            </a:pPr>
            <a:r>
              <a:rPr sz="907" spc="5" dirty="0">
                <a:latin typeface="Lucida Console"/>
                <a:cs typeface="Lucida Console"/>
              </a:rPr>
              <a:t>h</a:t>
            </a:r>
            <a:r>
              <a:rPr sz="907" spc="-9" dirty="0">
                <a:latin typeface="Lucida Console"/>
                <a:cs typeface="Lucida Console"/>
              </a:rPr>
              <a:t>2-&gt;o  </a:t>
            </a:r>
            <a:r>
              <a:rPr sz="907" spc="5" dirty="0">
                <a:latin typeface="Lucida Console"/>
                <a:cs typeface="Lucida Console"/>
              </a:rPr>
              <a:t>2</a:t>
            </a:r>
            <a:r>
              <a:rPr sz="907" spc="-5" dirty="0">
                <a:latin typeface="Lucida Console"/>
                <a:cs typeface="Lucida Console"/>
              </a:rPr>
              <a:t>8.69</a:t>
            </a:r>
            <a:endParaRPr sz="907" dirty="0">
              <a:latin typeface="Lucida Console"/>
              <a:cs typeface="Lucida Consol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88154" y="2106229"/>
            <a:ext cx="371403" cy="278575"/>
          </a:xfrm>
          <a:prstGeom prst="rect">
            <a:avLst/>
          </a:prstGeom>
        </p:spPr>
        <p:txBody>
          <a:bodyPr vert="horz" wrap="square" lIns="0" tIns="21881" rIns="0" bIns="0" rtlCol="0">
            <a:spAutoFit/>
          </a:bodyPr>
          <a:lstStyle/>
          <a:p>
            <a:pPr marL="80615" marR="4607" indent="-69098">
              <a:lnSpc>
                <a:spcPts val="1025"/>
              </a:lnSpc>
              <a:spcBef>
                <a:spcPts val="172"/>
              </a:spcBef>
            </a:pPr>
            <a:r>
              <a:rPr sz="907" spc="-9" dirty="0">
                <a:latin typeface="Lucida Console"/>
                <a:cs typeface="Lucida Console"/>
              </a:rPr>
              <a:t>h3-</a:t>
            </a:r>
            <a:r>
              <a:rPr sz="907" spc="5" dirty="0">
                <a:latin typeface="Lucida Console"/>
                <a:cs typeface="Lucida Console"/>
              </a:rPr>
              <a:t>&gt;o  </a:t>
            </a:r>
            <a:r>
              <a:rPr sz="907" spc="-5" dirty="0">
                <a:latin typeface="Lucida Console"/>
                <a:cs typeface="Lucida Console"/>
              </a:rPr>
              <a:t>8.</a:t>
            </a:r>
            <a:r>
              <a:rPr sz="907" dirty="0">
                <a:latin typeface="Lucida Console"/>
                <a:cs typeface="Lucida Console"/>
              </a:rPr>
              <a:t>5</a:t>
            </a:r>
            <a:r>
              <a:rPr sz="907" spc="-5" dirty="0">
                <a:latin typeface="Lucida Console"/>
                <a:cs typeface="Lucida Console"/>
              </a:rPr>
              <a:t>1</a:t>
            </a:r>
            <a:endParaRPr sz="907" dirty="0">
              <a:latin typeface="Lucida Console"/>
              <a:cs typeface="Lucida Consol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62233" y="2624466"/>
            <a:ext cx="1895595" cy="1762618"/>
          </a:xfrm>
          <a:prstGeom prst="rect">
            <a:avLst/>
          </a:prstGeom>
        </p:spPr>
        <p:txBody>
          <a:bodyPr vert="horz" wrap="square" lIns="0" tIns="10941" rIns="0" bIns="0" rtlCol="0">
            <a:spAutoFit/>
          </a:bodyPr>
          <a:lstStyle/>
          <a:p>
            <a:pPr marL="11516">
              <a:spcBef>
                <a:spcPts val="86"/>
              </a:spcBef>
            </a:pPr>
            <a:r>
              <a:rPr sz="907" spc="-9" dirty="0">
                <a:solidFill>
                  <a:srgbClr val="FF0000"/>
                </a:solidFill>
                <a:latin typeface="Lucida Console"/>
                <a:cs typeface="Lucida Console"/>
              </a:rPr>
              <a:t>Todo</a:t>
            </a:r>
            <a:r>
              <a:rPr sz="907" spc="-14" dirty="0">
                <a:solidFill>
                  <a:srgbClr val="FF0000"/>
                </a:solidFill>
                <a:latin typeface="Lucida Console"/>
                <a:cs typeface="Lucida Console"/>
              </a:rPr>
              <a:t> </a:t>
            </a:r>
            <a:r>
              <a:rPr sz="907" dirty="0">
                <a:solidFill>
                  <a:srgbClr val="FF0000"/>
                </a:solidFill>
                <a:latin typeface="Lucida Console"/>
                <a:cs typeface="Lucida Console"/>
              </a:rPr>
              <a:t>lo</a:t>
            </a:r>
            <a:r>
              <a:rPr sz="907" spc="-14" dirty="0">
                <a:solidFill>
                  <a:srgbClr val="FF0000"/>
                </a:solidFill>
                <a:latin typeface="Lucida Console"/>
                <a:cs typeface="Lucida Console"/>
              </a:rPr>
              <a:t> </a:t>
            </a:r>
            <a:r>
              <a:rPr sz="907" spc="-9" dirty="0">
                <a:solidFill>
                  <a:srgbClr val="FF0000"/>
                </a:solidFill>
                <a:latin typeface="Lucida Console"/>
                <a:cs typeface="Lucida Console"/>
              </a:rPr>
              <a:t>que</a:t>
            </a:r>
            <a:r>
              <a:rPr sz="907" dirty="0">
                <a:solidFill>
                  <a:srgbClr val="FF0000"/>
                </a:solidFill>
                <a:latin typeface="Lucida Console"/>
                <a:cs typeface="Lucida Console"/>
              </a:rPr>
              <a:t> </a:t>
            </a:r>
            <a:r>
              <a:rPr sz="907" spc="-5" dirty="0">
                <a:solidFill>
                  <a:srgbClr val="FF0000"/>
                </a:solidFill>
                <a:latin typeface="Lucida Console"/>
                <a:cs typeface="Lucida Console"/>
              </a:rPr>
              <a:t>va</a:t>
            </a:r>
            <a:r>
              <a:rPr sz="907" spc="-9" dirty="0">
                <a:solidFill>
                  <a:srgbClr val="FF0000"/>
                </a:solidFill>
                <a:latin typeface="Lucida Console"/>
                <a:cs typeface="Lucida Console"/>
              </a:rPr>
              <a:t> </a:t>
            </a:r>
            <a:r>
              <a:rPr sz="907" dirty="0">
                <a:solidFill>
                  <a:srgbClr val="FF0000"/>
                </a:solidFill>
                <a:latin typeface="Lucida Console"/>
                <a:cs typeface="Lucida Console"/>
              </a:rPr>
              <a:t>al</a:t>
            </a:r>
            <a:r>
              <a:rPr sz="907" spc="-14" dirty="0">
                <a:solidFill>
                  <a:srgbClr val="FF0000"/>
                </a:solidFill>
                <a:latin typeface="Lucida Console"/>
                <a:cs typeface="Lucida Console"/>
              </a:rPr>
              <a:t> </a:t>
            </a:r>
            <a:r>
              <a:rPr sz="907" dirty="0">
                <a:solidFill>
                  <a:srgbClr val="FF0000"/>
                </a:solidFill>
                <a:latin typeface="Lucida Console"/>
                <a:cs typeface="Lucida Console"/>
              </a:rPr>
              <a:t>nodo</a:t>
            </a:r>
            <a:r>
              <a:rPr sz="907" spc="-14" dirty="0">
                <a:solidFill>
                  <a:srgbClr val="FF0000"/>
                </a:solidFill>
                <a:latin typeface="Lucida Console"/>
                <a:cs typeface="Lucida Console"/>
              </a:rPr>
              <a:t> </a:t>
            </a:r>
            <a:r>
              <a:rPr sz="907" spc="-9" dirty="0">
                <a:solidFill>
                  <a:srgbClr val="FF0000"/>
                </a:solidFill>
                <a:latin typeface="Lucida Console"/>
                <a:cs typeface="Lucida Console"/>
              </a:rPr>
              <a:t>1:</a:t>
            </a:r>
            <a:endParaRPr sz="907" dirty="0">
              <a:latin typeface="Lucida Console"/>
              <a:cs typeface="Lucida Console"/>
            </a:endParaRPr>
          </a:p>
          <a:p>
            <a:pPr>
              <a:spcBef>
                <a:spcPts val="36"/>
              </a:spcBef>
            </a:pPr>
            <a:endParaRPr sz="997" dirty="0">
              <a:latin typeface="Lucida Console"/>
              <a:cs typeface="Lucida Console"/>
            </a:endParaRPr>
          </a:p>
          <a:p>
            <a:pPr marL="149713" marR="490021" indent="-69098">
              <a:lnSpc>
                <a:spcPts val="1025"/>
              </a:lnSpc>
              <a:tabLst>
                <a:tab pos="634551" algn="l"/>
                <a:tab pos="1121118" algn="l"/>
              </a:tabLst>
            </a:pPr>
            <a:r>
              <a:rPr sz="907" spc="-9" dirty="0">
                <a:latin typeface="Lucida Console"/>
                <a:cs typeface="Lucida Console"/>
              </a:rPr>
              <a:t>b-&gt;h1 </a:t>
            </a:r>
            <a:r>
              <a:rPr sz="907" spc="-5" dirty="0">
                <a:latin typeface="Lucida Console"/>
                <a:cs typeface="Lucida Console"/>
              </a:rPr>
              <a:t>i1-&gt;h1 i2-&gt;h1 </a:t>
            </a:r>
            <a:r>
              <a:rPr sz="907" spc="-535" dirty="0">
                <a:latin typeface="Lucida Console"/>
                <a:cs typeface="Lucida Console"/>
              </a:rPr>
              <a:t> </a:t>
            </a:r>
            <a:r>
              <a:rPr sz="907" spc="-9" dirty="0">
                <a:latin typeface="Lucida Console"/>
                <a:cs typeface="Lucida Console"/>
              </a:rPr>
              <a:t>3.0</a:t>
            </a:r>
            <a:r>
              <a:rPr sz="907" spc="-5" dirty="0">
                <a:latin typeface="Lucida Console"/>
                <a:cs typeface="Lucida Console"/>
              </a:rPr>
              <a:t>5</a:t>
            </a:r>
            <a:r>
              <a:rPr sz="907" dirty="0">
                <a:latin typeface="Lucida Console"/>
                <a:cs typeface="Lucida Console"/>
              </a:rPr>
              <a:t>	</a:t>
            </a:r>
            <a:r>
              <a:rPr sz="907" spc="-5" dirty="0">
                <a:latin typeface="Lucida Console"/>
                <a:cs typeface="Lucida Console"/>
              </a:rPr>
              <a:t>3</a:t>
            </a:r>
            <a:r>
              <a:rPr sz="907" spc="5" dirty="0">
                <a:latin typeface="Lucida Console"/>
                <a:cs typeface="Lucida Console"/>
              </a:rPr>
              <a:t>.</a:t>
            </a:r>
            <a:r>
              <a:rPr sz="907" spc="-5" dirty="0">
                <a:latin typeface="Lucida Console"/>
                <a:cs typeface="Lucida Console"/>
              </a:rPr>
              <a:t>31</a:t>
            </a:r>
            <a:r>
              <a:rPr sz="907" dirty="0">
                <a:latin typeface="Lucida Console"/>
                <a:cs typeface="Lucida Console"/>
              </a:rPr>
              <a:t>	</a:t>
            </a:r>
            <a:r>
              <a:rPr sz="907" spc="-9" dirty="0">
                <a:latin typeface="Lucida Console"/>
                <a:cs typeface="Lucida Console"/>
              </a:rPr>
              <a:t>0.13</a:t>
            </a:r>
            <a:endParaRPr sz="907" dirty="0">
              <a:latin typeface="Lucida Console"/>
              <a:cs typeface="Lucida Console"/>
            </a:endParaRPr>
          </a:p>
          <a:p>
            <a:pPr>
              <a:spcBef>
                <a:spcPts val="23"/>
              </a:spcBef>
            </a:pPr>
            <a:endParaRPr sz="907" dirty="0">
              <a:latin typeface="Lucida Console"/>
              <a:cs typeface="Lucida Console"/>
            </a:endParaRPr>
          </a:p>
          <a:p>
            <a:pPr marL="11516"/>
            <a:r>
              <a:rPr sz="907" spc="-9" dirty="0">
                <a:solidFill>
                  <a:srgbClr val="FF0000"/>
                </a:solidFill>
                <a:latin typeface="Lucida Console"/>
                <a:cs typeface="Lucida Console"/>
              </a:rPr>
              <a:t>Esto</a:t>
            </a:r>
            <a:r>
              <a:rPr sz="907" spc="-32" dirty="0">
                <a:solidFill>
                  <a:srgbClr val="FF0000"/>
                </a:solidFill>
                <a:latin typeface="Lucida Console"/>
                <a:cs typeface="Lucida Console"/>
              </a:rPr>
              <a:t> </a:t>
            </a:r>
            <a:r>
              <a:rPr sz="907" spc="-5" dirty="0">
                <a:solidFill>
                  <a:srgbClr val="FF0000"/>
                </a:solidFill>
                <a:latin typeface="Lucida Console"/>
                <a:cs typeface="Lucida Console"/>
              </a:rPr>
              <a:t>significa:</a:t>
            </a:r>
            <a:endParaRPr sz="907" dirty="0">
              <a:latin typeface="Lucida Console"/>
              <a:cs typeface="Lucida Console"/>
            </a:endParaRPr>
          </a:p>
          <a:p>
            <a:pPr>
              <a:spcBef>
                <a:spcPts val="41"/>
              </a:spcBef>
            </a:pPr>
            <a:endParaRPr sz="997" dirty="0">
              <a:latin typeface="Lucida Console"/>
              <a:cs typeface="Lucida Console"/>
            </a:endParaRPr>
          </a:p>
          <a:p>
            <a:pPr marL="11516" marR="4607">
              <a:lnSpc>
                <a:spcPts val="1025"/>
              </a:lnSpc>
            </a:pPr>
            <a:r>
              <a:rPr sz="907" spc="-5" dirty="0">
                <a:latin typeface="Lucida Console"/>
                <a:cs typeface="Lucida Console"/>
              </a:rPr>
              <a:t>h1=w11*age+w21*water+b1 </a:t>
            </a:r>
            <a:r>
              <a:rPr sz="907" dirty="0">
                <a:latin typeface="Lucida Console"/>
                <a:cs typeface="Lucida Console"/>
              </a:rPr>
              <a:t> </a:t>
            </a:r>
            <a:r>
              <a:rPr sz="907" spc="-5" dirty="0">
                <a:latin typeface="Lucida Console"/>
                <a:cs typeface="Lucida Console"/>
              </a:rPr>
              <a:t>h1=3.31*age+0.13*water+3.05</a:t>
            </a:r>
            <a:endParaRPr sz="907" dirty="0">
              <a:latin typeface="Lucida Console"/>
              <a:cs typeface="Lucida Console"/>
            </a:endParaRPr>
          </a:p>
          <a:p>
            <a:pPr marL="11516" marR="697891">
              <a:lnSpc>
                <a:spcPts val="2049"/>
              </a:lnSpc>
              <a:spcBef>
                <a:spcPts val="45"/>
              </a:spcBef>
            </a:pPr>
            <a:r>
              <a:rPr sz="907" spc="-9" dirty="0">
                <a:latin typeface="Lucida Console"/>
                <a:cs typeface="Lucida Console"/>
              </a:rPr>
              <a:t>luego </a:t>
            </a:r>
            <a:r>
              <a:rPr sz="907" spc="-5" dirty="0">
                <a:latin typeface="Lucida Console"/>
                <a:cs typeface="Lucida Console"/>
              </a:rPr>
              <a:t>activación: </a:t>
            </a:r>
            <a:r>
              <a:rPr sz="907" spc="-535" dirty="0">
                <a:latin typeface="Lucida Console"/>
                <a:cs typeface="Lucida Console"/>
              </a:rPr>
              <a:t> </a:t>
            </a:r>
            <a:r>
              <a:rPr sz="907" spc="-5" dirty="0">
                <a:latin typeface="Lucida Console"/>
                <a:cs typeface="Lucida Console"/>
              </a:rPr>
              <a:t>h1=tanh(h1)</a:t>
            </a:r>
            <a:endParaRPr sz="907" dirty="0">
              <a:latin typeface="Lucida Console"/>
              <a:cs typeface="Lucida Console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8786060"/>
              </p:ext>
            </p:extLst>
          </p:nvPr>
        </p:nvGraphicFramePr>
        <p:xfrm>
          <a:off x="5294923" y="1314710"/>
          <a:ext cx="2070066" cy="394617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17853"/>
                <a:gridCol w="173897"/>
                <a:gridCol w="237236"/>
                <a:gridCol w="1041080"/>
              </a:tblGrid>
              <a:tr h="114702">
                <a:tc gridSpan="2">
                  <a:txBody>
                    <a:bodyPr/>
                    <a:lstStyle/>
                    <a:p>
                      <a:pPr marL="31750">
                        <a:lnSpc>
                          <a:spcPts val="894"/>
                        </a:lnSpc>
                      </a:pPr>
                      <a:r>
                        <a:rPr sz="900" spc="-5" dirty="0">
                          <a:latin typeface="Lucida Console"/>
                          <a:cs typeface="Lucida Console"/>
                        </a:rPr>
                        <a:t>#</a:t>
                      </a:r>
                      <a:r>
                        <a:rPr sz="900" spc="-55" dirty="0">
                          <a:latin typeface="Lucida Console"/>
                          <a:cs typeface="Lucida Console"/>
                        </a:rPr>
                        <a:t> </a:t>
                      </a:r>
                      <a:r>
                        <a:rPr sz="900" spc="-5" dirty="0">
                          <a:latin typeface="Lucida Console"/>
                          <a:cs typeface="Lucida Console"/>
                        </a:rPr>
                        <a:t>weights:</a:t>
                      </a:r>
                      <a:endParaRPr sz="900" dirty="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76835">
                        <a:lnSpc>
                          <a:spcPts val="894"/>
                        </a:lnSpc>
                      </a:pPr>
                      <a:r>
                        <a:rPr sz="900" spc="-10" dirty="0">
                          <a:latin typeface="Lucida Console"/>
                          <a:cs typeface="Lucida Console"/>
                        </a:rPr>
                        <a:t>13</a:t>
                      </a:r>
                      <a:endParaRPr sz="90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2674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ts val="1175"/>
                        </a:lnSpc>
                      </a:pPr>
                      <a:r>
                        <a:rPr sz="900" spc="-5" dirty="0">
                          <a:latin typeface="Lucida Console"/>
                          <a:cs typeface="Lucida Console"/>
                        </a:rPr>
                        <a:t>initial</a:t>
                      </a:r>
                      <a:endParaRPr sz="900">
                        <a:latin typeface="Lucida Console"/>
                        <a:cs typeface="Lucida Console"/>
                      </a:endParaRPr>
                    </a:p>
                  </a:txBody>
                  <a:tcPr marL="0" marR="0" marT="1152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38100">
                        <a:lnSpc>
                          <a:spcPts val="1175"/>
                        </a:lnSpc>
                      </a:pPr>
                      <a:r>
                        <a:rPr sz="900" spc="-5" dirty="0">
                          <a:latin typeface="Lucida Console"/>
                          <a:cs typeface="Lucida Console"/>
                        </a:rPr>
                        <a:t>value</a:t>
                      </a:r>
                      <a:endParaRPr sz="900">
                        <a:latin typeface="Lucida Console"/>
                        <a:cs typeface="Lucida Console"/>
                      </a:endParaRPr>
                    </a:p>
                  </a:txBody>
                  <a:tcPr marL="0" marR="0" marT="1152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43815">
                        <a:lnSpc>
                          <a:spcPts val="1175"/>
                        </a:lnSpc>
                      </a:pPr>
                      <a:r>
                        <a:rPr sz="900" spc="-5" dirty="0">
                          <a:latin typeface="Lucida Console"/>
                          <a:cs typeface="Lucida Console"/>
                        </a:rPr>
                        <a:t>1601216.121533</a:t>
                      </a:r>
                      <a:endParaRPr sz="900">
                        <a:latin typeface="Lucida Console"/>
                        <a:cs typeface="Lucida Console"/>
                      </a:endParaRPr>
                    </a:p>
                  </a:txBody>
                  <a:tcPr marL="0" marR="0" marT="1152" marB="0"/>
                </a:tc>
              </a:tr>
              <a:tr h="129213">
                <a:tc>
                  <a:txBody>
                    <a:bodyPr/>
                    <a:lstStyle/>
                    <a:p>
                      <a:pPr marL="31750">
                        <a:lnSpc>
                          <a:spcPts val="1019"/>
                        </a:lnSpc>
                        <a:tabLst>
                          <a:tab pos="490220" algn="l"/>
                        </a:tabLst>
                      </a:pPr>
                      <a:r>
                        <a:rPr sz="900" spc="-10" dirty="0">
                          <a:latin typeface="Lucida Console"/>
                          <a:cs typeface="Lucida Console"/>
                        </a:rPr>
                        <a:t>iter	10</a:t>
                      </a:r>
                      <a:endParaRPr sz="90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8100">
                        <a:lnSpc>
                          <a:spcPts val="1019"/>
                        </a:lnSpc>
                      </a:pPr>
                      <a:r>
                        <a:rPr sz="900" spc="-5" dirty="0">
                          <a:latin typeface="Lucida Console"/>
                          <a:cs typeface="Lucida Console"/>
                        </a:rPr>
                        <a:t>value</a:t>
                      </a:r>
                      <a:endParaRPr sz="90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3815">
                        <a:lnSpc>
                          <a:spcPts val="1019"/>
                        </a:lnSpc>
                      </a:pPr>
                      <a:r>
                        <a:rPr sz="900" spc="-5" dirty="0">
                          <a:latin typeface="Lucida Console"/>
                          <a:cs typeface="Lucida Console"/>
                        </a:rPr>
                        <a:t>166917.729534</a:t>
                      </a:r>
                      <a:endParaRPr sz="90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</a:tr>
              <a:tr h="129386">
                <a:tc>
                  <a:txBody>
                    <a:bodyPr/>
                    <a:lstStyle/>
                    <a:p>
                      <a:pPr marL="31750">
                        <a:lnSpc>
                          <a:spcPts val="1025"/>
                        </a:lnSpc>
                        <a:tabLst>
                          <a:tab pos="490220" algn="l"/>
                        </a:tabLst>
                      </a:pPr>
                      <a:r>
                        <a:rPr sz="900" spc="-10" dirty="0">
                          <a:latin typeface="Lucida Console"/>
                          <a:cs typeface="Lucida Console"/>
                        </a:rPr>
                        <a:t>iter	20</a:t>
                      </a:r>
                      <a:endParaRPr sz="90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8100">
                        <a:lnSpc>
                          <a:spcPts val="1025"/>
                        </a:lnSpc>
                      </a:pPr>
                      <a:r>
                        <a:rPr sz="900" spc="-5" dirty="0">
                          <a:latin typeface="Lucida Console"/>
                          <a:cs typeface="Lucida Console"/>
                        </a:rPr>
                        <a:t>value</a:t>
                      </a:r>
                      <a:endParaRPr sz="900" dirty="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3815">
                        <a:lnSpc>
                          <a:spcPts val="1025"/>
                        </a:lnSpc>
                      </a:pPr>
                      <a:r>
                        <a:rPr sz="900" spc="-5" dirty="0">
                          <a:latin typeface="Lucida Console"/>
                          <a:cs typeface="Lucida Console"/>
                        </a:rPr>
                        <a:t>147054.970173</a:t>
                      </a:r>
                      <a:endParaRPr sz="90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</a:tr>
              <a:tr h="130077">
                <a:tc>
                  <a:txBody>
                    <a:bodyPr/>
                    <a:lstStyle/>
                    <a:p>
                      <a:pPr marL="31750">
                        <a:lnSpc>
                          <a:spcPts val="1030"/>
                        </a:lnSpc>
                        <a:tabLst>
                          <a:tab pos="490220" algn="l"/>
                        </a:tabLst>
                      </a:pPr>
                      <a:r>
                        <a:rPr sz="900" spc="-10" dirty="0">
                          <a:latin typeface="Lucida Console"/>
                          <a:cs typeface="Lucida Console"/>
                        </a:rPr>
                        <a:t>iter	30</a:t>
                      </a:r>
                      <a:endParaRPr sz="90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8100">
                        <a:lnSpc>
                          <a:spcPts val="1030"/>
                        </a:lnSpc>
                      </a:pPr>
                      <a:r>
                        <a:rPr sz="900" spc="-5" dirty="0">
                          <a:latin typeface="Lucida Console"/>
                          <a:cs typeface="Lucida Console"/>
                        </a:rPr>
                        <a:t>value</a:t>
                      </a:r>
                      <a:endParaRPr sz="900" dirty="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3815">
                        <a:lnSpc>
                          <a:spcPts val="1030"/>
                        </a:lnSpc>
                      </a:pPr>
                      <a:r>
                        <a:rPr sz="900" spc="-5" dirty="0">
                          <a:latin typeface="Lucida Console"/>
                          <a:cs typeface="Lucida Console"/>
                        </a:rPr>
                        <a:t>144565.081887</a:t>
                      </a:r>
                      <a:endParaRPr sz="90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</a:tr>
              <a:tr h="129904">
                <a:tc>
                  <a:txBody>
                    <a:bodyPr/>
                    <a:lstStyle/>
                    <a:p>
                      <a:pPr marL="31750">
                        <a:lnSpc>
                          <a:spcPts val="1030"/>
                        </a:lnSpc>
                        <a:tabLst>
                          <a:tab pos="490220" algn="l"/>
                        </a:tabLst>
                      </a:pPr>
                      <a:r>
                        <a:rPr sz="900" spc="-10" dirty="0">
                          <a:latin typeface="Lucida Console"/>
                          <a:cs typeface="Lucida Console"/>
                        </a:rPr>
                        <a:t>iter	40</a:t>
                      </a:r>
                      <a:endParaRPr sz="90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8100">
                        <a:lnSpc>
                          <a:spcPts val="1030"/>
                        </a:lnSpc>
                      </a:pPr>
                      <a:r>
                        <a:rPr sz="900" spc="-5" dirty="0">
                          <a:latin typeface="Lucida Console"/>
                          <a:cs typeface="Lucida Console"/>
                        </a:rPr>
                        <a:t>value</a:t>
                      </a:r>
                      <a:endParaRPr sz="90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3815">
                        <a:lnSpc>
                          <a:spcPts val="1030"/>
                        </a:lnSpc>
                      </a:pPr>
                      <a:r>
                        <a:rPr sz="900" spc="-5" dirty="0">
                          <a:latin typeface="Lucida Console"/>
                          <a:cs typeface="Lucida Console"/>
                        </a:rPr>
                        <a:t>143638.206741</a:t>
                      </a:r>
                      <a:endParaRPr sz="90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</a:tr>
              <a:tr h="129214">
                <a:tc>
                  <a:txBody>
                    <a:bodyPr/>
                    <a:lstStyle/>
                    <a:p>
                      <a:pPr marL="31750">
                        <a:lnSpc>
                          <a:spcPts val="1019"/>
                        </a:lnSpc>
                        <a:tabLst>
                          <a:tab pos="490220" algn="l"/>
                        </a:tabLst>
                      </a:pPr>
                      <a:r>
                        <a:rPr sz="900" spc="-10" dirty="0">
                          <a:latin typeface="Lucida Console"/>
                          <a:cs typeface="Lucida Console"/>
                        </a:rPr>
                        <a:t>iter	50</a:t>
                      </a:r>
                      <a:endParaRPr sz="90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8100">
                        <a:lnSpc>
                          <a:spcPts val="1019"/>
                        </a:lnSpc>
                      </a:pPr>
                      <a:r>
                        <a:rPr sz="900" spc="-5" dirty="0">
                          <a:latin typeface="Lucida Console"/>
                          <a:cs typeface="Lucida Console"/>
                        </a:rPr>
                        <a:t>value</a:t>
                      </a:r>
                      <a:endParaRPr sz="900" dirty="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3815">
                        <a:lnSpc>
                          <a:spcPts val="1019"/>
                        </a:lnSpc>
                      </a:pPr>
                      <a:r>
                        <a:rPr sz="900" spc="-5" dirty="0">
                          <a:latin typeface="Lucida Console"/>
                          <a:cs typeface="Lucida Console"/>
                        </a:rPr>
                        <a:t>143070.915174</a:t>
                      </a:r>
                      <a:endParaRPr sz="90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</a:tr>
              <a:tr h="129190">
                <a:tc>
                  <a:txBody>
                    <a:bodyPr/>
                    <a:lstStyle/>
                    <a:p>
                      <a:pPr marL="31750">
                        <a:lnSpc>
                          <a:spcPts val="1019"/>
                        </a:lnSpc>
                        <a:tabLst>
                          <a:tab pos="490220" algn="l"/>
                        </a:tabLst>
                      </a:pPr>
                      <a:r>
                        <a:rPr sz="900" spc="-10" dirty="0">
                          <a:latin typeface="Lucida Console"/>
                          <a:cs typeface="Lucida Console"/>
                        </a:rPr>
                        <a:t>iter	60</a:t>
                      </a:r>
                      <a:endParaRPr sz="90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8100">
                        <a:lnSpc>
                          <a:spcPts val="1019"/>
                        </a:lnSpc>
                      </a:pPr>
                      <a:r>
                        <a:rPr sz="900" spc="-5" dirty="0">
                          <a:latin typeface="Lucida Console"/>
                          <a:cs typeface="Lucida Console"/>
                        </a:rPr>
                        <a:t>value</a:t>
                      </a:r>
                      <a:endParaRPr sz="90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3815">
                        <a:lnSpc>
                          <a:spcPts val="1019"/>
                        </a:lnSpc>
                      </a:pPr>
                      <a:r>
                        <a:rPr sz="900" spc="-5" dirty="0">
                          <a:latin typeface="Lucida Console"/>
                          <a:cs typeface="Lucida Console"/>
                        </a:rPr>
                        <a:t>141797.145971</a:t>
                      </a:r>
                      <a:endParaRPr sz="900" dirty="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</a:tr>
              <a:tr h="129881">
                <a:tc>
                  <a:txBody>
                    <a:bodyPr/>
                    <a:lstStyle/>
                    <a:p>
                      <a:pPr marL="31750">
                        <a:lnSpc>
                          <a:spcPts val="1030"/>
                        </a:lnSpc>
                        <a:tabLst>
                          <a:tab pos="490220" algn="l"/>
                        </a:tabLst>
                      </a:pPr>
                      <a:r>
                        <a:rPr sz="900" spc="-10" dirty="0">
                          <a:latin typeface="Lucida Console"/>
                          <a:cs typeface="Lucida Console"/>
                        </a:rPr>
                        <a:t>iter	70</a:t>
                      </a:r>
                      <a:endParaRPr sz="90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8100">
                        <a:lnSpc>
                          <a:spcPts val="1030"/>
                        </a:lnSpc>
                      </a:pPr>
                      <a:r>
                        <a:rPr sz="900" spc="-5" dirty="0">
                          <a:latin typeface="Lucida Console"/>
                          <a:cs typeface="Lucida Console"/>
                        </a:rPr>
                        <a:t>value</a:t>
                      </a:r>
                      <a:endParaRPr sz="90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3815">
                        <a:lnSpc>
                          <a:spcPts val="1030"/>
                        </a:lnSpc>
                      </a:pPr>
                      <a:r>
                        <a:rPr sz="900" spc="-5" dirty="0">
                          <a:latin typeface="Lucida Console"/>
                          <a:cs typeface="Lucida Console"/>
                        </a:rPr>
                        <a:t>141156.059581</a:t>
                      </a:r>
                      <a:endParaRPr sz="90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</a:tr>
              <a:tr h="129905">
                <a:tc>
                  <a:txBody>
                    <a:bodyPr/>
                    <a:lstStyle/>
                    <a:p>
                      <a:pPr marL="31750">
                        <a:lnSpc>
                          <a:spcPts val="1030"/>
                        </a:lnSpc>
                        <a:tabLst>
                          <a:tab pos="490220" algn="l"/>
                        </a:tabLst>
                      </a:pPr>
                      <a:r>
                        <a:rPr sz="900" spc="-10" dirty="0">
                          <a:latin typeface="Lucida Console"/>
                          <a:cs typeface="Lucida Console"/>
                        </a:rPr>
                        <a:t>iter	80</a:t>
                      </a:r>
                      <a:endParaRPr sz="90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8100">
                        <a:lnSpc>
                          <a:spcPts val="1030"/>
                        </a:lnSpc>
                      </a:pPr>
                      <a:r>
                        <a:rPr sz="900" spc="-5" dirty="0">
                          <a:latin typeface="Lucida Console"/>
                          <a:cs typeface="Lucida Console"/>
                        </a:rPr>
                        <a:t>value</a:t>
                      </a:r>
                      <a:endParaRPr sz="90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3815">
                        <a:lnSpc>
                          <a:spcPts val="1030"/>
                        </a:lnSpc>
                      </a:pPr>
                      <a:r>
                        <a:rPr sz="900" spc="-5" dirty="0">
                          <a:latin typeface="Lucida Console"/>
                          <a:cs typeface="Lucida Console"/>
                        </a:rPr>
                        <a:t>140535.605141</a:t>
                      </a:r>
                      <a:endParaRPr sz="90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</a:tr>
              <a:tr h="129214">
                <a:tc>
                  <a:txBody>
                    <a:bodyPr/>
                    <a:lstStyle/>
                    <a:p>
                      <a:pPr marL="31750">
                        <a:lnSpc>
                          <a:spcPts val="1019"/>
                        </a:lnSpc>
                        <a:tabLst>
                          <a:tab pos="490220" algn="l"/>
                        </a:tabLst>
                      </a:pPr>
                      <a:r>
                        <a:rPr sz="900" spc="-10" dirty="0">
                          <a:latin typeface="Lucida Console"/>
                          <a:cs typeface="Lucida Console"/>
                        </a:rPr>
                        <a:t>iter	90</a:t>
                      </a:r>
                      <a:endParaRPr sz="90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8100">
                        <a:lnSpc>
                          <a:spcPts val="1019"/>
                        </a:lnSpc>
                      </a:pPr>
                      <a:r>
                        <a:rPr sz="900" spc="-5" dirty="0">
                          <a:latin typeface="Lucida Console"/>
                          <a:cs typeface="Lucida Console"/>
                        </a:rPr>
                        <a:t>value</a:t>
                      </a:r>
                      <a:endParaRPr sz="90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3815">
                        <a:lnSpc>
                          <a:spcPts val="1019"/>
                        </a:lnSpc>
                      </a:pPr>
                      <a:r>
                        <a:rPr sz="900" spc="-5" dirty="0">
                          <a:latin typeface="Lucida Console"/>
                          <a:cs typeface="Lucida Console"/>
                        </a:rPr>
                        <a:t>140427.683543</a:t>
                      </a:r>
                      <a:endParaRPr sz="90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</a:tr>
              <a:tr h="121612">
                <a:tc>
                  <a:txBody>
                    <a:bodyPr/>
                    <a:lstStyle/>
                    <a:p>
                      <a:pPr marL="31750">
                        <a:lnSpc>
                          <a:spcPts val="955"/>
                        </a:lnSpc>
                      </a:pPr>
                      <a:r>
                        <a:rPr sz="900" spc="-10" dirty="0">
                          <a:latin typeface="Lucida Console"/>
                          <a:cs typeface="Lucida Console"/>
                        </a:rPr>
                        <a:t>iter</a:t>
                      </a:r>
                      <a:r>
                        <a:rPr sz="900" spc="-60" dirty="0">
                          <a:latin typeface="Lucida Console"/>
                          <a:cs typeface="Lucida Console"/>
                        </a:rPr>
                        <a:t> </a:t>
                      </a:r>
                      <a:r>
                        <a:rPr sz="900" dirty="0">
                          <a:latin typeface="Lucida Console"/>
                          <a:cs typeface="Lucida Console"/>
                        </a:rPr>
                        <a:t>100</a:t>
                      </a:r>
                      <a:endParaRPr sz="90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8100">
                        <a:lnSpc>
                          <a:spcPts val="955"/>
                        </a:lnSpc>
                      </a:pPr>
                      <a:r>
                        <a:rPr sz="900" spc="-5" dirty="0">
                          <a:latin typeface="Lucida Console"/>
                          <a:cs typeface="Lucida Console"/>
                        </a:rPr>
                        <a:t>value</a:t>
                      </a:r>
                      <a:endParaRPr sz="90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3815">
                        <a:lnSpc>
                          <a:spcPts val="955"/>
                        </a:lnSpc>
                      </a:pPr>
                      <a:r>
                        <a:rPr sz="900" spc="-5" dirty="0">
                          <a:latin typeface="Lucida Console"/>
                          <a:cs typeface="Lucida Console"/>
                        </a:rPr>
                        <a:t>140017.488970</a:t>
                      </a:r>
                      <a:endParaRPr sz="900" dirty="0">
                        <a:latin typeface="Lucida Console"/>
                        <a:cs typeface="Lucida Console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10" name="object 10"/>
          <p:cNvSpPr txBox="1"/>
          <p:nvPr/>
        </p:nvSpPr>
        <p:spPr>
          <a:xfrm>
            <a:off x="5294923" y="5411549"/>
            <a:ext cx="1965269" cy="278575"/>
          </a:xfrm>
          <a:prstGeom prst="rect">
            <a:avLst/>
          </a:prstGeom>
        </p:spPr>
        <p:txBody>
          <a:bodyPr vert="horz" wrap="square" lIns="0" tIns="21881" rIns="0" bIns="0" rtlCol="0">
            <a:spAutoFit/>
          </a:bodyPr>
          <a:lstStyle/>
          <a:p>
            <a:pPr marL="11516" marR="4607">
              <a:lnSpc>
                <a:spcPts val="1025"/>
              </a:lnSpc>
              <a:spcBef>
                <a:spcPts val="172"/>
              </a:spcBef>
              <a:tabLst>
                <a:tab pos="496355" algn="l"/>
              </a:tabLst>
            </a:pPr>
            <a:r>
              <a:rPr sz="907" spc="-9" dirty="0">
                <a:latin typeface="Lucida Console"/>
                <a:cs typeface="Lucida Console"/>
              </a:rPr>
              <a:t>final	</a:t>
            </a:r>
            <a:r>
              <a:rPr sz="907" spc="-5" dirty="0">
                <a:latin typeface="Lucida Console"/>
                <a:cs typeface="Lucida Console"/>
              </a:rPr>
              <a:t>value 140017.488970 </a:t>
            </a:r>
            <a:r>
              <a:rPr sz="907" dirty="0">
                <a:latin typeface="Lucida Console"/>
                <a:cs typeface="Lucida Console"/>
              </a:rPr>
              <a:t> </a:t>
            </a:r>
            <a:r>
              <a:rPr sz="907" spc="-5" dirty="0">
                <a:latin typeface="Lucida Console"/>
                <a:cs typeface="Lucida Console"/>
              </a:rPr>
              <a:t>stopped</a:t>
            </a:r>
            <a:r>
              <a:rPr sz="907" spc="-9" dirty="0">
                <a:latin typeface="Lucida Console"/>
                <a:cs typeface="Lucida Console"/>
              </a:rPr>
              <a:t> </a:t>
            </a:r>
            <a:r>
              <a:rPr sz="907" spc="-5" dirty="0">
                <a:latin typeface="Lucida Console"/>
                <a:cs typeface="Lucida Console"/>
              </a:rPr>
              <a:t>after </a:t>
            </a:r>
            <a:r>
              <a:rPr sz="907" dirty="0">
                <a:latin typeface="Lucida Console"/>
                <a:cs typeface="Lucida Console"/>
              </a:rPr>
              <a:t>100</a:t>
            </a:r>
            <a:r>
              <a:rPr sz="907" spc="-9" dirty="0">
                <a:latin typeface="Lucida Console"/>
                <a:cs typeface="Lucida Console"/>
              </a:rPr>
              <a:t> </a:t>
            </a:r>
            <a:r>
              <a:rPr sz="907" spc="-5" dirty="0">
                <a:latin typeface="Lucida Console"/>
                <a:cs typeface="Lucida Console"/>
              </a:rPr>
              <a:t>iterations</a:t>
            </a:r>
            <a:endParaRPr sz="907" dirty="0">
              <a:latin typeface="Lucida Console"/>
              <a:cs typeface="Lucida Console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05937" y="2014086"/>
            <a:ext cx="3637406" cy="2539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619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84229" y="457776"/>
            <a:ext cx="8934058" cy="1957327"/>
          </a:xfrm>
          <a:prstGeom prst="rect">
            <a:avLst/>
          </a:prstGeom>
        </p:spPr>
        <p:txBody>
          <a:bodyPr vert="horz" wrap="square" lIns="0" tIns="33397" rIns="0" bIns="0" rtlCol="0">
            <a:spAutoFit/>
          </a:bodyPr>
          <a:lstStyle/>
          <a:p>
            <a:pPr marL="11516" marR="4607" algn="just">
              <a:lnSpc>
                <a:spcPts val="2503"/>
              </a:lnSpc>
              <a:spcBef>
                <a:spcPts val="263"/>
              </a:spcBef>
              <a:tabLst>
                <a:tab pos="633976" algn="l"/>
                <a:tab pos="1610563" algn="l"/>
                <a:tab pos="2034365" algn="l"/>
                <a:tab pos="3115751" algn="l"/>
                <a:tab pos="3478517" algn="l"/>
                <a:tab pos="4253568" algn="l"/>
                <a:tab pos="4554720" algn="l"/>
                <a:tab pos="5652805" algn="l"/>
                <a:tab pos="6075455" algn="l"/>
                <a:tab pos="6560870" algn="l"/>
                <a:tab pos="7661258" algn="l"/>
                <a:tab pos="8053391" algn="l"/>
              </a:tabLst>
            </a:pPr>
            <a:r>
              <a:rPr sz="1814" spc="-5" dirty="0">
                <a:latin typeface="Times New Roman"/>
                <a:cs typeface="Times New Roman"/>
              </a:rPr>
              <a:t>Un</a:t>
            </a:r>
            <a:r>
              <a:rPr sz="1814" dirty="0">
                <a:latin typeface="Times New Roman"/>
                <a:cs typeface="Times New Roman"/>
              </a:rPr>
              <a:t>a	</a:t>
            </a:r>
            <a:r>
              <a:rPr sz="1814" spc="-18" dirty="0">
                <a:latin typeface="Times New Roman"/>
                <a:cs typeface="Times New Roman"/>
              </a:rPr>
              <a:t>m</a:t>
            </a:r>
            <a:r>
              <a:rPr sz="1814" dirty="0">
                <a:latin typeface="Times New Roman"/>
                <a:cs typeface="Times New Roman"/>
              </a:rPr>
              <a:t>ane</a:t>
            </a:r>
            <a:r>
              <a:rPr sz="1814" spc="18" dirty="0">
                <a:latin typeface="Times New Roman"/>
                <a:cs typeface="Times New Roman"/>
              </a:rPr>
              <a:t>r</a:t>
            </a:r>
            <a:r>
              <a:rPr sz="1814" dirty="0">
                <a:latin typeface="Times New Roman"/>
                <a:cs typeface="Times New Roman"/>
              </a:rPr>
              <a:t>a	de	</a:t>
            </a:r>
            <a:r>
              <a:rPr sz="1814" dirty="0" err="1">
                <a:latin typeface="Times New Roman"/>
                <a:cs typeface="Times New Roman"/>
              </a:rPr>
              <a:t>ex</a:t>
            </a:r>
            <a:r>
              <a:rPr sz="1814" spc="-9" dirty="0" err="1">
                <a:latin typeface="Times New Roman"/>
                <a:cs typeface="Times New Roman"/>
              </a:rPr>
              <a:t>p</a:t>
            </a:r>
            <a:r>
              <a:rPr sz="1814" dirty="0" err="1">
                <a:latin typeface="Times New Roman"/>
                <a:cs typeface="Times New Roman"/>
              </a:rPr>
              <a:t>l</a:t>
            </a:r>
            <a:r>
              <a:rPr sz="1814" spc="-9" dirty="0" err="1">
                <a:latin typeface="Times New Roman"/>
                <a:cs typeface="Times New Roman"/>
              </a:rPr>
              <a:t>o</a:t>
            </a:r>
            <a:r>
              <a:rPr sz="1814" dirty="0" err="1">
                <a:latin typeface="Times New Roman"/>
                <a:cs typeface="Times New Roman"/>
              </a:rPr>
              <a:t>rar</a:t>
            </a:r>
            <a:r>
              <a:rPr lang="es-ES" sz="1814" dirty="0">
                <a:latin typeface="Times New Roman"/>
                <a:cs typeface="Times New Roman"/>
              </a:rPr>
              <a:t> </a:t>
            </a:r>
            <a:r>
              <a:rPr sz="1814" spc="-14" dirty="0" err="1">
                <a:latin typeface="Times New Roman"/>
                <a:cs typeface="Times New Roman"/>
              </a:rPr>
              <a:t>s</a:t>
            </a:r>
            <a:r>
              <a:rPr sz="1814" dirty="0" err="1">
                <a:latin typeface="Times New Roman"/>
                <a:cs typeface="Times New Roman"/>
              </a:rPr>
              <a:t>esgo</a:t>
            </a:r>
            <a:r>
              <a:rPr sz="1814" dirty="0">
                <a:latin typeface="Times New Roman"/>
                <a:cs typeface="Times New Roman"/>
              </a:rPr>
              <a:t>	y</a:t>
            </a:r>
            <a:r>
              <a:rPr lang="es-ES" sz="1814" dirty="0">
                <a:latin typeface="Times New Roman"/>
                <a:cs typeface="Times New Roman"/>
              </a:rPr>
              <a:t> </a:t>
            </a:r>
            <a:r>
              <a:rPr sz="1814" dirty="0" err="1">
                <a:latin typeface="Times New Roman"/>
                <a:cs typeface="Times New Roman"/>
              </a:rPr>
              <a:t>varia</a:t>
            </a:r>
            <a:r>
              <a:rPr sz="1814" spc="-9" dirty="0" err="1">
                <a:latin typeface="Times New Roman"/>
                <a:cs typeface="Times New Roman"/>
              </a:rPr>
              <a:t>n</a:t>
            </a:r>
            <a:r>
              <a:rPr sz="1814" dirty="0" err="1">
                <a:latin typeface="Times New Roman"/>
                <a:cs typeface="Times New Roman"/>
              </a:rPr>
              <a:t>za</a:t>
            </a:r>
            <a:r>
              <a:rPr sz="1814" dirty="0">
                <a:latin typeface="Times New Roman"/>
                <a:cs typeface="Times New Roman"/>
              </a:rPr>
              <a:t>	</a:t>
            </a:r>
            <a:r>
              <a:rPr sz="1814" dirty="0" err="1">
                <a:latin typeface="Times New Roman"/>
                <a:cs typeface="Times New Roman"/>
              </a:rPr>
              <a:t>es</a:t>
            </a:r>
            <a:r>
              <a:rPr lang="es-ES" sz="1814" dirty="0">
                <a:latin typeface="Times New Roman"/>
                <a:cs typeface="Times New Roman"/>
              </a:rPr>
              <a:t> </a:t>
            </a:r>
            <a:r>
              <a:rPr sz="1814" dirty="0" err="1">
                <a:latin typeface="Times New Roman"/>
                <a:cs typeface="Times New Roman"/>
              </a:rPr>
              <a:t>hac</a:t>
            </a:r>
            <a:r>
              <a:rPr sz="1814" spc="5" dirty="0" err="1">
                <a:latin typeface="Times New Roman"/>
                <a:cs typeface="Times New Roman"/>
              </a:rPr>
              <a:t>i</a:t>
            </a:r>
            <a:r>
              <a:rPr sz="1814" dirty="0" err="1">
                <a:latin typeface="Times New Roman"/>
                <a:cs typeface="Times New Roman"/>
              </a:rPr>
              <a:t>en</a:t>
            </a:r>
            <a:r>
              <a:rPr sz="1814" spc="-9" dirty="0" err="1">
                <a:latin typeface="Times New Roman"/>
                <a:cs typeface="Times New Roman"/>
              </a:rPr>
              <a:t>d</a:t>
            </a:r>
            <a:r>
              <a:rPr sz="1814" dirty="0" err="1">
                <a:latin typeface="Times New Roman"/>
                <a:cs typeface="Times New Roman"/>
              </a:rPr>
              <a:t>o</a:t>
            </a:r>
            <a:r>
              <a:rPr sz="1814" dirty="0">
                <a:latin typeface="Times New Roman"/>
                <a:cs typeface="Times New Roman"/>
              </a:rPr>
              <a:t>  </a:t>
            </a:r>
            <a:r>
              <a:rPr sz="1814" b="1" dirty="0">
                <a:latin typeface="Times New Roman"/>
                <a:cs typeface="Times New Roman"/>
              </a:rPr>
              <a:t>validación</a:t>
            </a:r>
            <a:r>
              <a:rPr sz="1814" b="1" spc="18" dirty="0">
                <a:latin typeface="Times New Roman"/>
                <a:cs typeface="Times New Roman"/>
              </a:rPr>
              <a:t> </a:t>
            </a:r>
            <a:r>
              <a:rPr sz="1814" b="1" dirty="0">
                <a:latin typeface="Times New Roman"/>
                <a:cs typeface="Times New Roman"/>
              </a:rPr>
              <a:t>cruzada</a:t>
            </a:r>
            <a:r>
              <a:rPr sz="1814" b="1" spc="27" dirty="0">
                <a:latin typeface="Times New Roman"/>
                <a:cs typeface="Times New Roman"/>
              </a:rPr>
              <a:t> </a:t>
            </a:r>
            <a:r>
              <a:rPr sz="1814" b="1" dirty="0">
                <a:latin typeface="Times New Roman"/>
                <a:cs typeface="Times New Roman"/>
              </a:rPr>
              <a:t>repetida</a:t>
            </a:r>
            <a:r>
              <a:rPr sz="1814" b="1" spc="23" dirty="0">
                <a:latin typeface="Times New Roman"/>
                <a:cs typeface="Times New Roman"/>
              </a:rPr>
              <a:t> </a:t>
            </a:r>
            <a:r>
              <a:rPr sz="1814" b="1" spc="-5" dirty="0">
                <a:latin typeface="Times New Roman"/>
                <a:cs typeface="Times New Roman"/>
              </a:rPr>
              <a:t>(k-fold</a:t>
            </a:r>
            <a:r>
              <a:rPr sz="1814" b="1" spc="18" dirty="0">
                <a:latin typeface="Times New Roman"/>
                <a:cs typeface="Times New Roman"/>
              </a:rPr>
              <a:t> </a:t>
            </a:r>
            <a:r>
              <a:rPr sz="1814" b="1" dirty="0">
                <a:latin typeface="Times New Roman"/>
                <a:cs typeface="Times New Roman"/>
              </a:rPr>
              <a:t>repeated</a:t>
            </a:r>
            <a:r>
              <a:rPr sz="1814" b="1" spc="14" dirty="0">
                <a:latin typeface="Times New Roman"/>
                <a:cs typeface="Times New Roman"/>
              </a:rPr>
              <a:t> </a:t>
            </a:r>
            <a:r>
              <a:rPr sz="1814" b="1" dirty="0">
                <a:latin typeface="Times New Roman"/>
                <a:cs typeface="Times New Roman"/>
              </a:rPr>
              <a:t>crossvalidation)</a:t>
            </a:r>
            <a:r>
              <a:rPr sz="1814" b="1" spc="32" dirty="0">
                <a:latin typeface="Times New Roman"/>
                <a:cs typeface="Times New Roman"/>
              </a:rPr>
              <a:t> </a:t>
            </a:r>
            <a:r>
              <a:rPr sz="1814" dirty="0">
                <a:latin typeface="Times New Roman"/>
                <a:cs typeface="Times New Roman"/>
              </a:rPr>
              <a:t>y</a:t>
            </a:r>
            <a:r>
              <a:rPr lang="es-ES" sz="1814" spc="18" dirty="0">
                <a:latin typeface="Times New Roman"/>
                <a:cs typeface="Times New Roman"/>
              </a:rPr>
              <a:t> </a:t>
            </a:r>
            <a:r>
              <a:rPr sz="1814" dirty="0" err="1">
                <a:latin typeface="Times New Roman"/>
                <a:cs typeface="Times New Roman"/>
              </a:rPr>
              <a:t>observando</a:t>
            </a:r>
            <a:r>
              <a:rPr lang="es-ES" sz="1814" spc="9" dirty="0">
                <a:latin typeface="Times New Roman"/>
                <a:cs typeface="Times New Roman"/>
              </a:rPr>
              <a:t> </a:t>
            </a:r>
            <a:r>
              <a:rPr sz="1814" dirty="0">
                <a:latin typeface="Times New Roman"/>
                <a:cs typeface="Times New Roman"/>
              </a:rPr>
              <a:t>el</a:t>
            </a:r>
            <a:r>
              <a:rPr lang="es-ES" sz="1814" spc="-530" dirty="0">
                <a:latin typeface="Times New Roman"/>
                <a:cs typeface="Times New Roman"/>
              </a:rPr>
              <a:t> </a:t>
            </a:r>
            <a:r>
              <a:rPr sz="1814" dirty="0">
                <a:latin typeface="Times New Roman"/>
                <a:cs typeface="Times New Roman"/>
              </a:rPr>
              <a:t>error</a:t>
            </a:r>
            <a:r>
              <a:rPr sz="1814" spc="159" dirty="0">
                <a:latin typeface="Times New Roman"/>
                <a:cs typeface="Times New Roman"/>
              </a:rPr>
              <a:t> </a:t>
            </a:r>
            <a:r>
              <a:rPr sz="1814" dirty="0">
                <a:latin typeface="Times New Roman"/>
                <a:cs typeface="Times New Roman"/>
              </a:rPr>
              <a:t>promedio</a:t>
            </a:r>
            <a:r>
              <a:rPr sz="1814" spc="154" dirty="0">
                <a:latin typeface="Times New Roman"/>
                <a:cs typeface="Times New Roman"/>
              </a:rPr>
              <a:t> </a:t>
            </a:r>
            <a:r>
              <a:rPr sz="1814" dirty="0">
                <a:latin typeface="Times New Roman"/>
                <a:cs typeface="Times New Roman"/>
              </a:rPr>
              <a:t>cometido</a:t>
            </a:r>
            <a:r>
              <a:rPr sz="1814" spc="154" dirty="0">
                <a:latin typeface="Times New Roman"/>
                <a:cs typeface="Times New Roman"/>
              </a:rPr>
              <a:t> </a:t>
            </a:r>
            <a:r>
              <a:rPr sz="1814" dirty="0">
                <a:latin typeface="Times New Roman"/>
                <a:cs typeface="Times New Roman"/>
              </a:rPr>
              <a:t>(sesgo)</a:t>
            </a:r>
            <a:r>
              <a:rPr sz="1814" spc="154" dirty="0">
                <a:latin typeface="Times New Roman"/>
                <a:cs typeface="Times New Roman"/>
              </a:rPr>
              <a:t> </a:t>
            </a:r>
            <a:r>
              <a:rPr sz="1814" dirty="0">
                <a:latin typeface="Times New Roman"/>
                <a:cs typeface="Times New Roman"/>
              </a:rPr>
              <a:t>y</a:t>
            </a:r>
            <a:r>
              <a:rPr sz="1814" spc="154" dirty="0">
                <a:latin typeface="Times New Roman"/>
                <a:cs typeface="Times New Roman"/>
              </a:rPr>
              <a:t> </a:t>
            </a:r>
            <a:r>
              <a:rPr sz="1814" spc="-5" dirty="0">
                <a:latin typeface="Times New Roman"/>
                <a:cs typeface="Times New Roman"/>
              </a:rPr>
              <a:t>su</a:t>
            </a:r>
            <a:r>
              <a:rPr sz="1814" spc="150" dirty="0">
                <a:latin typeface="Times New Roman"/>
                <a:cs typeface="Times New Roman"/>
              </a:rPr>
              <a:t> </a:t>
            </a:r>
            <a:r>
              <a:rPr sz="1814" dirty="0">
                <a:latin typeface="Times New Roman"/>
                <a:cs typeface="Times New Roman"/>
              </a:rPr>
              <a:t>variabilidad</a:t>
            </a:r>
            <a:r>
              <a:rPr sz="1814" spc="154" dirty="0">
                <a:latin typeface="Times New Roman"/>
                <a:cs typeface="Times New Roman"/>
              </a:rPr>
              <a:t> </a:t>
            </a:r>
            <a:r>
              <a:rPr sz="1814" dirty="0">
                <a:latin typeface="Times New Roman"/>
                <a:cs typeface="Times New Roman"/>
              </a:rPr>
              <a:t>(altura</a:t>
            </a:r>
            <a:r>
              <a:rPr sz="1814" spc="159" dirty="0">
                <a:latin typeface="Times New Roman"/>
                <a:cs typeface="Times New Roman"/>
              </a:rPr>
              <a:t> </a:t>
            </a:r>
            <a:r>
              <a:rPr sz="1814" dirty="0">
                <a:latin typeface="Times New Roman"/>
                <a:cs typeface="Times New Roman"/>
              </a:rPr>
              <a:t>de</a:t>
            </a:r>
            <a:r>
              <a:rPr sz="1814" spc="150" dirty="0">
                <a:latin typeface="Times New Roman"/>
                <a:cs typeface="Times New Roman"/>
              </a:rPr>
              <a:t> </a:t>
            </a:r>
            <a:r>
              <a:rPr sz="1814" dirty="0">
                <a:latin typeface="Times New Roman"/>
                <a:cs typeface="Times New Roman"/>
              </a:rPr>
              <a:t>la</a:t>
            </a:r>
            <a:r>
              <a:rPr sz="1814" spc="159" dirty="0">
                <a:latin typeface="Times New Roman"/>
                <a:cs typeface="Times New Roman"/>
              </a:rPr>
              <a:t> </a:t>
            </a:r>
            <a:r>
              <a:rPr sz="1814" dirty="0">
                <a:latin typeface="Times New Roman"/>
                <a:cs typeface="Times New Roman"/>
              </a:rPr>
              <a:t>caja).</a:t>
            </a:r>
            <a:r>
              <a:rPr sz="1814" spc="159" dirty="0">
                <a:latin typeface="Times New Roman"/>
                <a:cs typeface="Times New Roman"/>
              </a:rPr>
              <a:t> </a:t>
            </a:r>
            <a:r>
              <a:rPr sz="1814" spc="-5" dirty="0">
                <a:latin typeface="Times New Roman"/>
                <a:cs typeface="Times New Roman"/>
              </a:rPr>
              <a:t>Se</a:t>
            </a:r>
            <a:r>
              <a:rPr sz="1814" spc="154" dirty="0">
                <a:latin typeface="Times New Roman"/>
                <a:cs typeface="Times New Roman"/>
              </a:rPr>
              <a:t> </a:t>
            </a:r>
            <a:r>
              <a:rPr sz="1814" dirty="0">
                <a:latin typeface="Times New Roman"/>
                <a:cs typeface="Times New Roman"/>
              </a:rPr>
              <a:t>puede </a:t>
            </a:r>
            <a:r>
              <a:rPr sz="1814" spc="5" dirty="0">
                <a:latin typeface="Times New Roman"/>
                <a:cs typeface="Times New Roman"/>
              </a:rPr>
              <a:t> </a:t>
            </a:r>
            <a:r>
              <a:rPr sz="1814" dirty="0">
                <a:latin typeface="Times New Roman"/>
                <a:cs typeface="Times New Roman"/>
              </a:rPr>
              <a:t>realizar</a:t>
            </a:r>
            <a:r>
              <a:rPr sz="1814" spc="159" dirty="0">
                <a:latin typeface="Times New Roman"/>
                <a:cs typeface="Times New Roman"/>
              </a:rPr>
              <a:t> </a:t>
            </a:r>
            <a:r>
              <a:rPr sz="1814" dirty="0">
                <a:latin typeface="Times New Roman"/>
                <a:cs typeface="Times New Roman"/>
              </a:rPr>
              <a:t>a través de boxplot</a:t>
            </a:r>
            <a:r>
              <a:rPr sz="1814" spc="9" dirty="0">
                <a:latin typeface="Times New Roman"/>
                <a:cs typeface="Times New Roman"/>
              </a:rPr>
              <a:t> </a:t>
            </a:r>
            <a:r>
              <a:rPr sz="1814" dirty="0">
                <a:latin typeface="Times New Roman"/>
                <a:cs typeface="Times New Roman"/>
              </a:rPr>
              <a:t>.</a:t>
            </a:r>
          </a:p>
          <a:p>
            <a:pPr marL="11516" marR="5758" algn="just">
              <a:lnSpc>
                <a:spcPts val="2503"/>
              </a:lnSpc>
              <a:spcBef>
                <a:spcPts val="5"/>
              </a:spcBef>
            </a:pPr>
            <a:r>
              <a:rPr sz="1814" dirty="0">
                <a:latin typeface="Times New Roman"/>
                <a:cs typeface="Times New Roman"/>
              </a:rPr>
              <a:t>El </a:t>
            </a:r>
            <a:r>
              <a:rPr sz="1814" spc="-5" dirty="0">
                <a:latin typeface="Times New Roman"/>
                <a:cs typeface="Times New Roman"/>
              </a:rPr>
              <a:t>modelo </a:t>
            </a:r>
            <a:r>
              <a:rPr sz="1814" dirty="0">
                <a:latin typeface="Times New Roman"/>
                <a:cs typeface="Times New Roman"/>
              </a:rPr>
              <a:t>12 </a:t>
            </a:r>
            <a:r>
              <a:rPr sz="1814" spc="-5" dirty="0" err="1">
                <a:latin typeface="Times New Roman"/>
                <a:cs typeface="Times New Roman"/>
              </a:rPr>
              <a:t>tiene</a:t>
            </a:r>
            <a:r>
              <a:rPr sz="1814" spc="-5" dirty="0">
                <a:latin typeface="Times New Roman"/>
                <a:cs typeface="Times New Roman"/>
              </a:rPr>
              <a:t> </a:t>
            </a:r>
            <a:r>
              <a:rPr lang="es-ES" sz="1814" dirty="0">
                <a:latin typeface="Times New Roman"/>
                <a:cs typeface="Times New Roman"/>
              </a:rPr>
              <a:t>sesgo</a:t>
            </a:r>
            <a:r>
              <a:rPr sz="1814" dirty="0">
                <a:latin typeface="Times New Roman"/>
                <a:cs typeface="Times New Roman"/>
              </a:rPr>
              <a:t> </a:t>
            </a:r>
            <a:r>
              <a:rPr sz="1814" spc="-5" dirty="0" err="1">
                <a:latin typeface="Times New Roman"/>
                <a:cs typeface="Times New Roman"/>
              </a:rPr>
              <a:t>bajo</a:t>
            </a:r>
            <a:r>
              <a:rPr sz="1814" spc="-5" dirty="0">
                <a:latin typeface="Times New Roman"/>
                <a:cs typeface="Times New Roman"/>
              </a:rPr>
              <a:t> </a:t>
            </a:r>
            <a:r>
              <a:rPr sz="1814" spc="-5" dirty="0" err="1">
                <a:latin typeface="Times New Roman"/>
                <a:cs typeface="Times New Roman"/>
              </a:rPr>
              <a:t>pero</a:t>
            </a:r>
            <a:r>
              <a:rPr sz="1814" spc="-5" dirty="0">
                <a:latin typeface="Times New Roman"/>
                <a:cs typeface="Times New Roman"/>
              </a:rPr>
              <a:t> </a:t>
            </a:r>
            <a:r>
              <a:rPr sz="1814" dirty="0">
                <a:latin typeface="Times New Roman"/>
                <a:cs typeface="Times New Roman"/>
              </a:rPr>
              <a:t>alta </a:t>
            </a:r>
            <a:r>
              <a:rPr sz="1814" spc="-5" dirty="0">
                <a:latin typeface="Times New Roman"/>
                <a:cs typeface="Times New Roman"/>
              </a:rPr>
              <a:t>varianza; si </a:t>
            </a:r>
            <a:r>
              <a:rPr sz="1814" spc="-9" dirty="0">
                <a:latin typeface="Times New Roman"/>
                <a:cs typeface="Times New Roman"/>
              </a:rPr>
              <a:t>es </a:t>
            </a:r>
            <a:r>
              <a:rPr sz="1814" dirty="0">
                <a:latin typeface="Times New Roman"/>
                <a:cs typeface="Times New Roman"/>
              </a:rPr>
              <a:t>un </a:t>
            </a:r>
            <a:r>
              <a:rPr sz="1814" spc="-5" dirty="0">
                <a:latin typeface="Times New Roman"/>
                <a:cs typeface="Times New Roman"/>
              </a:rPr>
              <a:t>modelo complicado </a:t>
            </a:r>
            <a:r>
              <a:rPr sz="1814" dirty="0">
                <a:latin typeface="Times New Roman"/>
                <a:cs typeface="Times New Roman"/>
              </a:rPr>
              <a:t> puede </a:t>
            </a:r>
            <a:r>
              <a:rPr sz="1814" spc="-5" dirty="0">
                <a:latin typeface="Times New Roman"/>
                <a:cs typeface="Times New Roman"/>
              </a:rPr>
              <a:t>ser peligroso/inestable </a:t>
            </a:r>
            <a:r>
              <a:rPr sz="1814" dirty="0">
                <a:latin typeface="Times New Roman"/>
                <a:cs typeface="Times New Roman"/>
              </a:rPr>
              <a:t>a pesar de </a:t>
            </a:r>
            <a:r>
              <a:rPr sz="1814" spc="-5" dirty="0">
                <a:latin typeface="Times New Roman"/>
                <a:cs typeface="Times New Roman"/>
              </a:rPr>
              <a:t>su bajo sesgo. </a:t>
            </a:r>
            <a:r>
              <a:rPr sz="1814" dirty="0">
                <a:latin typeface="Times New Roman"/>
                <a:cs typeface="Times New Roman"/>
              </a:rPr>
              <a:t>El modelo 16 tiene </a:t>
            </a:r>
            <a:r>
              <a:rPr sz="1814" spc="-5" dirty="0">
                <a:latin typeface="Times New Roman"/>
                <a:cs typeface="Times New Roman"/>
              </a:rPr>
              <a:t>bajo </a:t>
            </a:r>
            <a:r>
              <a:rPr sz="1814" dirty="0">
                <a:latin typeface="Times New Roman"/>
                <a:cs typeface="Times New Roman"/>
              </a:rPr>
              <a:t> </a:t>
            </a:r>
            <a:r>
              <a:rPr sz="1814" spc="-5" dirty="0">
                <a:latin typeface="Times New Roman"/>
                <a:cs typeface="Times New Roman"/>
              </a:rPr>
              <a:t>sesgo</a:t>
            </a:r>
            <a:r>
              <a:rPr sz="1814" spc="-9" dirty="0">
                <a:latin typeface="Times New Roman"/>
                <a:cs typeface="Times New Roman"/>
              </a:rPr>
              <a:t> </a:t>
            </a:r>
            <a:r>
              <a:rPr sz="1814" dirty="0">
                <a:latin typeface="Times New Roman"/>
                <a:cs typeface="Times New Roman"/>
              </a:rPr>
              <a:t>y baja varianza: </a:t>
            </a:r>
            <a:r>
              <a:rPr sz="1814" b="1" spc="-5" dirty="0">
                <a:latin typeface="Times New Roman"/>
                <a:cs typeface="Times New Roman"/>
              </a:rPr>
              <a:t>parece</a:t>
            </a:r>
            <a:r>
              <a:rPr sz="1814" b="1" dirty="0">
                <a:latin typeface="Times New Roman"/>
                <a:cs typeface="Times New Roman"/>
              </a:rPr>
              <a:t> </a:t>
            </a:r>
            <a:r>
              <a:rPr sz="1814" b="1" spc="-5" dirty="0">
                <a:latin typeface="Times New Roman"/>
                <a:cs typeface="Times New Roman"/>
              </a:rPr>
              <a:t>óptimo</a:t>
            </a:r>
            <a:r>
              <a:rPr sz="1814" spc="-5" dirty="0">
                <a:latin typeface="Times New Roman"/>
                <a:cs typeface="Times New Roman"/>
              </a:rPr>
              <a:t>.</a:t>
            </a:r>
            <a:endParaRPr sz="1814" dirty="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22591" y="2668920"/>
            <a:ext cx="6748429" cy="4030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70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/>
          </p:nvPr>
        </p:nvGraphicFramePr>
        <p:xfrm>
          <a:off x="1742811" y="1425152"/>
          <a:ext cx="8637278" cy="361603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12866"/>
                <a:gridCol w="5367781"/>
                <a:gridCol w="712863"/>
                <a:gridCol w="1243768"/>
              </a:tblGrid>
              <a:tr h="55278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marR="148590" algn="ctr">
                        <a:lnSpc>
                          <a:spcPts val="1380"/>
                        </a:lnSpc>
                        <a:spcBef>
                          <a:spcPts val="25"/>
                        </a:spcBef>
                      </a:pPr>
                      <a:r>
                        <a:rPr sz="1100" b="1" spc="-5" dirty="0">
                          <a:latin typeface="Times New Roman"/>
                          <a:cs typeface="Times New Roman"/>
                        </a:rPr>
                        <a:t>Quiero</a:t>
                      </a:r>
                      <a:r>
                        <a:rPr sz="1100" b="1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b="1" spc="-5" dirty="0">
                          <a:latin typeface="Times New Roman"/>
                          <a:cs typeface="Times New Roman"/>
                        </a:rPr>
                        <a:t>bajar </a:t>
                      </a:r>
                      <a:r>
                        <a:rPr sz="1100" b="1" spc="-2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b="1" spc="-5" dirty="0">
                          <a:latin typeface="Times New Roman"/>
                          <a:cs typeface="Times New Roman"/>
                        </a:rPr>
                        <a:t>el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8580" algn="ctr">
                        <a:lnSpc>
                          <a:spcPts val="1305"/>
                        </a:lnSpc>
                      </a:pPr>
                      <a:r>
                        <a:rPr sz="1100" b="1" spc="-5" dirty="0">
                          <a:latin typeface="Times New Roman"/>
                          <a:cs typeface="Times New Roman"/>
                        </a:rPr>
                        <a:t>Sesgo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287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marR="584200" algn="ctr">
                        <a:lnSpc>
                          <a:spcPts val="1380"/>
                        </a:lnSpc>
                        <a:spcBef>
                          <a:spcPts val="25"/>
                        </a:spcBef>
                      </a:pPr>
                      <a:r>
                        <a:rPr sz="1100" b="1" spc="-5" dirty="0">
                          <a:latin typeface="Times New Roman"/>
                          <a:cs typeface="Times New Roman"/>
                        </a:rPr>
                        <a:t>Quiero</a:t>
                      </a:r>
                      <a:r>
                        <a:rPr sz="11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b="1" spc="-5" dirty="0">
                          <a:latin typeface="Times New Roman"/>
                          <a:cs typeface="Times New Roman"/>
                        </a:rPr>
                        <a:t>bajar</a:t>
                      </a:r>
                      <a:r>
                        <a:rPr sz="11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b="1" dirty="0">
                          <a:latin typeface="Times New Roman"/>
                          <a:cs typeface="Times New Roman"/>
                        </a:rPr>
                        <a:t>la </a:t>
                      </a:r>
                      <a:r>
                        <a:rPr sz="1100" b="1" spc="-2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b="1" spc="-5" dirty="0">
                          <a:latin typeface="Times New Roman"/>
                          <a:cs typeface="Times New Roman"/>
                        </a:rPr>
                        <a:t>Varianza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287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5835">
                <a:tc>
                  <a:txBody>
                    <a:bodyPr/>
                    <a:lstStyle/>
                    <a:p>
                      <a:pPr marL="67945">
                        <a:lnSpc>
                          <a:spcPts val="1340"/>
                        </a:lnSpc>
                      </a:pPr>
                      <a:r>
                        <a:rPr sz="1300" spc="-5" dirty="0">
                          <a:latin typeface="Times New Roman"/>
                          <a:cs typeface="Times New Roman"/>
                        </a:rPr>
                        <a:t>General</a:t>
                      </a:r>
                      <a:r>
                        <a:rPr sz="13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(1)</a:t>
                      </a: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340"/>
                        </a:lnSpc>
                      </a:pPr>
                      <a:r>
                        <a:rPr sz="1300" spc="-5" dirty="0">
                          <a:latin typeface="Times New Roman"/>
                          <a:cs typeface="Times New Roman"/>
                        </a:rPr>
                        <a:t>número</a:t>
                      </a:r>
                      <a:r>
                        <a:rPr sz="13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de</a:t>
                      </a:r>
                      <a:r>
                        <a:rPr sz="13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5" dirty="0">
                          <a:latin typeface="Times New Roman"/>
                          <a:cs typeface="Times New Roman"/>
                        </a:rPr>
                        <a:t>variables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ts val="1340"/>
                        </a:lnSpc>
                      </a:pPr>
                      <a:r>
                        <a:rPr sz="1300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+</a:t>
                      </a:r>
                      <a:endParaRPr sz="1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algn="ctr">
                        <a:lnSpc>
                          <a:spcPts val="1340"/>
                        </a:lnSpc>
                      </a:pPr>
                      <a:r>
                        <a:rPr sz="1300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445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330"/>
                        </a:lnSpc>
                      </a:pPr>
                      <a:r>
                        <a:rPr sz="1300" spc="-5" dirty="0">
                          <a:latin typeface="Times New Roman"/>
                          <a:cs typeface="Times New Roman"/>
                        </a:rPr>
                        <a:t>introducir</a:t>
                      </a:r>
                      <a:r>
                        <a:rPr sz="13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5" dirty="0">
                          <a:latin typeface="Times New Roman"/>
                          <a:cs typeface="Times New Roman"/>
                        </a:rPr>
                        <a:t>interacciones</a:t>
                      </a:r>
                      <a:r>
                        <a:rPr sz="13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entre</a:t>
                      </a:r>
                      <a:r>
                        <a:rPr sz="1300" spc="-5" dirty="0">
                          <a:latin typeface="Times New Roman"/>
                          <a:cs typeface="Times New Roman"/>
                        </a:rPr>
                        <a:t> variables,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5" dirty="0">
                          <a:latin typeface="Times New Roman"/>
                          <a:cs typeface="Times New Roman"/>
                        </a:rPr>
                        <a:t>creación</a:t>
                      </a:r>
                      <a:r>
                        <a:rPr sz="13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5" dirty="0">
                          <a:latin typeface="Times New Roman"/>
                          <a:cs typeface="Times New Roman"/>
                        </a:rPr>
                        <a:t>de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 dummies</a:t>
                      </a: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ts val="1330"/>
                        </a:lnSpc>
                      </a:pPr>
                      <a:r>
                        <a:rPr sz="1300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+</a:t>
                      </a:r>
                      <a:endParaRPr sz="1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algn="ctr">
                        <a:lnSpc>
                          <a:spcPts val="1330"/>
                        </a:lnSpc>
                      </a:pPr>
                      <a:r>
                        <a:rPr sz="1300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445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330"/>
                        </a:lnSpc>
                      </a:pPr>
                      <a:r>
                        <a:rPr sz="1300" spc="-5" dirty="0">
                          <a:latin typeface="Times New Roman"/>
                          <a:cs typeface="Times New Roman"/>
                        </a:rPr>
                        <a:t>Complejidad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5" dirty="0">
                          <a:latin typeface="Times New Roman"/>
                          <a:cs typeface="Times New Roman"/>
                        </a:rPr>
                        <a:t>del modelo</a:t>
                      </a:r>
                      <a:endParaRPr sz="1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ts val="1330"/>
                        </a:lnSpc>
                      </a:pPr>
                      <a:r>
                        <a:rPr sz="1300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+</a:t>
                      </a:r>
                      <a:endParaRPr sz="1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algn="ctr">
                        <a:lnSpc>
                          <a:spcPts val="1330"/>
                        </a:lnSpc>
                      </a:pPr>
                      <a:r>
                        <a:rPr sz="1300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445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330"/>
                        </a:lnSpc>
                      </a:pPr>
                      <a:r>
                        <a:rPr sz="1300" spc="-5" dirty="0">
                          <a:latin typeface="Times New Roman"/>
                          <a:cs typeface="Times New Roman"/>
                        </a:rPr>
                        <a:t>tamaño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5" dirty="0">
                          <a:latin typeface="Times New Roman"/>
                          <a:cs typeface="Times New Roman"/>
                        </a:rPr>
                        <a:t>muestral</a:t>
                      </a:r>
                      <a:endParaRPr sz="1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ts val="1330"/>
                        </a:lnSpc>
                      </a:pPr>
                      <a:r>
                        <a:rPr sz="1300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+</a:t>
                      </a:r>
                      <a:endParaRPr sz="1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algn="ctr">
                        <a:lnSpc>
                          <a:spcPts val="1330"/>
                        </a:lnSpc>
                      </a:pPr>
                      <a:r>
                        <a:rPr sz="1300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+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3379">
                <a:tc>
                  <a:txBody>
                    <a:bodyPr/>
                    <a:lstStyle/>
                    <a:p>
                      <a:pPr marL="67945" marR="601980">
                        <a:lnSpc>
                          <a:spcPts val="1380"/>
                        </a:lnSpc>
                      </a:pPr>
                      <a:r>
                        <a:rPr sz="1300" spc="-15" dirty="0"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1300" spc="10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300" spc="-15" dirty="0">
                          <a:latin typeface="Times New Roman"/>
                          <a:cs typeface="Times New Roman"/>
                        </a:rPr>
                        <a:t>g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ís</a:t>
                      </a:r>
                      <a:r>
                        <a:rPr sz="1300" spc="5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ic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,  </a:t>
                      </a:r>
                      <a:r>
                        <a:rPr sz="1300" spc="-5" dirty="0">
                          <a:latin typeface="Times New Roman"/>
                          <a:cs typeface="Times New Roman"/>
                        </a:rPr>
                        <a:t>regresión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1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1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445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330"/>
                        </a:lnSpc>
                      </a:pPr>
                      <a:r>
                        <a:rPr sz="1300" spc="-5" dirty="0">
                          <a:latin typeface="Times New Roman"/>
                          <a:cs typeface="Times New Roman"/>
                        </a:rPr>
                        <a:t>p-valor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5" dirty="0">
                          <a:latin typeface="Times New Roman"/>
                          <a:cs typeface="Times New Roman"/>
                        </a:rPr>
                        <a:t>(stepwise,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 backward,</a:t>
                      </a:r>
                      <a:r>
                        <a:rPr sz="1300" spc="-5" dirty="0">
                          <a:latin typeface="Times New Roman"/>
                          <a:cs typeface="Times New Roman"/>
                        </a:rPr>
                        <a:t> forward)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5" dirty="0">
                          <a:latin typeface="Times New Roman"/>
                          <a:cs typeface="Times New Roman"/>
                        </a:rPr>
                        <a:t>(2)</a:t>
                      </a:r>
                      <a:endParaRPr sz="1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ts val="1330"/>
                        </a:lnSpc>
                      </a:pPr>
                      <a:r>
                        <a:rPr sz="1300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+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algn="ctr">
                        <a:lnSpc>
                          <a:spcPts val="1330"/>
                        </a:lnSpc>
                      </a:pPr>
                      <a:r>
                        <a:rPr sz="1300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endParaRPr sz="1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445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330"/>
                        </a:lnSpc>
                      </a:pPr>
                      <a:r>
                        <a:rPr sz="1300" spc="-5" dirty="0">
                          <a:latin typeface="Times New Roman"/>
                          <a:cs typeface="Times New Roman"/>
                        </a:rPr>
                        <a:t>categorías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 poco </a:t>
                      </a:r>
                      <a:r>
                        <a:rPr sz="1300" spc="-5" dirty="0">
                          <a:latin typeface="Times New Roman"/>
                          <a:cs typeface="Times New Roman"/>
                        </a:rPr>
                        <a:t>representadas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en </a:t>
                      </a:r>
                      <a:r>
                        <a:rPr sz="1300" spc="-5" dirty="0">
                          <a:latin typeface="Times New Roman"/>
                          <a:cs typeface="Times New Roman"/>
                        </a:rPr>
                        <a:t>variables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 input</a:t>
                      </a: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ts val="1330"/>
                        </a:lnSpc>
                      </a:pPr>
                      <a:r>
                        <a:rPr sz="1300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+=</a:t>
                      </a:r>
                      <a:endParaRPr sz="1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algn="ctr">
                        <a:lnSpc>
                          <a:spcPts val="1330"/>
                        </a:lnSpc>
                      </a:pPr>
                      <a:r>
                        <a:rPr sz="1300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endParaRPr sz="1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6181">
                <a:tc>
                  <a:txBody>
                    <a:bodyPr/>
                    <a:lstStyle/>
                    <a:p>
                      <a:pPr marL="67945">
                        <a:lnSpc>
                          <a:spcPts val="1345"/>
                        </a:lnSpc>
                      </a:pPr>
                      <a:r>
                        <a:rPr sz="1300" spc="-5" dirty="0">
                          <a:latin typeface="Times New Roman"/>
                          <a:cs typeface="Times New Roman"/>
                        </a:rPr>
                        <a:t>Redes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445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330"/>
                        </a:lnSpc>
                      </a:pPr>
                      <a:r>
                        <a:rPr sz="1300" spc="-5" dirty="0">
                          <a:latin typeface="Times New Roman"/>
                          <a:cs typeface="Times New Roman"/>
                        </a:rPr>
                        <a:t>número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de</a:t>
                      </a:r>
                      <a:r>
                        <a:rPr sz="13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nodos</a:t>
                      </a: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ts val="1330"/>
                        </a:lnSpc>
                      </a:pPr>
                      <a:r>
                        <a:rPr sz="1300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+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algn="ctr">
                        <a:lnSpc>
                          <a:spcPts val="1330"/>
                        </a:lnSpc>
                      </a:pPr>
                      <a:r>
                        <a:rPr sz="1300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endParaRPr sz="1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445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330"/>
                        </a:lnSpc>
                      </a:pPr>
                      <a:r>
                        <a:rPr sz="1300" spc="-5" dirty="0">
                          <a:latin typeface="Times New Roman"/>
                          <a:cs typeface="Times New Roman"/>
                        </a:rPr>
                        <a:t>linealidad</a:t>
                      </a:r>
                      <a:r>
                        <a:rPr sz="13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(3)</a:t>
                      </a: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ts val="1330"/>
                        </a:lnSpc>
                      </a:pPr>
                      <a:r>
                        <a:rPr sz="1300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algn="ctr">
                        <a:lnSpc>
                          <a:spcPts val="1330"/>
                        </a:lnSpc>
                      </a:pPr>
                      <a:r>
                        <a:rPr sz="1300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endParaRPr sz="1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33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marR="568325">
                        <a:lnSpc>
                          <a:spcPts val="1380"/>
                        </a:lnSpc>
                      </a:pPr>
                      <a:r>
                        <a:rPr sz="1300" spc="-5" dirty="0">
                          <a:latin typeface="Times New Roman"/>
                          <a:cs typeface="Times New Roman"/>
                        </a:rPr>
                        <a:t>número</a:t>
                      </a:r>
                      <a:r>
                        <a:rPr sz="13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de</a:t>
                      </a:r>
                      <a:r>
                        <a:rPr sz="13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5" dirty="0">
                          <a:latin typeface="Times New Roman"/>
                          <a:cs typeface="Times New Roman"/>
                        </a:rPr>
                        <a:t>iteraciones</a:t>
                      </a:r>
                      <a:r>
                        <a:rPr sz="13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5" dirty="0">
                          <a:latin typeface="Times New Roman"/>
                          <a:cs typeface="Times New Roman"/>
                        </a:rPr>
                        <a:t>en</a:t>
                      </a:r>
                      <a:r>
                        <a:rPr sz="13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5" dirty="0">
                          <a:latin typeface="Times New Roman"/>
                          <a:cs typeface="Times New Roman"/>
                        </a:rPr>
                        <a:t>algoritmo</a:t>
                      </a:r>
                      <a:r>
                        <a:rPr sz="13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de</a:t>
                      </a:r>
                      <a:r>
                        <a:rPr sz="13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5" dirty="0">
                          <a:latin typeface="Times New Roman"/>
                          <a:cs typeface="Times New Roman"/>
                        </a:rPr>
                        <a:t>optimización</a:t>
                      </a:r>
                      <a:r>
                        <a:rPr sz="13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5" dirty="0">
                          <a:latin typeface="Times New Roman"/>
                          <a:cs typeface="Times New Roman"/>
                        </a:rPr>
                        <a:t>(usar</a:t>
                      </a:r>
                      <a:r>
                        <a:rPr sz="13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early</a:t>
                      </a:r>
                      <a:r>
                        <a:rPr sz="13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5" dirty="0">
                          <a:latin typeface="Times New Roman"/>
                          <a:cs typeface="Times New Roman"/>
                        </a:rPr>
                        <a:t>stopping</a:t>
                      </a:r>
                      <a:r>
                        <a:rPr sz="13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puede</a:t>
                      </a:r>
                      <a:r>
                        <a:rPr sz="13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5" dirty="0">
                          <a:latin typeface="Times New Roman"/>
                          <a:cs typeface="Times New Roman"/>
                        </a:rPr>
                        <a:t>reducir</a:t>
                      </a:r>
                      <a:r>
                        <a:rPr sz="13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la </a:t>
                      </a:r>
                      <a:r>
                        <a:rPr sz="1300" spc="-2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5" dirty="0">
                          <a:latin typeface="Times New Roman"/>
                          <a:cs typeface="Times New Roman"/>
                        </a:rPr>
                        <a:t>varianza)</a:t>
                      </a:r>
                      <a:endParaRPr sz="1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ts val="1370"/>
                        </a:lnSpc>
                      </a:pPr>
                      <a:r>
                        <a:rPr sz="1300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+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algn="ctr">
                        <a:lnSpc>
                          <a:spcPts val="1370"/>
                        </a:lnSpc>
                      </a:pPr>
                      <a:r>
                        <a:rPr sz="1300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endParaRPr sz="1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823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315"/>
                        </a:lnSpc>
                      </a:pPr>
                      <a:r>
                        <a:rPr sz="1300" spc="-5" dirty="0">
                          <a:latin typeface="Times New Roman"/>
                          <a:cs typeface="Times New Roman"/>
                        </a:rPr>
                        <a:t>en</a:t>
                      </a:r>
                      <a:r>
                        <a:rPr sz="13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5" dirty="0">
                          <a:latin typeface="Times New Roman"/>
                          <a:cs typeface="Times New Roman"/>
                        </a:rPr>
                        <a:t>algoritmo</a:t>
                      </a:r>
                      <a:r>
                        <a:rPr sz="13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de</a:t>
                      </a:r>
                      <a:r>
                        <a:rPr sz="13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5" dirty="0">
                          <a:latin typeface="Times New Roman"/>
                          <a:cs typeface="Times New Roman"/>
                        </a:rPr>
                        <a:t>optimización:</a:t>
                      </a:r>
                      <a:r>
                        <a:rPr sz="13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5" dirty="0">
                          <a:latin typeface="Times New Roman"/>
                          <a:cs typeface="Times New Roman"/>
                        </a:rPr>
                        <a:t>learn</a:t>
                      </a:r>
                      <a:r>
                        <a:rPr sz="13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5" dirty="0">
                          <a:latin typeface="Times New Roman"/>
                          <a:cs typeface="Times New Roman"/>
                        </a:rPr>
                        <a:t>rate,momentum</a:t>
                      </a:r>
                      <a:endParaRPr sz="1300" dirty="0">
                        <a:latin typeface="Times New Roman"/>
                        <a:cs typeface="Times New Roman"/>
                      </a:endParaRPr>
                    </a:p>
                    <a:p>
                      <a:pPr marL="67945" marR="742315">
                        <a:lnSpc>
                          <a:spcPts val="1380"/>
                        </a:lnSpc>
                        <a:spcBef>
                          <a:spcPts val="10"/>
                        </a:spcBef>
                      </a:pPr>
                      <a:r>
                        <a:rPr sz="1300" spc="-5" dirty="0">
                          <a:latin typeface="Times New Roman"/>
                          <a:cs typeface="Times New Roman"/>
                        </a:rPr>
                        <a:t>(en</a:t>
                      </a:r>
                      <a:r>
                        <a:rPr sz="13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5" dirty="0">
                          <a:latin typeface="Times New Roman"/>
                          <a:cs typeface="Times New Roman"/>
                        </a:rPr>
                        <a:t>general</a:t>
                      </a:r>
                      <a:r>
                        <a:rPr sz="13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5" dirty="0">
                          <a:latin typeface="Times New Roman"/>
                          <a:cs typeface="Times New Roman"/>
                        </a:rPr>
                        <a:t>si</a:t>
                      </a:r>
                      <a:r>
                        <a:rPr sz="13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5" dirty="0">
                          <a:latin typeface="Times New Roman"/>
                          <a:cs typeface="Times New Roman"/>
                        </a:rPr>
                        <a:t>subimos</a:t>
                      </a:r>
                      <a:r>
                        <a:rPr sz="13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momentum</a:t>
                      </a:r>
                      <a:r>
                        <a:rPr sz="13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5" dirty="0">
                          <a:latin typeface="Times New Roman"/>
                          <a:cs typeface="Times New Roman"/>
                        </a:rPr>
                        <a:t>bajamos</a:t>
                      </a:r>
                      <a:r>
                        <a:rPr sz="13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5" dirty="0">
                          <a:latin typeface="Times New Roman"/>
                          <a:cs typeface="Times New Roman"/>
                        </a:rPr>
                        <a:t>learn</a:t>
                      </a:r>
                      <a:r>
                        <a:rPr sz="13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5" dirty="0">
                          <a:latin typeface="Times New Roman"/>
                          <a:cs typeface="Times New Roman"/>
                        </a:rPr>
                        <a:t>rate).</a:t>
                      </a:r>
                      <a:r>
                        <a:rPr sz="13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learn</a:t>
                      </a:r>
                      <a:r>
                        <a:rPr sz="13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5" dirty="0">
                          <a:latin typeface="Times New Roman"/>
                          <a:cs typeface="Times New Roman"/>
                        </a:rPr>
                        <a:t>rate</a:t>
                      </a:r>
                      <a:r>
                        <a:rPr sz="13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5" dirty="0">
                          <a:latin typeface="Times New Roman"/>
                          <a:cs typeface="Times New Roman"/>
                        </a:rPr>
                        <a:t>bajos</a:t>
                      </a:r>
                      <a:r>
                        <a:rPr sz="13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5" dirty="0">
                          <a:latin typeface="Times New Roman"/>
                          <a:cs typeface="Times New Roman"/>
                        </a:rPr>
                        <a:t>requieren</a:t>
                      </a:r>
                      <a:r>
                        <a:rPr sz="13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nº</a:t>
                      </a:r>
                      <a:r>
                        <a:rPr sz="13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de </a:t>
                      </a:r>
                      <a:r>
                        <a:rPr sz="1300" spc="-2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5" dirty="0">
                          <a:latin typeface="Times New Roman"/>
                          <a:cs typeface="Times New Roman"/>
                        </a:rPr>
                        <a:t>iteraciones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más</a:t>
                      </a:r>
                      <a:r>
                        <a:rPr sz="13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5" dirty="0">
                          <a:latin typeface="Times New Roman"/>
                          <a:cs typeface="Times New Roman"/>
                        </a:rPr>
                        <a:t>altas</a:t>
                      </a:r>
                      <a:endParaRPr sz="1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ts val="1370"/>
                        </a:lnSpc>
                      </a:pPr>
                      <a:r>
                        <a:rPr sz="1300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endParaRPr sz="1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algn="ctr">
                        <a:lnSpc>
                          <a:spcPts val="1370"/>
                        </a:lnSpc>
                      </a:pPr>
                      <a:r>
                        <a:rPr sz="1300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+</a:t>
                      </a:r>
                      <a:endParaRPr sz="1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583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2087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673713" y="319580"/>
            <a:ext cx="8637280" cy="5936731"/>
          </a:xfrm>
          <a:prstGeom prst="rect">
            <a:avLst/>
          </a:prstGeom>
        </p:spPr>
        <p:txBody>
          <a:bodyPr vert="horz" wrap="square" lIns="0" tIns="22457" rIns="0" bIns="0" rtlCol="0">
            <a:spAutoFit/>
          </a:bodyPr>
          <a:lstStyle/>
          <a:p>
            <a:pPr marL="11516" marR="373706" algn="just">
              <a:spcBef>
                <a:spcPts val="177"/>
              </a:spcBef>
              <a:buFont typeface="Times New Roman"/>
              <a:buAutoNum type="arabicParenR"/>
              <a:tabLst>
                <a:tab pos="195778" algn="l"/>
              </a:tabLst>
            </a:pPr>
            <a:r>
              <a:rPr lang="es-ES" sz="1814" dirty="0">
                <a:latin typeface="Times New Roman"/>
                <a:cs typeface="Times New Roman"/>
              </a:rPr>
              <a:t> </a:t>
            </a:r>
            <a:r>
              <a:rPr sz="1814" dirty="0" err="1">
                <a:latin typeface="Times New Roman"/>
                <a:cs typeface="Times New Roman"/>
              </a:rPr>
              <a:t>En</a:t>
            </a:r>
            <a:r>
              <a:rPr sz="1814" spc="5" dirty="0">
                <a:latin typeface="Times New Roman"/>
                <a:cs typeface="Times New Roman"/>
              </a:rPr>
              <a:t> </a:t>
            </a:r>
            <a:r>
              <a:rPr sz="1814" spc="-5" dirty="0">
                <a:latin typeface="Times New Roman"/>
                <a:cs typeface="Times New Roman"/>
              </a:rPr>
              <a:t>general,</a:t>
            </a:r>
            <a:r>
              <a:rPr sz="1814" spc="5" dirty="0">
                <a:latin typeface="Times New Roman"/>
                <a:cs typeface="Times New Roman"/>
              </a:rPr>
              <a:t> </a:t>
            </a:r>
            <a:r>
              <a:rPr sz="1814" spc="-5" dirty="0">
                <a:latin typeface="Times New Roman"/>
                <a:cs typeface="Times New Roman"/>
              </a:rPr>
              <a:t>hacer</a:t>
            </a:r>
            <a:r>
              <a:rPr sz="1814" spc="9" dirty="0">
                <a:latin typeface="Times New Roman"/>
                <a:cs typeface="Times New Roman"/>
              </a:rPr>
              <a:t> </a:t>
            </a:r>
            <a:r>
              <a:rPr sz="1814" b="1" spc="-5" dirty="0">
                <a:latin typeface="Times New Roman"/>
                <a:cs typeface="Times New Roman"/>
              </a:rPr>
              <a:t>el</a:t>
            </a:r>
            <a:r>
              <a:rPr sz="1814" b="1" spc="5" dirty="0">
                <a:latin typeface="Times New Roman"/>
                <a:cs typeface="Times New Roman"/>
              </a:rPr>
              <a:t> </a:t>
            </a:r>
            <a:r>
              <a:rPr sz="1814" b="1" spc="-5" dirty="0">
                <a:latin typeface="Times New Roman"/>
                <a:cs typeface="Times New Roman"/>
              </a:rPr>
              <a:t>modelo</a:t>
            </a:r>
            <a:r>
              <a:rPr sz="1814" b="1" spc="5" dirty="0">
                <a:latin typeface="Times New Roman"/>
                <a:cs typeface="Times New Roman"/>
              </a:rPr>
              <a:t> </a:t>
            </a:r>
            <a:r>
              <a:rPr sz="1814" b="1" spc="-5" dirty="0">
                <a:latin typeface="Times New Roman"/>
                <a:cs typeface="Times New Roman"/>
              </a:rPr>
              <a:t>más</a:t>
            </a:r>
            <a:r>
              <a:rPr sz="1814" b="1" dirty="0">
                <a:latin typeface="Times New Roman"/>
                <a:cs typeface="Times New Roman"/>
              </a:rPr>
              <a:t> complejo</a:t>
            </a:r>
            <a:r>
              <a:rPr sz="1814" b="1" spc="9" dirty="0">
                <a:latin typeface="Times New Roman"/>
                <a:cs typeface="Times New Roman"/>
              </a:rPr>
              <a:t> </a:t>
            </a:r>
            <a:r>
              <a:rPr sz="1814" b="1" spc="-5" dirty="0">
                <a:latin typeface="Times New Roman"/>
                <a:cs typeface="Times New Roman"/>
              </a:rPr>
              <a:t>suele</a:t>
            </a:r>
            <a:r>
              <a:rPr sz="1814" b="1" spc="5" dirty="0">
                <a:latin typeface="Times New Roman"/>
                <a:cs typeface="Times New Roman"/>
              </a:rPr>
              <a:t> </a:t>
            </a:r>
            <a:r>
              <a:rPr sz="1814" b="1" spc="-5" dirty="0">
                <a:latin typeface="Times New Roman"/>
                <a:cs typeface="Times New Roman"/>
              </a:rPr>
              <a:t>reducir</a:t>
            </a:r>
            <a:r>
              <a:rPr sz="1814" b="1" spc="5" dirty="0">
                <a:latin typeface="Times New Roman"/>
                <a:cs typeface="Times New Roman"/>
              </a:rPr>
              <a:t> </a:t>
            </a:r>
            <a:r>
              <a:rPr sz="1814" b="1" spc="-5" dirty="0">
                <a:latin typeface="Times New Roman"/>
                <a:cs typeface="Times New Roman"/>
              </a:rPr>
              <a:t>el</a:t>
            </a:r>
            <a:r>
              <a:rPr sz="1814" b="1" spc="5" dirty="0">
                <a:latin typeface="Times New Roman"/>
                <a:cs typeface="Times New Roman"/>
              </a:rPr>
              <a:t> </a:t>
            </a:r>
            <a:r>
              <a:rPr sz="1814" b="1" spc="-5" dirty="0">
                <a:latin typeface="Times New Roman"/>
                <a:cs typeface="Times New Roman"/>
              </a:rPr>
              <a:t>sesgo</a:t>
            </a:r>
            <a:r>
              <a:rPr sz="1814" b="1" spc="23" dirty="0">
                <a:latin typeface="Times New Roman"/>
                <a:cs typeface="Times New Roman"/>
              </a:rPr>
              <a:t> </a:t>
            </a:r>
            <a:r>
              <a:rPr sz="1814" b="1" dirty="0">
                <a:latin typeface="Times New Roman"/>
                <a:cs typeface="Times New Roman"/>
              </a:rPr>
              <a:t>y</a:t>
            </a:r>
            <a:r>
              <a:rPr sz="1814" b="1" spc="-9" dirty="0">
                <a:latin typeface="Times New Roman"/>
                <a:cs typeface="Times New Roman"/>
              </a:rPr>
              <a:t> </a:t>
            </a:r>
            <a:r>
              <a:rPr sz="1814" b="1" dirty="0">
                <a:latin typeface="Times New Roman"/>
                <a:cs typeface="Times New Roman"/>
              </a:rPr>
              <a:t>aumentar</a:t>
            </a:r>
            <a:r>
              <a:rPr sz="1814" b="1" spc="9" dirty="0">
                <a:latin typeface="Times New Roman"/>
                <a:cs typeface="Times New Roman"/>
              </a:rPr>
              <a:t> </a:t>
            </a:r>
            <a:r>
              <a:rPr sz="1814" b="1" dirty="0">
                <a:latin typeface="Times New Roman"/>
                <a:cs typeface="Times New Roman"/>
              </a:rPr>
              <a:t>la</a:t>
            </a:r>
            <a:r>
              <a:rPr sz="1814" b="1" spc="-5" dirty="0">
                <a:latin typeface="Times New Roman"/>
                <a:cs typeface="Times New Roman"/>
              </a:rPr>
              <a:t> varianza</a:t>
            </a:r>
            <a:r>
              <a:rPr sz="1814" spc="-5" dirty="0">
                <a:latin typeface="Times New Roman"/>
                <a:cs typeface="Times New Roman"/>
              </a:rPr>
              <a:t>.</a:t>
            </a:r>
            <a:r>
              <a:rPr sz="1814" spc="5" dirty="0">
                <a:latin typeface="Times New Roman"/>
                <a:cs typeface="Times New Roman"/>
              </a:rPr>
              <a:t> </a:t>
            </a:r>
            <a:r>
              <a:rPr sz="1814" dirty="0">
                <a:latin typeface="Times New Roman"/>
                <a:cs typeface="Times New Roman"/>
              </a:rPr>
              <a:t>Esto</a:t>
            </a:r>
            <a:r>
              <a:rPr sz="1814" spc="5" dirty="0">
                <a:latin typeface="Times New Roman"/>
                <a:cs typeface="Times New Roman"/>
              </a:rPr>
              <a:t> </a:t>
            </a:r>
            <a:r>
              <a:rPr sz="1814" spc="-5" dirty="0">
                <a:latin typeface="Times New Roman"/>
                <a:cs typeface="Times New Roman"/>
              </a:rPr>
              <a:t>incluye</a:t>
            </a:r>
            <a:r>
              <a:rPr sz="1814" spc="9" dirty="0">
                <a:latin typeface="Times New Roman"/>
                <a:cs typeface="Times New Roman"/>
              </a:rPr>
              <a:t> </a:t>
            </a:r>
            <a:r>
              <a:rPr sz="1814" dirty="0">
                <a:latin typeface="Times New Roman"/>
                <a:cs typeface="Times New Roman"/>
              </a:rPr>
              <a:t>aumentar</a:t>
            </a:r>
            <a:r>
              <a:rPr sz="1814" spc="5" dirty="0">
                <a:latin typeface="Times New Roman"/>
                <a:cs typeface="Times New Roman"/>
              </a:rPr>
              <a:t> </a:t>
            </a:r>
            <a:r>
              <a:rPr sz="1814" spc="-5" dirty="0">
                <a:latin typeface="Times New Roman"/>
                <a:cs typeface="Times New Roman"/>
              </a:rPr>
              <a:t>el</a:t>
            </a:r>
            <a:r>
              <a:rPr sz="1814" spc="5" dirty="0">
                <a:latin typeface="Times New Roman"/>
                <a:cs typeface="Times New Roman"/>
              </a:rPr>
              <a:t> </a:t>
            </a:r>
            <a:r>
              <a:rPr sz="1814" dirty="0">
                <a:latin typeface="Times New Roman"/>
                <a:cs typeface="Times New Roman"/>
              </a:rPr>
              <a:t>número</a:t>
            </a:r>
            <a:r>
              <a:rPr sz="1814" spc="9" dirty="0">
                <a:latin typeface="Times New Roman"/>
                <a:cs typeface="Times New Roman"/>
              </a:rPr>
              <a:t> </a:t>
            </a:r>
            <a:r>
              <a:rPr sz="1814" dirty="0">
                <a:latin typeface="Times New Roman"/>
                <a:cs typeface="Times New Roman"/>
              </a:rPr>
              <a:t>de</a:t>
            </a:r>
            <a:r>
              <a:rPr sz="1814" spc="-5" dirty="0">
                <a:latin typeface="Times New Roman"/>
                <a:cs typeface="Times New Roman"/>
              </a:rPr>
              <a:t> </a:t>
            </a:r>
            <a:r>
              <a:rPr sz="1814" dirty="0">
                <a:latin typeface="Times New Roman"/>
                <a:cs typeface="Times New Roman"/>
              </a:rPr>
              <a:t>variables,</a:t>
            </a:r>
            <a:r>
              <a:rPr sz="1814" spc="5" dirty="0">
                <a:latin typeface="Times New Roman"/>
                <a:cs typeface="Times New Roman"/>
              </a:rPr>
              <a:t> </a:t>
            </a:r>
            <a:r>
              <a:rPr sz="1814" dirty="0">
                <a:latin typeface="Times New Roman"/>
                <a:cs typeface="Times New Roman"/>
              </a:rPr>
              <a:t>utilizar</a:t>
            </a:r>
            <a:r>
              <a:rPr sz="1814" spc="5" dirty="0">
                <a:latin typeface="Times New Roman"/>
                <a:cs typeface="Times New Roman"/>
              </a:rPr>
              <a:t> </a:t>
            </a:r>
            <a:r>
              <a:rPr sz="1814" spc="-5" dirty="0">
                <a:latin typeface="Times New Roman"/>
                <a:cs typeface="Times New Roman"/>
              </a:rPr>
              <a:t>variables </a:t>
            </a:r>
            <a:r>
              <a:rPr sz="1814" spc="-258" dirty="0">
                <a:latin typeface="Times New Roman"/>
                <a:cs typeface="Times New Roman"/>
              </a:rPr>
              <a:t> </a:t>
            </a:r>
            <a:r>
              <a:rPr sz="1814" spc="-5" dirty="0">
                <a:latin typeface="Times New Roman"/>
                <a:cs typeface="Times New Roman"/>
              </a:rPr>
              <a:t>categóricas </a:t>
            </a:r>
            <a:r>
              <a:rPr sz="1814" dirty="0">
                <a:latin typeface="Times New Roman"/>
                <a:cs typeface="Times New Roman"/>
              </a:rPr>
              <a:t>con muchas </a:t>
            </a:r>
            <a:r>
              <a:rPr sz="1814" spc="-5" dirty="0">
                <a:latin typeface="Times New Roman"/>
                <a:cs typeface="Times New Roman"/>
              </a:rPr>
              <a:t>categorías,</a:t>
            </a:r>
            <a:r>
              <a:rPr sz="1814" spc="5" dirty="0">
                <a:latin typeface="Times New Roman"/>
                <a:cs typeface="Times New Roman"/>
              </a:rPr>
              <a:t> </a:t>
            </a:r>
            <a:r>
              <a:rPr sz="1814" spc="-5" dirty="0">
                <a:latin typeface="Times New Roman"/>
                <a:cs typeface="Times New Roman"/>
              </a:rPr>
              <a:t>incluir</a:t>
            </a:r>
            <a:r>
              <a:rPr sz="1814" spc="5" dirty="0">
                <a:latin typeface="Times New Roman"/>
                <a:cs typeface="Times New Roman"/>
              </a:rPr>
              <a:t> </a:t>
            </a:r>
            <a:r>
              <a:rPr sz="1814" spc="-5" dirty="0">
                <a:latin typeface="Times New Roman"/>
                <a:cs typeface="Times New Roman"/>
              </a:rPr>
              <a:t>interacciones,</a:t>
            </a:r>
            <a:r>
              <a:rPr sz="1814" dirty="0">
                <a:latin typeface="Times New Roman"/>
                <a:cs typeface="Times New Roman"/>
              </a:rPr>
              <a:t> utilizar</a:t>
            </a:r>
            <a:r>
              <a:rPr sz="1814" spc="5" dirty="0">
                <a:latin typeface="Times New Roman"/>
                <a:cs typeface="Times New Roman"/>
              </a:rPr>
              <a:t> </a:t>
            </a:r>
            <a:r>
              <a:rPr sz="1814" spc="-5" dirty="0">
                <a:latin typeface="Times New Roman"/>
                <a:cs typeface="Times New Roman"/>
              </a:rPr>
              <a:t>modelos</a:t>
            </a:r>
            <a:r>
              <a:rPr sz="1814" spc="5" dirty="0">
                <a:latin typeface="Times New Roman"/>
                <a:cs typeface="Times New Roman"/>
              </a:rPr>
              <a:t> </a:t>
            </a:r>
            <a:r>
              <a:rPr sz="1814" spc="-5" dirty="0">
                <a:latin typeface="Times New Roman"/>
                <a:cs typeface="Times New Roman"/>
              </a:rPr>
              <a:t>no</a:t>
            </a:r>
            <a:r>
              <a:rPr sz="1814" spc="5" dirty="0">
                <a:latin typeface="Times New Roman"/>
                <a:cs typeface="Times New Roman"/>
              </a:rPr>
              <a:t> </a:t>
            </a:r>
            <a:r>
              <a:rPr sz="1814" spc="-5" dirty="0">
                <a:latin typeface="Times New Roman"/>
                <a:cs typeface="Times New Roman"/>
              </a:rPr>
              <a:t>lineales</a:t>
            </a:r>
            <a:r>
              <a:rPr sz="1814" spc="5" dirty="0">
                <a:latin typeface="Times New Roman"/>
                <a:cs typeface="Times New Roman"/>
              </a:rPr>
              <a:t> </a:t>
            </a:r>
            <a:r>
              <a:rPr sz="1814" spc="-5" dirty="0">
                <a:latin typeface="Times New Roman"/>
                <a:cs typeface="Times New Roman"/>
              </a:rPr>
              <a:t>(por</a:t>
            </a:r>
            <a:r>
              <a:rPr sz="1814" spc="5" dirty="0">
                <a:latin typeface="Times New Roman"/>
                <a:cs typeface="Times New Roman"/>
              </a:rPr>
              <a:t> </a:t>
            </a:r>
            <a:r>
              <a:rPr sz="1814" spc="-5" dirty="0">
                <a:latin typeface="Times New Roman"/>
                <a:cs typeface="Times New Roman"/>
              </a:rPr>
              <a:t>ejemplo</a:t>
            </a:r>
            <a:r>
              <a:rPr sz="1814" dirty="0">
                <a:latin typeface="Times New Roman"/>
                <a:cs typeface="Times New Roman"/>
              </a:rPr>
              <a:t> </a:t>
            </a:r>
            <a:r>
              <a:rPr sz="1814" spc="-5" dirty="0">
                <a:latin typeface="Times New Roman"/>
                <a:cs typeface="Times New Roman"/>
              </a:rPr>
              <a:t>regresión</a:t>
            </a:r>
            <a:r>
              <a:rPr sz="1814" dirty="0">
                <a:latin typeface="Times New Roman"/>
                <a:cs typeface="Times New Roman"/>
              </a:rPr>
              <a:t> </a:t>
            </a:r>
            <a:r>
              <a:rPr sz="1814" spc="-5" dirty="0">
                <a:latin typeface="Times New Roman"/>
                <a:cs typeface="Times New Roman"/>
              </a:rPr>
              <a:t>polinómica),</a:t>
            </a:r>
            <a:r>
              <a:rPr sz="1814" spc="5" dirty="0">
                <a:latin typeface="Times New Roman"/>
                <a:cs typeface="Times New Roman"/>
              </a:rPr>
              <a:t> </a:t>
            </a:r>
            <a:r>
              <a:rPr sz="1814" spc="-5" dirty="0">
                <a:latin typeface="Times New Roman"/>
                <a:cs typeface="Times New Roman"/>
              </a:rPr>
              <a:t>etc.</a:t>
            </a:r>
            <a:endParaRPr sz="1814" dirty="0">
              <a:latin typeface="Times New Roman"/>
              <a:cs typeface="Times New Roman"/>
            </a:endParaRPr>
          </a:p>
          <a:p>
            <a:pPr marL="11516" algn="just"/>
            <a:r>
              <a:rPr sz="1814" b="1" spc="-5" dirty="0">
                <a:latin typeface="Times New Roman"/>
                <a:cs typeface="Times New Roman"/>
              </a:rPr>
              <a:t>Aumentar el</a:t>
            </a:r>
            <a:r>
              <a:rPr sz="1814" b="1" spc="5" dirty="0">
                <a:latin typeface="Times New Roman"/>
                <a:cs typeface="Times New Roman"/>
              </a:rPr>
              <a:t> </a:t>
            </a:r>
            <a:r>
              <a:rPr sz="1814" b="1" spc="-5" dirty="0">
                <a:latin typeface="Times New Roman"/>
                <a:cs typeface="Times New Roman"/>
              </a:rPr>
              <a:t>tamaño</a:t>
            </a:r>
            <a:r>
              <a:rPr sz="1814" b="1" spc="5" dirty="0">
                <a:latin typeface="Times New Roman"/>
                <a:cs typeface="Times New Roman"/>
              </a:rPr>
              <a:t> </a:t>
            </a:r>
            <a:r>
              <a:rPr sz="1814" b="1" spc="-5" dirty="0">
                <a:latin typeface="Times New Roman"/>
                <a:cs typeface="Times New Roman"/>
              </a:rPr>
              <a:t>muestral</a:t>
            </a:r>
            <a:r>
              <a:rPr sz="1814" b="1" spc="9" dirty="0">
                <a:latin typeface="Times New Roman"/>
                <a:cs typeface="Times New Roman"/>
              </a:rPr>
              <a:t> </a:t>
            </a:r>
            <a:r>
              <a:rPr sz="1814" b="1" dirty="0">
                <a:latin typeface="Times New Roman"/>
                <a:cs typeface="Times New Roman"/>
              </a:rPr>
              <a:t>tiene</a:t>
            </a:r>
            <a:r>
              <a:rPr sz="1814" b="1" spc="-5" dirty="0">
                <a:latin typeface="Times New Roman"/>
                <a:cs typeface="Times New Roman"/>
              </a:rPr>
              <a:t> incidencia</a:t>
            </a:r>
            <a:r>
              <a:rPr sz="1814" b="1" spc="5" dirty="0">
                <a:latin typeface="Times New Roman"/>
                <a:cs typeface="Times New Roman"/>
              </a:rPr>
              <a:t> </a:t>
            </a:r>
            <a:r>
              <a:rPr sz="1814" b="1" dirty="0">
                <a:latin typeface="Times New Roman"/>
                <a:cs typeface="Times New Roman"/>
              </a:rPr>
              <a:t>positiva</a:t>
            </a:r>
            <a:r>
              <a:rPr sz="1814" b="1" spc="5" dirty="0">
                <a:latin typeface="Times New Roman"/>
                <a:cs typeface="Times New Roman"/>
              </a:rPr>
              <a:t> </a:t>
            </a:r>
            <a:r>
              <a:rPr sz="1814" b="1" spc="-5" dirty="0">
                <a:latin typeface="Times New Roman"/>
                <a:cs typeface="Times New Roman"/>
              </a:rPr>
              <a:t>sobre el</a:t>
            </a:r>
            <a:r>
              <a:rPr sz="1814" b="1" spc="5" dirty="0">
                <a:latin typeface="Times New Roman"/>
                <a:cs typeface="Times New Roman"/>
              </a:rPr>
              <a:t> </a:t>
            </a:r>
            <a:r>
              <a:rPr sz="1814" b="1" spc="-5" dirty="0">
                <a:latin typeface="Times New Roman"/>
                <a:cs typeface="Times New Roman"/>
              </a:rPr>
              <a:t>sesgo</a:t>
            </a:r>
            <a:r>
              <a:rPr sz="1814" b="1" spc="27" dirty="0">
                <a:latin typeface="Times New Roman"/>
                <a:cs typeface="Times New Roman"/>
              </a:rPr>
              <a:t> </a:t>
            </a:r>
            <a:r>
              <a:rPr sz="1814" b="1" dirty="0">
                <a:latin typeface="Times New Roman"/>
                <a:cs typeface="Times New Roman"/>
              </a:rPr>
              <a:t>y</a:t>
            </a:r>
            <a:r>
              <a:rPr sz="1814" b="1" spc="-18" dirty="0">
                <a:latin typeface="Times New Roman"/>
                <a:cs typeface="Times New Roman"/>
              </a:rPr>
              <a:t> </a:t>
            </a:r>
            <a:r>
              <a:rPr sz="1814" b="1" dirty="0">
                <a:latin typeface="Times New Roman"/>
                <a:cs typeface="Times New Roman"/>
              </a:rPr>
              <a:t>la</a:t>
            </a:r>
            <a:r>
              <a:rPr sz="1814" b="1" spc="5" dirty="0">
                <a:latin typeface="Times New Roman"/>
                <a:cs typeface="Times New Roman"/>
              </a:rPr>
              <a:t> </a:t>
            </a:r>
            <a:r>
              <a:rPr sz="1814" b="1" spc="-5" dirty="0" err="1">
                <a:latin typeface="Times New Roman"/>
                <a:cs typeface="Times New Roman"/>
              </a:rPr>
              <a:t>varianza</a:t>
            </a:r>
            <a:r>
              <a:rPr lang="es-ES" sz="1814" spc="-5" dirty="0">
                <a:latin typeface="Times New Roman"/>
                <a:cs typeface="Times New Roman"/>
              </a:rPr>
              <a:t>: a</a:t>
            </a:r>
            <a:r>
              <a:rPr sz="1814" spc="-5" dirty="0" err="1">
                <a:latin typeface="Times New Roman"/>
                <a:cs typeface="Times New Roman"/>
              </a:rPr>
              <a:t>mbas</a:t>
            </a:r>
            <a:r>
              <a:rPr sz="1814" dirty="0">
                <a:latin typeface="Times New Roman"/>
                <a:cs typeface="Times New Roman"/>
              </a:rPr>
              <a:t> cantidades </a:t>
            </a:r>
            <a:r>
              <a:rPr sz="1814" spc="-5" dirty="0">
                <a:latin typeface="Times New Roman"/>
                <a:cs typeface="Times New Roman"/>
              </a:rPr>
              <a:t>disminuyen</a:t>
            </a:r>
            <a:r>
              <a:rPr sz="1814" spc="5" dirty="0">
                <a:latin typeface="Times New Roman"/>
                <a:cs typeface="Times New Roman"/>
              </a:rPr>
              <a:t> </a:t>
            </a:r>
            <a:r>
              <a:rPr sz="1814" dirty="0">
                <a:latin typeface="Times New Roman"/>
                <a:cs typeface="Times New Roman"/>
              </a:rPr>
              <a:t>aumentando</a:t>
            </a:r>
            <a:r>
              <a:rPr sz="1814" spc="9" dirty="0">
                <a:latin typeface="Times New Roman"/>
                <a:cs typeface="Times New Roman"/>
              </a:rPr>
              <a:t> </a:t>
            </a:r>
            <a:r>
              <a:rPr sz="1814" dirty="0">
                <a:latin typeface="Times New Roman"/>
                <a:cs typeface="Times New Roman"/>
              </a:rPr>
              <a:t>n.</a:t>
            </a:r>
            <a:endParaRPr lang="es-ES" sz="1814" dirty="0">
              <a:latin typeface="Times New Roman"/>
              <a:cs typeface="Times New Roman"/>
            </a:endParaRPr>
          </a:p>
          <a:p>
            <a:pPr marL="11516" algn="just"/>
            <a:endParaRPr sz="1814" dirty="0">
              <a:latin typeface="Times New Roman"/>
              <a:cs typeface="Times New Roman"/>
            </a:endParaRPr>
          </a:p>
          <a:p>
            <a:pPr marL="11516" marR="65067" algn="just">
              <a:spcBef>
                <a:spcPts val="59"/>
              </a:spcBef>
              <a:buFont typeface="Times New Roman"/>
              <a:buAutoNum type="arabicParenR" startAt="2"/>
              <a:tabLst>
                <a:tab pos="161229" algn="l"/>
              </a:tabLst>
            </a:pPr>
            <a:r>
              <a:rPr lang="es-ES" sz="1814" dirty="0">
                <a:latin typeface="Times New Roman"/>
                <a:cs typeface="Times New Roman"/>
              </a:rPr>
              <a:t> </a:t>
            </a:r>
            <a:r>
              <a:rPr sz="1814" dirty="0">
                <a:latin typeface="Times New Roman"/>
                <a:cs typeface="Times New Roman"/>
              </a:rPr>
              <a:t>El</a:t>
            </a:r>
            <a:r>
              <a:rPr sz="1814" spc="5" dirty="0">
                <a:latin typeface="Times New Roman"/>
                <a:cs typeface="Times New Roman"/>
              </a:rPr>
              <a:t> </a:t>
            </a:r>
            <a:r>
              <a:rPr sz="1814" b="1" spc="-5" dirty="0">
                <a:latin typeface="Times New Roman"/>
                <a:cs typeface="Times New Roman"/>
              </a:rPr>
              <a:t>p-valor</a:t>
            </a:r>
            <a:r>
              <a:rPr sz="1814" b="1" spc="5" dirty="0">
                <a:latin typeface="Times New Roman"/>
                <a:cs typeface="Times New Roman"/>
              </a:rPr>
              <a:t> </a:t>
            </a:r>
            <a:r>
              <a:rPr sz="1814" b="1" dirty="0">
                <a:latin typeface="Times New Roman"/>
                <a:cs typeface="Times New Roman"/>
              </a:rPr>
              <a:t>de</a:t>
            </a:r>
            <a:r>
              <a:rPr sz="1814" b="1" spc="5" dirty="0">
                <a:latin typeface="Times New Roman"/>
                <a:cs typeface="Times New Roman"/>
              </a:rPr>
              <a:t> </a:t>
            </a:r>
            <a:r>
              <a:rPr sz="1814" b="1" spc="-5" dirty="0">
                <a:latin typeface="Times New Roman"/>
                <a:cs typeface="Times New Roman"/>
              </a:rPr>
              <a:t>corte</a:t>
            </a:r>
            <a:r>
              <a:rPr sz="1814" b="1" spc="9" dirty="0">
                <a:latin typeface="Times New Roman"/>
                <a:cs typeface="Times New Roman"/>
              </a:rPr>
              <a:t> </a:t>
            </a:r>
            <a:r>
              <a:rPr sz="1814" spc="-5" dirty="0">
                <a:latin typeface="Times New Roman"/>
                <a:cs typeface="Times New Roman"/>
              </a:rPr>
              <a:t>en</a:t>
            </a:r>
            <a:r>
              <a:rPr sz="1814" spc="14" dirty="0">
                <a:latin typeface="Times New Roman"/>
                <a:cs typeface="Times New Roman"/>
              </a:rPr>
              <a:t> </a:t>
            </a:r>
            <a:r>
              <a:rPr sz="1814" spc="-5" dirty="0">
                <a:latin typeface="Times New Roman"/>
                <a:cs typeface="Times New Roman"/>
              </a:rPr>
              <a:t>procesos</a:t>
            </a:r>
            <a:r>
              <a:rPr sz="1814" dirty="0">
                <a:latin typeface="Times New Roman"/>
                <a:cs typeface="Times New Roman"/>
              </a:rPr>
              <a:t> de</a:t>
            </a:r>
            <a:r>
              <a:rPr sz="1814" spc="5" dirty="0">
                <a:latin typeface="Times New Roman"/>
                <a:cs typeface="Times New Roman"/>
              </a:rPr>
              <a:t> </a:t>
            </a:r>
            <a:r>
              <a:rPr sz="1814" spc="-5" dirty="0">
                <a:latin typeface="Times New Roman"/>
                <a:cs typeface="Times New Roman"/>
              </a:rPr>
              <a:t>selección</a:t>
            </a:r>
            <a:r>
              <a:rPr sz="1814" spc="5" dirty="0">
                <a:latin typeface="Times New Roman"/>
                <a:cs typeface="Times New Roman"/>
              </a:rPr>
              <a:t> </a:t>
            </a:r>
            <a:r>
              <a:rPr sz="1814" dirty="0">
                <a:latin typeface="Times New Roman"/>
                <a:cs typeface="Times New Roman"/>
              </a:rPr>
              <a:t>de</a:t>
            </a:r>
            <a:r>
              <a:rPr sz="1814" spc="9" dirty="0">
                <a:latin typeface="Times New Roman"/>
                <a:cs typeface="Times New Roman"/>
              </a:rPr>
              <a:t> </a:t>
            </a:r>
            <a:r>
              <a:rPr sz="1814" spc="-5" dirty="0">
                <a:latin typeface="Times New Roman"/>
                <a:cs typeface="Times New Roman"/>
              </a:rPr>
              <a:t>variables</a:t>
            </a:r>
            <a:r>
              <a:rPr sz="1814" spc="9" dirty="0">
                <a:latin typeface="Times New Roman"/>
                <a:cs typeface="Times New Roman"/>
              </a:rPr>
              <a:t> </a:t>
            </a:r>
            <a:r>
              <a:rPr sz="1814" dirty="0">
                <a:latin typeface="Times New Roman"/>
                <a:cs typeface="Times New Roman"/>
              </a:rPr>
              <a:t>mide la</a:t>
            </a:r>
            <a:r>
              <a:rPr sz="1814" spc="9" dirty="0">
                <a:latin typeface="Times New Roman"/>
                <a:cs typeface="Times New Roman"/>
              </a:rPr>
              <a:t> </a:t>
            </a:r>
            <a:r>
              <a:rPr sz="1814" b="1" spc="-5" dirty="0">
                <a:latin typeface="Times New Roman"/>
                <a:cs typeface="Times New Roman"/>
              </a:rPr>
              <a:t>exigencia</a:t>
            </a:r>
            <a:r>
              <a:rPr sz="1814" spc="5" dirty="0">
                <a:latin typeface="Times New Roman"/>
                <a:cs typeface="Times New Roman"/>
              </a:rPr>
              <a:t> </a:t>
            </a:r>
            <a:r>
              <a:rPr sz="1814" spc="-5" dirty="0">
                <a:latin typeface="Times New Roman"/>
                <a:cs typeface="Times New Roman"/>
              </a:rPr>
              <a:t>en</a:t>
            </a:r>
            <a:r>
              <a:rPr sz="1814" spc="5" dirty="0">
                <a:latin typeface="Times New Roman"/>
                <a:cs typeface="Times New Roman"/>
              </a:rPr>
              <a:t> </a:t>
            </a:r>
            <a:r>
              <a:rPr sz="1814" dirty="0">
                <a:latin typeface="Times New Roman"/>
                <a:cs typeface="Times New Roman"/>
              </a:rPr>
              <a:t>la</a:t>
            </a:r>
            <a:r>
              <a:rPr sz="1814" spc="5" dirty="0">
                <a:latin typeface="Times New Roman"/>
                <a:cs typeface="Times New Roman"/>
              </a:rPr>
              <a:t> </a:t>
            </a:r>
            <a:r>
              <a:rPr sz="1814" dirty="0">
                <a:latin typeface="Times New Roman"/>
                <a:cs typeface="Times New Roman"/>
              </a:rPr>
              <a:t>inclusión</a:t>
            </a:r>
            <a:r>
              <a:rPr sz="1814" spc="5" dirty="0">
                <a:latin typeface="Times New Roman"/>
                <a:cs typeface="Times New Roman"/>
              </a:rPr>
              <a:t> </a:t>
            </a:r>
            <a:r>
              <a:rPr sz="1814" dirty="0">
                <a:latin typeface="Times New Roman"/>
                <a:cs typeface="Times New Roman"/>
              </a:rPr>
              <a:t>de variables</a:t>
            </a:r>
            <a:r>
              <a:rPr sz="1814" spc="5" dirty="0">
                <a:latin typeface="Times New Roman"/>
                <a:cs typeface="Times New Roman"/>
              </a:rPr>
              <a:t> </a:t>
            </a:r>
            <a:r>
              <a:rPr sz="1814" dirty="0">
                <a:latin typeface="Times New Roman"/>
                <a:cs typeface="Times New Roman"/>
              </a:rPr>
              <a:t>o</a:t>
            </a:r>
            <a:r>
              <a:rPr sz="1814" spc="5" dirty="0">
                <a:latin typeface="Times New Roman"/>
                <a:cs typeface="Times New Roman"/>
              </a:rPr>
              <a:t> </a:t>
            </a:r>
            <a:r>
              <a:rPr sz="1814" spc="-5" dirty="0">
                <a:latin typeface="Times New Roman"/>
                <a:cs typeface="Times New Roman"/>
              </a:rPr>
              <a:t>efectos</a:t>
            </a:r>
            <a:r>
              <a:rPr sz="1814" spc="5" dirty="0">
                <a:latin typeface="Times New Roman"/>
                <a:cs typeface="Times New Roman"/>
              </a:rPr>
              <a:t> </a:t>
            </a:r>
            <a:r>
              <a:rPr sz="1814" dirty="0">
                <a:latin typeface="Times New Roman"/>
                <a:cs typeface="Times New Roman"/>
              </a:rPr>
              <a:t>en</a:t>
            </a:r>
            <a:r>
              <a:rPr sz="1814" spc="9" dirty="0">
                <a:latin typeface="Times New Roman"/>
                <a:cs typeface="Times New Roman"/>
              </a:rPr>
              <a:t> </a:t>
            </a:r>
            <a:r>
              <a:rPr sz="1814" spc="-5" dirty="0">
                <a:latin typeface="Times New Roman"/>
                <a:cs typeface="Times New Roman"/>
              </a:rPr>
              <a:t>el</a:t>
            </a:r>
            <a:r>
              <a:rPr sz="1814" spc="5" dirty="0">
                <a:latin typeface="Times New Roman"/>
                <a:cs typeface="Times New Roman"/>
              </a:rPr>
              <a:t> </a:t>
            </a:r>
            <a:r>
              <a:rPr sz="1814" dirty="0">
                <a:latin typeface="Times New Roman"/>
                <a:cs typeface="Times New Roman"/>
              </a:rPr>
              <a:t>modelo.</a:t>
            </a:r>
            <a:r>
              <a:rPr sz="1814" spc="5" dirty="0">
                <a:latin typeface="Times New Roman"/>
                <a:cs typeface="Times New Roman"/>
              </a:rPr>
              <a:t> </a:t>
            </a:r>
            <a:r>
              <a:rPr sz="1814" dirty="0">
                <a:latin typeface="Times New Roman"/>
                <a:cs typeface="Times New Roman"/>
              </a:rPr>
              <a:t>A menor</a:t>
            </a:r>
            <a:r>
              <a:rPr sz="1814" spc="-5" dirty="0">
                <a:latin typeface="Times New Roman"/>
                <a:cs typeface="Times New Roman"/>
              </a:rPr>
              <a:t> </a:t>
            </a:r>
            <a:r>
              <a:rPr sz="1814" dirty="0">
                <a:latin typeface="Times New Roman"/>
                <a:cs typeface="Times New Roman"/>
              </a:rPr>
              <a:t>p-valor,</a:t>
            </a:r>
            <a:r>
              <a:rPr sz="1814" spc="5" dirty="0">
                <a:latin typeface="Times New Roman"/>
                <a:cs typeface="Times New Roman"/>
              </a:rPr>
              <a:t> </a:t>
            </a:r>
            <a:r>
              <a:rPr sz="1814" dirty="0" err="1">
                <a:latin typeface="Times New Roman"/>
                <a:cs typeface="Times New Roman"/>
              </a:rPr>
              <a:t>más</a:t>
            </a:r>
            <a:r>
              <a:rPr sz="1814" dirty="0">
                <a:latin typeface="Times New Roman"/>
                <a:cs typeface="Times New Roman"/>
              </a:rPr>
              <a:t> </a:t>
            </a:r>
            <a:r>
              <a:rPr sz="1814" spc="-5" dirty="0" err="1">
                <a:latin typeface="Times New Roman"/>
                <a:cs typeface="Times New Roman"/>
              </a:rPr>
              <a:t>exigente</a:t>
            </a:r>
            <a:r>
              <a:rPr lang="es-ES" sz="1814" spc="-5" dirty="0">
                <a:latin typeface="Times New Roman"/>
                <a:cs typeface="Times New Roman"/>
              </a:rPr>
              <a:t> </a:t>
            </a:r>
            <a:r>
              <a:rPr lang="es-ES" sz="1814" dirty="0">
                <a:latin typeface="Times New Roman"/>
                <a:cs typeface="Times New Roman"/>
              </a:rPr>
              <a:t>es la </a:t>
            </a:r>
            <a:r>
              <a:rPr sz="1814" dirty="0" err="1">
                <a:latin typeface="Times New Roman"/>
                <a:cs typeface="Times New Roman"/>
              </a:rPr>
              <a:t>inclusión</a:t>
            </a:r>
            <a:r>
              <a:rPr sz="1814" spc="5" dirty="0">
                <a:latin typeface="Times New Roman"/>
                <a:cs typeface="Times New Roman"/>
              </a:rPr>
              <a:t> </a:t>
            </a:r>
            <a:r>
              <a:rPr sz="1814" dirty="0">
                <a:latin typeface="Times New Roman"/>
                <a:cs typeface="Times New Roman"/>
              </a:rPr>
              <a:t>de </a:t>
            </a:r>
            <a:r>
              <a:rPr sz="1814" spc="-5" dirty="0">
                <a:latin typeface="Times New Roman"/>
                <a:cs typeface="Times New Roman"/>
              </a:rPr>
              <a:t>variables;</a:t>
            </a:r>
            <a:r>
              <a:rPr sz="1814" spc="18" dirty="0">
                <a:latin typeface="Times New Roman"/>
                <a:cs typeface="Times New Roman"/>
              </a:rPr>
              <a:t> </a:t>
            </a:r>
            <a:r>
              <a:rPr sz="1814" spc="-5" dirty="0">
                <a:latin typeface="Times New Roman"/>
                <a:cs typeface="Times New Roman"/>
              </a:rPr>
              <a:t>reducir</a:t>
            </a:r>
            <a:r>
              <a:rPr sz="1814" spc="5" dirty="0">
                <a:latin typeface="Times New Roman"/>
                <a:cs typeface="Times New Roman"/>
              </a:rPr>
              <a:t> </a:t>
            </a:r>
            <a:r>
              <a:rPr sz="1814" spc="-5" dirty="0">
                <a:latin typeface="Times New Roman"/>
                <a:cs typeface="Times New Roman"/>
              </a:rPr>
              <a:t>el</a:t>
            </a:r>
            <a:r>
              <a:rPr sz="1814" spc="9" dirty="0">
                <a:latin typeface="Times New Roman"/>
                <a:cs typeface="Times New Roman"/>
              </a:rPr>
              <a:t> </a:t>
            </a:r>
            <a:r>
              <a:rPr sz="1814" dirty="0">
                <a:latin typeface="Times New Roman"/>
                <a:cs typeface="Times New Roman"/>
              </a:rPr>
              <a:t>p-valor</a:t>
            </a:r>
            <a:r>
              <a:rPr sz="1814" spc="5" dirty="0">
                <a:latin typeface="Times New Roman"/>
                <a:cs typeface="Times New Roman"/>
              </a:rPr>
              <a:t> </a:t>
            </a:r>
            <a:r>
              <a:rPr sz="1814" spc="-5" dirty="0">
                <a:latin typeface="Times New Roman"/>
                <a:cs typeface="Times New Roman"/>
              </a:rPr>
              <a:t>implica</a:t>
            </a:r>
            <a:r>
              <a:rPr sz="1814" dirty="0">
                <a:latin typeface="Times New Roman"/>
                <a:cs typeface="Times New Roman"/>
              </a:rPr>
              <a:t> </a:t>
            </a:r>
            <a:r>
              <a:rPr sz="1814" spc="-5" dirty="0">
                <a:latin typeface="Times New Roman"/>
                <a:cs typeface="Times New Roman"/>
              </a:rPr>
              <a:t>entonces</a:t>
            </a:r>
            <a:r>
              <a:rPr sz="1814" dirty="0">
                <a:latin typeface="Times New Roman"/>
                <a:cs typeface="Times New Roman"/>
              </a:rPr>
              <a:t> menos</a:t>
            </a:r>
            <a:r>
              <a:rPr sz="1814" spc="5" dirty="0">
                <a:latin typeface="Times New Roman"/>
                <a:cs typeface="Times New Roman"/>
              </a:rPr>
              <a:t> </a:t>
            </a:r>
            <a:r>
              <a:rPr sz="1814" spc="-5" dirty="0">
                <a:latin typeface="Times New Roman"/>
                <a:cs typeface="Times New Roman"/>
              </a:rPr>
              <a:t>variables</a:t>
            </a:r>
            <a:r>
              <a:rPr sz="1814" spc="23" dirty="0">
                <a:latin typeface="Times New Roman"/>
                <a:cs typeface="Times New Roman"/>
              </a:rPr>
              <a:t> </a:t>
            </a:r>
            <a:r>
              <a:rPr sz="1814" dirty="0">
                <a:latin typeface="Times New Roman"/>
                <a:cs typeface="Times New Roman"/>
              </a:rPr>
              <a:t>y</a:t>
            </a:r>
            <a:r>
              <a:rPr sz="1814" spc="-18" dirty="0">
                <a:latin typeface="Times New Roman"/>
                <a:cs typeface="Times New Roman"/>
              </a:rPr>
              <a:t> </a:t>
            </a:r>
            <a:r>
              <a:rPr sz="1814" dirty="0">
                <a:latin typeface="Times New Roman"/>
                <a:cs typeface="Times New Roman"/>
              </a:rPr>
              <a:t>por</a:t>
            </a:r>
            <a:r>
              <a:rPr sz="1814" spc="9" dirty="0">
                <a:latin typeface="Times New Roman"/>
                <a:cs typeface="Times New Roman"/>
              </a:rPr>
              <a:t> </a:t>
            </a:r>
            <a:r>
              <a:rPr sz="1814" dirty="0">
                <a:latin typeface="Times New Roman"/>
                <a:cs typeface="Times New Roman"/>
              </a:rPr>
              <a:t>lo</a:t>
            </a:r>
            <a:r>
              <a:rPr sz="1814" spc="5" dirty="0">
                <a:latin typeface="Times New Roman"/>
                <a:cs typeface="Times New Roman"/>
              </a:rPr>
              <a:t> </a:t>
            </a:r>
            <a:r>
              <a:rPr sz="1814" dirty="0">
                <a:latin typeface="Times New Roman"/>
                <a:cs typeface="Times New Roman"/>
              </a:rPr>
              <a:t>tanto</a:t>
            </a:r>
            <a:r>
              <a:rPr sz="1814" spc="5" dirty="0">
                <a:latin typeface="Times New Roman"/>
                <a:cs typeface="Times New Roman"/>
              </a:rPr>
              <a:t> </a:t>
            </a:r>
            <a:r>
              <a:rPr sz="1814" dirty="0">
                <a:latin typeface="Times New Roman"/>
                <a:cs typeface="Times New Roman"/>
              </a:rPr>
              <a:t>más</a:t>
            </a:r>
            <a:r>
              <a:rPr sz="1814" spc="5" dirty="0">
                <a:latin typeface="Times New Roman"/>
                <a:cs typeface="Times New Roman"/>
              </a:rPr>
              <a:t> </a:t>
            </a:r>
            <a:r>
              <a:rPr sz="1814" spc="-9" dirty="0">
                <a:latin typeface="Times New Roman"/>
                <a:cs typeface="Times New Roman"/>
              </a:rPr>
              <a:t>sesgo</a:t>
            </a:r>
            <a:r>
              <a:rPr sz="1814" spc="5" dirty="0">
                <a:latin typeface="Times New Roman"/>
                <a:cs typeface="Times New Roman"/>
              </a:rPr>
              <a:t> </a:t>
            </a:r>
            <a:r>
              <a:rPr sz="1814" dirty="0">
                <a:latin typeface="Times New Roman"/>
                <a:cs typeface="Times New Roman"/>
              </a:rPr>
              <a:t>pero</a:t>
            </a:r>
            <a:r>
              <a:rPr sz="1814" spc="5" dirty="0">
                <a:latin typeface="Times New Roman"/>
                <a:cs typeface="Times New Roman"/>
              </a:rPr>
              <a:t> </a:t>
            </a:r>
            <a:r>
              <a:rPr sz="1814" spc="-5" dirty="0">
                <a:latin typeface="Times New Roman"/>
                <a:cs typeface="Times New Roman"/>
              </a:rPr>
              <a:t>menos</a:t>
            </a:r>
            <a:r>
              <a:rPr sz="1814" spc="18" dirty="0">
                <a:latin typeface="Times New Roman"/>
                <a:cs typeface="Times New Roman"/>
              </a:rPr>
              <a:t> </a:t>
            </a:r>
            <a:r>
              <a:rPr sz="1814" spc="-5" dirty="0">
                <a:latin typeface="Times New Roman"/>
                <a:cs typeface="Times New Roman"/>
              </a:rPr>
              <a:t>varianza.</a:t>
            </a:r>
            <a:r>
              <a:rPr sz="1814" spc="5" dirty="0">
                <a:latin typeface="Times New Roman"/>
                <a:cs typeface="Times New Roman"/>
              </a:rPr>
              <a:t> </a:t>
            </a:r>
            <a:r>
              <a:rPr sz="1814" spc="-5" dirty="0">
                <a:latin typeface="Times New Roman"/>
                <a:cs typeface="Times New Roman"/>
              </a:rPr>
              <a:t>Aumentar</a:t>
            </a:r>
            <a:r>
              <a:rPr sz="1814" spc="5" dirty="0">
                <a:latin typeface="Times New Roman"/>
                <a:cs typeface="Times New Roman"/>
              </a:rPr>
              <a:t> </a:t>
            </a:r>
            <a:r>
              <a:rPr sz="1814" spc="-5" dirty="0">
                <a:latin typeface="Times New Roman"/>
                <a:cs typeface="Times New Roman"/>
              </a:rPr>
              <a:t>el</a:t>
            </a:r>
            <a:r>
              <a:rPr sz="1814" spc="5" dirty="0">
                <a:latin typeface="Times New Roman"/>
                <a:cs typeface="Times New Roman"/>
              </a:rPr>
              <a:t> </a:t>
            </a:r>
            <a:r>
              <a:rPr sz="1814" dirty="0">
                <a:latin typeface="Times New Roman"/>
                <a:cs typeface="Times New Roman"/>
              </a:rPr>
              <a:t>p-valor </a:t>
            </a:r>
            <a:r>
              <a:rPr sz="1814" spc="5" dirty="0">
                <a:latin typeface="Times New Roman"/>
                <a:cs typeface="Times New Roman"/>
              </a:rPr>
              <a:t> </a:t>
            </a:r>
            <a:r>
              <a:rPr sz="1814" spc="-5" dirty="0">
                <a:latin typeface="Times New Roman"/>
                <a:cs typeface="Times New Roman"/>
              </a:rPr>
              <a:t>permite</a:t>
            </a:r>
            <a:r>
              <a:rPr sz="1814" dirty="0">
                <a:latin typeface="Times New Roman"/>
                <a:cs typeface="Times New Roman"/>
              </a:rPr>
              <a:t> la</a:t>
            </a:r>
            <a:r>
              <a:rPr sz="1814" spc="-5" dirty="0">
                <a:latin typeface="Times New Roman"/>
                <a:cs typeface="Times New Roman"/>
              </a:rPr>
              <a:t> </a:t>
            </a:r>
            <a:r>
              <a:rPr sz="1814" dirty="0">
                <a:latin typeface="Times New Roman"/>
                <a:cs typeface="Times New Roman"/>
              </a:rPr>
              <a:t>inclusión de</a:t>
            </a:r>
            <a:r>
              <a:rPr sz="1814" spc="-5" dirty="0">
                <a:latin typeface="Times New Roman"/>
                <a:cs typeface="Times New Roman"/>
              </a:rPr>
              <a:t> </a:t>
            </a:r>
            <a:r>
              <a:rPr sz="1814" dirty="0">
                <a:latin typeface="Times New Roman"/>
                <a:cs typeface="Times New Roman"/>
              </a:rPr>
              <a:t>más</a:t>
            </a:r>
            <a:r>
              <a:rPr sz="1814" spc="5" dirty="0">
                <a:latin typeface="Times New Roman"/>
                <a:cs typeface="Times New Roman"/>
              </a:rPr>
              <a:t> </a:t>
            </a:r>
            <a:r>
              <a:rPr sz="1814" spc="-5" dirty="0">
                <a:latin typeface="Times New Roman"/>
                <a:cs typeface="Times New Roman"/>
              </a:rPr>
              <a:t>variables</a:t>
            </a:r>
            <a:r>
              <a:rPr sz="1814" spc="18" dirty="0">
                <a:latin typeface="Times New Roman"/>
                <a:cs typeface="Times New Roman"/>
              </a:rPr>
              <a:t> </a:t>
            </a:r>
            <a:r>
              <a:rPr sz="1814" dirty="0">
                <a:latin typeface="Times New Roman"/>
                <a:cs typeface="Times New Roman"/>
              </a:rPr>
              <a:t>y</a:t>
            </a:r>
            <a:r>
              <a:rPr sz="1814" spc="-23" dirty="0">
                <a:latin typeface="Times New Roman"/>
                <a:cs typeface="Times New Roman"/>
              </a:rPr>
              <a:t> </a:t>
            </a:r>
            <a:r>
              <a:rPr sz="1814" spc="5" dirty="0">
                <a:latin typeface="Times New Roman"/>
                <a:cs typeface="Times New Roman"/>
              </a:rPr>
              <a:t>por</a:t>
            </a:r>
            <a:r>
              <a:rPr sz="1814" dirty="0">
                <a:latin typeface="Times New Roman"/>
                <a:cs typeface="Times New Roman"/>
              </a:rPr>
              <a:t> lo</a:t>
            </a:r>
            <a:r>
              <a:rPr sz="1814" spc="5" dirty="0">
                <a:latin typeface="Times New Roman"/>
                <a:cs typeface="Times New Roman"/>
              </a:rPr>
              <a:t> </a:t>
            </a:r>
            <a:r>
              <a:rPr sz="1814" spc="-5" dirty="0">
                <a:latin typeface="Times New Roman"/>
                <a:cs typeface="Times New Roman"/>
              </a:rPr>
              <a:t>tanto</a:t>
            </a:r>
            <a:r>
              <a:rPr sz="1814" dirty="0">
                <a:latin typeface="Times New Roman"/>
                <a:cs typeface="Times New Roman"/>
              </a:rPr>
              <a:t> </a:t>
            </a:r>
            <a:r>
              <a:rPr sz="1814" spc="-5" dirty="0">
                <a:latin typeface="Times New Roman"/>
                <a:cs typeface="Times New Roman"/>
              </a:rPr>
              <a:t>modelos</a:t>
            </a:r>
            <a:r>
              <a:rPr sz="1814" dirty="0">
                <a:latin typeface="Times New Roman"/>
                <a:cs typeface="Times New Roman"/>
              </a:rPr>
              <a:t> más</a:t>
            </a:r>
            <a:r>
              <a:rPr sz="1814" spc="-5" dirty="0">
                <a:latin typeface="Times New Roman"/>
                <a:cs typeface="Times New Roman"/>
              </a:rPr>
              <a:t> </a:t>
            </a:r>
            <a:r>
              <a:rPr sz="1814" dirty="0">
                <a:latin typeface="Times New Roman"/>
                <a:cs typeface="Times New Roman"/>
              </a:rPr>
              <a:t>complejos</a:t>
            </a:r>
            <a:r>
              <a:rPr sz="1814" spc="5" dirty="0">
                <a:latin typeface="Times New Roman"/>
                <a:cs typeface="Times New Roman"/>
              </a:rPr>
              <a:t> </a:t>
            </a:r>
            <a:r>
              <a:rPr sz="1814" dirty="0">
                <a:latin typeface="Times New Roman"/>
                <a:cs typeface="Times New Roman"/>
              </a:rPr>
              <a:t>que</a:t>
            </a:r>
            <a:r>
              <a:rPr sz="1814" spc="-5" dirty="0">
                <a:latin typeface="Times New Roman"/>
                <a:cs typeface="Times New Roman"/>
              </a:rPr>
              <a:t> pueden</a:t>
            </a:r>
            <a:r>
              <a:rPr sz="1814" dirty="0">
                <a:latin typeface="Times New Roman"/>
                <a:cs typeface="Times New Roman"/>
              </a:rPr>
              <a:t> tener menos </a:t>
            </a:r>
            <a:r>
              <a:rPr sz="1814" spc="-9" dirty="0">
                <a:latin typeface="Times New Roman"/>
                <a:cs typeface="Times New Roman"/>
              </a:rPr>
              <a:t>sesgo</a:t>
            </a:r>
            <a:r>
              <a:rPr sz="1814" dirty="0">
                <a:latin typeface="Times New Roman"/>
                <a:cs typeface="Times New Roman"/>
              </a:rPr>
              <a:t> pero </a:t>
            </a:r>
            <a:r>
              <a:rPr sz="1814" spc="-5" dirty="0" err="1">
                <a:latin typeface="Times New Roman"/>
                <a:cs typeface="Times New Roman"/>
              </a:rPr>
              <a:t>más</a:t>
            </a:r>
            <a:r>
              <a:rPr sz="1814" spc="-5" dirty="0">
                <a:latin typeface="Times New Roman"/>
                <a:cs typeface="Times New Roman"/>
              </a:rPr>
              <a:t> </a:t>
            </a:r>
            <a:r>
              <a:rPr sz="1814" spc="-5" dirty="0" err="1">
                <a:latin typeface="Times New Roman"/>
                <a:cs typeface="Times New Roman"/>
              </a:rPr>
              <a:t>varianza</a:t>
            </a:r>
            <a:r>
              <a:rPr sz="1814" spc="-5" dirty="0">
                <a:latin typeface="Times New Roman"/>
                <a:cs typeface="Times New Roman"/>
              </a:rPr>
              <a:t>.</a:t>
            </a:r>
            <a:endParaRPr lang="es-ES" sz="1814" spc="-5" dirty="0">
              <a:latin typeface="Times New Roman"/>
              <a:cs typeface="Times New Roman"/>
            </a:endParaRPr>
          </a:p>
          <a:p>
            <a:pPr marL="11516" marR="65067" algn="just">
              <a:spcBef>
                <a:spcPts val="59"/>
              </a:spcBef>
              <a:buFont typeface="Times New Roman"/>
              <a:buAutoNum type="arabicParenR" startAt="2"/>
              <a:tabLst>
                <a:tab pos="161229" algn="l"/>
              </a:tabLst>
            </a:pPr>
            <a:endParaRPr lang="es-ES" sz="1814" dirty="0">
              <a:latin typeface="Times New Roman"/>
              <a:cs typeface="Times New Roman"/>
            </a:endParaRPr>
          </a:p>
          <a:p>
            <a:pPr marL="11516" marR="65067" algn="just">
              <a:spcBef>
                <a:spcPts val="59"/>
              </a:spcBef>
              <a:buFont typeface="Times New Roman"/>
              <a:buAutoNum type="arabicParenR" startAt="2"/>
              <a:tabLst>
                <a:tab pos="161229" algn="l"/>
              </a:tabLst>
            </a:pPr>
            <a:r>
              <a:rPr lang="es-ES" sz="1814" spc="-9" dirty="0">
                <a:latin typeface="Times New Roman"/>
                <a:cs typeface="Times New Roman"/>
              </a:rPr>
              <a:t> </a:t>
            </a:r>
            <a:r>
              <a:rPr sz="1814" spc="-9" dirty="0">
                <a:latin typeface="Times New Roman"/>
                <a:cs typeface="Times New Roman"/>
              </a:rPr>
              <a:t>La</a:t>
            </a:r>
            <a:r>
              <a:rPr sz="1814" dirty="0">
                <a:latin typeface="Times New Roman"/>
                <a:cs typeface="Times New Roman"/>
              </a:rPr>
              <a:t> </a:t>
            </a:r>
            <a:r>
              <a:rPr sz="1814" b="1" spc="-5" dirty="0">
                <a:latin typeface="Times New Roman"/>
                <a:cs typeface="Times New Roman"/>
              </a:rPr>
              <a:t>linealidad</a:t>
            </a:r>
            <a:r>
              <a:rPr sz="1814" spc="9" dirty="0">
                <a:latin typeface="Times New Roman"/>
                <a:cs typeface="Times New Roman"/>
              </a:rPr>
              <a:t> </a:t>
            </a:r>
            <a:r>
              <a:rPr sz="1814" dirty="0">
                <a:latin typeface="Times New Roman"/>
                <a:cs typeface="Times New Roman"/>
              </a:rPr>
              <a:t>en</a:t>
            </a:r>
            <a:r>
              <a:rPr sz="1814" spc="5" dirty="0">
                <a:latin typeface="Times New Roman"/>
                <a:cs typeface="Times New Roman"/>
              </a:rPr>
              <a:t> </a:t>
            </a:r>
            <a:r>
              <a:rPr sz="1814" dirty="0">
                <a:latin typeface="Times New Roman"/>
                <a:cs typeface="Times New Roman"/>
              </a:rPr>
              <a:t>modelos</a:t>
            </a:r>
            <a:r>
              <a:rPr sz="1814" spc="9" dirty="0">
                <a:latin typeface="Times New Roman"/>
                <a:cs typeface="Times New Roman"/>
              </a:rPr>
              <a:t> </a:t>
            </a:r>
            <a:r>
              <a:rPr sz="1814" dirty="0">
                <a:latin typeface="Times New Roman"/>
                <a:cs typeface="Times New Roman"/>
              </a:rPr>
              <a:t>de</a:t>
            </a:r>
            <a:r>
              <a:rPr sz="1814" spc="5" dirty="0">
                <a:latin typeface="Times New Roman"/>
                <a:cs typeface="Times New Roman"/>
              </a:rPr>
              <a:t> </a:t>
            </a:r>
            <a:r>
              <a:rPr sz="1814" spc="-5" dirty="0">
                <a:latin typeface="Times New Roman"/>
                <a:cs typeface="Times New Roman"/>
              </a:rPr>
              <a:t>regresión</a:t>
            </a:r>
            <a:r>
              <a:rPr sz="1814" dirty="0">
                <a:latin typeface="Times New Roman"/>
                <a:cs typeface="Times New Roman"/>
              </a:rPr>
              <a:t> o</a:t>
            </a:r>
            <a:r>
              <a:rPr sz="1814" spc="9" dirty="0">
                <a:latin typeface="Times New Roman"/>
                <a:cs typeface="Times New Roman"/>
              </a:rPr>
              <a:t> </a:t>
            </a:r>
            <a:r>
              <a:rPr sz="1814" spc="-5" dirty="0">
                <a:latin typeface="Times New Roman"/>
                <a:cs typeface="Times New Roman"/>
              </a:rPr>
              <a:t>separabilidad</a:t>
            </a:r>
            <a:r>
              <a:rPr sz="1814" spc="5" dirty="0">
                <a:latin typeface="Times New Roman"/>
                <a:cs typeface="Times New Roman"/>
              </a:rPr>
              <a:t> </a:t>
            </a:r>
            <a:r>
              <a:rPr sz="1814" spc="-5" dirty="0">
                <a:latin typeface="Times New Roman"/>
                <a:cs typeface="Times New Roman"/>
              </a:rPr>
              <a:t>lineal</a:t>
            </a:r>
            <a:r>
              <a:rPr sz="1814" spc="9" dirty="0">
                <a:latin typeface="Times New Roman"/>
                <a:cs typeface="Times New Roman"/>
              </a:rPr>
              <a:t> </a:t>
            </a:r>
            <a:r>
              <a:rPr sz="1814" dirty="0">
                <a:latin typeface="Times New Roman"/>
                <a:cs typeface="Times New Roman"/>
              </a:rPr>
              <a:t>en</a:t>
            </a:r>
            <a:r>
              <a:rPr sz="1814" spc="9" dirty="0">
                <a:latin typeface="Times New Roman"/>
                <a:cs typeface="Times New Roman"/>
              </a:rPr>
              <a:t> </a:t>
            </a:r>
            <a:r>
              <a:rPr sz="1814" dirty="0">
                <a:latin typeface="Times New Roman"/>
                <a:cs typeface="Times New Roman"/>
              </a:rPr>
              <a:t>modelos de</a:t>
            </a:r>
            <a:r>
              <a:rPr sz="1814" spc="9" dirty="0">
                <a:latin typeface="Times New Roman"/>
                <a:cs typeface="Times New Roman"/>
              </a:rPr>
              <a:t> </a:t>
            </a:r>
            <a:r>
              <a:rPr sz="1814" spc="-5" dirty="0">
                <a:latin typeface="Times New Roman"/>
                <a:cs typeface="Times New Roman"/>
              </a:rPr>
              <a:t>clasificación</a:t>
            </a:r>
            <a:r>
              <a:rPr sz="1814" spc="5" dirty="0">
                <a:latin typeface="Times New Roman"/>
                <a:cs typeface="Times New Roman"/>
              </a:rPr>
              <a:t> </a:t>
            </a:r>
            <a:r>
              <a:rPr sz="1814" spc="-5" dirty="0">
                <a:latin typeface="Times New Roman"/>
                <a:cs typeface="Times New Roman"/>
              </a:rPr>
              <a:t>mejora</a:t>
            </a:r>
            <a:r>
              <a:rPr sz="1814" spc="14" dirty="0">
                <a:latin typeface="Times New Roman"/>
                <a:cs typeface="Times New Roman"/>
              </a:rPr>
              <a:t> </a:t>
            </a:r>
            <a:r>
              <a:rPr sz="1814" spc="-5" dirty="0">
                <a:latin typeface="Times New Roman"/>
                <a:cs typeface="Times New Roman"/>
              </a:rPr>
              <a:t>en</a:t>
            </a:r>
            <a:r>
              <a:rPr sz="1814" spc="9" dirty="0">
                <a:latin typeface="Times New Roman"/>
                <a:cs typeface="Times New Roman"/>
              </a:rPr>
              <a:t> </a:t>
            </a:r>
            <a:r>
              <a:rPr sz="1814" spc="-5" dirty="0">
                <a:latin typeface="Times New Roman"/>
                <a:cs typeface="Times New Roman"/>
              </a:rPr>
              <a:t>general</a:t>
            </a:r>
            <a:r>
              <a:rPr sz="1814" spc="5" dirty="0">
                <a:latin typeface="Times New Roman"/>
                <a:cs typeface="Times New Roman"/>
              </a:rPr>
              <a:t> </a:t>
            </a:r>
            <a:r>
              <a:rPr sz="1814" dirty="0">
                <a:latin typeface="Times New Roman"/>
                <a:cs typeface="Times New Roman"/>
              </a:rPr>
              <a:t>ambos</a:t>
            </a:r>
            <a:r>
              <a:rPr sz="1814" spc="9" dirty="0">
                <a:latin typeface="Times New Roman"/>
                <a:cs typeface="Times New Roman"/>
              </a:rPr>
              <a:t> </a:t>
            </a:r>
            <a:r>
              <a:rPr sz="1814" spc="-5" dirty="0">
                <a:latin typeface="Times New Roman"/>
                <a:cs typeface="Times New Roman"/>
              </a:rPr>
              <a:t>sesgo</a:t>
            </a:r>
            <a:r>
              <a:rPr sz="1814" spc="27" dirty="0">
                <a:latin typeface="Times New Roman"/>
                <a:cs typeface="Times New Roman"/>
              </a:rPr>
              <a:t> </a:t>
            </a:r>
            <a:r>
              <a:rPr sz="1814" dirty="0">
                <a:latin typeface="Times New Roman"/>
                <a:cs typeface="Times New Roman"/>
              </a:rPr>
              <a:t>y</a:t>
            </a:r>
            <a:r>
              <a:rPr sz="1814" spc="-9" dirty="0">
                <a:latin typeface="Times New Roman"/>
                <a:cs typeface="Times New Roman"/>
              </a:rPr>
              <a:t> </a:t>
            </a:r>
            <a:r>
              <a:rPr sz="1814" dirty="0">
                <a:latin typeface="Times New Roman"/>
                <a:cs typeface="Times New Roman"/>
              </a:rPr>
              <a:t>varianza.</a:t>
            </a:r>
            <a:r>
              <a:rPr sz="1814" spc="9" dirty="0">
                <a:latin typeface="Times New Roman"/>
                <a:cs typeface="Times New Roman"/>
              </a:rPr>
              <a:t> </a:t>
            </a:r>
            <a:r>
              <a:rPr sz="1814" dirty="0">
                <a:latin typeface="Times New Roman"/>
                <a:cs typeface="Times New Roman"/>
              </a:rPr>
              <a:t>Si</a:t>
            </a:r>
            <a:r>
              <a:rPr sz="1814" spc="5" dirty="0">
                <a:latin typeface="Times New Roman"/>
                <a:cs typeface="Times New Roman"/>
              </a:rPr>
              <a:t> </a:t>
            </a:r>
            <a:r>
              <a:rPr sz="1814" spc="-5" dirty="0">
                <a:latin typeface="Times New Roman"/>
                <a:cs typeface="Times New Roman"/>
              </a:rPr>
              <a:t>se</a:t>
            </a:r>
            <a:r>
              <a:rPr sz="1814" spc="5" dirty="0">
                <a:latin typeface="Times New Roman"/>
                <a:cs typeface="Times New Roman"/>
              </a:rPr>
              <a:t> </a:t>
            </a:r>
            <a:r>
              <a:rPr sz="1814" spc="-5" dirty="0">
                <a:latin typeface="Times New Roman"/>
                <a:cs typeface="Times New Roman"/>
              </a:rPr>
              <a:t>puede</a:t>
            </a:r>
            <a:r>
              <a:rPr sz="1814" spc="14" dirty="0">
                <a:latin typeface="Times New Roman"/>
                <a:cs typeface="Times New Roman"/>
              </a:rPr>
              <a:t> </a:t>
            </a:r>
            <a:r>
              <a:rPr sz="1814" spc="-5" dirty="0" err="1">
                <a:latin typeface="Times New Roman"/>
                <a:cs typeface="Times New Roman"/>
              </a:rPr>
              <a:t>conseguir</a:t>
            </a:r>
            <a:r>
              <a:rPr sz="1814" spc="9" dirty="0">
                <a:latin typeface="Times New Roman"/>
                <a:cs typeface="Times New Roman"/>
              </a:rPr>
              <a:t> </a:t>
            </a:r>
            <a:r>
              <a:rPr sz="1814" spc="-5" dirty="0" err="1">
                <a:latin typeface="Times New Roman"/>
                <a:cs typeface="Times New Roman"/>
              </a:rPr>
              <a:t>esta</a:t>
            </a:r>
            <a:r>
              <a:rPr lang="es-ES" sz="1814" dirty="0">
                <a:latin typeface="Times New Roman"/>
                <a:cs typeface="Times New Roman"/>
              </a:rPr>
              <a:t> </a:t>
            </a:r>
            <a:r>
              <a:rPr sz="1814" spc="-5" dirty="0" err="1">
                <a:latin typeface="Times New Roman"/>
                <a:cs typeface="Times New Roman"/>
              </a:rPr>
              <a:t>linealidad</a:t>
            </a:r>
            <a:r>
              <a:rPr sz="1814" spc="9" dirty="0">
                <a:latin typeface="Times New Roman"/>
                <a:cs typeface="Times New Roman"/>
              </a:rPr>
              <a:t> </a:t>
            </a:r>
            <a:r>
              <a:rPr sz="1814" dirty="0">
                <a:latin typeface="Times New Roman"/>
                <a:cs typeface="Times New Roman"/>
              </a:rPr>
              <a:t>con</a:t>
            </a:r>
            <a:r>
              <a:rPr sz="1814" spc="9" dirty="0">
                <a:latin typeface="Times New Roman"/>
                <a:cs typeface="Times New Roman"/>
              </a:rPr>
              <a:t> </a:t>
            </a:r>
            <a:r>
              <a:rPr sz="1814" spc="-5" dirty="0">
                <a:latin typeface="Times New Roman"/>
                <a:cs typeface="Times New Roman"/>
              </a:rPr>
              <a:t>transformaciones</a:t>
            </a:r>
            <a:r>
              <a:rPr sz="1814" spc="9" dirty="0">
                <a:latin typeface="Times New Roman"/>
                <a:cs typeface="Times New Roman"/>
              </a:rPr>
              <a:t> </a:t>
            </a:r>
            <a:r>
              <a:rPr sz="1814" spc="-5" dirty="0">
                <a:latin typeface="Times New Roman"/>
                <a:cs typeface="Times New Roman"/>
              </a:rPr>
              <a:t>sencillas</a:t>
            </a:r>
            <a:r>
              <a:rPr sz="1814" spc="32" dirty="0">
                <a:latin typeface="Times New Roman"/>
                <a:cs typeface="Times New Roman"/>
              </a:rPr>
              <a:t> </a:t>
            </a:r>
            <a:r>
              <a:rPr sz="1814" dirty="0">
                <a:latin typeface="Times New Roman"/>
                <a:cs typeface="Times New Roman"/>
              </a:rPr>
              <a:t>y</a:t>
            </a:r>
            <a:r>
              <a:rPr sz="1814" spc="-14" dirty="0">
                <a:latin typeface="Times New Roman"/>
                <a:cs typeface="Times New Roman"/>
              </a:rPr>
              <a:t> </a:t>
            </a:r>
            <a:r>
              <a:rPr sz="1814" dirty="0">
                <a:latin typeface="Times New Roman"/>
                <a:cs typeface="Times New Roman"/>
              </a:rPr>
              <a:t>utilizar</a:t>
            </a:r>
            <a:r>
              <a:rPr sz="1814" spc="9" dirty="0">
                <a:latin typeface="Times New Roman"/>
                <a:cs typeface="Times New Roman"/>
              </a:rPr>
              <a:t> </a:t>
            </a:r>
            <a:r>
              <a:rPr sz="1814" spc="-5" dirty="0">
                <a:latin typeface="Times New Roman"/>
                <a:cs typeface="Times New Roman"/>
              </a:rPr>
              <a:t>regresión</a:t>
            </a:r>
            <a:r>
              <a:rPr sz="1814" spc="5" dirty="0">
                <a:latin typeface="Times New Roman"/>
                <a:cs typeface="Times New Roman"/>
              </a:rPr>
              <a:t> </a:t>
            </a:r>
            <a:r>
              <a:rPr sz="1814" dirty="0">
                <a:latin typeface="Times New Roman"/>
                <a:cs typeface="Times New Roman"/>
              </a:rPr>
              <a:t>o</a:t>
            </a:r>
            <a:r>
              <a:rPr sz="1814" spc="9" dirty="0">
                <a:latin typeface="Times New Roman"/>
                <a:cs typeface="Times New Roman"/>
              </a:rPr>
              <a:t> </a:t>
            </a:r>
            <a:r>
              <a:rPr sz="1814" spc="-5" dirty="0">
                <a:latin typeface="Times New Roman"/>
                <a:cs typeface="Times New Roman"/>
              </a:rPr>
              <a:t>regresión</a:t>
            </a:r>
            <a:r>
              <a:rPr sz="1814" spc="9" dirty="0">
                <a:latin typeface="Times New Roman"/>
                <a:cs typeface="Times New Roman"/>
              </a:rPr>
              <a:t> </a:t>
            </a:r>
            <a:r>
              <a:rPr sz="1814" dirty="0">
                <a:latin typeface="Times New Roman"/>
                <a:cs typeface="Times New Roman"/>
              </a:rPr>
              <a:t>logística </a:t>
            </a:r>
            <a:r>
              <a:rPr sz="1814" spc="-5" dirty="0">
                <a:latin typeface="Times New Roman"/>
                <a:cs typeface="Times New Roman"/>
              </a:rPr>
              <a:t>(en</a:t>
            </a:r>
            <a:r>
              <a:rPr sz="1814" spc="9" dirty="0">
                <a:latin typeface="Times New Roman"/>
                <a:cs typeface="Times New Roman"/>
              </a:rPr>
              <a:t> </a:t>
            </a:r>
            <a:r>
              <a:rPr sz="1814" spc="-5" dirty="0">
                <a:latin typeface="Times New Roman"/>
                <a:cs typeface="Times New Roman"/>
              </a:rPr>
              <a:t>clasificación)</a:t>
            </a:r>
            <a:r>
              <a:rPr sz="1814" spc="9" dirty="0">
                <a:latin typeface="Times New Roman"/>
                <a:cs typeface="Times New Roman"/>
              </a:rPr>
              <a:t> </a:t>
            </a:r>
            <a:r>
              <a:rPr sz="1814" dirty="0">
                <a:latin typeface="Times New Roman"/>
                <a:cs typeface="Times New Roman"/>
              </a:rPr>
              <a:t>puede</a:t>
            </a:r>
            <a:r>
              <a:rPr sz="1814" spc="9" dirty="0">
                <a:latin typeface="Times New Roman"/>
                <a:cs typeface="Times New Roman"/>
              </a:rPr>
              <a:t> </a:t>
            </a:r>
            <a:r>
              <a:rPr sz="1814" spc="-5" dirty="0">
                <a:latin typeface="Times New Roman"/>
                <a:cs typeface="Times New Roman"/>
              </a:rPr>
              <a:t>ser</a:t>
            </a:r>
            <a:r>
              <a:rPr sz="1814" dirty="0">
                <a:latin typeface="Times New Roman"/>
                <a:cs typeface="Times New Roman"/>
              </a:rPr>
              <a:t> mejor</a:t>
            </a:r>
            <a:r>
              <a:rPr sz="1814" spc="9" dirty="0">
                <a:latin typeface="Times New Roman"/>
                <a:cs typeface="Times New Roman"/>
              </a:rPr>
              <a:t> </a:t>
            </a:r>
            <a:r>
              <a:rPr sz="1814" dirty="0">
                <a:latin typeface="Times New Roman"/>
                <a:cs typeface="Times New Roman"/>
              </a:rPr>
              <a:t>que probar</a:t>
            </a:r>
            <a:r>
              <a:rPr sz="1814" spc="9" dirty="0">
                <a:latin typeface="Times New Roman"/>
                <a:cs typeface="Times New Roman"/>
              </a:rPr>
              <a:t> </a:t>
            </a:r>
            <a:r>
              <a:rPr sz="1814" dirty="0">
                <a:latin typeface="Times New Roman"/>
                <a:cs typeface="Times New Roman"/>
              </a:rPr>
              <a:t>algoritmos</a:t>
            </a:r>
            <a:r>
              <a:rPr sz="1814" spc="14" dirty="0">
                <a:latin typeface="Times New Roman"/>
                <a:cs typeface="Times New Roman"/>
              </a:rPr>
              <a:t> </a:t>
            </a:r>
            <a:r>
              <a:rPr sz="1814" dirty="0">
                <a:latin typeface="Times New Roman"/>
                <a:cs typeface="Times New Roman"/>
              </a:rPr>
              <a:t>más</a:t>
            </a:r>
            <a:r>
              <a:rPr sz="1814" spc="5" dirty="0">
                <a:latin typeface="Times New Roman"/>
                <a:cs typeface="Times New Roman"/>
              </a:rPr>
              <a:t> </a:t>
            </a:r>
            <a:r>
              <a:rPr sz="1814" spc="-5" dirty="0">
                <a:latin typeface="Times New Roman"/>
                <a:cs typeface="Times New Roman"/>
              </a:rPr>
              <a:t>complicados</a:t>
            </a:r>
            <a:r>
              <a:rPr sz="1814" spc="9" dirty="0">
                <a:latin typeface="Times New Roman"/>
                <a:cs typeface="Times New Roman"/>
              </a:rPr>
              <a:t> </a:t>
            </a:r>
            <a:r>
              <a:rPr sz="1814" spc="-5" dirty="0">
                <a:latin typeface="Times New Roman"/>
                <a:cs typeface="Times New Roman"/>
              </a:rPr>
              <a:t>como </a:t>
            </a:r>
            <a:r>
              <a:rPr sz="1814" spc="-258" dirty="0">
                <a:latin typeface="Times New Roman"/>
                <a:cs typeface="Times New Roman"/>
              </a:rPr>
              <a:t> </a:t>
            </a:r>
            <a:r>
              <a:rPr sz="1814" spc="-5" dirty="0" err="1">
                <a:latin typeface="Times New Roman"/>
                <a:cs typeface="Times New Roman"/>
              </a:rPr>
              <a:t>redes</a:t>
            </a:r>
            <a:r>
              <a:rPr sz="1814" spc="-5" dirty="0">
                <a:latin typeface="Times New Roman"/>
                <a:cs typeface="Times New Roman"/>
              </a:rPr>
              <a:t>.</a:t>
            </a:r>
            <a:endParaRPr lang="es-ES" sz="1814" spc="-5" dirty="0">
              <a:latin typeface="Times New Roman"/>
              <a:cs typeface="Times New Roman"/>
            </a:endParaRPr>
          </a:p>
          <a:p>
            <a:pPr marL="11516" marR="65067" algn="just">
              <a:spcBef>
                <a:spcPts val="59"/>
              </a:spcBef>
              <a:buFont typeface="Times New Roman"/>
              <a:buAutoNum type="arabicParenR" startAt="2"/>
              <a:tabLst>
                <a:tab pos="161229" algn="l"/>
              </a:tabLst>
            </a:pPr>
            <a:endParaRPr sz="1814" dirty="0">
              <a:latin typeface="Times New Roman"/>
              <a:cs typeface="Times New Roman"/>
            </a:endParaRPr>
          </a:p>
          <a:p>
            <a:pPr marL="11516" marR="276393" algn="just">
              <a:buFont typeface="Times New Roman"/>
              <a:buAutoNum type="arabicParenR" startAt="4"/>
              <a:tabLst>
                <a:tab pos="161229" algn="l"/>
              </a:tabLst>
            </a:pPr>
            <a:r>
              <a:rPr lang="es-ES" sz="1814" spc="-5" dirty="0">
                <a:latin typeface="Times New Roman"/>
                <a:cs typeface="Times New Roman"/>
              </a:rPr>
              <a:t> </a:t>
            </a:r>
            <a:r>
              <a:rPr sz="1814" spc="-5" dirty="0" err="1">
                <a:latin typeface="Times New Roman"/>
                <a:cs typeface="Times New Roman"/>
              </a:rPr>
              <a:t>Monitorizar</a:t>
            </a:r>
            <a:r>
              <a:rPr sz="1814" spc="5" dirty="0">
                <a:latin typeface="Times New Roman"/>
                <a:cs typeface="Times New Roman"/>
              </a:rPr>
              <a:t> </a:t>
            </a:r>
            <a:r>
              <a:rPr sz="1814" spc="-5" dirty="0" err="1">
                <a:latin typeface="Times New Roman"/>
                <a:cs typeface="Times New Roman"/>
              </a:rPr>
              <a:t>modelos</a:t>
            </a:r>
            <a:r>
              <a:rPr lang="es-ES" sz="1814" spc="9" dirty="0">
                <a:latin typeface="Times New Roman"/>
                <a:cs typeface="Times New Roman"/>
              </a:rPr>
              <a:t> </a:t>
            </a:r>
            <a:r>
              <a:rPr sz="1814" dirty="0">
                <a:latin typeface="Times New Roman"/>
                <a:cs typeface="Times New Roman"/>
              </a:rPr>
              <a:t>con</a:t>
            </a:r>
            <a:r>
              <a:rPr sz="1814" spc="9" dirty="0">
                <a:latin typeface="Times New Roman"/>
                <a:cs typeface="Times New Roman"/>
              </a:rPr>
              <a:t> </a:t>
            </a:r>
            <a:r>
              <a:rPr sz="1814" b="1" spc="-5" dirty="0">
                <a:latin typeface="Times New Roman"/>
                <a:cs typeface="Times New Roman"/>
              </a:rPr>
              <a:t>excesivo</a:t>
            </a:r>
            <a:r>
              <a:rPr sz="1814" b="1" spc="5" dirty="0">
                <a:latin typeface="Times New Roman"/>
                <a:cs typeface="Times New Roman"/>
              </a:rPr>
              <a:t> </a:t>
            </a:r>
            <a:r>
              <a:rPr sz="1814" b="1" spc="-5" dirty="0">
                <a:latin typeface="Times New Roman"/>
                <a:cs typeface="Times New Roman"/>
              </a:rPr>
              <a:t>número</a:t>
            </a:r>
            <a:r>
              <a:rPr sz="1814" b="1" spc="5" dirty="0">
                <a:latin typeface="Times New Roman"/>
                <a:cs typeface="Times New Roman"/>
              </a:rPr>
              <a:t> </a:t>
            </a:r>
            <a:r>
              <a:rPr sz="1814" b="1" dirty="0">
                <a:latin typeface="Times New Roman"/>
                <a:cs typeface="Times New Roman"/>
              </a:rPr>
              <a:t>de</a:t>
            </a:r>
            <a:r>
              <a:rPr sz="1814" b="1" spc="5" dirty="0">
                <a:latin typeface="Times New Roman"/>
                <a:cs typeface="Times New Roman"/>
              </a:rPr>
              <a:t> </a:t>
            </a:r>
            <a:r>
              <a:rPr sz="1814" b="1" spc="-5" dirty="0">
                <a:latin typeface="Times New Roman"/>
                <a:cs typeface="Times New Roman"/>
              </a:rPr>
              <a:t>aspectos</a:t>
            </a:r>
            <a:r>
              <a:rPr sz="1814" b="1" spc="9" dirty="0">
                <a:latin typeface="Times New Roman"/>
                <a:cs typeface="Times New Roman"/>
              </a:rPr>
              <a:t> </a:t>
            </a:r>
            <a:r>
              <a:rPr sz="1814" dirty="0">
                <a:latin typeface="Times New Roman"/>
                <a:cs typeface="Times New Roman"/>
              </a:rPr>
              <a:t>a</a:t>
            </a:r>
            <a:r>
              <a:rPr sz="1814" spc="9" dirty="0">
                <a:latin typeface="Times New Roman"/>
                <a:cs typeface="Times New Roman"/>
              </a:rPr>
              <a:t> </a:t>
            </a:r>
            <a:r>
              <a:rPr sz="1814" dirty="0">
                <a:latin typeface="Times New Roman"/>
                <a:cs typeface="Times New Roman"/>
              </a:rPr>
              <a:t>probar</a:t>
            </a:r>
            <a:r>
              <a:rPr sz="1814" spc="9" dirty="0">
                <a:latin typeface="Times New Roman"/>
                <a:cs typeface="Times New Roman"/>
              </a:rPr>
              <a:t> </a:t>
            </a:r>
            <a:r>
              <a:rPr sz="1814" spc="-5" dirty="0">
                <a:latin typeface="Times New Roman"/>
                <a:cs typeface="Times New Roman"/>
              </a:rPr>
              <a:t>(activación,</a:t>
            </a:r>
            <a:r>
              <a:rPr sz="1814" spc="5" dirty="0">
                <a:latin typeface="Times New Roman"/>
                <a:cs typeface="Times New Roman"/>
              </a:rPr>
              <a:t> </a:t>
            </a:r>
            <a:r>
              <a:rPr sz="1814" spc="-5" dirty="0">
                <a:latin typeface="Times New Roman"/>
                <a:cs typeface="Times New Roman"/>
              </a:rPr>
              <a:t>algoritmo,</a:t>
            </a:r>
            <a:r>
              <a:rPr sz="1814" spc="9" dirty="0">
                <a:latin typeface="Times New Roman"/>
                <a:cs typeface="Times New Roman"/>
              </a:rPr>
              <a:t> </a:t>
            </a:r>
            <a:r>
              <a:rPr sz="1814" dirty="0">
                <a:latin typeface="Times New Roman"/>
                <a:cs typeface="Times New Roman"/>
              </a:rPr>
              <a:t>etc.)</a:t>
            </a:r>
            <a:r>
              <a:rPr sz="1814" spc="23" dirty="0">
                <a:latin typeface="Times New Roman"/>
                <a:cs typeface="Times New Roman"/>
              </a:rPr>
              <a:t> </a:t>
            </a:r>
            <a:r>
              <a:rPr sz="1814" dirty="0">
                <a:latin typeface="Times New Roman"/>
                <a:cs typeface="Times New Roman"/>
              </a:rPr>
              <a:t>y</a:t>
            </a:r>
            <a:r>
              <a:rPr sz="1814" spc="-14" dirty="0">
                <a:latin typeface="Times New Roman"/>
                <a:cs typeface="Times New Roman"/>
              </a:rPr>
              <a:t> </a:t>
            </a:r>
            <a:r>
              <a:rPr sz="1814" dirty="0">
                <a:latin typeface="Times New Roman"/>
                <a:cs typeface="Times New Roman"/>
              </a:rPr>
              <a:t>centrándonos</a:t>
            </a:r>
            <a:r>
              <a:rPr sz="1814" spc="5" dirty="0">
                <a:latin typeface="Times New Roman"/>
                <a:cs typeface="Times New Roman"/>
              </a:rPr>
              <a:t> </a:t>
            </a:r>
            <a:r>
              <a:rPr sz="1814" spc="-5" dirty="0">
                <a:latin typeface="Times New Roman"/>
                <a:cs typeface="Times New Roman"/>
              </a:rPr>
              <a:t>en</a:t>
            </a:r>
            <a:r>
              <a:rPr sz="1814" spc="9" dirty="0">
                <a:latin typeface="Times New Roman"/>
                <a:cs typeface="Times New Roman"/>
              </a:rPr>
              <a:t> </a:t>
            </a:r>
            <a:r>
              <a:rPr sz="1814" spc="-5" dirty="0">
                <a:latin typeface="Times New Roman"/>
                <a:cs typeface="Times New Roman"/>
              </a:rPr>
              <a:t>el</a:t>
            </a:r>
            <a:r>
              <a:rPr sz="1814" spc="9" dirty="0">
                <a:latin typeface="Times New Roman"/>
                <a:cs typeface="Times New Roman"/>
              </a:rPr>
              <a:t> </a:t>
            </a:r>
            <a:r>
              <a:rPr sz="1814" spc="-5" dirty="0">
                <a:latin typeface="Times New Roman"/>
                <a:cs typeface="Times New Roman"/>
              </a:rPr>
              <a:t>resultado</a:t>
            </a:r>
            <a:r>
              <a:rPr sz="1814" spc="18" dirty="0">
                <a:latin typeface="Times New Roman"/>
                <a:cs typeface="Times New Roman"/>
              </a:rPr>
              <a:t> </a:t>
            </a:r>
            <a:r>
              <a:rPr sz="1814" dirty="0">
                <a:latin typeface="Times New Roman"/>
                <a:cs typeface="Times New Roman"/>
              </a:rPr>
              <a:t>que</a:t>
            </a:r>
            <a:r>
              <a:rPr sz="1814" spc="5" dirty="0">
                <a:latin typeface="Times New Roman"/>
                <a:cs typeface="Times New Roman"/>
              </a:rPr>
              <a:t> </a:t>
            </a:r>
            <a:r>
              <a:rPr sz="1814" spc="-5" dirty="0">
                <a:latin typeface="Times New Roman"/>
                <a:cs typeface="Times New Roman"/>
              </a:rPr>
              <a:t>se</a:t>
            </a:r>
            <a:r>
              <a:rPr sz="1814" dirty="0">
                <a:latin typeface="Times New Roman"/>
                <a:cs typeface="Times New Roman"/>
              </a:rPr>
              <a:t> </a:t>
            </a:r>
            <a:r>
              <a:rPr sz="1814" spc="-5" dirty="0">
                <a:latin typeface="Times New Roman"/>
                <a:cs typeface="Times New Roman"/>
              </a:rPr>
              <a:t>tiene</a:t>
            </a:r>
            <a:r>
              <a:rPr sz="1814" spc="5" dirty="0">
                <a:latin typeface="Times New Roman"/>
                <a:cs typeface="Times New Roman"/>
              </a:rPr>
              <a:t> </a:t>
            </a:r>
            <a:r>
              <a:rPr sz="1814" spc="-5" dirty="0">
                <a:latin typeface="Times New Roman"/>
                <a:cs typeface="Times New Roman"/>
              </a:rPr>
              <a:t>en</a:t>
            </a:r>
            <a:r>
              <a:rPr sz="1814" spc="9" dirty="0">
                <a:latin typeface="Times New Roman"/>
                <a:cs typeface="Times New Roman"/>
              </a:rPr>
              <a:t> </a:t>
            </a:r>
            <a:r>
              <a:rPr sz="1814" dirty="0">
                <a:latin typeface="Times New Roman"/>
                <a:cs typeface="Times New Roman"/>
              </a:rPr>
              <a:t>datos</a:t>
            </a:r>
            <a:r>
              <a:rPr sz="1814" spc="9" dirty="0">
                <a:latin typeface="Times New Roman"/>
                <a:cs typeface="Times New Roman"/>
              </a:rPr>
              <a:t> </a:t>
            </a:r>
            <a:r>
              <a:rPr sz="1814" spc="-5" dirty="0">
                <a:latin typeface="Times New Roman"/>
                <a:cs typeface="Times New Roman"/>
              </a:rPr>
              <a:t>test</a:t>
            </a:r>
            <a:r>
              <a:rPr sz="1814" dirty="0">
                <a:latin typeface="Times New Roman"/>
                <a:cs typeface="Times New Roman"/>
              </a:rPr>
              <a:t> puede </a:t>
            </a:r>
            <a:r>
              <a:rPr sz="1814" spc="-258" dirty="0">
                <a:latin typeface="Times New Roman"/>
                <a:cs typeface="Times New Roman"/>
              </a:rPr>
              <a:t> </a:t>
            </a:r>
            <a:r>
              <a:rPr sz="1814" spc="-5" dirty="0">
                <a:latin typeface="Times New Roman"/>
                <a:cs typeface="Times New Roman"/>
              </a:rPr>
              <a:t>llevar</a:t>
            </a:r>
            <a:r>
              <a:rPr sz="1814" dirty="0">
                <a:latin typeface="Times New Roman"/>
                <a:cs typeface="Times New Roman"/>
              </a:rPr>
              <a:t> a</a:t>
            </a:r>
            <a:r>
              <a:rPr sz="1814" spc="-5" dirty="0">
                <a:latin typeface="Times New Roman"/>
                <a:cs typeface="Times New Roman"/>
              </a:rPr>
              <a:t> </a:t>
            </a:r>
            <a:r>
              <a:rPr sz="1814" dirty="0">
                <a:latin typeface="Times New Roman"/>
                <a:cs typeface="Times New Roman"/>
              </a:rPr>
              <a:t>un </a:t>
            </a:r>
            <a:r>
              <a:rPr sz="1814" spc="-5" dirty="0" err="1">
                <a:latin typeface="Times New Roman"/>
                <a:cs typeface="Times New Roman"/>
              </a:rPr>
              <a:t>sobreajuste</a:t>
            </a:r>
            <a:r>
              <a:rPr sz="1814" dirty="0">
                <a:latin typeface="Times New Roman"/>
                <a:cs typeface="Times New Roman"/>
              </a:rPr>
              <a:t> </a:t>
            </a:r>
            <a:r>
              <a:rPr sz="1814" dirty="0" err="1">
                <a:latin typeface="Times New Roman"/>
                <a:cs typeface="Times New Roman"/>
              </a:rPr>
              <a:t>implícito</a:t>
            </a:r>
            <a:r>
              <a:rPr sz="1814" spc="-5" dirty="0">
                <a:latin typeface="Times New Roman"/>
                <a:cs typeface="Times New Roman"/>
              </a:rPr>
              <a:t>.</a:t>
            </a:r>
            <a:r>
              <a:rPr sz="1814" spc="5" dirty="0">
                <a:latin typeface="Times New Roman"/>
                <a:cs typeface="Times New Roman"/>
              </a:rPr>
              <a:t> </a:t>
            </a:r>
            <a:r>
              <a:rPr sz="1814" spc="-5" dirty="0">
                <a:latin typeface="Times New Roman"/>
                <a:cs typeface="Times New Roman"/>
              </a:rPr>
              <a:t>Esto</a:t>
            </a:r>
            <a:r>
              <a:rPr sz="1814" dirty="0">
                <a:latin typeface="Times New Roman"/>
                <a:cs typeface="Times New Roman"/>
              </a:rPr>
              <a:t> se</a:t>
            </a:r>
            <a:r>
              <a:rPr sz="1814" spc="-5" dirty="0">
                <a:latin typeface="Times New Roman"/>
                <a:cs typeface="Times New Roman"/>
              </a:rPr>
              <a:t> suele denominar</a:t>
            </a:r>
            <a:r>
              <a:rPr sz="1814" dirty="0">
                <a:latin typeface="Times New Roman"/>
                <a:cs typeface="Times New Roman"/>
              </a:rPr>
              <a:t> </a:t>
            </a:r>
            <a:r>
              <a:rPr sz="1814" b="1" spc="-5" dirty="0">
                <a:latin typeface="Times New Roman"/>
                <a:cs typeface="Times New Roman"/>
              </a:rPr>
              <a:t>Sesgo</a:t>
            </a:r>
            <a:r>
              <a:rPr sz="1814" b="1" spc="5" dirty="0">
                <a:latin typeface="Times New Roman"/>
                <a:cs typeface="Times New Roman"/>
              </a:rPr>
              <a:t> de</a:t>
            </a:r>
            <a:r>
              <a:rPr sz="1814" b="1" dirty="0">
                <a:latin typeface="Times New Roman"/>
                <a:cs typeface="Times New Roman"/>
              </a:rPr>
              <a:t> </a:t>
            </a:r>
            <a:r>
              <a:rPr sz="1814" b="1" spc="-5" dirty="0">
                <a:latin typeface="Times New Roman"/>
                <a:cs typeface="Times New Roman"/>
              </a:rPr>
              <a:t>Selección</a:t>
            </a:r>
            <a:r>
              <a:rPr sz="1814" b="1" dirty="0">
                <a:latin typeface="Times New Roman"/>
                <a:cs typeface="Times New Roman"/>
              </a:rPr>
              <a:t> de</a:t>
            </a:r>
            <a:r>
              <a:rPr sz="1814" b="1" spc="5" dirty="0">
                <a:latin typeface="Times New Roman"/>
                <a:cs typeface="Times New Roman"/>
              </a:rPr>
              <a:t> </a:t>
            </a:r>
            <a:r>
              <a:rPr sz="1814" b="1" spc="-5" dirty="0">
                <a:latin typeface="Times New Roman"/>
                <a:cs typeface="Times New Roman"/>
              </a:rPr>
              <a:t>Modelos</a:t>
            </a:r>
            <a:r>
              <a:rPr sz="1814" spc="-5" dirty="0">
                <a:latin typeface="Times New Roman"/>
                <a:cs typeface="Times New Roman"/>
              </a:rPr>
              <a:t>.</a:t>
            </a:r>
            <a:endParaRPr sz="1814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53426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uadroTexto 1"/>
              <p:cNvSpPr txBox="1"/>
              <p:nvPr/>
            </p:nvSpPr>
            <p:spPr>
              <a:xfrm>
                <a:off x="600364" y="138545"/>
                <a:ext cx="11139054" cy="60982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2800" b="1" dirty="0" smtClean="0"/>
                  <a:t>Medidas de bondad de ajuste: Clasificación</a:t>
                </a:r>
              </a:p>
              <a:p>
                <a:r>
                  <a:rPr lang="es-ES" sz="1400" dirty="0" smtClean="0"/>
                  <a:t>Indican cómo de </a:t>
                </a:r>
                <a:r>
                  <a:rPr lang="es-ES" sz="1400" dirty="0"/>
                  <a:t>bien el modelo predice las </a:t>
                </a:r>
                <a:r>
                  <a:rPr lang="es-ES" sz="1400" b="1" dirty="0"/>
                  <a:t>clases</a:t>
                </a:r>
                <a:r>
                  <a:rPr lang="es-ES" sz="1400" dirty="0"/>
                  <a:t> </a:t>
                </a:r>
                <a:r>
                  <a:rPr lang="es-ES" sz="1400" dirty="0" smtClean="0"/>
                  <a:t>en </a:t>
                </a:r>
                <a:r>
                  <a:rPr lang="es-ES" sz="1400" dirty="0"/>
                  <a:t>comparación con los </a:t>
                </a:r>
                <a:r>
                  <a:rPr lang="es-ES" sz="1400" b="1" dirty="0"/>
                  <a:t>datos reales</a:t>
                </a:r>
                <a:r>
                  <a:rPr lang="es-ES" sz="1400" dirty="0"/>
                  <a:t>. Se mide usando métricas específicas, dependiendo de lo que quieras </a:t>
                </a:r>
                <a:r>
                  <a:rPr lang="es-ES" sz="1400" dirty="0" smtClean="0"/>
                  <a:t>evaluar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s-ES" sz="1600" b="1" dirty="0" smtClean="0"/>
                  <a:t>MATRIZ DE CONFUSIÓN: </a:t>
                </a:r>
                <a:r>
                  <a:rPr lang="es-ES" sz="1600" dirty="0" smtClean="0"/>
                  <a:t>resumen de las predicciones correctas e incorrectas de cada clase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s-ES" sz="1600" b="1" dirty="0" smtClean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s-ES" sz="1600" b="1" dirty="0" smtClean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s-ES" sz="1600" b="1" dirty="0" smtClean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s-ES" sz="16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s-ES" sz="1600" b="1" dirty="0" smtClean="0"/>
                  <a:t>ACCURAY (Precisión Global): </a:t>
                </a:r>
                <a:r>
                  <a:rPr lang="es-ES" sz="1600" dirty="0" smtClean="0"/>
                  <a:t>porcentaje de predicciones correctas sobre el total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400" b="1" i="1" smtClean="0">
                          <a:latin typeface="Cambria Math" panose="02040503050406030204" pitchFamily="18" charset="0"/>
                        </a:rPr>
                        <m:t>𝑨𝒄𝒄𝒖𝒓𝒂𝒄𝒚</m:t>
                      </m:r>
                      <m:r>
                        <a:rPr lang="es-ES" sz="14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1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1400" b="1" i="1" smtClean="0">
                              <a:latin typeface="Cambria Math" panose="02040503050406030204" pitchFamily="18" charset="0"/>
                            </a:rPr>
                            <m:t>𝑽𝑷</m:t>
                          </m:r>
                          <m:r>
                            <a:rPr lang="es-ES" sz="14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ES" sz="1400" b="1" i="1" smtClean="0">
                              <a:latin typeface="Cambria Math" panose="02040503050406030204" pitchFamily="18" charset="0"/>
                            </a:rPr>
                            <m:t>𝑽𝑵</m:t>
                          </m:r>
                        </m:num>
                        <m:den>
                          <m:r>
                            <a:rPr lang="es-ES" sz="1400" b="1" i="1" smtClean="0">
                              <a:latin typeface="Cambria Math" panose="02040503050406030204" pitchFamily="18" charset="0"/>
                            </a:rPr>
                            <m:t>𝑻𝒐𝒕𝒂𝒍</m:t>
                          </m:r>
                          <m:r>
                            <a:rPr lang="es-ES" sz="1400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sz="1400" b="1" i="1" smtClean="0">
                              <a:latin typeface="Cambria Math" panose="02040503050406030204" pitchFamily="18" charset="0"/>
                            </a:rPr>
                            <m:t>𝒑𝒓𝒆𝒅𝒊𝒄𝒄𝒊𝒐𝒏𝒆𝒔</m:t>
                          </m:r>
                          <m:r>
                            <a:rPr lang="es-ES" sz="14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s-ES" sz="1400" b="1" i="1" smtClean="0">
                              <a:latin typeface="Cambria Math" panose="02040503050406030204" pitchFamily="18" charset="0"/>
                            </a:rPr>
                            <m:t>𝑽𝑷</m:t>
                          </m:r>
                          <m:r>
                            <a:rPr lang="es-ES" sz="14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ES" sz="1400" b="1" i="1" smtClean="0">
                              <a:latin typeface="Cambria Math" panose="02040503050406030204" pitchFamily="18" charset="0"/>
                            </a:rPr>
                            <m:t>𝑽𝑵</m:t>
                          </m:r>
                          <m:r>
                            <a:rPr lang="es-ES" sz="14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ES" sz="1400" b="1" i="1" smtClean="0">
                              <a:latin typeface="Cambria Math" panose="02040503050406030204" pitchFamily="18" charset="0"/>
                            </a:rPr>
                            <m:t>𝑭𝑷</m:t>
                          </m:r>
                          <m:r>
                            <a:rPr lang="es-ES" sz="14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ES" sz="1400" b="1" i="1" smtClean="0">
                              <a:latin typeface="Cambria Math" panose="02040503050406030204" pitchFamily="18" charset="0"/>
                            </a:rPr>
                            <m:t>𝑭𝑵</m:t>
                          </m:r>
                        </m:den>
                      </m:f>
                    </m:oMath>
                  </m:oMathPara>
                </a14:m>
                <a:endParaRPr lang="es-ES" sz="1600" b="1" dirty="0" smtClean="0"/>
              </a:p>
              <a:p>
                <a:pPr marL="342900" indent="-342900">
                  <a:buFont typeface="+mj-lt"/>
                  <a:buAutoNum type="arabicPeriod"/>
                </a:pPr>
                <a:endParaRPr lang="es-ES" sz="1600" b="1" dirty="0" smtClean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s-ES" sz="1600" b="1" dirty="0" smtClean="0"/>
                  <a:t>PRECISIÓN (Precisión por Clase): </a:t>
                </a:r>
                <a:r>
                  <a:rPr lang="es-ES" sz="1600" dirty="0" smtClean="0"/>
                  <a:t>¿cuántas predicciones han sido correctas? Especialmente </a:t>
                </a:r>
                <a:r>
                  <a:rPr lang="es-ES" sz="1600" u="sng" dirty="0">
                    <a:solidFill>
                      <a:srgbClr val="FF0000"/>
                    </a:solidFill>
                  </a:rPr>
                  <a:t>importante</a:t>
                </a:r>
                <a:r>
                  <a:rPr lang="es-ES" sz="1600" dirty="0" smtClean="0"/>
                  <a:t> cuando los </a:t>
                </a:r>
                <a:r>
                  <a:rPr lang="es-ES" sz="1600" u="sng" dirty="0" smtClean="0">
                    <a:solidFill>
                      <a:srgbClr val="FF0000"/>
                    </a:solidFill>
                  </a:rPr>
                  <a:t>datos son desbalanceados</a:t>
                </a:r>
                <a:r>
                  <a:rPr lang="es-ES" sz="1600" dirty="0" smtClean="0"/>
                  <a:t>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400" b="1" i="1" smtClean="0">
                          <a:latin typeface="Cambria Math" panose="02040503050406030204" pitchFamily="18" charset="0"/>
                        </a:rPr>
                        <m:t>𝑷𝒓𝒆𝒄𝒊𝒔𝒊𝒐𝒏</m:t>
                      </m:r>
                      <m:r>
                        <a:rPr lang="es-ES" sz="1400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1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1400" b="1" i="1">
                              <a:latin typeface="Cambria Math" panose="02040503050406030204" pitchFamily="18" charset="0"/>
                            </a:rPr>
                            <m:t>𝑽𝑷</m:t>
                          </m:r>
                        </m:num>
                        <m:den>
                          <m:r>
                            <a:rPr lang="es-ES" sz="1400" b="1" i="1" smtClean="0">
                              <a:latin typeface="Cambria Math" panose="02040503050406030204" pitchFamily="18" charset="0"/>
                            </a:rPr>
                            <m:t>𝑽𝑷</m:t>
                          </m:r>
                          <m:r>
                            <a:rPr lang="es-ES" sz="14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ES" sz="1400" b="1" i="1" smtClean="0">
                              <a:latin typeface="Cambria Math" panose="02040503050406030204" pitchFamily="18" charset="0"/>
                            </a:rPr>
                            <m:t>𝑭𝑷</m:t>
                          </m:r>
                        </m:den>
                      </m:f>
                    </m:oMath>
                  </m:oMathPara>
                </a14:m>
                <a:endParaRPr lang="es-ES" sz="1600" b="1" dirty="0" smtClean="0"/>
              </a:p>
              <a:p>
                <a:endParaRPr lang="es-ES" sz="1600" b="1" dirty="0" smtClean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s-ES" sz="1600" b="1" dirty="0" smtClean="0"/>
                  <a:t>RECALL/SENSIBILIDAD: </a:t>
                </a:r>
                <a:r>
                  <a:rPr lang="es-ES" sz="1600" dirty="0" smtClean="0"/>
                  <a:t>qué porcentaje de los casos positivos reales son correctamente clasificados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400" b="1" i="1">
                          <a:latin typeface="Cambria Math" panose="02040503050406030204" pitchFamily="18" charset="0"/>
                        </a:rPr>
                        <m:t>𝑷𝒓𝒆𝒄𝒊𝒔𝒊𝒐𝒏</m:t>
                      </m:r>
                      <m:r>
                        <a:rPr lang="es-ES" sz="1400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1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1400" b="1" i="1">
                              <a:latin typeface="Cambria Math" panose="02040503050406030204" pitchFamily="18" charset="0"/>
                            </a:rPr>
                            <m:t>𝑽𝑷</m:t>
                          </m:r>
                        </m:num>
                        <m:den>
                          <m:r>
                            <a:rPr lang="es-ES" sz="1400" b="1" i="1">
                              <a:latin typeface="Cambria Math" panose="02040503050406030204" pitchFamily="18" charset="0"/>
                            </a:rPr>
                            <m:t>𝑽𝑷</m:t>
                          </m:r>
                          <m:r>
                            <a:rPr lang="es-ES" sz="14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ES" sz="1400" b="1" i="1">
                              <a:latin typeface="Cambria Math" panose="02040503050406030204" pitchFamily="18" charset="0"/>
                            </a:rPr>
                            <m:t>𝑭𝑵</m:t>
                          </m:r>
                        </m:den>
                      </m:f>
                    </m:oMath>
                  </m:oMathPara>
                </a14:m>
                <a:endParaRPr lang="es-ES" sz="1600" b="1" i="1" dirty="0" smtClean="0">
                  <a:latin typeface="Cambria Math" panose="02040503050406030204" pitchFamily="18" charset="0"/>
                </a:endParaRPr>
              </a:p>
              <a:p>
                <a:endParaRPr lang="es-ES" sz="1600" b="1" i="1" dirty="0" smtClean="0">
                  <a:latin typeface="Cambria Math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s-ES" sz="1600" b="1" dirty="0" smtClean="0"/>
                  <a:t>F1-SCORE: </a:t>
                </a:r>
                <a:r>
                  <a:rPr lang="es-ES" sz="1600" dirty="0" smtClean="0"/>
                  <a:t>promedio armónico entre precisión y sensibilidad. </a:t>
                </a:r>
                <a:r>
                  <a:rPr lang="es-ES" sz="1600" dirty="0"/>
                  <a:t>Especialmente </a:t>
                </a:r>
                <a:r>
                  <a:rPr lang="es-ES" sz="1600" u="sng" dirty="0">
                    <a:solidFill>
                      <a:srgbClr val="FF0000"/>
                    </a:solidFill>
                  </a:rPr>
                  <a:t>importante</a:t>
                </a:r>
                <a:r>
                  <a:rPr lang="es-ES" sz="1600" dirty="0"/>
                  <a:t> cuando los </a:t>
                </a:r>
                <a:r>
                  <a:rPr lang="es-ES" sz="1600" u="sng" dirty="0">
                    <a:solidFill>
                      <a:srgbClr val="FF0000"/>
                    </a:solidFill>
                  </a:rPr>
                  <a:t>datos son desbalanceados</a:t>
                </a:r>
                <a:r>
                  <a:rPr lang="es-ES" sz="1600" dirty="0" smtClean="0"/>
                  <a:t>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400" b="1" i="1" smtClean="0"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s-ES" sz="14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s-ES" sz="14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14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s-ES" sz="14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14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s-ES" sz="1400" b="1" i="1" smtClean="0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s-ES" sz="1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1400" b="1" i="1">
                              <a:latin typeface="Cambria Math" panose="02040503050406030204" pitchFamily="18" charset="0"/>
                            </a:rPr>
                            <m:t>𝑷</m:t>
                          </m:r>
                          <m:r>
                            <a:rPr lang="es-ES" sz="1400" b="1" i="1" smtClean="0">
                              <a:latin typeface="Cambria Math" panose="02040503050406030204" pitchFamily="18" charset="0"/>
                            </a:rPr>
                            <m:t>𝒓𝒆𝒄𝒊𝒔𝒊𝒐𝒏</m:t>
                          </m:r>
                          <m:r>
                            <a:rPr lang="es-ES" sz="1400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sz="1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s-ES" sz="1400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sz="1400" b="1" i="1" smtClean="0">
                              <a:latin typeface="Cambria Math" panose="02040503050406030204" pitchFamily="18" charset="0"/>
                            </a:rPr>
                            <m:t>𝑹𝒆𝒄𝒂𝒍𝒍</m:t>
                          </m:r>
                        </m:num>
                        <m:den>
                          <m:r>
                            <a:rPr lang="es-ES" sz="1400" b="1" i="1">
                              <a:latin typeface="Cambria Math" panose="02040503050406030204" pitchFamily="18" charset="0"/>
                            </a:rPr>
                            <m:t>𝑷𝒓𝒆𝒄𝒊𝒔𝒊𝒐𝒏</m:t>
                          </m:r>
                          <m:r>
                            <a:rPr lang="es-ES" sz="14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ES" sz="1400" b="1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sz="1400" b="1" i="1">
                              <a:latin typeface="Cambria Math" panose="02040503050406030204" pitchFamily="18" charset="0"/>
                            </a:rPr>
                            <m:t>𝑹𝒆𝒄𝒂𝒍𝒍</m:t>
                          </m:r>
                        </m:den>
                      </m:f>
                    </m:oMath>
                  </m:oMathPara>
                </a14:m>
                <a:endParaRPr lang="es-ES" sz="1600" dirty="0"/>
              </a:p>
              <a:p>
                <a:endParaRPr lang="es-ES" b="1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CuadroTexto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364" y="138545"/>
                <a:ext cx="11139054" cy="6098208"/>
              </a:xfrm>
              <a:prstGeom prst="rect">
                <a:avLst/>
              </a:prstGeom>
              <a:blipFill rotWithShape="0">
                <a:blip r:embed="rId2"/>
                <a:stretch>
                  <a:fillRect l="-219" t="-10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Tab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0688970"/>
              </p:ext>
            </p:extLst>
          </p:nvPr>
        </p:nvGraphicFramePr>
        <p:xfrm>
          <a:off x="2890984" y="1385454"/>
          <a:ext cx="6557814" cy="8639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5938"/>
                <a:gridCol w="2185938"/>
                <a:gridCol w="2185938"/>
              </a:tblGrid>
              <a:tr h="232392">
                <a:tc>
                  <a:txBody>
                    <a:bodyPr/>
                    <a:lstStyle/>
                    <a:p>
                      <a:pPr algn="ctr"/>
                      <a:endParaRPr lang="es-ES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 smtClean="0">
                          <a:solidFill>
                            <a:schemeClr val="tx1"/>
                          </a:solidFill>
                        </a:rPr>
                        <a:t>PREDICCIÓN</a:t>
                      </a:r>
                      <a:r>
                        <a:rPr lang="es-ES" sz="1200" baseline="0" dirty="0" smtClean="0">
                          <a:solidFill>
                            <a:schemeClr val="tx1"/>
                          </a:solidFill>
                        </a:rPr>
                        <a:t> (Clase 0)</a:t>
                      </a:r>
                      <a:endParaRPr lang="es-E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 smtClean="0">
                          <a:solidFill>
                            <a:schemeClr val="tx1"/>
                          </a:solidFill>
                        </a:rPr>
                        <a:t>PREDICCIÓN</a:t>
                      </a:r>
                      <a:r>
                        <a:rPr lang="es-ES" sz="1200" baseline="0" dirty="0" smtClean="0">
                          <a:solidFill>
                            <a:schemeClr val="tx1"/>
                          </a:solidFill>
                        </a:rPr>
                        <a:t> (Clase 1)</a:t>
                      </a:r>
                      <a:endParaRPr lang="es-E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9482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REAL (Clase 0)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1" dirty="0" smtClean="0">
                          <a:solidFill>
                            <a:schemeClr val="bg1"/>
                          </a:solidFill>
                        </a:rPr>
                        <a:t>Verdadero</a:t>
                      </a:r>
                      <a:r>
                        <a:rPr lang="es-ES" sz="1200" b="1" baseline="0" dirty="0" smtClean="0">
                          <a:solidFill>
                            <a:schemeClr val="bg1"/>
                          </a:solidFill>
                        </a:rPr>
                        <a:t> Negativo (VN/TN)</a:t>
                      </a:r>
                      <a:endParaRPr lang="es-E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1CE4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1" dirty="0" smtClean="0">
                          <a:solidFill>
                            <a:schemeClr val="bg1"/>
                          </a:solidFill>
                        </a:rPr>
                        <a:t>Falso Positivo (FP/FP)</a:t>
                      </a:r>
                      <a:endParaRPr lang="es-E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</a:tr>
              <a:tr h="294822">
                <a:tc>
                  <a:txBody>
                    <a:bodyPr/>
                    <a:lstStyle/>
                    <a:p>
                      <a:pPr algn="ctr"/>
                      <a:r>
                        <a:rPr lang="es-ES" sz="1200" b="1" dirty="0" smtClean="0"/>
                        <a:t>REAL (Clase 1)</a:t>
                      </a:r>
                      <a:endParaRPr lang="es-ES" sz="1200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1" dirty="0" smtClean="0">
                          <a:solidFill>
                            <a:schemeClr val="bg1"/>
                          </a:solidFill>
                        </a:rPr>
                        <a:t>Falso Negativo (FN/FN))</a:t>
                      </a:r>
                      <a:endParaRPr lang="es-E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1" dirty="0" smtClean="0">
                          <a:solidFill>
                            <a:schemeClr val="bg1"/>
                          </a:solidFill>
                        </a:rPr>
                        <a:t>Verdadero</a:t>
                      </a:r>
                      <a:r>
                        <a:rPr lang="es-ES" sz="1200" b="1" baseline="0" dirty="0" smtClean="0">
                          <a:solidFill>
                            <a:schemeClr val="bg1"/>
                          </a:solidFill>
                        </a:rPr>
                        <a:t> Positivo (VP/TP)</a:t>
                      </a:r>
                      <a:endParaRPr lang="es-E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1CE43D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58157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1959332" y="386117"/>
            <a:ext cx="66102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sz="2800" b="1" dirty="0"/>
              <a:t>Medidas de bondad de ajuste: Clasificación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ángulo 2"/>
              <p:cNvSpPr/>
              <p:nvPr/>
            </p:nvSpPr>
            <p:spPr>
              <a:xfrm>
                <a:off x="567890" y="1456169"/>
                <a:ext cx="11226945" cy="390863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s-ES" b="1" dirty="0" smtClean="0"/>
                  <a:t>ESPECIFIDAD (Tasa Verdaderos Negativos): </a:t>
                </a:r>
                <a:r>
                  <a:rPr lang="es-ES" dirty="0" smtClean="0"/>
                  <a:t>mide qué proporción de los negativos reales son correctamente identificados como negativos. Se enfoca en los negativos reales	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𝐸𝑠𝑝𝑒𝑐𝑖𝑓𝑖𝑑𝑎𝑑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𝑉𝑁</m:t>
                          </m:r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𝑉𝑁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𝐹𝑃</m:t>
                          </m:r>
                        </m:den>
                      </m:f>
                    </m:oMath>
                  </m:oMathPara>
                </a14:m>
                <a:endParaRPr lang="es-ES" dirty="0" smtClean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s-ES" b="1" dirty="0" smtClean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s-ES" b="1" dirty="0" smtClean="0"/>
                  <a:t>La </a:t>
                </a:r>
                <a:r>
                  <a:rPr lang="es-ES" b="1" dirty="0"/>
                  <a:t>Curva </a:t>
                </a:r>
                <a:r>
                  <a:rPr lang="es-ES" b="1" dirty="0" smtClean="0"/>
                  <a:t>ROC: </a:t>
                </a:r>
                <a:r>
                  <a:rPr lang="es-ES" dirty="0"/>
                  <a:t>representa el porcentaje de verdaderos positivos </a:t>
                </a:r>
                <a:r>
                  <a:rPr lang="es-ES" dirty="0" smtClean="0"/>
                  <a:t>(</a:t>
                </a:r>
                <a:r>
                  <a:rPr lang="es-ES" b="1" dirty="0" smtClean="0">
                    <a:solidFill>
                      <a:srgbClr val="FF0000"/>
                    </a:solidFill>
                  </a:rPr>
                  <a:t>Eje Y: True </a:t>
                </a:r>
                <a:r>
                  <a:rPr lang="es-ES" b="1" dirty="0">
                    <a:solidFill>
                      <a:srgbClr val="FF0000"/>
                    </a:solidFill>
                  </a:rPr>
                  <a:t>Positive </a:t>
                </a:r>
                <a:r>
                  <a:rPr lang="es-ES" b="1" dirty="0" err="1" smtClean="0">
                    <a:solidFill>
                      <a:srgbClr val="FF0000"/>
                    </a:solidFill>
                  </a:rPr>
                  <a:t>Rate</a:t>
                </a:r>
                <a:r>
                  <a:rPr lang="es-ES" b="1" dirty="0" smtClean="0">
                    <a:solidFill>
                      <a:srgbClr val="FF0000"/>
                    </a:solidFill>
                  </a:rPr>
                  <a:t>, </a:t>
                </a:r>
                <a:r>
                  <a:rPr lang="es-ES" b="1" i="1" dirty="0" smtClean="0">
                    <a:solidFill>
                      <a:srgbClr val="FF0000"/>
                    </a:solidFill>
                  </a:rPr>
                  <a:t>TPR</a:t>
                </a:r>
                <a:r>
                  <a:rPr lang="es-ES" dirty="0" smtClean="0"/>
                  <a:t>), </a:t>
                </a:r>
                <a:r>
                  <a:rPr lang="es-ES" dirty="0"/>
                  <a:t>también conocido como </a:t>
                </a:r>
                <a:r>
                  <a:rPr lang="es-ES" b="1" dirty="0" err="1"/>
                  <a:t>Recall</a:t>
                </a:r>
                <a:r>
                  <a:rPr lang="es-ES" dirty="0"/>
                  <a:t>, contra el ratio de falsos positivos </a:t>
                </a:r>
                <a:r>
                  <a:rPr lang="es-ES" dirty="0" smtClean="0"/>
                  <a:t>(</a:t>
                </a:r>
                <a:r>
                  <a:rPr lang="es-ES" b="1" dirty="0" smtClean="0">
                    <a:solidFill>
                      <a:srgbClr val="FF0000"/>
                    </a:solidFill>
                  </a:rPr>
                  <a:t>Eje X: False </a:t>
                </a:r>
                <a:r>
                  <a:rPr lang="es-ES" b="1" dirty="0">
                    <a:solidFill>
                      <a:srgbClr val="FF0000"/>
                    </a:solidFill>
                  </a:rPr>
                  <a:t>Positive </a:t>
                </a:r>
                <a:r>
                  <a:rPr lang="es-ES" b="1" dirty="0" err="1" smtClean="0">
                    <a:solidFill>
                      <a:srgbClr val="FF0000"/>
                    </a:solidFill>
                  </a:rPr>
                  <a:t>Rate</a:t>
                </a:r>
                <a:r>
                  <a:rPr lang="es-ES" b="1" dirty="0" smtClean="0">
                    <a:solidFill>
                      <a:srgbClr val="FF0000"/>
                    </a:solidFill>
                  </a:rPr>
                  <a:t>, </a:t>
                </a:r>
                <a:r>
                  <a:rPr lang="es-ES" b="1" i="1" dirty="0" smtClean="0">
                    <a:solidFill>
                      <a:srgbClr val="FF0000"/>
                    </a:solidFill>
                  </a:rPr>
                  <a:t>FPR=1-Especifidad</a:t>
                </a:r>
                <a:r>
                  <a:rPr lang="es-ES" dirty="0" smtClean="0"/>
                  <a:t>). </a:t>
                </a:r>
                <a:r>
                  <a:rPr lang="es-ES" dirty="0"/>
                  <a:t>muestra gráficamente cómo de bien un modelo de clasificación puede separar dos clases al cambiar el umbral de </a:t>
                </a:r>
                <a:r>
                  <a:rPr lang="es-ES" dirty="0" smtClean="0"/>
                  <a:t>decisión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𝑅𝑒𝑐𝑎𝑙𝑙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𝑇𝑃𝑅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𝑉𝑃</m:t>
                          </m:r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𝑉𝑃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𝐹𝑁</m:t>
                          </m:r>
                        </m:den>
                      </m:f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;                1−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𝐸𝑠𝑝𝑒𝑐𝑖𝑓𝑖𝑑𝑎𝑑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𝐹𝑅𝑃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𝐹𝑃</m:t>
                          </m:r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𝑉𝑁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𝐹𝑃</m:t>
                          </m:r>
                        </m:den>
                      </m:f>
                    </m:oMath>
                  </m:oMathPara>
                </a14:m>
                <a:endParaRPr lang="es-ES" dirty="0" smtClean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s-ES" b="1" dirty="0" smtClean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s-ES" b="1" dirty="0" smtClean="0"/>
                  <a:t>AUC</a:t>
                </a:r>
                <a:r>
                  <a:rPr lang="es-ES" dirty="0" smtClean="0"/>
                  <a:t> (</a:t>
                </a:r>
                <a:r>
                  <a:rPr lang="es-ES" i="1" dirty="0" smtClean="0"/>
                  <a:t>Área Bajo la Curva/</a:t>
                </a:r>
                <a:r>
                  <a:rPr lang="es-ES" i="1" dirty="0" err="1" smtClean="0"/>
                  <a:t>Area</a:t>
                </a:r>
                <a:r>
                  <a:rPr lang="es-ES" i="1" dirty="0" smtClean="0"/>
                  <a:t> </a:t>
                </a:r>
                <a:r>
                  <a:rPr lang="es-ES" i="1" dirty="0" err="1" smtClean="0"/>
                  <a:t>Under</a:t>
                </a:r>
                <a:r>
                  <a:rPr lang="es-ES" i="1" dirty="0" smtClean="0"/>
                  <a:t> Curve</a:t>
                </a:r>
                <a:r>
                  <a:rPr lang="es-ES" dirty="0" smtClean="0"/>
                  <a:t>): métrica sólida y muy útil para problemas de clasificación binaria. Toma valores entre 0 y 1, donde 0.5 indica el resultado de una clasificación aleatoria, 0 una clasificación aún peor que el azar, y 1 indica el resultado de la clasificación perfecta. </a:t>
                </a:r>
                <a:endParaRPr lang="es-ES" dirty="0"/>
              </a:p>
            </p:txBody>
          </p:sp>
        </mc:Choice>
        <mc:Fallback xmlns="">
          <p:sp>
            <p:nvSpPr>
              <p:cNvPr id="3" name="Rectángulo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890" y="1456169"/>
                <a:ext cx="11226945" cy="3908634"/>
              </a:xfrm>
              <a:prstGeom prst="rect">
                <a:avLst/>
              </a:prstGeom>
              <a:blipFill rotWithShape="0">
                <a:blip r:embed="rId2"/>
                <a:stretch>
                  <a:fillRect l="-326" t="-936" r="-271" b="-156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698697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uadroTexto 1"/>
              <p:cNvSpPr txBox="1"/>
              <p:nvPr/>
            </p:nvSpPr>
            <p:spPr>
              <a:xfrm>
                <a:off x="600364" y="138545"/>
                <a:ext cx="11139054" cy="68984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2800" b="1" dirty="0" smtClean="0"/>
                  <a:t>Medidas de bondad de ajuste: Clasificación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s-ES" sz="1600" b="1" dirty="0" smtClean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s-ES" sz="16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s-ES" sz="1600" b="1" dirty="0" smtClean="0"/>
                  <a:t>Datos: </a:t>
                </a:r>
                <a:r>
                  <a:rPr lang="es-ES" sz="1600" i="1" dirty="0" smtClean="0"/>
                  <a:t>Real={Spam, Spam, Spam, No </a:t>
                </a:r>
                <a:r>
                  <a:rPr lang="es-ES" sz="1600" i="1" dirty="0"/>
                  <a:t>Spam, </a:t>
                </a:r>
                <a:r>
                  <a:rPr lang="es-ES" sz="1600" i="1" dirty="0" smtClean="0"/>
                  <a:t>Spam, No Spam}; Predicción={Spam, Spam, No Spam, Spam, No </a:t>
                </a:r>
                <a:r>
                  <a:rPr lang="es-ES" sz="1600" i="1" dirty="0"/>
                  <a:t>Spam, No Spam}; </a:t>
                </a:r>
                <a:r>
                  <a:rPr lang="es-ES" sz="1600" i="1" dirty="0" smtClean="0"/>
                  <a:t>Spam: 1, No Spam: 0</a:t>
                </a:r>
                <a:endParaRPr lang="es-ES" sz="1600" b="1" dirty="0" smtClean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s-ES" sz="16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s-ES" sz="1600" b="1" dirty="0" smtClean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s-ES" sz="1600" b="1" dirty="0" smtClean="0"/>
                  <a:t>MATRIZ DE CONFUSIÓN: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s-ES" sz="1600" b="1" dirty="0" smtClean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s-ES" sz="1600" b="1" dirty="0" smtClean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s-ES" sz="16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s-ES" sz="1600" b="1" dirty="0" smtClean="0"/>
                  <a:t>ACCURAY (Precisión Global): </a:t>
                </a:r>
                <a:r>
                  <a:rPr lang="es-ES" sz="1600" dirty="0" smtClean="0"/>
                  <a:t>porcentaje de predicciones correctas sobre el total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400" b="1" i="1" smtClean="0">
                          <a:latin typeface="Cambria Math" panose="02040503050406030204" pitchFamily="18" charset="0"/>
                        </a:rPr>
                        <m:t>𝑨𝒄𝒄𝒖𝒓𝒂𝒄𝒚</m:t>
                      </m:r>
                      <m:r>
                        <a:rPr lang="es-ES" sz="14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1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1400" b="1" i="1" smtClean="0">
                              <a:latin typeface="Cambria Math" panose="02040503050406030204" pitchFamily="18" charset="0"/>
                            </a:rPr>
                            <m:t>𝑽𝑷</m:t>
                          </m:r>
                          <m:r>
                            <a:rPr lang="es-ES" sz="14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ES" sz="1400" b="1" i="1" smtClean="0">
                              <a:latin typeface="Cambria Math" panose="02040503050406030204" pitchFamily="18" charset="0"/>
                            </a:rPr>
                            <m:t>𝑽𝑵</m:t>
                          </m:r>
                        </m:num>
                        <m:den>
                          <m:r>
                            <a:rPr lang="es-ES" sz="1400" b="1" i="1" smtClean="0">
                              <a:latin typeface="Cambria Math" panose="02040503050406030204" pitchFamily="18" charset="0"/>
                            </a:rPr>
                            <m:t>𝑻𝒐𝒕𝒂𝒍</m:t>
                          </m:r>
                          <m:r>
                            <a:rPr lang="es-ES" sz="1400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sz="1400" b="1" i="1" smtClean="0">
                              <a:latin typeface="Cambria Math" panose="02040503050406030204" pitchFamily="18" charset="0"/>
                            </a:rPr>
                            <m:t>𝒑𝒓𝒆𝒅𝒊𝒄𝒄𝒊𝒐𝒏𝒆𝒔</m:t>
                          </m:r>
                          <m:r>
                            <a:rPr lang="es-ES" sz="14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s-ES" sz="1400" b="1" i="1">
                              <a:latin typeface="Cambria Math" panose="02040503050406030204" pitchFamily="18" charset="0"/>
                            </a:rPr>
                            <m:t>𝑽𝑷</m:t>
                          </m:r>
                          <m:r>
                            <a:rPr lang="es-ES" sz="14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ES" sz="1400" b="1" i="1">
                              <a:latin typeface="Cambria Math" panose="02040503050406030204" pitchFamily="18" charset="0"/>
                            </a:rPr>
                            <m:t>𝑽𝑵</m:t>
                          </m:r>
                          <m:r>
                            <a:rPr lang="es-ES" sz="14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ES" sz="1400" b="1" i="1">
                              <a:latin typeface="Cambria Math" panose="02040503050406030204" pitchFamily="18" charset="0"/>
                            </a:rPr>
                            <m:t>𝑭𝑷</m:t>
                          </m:r>
                          <m:r>
                            <a:rPr lang="es-ES" sz="14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ES" sz="1400" b="1" i="1">
                              <a:latin typeface="Cambria Math" panose="02040503050406030204" pitchFamily="18" charset="0"/>
                            </a:rPr>
                            <m:t>𝑭𝑵</m:t>
                          </m:r>
                        </m:den>
                      </m:f>
                      <m:r>
                        <a:rPr lang="es-ES" sz="14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1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1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s-ES" sz="14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ES" sz="1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s-ES" sz="1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s-ES" sz="14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ES" sz="1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s-ES" sz="14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ES" sz="1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s-ES" sz="14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ES" sz="1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s-ES" sz="14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1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14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num>
                        <m:den>
                          <m:r>
                            <a:rPr lang="es-ES" sz="1400" b="1" i="1" smtClean="0">
                              <a:latin typeface="Cambria Math" panose="02040503050406030204" pitchFamily="18" charset="0"/>
                            </a:rPr>
                            <m:t>𝟔</m:t>
                          </m:r>
                        </m:den>
                      </m:f>
                      <m:r>
                        <a:rPr lang="es-ES" sz="1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1400" b="1" i="1" smtClean="0">
                          <a:latin typeface="Cambria Math" panose="02040503050406030204" pitchFamily="18" charset="0"/>
                        </a:rPr>
                        <m:t>𝟓𝟎</m:t>
                      </m:r>
                      <m:r>
                        <a:rPr lang="es-ES" sz="1400" b="1" i="1" smtClean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s-ES" sz="1600" b="1" dirty="0" smtClean="0"/>
              </a:p>
              <a:p>
                <a:pPr marL="342900" indent="-342900">
                  <a:buFont typeface="+mj-lt"/>
                  <a:buAutoNum type="arabicPeriod"/>
                </a:pPr>
                <a:endParaRPr lang="es-ES" sz="1600" b="1" dirty="0" smtClean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s-ES" sz="1600" b="1" dirty="0" smtClean="0"/>
                  <a:t>PRECISIÓN (Precisión por Clase): </a:t>
                </a:r>
                <a:r>
                  <a:rPr lang="es-ES" sz="1600" dirty="0" smtClean="0"/>
                  <a:t>¿cuántas predicciones han sido correctas? Especialmente </a:t>
                </a:r>
                <a:r>
                  <a:rPr lang="es-ES" sz="1600" u="sng" dirty="0">
                    <a:solidFill>
                      <a:srgbClr val="FF0000"/>
                    </a:solidFill>
                  </a:rPr>
                  <a:t>importante</a:t>
                </a:r>
                <a:r>
                  <a:rPr lang="es-ES" sz="1600" dirty="0" smtClean="0"/>
                  <a:t> cuando los </a:t>
                </a:r>
                <a:r>
                  <a:rPr lang="es-ES" sz="1600" u="sng" dirty="0" smtClean="0">
                    <a:solidFill>
                      <a:srgbClr val="FF0000"/>
                    </a:solidFill>
                  </a:rPr>
                  <a:t>datos son desbalanceados</a:t>
                </a:r>
                <a:r>
                  <a:rPr lang="es-ES" sz="1600" dirty="0" smtClean="0"/>
                  <a:t>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400" b="1" i="1" smtClean="0">
                          <a:latin typeface="Cambria Math" panose="02040503050406030204" pitchFamily="18" charset="0"/>
                        </a:rPr>
                        <m:t>𝑷𝒓𝒆𝒄𝒊𝒔𝒊𝒐𝒏</m:t>
                      </m:r>
                      <m:r>
                        <a:rPr lang="es-ES" sz="1400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1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1400" b="1" i="1">
                              <a:latin typeface="Cambria Math" panose="02040503050406030204" pitchFamily="18" charset="0"/>
                            </a:rPr>
                            <m:t>𝑽𝑷</m:t>
                          </m:r>
                        </m:num>
                        <m:den>
                          <m:r>
                            <a:rPr lang="es-ES" sz="1400" b="1" i="1" smtClean="0">
                              <a:latin typeface="Cambria Math" panose="02040503050406030204" pitchFamily="18" charset="0"/>
                            </a:rPr>
                            <m:t>𝑽𝑷</m:t>
                          </m:r>
                          <m:r>
                            <a:rPr lang="es-ES" sz="14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ES" sz="1400" b="1" i="1" smtClean="0">
                              <a:latin typeface="Cambria Math" panose="02040503050406030204" pitchFamily="18" charset="0"/>
                            </a:rPr>
                            <m:t>𝑭𝑷</m:t>
                          </m:r>
                        </m:den>
                      </m:f>
                      <m:r>
                        <a:rPr lang="es-ES" sz="14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1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1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num>
                        <m:den>
                          <m:r>
                            <a:rPr lang="es-ES" sz="1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s-ES" sz="14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ES" sz="1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den>
                      </m:f>
                      <m:r>
                        <a:rPr lang="es-ES" sz="1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1400" b="1" i="1" smtClean="0">
                          <a:latin typeface="Cambria Math" panose="02040503050406030204" pitchFamily="18" charset="0"/>
                        </a:rPr>
                        <m:t>𝟔𝟔</m:t>
                      </m:r>
                      <m:r>
                        <a:rPr lang="es-ES" sz="14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ES" sz="1400" b="1" i="1" smtClean="0"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s-ES" sz="1400" b="1" i="1" smtClean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s-ES" sz="1600" b="1" dirty="0" smtClean="0"/>
              </a:p>
              <a:p>
                <a:endParaRPr lang="es-ES" sz="1600" b="1" dirty="0" smtClean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s-ES" sz="1600" b="1" dirty="0" smtClean="0"/>
                  <a:t>RECALL/SENSIBILIDAD: </a:t>
                </a:r>
                <a:r>
                  <a:rPr lang="es-ES" sz="1600" dirty="0" smtClean="0"/>
                  <a:t>qué porcentaje de los casos positivos reales son correctamente clasificados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400" b="1" i="1" smtClean="0">
                          <a:latin typeface="Cambria Math" panose="02040503050406030204" pitchFamily="18" charset="0"/>
                        </a:rPr>
                        <m:t>𝑹𝒆𝒄𝒂𝒍𝒍</m:t>
                      </m:r>
                      <m:r>
                        <a:rPr lang="es-ES" sz="1400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1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1400" b="1" i="1">
                              <a:latin typeface="Cambria Math" panose="02040503050406030204" pitchFamily="18" charset="0"/>
                            </a:rPr>
                            <m:t>𝑽𝑷</m:t>
                          </m:r>
                        </m:num>
                        <m:den>
                          <m:r>
                            <a:rPr lang="es-ES" sz="1400" b="1" i="1">
                              <a:latin typeface="Cambria Math" panose="02040503050406030204" pitchFamily="18" charset="0"/>
                            </a:rPr>
                            <m:t>𝑽𝑷</m:t>
                          </m:r>
                          <m:r>
                            <a:rPr lang="es-ES" sz="14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ES" sz="1400" b="1" i="1">
                              <a:latin typeface="Cambria Math" panose="02040503050406030204" pitchFamily="18" charset="0"/>
                            </a:rPr>
                            <m:t>𝑭𝑵</m:t>
                          </m:r>
                        </m:den>
                      </m:f>
                      <m:r>
                        <a:rPr lang="es-ES" sz="14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1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1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num>
                        <m:den>
                          <m:r>
                            <a:rPr lang="es-ES" sz="1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s-ES" sz="14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ES" sz="1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s-ES" sz="1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1400" b="1" i="1" smtClean="0">
                          <a:latin typeface="Cambria Math" panose="02040503050406030204" pitchFamily="18" charset="0"/>
                        </a:rPr>
                        <m:t>𝟓𝟎</m:t>
                      </m:r>
                      <m:r>
                        <a:rPr lang="es-ES" sz="1400" b="1" i="1" smtClean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s-ES" sz="1600" b="1" i="1" dirty="0" smtClean="0">
                  <a:latin typeface="Cambria Math" panose="02040503050406030204" pitchFamily="18" charset="0"/>
                </a:endParaRPr>
              </a:p>
              <a:p>
                <a:endParaRPr lang="es-ES" sz="1600" b="1" i="1" dirty="0" smtClean="0">
                  <a:latin typeface="Cambria Math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s-ES" sz="1600" b="1" dirty="0" smtClean="0"/>
                  <a:t>F1-SCORE: </a:t>
                </a:r>
                <a:r>
                  <a:rPr lang="es-ES" sz="1600" dirty="0" smtClean="0"/>
                  <a:t>promedio armónico entre precisión y sensibilidad. </a:t>
                </a:r>
                <a:r>
                  <a:rPr lang="es-ES" sz="1600" dirty="0"/>
                  <a:t>Especialmente </a:t>
                </a:r>
                <a:r>
                  <a:rPr lang="es-ES" sz="1600" u="sng" dirty="0">
                    <a:solidFill>
                      <a:srgbClr val="FF0000"/>
                    </a:solidFill>
                  </a:rPr>
                  <a:t>importante</a:t>
                </a:r>
                <a:r>
                  <a:rPr lang="es-ES" sz="1600" dirty="0"/>
                  <a:t> cuando los </a:t>
                </a:r>
                <a:r>
                  <a:rPr lang="es-ES" sz="1600" u="sng" dirty="0">
                    <a:solidFill>
                      <a:srgbClr val="FF0000"/>
                    </a:solidFill>
                  </a:rPr>
                  <a:t>datos son desbalanceados</a:t>
                </a:r>
                <a:r>
                  <a:rPr lang="es-ES" sz="1600" dirty="0" smtClean="0"/>
                  <a:t>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400" b="1" i="1" smtClean="0"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s-ES" sz="14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s-ES" sz="14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14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s-ES" sz="14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14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s-ES" sz="1400" b="1" i="1" smtClean="0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s-ES" sz="1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1400" b="1" i="1">
                              <a:latin typeface="Cambria Math" panose="02040503050406030204" pitchFamily="18" charset="0"/>
                            </a:rPr>
                            <m:t>𝑷</m:t>
                          </m:r>
                          <m:r>
                            <a:rPr lang="es-ES" sz="1400" b="1" i="1" smtClean="0">
                              <a:latin typeface="Cambria Math" panose="02040503050406030204" pitchFamily="18" charset="0"/>
                            </a:rPr>
                            <m:t>𝒓𝒆𝒄𝒊𝒔𝒊𝒐𝒏</m:t>
                          </m:r>
                          <m:r>
                            <a:rPr lang="es-ES" sz="1400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sz="1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s-ES" sz="1400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sz="1400" b="1" i="1" smtClean="0">
                              <a:latin typeface="Cambria Math" panose="02040503050406030204" pitchFamily="18" charset="0"/>
                            </a:rPr>
                            <m:t>𝑹𝒆𝒄𝒂𝒍𝒍</m:t>
                          </m:r>
                        </m:num>
                        <m:den>
                          <m:r>
                            <a:rPr lang="es-ES" sz="1400" b="1" i="1">
                              <a:latin typeface="Cambria Math" panose="02040503050406030204" pitchFamily="18" charset="0"/>
                            </a:rPr>
                            <m:t>𝑷𝒓𝒆𝒄𝒊𝒔𝒊𝒐𝒏</m:t>
                          </m:r>
                          <m:r>
                            <a:rPr lang="es-ES" sz="14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ES" sz="1400" b="1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sz="1400" b="1" i="1">
                              <a:latin typeface="Cambria Math" panose="02040503050406030204" pitchFamily="18" charset="0"/>
                            </a:rPr>
                            <m:t>𝑹𝒆𝒄𝒂𝒍𝒍</m:t>
                          </m:r>
                        </m:den>
                      </m:f>
                      <m:r>
                        <a:rPr lang="es-ES" sz="1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14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s-ES" sz="1400" b="1" i="1" smtClean="0">
                          <a:latin typeface="Cambria Math" panose="02040503050406030204" pitchFamily="18" charset="0"/>
                        </a:rPr>
                        <m:t>𝒙</m:t>
                      </m:r>
                      <m:f>
                        <m:fPr>
                          <m:ctrlPr>
                            <a:rPr lang="es-ES" sz="1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14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s-ES" sz="1400" b="1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s-ES" sz="1400" b="1" i="1" smtClean="0">
                              <a:latin typeface="Cambria Math" panose="02040503050406030204" pitchFamily="18" charset="0"/>
                            </a:rPr>
                            <m:t>𝟔𝟔</m:t>
                          </m:r>
                          <m:r>
                            <a:rPr lang="es-ES" sz="1400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sz="1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s-ES" sz="1400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sz="14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s-ES" sz="1400" b="1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s-ES" sz="1400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</m:num>
                        <m:den>
                          <m:r>
                            <a:rPr lang="es-ES" sz="14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s-ES" sz="1400" b="1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s-ES" sz="1400" b="1" i="1" smtClean="0">
                              <a:latin typeface="Cambria Math" panose="02040503050406030204" pitchFamily="18" charset="0"/>
                            </a:rPr>
                            <m:t>𝟔𝟔</m:t>
                          </m:r>
                          <m:r>
                            <a:rPr lang="es-ES" sz="14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ES" sz="14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s-ES" sz="1400" b="1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s-ES" sz="1400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</m:den>
                      </m:f>
                      <m:r>
                        <a:rPr lang="es-ES" sz="1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1400" b="1" i="1" smtClean="0">
                          <a:latin typeface="Cambria Math" panose="02040503050406030204" pitchFamily="18" charset="0"/>
                        </a:rPr>
                        <m:t>𝟓𝟕</m:t>
                      </m:r>
                      <m:r>
                        <a:rPr lang="es-ES" sz="14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ES" sz="14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s-ES" sz="1400" b="1" i="1" smtClean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s-ES" sz="1600" dirty="0"/>
              </a:p>
              <a:p>
                <a:endParaRPr lang="es-ES" b="1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CuadroTexto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364" y="138545"/>
                <a:ext cx="11139054" cy="6898427"/>
              </a:xfrm>
              <a:prstGeom prst="rect">
                <a:avLst/>
              </a:prstGeom>
              <a:blipFill rotWithShape="0">
                <a:blip r:embed="rId2"/>
                <a:stretch>
                  <a:fillRect l="-219" t="-884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Tab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9893196"/>
              </p:ext>
            </p:extLst>
          </p:nvPr>
        </p:nvGraphicFramePr>
        <p:xfrm>
          <a:off x="3288148" y="1856971"/>
          <a:ext cx="5763486" cy="8639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1162"/>
                <a:gridCol w="1921162"/>
                <a:gridCol w="1921162"/>
              </a:tblGrid>
              <a:tr h="0">
                <a:tc>
                  <a:txBody>
                    <a:bodyPr/>
                    <a:lstStyle/>
                    <a:p>
                      <a:pPr algn="ctr"/>
                      <a:endParaRPr lang="es-ES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 smtClean="0">
                          <a:solidFill>
                            <a:schemeClr val="tx1"/>
                          </a:solidFill>
                        </a:rPr>
                        <a:t>PREDICCIÓN</a:t>
                      </a:r>
                      <a:r>
                        <a:rPr lang="es-ES" sz="1200" baseline="0" dirty="0" smtClean="0">
                          <a:solidFill>
                            <a:schemeClr val="tx1"/>
                          </a:solidFill>
                        </a:rPr>
                        <a:t> (Clase 0)</a:t>
                      </a:r>
                      <a:endParaRPr lang="es-E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 smtClean="0">
                          <a:solidFill>
                            <a:schemeClr val="tx1"/>
                          </a:solidFill>
                        </a:rPr>
                        <a:t>PREDICCIÓN</a:t>
                      </a:r>
                      <a:r>
                        <a:rPr lang="es-ES" sz="1200" baseline="0" dirty="0" smtClean="0">
                          <a:solidFill>
                            <a:schemeClr val="tx1"/>
                          </a:solidFill>
                        </a:rPr>
                        <a:t> (Clase 1)</a:t>
                      </a:r>
                      <a:endParaRPr lang="es-E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9482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REAL (Clase 0)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1" baseline="0" dirty="0" smtClean="0">
                          <a:solidFill>
                            <a:schemeClr val="bg1"/>
                          </a:solidFill>
                        </a:rPr>
                        <a:t>1 (VN/TN)</a:t>
                      </a:r>
                      <a:endParaRPr lang="es-E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1CE4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1" dirty="0" smtClean="0">
                          <a:solidFill>
                            <a:schemeClr val="bg1"/>
                          </a:solidFill>
                        </a:rPr>
                        <a:t>1 (FP/FP)</a:t>
                      </a:r>
                      <a:endParaRPr lang="es-E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</a:tr>
              <a:tr h="294822">
                <a:tc>
                  <a:txBody>
                    <a:bodyPr/>
                    <a:lstStyle/>
                    <a:p>
                      <a:pPr algn="ctr"/>
                      <a:r>
                        <a:rPr lang="es-ES" sz="1200" b="1" dirty="0" smtClean="0"/>
                        <a:t>REAL (Clase 1)</a:t>
                      </a:r>
                      <a:endParaRPr lang="es-ES" sz="1200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1" dirty="0" smtClean="0">
                          <a:solidFill>
                            <a:schemeClr val="bg1"/>
                          </a:solidFill>
                        </a:rPr>
                        <a:t>2 (FN/FN)</a:t>
                      </a:r>
                      <a:endParaRPr lang="es-E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1" baseline="0" dirty="0" smtClean="0">
                          <a:solidFill>
                            <a:schemeClr val="bg1"/>
                          </a:solidFill>
                        </a:rPr>
                        <a:t>2 (VP/TP)</a:t>
                      </a:r>
                      <a:endParaRPr lang="es-E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1CE43D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893238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776404" y="238335"/>
            <a:ext cx="743472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800" b="1" dirty="0"/>
              <a:t>Medidas de bondad de ajuste: </a:t>
            </a:r>
            <a:r>
              <a:rPr lang="es-ES" sz="2800" b="1" dirty="0" smtClean="0"/>
              <a:t>Clasificación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ángulo 2"/>
              <p:cNvSpPr/>
              <p:nvPr/>
            </p:nvSpPr>
            <p:spPr>
              <a:xfrm>
                <a:off x="530944" y="818860"/>
                <a:ext cx="10820545" cy="557434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s-ES" b="1" dirty="0" smtClean="0"/>
                  <a:t>ESPECIFIDAD (Tasa Verdaderos Negativos): </a:t>
                </a:r>
                <a:r>
                  <a:rPr lang="es-ES" dirty="0"/>
                  <a:t>	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s-ES" i="1">
                          <a:latin typeface="Cambria Math" panose="02040503050406030204" pitchFamily="18" charset="0"/>
                        </a:rPr>
                        <m:t>𝐸𝑠𝑝𝑒𝑐𝑖𝑓𝑖𝑑𝑎𝑑</m:t>
                      </m:r>
                      <m:r>
                        <a:rPr lang="es-E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𝑉𝑁</m:t>
                          </m:r>
                        </m:num>
                        <m:den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𝑉𝑁</m:t>
                          </m:r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𝐹𝑃</m:t>
                          </m:r>
                        </m:den>
                      </m:f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1+1</m:t>
                          </m:r>
                        </m:den>
                      </m:f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=50%</m:t>
                      </m:r>
                    </m:oMath>
                  </m:oMathPara>
                </a14:m>
                <a:endParaRPr lang="es-E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s-ES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s-ES" b="1" dirty="0"/>
                  <a:t>La Curva ROC: </a:t>
                </a:r>
                <a:endParaRPr lang="es-ES" b="1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i="1">
                          <a:latin typeface="Cambria Math" panose="02040503050406030204" pitchFamily="18" charset="0"/>
                        </a:rPr>
                        <m:t>𝑅𝑒𝑐𝑎𝑙𝑙</m:t>
                      </m:r>
                      <m:r>
                        <a:rPr lang="es-E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i="1">
                          <a:latin typeface="Cambria Math" panose="02040503050406030204" pitchFamily="18" charset="0"/>
                        </a:rPr>
                        <m:t>𝑇𝑃𝑅</m:t>
                      </m:r>
                      <m:r>
                        <a:rPr lang="es-E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𝑉𝑃</m:t>
                          </m:r>
                        </m:num>
                        <m:den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𝑉𝑃</m:t>
                          </m:r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𝐹𝑁</m:t>
                          </m:r>
                        </m:den>
                      </m:f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2+2</m:t>
                          </m:r>
                        </m:den>
                      </m:f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=50%</m:t>
                      </m:r>
                      <m:r>
                        <a:rPr lang="es-ES" i="1">
                          <a:latin typeface="Cambria Math" panose="02040503050406030204" pitchFamily="18" charset="0"/>
                        </a:rPr>
                        <m:t>;                1−</m:t>
                      </m:r>
                      <m:r>
                        <a:rPr lang="es-ES" i="1">
                          <a:latin typeface="Cambria Math" panose="02040503050406030204" pitchFamily="18" charset="0"/>
                        </a:rPr>
                        <m:t>𝐸𝑠𝑝𝑒𝑐𝑖𝑓𝑖𝑑𝑎𝑑</m:t>
                      </m:r>
                      <m:r>
                        <a:rPr lang="es-E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i="1">
                          <a:latin typeface="Cambria Math" panose="02040503050406030204" pitchFamily="18" charset="0"/>
                        </a:rPr>
                        <m:t>𝐹𝑅𝑃</m:t>
                      </m:r>
                      <m:r>
                        <a:rPr lang="es-E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𝐹𝑃</m:t>
                          </m:r>
                        </m:num>
                        <m:den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𝑉𝑁</m:t>
                          </m:r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𝐹𝑃</m:t>
                          </m:r>
                        </m:den>
                      </m:f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1+1</m:t>
                          </m:r>
                        </m:den>
                      </m:f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=50%</m:t>
                      </m:r>
                    </m:oMath>
                  </m:oMathPara>
                </a14:m>
                <a:endParaRPr lang="es-E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s-ES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s-ES" b="1" dirty="0" smtClean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s-ES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s-ES" b="1" dirty="0" smtClean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s-ES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s-ES" b="1" dirty="0" smtClean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s-ES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s-ES" b="1" dirty="0" smtClean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s-ES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s-ES" b="1" dirty="0" smtClean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s-ES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s-ES" b="1" dirty="0" smtClean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s-ES" b="1" dirty="0" smtClean="0"/>
                  <a:t>AUC</a:t>
                </a:r>
                <a:r>
                  <a:rPr lang="es-ES" dirty="0" smtClean="0"/>
                  <a:t> </a:t>
                </a:r>
                <a:r>
                  <a:rPr lang="es-ES" dirty="0"/>
                  <a:t>(</a:t>
                </a:r>
                <a:r>
                  <a:rPr lang="es-ES" i="1" dirty="0"/>
                  <a:t>Área Bajo la Curva/</a:t>
                </a:r>
                <a:r>
                  <a:rPr lang="es-ES" i="1" dirty="0" err="1"/>
                  <a:t>Area</a:t>
                </a:r>
                <a:r>
                  <a:rPr lang="es-ES" i="1" dirty="0"/>
                  <a:t> </a:t>
                </a:r>
                <a:r>
                  <a:rPr lang="es-ES" i="1" dirty="0" err="1"/>
                  <a:t>Under</a:t>
                </a:r>
                <a:r>
                  <a:rPr lang="es-ES" i="1" dirty="0"/>
                  <a:t> Curve</a:t>
                </a:r>
                <a:r>
                  <a:rPr lang="es-ES" dirty="0" smtClean="0"/>
                  <a:t>): 0.5</a:t>
                </a:r>
                <a:endParaRPr lang="es-ES" dirty="0"/>
              </a:p>
            </p:txBody>
          </p:sp>
        </mc:Choice>
        <mc:Fallback xmlns="">
          <p:sp>
            <p:nvSpPr>
              <p:cNvPr id="3" name="Rectángulo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944" y="818860"/>
                <a:ext cx="10820545" cy="5574347"/>
              </a:xfrm>
              <a:prstGeom prst="rect">
                <a:avLst/>
              </a:prstGeom>
              <a:blipFill rotWithShape="0">
                <a:blip r:embed="rId2"/>
                <a:stretch>
                  <a:fillRect l="-338" t="-546" b="-76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3"/>
          <a:srcRect l="8863" t="28417" r="45833" b="9226"/>
          <a:stretch/>
        </p:blipFill>
        <p:spPr>
          <a:xfrm>
            <a:off x="3306618" y="2776362"/>
            <a:ext cx="3870037" cy="2996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9558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776404" y="238335"/>
            <a:ext cx="902337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800" b="1" dirty="0"/>
              <a:t>Medidas de bondad de </a:t>
            </a:r>
            <a:r>
              <a:rPr lang="es-ES" sz="2800" b="1" dirty="0" smtClean="0"/>
              <a:t>ajuste. ¿Cómo afectan los ajustes?</a:t>
            </a:r>
          </a:p>
        </p:txBody>
      </p:sp>
      <p:sp>
        <p:nvSpPr>
          <p:cNvPr id="4" name="CuadroTexto 3"/>
          <p:cNvSpPr txBox="1"/>
          <p:nvPr/>
        </p:nvSpPr>
        <p:spPr>
          <a:xfrm>
            <a:off x="277639" y="1195664"/>
            <a:ext cx="11350943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 smtClean="0">
                <a:solidFill>
                  <a:srgbClr val="FF0000"/>
                </a:solidFill>
              </a:rPr>
              <a:t>Ajuste de parámetros: </a:t>
            </a:r>
            <a:r>
              <a:rPr lang="es-ES" dirty="0" smtClean="0"/>
              <a:t>afecta a la capacidad general del modelo para adaptarse a los datos.</a:t>
            </a:r>
          </a:p>
          <a:p>
            <a:endParaRPr lang="es-ES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b="1" dirty="0" smtClean="0"/>
              <a:t>Sensibilidad </a:t>
            </a:r>
            <a:r>
              <a:rPr lang="es-ES" b="1" dirty="0"/>
              <a:t>(TPR o </a:t>
            </a:r>
            <a:r>
              <a:rPr lang="es-ES" b="1" dirty="0" err="1"/>
              <a:t>Recall</a:t>
            </a:r>
            <a:r>
              <a:rPr lang="es-ES" b="1" dirty="0" smtClean="0"/>
              <a:t>):</a:t>
            </a:r>
            <a:r>
              <a:rPr lang="es-ES" dirty="0" smtClean="0"/>
              <a:t> si </a:t>
            </a:r>
            <a:r>
              <a:rPr lang="es-ES" dirty="0"/>
              <a:t>el modelo es demasiado restrictivo o simple (bajo ajuste), podría no detectar correctamente los positivos reales, disminuyendo la </a:t>
            </a:r>
            <a:r>
              <a:rPr lang="es-ES" dirty="0" smtClean="0"/>
              <a:t>sensibilidad. </a:t>
            </a:r>
            <a:r>
              <a:rPr lang="es-ES" i="1" dirty="0" smtClean="0"/>
              <a:t>Ejemplo</a:t>
            </a:r>
            <a:r>
              <a:rPr lang="es-ES" dirty="0"/>
              <a:t>: En k-NN, un valor muy grande de </a:t>
            </a:r>
            <a:r>
              <a:rPr lang="es-ES" dirty="0" smtClean="0"/>
              <a:t>k podría </a:t>
            </a:r>
            <a:r>
              <a:rPr lang="es-ES" dirty="0"/>
              <a:t>suavizar demasiado las predicciones, afectando la detección de positivos.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ES" b="1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b="1" dirty="0" smtClean="0"/>
              <a:t>Especificidad: </a:t>
            </a:r>
            <a:r>
              <a:rPr lang="es-ES" dirty="0" smtClean="0"/>
              <a:t>un </a:t>
            </a:r>
            <a:r>
              <a:rPr lang="es-ES" dirty="0"/>
              <a:t>modelo muy complejo (</a:t>
            </a:r>
            <a:r>
              <a:rPr lang="es-ES" dirty="0" err="1"/>
              <a:t>sobreajustado</a:t>
            </a:r>
            <a:r>
              <a:rPr lang="es-ES" dirty="0"/>
              <a:t>) podría clasificar erróneamente más negativos reales, disminuyendo la </a:t>
            </a:r>
            <a:r>
              <a:rPr lang="es-ES" dirty="0" smtClean="0"/>
              <a:t>especificidad. </a:t>
            </a:r>
            <a:r>
              <a:rPr lang="es-ES" i="1" dirty="0" smtClean="0"/>
              <a:t>Ejemplo</a:t>
            </a:r>
            <a:r>
              <a:rPr lang="es-ES" dirty="0"/>
              <a:t>: Un árbol de decisión muy profundo podría clasificar demasiados ejemplos negativos como positivos.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ES" b="1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b="1" dirty="0" smtClean="0"/>
              <a:t>Precisión: </a:t>
            </a:r>
            <a:r>
              <a:rPr lang="es-ES" dirty="0" smtClean="0"/>
              <a:t>los parámetros </a:t>
            </a:r>
            <a:r>
              <a:rPr lang="es-ES" dirty="0"/>
              <a:t>que reducen los falsos positivos aumentan la precisión, ya que esta mide qué porcentaje de las predicciones positivas son </a:t>
            </a:r>
            <a:r>
              <a:rPr lang="es-ES" dirty="0" smtClean="0"/>
              <a:t>correctas. </a:t>
            </a:r>
            <a:r>
              <a:rPr lang="es-ES" i="1" dirty="0" smtClean="0"/>
              <a:t>Ejemplo</a:t>
            </a:r>
            <a:r>
              <a:rPr lang="es-ES" dirty="0"/>
              <a:t>: En SVM, aumentar el valor de </a:t>
            </a:r>
            <a:r>
              <a:rPr lang="es-ES" dirty="0" smtClean="0"/>
              <a:t>C puede </a:t>
            </a:r>
            <a:r>
              <a:rPr lang="es-ES" dirty="0"/>
              <a:t>reducir los falsos positivos, aumentando la precisión.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ES" b="1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b="1" dirty="0" smtClean="0"/>
              <a:t>F1-Score: </a:t>
            </a:r>
            <a:r>
              <a:rPr lang="es-ES" dirty="0" smtClean="0"/>
              <a:t>como </a:t>
            </a:r>
            <a:r>
              <a:rPr lang="es-ES" dirty="0"/>
              <a:t>combina precisión y sensibilidad, un cambio que mejore una métrica pero afecte negativamente la otra podría reducir el F1-Score.</a:t>
            </a:r>
          </a:p>
          <a:p>
            <a:endParaRPr lang="es-ES" b="1" dirty="0"/>
          </a:p>
        </p:txBody>
      </p:sp>
    </p:spTree>
    <p:extLst>
      <p:ext uri="{BB962C8B-B14F-4D97-AF65-F5344CB8AC3E}">
        <p14:creationId xmlns:p14="http://schemas.microsoft.com/office/powerpoint/2010/main" val="31728204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886691" y="1388837"/>
            <a:ext cx="10123054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b="1" dirty="0" err="1" smtClean="0">
                <a:solidFill>
                  <a:srgbClr val="FF0000"/>
                </a:solidFill>
              </a:rPr>
              <a:t>Threshold</a:t>
            </a:r>
            <a:r>
              <a:rPr lang="es-ES" b="1" dirty="0" smtClean="0">
                <a:solidFill>
                  <a:srgbClr val="FF0000"/>
                </a:solidFill>
              </a:rPr>
              <a:t> o punto de corte</a:t>
            </a:r>
            <a:endParaRPr lang="es-ES" b="1" dirty="0">
              <a:solidFill>
                <a:srgbClr val="FF0000"/>
              </a:solidFill>
            </a:endParaRPr>
          </a:p>
          <a:p>
            <a:r>
              <a:rPr lang="es-ES" dirty="0" smtClean="0"/>
              <a:t>El </a:t>
            </a:r>
            <a:r>
              <a:rPr lang="es-ES" i="1" dirty="0" err="1" smtClean="0"/>
              <a:t>threshold</a:t>
            </a:r>
            <a:r>
              <a:rPr lang="es-ES" dirty="0" smtClean="0"/>
              <a:t> </a:t>
            </a:r>
            <a:r>
              <a:rPr lang="es-ES" dirty="0"/>
              <a:t>define a partir de qué probabilidad un ejemplo se clasifica como positivo. Cambiar este umbral tiene los siguientes efectos: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/>
              <a:t>Sensibilidad (TPR)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s-ES" b="1" dirty="0"/>
              <a:t>Umbral bajo:</a:t>
            </a:r>
            <a:r>
              <a:rPr lang="es-ES" dirty="0"/>
              <a:t> Detecta más positivos, aumentando la sensibilidad, pero podría incrementar los falsos positivos.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s-ES" b="1" dirty="0"/>
              <a:t>Umbral alto:</a:t>
            </a:r>
            <a:r>
              <a:rPr lang="es-ES" dirty="0"/>
              <a:t> Detecta menos positivos, reduciendo la sensibilidad, pero mejora la especificidad.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/>
              <a:t>Especificidad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s-ES" b="1" dirty="0"/>
              <a:t>Umbral bajo:</a:t>
            </a:r>
            <a:r>
              <a:rPr lang="es-ES" dirty="0"/>
              <a:t> Clasifica menos negativos correctamente, reduciendo la especificidad</a:t>
            </a:r>
            <a:r>
              <a:rPr lang="es-ES" dirty="0" smtClean="0"/>
              <a:t>.	</a:t>
            </a:r>
            <a:endParaRPr lang="es-ES" dirty="0"/>
          </a:p>
          <a:p>
            <a:pPr lvl="2">
              <a:buFont typeface="Arial" panose="020B0604020202020204" pitchFamily="34" charset="0"/>
              <a:buChar char="•"/>
            </a:pPr>
            <a:r>
              <a:rPr lang="es-ES" b="1" dirty="0"/>
              <a:t>Umbral alto:</a:t>
            </a:r>
            <a:r>
              <a:rPr lang="es-ES" dirty="0"/>
              <a:t> Clasifica más negativos correctamente, aumentando la especificidad.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 smtClean="0"/>
              <a:t>Precisión</a:t>
            </a:r>
            <a:endParaRPr lang="es-ES" b="1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s-ES" b="1" dirty="0"/>
              <a:t>Umbral bajo:</a:t>
            </a:r>
            <a:r>
              <a:rPr lang="es-ES" dirty="0"/>
              <a:t> Aumenta los falsos positivos, reduciendo la precisión.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ES" b="1" dirty="0"/>
              <a:t>Umbral alto:</a:t>
            </a:r>
            <a:r>
              <a:rPr lang="es-ES" dirty="0"/>
              <a:t> Reduce los falsos positivos, aumentando la precisión.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 smtClean="0"/>
              <a:t>F1-Score: </a:t>
            </a:r>
            <a:r>
              <a:rPr lang="es-ES" dirty="0" smtClean="0"/>
              <a:t>cualquier cambio extremo puede </a:t>
            </a:r>
            <a:r>
              <a:rPr lang="es-ES" dirty="0"/>
              <a:t>desbalancear sensibilidad y precisión, reduciendo el F1-Score. Se maximiza cuando el balance entre ambas métricas es óptimo.</a:t>
            </a:r>
          </a:p>
        </p:txBody>
      </p:sp>
      <p:sp>
        <p:nvSpPr>
          <p:cNvPr id="3" name="Rectángulo 2"/>
          <p:cNvSpPr/>
          <p:nvPr/>
        </p:nvSpPr>
        <p:spPr>
          <a:xfrm>
            <a:off x="776404" y="238335"/>
            <a:ext cx="902337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800" b="1" dirty="0"/>
              <a:t>Medidas de bondad de </a:t>
            </a:r>
            <a:r>
              <a:rPr lang="es-ES" sz="2800" b="1" dirty="0" smtClean="0"/>
              <a:t>ajuste. ¿Cómo afectan los ajustes?</a:t>
            </a:r>
          </a:p>
        </p:txBody>
      </p:sp>
    </p:spTree>
    <p:extLst>
      <p:ext uri="{BB962C8B-B14F-4D97-AF65-F5344CB8AC3E}">
        <p14:creationId xmlns:p14="http://schemas.microsoft.com/office/powerpoint/2010/main" val="187851854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1163782" y="1933783"/>
            <a:ext cx="10123054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dirty="0"/>
              <a:t>Supongamos que un correo </a:t>
            </a:r>
            <a:r>
              <a:rPr lang="es-ES" dirty="0" smtClean="0"/>
              <a:t>se clasifica como </a:t>
            </a:r>
            <a:r>
              <a:rPr lang="es-ES" i="1" dirty="0" smtClean="0"/>
              <a:t>Spam </a:t>
            </a:r>
            <a:r>
              <a:rPr lang="es-ES" dirty="0" smtClean="0"/>
              <a:t>con </a:t>
            </a:r>
            <a:r>
              <a:rPr lang="es-ES" dirty="0"/>
              <a:t>una probabilidad de ≥</a:t>
            </a:r>
            <a:r>
              <a:rPr lang="es-ES" dirty="0" smtClean="0"/>
              <a:t>0.5</a:t>
            </a:r>
          </a:p>
          <a:p>
            <a:endParaRPr lang="es-ES" b="1" dirty="0"/>
          </a:p>
          <a:p>
            <a:r>
              <a:rPr lang="es-ES" b="1" dirty="0" smtClean="0"/>
              <a:t>Reducir </a:t>
            </a:r>
            <a:r>
              <a:rPr lang="es-ES" b="1" dirty="0"/>
              <a:t>el umbral </a:t>
            </a:r>
            <a:r>
              <a:rPr lang="es-ES" dirty="0"/>
              <a:t>(por ejemplo, </a:t>
            </a:r>
            <a:r>
              <a:rPr lang="es-ES" dirty="0" smtClean="0"/>
              <a:t>0.30)</a:t>
            </a:r>
            <a:r>
              <a:rPr lang="es-ES" b="1" dirty="0" smtClean="0"/>
              <a:t>:</a:t>
            </a:r>
            <a:endParaRPr lang="es-ES" dirty="0"/>
          </a:p>
          <a:p>
            <a:pPr lvl="1"/>
            <a:r>
              <a:rPr lang="es-ES" dirty="0"/>
              <a:t>Detectará más correos spam (alta sensibilidad).</a:t>
            </a:r>
          </a:p>
          <a:p>
            <a:pPr lvl="1"/>
            <a:r>
              <a:rPr lang="es-ES" dirty="0"/>
              <a:t>Aumentará los falsos positivos (baja precisión y especificidad</a:t>
            </a:r>
            <a:r>
              <a:rPr lang="es-ES" dirty="0" smtClean="0"/>
              <a:t>).</a:t>
            </a:r>
          </a:p>
          <a:p>
            <a:pPr lvl="1"/>
            <a:endParaRPr lang="es-ES" dirty="0"/>
          </a:p>
          <a:p>
            <a:r>
              <a:rPr lang="es-ES" b="1" dirty="0"/>
              <a:t>Aumentar el umbral (por ejemplo, </a:t>
            </a:r>
            <a:r>
              <a:rPr lang="es-ES" b="1" dirty="0" smtClean="0"/>
              <a:t>0.70):</a:t>
            </a:r>
            <a:endParaRPr lang="es-ES" dirty="0"/>
          </a:p>
          <a:p>
            <a:pPr lvl="1"/>
            <a:r>
              <a:rPr lang="es-ES" dirty="0"/>
              <a:t>Detectará menos correos spam (baja sensibilidad).</a:t>
            </a:r>
          </a:p>
          <a:p>
            <a:pPr lvl="1"/>
            <a:r>
              <a:rPr lang="es-ES" dirty="0"/>
              <a:t>Mejorará la precisión y la especificidad, ya que reducirá los falsos positivos.</a:t>
            </a:r>
          </a:p>
        </p:txBody>
      </p:sp>
      <p:sp>
        <p:nvSpPr>
          <p:cNvPr id="3" name="Rectángulo 2"/>
          <p:cNvSpPr/>
          <p:nvPr/>
        </p:nvSpPr>
        <p:spPr>
          <a:xfrm>
            <a:off x="776404" y="238335"/>
            <a:ext cx="902337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800" b="1" dirty="0"/>
              <a:t>Medidas de bondad de </a:t>
            </a:r>
            <a:r>
              <a:rPr lang="es-ES" sz="2800" b="1" dirty="0" smtClean="0"/>
              <a:t>ajuste. ¿Cómo afectan los ajustes?</a:t>
            </a:r>
          </a:p>
        </p:txBody>
      </p:sp>
    </p:spTree>
    <p:extLst>
      <p:ext uri="{BB962C8B-B14F-4D97-AF65-F5344CB8AC3E}">
        <p14:creationId xmlns:p14="http://schemas.microsoft.com/office/powerpoint/2010/main" val="351764895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ángulo 42"/>
          <p:cNvSpPr/>
          <p:nvPr/>
        </p:nvSpPr>
        <p:spPr>
          <a:xfrm>
            <a:off x="1136622" y="-23275"/>
            <a:ext cx="902337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800" b="1" dirty="0"/>
              <a:t>Medidas de bondad de </a:t>
            </a:r>
            <a:r>
              <a:rPr lang="es-ES" sz="2800" b="1" dirty="0" smtClean="0"/>
              <a:t>ajuste. ¿Cuál escoger?</a:t>
            </a:r>
          </a:p>
        </p:txBody>
      </p:sp>
      <p:sp>
        <p:nvSpPr>
          <p:cNvPr id="44" name="CuadroTexto 43"/>
          <p:cNvSpPr txBox="1"/>
          <p:nvPr/>
        </p:nvSpPr>
        <p:spPr>
          <a:xfrm>
            <a:off x="73893" y="499945"/>
            <a:ext cx="11850252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b="1" dirty="0" smtClean="0">
                <a:solidFill>
                  <a:srgbClr val="FF0000"/>
                </a:solidFill>
              </a:rPr>
              <a:t>Prioridad: minimizar FALSOS NEGATIVOS (ALTA SENSIBILIDAD): </a:t>
            </a:r>
            <a:r>
              <a:rPr lang="es-ES" sz="1400" dirty="0" smtClean="0"/>
              <a:t>no identificar un positivo es más costoso/grave que clasificar incorrectamente un negativo. </a:t>
            </a:r>
            <a:r>
              <a:rPr lang="es-ES" sz="1400" i="1" dirty="0" smtClean="0"/>
              <a:t>Ejemplos</a:t>
            </a:r>
            <a:r>
              <a:rPr lang="es-ES" sz="1400" dirty="0" smtClean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1400" dirty="0" smtClean="0"/>
              <a:t>Diagnóstico médico: es más grave no identificar un paciente con cáncer (falso negativo) que generar una alerta innecesaria (falso positivo).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1400" dirty="0" smtClean="0"/>
              <a:t>Seguridad: identificar correos con malware. No marcar un malware como peligroso puede hundir un sistema.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1400" b="1" dirty="0">
                <a:solidFill>
                  <a:schemeClr val="accent1">
                    <a:lumMod val="75000"/>
                  </a:schemeClr>
                </a:solidFill>
              </a:rPr>
              <a:t>Métrica recomendada</a:t>
            </a:r>
            <a:r>
              <a:rPr lang="es-ES" sz="1400" b="1" dirty="0">
                <a:solidFill>
                  <a:srgbClr val="FF0000"/>
                </a:solidFill>
              </a:rPr>
              <a:t>: </a:t>
            </a:r>
            <a:r>
              <a:rPr lang="es-ES" sz="1400" b="1" dirty="0" err="1"/>
              <a:t>recall</a:t>
            </a:r>
            <a:r>
              <a:rPr lang="es-ES" sz="1400" b="1" dirty="0"/>
              <a:t>/sensibilidad</a:t>
            </a:r>
            <a:r>
              <a:rPr lang="es-ES" sz="1400" dirty="0"/>
              <a:t>, si </a:t>
            </a:r>
            <a:r>
              <a:rPr lang="es-ES" sz="1400" dirty="0" smtClean="0"/>
              <a:t>fuera necesario equilibrar, </a:t>
            </a:r>
            <a:r>
              <a:rPr lang="es-ES" sz="1400" b="1" dirty="0" smtClean="0"/>
              <a:t>F1</a:t>
            </a:r>
            <a:r>
              <a:rPr lang="es-ES" sz="1400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b="1" dirty="0">
                <a:solidFill>
                  <a:srgbClr val="FF0000"/>
                </a:solidFill>
              </a:rPr>
              <a:t>Prioridad: minimizar FALSOS </a:t>
            </a:r>
            <a:r>
              <a:rPr lang="es-ES" sz="1400" b="1" dirty="0" smtClean="0">
                <a:solidFill>
                  <a:srgbClr val="FF0000"/>
                </a:solidFill>
              </a:rPr>
              <a:t>POSITIVOS (ALTA PRECISIÓN): </a:t>
            </a:r>
            <a:r>
              <a:rPr lang="es-ES" sz="1400" dirty="0" smtClean="0"/>
              <a:t>clasificar un negativo como positivo tiene un alto coste/gravedad </a:t>
            </a:r>
            <a:r>
              <a:rPr lang="es-ES" sz="1400" i="1" dirty="0"/>
              <a:t>Ejemplos</a:t>
            </a:r>
            <a:r>
              <a:rPr lang="es-ES" sz="14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1400" dirty="0" smtClean="0"/>
              <a:t>Detección de fraude: clasificar una transacción legítima como fraudulenta puede provocar la huida de clientes.</a:t>
            </a:r>
            <a:endParaRPr lang="es-ES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1400" dirty="0" smtClean="0"/>
              <a:t>Clasificación de spam: </a:t>
            </a:r>
            <a:r>
              <a:rPr lang="es-ES" sz="1400" dirty="0"/>
              <a:t>identificar </a:t>
            </a:r>
            <a:r>
              <a:rPr lang="es-ES" sz="1400" dirty="0" smtClean="0"/>
              <a:t>un correo importante como spam (falso positivo), puede provocar que el usuario pierda información importante.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1400" b="1" dirty="0">
                <a:solidFill>
                  <a:schemeClr val="accent1">
                    <a:lumMod val="75000"/>
                  </a:schemeClr>
                </a:solidFill>
              </a:rPr>
              <a:t>Métrica recomendada</a:t>
            </a:r>
            <a:r>
              <a:rPr lang="es-ES" sz="1400" b="1" dirty="0">
                <a:solidFill>
                  <a:srgbClr val="FF0000"/>
                </a:solidFill>
              </a:rPr>
              <a:t>: </a:t>
            </a:r>
            <a:r>
              <a:rPr lang="es-ES" sz="1400" b="1" dirty="0" smtClean="0"/>
              <a:t>precisión</a:t>
            </a:r>
            <a:r>
              <a:rPr lang="es-ES" sz="1400" dirty="0" smtClean="0"/>
              <a:t>, si fuera necesario </a:t>
            </a:r>
            <a:r>
              <a:rPr lang="es-ES" sz="1400" dirty="0"/>
              <a:t>equilibrar, </a:t>
            </a:r>
            <a:r>
              <a:rPr lang="es-ES" sz="1400" b="1" dirty="0"/>
              <a:t>F1</a:t>
            </a:r>
            <a:r>
              <a:rPr lang="es-ES" sz="1400" dirty="0" smtClean="0"/>
              <a:t>.</a:t>
            </a:r>
            <a:endParaRPr lang="es-E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b="1" dirty="0">
                <a:solidFill>
                  <a:srgbClr val="FF0000"/>
                </a:solidFill>
              </a:rPr>
              <a:t>Prioridad: </a:t>
            </a:r>
            <a:r>
              <a:rPr lang="es-ES" sz="1400" b="1" dirty="0" smtClean="0">
                <a:solidFill>
                  <a:srgbClr val="FF0000"/>
                </a:solidFill>
              </a:rPr>
              <a:t>BALANCEAR FALSOS POSITIVOS Y FALSOS NEGATIVOS: </a:t>
            </a:r>
            <a:r>
              <a:rPr lang="es-ES" sz="1400" dirty="0" smtClean="0"/>
              <a:t>es importante evitar tanto los falsos positivos como los falsos negativos. </a:t>
            </a:r>
            <a:r>
              <a:rPr lang="es-ES" sz="1400" i="1" dirty="0"/>
              <a:t>Ejemplos</a:t>
            </a:r>
            <a:r>
              <a:rPr lang="es-ES" sz="14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1400" dirty="0" smtClean="0"/>
              <a:t>Reconocimiento facial</a:t>
            </a:r>
            <a:r>
              <a:rPr lang="es-ES" sz="1400" dirty="0"/>
              <a:t>: e</a:t>
            </a:r>
            <a:r>
              <a:rPr lang="es-ES" sz="1400" dirty="0" smtClean="0"/>
              <a:t>n </a:t>
            </a:r>
            <a:r>
              <a:rPr lang="es-ES" sz="1400" dirty="0"/>
              <a:t>accesos restringidos, un error podría negar la entrada a un usuario legítimo (falso negativo) o permitir el acceso a un intruso (falso positivo)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1400" dirty="0"/>
              <a:t>Sistemas de recomendación: </a:t>
            </a:r>
            <a:r>
              <a:rPr lang="es-ES" sz="1400" dirty="0" smtClean="0"/>
              <a:t>clasificar </a:t>
            </a:r>
            <a:r>
              <a:rPr lang="es-ES" sz="1400" dirty="0"/>
              <a:t>incorrectamente un producto como relevante o no relevante afecta la experiencia del </a:t>
            </a:r>
            <a:r>
              <a:rPr lang="es-ES" sz="1400" dirty="0" smtClean="0"/>
              <a:t>usuario.</a:t>
            </a:r>
            <a:endParaRPr lang="es-ES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1400" b="1" dirty="0" smtClean="0">
                <a:solidFill>
                  <a:schemeClr val="accent1">
                    <a:lumMod val="75000"/>
                  </a:schemeClr>
                </a:solidFill>
              </a:rPr>
              <a:t>Métrica </a:t>
            </a:r>
            <a:r>
              <a:rPr lang="es-ES" sz="1400" b="1" dirty="0">
                <a:solidFill>
                  <a:schemeClr val="accent1">
                    <a:lumMod val="75000"/>
                  </a:schemeClr>
                </a:solidFill>
              </a:rPr>
              <a:t>recomendada</a:t>
            </a:r>
            <a:r>
              <a:rPr lang="es-ES" sz="1400" b="1" dirty="0">
                <a:solidFill>
                  <a:srgbClr val="FF0000"/>
                </a:solidFill>
              </a:rPr>
              <a:t>: </a:t>
            </a:r>
            <a:r>
              <a:rPr lang="es-ES" sz="1400" b="1" dirty="0" smtClean="0"/>
              <a:t>F1</a:t>
            </a:r>
            <a:r>
              <a:rPr lang="es-ES" sz="1400" dirty="0" smtClean="0"/>
              <a:t>, para considerar el equilibrio entre precisión y sensibilidad, </a:t>
            </a:r>
            <a:r>
              <a:rPr lang="es-ES" sz="1400" b="1" dirty="0" err="1" smtClean="0"/>
              <a:t>Accuracy</a:t>
            </a:r>
            <a:r>
              <a:rPr lang="es-ES" sz="1400" dirty="0" smtClean="0"/>
              <a:t> (si las clases están más o menos balanceadas, </a:t>
            </a:r>
            <a:r>
              <a:rPr lang="es-ES" sz="1400" b="1" dirty="0"/>
              <a:t>ROC-AUC</a:t>
            </a:r>
            <a:r>
              <a:rPr lang="es-ES" sz="1400" dirty="0" smtClean="0"/>
              <a:t>.</a:t>
            </a:r>
            <a:endParaRPr lang="es-E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b="1" dirty="0" smtClean="0">
                <a:solidFill>
                  <a:srgbClr val="FF0000"/>
                </a:solidFill>
              </a:rPr>
              <a:t>Problemas con clases DESBALANCEADAS: cuando </a:t>
            </a:r>
            <a:r>
              <a:rPr lang="es-ES" sz="1400" dirty="0" smtClean="0"/>
              <a:t>una </a:t>
            </a:r>
            <a:r>
              <a:rPr lang="es-ES" sz="1400" dirty="0"/>
              <a:t>clase es mucho más frecuente que la otra, las métricas estándar como la exactitud (</a:t>
            </a:r>
            <a:r>
              <a:rPr lang="es-ES" sz="1400" dirty="0" err="1"/>
              <a:t>accuracy</a:t>
            </a:r>
            <a:r>
              <a:rPr lang="es-ES" sz="1400" dirty="0"/>
              <a:t>) pueden ser engañosas. </a:t>
            </a:r>
            <a:r>
              <a:rPr lang="es-ES" sz="1400" i="1" dirty="0"/>
              <a:t>Ejemplos</a:t>
            </a:r>
            <a:r>
              <a:rPr lang="es-ES" sz="14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1400" dirty="0"/>
              <a:t>Detección de fallos en maquinaria: </a:t>
            </a:r>
            <a:r>
              <a:rPr lang="es-ES" sz="1400" dirty="0" smtClean="0"/>
              <a:t>si los fallos son </a:t>
            </a:r>
            <a:r>
              <a:rPr lang="es-ES" sz="1400" dirty="0"/>
              <a:t>eventos raros (clase minoritaria). Un modelo que prediga siempre "no falla" podría tener alta exactitud pero sería </a:t>
            </a:r>
            <a:r>
              <a:rPr lang="es-ES" sz="1400" dirty="0" smtClean="0"/>
              <a:t>inútil.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1400" dirty="0" smtClean="0"/>
              <a:t>Sistemas </a:t>
            </a:r>
            <a:r>
              <a:rPr lang="es-ES" sz="1400" dirty="0"/>
              <a:t>de recomendación: clasificar incorrectamente un producto como relevante o no relevante afecta la experiencia del usuario.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1400" b="1" dirty="0">
                <a:solidFill>
                  <a:schemeClr val="accent1">
                    <a:lumMod val="75000"/>
                  </a:schemeClr>
                </a:solidFill>
              </a:rPr>
              <a:t>Métrica recomendada:</a:t>
            </a:r>
            <a:r>
              <a:rPr lang="es-ES" sz="1400" b="1" dirty="0">
                <a:solidFill>
                  <a:srgbClr val="FF0000"/>
                </a:solidFill>
              </a:rPr>
              <a:t> </a:t>
            </a:r>
            <a:r>
              <a:rPr lang="es-ES" sz="1400" b="1" dirty="0"/>
              <a:t>ROC-AUC</a:t>
            </a:r>
            <a:r>
              <a:rPr lang="es-ES" sz="1400" dirty="0"/>
              <a:t> para medir la capacidad del modelo de diferenciar entre las clases. También se puede usar </a:t>
            </a:r>
            <a:r>
              <a:rPr lang="es-ES" sz="1400" b="1" dirty="0" err="1"/>
              <a:t>Precision-Recall</a:t>
            </a:r>
            <a:r>
              <a:rPr lang="es-ES" sz="1400" b="1" dirty="0"/>
              <a:t> AUC</a:t>
            </a:r>
            <a:r>
              <a:rPr lang="es-ES" sz="1400" dirty="0"/>
              <a:t> si la clase positiva es extremadamente minoritaria</a:t>
            </a:r>
            <a:r>
              <a:rPr lang="es-ES" sz="1400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b="1" dirty="0">
                <a:solidFill>
                  <a:srgbClr val="FF0000"/>
                </a:solidFill>
              </a:rPr>
              <a:t>Problema de clasificación MULTI-CLASE: </a:t>
            </a:r>
            <a:r>
              <a:rPr lang="es-ES" sz="1400" dirty="0"/>
              <a:t>hay más de una clase y todas tienen una importancia relativa. </a:t>
            </a:r>
            <a:r>
              <a:rPr lang="es-ES" sz="1400" i="1" dirty="0"/>
              <a:t>Ejemplos</a:t>
            </a:r>
            <a:r>
              <a:rPr lang="es-ES" sz="14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1400" b="1" dirty="0"/>
              <a:t>Clasificación de noticias:</a:t>
            </a:r>
            <a:r>
              <a:rPr lang="es-ES" sz="1400" dirty="0"/>
              <a:t> Etiquetar artículos en categorías como deportes, política, tecnología.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1400" b="1" dirty="0"/>
              <a:t>Reconocimiento de imágenes:</a:t>
            </a:r>
            <a:r>
              <a:rPr lang="es-ES" sz="1400" dirty="0"/>
              <a:t> Identificar objetos en imágenes (perro, gato, coche, etc.).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1400" b="1" dirty="0">
                <a:solidFill>
                  <a:schemeClr val="accent1">
                    <a:lumMod val="75000"/>
                  </a:schemeClr>
                </a:solidFill>
              </a:rPr>
              <a:t>Métrica </a:t>
            </a:r>
            <a:r>
              <a:rPr lang="es-ES" sz="1400" b="1" dirty="0" smtClean="0">
                <a:solidFill>
                  <a:schemeClr val="accent1">
                    <a:lumMod val="75000"/>
                  </a:schemeClr>
                </a:solidFill>
              </a:rPr>
              <a:t>recomendada:</a:t>
            </a:r>
            <a:r>
              <a:rPr lang="es-ES" sz="1400" b="1" dirty="0" smtClean="0">
                <a:solidFill>
                  <a:srgbClr val="FF0000"/>
                </a:solidFill>
              </a:rPr>
              <a:t> </a:t>
            </a:r>
            <a:r>
              <a:rPr lang="es-ES" sz="1400" b="1" dirty="0" err="1"/>
              <a:t>Acuracy</a:t>
            </a:r>
            <a:r>
              <a:rPr lang="es-ES" sz="1400" dirty="0"/>
              <a:t>, si las clases están balanceadas; </a:t>
            </a:r>
            <a:r>
              <a:rPr lang="es-ES" sz="1400" b="1" dirty="0"/>
              <a:t>Macro F1-Score </a:t>
            </a:r>
            <a:r>
              <a:rPr lang="es-ES" sz="1400" b="1" dirty="0" err="1"/>
              <a:t>si</a:t>
            </a:r>
            <a:r>
              <a:rPr lang="es-ES" sz="1400" dirty="0" err="1"/>
              <a:t>i</a:t>
            </a:r>
            <a:r>
              <a:rPr lang="es-ES" sz="1400" dirty="0"/>
              <a:t> las clases están desbalanceadas y se quiere evaluar el desempeño promedio en todas las clases.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E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44339652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600364" y="138545"/>
            <a:ext cx="111390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b="1" dirty="0" smtClean="0"/>
              <a:t>Medidas de bondad de ajuste: Regresión</a:t>
            </a:r>
            <a:endParaRPr lang="es-ES" b="1" i="1" dirty="0">
              <a:latin typeface="Cambria Math" panose="02040503050406030204" pitchFamily="18" charset="0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/>
          <a:srcRect l="36137" t="26532" r="27727" b="7071"/>
          <a:stretch/>
        </p:blipFill>
        <p:spPr>
          <a:xfrm>
            <a:off x="3302000" y="761178"/>
            <a:ext cx="5735782" cy="5928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47415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600364" y="138545"/>
            <a:ext cx="111390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b="1" dirty="0" smtClean="0"/>
              <a:t>Medidas de bondad de ajuste: Regresión</a:t>
            </a:r>
            <a:endParaRPr lang="es-ES" b="1" i="1" dirty="0">
              <a:latin typeface="Cambria Math" panose="02040503050406030204" pitchFamily="18" charset="0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858982" y="1242467"/>
            <a:ext cx="10880436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s-ES" altLang="es-ES" dirty="0" smtClean="0">
                <a:latin typeface="Arial" panose="020B0604020202020204" pitchFamily="34" charset="0"/>
              </a:rPr>
              <a:t>Otras opciones son: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ES" altLang="es-ES" sz="18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Error Relativo Absoluto Medio (MAPE)</a:t>
            </a:r>
            <a:r>
              <a:rPr kumimoji="0" lang="es-ES" altLang="es-E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promedio de los errores absolutos expresados como porcentaje de los valores reales.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altLang="es-E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Error Absoluto Mediano (</a:t>
            </a:r>
            <a:r>
              <a:rPr kumimoji="0" lang="es-ES" altLang="es-E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MedAE</a:t>
            </a:r>
            <a:r>
              <a:rPr kumimoji="0" lang="es-ES" altLang="es-E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r>
              <a:rPr kumimoji="0" lang="es-ES" altLang="es-E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mediana de los errores absolutos. Menos sensible a los valores atípicos que el MAE.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altLang="es-E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Error Cuadrático Medio Logarítmico (MSLE)</a:t>
            </a:r>
            <a:r>
              <a:rPr kumimoji="0" lang="es-ES" altLang="es-E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MSE calculado sobre los logaritmos de los valores predichos y reales. Es útil cuando los datos tienen un rango amplio.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altLang="es-E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Coeficiente de Correlación de Pearson (r)</a:t>
            </a:r>
            <a:r>
              <a:rPr kumimoji="0" lang="es-ES" altLang="es-E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Mide la fuerza y la dirección de la relación lineal entre los valores reales y predichos.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altLang="es-E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Prueba F de ANOVA</a:t>
            </a:r>
            <a:r>
              <a:rPr kumimoji="0" lang="es-ES" altLang="es-E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Utilizada para comparar los modelos y ver si hay diferencias significativas entre los resultados predichos y los reales.</a:t>
            </a:r>
          </a:p>
        </p:txBody>
      </p:sp>
    </p:spTree>
    <p:extLst>
      <p:ext uri="{BB962C8B-B14F-4D97-AF65-F5344CB8AC3E}">
        <p14:creationId xmlns:p14="http://schemas.microsoft.com/office/powerpoint/2010/main" val="24260965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2"/>
          <a:srcRect l="39243" t="25993" r="24545" b="7340"/>
          <a:stretch/>
        </p:blipFill>
        <p:spPr>
          <a:xfrm>
            <a:off x="3288146" y="884546"/>
            <a:ext cx="5514109" cy="5710217"/>
          </a:xfrm>
          <a:prstGeom prst="rect">
            <a:avLst/>
          </a:prstGeom>
        </p:spPr>
      </p:pic>
      <p:sp>
        <p:nvSpPr>
          <p:cNvPr id="3" name="CuadroTexto 2"/>
          <p:cNvSpPr txBox="1"/>
          <p:nvPr/>
        </p:nvSpPr>
        <p:spPr>
          <a:xfrm>
            <a:off x="600364" y="138545"/>
            <a:ext cx="111390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b="1" dirty="0" smtClean="0"/>
              <a:t>Medidas de bondad de ajuste: Regresión</a:t>
            </a:r>
            <a:endParaRPr lang="es-ES" b="1" i="1" dirty="0">
              <a:latin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431784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/>
          <p:cNvSpPr txBox="1"/>
          <p:nvPr/>
        </p:nvSpPr>
        <p:spPr>
          <a:xfrm>
            <a:off x="600364" y="138545"/>
            <a:ext cx="111390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b="1" dirty="0" smtClean="0"/>
              <a:t>Medidas de bondad de ajuste: Regresión</a:t>
            </a:r>
            <a:endParaRPr lang="es-ES" b="1" i="1" dirty="0">
              <a:latin typeface="Cambria Math" panose="02040503050406030204" pitchFamily="18" charset="0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/>
          <a:srcRect l="47349" t="26667" r="17197" b="7475"/>
          <a:stretch/>
        </p:blipFill>
        <p:spPr>
          <a:xfrm>
            <a:off x="3920835" y="744892"/>
            <a:ext cx="4202545" cy="4391121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3"/>
          <a:srcRect l="41894" t="38114" r="18030" b="42761"/>
          <a:stretch/>
        </p:blipFill>
        <p:spPr>
          <a:xfrm>
            <a:off x="2955635" y="5219140"/>
            <a:ext cx="5264728" cy="1413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12098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ángulo 42"/>
          <p:cNvSpPr/>
          <p:nvPr/>
        </p:nvSpPr>
        <p:spPr>
          <a:xfrm>
            <a:off x="776404" y="238335"/>
            <a:ext cx="902337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800" b="1" dirty="0"/>
              <a:t>Medidas de bondad de </a:t>
            </a:r>
            <a:r>
              <a:rPr lang="es-ES" sz="2800" b="1" dirty="0" smtClean="0"/>
              <a:t>ajuste. ¿Cuál escoger?</a:t>
            </a:r>
          </a:p>
        </p:txBody>
      </p:sp>
      <p:sp>
        <p:nvSpPr>
          <p:cNvPr id="2" name="Rectángulo 1"/>
          <p:cNvSpPr/>
          <p:nvPr/>
        </p:nvSpPr>
        <p:spPr>
          <a:xfrm>
            <a:off x="711200" y="1138720"/>
            <a:ext cx="8654473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b="1" dirty="0" smtClean="0">
                <a:solidFill>
                  <a:srgbClr val="FF0000"/>
                </a:solidFill>
              </a:rPr>
              <a:t>Predicción de valores continuos con distribuciones similares y datos ‘limpios’: </a:t>
            </a:r>
            <a:r>
              <a:rPr lang="es-ES" sz="1400" dirty="0"/>
              <a:t>no identificar un positivo es más costoso/grave que clasificar incorrectamente un negativo. </a:t>
            </a:r>
            <a:r>
              <a:rPr lang="es-ES" sz="1400" i="1" dirty="0"/>
              <a:t>Ejemplos</a:t>
            </a:r>
            <a:r>
              <a:rPr lang="es-ES" sz="14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1400" dirty="0"/>
              <a:t>Predicción de precios de viviendas: </a:t>
            </a:r>
            <a:r>
              <a:rPr lang="es-ES" sz="1400" dirty="0" smtClean="0"/>
              <a:t>estimar </a:t>
            </a:r>
            <a:r>
              <a:rPr lang="es-ES" sz="1400" dirty="0"/>
              <a:t>el precio de una vivienda en base a sus características</a:t>
            </a:r>
            <a:r>
              <a:rPr lang="es-ES" sz="1400" dirty="0" smtClean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1400" dirty="0"/>
              <a:t>Pronóstico de demanda: Predecir la cantidad de productos a vender en el próximo mes</a:t>
            </a:r>
            <a:r>
              <a:rPr lang="es-ES" sz="1400" dirty="0" smtClean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1400" b="1" dirty="0" smtClean="0">
                <a:solidFill>
                  <a:schemeClr val="accent1">
                    <a:lumMod val="75000"/>
                  </a:schemeClr>
                </a:solidFill>
              </a:rPr>
              <a:t>Métrica recomendada: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s-ES" sz="1400" b="1" dirty="0"/>
              <a:t>Mean </a:t>
            </a:r>
            <a:r>
              <a:rPr lang="es-ES" sz="1400" b="1" dirty="0" err="1"/>
              <a:t>Squared</a:t>
            </a:r>
            <a:r>
              <a:rPr lang="es-ES" sz="1400" b="1" dirty="0"/>
              <a:t> Error (MSE):</a:t>
            </a:r>
            <a:r>
              <a:rPr lang="es-ES" sz="1400" dirty="0"/>
              <a:t> </a:t>
            </a:r>
            <a:r>
              <a:rPr lang="es-ES" sz="1400" dirty="0" smtClean="0"/>
              <a:t>penaliza </a:t>
            </a:r>
            <a:r>
              <a:rPr lang="es-ES" sz="1400" dirty="0"/>
              <a:t>más los errores grandes; útil cuando los errores pequeños son menos relevantes</a:t>
            </a:r>
            <a:r>
              <a:rPr lang="es-ES" sz="1400" dirty="0" smtClean="0"/>
              <a:t>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s-ES" sz="1400" b="1" dirty="0"/>
              <a:t>Mean </a:t>
            </a:r>
            <a:r>
              <a:rPr lang="es-ES" sz="1400" b="1" dirty="0" err="1"/>
              <a:t>Absolute</a:t>
            </a:r>
            <a:r>
              <a:rPr lang="es-ES" sz="1400" b="1" dirty="0"/>
              <a:t> Error (MAE):</a:t>
            </a:r>
            <a:r>
              <a:rPr lang="es-ES" sz="1400" dirty="0"/>
              <a:t> </a:t>
            </a:r>
            <a:r>
              <a:rPr lang="es-ES" sz="1400" dirty="0" smtClean="0"/>
              <a:t>penaliza </a:t>
            </a:r>
            <a:r>
              <a:rPr lang="es-ES" sz="1400" dirty="0"/>
              <a:t>linealmente los errores; útil cuando los errores grandes y pequeños tienen el mismo </a:t>
            </a:r>
            <a:r>
              <a:rPr lang="es-ES" sz="1400" dirty="0" smtClean="0"/>
              <a:t>impacto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s-E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b="1" dirty="0">
                <a:solidFill>
                  <a:srgbClr val="FF0000"/>
                </a:solidFill>
              </a:rPr>
              <a:t>Predicción de valores continuos con distribuciones </a:t>
            </a:r>
            <a:r>
              <a:rPr lang="es-ES" sz="1400" b="1" dirty="0" smtClean="0">
                <a:solidFill>
                  <a:srgbClr val="FF0000"/>
                </a:solidFill>
              </a:rPr>
              <a:t>desiguales o </a:t>
            </a:r>
            <a:r>
              <a:rPr lang="es-ES" sz="1400" b="1" dirty="0">
                <a:solidFill>
                  <a:srgbClr val="FF0000"/>
                </a:solidFill>
              </a:rPr>
              <a:t>datos </a:t>
            </a:r>
            <a:r>
              <a:rPr lang="es-ES" sz="1400" b="1" dirty="0" smtClean="0">
                <a:solidFill>
                  <a:srgbClr val="FF0000"/>
                </a:solidFill>
              </a:rPr>
              <a:t>ruidosos</a:t>
            </a:r>
            <a:r>
              <a:rPr lang="es-ES" sz="1400" dirty="0" smtClean="0"/>
              <a:t> </a:t>
            </a:r>
            <a:r>
              <a:rPr lang="es-ES" sz="1400" i="1" dirty="0"/>
              <a:t>Ejemplos</a:t>
            </a:r>
            <a:r>
              <a:rPr lang="es-ES" sz="14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1400" dirty="0"/>
              <a:t>Análisis financiero: </a:t>
            </a:r>
            <a:r>
              <a:rPr lang="es-ES" sz="1400" dirty="0" smtClean="0"/>
              <a:t>predicción </a:t>
            </a:r>
            <a:r>
              <a:rPr lang="es-ES" sz="1400" dirty="0"/>
              <a:t>de precios de acciones, donde los </a:t>
            </a:r>
            <a:r>
              <a:rPr lang="es-ES" sz="1400" dirty="0" err="1"/>
              <a:t>outliers</a:t>
            </a:r>
            <a:r>
              <a:rPr lang="es-ES" sz="1400" dirty="0"/>
              <a:t> pueden ser frecuentes</a:t>
            </a:r>
            <a:r>
              <a:rPr lang="es-ES" sz="1400" dirty="0" smtClean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1400" dirty="0"/>
              <a:t>Meteorología: </a:t>
            </a:r>
            <a:r>
              <a:rPr lang="es-ES" sz="1400" dirty="0" smtClean="0"/>
              <a:t>predicción </a:t>
            </a:r>
            <a:r>
              <a:rPr lang="es-ES" sz="1400" dirty="0"/>
              <a:t>de temperaturas en regiones con valores extremos</a:t>
            </a:r>
            <a:r>
              <a:rPr lang="es-ES" sz="1400" dirty="0" smtClean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1400" dirty="0"/>
              <a:t>Sector energético: </a:t>
            </a:r>
            <a:r>
              <a:rPr lang="es-ES" sz="1400" dirty="0" smtClean="0"/>
              <a:t>predicción </a:t>
            </a:r>
            <a:r>
              <a:rPr lang="es-ES" sz="1400" dirty="0"/>
              <a:t>del consumo eléctrico en regiones con patrones irregulares o eventos atípicos.</a:t>
            </a:r>
            <a:endParaRPr lang="es-ES" sz="1400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1400" b="1" dirty="0" smtClean="0">
                <a:solidFill>
                  <a:schemeClr val="accent1">
                    <a:lumMod val="75000"/>
                  </a:schemeClr>
                </a:solidFill>
              </a:rPr>
              <a:t>Métrica </a:t>
            </a:r>
            <a:r>
              <a:rPr lang="es-ES" sz="1400" b="1" dirty="0">
                <a:solidFill>
                  <a:schemeClr val="accent1">
                    <a:lumMod val="75000"/>
                  </a:schemeClr>
                </a:solidFill>
              </a:rPr>
              <a:t>recomendada: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s-ES" sz="1400" b="1" dirty="0"/>
              <a:t>Mediana del Error Absoluto:</a:t>
            </a:r>
            <a:r>
              <a:rPr lang="es-ES" sz="1400" dirty="0"/>
              <a:t> Más robusta frente a </a:t>
            </a:r>
            <a:r>
              <a:rPr lang="es-ES" sz="1400" dirty="0" err="1" smtClean="0"/>
              <a:t>outliers</a:t>
            </a:r>
            <a:r>
              <a:rPr lang="es-ES" sz="1400" dirty="0" smtClean="0"/>
              <a:t>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s-ES" sz="1400" b="1" dirty="0" smtClean="0"/>
              <a:t>R^2</a:t>
            </a:r>
            <a:r>
              <a:rPr lang="es-ES" sz="1400" dirty="0" smtClean="0"/>
              <a:t> </a:t>
            </a:r>
            <a:r>
              <a:rPr lang="es-ES" sz="1400" dirty="0"/>
              <a:t>(Coeficiente de determinación): Mide qué tan bien el modelo explica la variabilidad de los datos</a:t>
            </a:r>
            <a:r>
              <a:rPr lang="es-ES" sz="1400" dirty="0" smtClean="0"/>
              <a:t>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s-ES" sz="1400" b="1" dirty="0" err="1"/>
              <a:t>Root</a:t>
            </a:r>
            <a:r>
              <a:rPr lang="es-ES" sz="1400" b="1" dirty="0"/>
              <a:t> Mean </a:t>
            </a:r>
            <a:r>
              <a:rPr lang="es-ES" sz="1400" b="1" dirty="0" err="1"/>
              <a:t>Squared</a:t>
            </a:r>
            <a:r>
              <a:rPr lang="es-ES" sz="1400" b="1" dirty="0"/>
              <a:t> Error (RMSE):</a:t>
            </a:r>
            <a:r>
              <a:rPr lang="es-ES" sz="1400" dirty="0"/>
              <a:t> Si el objetivo es penalizar más los errores grandes, aunque no es tan robusta frente a </a:t>
            </a:r>
            <a:r>
              <a:rPr lang="es-ES" sz="1400" dirty="0" err="1"/>
              <a:t>outliers</a:t>
            </a:r>
            <a:endParaRPr lang="es-ES" sz="1400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s-ES" sz="1400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s-ES" sz="1400" dirty="0"/>
          </a:p>
        </p:txBody>
      </p:sp>
    </p:spTree>
    <p:extLst>
      <p:ext uri="{BB962C8B-B14F-4D97-AF65-F5344CB8AC3E}">
        <p14:creationId xmlns:p14="http://schemas.microsoft.com/office/powerpoint/2010/main" val="152852072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3018</TotalTime>
  <Words>3962</Words>
  <Application>Microsoft Office PowerPoint</Application>
  <PresentationFormat>Panorámica</PresentationFormat>
  <Paragraphs>437</Paragraphs>
  <Slides>40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40</vt:i4>
      </vt:variant>
    </vt:vector>
  </HeadingPairs>
  <TitlesOfParts>
    <vt:vector size="50" baseType="lpstr">
      <vt:lpstr>Arial</vt:lpstr>
      <vt:lpstr>Calibri</vt:lpstr>
      <vt:lpstr>Calibri cuerpo</vt:lpstr>
      <vt:lpstr>Calibri Light</vt:lpstr>
      <vt:lpstr>Cambria Math</vt:lpstr>
      <vt:lpstr>Lucida Console</vt:lpstr>
      <vt:lpstr>Oxygen</vt:lpstr>
      <vt:lpstr>Symbol</vt:lpstr>
      <vt:lpstr>Times New Roman</vt:lpstr>
      <vt:lpstr>Tema de Office</vt:lpstr>
      <vt:lpstr>Presentación de PowerPoint</vt:lpstr>
      <vt:lpstr>Presentación de PowerPoint</vt:lpstr>
      <vt:lpstr>Medidas básicas de comparación de modelos</vt:lpstr>
      <vt:lpstr>¿Son suficientes las medidas de penalización (AIC,  AICC, BIC, Cp, etc. ?</vt:lpstr>
      <vt:lpstr>Presentación de PowerPoint</vt:lpstr>
      <vt:lpstr>Definición 2: Capacidad de generalización, eficacia predictiva: capacidad de un  modelo de predecir bien nuevos datos tomados de la misma población que los  datos training. Estos conceptos deben tenerse en cuenta paralelamente o por  encima, de los clásicos conceptos de ajuste.</vt:lpstr>
      <vt:lpstr>Métodos más habituales para medir o comparar la capacidad predictiva de  uno o varios modelos DISTINTOS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Conceptos básicos sobre optimización</vt:lpstr>
      <vt:lpstr>Es decir</vt:lpstr>
      <vt:lpstr>Presentación de PowerPoint</vt:lpstr>
      <vt:lpstr>Presentación de PowerPoint</vt:lpstr>
      <vt:lpstr>En ciertas versiones se introduce una constante α llamada weight decay o  momentum:</vt:lpstr>
      <vt:lpstr>Presentación de PowerPoint</vt:lpstr>
      <vt:lpstr>Ejemplo de los valores calculados para los parámetros de una red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HP Inc.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user</dc:creator>
  <cp:lastModifiedBy>user</cp:lastModifiedBy>
  <cp:revision>47</cp:revision>
  <dcterms:created xsi:type="dcterms:W3CDTF">2024-01-17T09:53:41Z</dcterms:created>
  <dcterms:modified xsi:type="dcterms:W3CDTF">2025-06-03T11:13:56Z</dcterms:modified>
</cp:coreProperties>
</file>