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2"/>
  </p:notesMasterIdLst>
  <p:sldIdLst>
    <p:sldId id="463" r:id="rId2"/>
    <p:sldId id="257" r:id="rId3"/>
    <p:sldId id="258" r:id="rId4"/>
    <p:sldId id="259" r:id="rId5"/>
    <p:sldId id="260" r:id="rId6"/>
    <p:sldId id="261" r:id="rId7"/>
    <p:sldId id="416" r:id="rId8"/>
    <p:sldId id="449" r:id="rId9"/>
    <p:sldId id="415" r:id="rId10"/>
    <p:sldId id="440" r:id="rId11"/>
    <p:sldId id="262" r:id="rId12"/>
    <p:sldId id="417" r:id="rId13"/>
    <p:sldId id="263" r:id="rId14"/>
    <p:sldId id="265" r:id="rId15"/>
    <p:sldId id="468" r:id="rId16"/>
    <p:sldId id="437" r:id="rId17"/>
    <p:sldId id="266" r:id="rId18"/>
    <p:sldId id="450" r:id="rId19"/>
    <p:sldId id="438" r:id="rId20"/>
    <p:sldId id="451" r:id="rId21"/>
    <p:sldId id="452" r:id="rId22"/>
    <p:sldId id="442" r:id="rId23"/>
    <p:sldId id="469" r:id="rId24"/>
    <p:sldId id="267" r:id="rId25"/>
    <p:sldId id="268" r:id="rId26"/>
    <p:sldId id="269" r:id="rId27"/>
    <p:sldId id="418" r:id="rId28"/>
    <p:sldId id="270" r:id="rId29"/>
    <p:sldId id="271" r:id="rId30"/>
    <p:sldId id="272" r:id="rId31"/>
    <p:sldId id="443" r:id="rId32"/>
    <p:sldId id="273" r:id="rId33"/>
    <p:sldId id="419" r:id="rId34"/>
    <p:sldId id="274" r:id="rId35"/>
    <p:sldId id="275" r:id="rId36"/>
    <p:sldId id="421" r:id="rId37"/>
    <p:sldId id="276" r:id="rId38"/>
    <p:sldId id="422" r:id="rId39"/>
    <p:sldId id="277" r:id="rId40"/>
    <p:sldId id="278" r:id="rId41"/>
    <p:sldId id="279" r:id="rId42"/>
    <p:sldId id="280" r:id="rId43"/>
    <p:sldId id="441" r:id="rId44"/>
    <p:sldId id="491" r:id="rId45"/>
    <p:sldId id="282" r:id="rId46"/>
    <p:sldId id="477" r:id="rId47"/>
    <p:sldId id="478" r:id="rId48"/>
    <p:sldId id="486" r:id="rId49"/>
    <p:sldId id="283" r:id="rId50"/>
    <p:sldId id="284" r:id="rId51"/>
    <p:sldId id="285" r:id="rId52"/>
    <p:sldId id="286" r:id="rId53"/>
    <p:sldId id="287" r:id="rId54"/>
    <p:sldId id="423" r:id="rId55"/>
    <p:sldId id="445" r:id="rId56"/>
    <p:sldId id="476" r:id="rId57"/>
    <p:sldId id="453" r:id="rId58"/>
    <p:sldId id="467" r:id="rId59"/>
    <p:sldId id="464" r:id="rId60"/>
    <p:sldId id="465" r:id="rId61"/>
    <p:sldId id="466" r:id="rId62"/>
    <p:sldId id="288" r:id="rId63"/>
    <p:sldId id="424" r:id="rId64"/>
    <p:sldId id="289" r:id="rId65"/>
    <p:sldId id="493" r:id="rId66"/>
    <p:sldId id="494" r:id="rId67"/>
    <p:sldId id="454" r:id="rId68"/>
    <p:sldId id="458" r:id="rId69"/>
    <p:sldId id="290" r:id="rId70"/>
    <p:sldId id="291" r:id="rId71"/>
    <p:sldId id="456" r:id="rId72"/>
    <p:sldId id="455" r:id="rId73"/>
    <p:sldId id="506" r:id="rId74"/>
    <p:sldId id="457" r:id="rId75"/>
    <p:sldId id="495" r:id="rId76"/>
    <p:sldId id="425" r:id="rId77"/>
    <p:sldId id="293" r:id="rId78"/>
    <p:sldId id="294" r:id="rId79"/>
    <p:sldId id="496" r:id="rId80"/>
    <p:sldId id="470" r:id="rId81"/>
    <p:sldId id="471" r:id="rId82"/>
    <p:sldId id="472" r:id="rId83"/>
    <p:sldId id="475" r:id="rId84"/>
    <p:sldId id="485" r:id="rId85"/>
    <p:sldId id="473" r:id="rId86"/>
    <p:sldId id="474" r:id="rId87"/>
    <p:sldId id="497" r:id="rId88"/>
    <p:sldId id="479" r:id="rId89"/>
    <p:sldId id="426" r:id="rId90"/>
    <p:sldId id="482" r:id="rId91"/>
    <p:sldId id="480" r:id="rId92"/>
    <p:sldId id="483" r:id="rId93"/>
    <p:sldId id="504" r:id="rId94"/>
    <p:sldId id="505" r:id="rId95"/>
    <p:sldId id="481" r:id="rId96"/>
    <p:sldId id="484" r:id="rId97"/>
    <p:sldId id="500" r:id="rId98"/>
    <p:sldId id="501" r:id="rId99"/>
    <p:sldId id="502" r:id="rId100"/>
    <p:sldId id="503" r:id="rId101"/>
    <p:sldId id="487" r:id="rId102"/>
    <p:sldId id="489" r:id="rId103"/>
    <p:sldId id="488" r:id="rId104"/>
    <p:sldId id="498" r:id="rId105"/>
    <p:sldId id="499" r:id="rId106"/>
    <p:sldId id="518" r:id="rId107"/>
    <p:sldId id="519" r:id="rId108"/>
    <p:sldId id="320" r:id="rId109"/>
    <p:sldId id="321" r:id="rId110"/>
    <p:sldId id="322" r:id="rId111"/>
    <p:sldId id="459" r:id="rId112"/>
    <p:sldId id="460" r:id="rId113"/>
    <p:sldId id="461" r:id="rId114"/>
    <p:sldId id="323" r:id="rId115"/>
    <p:sldId id="324" r:id="rId116"/>
    <p:sldId id="325" r:id="rId117"/>
    <p:sldId id="326" r:id="rId118"/>
    <p:sldId id="327" r:id="rId119"/>
    <p:sldId id="328" r:id="rId120"/>
    <p:sldId id="523" r:id="rId121"/>
    <p:sldId id="524" r:id="rId122"/>
    <p:sldId id="393" r:id="rId123"/>
    <p:sldId id="394" r:id="rId124"/>
    <p:sldId id="395" r:id="rId125"/>
    <p:sldId id="396" r:id="rId126"/>
    <p:sldId id="397" r:id="rId127"/>
    <p:sldId id="398" r:id="rId128"/>
    <p:sldId id="399" r:id="rId129"/>
    <p:sldId id="400" r:id="rId130"/>
    <p:sldId id="401" r:id="rId131"/>
    <p:sldId id="526" r:id="rId132"/>
    <p:sldId id="529" r:id="rId133"/>
    <p:sldId id="530" r:id="rId134"/>
    <p:sldId id="531" r:id="rId135"/>
    <p:sldId id="413" r:id="rId136"/>
    <p:sldId id="508" r:id="rId137"/>
    <p:sldId id="509" r:id="rId138"/>
    <p:sldId id="510" r:id="rId139"/>
    <p:sldId id="511" r:id="rId140"/>
    <p:sldId id="512" r:id="rId141"/>
    <p:sldId id="513" r:id="rId142"/>
    <p:sldId id="514" r:id="rId143"/>
    <p:sldId id="515" r:id="rId144"/>
    <p:sldId id="516" r:id="rId145"/>
    <p:sldId id="517" r:id="rId146"/>
    <p:sldId id="521" r:id="rId147"/>
    <p:sldId id="520" r:id="rId148"/>
    <p:sldId id="528" r:id="rId149"/>
    <p:sldId id="522" r:id="rId150"/>
    <p:sldId id="439" r:id="rId151"/>
  </p:sldIdLst>
  <p:sldSz cx="10693400" cy="7562850"/>
  <p:notesSz cx="10693400" cy="756285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A05B440F-D724-4FE6-BA01-E6C3FC4D6236}">
          <p14:sldIdLst>
            <p14:sldId id="463"/>
            <p14:sldId id="257"/>
            <p14:sldId id="258"/>
            <p14:sldId id="259"/>
            <p14:sldId id="260"/>
            <p14:sldId id="261"/>
            <p14:sldId id="416"/>
            <p14:sldId id="449"/>
            <p14:sldId id="415"/>
            <p14:sldId id="440"/>
            <p14:sldId id="262"/>
            <p14:sldId id="417"/>
            <p14:sldId id="263"/>
            <p14:sldId id="265"/>
            <p14:sldId id="468"/>
            <p14:sldId id="437"/>
            <p14:sldId id="266"/>
            <p14:sldId id="450"/>
            <p14:sldId id="438"/>
            <p14:sldId id="451"/>
            <p14:sldId id="452"/>
            <p14:sldId id="442"/>
            <p14:sldId id="469"/>
            <p14:sldId id="267"/>
            <p14:sldId id="268"/>
            <p14:sldId id="269"/>
            <p14:sldId id="418"/>
            <p14:sldId id="270"/>
            <p14:sldId id="271"/>
            <p14:sldId id="272"/>
            <p14:sldId id="443"/>
            <p14:sldId id="273"/>
            <p14:sldId id="419"/>
            <p14:sldId id="274"/>
            <p14:sldId id="275"/>
            <p14:sldId id="421"/>
            <p14:sldId id="276"/>
            <p14:sldId id="422"/>
            <p14:sldId id="277"/>
            <p14:sldId id="278"/>
            <p14:sldId id="279"/>
            <p14:sldId id="280"/>
            <p14:sldId id="441"/>
            <p14:sldId id="491"/>
            <p14:sldId id="282"/>
            <p14:sldId id="477"/>
            <p14:sldId id="478"/>
            <p14:sldId id="486"/>
            <p14:sldId id="283"/>
            <p14:sldId id="284"/>
            <p14:sldId id="285"/>
            <p14:sldId id="286"/>
            <p14:sldId id="287"/>
            <p14:sldId id="423"/>
            <p14:sldId id="445"/>
            <p14:sldId id="476"/>
            <p14:sldId id="453"/>
            <p14:sldId id="467"/>
            <p14:sldId id="464"/>
            <p14:sldId id="465"/>
            <p14:sldId id="466"/>
            <p14:sldId id="288"/>
            <p14:sldId id="424"/>
            <p14:sldId id="289"/>
            <p14:sldId id="493"/>
            <p14:sldId id="494"/>
            <p14:sldId id="454"/>
            <p14:sldId id="458"/>
            <p14:sldId id="290"/>
            <p14:sldId id="291"/>
            <p14:sldId id="456"/>
            <p14:sldId id="455"/>
            <p14:sldId id="506"/>
            <p14:sldId id="457"/>
            <p14:sldId id="495"/>
            <p14:sldId id="425"/>
            <p14:sldId id="293"/>
            <p14:sldId id="294"/>
            <p14:sldId id="496"/>
            <p14:sldId id="470"/>
            <p14:sldId id="471"/>
            <p14:sldId id="472"/>
            <p14:sldId id="475"/>
            <p14:sldId id="485"/>
            <p14:sldId id="473"/>
            <p14:sldId id="474"/>
            <p14:sldId id="497"/>
            <p14:sldId id="479"/>
            <p14:sldId id="426"/>
            <p14:sldId id="482"/>
            <p14:sldId id="480"/>
            <p14:sldId id="483"/>
            <p14:sldId id="504"/>
            <p14:sldId id="505"/>
            <p14:sldId id="481"/>
            <p14:sldId id="484"/>
            <p14:sldId id="500"/>
            <p14:sldId id="501"/>
            <p14:sldId id="502"/>
            <p14:sldId id="503"/>
            <p14:sldId id="487"/>
            <p14:sldId id="489"/>
            <p14:sldId id="488"/>
            <p14:sldId id="498"/>
            <p14:sldId id="499"/>
            <p14:sldId id="518"/>
            <p14:sldId id="519"/>
            <p14:sldId id="320"/>
            <p14:sldId id="321"/>
            <p14:sldId id="322"/>
            <p14:sldId id="459"/>
            <p14:sldId id="460"/>
            <p14:sldId id="461"/>
            <p14:sldId id="323"/>
            <p14:sldId id="324"/>
            <p14:sldId id="325"/>
            <p14:sldId id="326"/>
            <p14:sldId id="327"/>
            <p14:sldId id="328"/>
            <p14:sldId id="523"/>
            <p14:sldId id="524"/>
            <p14:sldId id="393"/>
            <p14:sldId id="394"/>
            <p14:sldId id="395"/>
            <p14:sldId id="396"/>
            <p14:sldId id="397"/>
            <p14:sldId id="398"/>
            <p14:sldId id="399"/>
            <p14:sldId id="400"/>
            <p14:sldId id="401"/>
            <p14:sldId id="526"/>
            <p14:sldId id="529"/>
            <p14:sldId id="530"/>
            <p14:sldId id="531"/>
            <p14:sldId id="413"/>
            <p14:sldId id="508"/>
            <p14:sldId id="509"/>
            <p14:sldId id="510"/>
            <p14:sldId id="511"/>
            <p14:sldId id="512"/>
            <p14:sldId id="513"/>
            <p14:sldId id="514"/>
            <p14:sldId id="515"/>
          </p14:sldIdLst>
        </p14:section>
        <p14:section name="Sección sin título" id="{EC70FCD3-9F11-4039-836F-42D3E56CFE4C}">
          <p14:sldIdLst>
            <p14:sldId id="516"/>
            <p14:sldId id="517"/>
            <p14:sldId id="521"/>
            <p14:sldId id="520"/>
            <p14:sldId id="528"/>
            <p14:sldId id="522"/>
            <p14:sldId id="43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uenta Microsoft" initials="CM" lastIdx="1" clrIdx="0">
    <p:extLst>
      <p:ext uri="{19B8F6BF-5375-455C-9EA6-DF929625EA0E}">
        <p15:presenceInfo xmlns:p15="http://schemas.microsoft.com/office/powerpoint/2012/main" userId="da181b5614e063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2DC1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03" autoAdjust="0"/>
  </p:normalViewPr>
  <p:slideViewPr>
    <p:cSldViewPr>
      <p:cViewPr varScale="1">
        <p:scale>
          <a:sx n="57" d="100"/>
          <a:sy n="57" d="100"/>
        </p:scale>
        <p:origin x="127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12-23T16:01:55.294" idx="1">
    <p:pos x="10" y="10"/>
    <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6B96ED33-6AF4-4F77-B2EC-66F6270B5EDE}" type="datetimeFigureOut">
              <a:rPr lang="es-ES" smtClean="0"/>
              <a:t>03/06/2025</a:t>
            </a:fld>
            <a:endParaRPr lang="es-ES"/>
          </a:p>
        </p:txBody>
      </p:sp>
      <p:sp>
        <p:nvSpPr>
          <p:cNvPr id="4" name="Marcador de imagen de diapositiva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Marcador de pie de página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97078776-2745-45CE-B06C-CD9093BAEA2A}" type="slidenum">
              <a:rPr lang="es-ES" smtClean="0"/>
              <a:t>‹Nº›</a:t>
            </a:fld>
            <a:endParaRPr lang="es-ES"/>
          </a:p>
        </p:txBody>
      </p:sp>
    </p:spTree>
    <p:extLst>
      <p:ext uri="{BB962C8B-B14F-4D97-AF65-F5344CB8AC3E}">
        <p14:creationId xmlns:p14="http://schemas.microsoft.com/office/powerpoint/2010/main" val="583999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7078776-2745-45CE-B06C-CD9093BAEA2A}" type="slidenum">
              <a:rPr lang="es-ES" smtClean="0"/>
              <a:t>4</a:t>
            </a:fld>
            <a:endParaRPr lang="es-ES"/>
          </a:p>
        </p:txBody>
      </p:sp>
    </p:spTree>
    <p:extLst>
      <p:ext uri="{BB962C8B-B14F-4D97-AF65-F5344CB8AC3E}">
        <p14:creationId xmlns:p14="http://schemas.microsoft.com/office/powerpoint/2010/main" val="4047722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7078776-2745-45CE-B06C-CD9093BAEA2A}" type="slidenum">
              <a:rPr lang="es-ES" smtClean="0"/>
              <a:t>11</a:t>
            </a:fld>
            <a:endParaRPr lang="es-ES"/>
          </a:p>
        </p:txBody>
      </p:sp>
    </p:spTree>
    <p:extLst>
      <p:ext uri="{BB962C8B-B14F-4D97-AF65-F5344CB8AC3E}">
        <p14:creationId xmlns:p14="http://schemas.microsoft.com/office/powerpoint/2010/main" val="4231777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7078776-2745-45CE-B06C-CD9093BAEA2A}" type="slidenum">
              <a:rPr lang="es-ES" smtClean="0"/>
              <a:t>12</a:t>
            </a:fld>
            <a:endParaRPr lang="es-ES"/>
          </a:p>
        </p:txBody>
      </p:sp>
    </p:spTree>
    <p:extLst>
      <p:ext uri="{BB962C8B-B14F-4D97-AF65-F5344CB8AC3E}">
        <p14:creationId xmlns:p14="http://schemas.microsoft.com/office/powerpoint/2010/main" val="1406230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97078776-2745-45CE-B06C-CD9093BAEA2A}" type="slidenum">
              <a:rPr lang="es-ES" smtClean="0"/>
              <a:t>27</a:t>
            </a:fld>
            <a:endParaRPr lang="es-ES"/>
          </a:p>
        </p:txBody>
      </p:sp>
    </p:spTree>
    <p:extLst>
      <p:ext uri="{BB962C8B-B14F-4D97-AF65-F5344CB8AC3E}">
        <p14:creationId xmlns:p14="http://schemas.microsoft.com/office/powerpoint/2010/main" val="1525801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97078776-2745-45CE-B06C-CD9093BAEA2A}" type="slidenum">
              <a:rPr lang="es-ES" smtClean="0"/>
              <a:t>47</a:t>
            </a:fld>
            <a:endParaRPr lang="es-ES"/>
          </a:p>
        </p:txBody>
      </p:sp>
    </p:spTree>
    <p:extLst>
      <p:ext uri="{BB962C8B-B14F-4D97-AF65-F5344CB8AC3E}">
        <p14:creationId xmlns:p14="http://schemas.microsoft.com/office/powerpoint/2010/main" val="2116476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97078776-2745-45CE-B06C-CD9093BAEA2A}" type="slidenum">
              <a:rPr lang="es-ES" smtClean="0"/>
              <a:t>48</a:t>
            </a:fld>
            <a:endParaRPr lang="es-ES"/>
          </a:p>
        </p:txBody>
      </p:sp>
    </p:spTree>
    <p:extLst>
      <p:ext uri="{BB962C8B-B14F-4D97-AF65-F5344CB8AC3E}">
        <p14:creationId xmlns:p14="http://schemas.microsoft.com/office/powerpoint/2010/main" val="77318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7078776-2745-45CE-B06C-CD9093BAEA2A}" type="slidenum">
              <a:rPr lang="es-ES" smtClean="0"/>
              <a:t>140</a:t>
            </a:fld>
            <a:endParaRPr lang="es-ES"/>
          </a:p>
        </p:txBody>
      </p:sp>
    </p:spTree>
    <p:extLst>
      <p:ext uri="{BB962C8B-B14F-4D97-AF65-F5344CB8AC3E}">
        <p14:creationId xmlns:p14="http://schemas.microsoft.com/office/powerpoint/2010/main" val="2461801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587242" y="1016254"/>
            <a:ext cx="3518915" cy="574040"/>
          </a:xfrm>
          <a:prstGeom prst="rect">
            <a:avLst/>
          </a:prstGeom>
        </p:spPr>
        <p:txBody>
          <a:bodyPr wrap="square" lIns="0" tIns="0" rIns="0" bIns="0">
            <a:spAutoFit/>
          </a:bodyPr>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rgbClr val="FF000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imes New Roman"/>
                <a:cs typeface="Times New Roman"/>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6963" y="314959"/>
            <a:ext cx="9999472" cy="1626235"/>
          </a:xfrm>
          <a:prstGeom prst="rect">
            <a:avLst/>
          </a:prstGeom>
        </p:spPr>
        <p:txBody>
          <a:bodyPr wrap="square" lIns="0" tIns="0" rIns="0" bIns="0">
            <a:spAutoFit/>
          </a:bodyPr>
          <a:lstStyle>
            <a:lvl1pPr>
              <a:defRPr sz="2400" b="0" i="0">
                <a:solidFill>
                  <a:srgbClr val="FF0000"/>
                </a:solidFill>
                <a:latin typeface="Times New Roman"/>
                <a:cs typeface="Times New Roman"/>
              </a:defRPr>
            </a:lvl1pPr>
          </a:lstStyle>
          <a:p>
            <a:endParaRPr/>
          </a:p>
        </p:txBody>
      </p:sp>
      <p:sp>
        <p:nvSpPr>
          <p:cNvPr id="3" name="Holder 3"/>
          <p:cNvSpPr>
            <a:spLocks noGrp="1"/>
          </p:cNvSpPr>
          <p:nvPr>
            <p:ph type="body" idx="1"/>
          </p:nvPr>
        </p:nvSpPr>
        <p:spPr>
          <a:xfrm>
            <a:off x="346963" y="3480942"/>
            <a:ext cx="9662795" cy="2668270"/>
          </a:xfrm>
          <a:prstGeom prst="rect">
            <a:avLst/>
          </a:prstGeom>
        </p:spPr>
        <p:txBody>
          <a:bodyPr wrap="square" lIns="0" tIns="0" rIns="0" bIns="0">
            <a:spAutoFit/>
          </a:bodyPr>
          <a:lstStyle>
            <a:lvl1pPr>
              <a:defRPr sz="2000" b="0" i="0">
                <a:solidFill>
                  <a:srgbClr val="FF0000"/>
                </a:solidFill>
                <a:latin typeface="Times New Roman"/>
                <a:cs typeface="Times New Roman"/>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6/3/2025</a:t>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s://www.i-am.ai/neural-numbers.html" TargetMode="External"/><Relationship Id="rId2" Type="http://schemas.openxmlformats.org/officeDocument/2006/relationships/hyperlink" Target="https://playground.tensorflow.org/" TargetMode="External"/><Relationship Id="rId1" Type="http://schemas.openxmlformats.org/officeDocument/2006/relationships/slideLayout" Target="../slideLayouts/slideLayout4.xml"/><Relationship Id="rId6" Type="http://schemas.openxmlformats.org/officeDocument/2006/relationships/hyperlink" Target="http://places2.csail.mit.edu/" TargetMode="External"/><Relationship Id="rId5" Type="http://schemas.openxmlformats.org/officeDocument/2006/relationships/hyperlink" Target="https://modeldepot.github.io/tfjs-yolo-tiny-demo/" TargetMode="External"/><Relationship Id="rId4" Type="http://schemas.openxmlformats.org/officeDocument/2006/relationships/hyperlink" Target="https://www.i-am.ai/piano-genie.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3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8.jpg"/><Relationship Id="rId1" Type="http://schemas.openxmlformats.org/officeDocument/2006/relationships/slideLayout" Target="../slideLayouts/slideLayout5.xml"/><Relationship Id="rId5" Type="http://schemas.openxmlformats.org/officeDocument/2006/relationships/image" Target="../media/image47.png"/><Relationship Id="rId4" Type="http://schemas.openxmlformats.org/officeDocument/2006/relationships/image" Target="../media/image46.png"/></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8" Type="http://schemas.openxmlformats.org/officeDocument/2006/relationships/hyperlink" Target="https://scikit-learn.org/stable/modules/generated/sklearn.neural_network.MLPClassifier.html#sklearn.neural_network.MLPClassifier.predict_proba" TargetMode="External"/><Relationship Id="rId3" Type="http://schemas.openxmlformats.org/officeDocument/2006/relationships/hyperlink" Target="https://scikit-learn.org/stable/modules/generated/sklearn.neural_network.MLPClassifier.html#sklearn.neural_network.MLPClassifier.get_metadata_routing" TargetMode="External"/><Relationship Id="rId7" Type="http://schemas.openxmlformats.org/officeDocument/2006/relationships/hyperlink" Target="https://scikit-learn.org/stable/modules/generated/sklearn.neural_network.MLPClassifier.html#sklearn.neural_network.MLPClassifier.predict_log_proba" TargetMode="External"/><Relationship Id="rId12" Type="http://schemas.openxmlformats.org/officeDocument/2006/relationships/hyperlink" Target="https://scikit-learn.org/stable/modules/generated/sklearn.neural_network.MLPClassifier.html#sklearn.neural_network.MLPClassifier.set_score_request" TargetMode="External"/><Relationship Id="rId2" Type="http://schemas.openxmlformats.org/officeDocument/2006/relationships/hyperlink" Target="https://scikit-learn.org/stable/modules/generated/sklearn.neural_network.MLPClassifier.html#sklearn.neural_network.MLPClassifier.fit" TargetMode="External"/><Relationship Id="rId1" Type="http://schemas.openxmlformats.org/officeDocument/2006/relationships/slideLayout" Target="../slideLayouts/slideLayout2.xml"/><Relationship Id="rId6" Type="http://schemas.openxmlformats.org/officeDocument/2006/relationships/hyperlink" Target="https://scikit-learn.org/stable/modules/generated/sklearn.neural_network.MLPClassifier.html#sklearn.neural_network.MLPClassifier.predict" TargetMode="External"/><Relationship Id="rId11" Type="http://schemas.openxmlformats.org/officeDocument/2006/relationships/hyperlink" Target="https://scikit-learn.org/stable/modules/generated/sklearn.neural_network.MLPClassifier.html#sklearn.neural_network.MLPClassifier.set_partial_fit_request" TargetMode="External"/><Relationship Id="rId5" Type="http://schemas.openxmlformats.org/officeDocument/2006/relationships/hyperlink" Target="https://scikit-learn.org/stable/modules/generated/sklearn.neural_network.MLPClassifier.html#sklearn.neural_network.MLPClassifier.partial_fit" TargetMode="External"/><Relationship Id="rId10" Type="http://schemas.openxmlformats.org/officeDocument/2006/relationships/hyperlink" Target="https://scikit-learn.org/stable/modules/generated/sklearn.neural_network.MLPClassifier.html#sklearn.neural_network.MLPClassifier.set_params" TargetMode="External"/><Relationship Id="rId4" Type="http://schemas.openxmlformats.org/officeDocument/2006/relationships/hyperlink" Target="https://scikit-learn.org/stable/modules/generated/sklearn.neural_network.MLPClassifier.html#sklearn.neural_network.MLPClassifier.get_params" TargetMode="External"/><Relationship Id="rId9" Type="http://schemas.openxmlformats.org/officeDocument/2006/relationships/hyperlink" Target="https://scikit-learn.org/stable/modules/generated/sklearn.neural_network.MLPClassifier.html#sklearn.neural_network.MLPClassifier.score" TargetMode="Externa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833" y="0"/>
            <a:ext cx="11307233" cy="756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hape 49">
            <a:extLst>
              <a:ext uri="{FF2B5EF4-FFF2-40B4-BE49-F238E27FC236}">
                <a16:creationId xmlns="" xmlns:a16="http://schemas.microsoft.com/office/drawing/2014/main" id="{24A6ABCE-206C-4C33-940C-027B2CD6E148}"/>
              </a:ext>
            </a:extLst>
          </p:cNvPr>
          <p:cNvSpPr txBox="1">
            <a:spLocks/>
          </p:cNvSpPr>
          <p:nvPr/>
        </p:nvSpPr>
        <p:spPr bwMode="auto">
          <a:xfrm>
            <a:off x="1814638" y="3295487"/>
            <a:ext cx="5455812"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3508" kern="0" dirty="0">
                <a:solidFill>
                  <a:srgbClr val="0972CB"/>
                </a:solidFill>
                <a:latin typeface="Oxygen"/>
                <a:ea typeface="Oxygen"/>
                <a:cs typeface="Oxygen"/>
                <a:sym typeface="Oxygen"/>
              </a:rPr>
              <a:t>Machine </a:t>
            </a:r>
            <a:r>
              <a:rPr lang="es-ES" altLang="es-ES" sz="3508" kern="0" dirty="0" err="1">
                <a:solidFill>
                  <a:srgbClr val="0972CB"/>
                </a:solidFill>
                <a:latin typeface="Oxygen"/>
                <a:ea typeface="Oxygen"/>
                <a:cs typeface="Oxygen"/>
                <a:sym typeface="Oxygen"/>
              </a:rPr>
              <a:t>Learning</a:t>
            </a:r>
            <a:endParaRPr lang="es-ES" altLang="es-ES" sz="3508" kern="0" dirty="0">
              <a:solidFill>
                <a:srgbClr val="0972CB"/>
              </a:solidFill>
              <a:latin typeface="Oxygen"/>
              <a:ea typeface="Oxygen"/>
              <a:cs typeface="Oxygen"/>
              <a:sym typeface="Oxygen"/>
            </a:endParaRPr>
          </a:p>
          <a:p>
            <a:pPr marL="300758" indent="-133670" eaLnBrk="1" hangingPunct="1">
              <a:spcBef>
                <a:spcPct val="0"/>
              </a:spcBef>
              <a:buClr>
                <a:srgbClr val="000000"/>
              </a:buClr>
              <a:defRPr/>
            </a:pPr>
            <a:r>
              <a:rPr lang="es-ES" altLang="es-ES" sz="3508" kern="0" dirty="0" smtClean="0">
                <a:solidFill>
                  <a:srgbClr val="0972CB"/>
                </a:solidFill>
                <a:latin typeface="Oxygen"/>
                <a:ea typeface="Oxygen"/>
                <a:cs typeface="Oxygen"/>
                <a:sym typeface="Oxygen"/>
              </a:rPr>
              <a:t>Redes Neuronales</a:t>
            </a:r>
            <a:endParaRPr lang="es-ES" altLang="es-ES" sz="3508" kern="0" dirty="0">
              <a:solidFill>
                <a:srgbClr val="0972CB"/>
              </a:solidFill>
              <a:latin typeface="Oxygen"/>
              <a:ea typeface="Oxygen"/>
              <a:cs typeface="Oxygen"/>
              <a:sym typeface="Oxygen"/>
            </a:endParaRPr>
          </a:p>
        </p:txBody>
      </p:sp>
      <p:sp>
        <p:nvSpPr>
          <p:cNvPr id="6" name="Shape 49">
            <a:extLst>
              <a:ext uri="{FF2B5EF4-FFF2-40B4-BE49-F238E27FC236}">
                <a16:creationId xmlns="" xmlns:a16="http://schemas.microsoft.com/office/drawing/2014/main" id="{3B39229B-4789-4E5F-A863-803DF35813F8}"/>
              </a:ext>
            </a:extLst>
          </p:cNvPr>
          <p:cNvSpPr txBox="1">
            <a:spLocks/>
          </p:cNvSpPr>
          <p:nvPr/>
        </p:nvSpPr>
        <p:spPr bwMode="auto">
          <a:xfrm>
            <a:off x="3027140" y="5126330"/>
            <a:ext cx="3327866"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1403" kern="0" dirty="0">
                <a:solidFill>
                  <a:srgbClr val="0972CB"/>
                </a:solidFill>
                <a:latin typeface="Oxygen"/>
                <a:ea typeface="Oxygen"/>
                <a:cs typeface="Oxygen"/>
                <a:sym typeface="Oxygen"/>
              </a:rPr>
              <a:t>Inmaculada Gutiérrez García-Pardo</a:t>
            </a:r>
          </a:p>
        </p:txBody>
      </p:sp>
      <p:pic>
        <p:nvPicPr>
          <p:cNvPr id="7"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4645" y="1246805"/>
            <a:ext cx="2884990" cy="10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741" y="1134024"/>
            <a:ext cx="1294904" cy="129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67576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8100" y="1038225"/>
            <a:ext cx="4633340" cy="566822"/>
          </a:xfrm>
          <a:prstGeom prst="rect">
            <a:avLst/>
          </a:prstGeom>
        </p:spPr>
        <p:txBody>
          <a:bodyPr vert="horz" wrap="square" lIns="0" tIns="12700" rIns="0" bIns="0" rtlCol="0">
            <a:spAutoFit/>
          </a:bodyPr>
          <a:lstStyle/>
          <a:p>
            <a:pPr marL="12700">
              <a:lnSpc>
                <a:spcPct val="100000"/>
              </a:lnSpc>
              <a:spcBef>
                <a:spcPts val="100"/>
              </a:spcBef>
            </a:pPr>
            <a:r>
              <a:rPr lang="es-ES" sz="3600" b="1" spc="-5" dirty="0" smtClean="0">
                <a:solidFill>
                  <a:srgbClr val="538DD3"/>
                </a:solidFill>
                <a:latin typeface="Times New Roman"/>
                <a:cs typeface="Times New Roman"/>
              </a:rPr>
              <a:t>1. </a:t>
            </a:r>
            <a:r>
              <a:rPr sz="3600" b="1" spc="-5" dirty="0" err="1" smtClean="0">
                <a:solidFill>
                  <a:srgbClr val="538DD3"/>
                </a:solidFill>
                <a:latin typeface="Times New Roman"/>
                <a:cs typeface="Times New Roman"/>
              </a:rPr>
              <a:t>Introducc</a:t>
            </a:r>
            <a:r>
              <a:rPr sz="3600" b="1" spc="-15" dirty="0" err="1" smtClean="0">
                <a:solidFill>
                  <a:srgbClr val="538DD3"/>
                </a:solidFill>
                <a:latin typeface="Times New Roman"/>
                <a:cs typeface="Times New Roman"/>
              </a:rPr>
              <a:t>i</a:t>
            </a:r>
            <a:r>
              <a:rPr sz="3600" b="1" dirty="0" err="1" smtClean="0">
                <a:solidFill>
                  <a:srgbClr val="538DD3"/>
                </a:solidFill>
                <a:latin typeface="Times New Roman"/>
                <a:cs typeface="Times New Roman"/>
              </a:rPr>
              <a:t>ón</a:t>
            </a:r>
            <a:endParaRPr sz="3600" dirty="0">
              <a:latin typeface="Times New Roman"/>
              <a:cs typeface="Times New Roman"/>
            </a:endParaRPr>
          </a:p>
        </p:txBody>
      </p:sp>
      <p:sp>
        <p:nvSpPr>
          <p:cNvPr id="3" name="Rectángulo 2"/>
          <p:cNvSpPr/>
          <p:nvPr/>
        </p:nvSpPr>
        <p:spPr>
          <a:xfrm>
            <a:off x="1288142" y="2105025"/>
            <a:ext cx="8630557" cy="1338828"/>
          </a:xfrm>
          <a:prstGeom prst="rect">
            <a:avLst/>
          </a:prstGeom>
        </p:spPr>
        <p:txBody>
          <a:bodyPr wrap="square">
            <a:spAutoFit/>
          </a:bodyPr>
          <a:lstStyle/>
          <a:p>
            <a:pPr>
              <a:lnSpc>
                <a:spcPct val="150000"/>
              </a:lnSpc>
            </a:pPr>
            <a:r>
              <a:rPr lang="es-ES" dirty="0" smtClean="0">
                <a:solidFill>
                  <a:srgbClr val="374151"/>
                </a:solidFill>
                <a:latin typeface="+mj-lt"/>
              </a:rPr>
              <a:t>En esta sección se presentarán el origen y definición </a:t>
            </a:r>
            <a:r>
              <a:rPr lang="es-ES" dirty="0">
                <a:solidFill>
                  <a:srgbClr val="374151"/>
                </a:solidFill>
                <a:latin typeface="+mj-lt"/>
              </a:rPr>
              <a:t>de </a:t>
            </a:r>
            <a:r>
              <a:rPr lang="es-ES" dirty="0" smtClean="0">
                <a:solidFill>
                  <a:srgbClr val="374151"/>
                </a:solidFill>
                <a:latin typeface="+mj-lt"/>
              </a:rPr>
              <a:t>las redes </a:t>
            </a:r>
            <a:r>
              <a:rPr lang="es-ES" dirty="0">
                <a:solidFill>
                  <a:srgbClr val="374151"/>
                </a:solidFill>
                <a:latin typeface="+mj-lt"/>
              </a:rPr>
              <a:t>n</a:t>
            </a:r>
            <a:r>
              <a:rPr lang="es-ES" dirty="0" smtClean="0">
                <a:solidFill>
                  <a:srgbClr val="374151"/>
                </a:solidFill>
                <a:latin typeface="+mj-lt"/>
              </a:rPr>
              <a:t>euronales artificiales (</a:t>
            </a:r>
            <a:r>
              <a:rPr lang="es-ES" i="1" dirty="0" smtClean="0">
                <a:solidFill>
                  <a:srgbClr val="374151"/>
                </a:solidFill>
                <a:latin typeface="+mj-lt"/>
              </a:rPr>
              <a:t>Neural Networks NN</a:t>
            </a:r>
            <a:r>
              <a:rPr lang="es-ES" dirty="0" smtClean="0">
                <a:solidFill>
                  <a:srgbClr val="374151"/>
                </a:solidFill>
                <a:latin typeface="+mj-lt"/>
              </a:rPr>
              <a:t>), su estructura más básica y aplicación en distintos sectores</a:t>
            </a:r>
          </a:p>
          <a:p>
            <a:pPr marL="285750" indent="-285750">
              <a:lnSpc>
                <a:spcPct val="150000"/>
              </a:lnSpc>
              <a:buFont typeface="Arial" panose="020B0604020202020204" pitchFamily="34" charset="0"/>
              <a:buChar char="•"/>
            </a:pPr>
            <a:endParaRPr lang="es-ES" dirty="0" smtClean="0">
              <a:solidFill>
                <a:srgbClr val="374151"/>
              </a:solidFill>
              <a:latin typeface="+mj-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6117" y="490473"/>
            <a:ext cx="4737735"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538DD3"/>
                </a:solidFill>
                <a:latin typeface="Times New Roman"/>
                <a:cs typeface="Times New Roman"/>
              </a:rPr>
              <a:t>Imagen</a:t>
            </a:r>
            <a:r>
              <a:rPr sz="3600" b="1" spc="-30" dirty="0">
                <a:solidFill>
                  <a:srgbClr val="538DD3"/>
                </a:solidFill>
                <a:latin typeface="Times New Roman"/>
                <a:cs typeface="Times New Roman"/>
              </a:rPr>
              <a:t> </a:t>
            </a:r>
            <a:r>
              <a:rPr sz="3600" b="1" spc="-5" dirty="0">
                <a:solidFill>
                  <a:srgbClr val="538DD3"/>
                </a:solidFill>
                <a:latin typeface="Times New Roman"/>
                <a:cs typeface="Times New Roman"/>
              </a:rPr>
              <a:t>de</a:t>
            </a:r>
            <a:r>
              <a:rPr sz="3600" b="1" spc="-30" dirty="0">
                <a:solidFill>
                  <a:srgbClr val="538DD3"/>
                </a:solidFill>
                <a:latin typeface="Times New Roman"/>
                <a:cs typeface="Times New Roman"/>
              </a:rPr>
              <a:t> </a:t>
            </a:r>
            <a:r>
              <a:rPr sz="3600" b="1" spc="-5" dirty="0">
                <a:solidFill>
                  <a:srgbClr val="538DD3"/>
                </a:solidFill>
                <a:latin typeface="Times New Roman"/>
                <a:cs typeface="Times New Roman"/>
              </a:rPr>
              <a:t>una</a:t>
            </a:r>
            <a:r>
              <a:rPr sz="3600" b="1" spc="-30" dirty="0">
                <a:solidFill>
                  <a:srgbClr val="538DD3"/>
                </a:solidFill>
                <a:latin typeface="Times New Roman"/>
                <a:cs typeface="Times New Roman"/>
              </a:rPr>
              <a:t> </a:t>
            </a:r>
            <a:r>
              <a:rPr sz="3600" b="1" dirty="0">
                <a:solidFill>
                  <a:srgbClr val="538DD3"/>
                </a:solidFill>
                <a:latin typeface="Times New Roman"/>
                <a:cs typeface="Times New Roman"/>
              </a:rPr>
              <a:t>Neurona</a:t>
            </a:r>
            <a:endParaRPr sz="3600" dirty="0">
              <a:latin typeface="Times New Roman"/>
              <a:cs typeface="Times New Roman"/>
            </a:endParaRPr>
          </a:p>
        </p:txBody>
      </p:sp>
      <p:sp>
        <p:nvSpPr>
          <p:cNvPr id="4" name="object 4"/>
          <p:cNvSpPr txBox="1"/>
          <p:nvPr/>
        </p:nvSpPr>
        <p:spPr>
          <a:xfrm>
            <a:off x="622300" y="1190625"/>
            <a:ext cx="9677400" cy="5491247"/>
          </a:xfrm>
          <a:prstGeom prst="rect">
            <a:avLst/>
          </a:prstGeom>
        </p:spPr>
        <p:txBody>
          <a:bodyPr vert="horz" wrap="square" lIns="0" tIns="12700" rIns="0" bIns="0" rtlCol="0">
            <a:spAutoFit/>
          </a:bodyPr>
          <a:lstStyle/>
          <a:p>
            <a:pPr marL="80010" marR="527050" algn="just">
              <a:lnSpc>
                <a:spcPct val="100000"/>
              </a:lnSpc>
              <a:spcBef>
                <a:spcPts val="100"/>
              </a:spcBef>
            </a:pPr>
            <a:r>
              <a:rPr sz="1800" spc="30" dirty="0">
                <a:latin typeface="Calibri"/>
                <a:cs typeface="Calibri"/>
              </a:rPr>
              <a:t>Las</a:t>
            </a:r>
            <a:r>
              <a:rPr sz="1800" spc="35" dirty="0">
                <a:latin typeface="Calibri"/>
                <a:cs typeface="Calibri"/>
              </a:rPr>
              <a:t> </a:t>
            </a:r>
            <a:r>
              <a:rPr sz="1800" spc="-35" dirty="0">
                <a:latin typeface="Calibri"/>
                <a:cs typeface="Calibri"/>
              </a:rPr>
              <a:t>Redes</a:t>
            </a:r>
            <a:r>
              <a:rPr sz="1800" spc="-30" dirty="0">
                <a:latin typeface="Calibri"/>
                <a:cs typeface="Calibri"/>
              </a:rPr>
              <a:t> </a:t>
            </a:r>
            <a:r>
              <a:rPr sz="1800" spc="-15" dirty="0" err="1">
                <a:latin typeface="Calibri"/>
                <a:cs typeface="Calibri"/>
              </a:rPr>
              <a:t>Neuronales</a:t>
            </a:r>
            <a:r>
              <a:rPr sz="1800" spc="-10" dirty="0">
                <a:latin typeface="Calibri"/>
                <a:cs typeface="Calibri"/>
              </a:rPr>
              <a:t> </a:t>
            </a:r>
            <a:r>
              <a:rPr lang="es-ES" sz="1800" spc="-10" dirty="0" smtClean="0">
                <a:latin typeface="Calibri"/>
                <a:cs typeface="Calibri"/>
              </a:rPr>
              <a:t>(</a:t>
            </a:r>
            <a:r>
              <a:rPr lang="es-ES" sz="1800" b="1" i="1" spc="-10" dirty="0" smtClean="0">
                <a:solidFill>
                  <a:schemeClr val="tx2">
                    <a:lumMod val="60000"/>
                    <a:lumOff val="40000"/>
                  </a:schemeClr>
                </a:solidFill>
                <a:latin typeface="Calibri"/>
                <a:cs typeface="Calibri"/>
              </a:rPr>
              <a:t>Neural Networks, NN</a:t>
            </a:r>
            <a:r>
              <a:rPr lang="es-ES" sz="1800" spc="-10" dirty="0" smtClean="0">
                <a:latin typeface="Calibri"/>
                <a:cs typeface="Calibri"/>
              </a:rPr>
              <a:t>) </a:t>
            </a:r>
            <a:r>
              <a:rPr sz="1800" spc="-15" dirty="0" err="1" smtClean="0">
                <a:latin typeface="Calibri"/>
                <a:cs typeface="Calibri"/>
              </a:rPr>
              <a:t>fueron</a:t>
            </a:r>
            <a:r>
              <a:rPr sz="1800" spc="-10" dirty="0" smtClean="0">
                <a:latin typeface="Calibri"/>
                <a:cs typeface="Calibri"/>
              </a:rPr>
              <a:t> </a:t>
            </a:r>
            <a:r>
              <a:rPr sz="1800" spc="-10" dirty="0">
                <a:latin typeface="Calibri"/>
                <a:cs typeface="Calibri"/>
              </a:rPr>
              <a:t>originalmente</a:t>
            </a:r>
            <a:r>
              <a:rPr sz="1800" spc="-5" dirty="0">
                <a:latin typeface="Calibri"/>
                <a:cs typeface="Calibri"/>
              </a:rPr>
              <a:t> </a:t>
            </a:r>
            <a:r>
              <a:rPr sz="1800" spc="-10" dirty="0">
                <a:latin typeface="Calibri"/>
                <a:cs typeface="Calibri"/>
              </a:rPr>
              <a:t>una</a:t>
            </a:r>
            <a:r>
              <a:rPr sz="1800" spc="-5" dirty="0">
                <a:latin typeface="Calibri"/>
                <a:cs typeface="Calibri"/>
              </a:rPr>
              <a:t> </a:t>
            </a:r>
            <a:r>
              <a:rPr sz="1800" spc="10" dirty="0">
                <a:latin typeface="Calibri"/>
                <a:cs typeface="Calibri"/>
              </a:rPr>
              <a:t>simulación</a:t>
            </a:r>
            <a:r>
              <a:rPr sz="1800" spc="15" dirty="0">
                <a:latin typeface="Calibri"/>
                <a:cs typeface="Calibri"/>
              </a:rPr>
              <a:t> </a:t>
            </a:r>
            <a:r>
              <a:rPr sz="1800" spc="-40" dirty="0">
                <a:latin typeface="Calibri"/>
                <a:cs typeface="Calibri"/>
              </a:rPr>
              <a:t>abstracta</a:t>
            </a:r>
            <a:r>
              <a:rPr sz="1800" spc="-35" dirty="0">
                <a:latin typeface="Calibri"/>
                <a:cs typeface="Calibri"/>
              </a:rPr>
              <a:t> </a:t>
            </a:r>
            <a:r>
              <a:rPr sz="1800" spc="-65" dirty="0">
                <a:latin typeface="Calibri"/>
                <a:cs typeface="Calibri"/>
              </a:rPr>
              <a:t>de</a:t>
            </a:r>
            <a:r>
              <a:rPr sz="1800" spc="-60" dirty="0">
                <a:latin typeface="Calibri"/>
                <a:cs typeface="Calibri"/>
              </a:rPr>
              <a:t> </a:t>
            </a:r>
            <a:r>
              <a:rPr sz="1800" spc="-15" dirty="0">
                <a:latin typeface="Calibri"/>
                <a:cs typeface="Calibri"/>
              </a:rPr>
              <a:t>los</a:t>
            </a:r>
            <a:r>
              <a:rPr sz="1800" spc="375" dirty="0">
                <a:latin typeface="Calibri"/>
                <a:cs typeface="Calibri"/>
              </a:rPr>
              <a:t> </a:t>
            </a:r>
            <a:r>
              <a:rPr sz="1800" spc="-40" dirty="0">
                <a:latin typeface="Calibri"/>
                <a:cs typeface="Calibri"/>
              </a:rPr>
              <a:t>sistemas </a:t>
            </a:r>
            <a:r>
              <a:rPr sz="1800" spc="-35" dirty="0">
                <a:latin typeface="Calibri"/>
                <a:cs typeface="Calibri"/>
              </a:rPr>
              <a:t> </a:t>
            </a:r>
            <a:r>
              <a:rPr sz="1800" spc="-15" dirty="0">
                <a:latin typeface="Calibri"/>
                <a:cs typeface="Calibri"/>
              </a:rPr>
              <a:t>nerviosos</a:t>
            </a:r>
            <a:r>
              <a:rPr sz="1800" spc="-10" dirty="0">
                <a:latin typeface="Calibri"/>
                <a:cs typeface="Calibri"/>
              </a:rPr>
              <a:t> </a:t>
            </a:r>
            <a:r>
              <a:rPr sz="1800" spc="-5" dirty="0">
                <a:latin typeface="Calibri"/>
                <a:cs typeface="Calibri"/>
              </a:rPr>
              <a:t>biológicos.</a:t>
            </a:r>
            <a:r>
              <a:rPr sz="1800" dirty="0">
                <a:latin typeface="Calibri"/>
                <a:cs typeface="Calibri"/>
              </a:rPr>
              <a:t> </a:t>
            </a:r>
            <a:r>
              <a:rPr sz="1800" spc="15" dirty="0" smtClean="0">
                <a:latin typeface="Calibri"/>
                <a:cs typeface="Calibri"/>
              </a:rPr>
              <a:t>Su</a:t>
            </a:r>
            <a:r>
              <a:rPr lang="es-ES" spc="20" dirty="0">
                <a:latin typeface="Calibri"/>
                <a:cs typeface="Calibri"/>
              </a:rPr>
              <a:t> </a:t>
            </a:r>
            <a:r>
              <a:rPr lang="es-ES" spc="20" dirty="0" smtClean="0">
                <a:latin typeface="Calibri"/>
                <a:cs typeface="Calibri"/>
              </a:rPr>
              <a:t>objetivo </a:t>
            </a:r>
            <a:r>
              <a:rPr sz="1800" spc="20" dirty="0" smtClean="0">
                <a:latin typeface="Calibri"/>
                <a:cs typeface="Calibri"/>
              </a:rPr>
              <a:t>principal</a:t>
            </a:r>
            <a:r>
              <a:rPr sz="1800" spc="25" dirty="0" smtClean="0">
                <a:latin typeface="Calibri"/>
                <a:cs typeface="Calibri"/>
              </a:rPr>
              <a:t> </a:t>
            </a:r>
            <a:r>
              <a:rPr sz="1800" spc="-90" dirty="0">
                <a:latin typeface="Calibri"/>
                <a:cs typeface="Calibri"/>
              </a:rPr>
              <a:t>es</a:t>
            </a:r>
            <a:r>
              <a:rPr sz="1800" spc="-85" dirty="0">
                <a:latin typeface="Calibri"/>
                <a:cs typeface="Calibri"/>
              </a:rPr>
              <a:t> </a:t>
            </a:r>
            <a:r>
              <a:rPr sz="1800" spc="-15" dirty="0">
                <a:latin typeface="Calibri"/>
                <a:cs typeface="Calibri"/>
              </a:rPr>
              <a:t>desarrollar</a:t>
            </a:r>
            <a:r>
              <a:rPr sz="1800" spc="-10" dirty="0">
                <a:latin typeface="Calibri"/>
                <a:cs typeface="Calibri"/>
              </a:rPr>
              <a:t> </a:t>
            </a:r>
            <a:r>
              <a:rPr sz="1800" spc="-30" dirty="0">
                <a:latin typeface="Calibri"/>
                <a:cs typeface="Calibri"/>
              </a:rPr>
              <a:t>operaciones</a:t>
            </a:r>
            <a:r>
              <a:rPr sz="1800" spc="-25" dirty="0">
                <a:latin typeface="Calibri"/>
                <a:cs typeface="Calibri"/>
              </a:rPr>
              <a:t> </a:t>
            </a:r>
            <a:r>
              <a:rPr sz="1800" spc="-65" dirty="0">
                <a:latin typeface="Calibri"/>
                <a:cs typeface="Calibri"/>
              </a:rPr>
              <a:t>de</a:t>
            </a:r>
            <a:r>
              <a:rPr sz="1800" spc="-60" dirty="0">
                <a:latin typeface="Calibri"/>
                <a:cs typeface="Calibri"/>
              </a:rPr>
              <a:t> </a:t>
            </a:r>
            <a:r>
              <a:rPr sz="1800" spc="-20" dirty="0">
                <a:latin typeface="Calibri"/>
                <a:cs typeface="Calibri"/>
              </a:rPr>
              <a:t>síntesis</a:t>
            </a:r>
            <a:r>
              <a:rPr sz="1800" spc="370" dirty="0">
                <a:latin typeface="Calibri"/>
                <a:cs typeface="Calibri"/>
              </a:rPr>
              <a:t> </a:t>
            </a:r>
            <a:r>
              <a:rPr sz="1800" spc="10" dirty="0">
                <a:latin typeface="Calibri"/>
                <a:cs typeface="Calibri"/>
              </a:rPr>
              <a:t>y </a:t>
            </a:r>
            <a:r>
              <a:rPr sz="1800" spc="15" dirty="0">
                <a:latin typeface="Calibri"/>
                <a:cs typeface="Calibri"/>
              </a:rPr>
              <a:t> </a:t>
            </a:r>
            <a:r>
              <a:rPr sz="1800" spc="-25" dirty="0">
                <a:latin typeface="Calibri"/>
                <a:cs typeface="Calibri"/>
              </a:rPr>
              <a:t>procesamiento</a:t>
            </a:r>
            <a:r>
              <a:rPr sz="1800" spc="-5" dirty="0">
                <a:latin typeface="Calibri"/>
                <a:cs typeface="Calibri"/>
              </a:rPr>
              <a:t> </a:t>
            </a:r>
            <a:r>
              <a:rPr sz="1800" spc="-65" dirty="0">
                <a:latin typeface="Calibri"/>
                <a:cs typeface="Calibri"/>
              </a:rPr>
              <a:t>de</a:t>
            </a:r>
            <a:r>
              <a:rPr sz="1800" dirty="0">
                <a:latin typeface="Calibri"/>
                <a:cs typeface="Calibri"/>
              </a:rPr>
              <a:t> </a:t>
            </a:r>
            <a:r>
              <a:rPr sz="1800" spc="5" dirty="0">
                <a:latin typeface="Calibri"/>
                <a:cs typeface="Calibri"/>
              </a:rPr>
              <a:t>información.</a:t>
            </a:r>
            <a:endParaRPr sz="1800" dirty="0">
              <a:latin typeface="Calibri"/>
              <a:cs typeface="Calibri"/>
            </a:endParaRPr>
          </a:p>
          <a:p>
            <a:pPr>
              <a:lnSpc>
                <a:spcPct val="100000"/>
              </a:lnSpc>
              <a:spcBef>
                <a:spcPts val="15"/>
              </a:spcBef>
            </a:pPr>
            <a:endParaRPr sz="2350" dirty="0">
              <a:latin typeface="Calibri"/>
              <a:cs typeface="Calibri"/>
            </a:endParaRPr>
          </a:p>
          <a:p>
            <a:pPr marL="4897755" marR="154940" algn="just">
              <a:lnSpc>
                <a:spcPct val="100000"/>
              </a:lnSpc>
              <a:spcBef>
                <a:spcPts val="5"/>
              </a:spcBef>
            </a:pPr>
            <a:r>
              <a:rPr sz="1800" spc="30" dirty="0">
                <a:latin typeface="Calibri"/>
                <a:cs typeface="Calibri"/>
              </a:rPr>
              <a:t>Las</a:t>
            </a:r>
            <a:r>
              <a:rPr sz="1800" spc="35" dirty="0">
                <a:latin typeface="Calibri"/>
                <a:cs typeface="Calibri"/>
              </a:rPr>
              <a:t> </a:t>
            </a:r>
            <a:r>
              <a:rPr sz="1800" spc="-20" dirty="0">
                <a:latin typeface="Calibri"/>
                <a:cs typeface="Calibri"/>
              </a:rPr>
              <a:t>neuronas</a:t>
            </a:r>
            <a:r>
              <a:rPr sz="1800" spc="-15" dirty="0">
                <a:latin typeface="Calibri"/>
                <a:cs typeface="Calibri"/>
              </a:rPr>
              <a:t> </a:t>
            </a:r>
            <a:r>
              <a:rPr sz="1800" spc="10" dirty="0">
                <a:latin typeface="Calibri"/>
                <a:cs typeface="Calibri"/>
              </a:rPr>
              <a:t>y</a:t>
            </a:r>
            <a:r>
              <a:rPr sz="1800" spc="15" dirty="0">
                <a:latin typeface="Calibri"/>
                <a:cs typeface="Calibri"/>
              </a:rPr>
              <a:t> </a:t>
            </a:r>
            <a:r>
              <a:rPr sz="1800" spc="-25" dirty="0">
                <a:latin typeface="Calibri"/>
                <a:cs typeface="Calibri"/>
              </a:rPr>
              <a:t>las</a:t>
            </a:r>
            <a:r>
              <a:rPr sz="1800" spc="-20" dirty="0">
                <a:latin typeface="Calibri"/>
                <a:cs typeface="Calibri"/>
              </a:rPr>
              <a:t> </a:t>
            </a:r>
            <a:r>
              <a:rPr sz="1800" spc="-15" dirty="0">
                <a:latin typeface="Calibri"/>
                <a:cs typeface="Calibri"/>
              </a:rPr>
              <a:t>conexiones</a:t>
            </a:r>
            <a:r>
              <a:rPr sz="1800" spc="-10" dirty="0">
                <a:latin typeface="Calibri"/>
                <a:cs typeface="Calibri"/>
              </a:rPr>
              <a:t> </a:t>
            </a:r>
            <a:r>
              <a:rPr sz="1800" spc="-50" dirty="0">
                <a:latin typeface="Calibri"/>
                <a:cs typeface="Calibri"/>
              </a:rPr>
              <a:t>entre</a:t>
            </a:r>
            <a:r>
              <a:rPr sz="1800" spc="-45" dirty="0">
                <a:latin typeface="Calibri"/>
                <a:cs typeface="Calibri"/>
              </a:rPr>
              <a:t> </a:t>
            </a:r>
            <a:r>
              <a:rPr sz="1800" spc="-35" dirty="0">
                <a:latin typeface="Calibri"/>
                <a:cs typeface="Calibri"/>
              </a:rPr>
              <a:t>ellas </a:t>
            </a:r>
            <a:r>
              <a:rPr sz="1800" spc="-30" dirty="0">
                <a:latin typeface="Calibri"/>
                <a:cs typeface="Calibri"/>
              </a:rPr>
              <a:t> </a:t>
            </a:r>
            <a:r>
              <a:rPr sz="1800" spc="10" dirty="0">
                <a:latin typeface="Calibri"/>
                <a:cs typeface="Calibri"/>
              </a:rPr>
              <a:t>(sinapsis)</a:t>
            </a:r>
            <a:r>
              <a:rPr sz="1800" spc="15" dirty="0">
                <a:latin typeface="Calibri"/>
                <a:cs typeface="Calibri"/>
              </a:rPr>
              <a:t> </a:t>
            </a:r>
            <a:r>
              <a:rPr sz="1800" spc="-15" dirty="0">
                <a:latin typeface="Calibri"/>
                <a:cs typeface="Calibri"/>
              </a:rPr>
              <a:t>constituyen</a:t>
            </a:r>
            <a:r>
              <a:rPr sz="1800" spc="-10" dirty="0">
                <a:latin typeface="Calibri"/>
                <a:cs typeface="Calibri"/>
              </a:rPr>
              <a:t> </a:t>
            </a:r>
            <a:r>
              <a:rPr sz="1800" spc="-15" dirty="0">
                <a:latin typeface="Calibri"/>
                <a:cs typeface="Calibri"/>
              </a:rPr>
              <a:t>la</a:t>
            </a:r>
            <a:r>
              <a:rPr sz="1800" spc="-10" dirty="0">
                <a:latin typeface="Calibri"/>
                <a:cs typeface="Calibri"/>
              </a:rPr>
              <a:t> </a:t>
            </a:r>
            <a:r>
              <a:rPr sz="1800" spc="-30" dirty="0">
                <a:latin typeface="Calibri"/>
                <a:cs typeface="Calibri"/>
              </a:rPr>
              <a:t>clave</a:t>
            </a:r>
            <a:r>
              <a:rPr sz="1800" spc="-25" dirty="0">
                <a:latin typeface="Calibri"/>
                <a:cs typeface="Calibri"/>
              </a:rPr>
              <a:t> </a:t>
            </a:r>
            <a:r>
              <a:rPr sz="1800" spc="-30" dirty="0">
                <a:latin typeface="Calibri"/>
                <a:cs typeface="Calibri"/>
              </a:rPr>
              <a:t>para</a:t>
            </a:r>
            <a:r>
              <a:rPr sz="1800" spc="-25" dirty="0">
                <a:latin typeface="Calibri"/>
                <a:cs typeface="Calibri"/>
              </a:rPr>
              <a:t> </a:t>
            </a:r>
            <a:r>
              <a:rPr sz="1800" spc="-45" dirty="0">
                <a:latin typeface="Calibri"/>
                <a:cs typeface="Calibri"/>
              </a:rPr>
              <a:t>el </a:t>
            </a:r>
            <a:r>
              <a:rPr sz="1800" spc="-40" dirty="0">
                <a:latin typeface="Calibri"/>
                <a:cs typeface="Calibri"/>
              </a:rPr>
              <a:t> </a:t>
            </a:r>
            <a:r>
              <a:rPr sz="1800" spc="-30" dirty="0">
                <a:latin typeface="Calibri"/>
                <a:cs typeface="Calibri"/>
              </a:rPr>
              <a:t>procesado</a:t>
            </a:r>
            <a:r>
              <a:rPr sz="1800" spc="-5" dirty="0">
                <a:latin typeface="Calibri"/>
                <a:cs typeface="Calibri"/>
              </a:rPr>
              <a:t> </a:t>
            </a:r>
            <a:r>
              <a:rPr sz="1800" spc="-65" dirty="0">
                <a:latin typeface="Calibri"/>
                <a:cs typeface="Calibri"/>
              </a:rPr>
              <a:t>de</a:t>
            </a:r>
            <a:r>
              <a:rPr sz="1800" dirty="0">
                <a:latin typeface="Calibri"/>
                <a:cs typeface="Calibri"/>
              </a:rPr>
              <a:t> </a:t>
            </a:r>
            <a:r>
              <a:rPr sz="1800" spc="-15" dirty="0">
                <a:latin typeface="Calibri"/>
                <a:cs typeface="Calibri"/>
              </a:rPr>
              <a:t>la</a:t>
            </a:r>
            <a:r>
              <a:rPr sz="1800" dirty="0">
                <a:latin typeface="Calibri"/>
                <a:cs typeface="Calibri"/>
              </a:rPr>
              <a:t> </a:t>
            </a:r>
            <a:r>
              <a:rPr sz="1800" spc="5" dirty="0">
                <a:latin typeface="Calibri"/>
                <a:cs typeface="Calibri"/>
              </a:rPr>
              <a:t>información.</a:t>
            </a:r>
            <a:endParaRPr sz="1800" dirty="0">
              <a:latin typeface="Calibri"/>
              <a:cs typeface="Calibri"/>
            </a:endParaRPr>
          </a:p>
          <a:p>
            <a:pPr marL="4897755" marR="154940" algn="just">
              <a:lnSpc>
                <a:spcPct val="100000"/>
              </a:lnSpc>
            </a:pPr>
            <a:r>
              <a:rPr sz="1800" spc="65" dirty="0">
                <a:latin typeface="Calibri"/>
                <a:cs typeface="Calibri"/>
              </a:rPr>
              <a:t>La </a:t>
            </a:r>
            <a:r>
              <a:rPr sz="1800" spc="-5" dirty="0">
                <a:latin typeface="Calibri"/>
                <a:cs typeface="Calibri"/>
              </a:rPr>
              <a:t>mayor </a:t>
            </a:r>
            <a:r>
              <a:rPr sz="1800" spc="-45" dirty="0">
                <a:latin typeface="Calibri"/>
                <a:cs typeface="Calibri"/>
              </a:rPr>
              <a:t>parte </a:t>
            </a:r>
            <a:r>
              <a:rPr sz="1800" spc="-65" dirty="0">
                <a:latin typeface="Calibri"/>
                <a:cs typeface="Calibri"/>
              </a:rPr>
              <a:t>de </a:t>
            </a:r>
            <a:r>
              <a:rPr sz="1800" spc="-25" dirty="0">
                <a:latin typeface="Calibri"/>
                <a:cs typeface="Calibri"/>
              </a:rPr>
              <a:t>las </a:t>
            </a:r>
            <a:r>
              <a:rPr sz="1800" spc="-20" dirty="0">
                <a:latin typeface="Calibri"/>
                <a:cs typeface="Calibri"/>
              </a:rPr>
              <a:t>neuronas </a:t>
            </a:r>
            <a:r>
              <a:rPr sz="1800" spc="-50" dirty="0">
                <a:latin typeface="Calibri"/>
                <a:cs typeface="Calibri"/>
              </a:rPr>
              <a:t>poseen </a:t>
            </a:r>
            <a:r>
              <a:rPr sz="1800" spc="-10" dirty="0">
                <a:latin typeface="Calibri"/>
                <a:cs typeface="Calibri"/>
              </a:rPr>
              <a:t>una </a:t>
            </a:r>
            <a:r>
              <a:rPr sz="1800" spc="-5" dirty="0">
                <a:latin typeface="Calibri"/>
                <a:cs typeface="Calibri"/>
              </a:rPr>
              <a:t> </a:t>
            </a:r>
            <a:r>
              <a:rPr sz="1800" spc="-30" dirty="0">
                <a:latin typeface="Calibri"/>
                <a:cs typeface="Calibri"/>
              </a:rPr>
              <a:t>estructura</a:t>
            </a:r>
            <a:r>
              <a:rPr sz="1800" spc="350" dirty="0">
                <a:latin typeface="Calibri"/>
                <a:cs typeface="Calibri"/>
              </a:rPr>
              <a:t> </a:t>
            </a:r>
            <a:r>
              <a:rPr sz="1800" spc="-65" dirty="0">
                <a:latin typeface="Calibri"/>
                <a:cs typeface="Calibri"/>
              </a:rPr>
              <a:t>de</a:t>
            </a:r>
            <a:r>
              <a:rPr sz="1800" spc="620" dirty="0">
                <a:latin typeface="Calibri"/>
                <a:cs typeface="Calibri"/>
              </a:rPr>
              <a:t> </a:t>
            </a:r>
            <a:r>
              <a:rPr sz="1800" spc="-20" dirty="0">
                <a:latin typeface="Calibri"/>
                <a:cs typeface="Calibri"/>
              </a:rPr>
              <a:t>árbol,</a:t>
            </a:r>
            <a:r>
              <a:rPr sz="1800" spc="755" dirty="0">
                <a:latin typeface="Calibri"/>
                <a:cs typeface="Calibri"/>
              </a:rPr>
              <a:t> </a:t>
            </a:r>
            <a:r>
              <a:rPr sz="1800" spc="-15" dirty="0">
                <a:latin typeface="Calibri"/>
                <a:cs typeface="Calibri"/>
              </a:rPr>
              <a:t>llamada</a:t>
            </a:r>
            <a:r>
              <a:rPr sz="1800" spc="770" dirty="0">
                <a:latin typeface="Calibri"/>
                <a:cs typeface="Calibri"/>
              </a:rPr>
              <a:t> </a:t>
            </a:r>
            <a:r>
              <a:rPr sz="1800" b="1" spc="-20" dirty="0">
                <a:latin typeface="Calibri"/>
                <a:cs typeface="Calibri"/>
              </a:rPr>
              <a:t>dendritas</a:t>
            </a:r>
            <a:r>
              <a:rPr sz="1800" spc="-20" dirty="0">
                <a:latin typeface="Calibri"/>
                <a:cs typeface="Calibri"/>
              </a:rPr>
              <a:t>, </a:t>
            </a:r>
            <a:r>
              <a:rPr sz="1800" spc="-15" dirty="0">
                <a:latin typeface="Calibri"/>
                <a:cs typeface="Calibri"/>
              </a:rPr>
              <a:t> </a:t>
            </a:r>
            <a:r>
              <a:rPr sz="1800" spc="-50" dirty="0">
                <a:latin typeface="Calibri"/>
                <a:cs typeface="Calibri"/>
              </a:rPr>
              <a:t>que</a:t>
            </a:r>
            <a:r>
              <a:rPr sz="1800" spc="-45" dirty="0">
                <a:latin typeface="Calibri"/>
                <a:cs typeface="Calibri"/>
              </a:rPr>
              <a:t> </a:t>
            </a:r>
            <a:r>
              <a:rPr sz="1800" b="1" spc="-25" dirty="0">
                <a:latin typeface="Calibri"/>
                <a:cs typeface="Calibri"/>
              </a:rPr>
              <a:t>reciben</a:t>
            </a:r>
            <a:r>
              <a:rPr sz="1800" b="1" spc="-20" dirty="0">
                <a:latin typeface="Calibri"/>
                <a:cs typeface="Calibri"/>
              </a:rPr>
              <a:t> </a:t>
            </a:r>
            <a:r>
              <a:rPr sz="1800" b="1" spc="-25" dirty="0">
                <a:latin typeface="Calibri"/>
                <a:cs typeface="Calibri"/>
              </a:rPr>
              <a:t>las</a:t>
            </a:r>
            <a:r>
              <a:rPr sz="1800" b="1" spc="-20" dirty="0">
                <a:latin typeface="Calibri"/>
                <a:cs typeface="Calibri"/>
              </a:rPr>
              <a:t> </a:t>
            </a:r>
            <a:r>
              <a:rPr sz="1800" b="1" spc="-50" dirty="0">
                <a:latin typeface="Calibri"/>
                <a:cs typeface="Calibri"/>
              </a:rPr>
              <a:t>señales</a:t>
            </a:r>
            <a:r>
              <a:rPr sz="1800" spc="-45" dirty="0">
                <a:latin typeface="Calibri"/>
                <a:cs typeface="Calibri"/>
              </a:rPr>
              <a:t> </a:t>
            </a:r>
            <a:r>
              <a:rPr sz="1800" spc="-65" dirty="0">
                <a:latin typeface="Calibri"/>
                <a:cs typeface="Calibri"/>
              </a:rPr>
              <a:t>de</a:t>
            </a:r>
            <a:r>
              <a:rPr sz="1800" spc="280" dirty="0">
                <a:latin typeface="Calibri"/>
                <a:cs typeface="Calibri"/>
              </a:rPr>
              <a:t> </a:t>
            </a:r>
            <a:r>
              <a:rPr sz="1800" spc="-35" dirty="0">
                <a:latin typeface="Calibri"/>
                <a:cs typeface="Calibri"/>
              </a:rPr>
              <a:t>entrada </a:t>
            </a:r>
            <a:r>
              <a:rPr sz="1800" spc="-30" dirty="0">
                <a:latin typeface="Calibri"/>
                <a:cs typeface="Calibri"/>
              </a:rPr>
              <a:t> </a:t>
            </a:r>
            <a:r>
              <a:rPr sz="1800" spc="-40" dirty="0">
                <a:latin typeface="Calibri"/>
                <a:cs typeface="Calibri"/>
              </a:rPr>
              <a:t>procedentes </a:t>
            </a:r>
            <a:r>
              <a:rPr sz="1800" spc="-65" dirty="0">
                <a:latin typeface="Calibri"/>
                <a:cs typeface="Calibri"/>
              </a:rPr>
              <a:t>de </a:t>
            </a:r>
            <a:r>
              <a:rPr sz="1800" spc="-35" dirty="0">
                <a:latin typeface="Calibri"/>
                <a:cs typeface="Calibri"/>
              </a:rPr>
              <a:t>otras </a:t>
            </a:r>
            <a:r>
              <a:rPr sz="1800" spc="-20" dirty="0">
                <a:latin typeface="Calibri"/>
                <a:cs typeface="Calibri"/>
              </a:rPr>
              <a:t>neuronas </a:t>
            </a:r>
            <a:r>
              <a:rPr sz="1800" spc="-75" dirty="0">
                <a:latin typeface="Calibri"/>
                <a:cs typeface="Calibri"/>
              </a:rPr>
              <a:t>a </a:t>
            </a:r>
            <a:r>
              <a:rPr sz="1800" spc="-40" dirty="0">
                <a:latin typeface="Calibri"/>
                <a:cs typeface="Calibri"/>
              </a:rPr>
              <a:t>través </a:t>
            </a:r>
            <a:r>
              <a:rPr sz="1800" spc="-65" dirty="0">
                <a:latin typeface="Calibri"/>
                <a:cs typeface="Calibri"/>
              </a:rPr>
              <a:t>de </a:t>
            </a:r>
            <a:r>
              <a:rPr sz="1800" spc="-25" dirty="0">
                <a:latin typeface="Calibri"/>
                <a:cs typeface="Calibri"/>
              </a:rPr>
              <a:t>las </a:t>
            </a:r>
            <a:r>
              <a:rPr sz="1800" spc="-20" dirty="0">
                <a:latin typeface="Calibri"/>
                <a:cs typeface="Calibri"/>
              </a:rPr>
              <a:t> </a:t>
            </a:r>
            <a:r>
              <a:rPr sz="1800" b="1" spc="-10" dirty="0">
                <a:latin typeface="Calibri"/>
                <a:cs typeface="Calibri"/>
              </a:rPr>
              <a:t>sinapsis</a:t>
            </a:r>
            <a:r>
              <a:rPr sz="1800" spc="-10" dirty="0">
                <a:latin typeface="Calibri"/>
                <a:cs typeface="Calibri"/>
              </a:rPr>
              <a:t>.</a:t>
            </a:r>
            <a:endParaRPr sz="1800" dirty="0">
              <a:latin typeface="Calibri"/>
              <a:cs typeface="Calibri"/>
            </a:endParaRPr>
          </a:p>
          <a:p>
            <a:pPr>
              <a:lnSpc>
                <a:spcPct val="100000"/>
              </a:lnSpc>
              <a:spcBef>
                <a:spcPts val="20"/>
              </a:spcBef>
            </a:pPr>
            <a:endParaRPr sz="2700" dirty="0">
              <a:latin typeface="Calibri"/>
              <a:cs typeface="Calibri"/>
            </a:endParaRPr>
          </a:p>
          <a:p>
            <a:pPr marL="12700" algn="just">
              <a:lnSpc>
                <a:spcPct val="100000"/>
              </a:lnSpc>
            </a:pPr>
            <a:endParaRPr lang="es-ES" sz="1800" spc="45" dirty="0" smtClean="0">
              <a:latin typeface="Calibri"/>
              <a:cs typeface="Calibri"/>
            </a:endParaRPr>
          </a:p>
          <a:p>
            <a:pPr marL="12700" algn="just">
              <a:lnSpc>
                <a:spcPct val="100000"/>
              </a:lnSpc>
            </a:pPr>
            <a:r>
              <a:rPr sz="1800" spc="45" dirty="0" smtClean="0">
                <a:latin typeface="Calibri"/>
                <a:cs typeface="Calibri"/>
              </a:rPr>
              <a:t>Una</a:t>
            </a:r>
            <a:r>
              <a:rPr sz="1800" spc="-5" dirty="0" smtClean="0">
                <a:latin typeface="Calibri"/>
                <a:cs typeface="Calibri"/>
              </a:rPr>
              <a:t> </a:t>
            </a:r>
            <a:r>
              <a:rPr sz="1800" spc="-20" dirty="0">
                <a:latin typeface="Calibri"/>
                <a:cs typeface="Calibri"/>
              </a:rPr>
              <a:t>neurona</a:t>
            </a:r>
            <a:r>
              <a:rPr sz="1800" dirty="0">
                <a:latin typeface="Calibri"/>
                <a:cs typeface="Calibri"/>
              </a:rPr>
              <a:t> </a:t>
            </a:r>
            <a:r>
              <a:rPr sz="1800" spc="-30" dirty="0">
                <a:latin typeface="Calibri"/>
                <a:cs typeface="Calibri"/>
              </a:rPr>
              <a:t>consta</a:t>
            </a:r>
            <a:r>
              <a:rPr sz="1800" spc="-5" dirty="0">
                <a:latin typeface="Calibri"/>
                <a:cs typeface="Calibri"/>
              </a:rPr>
              <a:t> </a:t>
            </a:r>
            <a:r>
              <a:rPr sz="1800" spc="-65" dirty="0">
                <a:latin typeface="Calibri"/>
                <a:cs typeface="Calibri"/>
              </a:rPr>
              <a:t>de</a:t>
            </a:r>
            <a:r>
              <a:rPr sz="1800" dirty="0">
                <a:latin typeface="Calibri"/>
                <a:cs typeface="Calibri"/>
              </a:rPr>
              <a:t> </a:t>
            </a:r>
            <a:r>
              <a:rPr sz="1800" spc="-50" dirty="0">
                <a:latin typeface="Calibri"/>
                <a:cs typeface="Calibri"/>
              </a:rPr>
              <a:t>tres</a:t>
            </a:r>
            <a:r>
              <a:rPr sz="1800" dirty="0">
                <a:latin typeface="Calibri"/>
                <a:cs typeface="Calibri"/>
              </a:rPr>
              <a:t> </a:t>
            </a:r>
            <a:r>
              <a:rPr sz="1800" spc="-50" dirty="0">
                <a:latin typeface="Calibri"/>
                <a:cs typeface="Calibri"/>
              </a:rPr>
              <a:t>partes:</a:t>
            </a:r>
            <a:endParaRPr sz="1800" dirty="0">
              <a:latin typeface="Calibri"/>
              <a:cs typeface="Calibri"/>
            </a:endParaRPr>
          </a:p>
          <a:p>
            <a:pPr>
              <a:lnSpc>
                <a:spcPct val="100000"/>
              </a:lnSpc>
              <a:spcBef>
                <a:spcPts val="25"/>
              </a:spcBef>
            </a:pPr>
            <a:endParaRPr sz="1750" dirty="0">
              <a:latin typeface="Calibri"/>
              <a:cs typeface="Calibri"/>
            </a:endParaRPr>
          </a:p>
          <a:p>
            <a:pPr marL="226060" indent="-213995">
              <a:lnSpc>
                <a:spcPct val="100000"/>
              </a:lnSpc>
              <a:buAutoNum type="arabicPeriod"/>
              <a:tabLst>
                <a:tab pos="226695" algn="l"/>
              </a:tabLst>
            </a:pPr>
            <a:r>
              <a:rPr sz="1800" spc="90" dirty="0">
                <a:latin typeface="Calibri"/>
                <a:cs typeface="Calibri"/>
              </a:rPr>
              <a:t>El</a:t>
            </a:r>
            <a:r>
              <a:rPr sz="1800" spc="-15" dirty="0">
                <a:latin typeface="Calibri"/>
                <a:cs typeface="Calibri"/>
              </a:rPr>
              <a:t> </a:t>
            </a:r>
            <a:r>
              <a:rPr sz="1800" spc="-20" dirty="0">
                <a:latin typeface="Calibri"/>
                <a:cs typeface="Calibri"/>
              </a:rPr>
              <a:t>cuerpo</a:t>
            </a:r>
            <a:r>
              <a:rPr sz="1800" spc="-10" dirty="0">
                <a:latin typeface="Calibri"/>
                <a:cs typeface="Calibri"/>
              </a:rPr>
              <a:t> </a:t>
            </a:r>
            <a:r>
              <a:rPr sz="1800" spc="-65" dirty="0">
                <a:latin typeface="Calibri"/>
                <a:cs typeface="Calibri"/>
              </a:rPr>
              <a:t>de</a:t>
            </a:r>
            <a:r>
              <a:rPr sz="1800" spc="-15" dirty="0">
                <a:latin typeface="Calibri"/>
                <a:cs typeface="Calibri"/>
              </a:rPr>
              <a:t> la</a:t>
            </a:r>
            <a:r>
              <a:rPr sz="1800" spc="-10" dirty="0">
                <a:latin typeface="Calibri"/>
                <a:cs typeface="Calibri"/>
              </a:rPr>
              <a:t> </a:t>
            </a:r>
            <a:r>
              <a:rPr sz="1800" spc="-20" dirty="0">
                <a:latin typeface="Calibri"/>
                <a:cs typeface="Calibri"/>
              </a:rPr>
              <a:t>neurona,</a:t>
            </a:r>
            <a:endParaRPr sz="1800" dirty="0">
              <a:latin typeface="Calibri"/>
              <a:cs typeface="Calibri"/>
            </a:endParaRPr>
          </a:p>
          <a:p>
            <a:pPr marL="226060" indent="-213995">
              <a:lnSpc>
                <a:spcPct val="100000"/>
              </a:lnSpc>
              <a:buAutoNum type="arabicPeriod"/>
              <a:tabLst>
                <a:tab pos="226695" algn="l"/>
              </a:tabLst>
            </a:pPr>
            <a:r>
              <a:rPr sz="1800" spc="30" dirty="0">
                <a:latin typeface="Calibri"/>
                <a:cs typeface="Calibri"/>
              </a:rPr>
              <a:t>Las</a:t>
            </a:r>
            <a:r>
              <a:rPr sz="1800" spc="-5" dirty="0">
                <a:latin typeface="Calibri"/>
                <a:cs typeface="Calibri"/>
              </a:rPr>
              <a:t> </a:t>
            </a:r>
            <a:r>
              <a:rPr sz="1800" spc="-20" dirty="0">
                <a:latin typeface="Calibri"/>
                <a:cs typeface="Calibri"/>
              </a:rPr>
              <a:t>dendritas,</a:t>
            </a:r>
            <a:r>
              <a:rPr sz="1800" dirty="0">
                <a:latin typeface="Calibri"/>
                <a:cs typeface="Calibri"/>
              </a:rPr>
              <a:t> </a:t>
            </a:r>
            <a:r>
              <a:rPr sz="1800" spc="-50" dirty="0">
                <a:latin typeface="Calibri"/>
                <a:cs typeface="Calibri"/>
              </a:rPr>
              <a:t>que</a:t>
            </a:r>
            <a:r>
              <a:rPr sz="1800" dirty="0">
                <a:latin typeface="Calibri"/>
                <a:cs typeface="Calibri"/>
              </a:rPr>
              <a:t> </a:t>
            </a:r>
            <a:r>
              <a:rPr sz="1800" spc="-25" dirty="0">
                <a:latin typeface="Calibri"/>
                <a:cs typeface="Calibri"/>
              </a:rPr>
              <a:t>reciben</a:t>
            </a:r>
            <a:r>
              <a:rPr sz="1800" dirty="0">
                <a:latin typeface="Calibri"/>
                <a:cs typeface="Calibri"/>
              </a:rPr>
              <a:t> </a:t>
            </a:r>
            <a:r>
              <a:rPr sz="1800" spc="-25" dirty="0">
                <a:latin typeface="Calibri"/>
                <a:cs typeface="Calibri"/>
              </a:rPr>
              <a:t>las</a:t>
            </a:r>
            <a:r>
              <a:rPr sz="1800" dirty="0">
                <a:latin typeface="Calibri"/>
                <a:cs typeface="Calibri"/>
              </a:rPr>
              <a:t> </a:t>
            </a:r>
            <a:r>
              <a:rPr sz="1800" spc="-40" dirty="0">
                <a:latin typeface="Calibri"/>
                <a:cs typeface="Calibri"/>
              </a:rPr>
              <a:t>entradas,</a:t>
            </a:r>
            <a:endParaRPr sz="1800" dirty="0">
              <a:latin typeface="Calibri"/>
              <a:cs typeface="Calibri"/>
            </a:endParaRPr>
          </a:p>
          <a:p>
            <a:pPr marL="226060" indent="-213995">
              <a:lnSpc>
                <a:spcPct val="100000"/>
              </a:lnSpc>
              <a:buAutoNum type="arabicPeriod"/>
              <a:tabLst>
                <a:tab pos="226695" algn="l"/>
              </a:tabLst>
            </a:pPr>
            <a:r>
              <a:rPr sz="1800" spc="90" dirty="0">
                <a:latin typeface="Calibri"/>
                <a:cs typeface="Calibri"/>
              </a:rPr>
              <a:t>El</a:t>
            </a:r>
            <a:r>
              <a:rPr sz="1800" spc="5" dirty="0">
                <a:latin typeface="Calibri"/>
                <a:cs typeface="Calibri"/>
              </a:rPr>
              <a:t> </a:t>
            </a:r>
            <a:r>
              <a:rPr sz="1800" spc="-10" dirty="0">
                <a:latin typeface="Calibri"/>
                <a:cs typeface="Calibri"/>
              </a:rPr>
              <a:t>axón,</a:t>
            </a:r>
            <a:r>
              <a:rPr sz="1800" spc="5" dirty="0">
                <a:latin typeface="Calibri"/>
                <a:cs typeface="Calibri"/>
              </a:rPr>
              <a:t> </a:t>
            </a:r>
            <a:r>
              <a:rPr sz="1800" spc="-50" dirty="0">
                <a:latin typeface="Calibri"/>
                <a:cs typeface="Calibri"/>
              </a:rPr>
              <a:t>que</a:t>
            </a:r>
            <a:r>
              <a:rPr sz="1800" spc="5" dirty="0">
                <a:latin typeface="Calibri"/>
                <a:cs typeface="Calibri"/>
              </a:rPr>
              <a:t> </a:t>
            </a:r>
            <a:r>
              <a:rPr sz="1800" spc="-20" dirty="0">
                <a:latin typeface="Calibri"/>
                <a:cs typeface="Calibri"/>
              </a:rPr>
              <a:t>lleva</a:t>
            </a:r>
            <a:r>
              <a:rPr sz="1800" spc="5" dirty="0">
                <a:latin typeface="Calibri"/>
                <a:cs typeface="Calibri"/>
              </a:rPr>
              <a:t> </a:t>
            </a:r>
            <a:r>
              <a:rPr sz="1800" spc="-15" dirty="0">
                <a:latin typeface="Calibri"/>
                <a:cs typeface="Calibri"/>
              </a:rPr>
              <a:t>la</a:t>
            </a:r>
            <a:r>
              <a:rPr sz="1800" spc="5" dirty="0">
                <a:latin typeface="Calibri"/>
                <a:cs typeface="Calibri"/>
              </a:rPr>
              <a:t> </a:t>
            </a:r>
            <a:r>
              <a:rPr sz="1800" spc="-15" dirty="0">
                <a:latin typeface="Calibri"/>
                <a:cs typeface="Calibri"/>
              </a:rPr>
              <a:t>salida</a:t>
            </a:r>
            <a:r>
              <a:rPr sz="1800" spc="5" dirty="0">
                <a:latin typeface="Calibri"/>
                <a:cs typeface="Calibri"/>
              </a:rPr>
              <a:t> </a:t>
            </a:r>
            <a:r>
              <a:rPr sz="1800" spc="-65" dirty="0">
                <a:latin typeface="Calibri"/>
                <a:cs typeface="Calibri"/>
              </a:rPr>
              <a:t>de</a:t>
            </a:r>
            <a:r>
              <a:rPr sz="1800" spc="5" dirty="0">
                <a:latin typeface="Calibri"/>
                <a:cs typeface="Calibri"/>
              </a:rPr>
              <a:t> </a:t>
            </a:r>
            <a:r>
              <a:rPr sz="1800" spc="-15" dirty="0">
                <a:latin typeface="Calibri"/>
                <a:cs typeface="Calibri"/>
              </a:rPr>
              <a:t>la</a:t>
            </a:r>
            <a:r>
              <a:rPr sz="1800" spc="5" dirty="0">
                <a:latin typeface="Calibri"/>
                <a:cs typeface="Calibri"/>
              </a:rPr>
              <a:t> </a:t>
            </a:r>
            <a:r>
              <a:rPr sz="1800" spc="-20" dirty="0">
                <a:latin typeface="Calibri"/>
                <a:cs typeface="Calibri"/>
              </a:rPr>
              <a:t>neurona</a:t>
            </a:r>
            <a:r>
              <a:rPr sz="1800" spc="5" dirty="0">
                <a:latin typeface="Calibri"/>
                <a:cs typeface="Calibri"/>
              </a:rPr>
              <a:t> </a:t>
            </a:r>
            <a:r>
              <a:rPr sz="1800" spc="-75" dirty="0">
                <a:latin typeface="Calibri"/>
                <a:cs typeface="Calibri"/>
              </a:rPr>
              <a:t>a</a:t>
            </a:r>
            <a:r>
              <a:rPr sz="1800" spc="5" dirty="0">
                <a:latin typeface="Calibri"/>
                <a:cs typeface="Calibri"/>
              </a:rPr>
              <a:t> </a:t>
            </a:r>
            <a:r>
              <a:rPr sz="1800" spc="-25" dirty="0">
                <a:latin typeface="Calibri"/>
                <a:cs typeface="Calibri"/>
              </a:rPr>
              <a:t>las</a:t>
            </a:r>
            <a:r>
              <a:rPr sz="1800" spc="5" dirty="0">
                <a:latin typeface="Calibri"/>
                <a:cs typeface="Calibri"/>
              </a:rPr>
              <a:t> </a:t>
            </a:r>
            <a:r>
              <a:rPr sz="1800" spc="-20" dirty="0">
                <a:latin typeface="Calibri"/>
                <a:cs typeface="Calibri"/>
              </a:rPr>
              <a:t>dendritas</a:t>
            </a:r>
            <a:r>
              <a:rPr sz="1800" spc="5" dirty="0">
                <a:latin typeface="Calibri"/>
                <a:cs typeface="Calibri"/>
              </a:rPr>
              <a:t> </a:t>
            </a:r>
            <a:r>
              <a:rPr sz="1800" spc="-65" dirty="0">
                <a:latin typeface="Calibri"/>
                <a:cs typeface="Calibri"/>
              </a:rPr>
              <a:t>de</a:t>
            </a:r>
            <a:r>
              <a:rPr sz="1800" spc="5" dirty="0">
                <a:latin typeface="Calibri"/>
                <a:cs typeface="Calibri"/>
              </a:rPr>
              <a:t> </a:t>
            </a:r>
            <a:r>
              <a:rPr sz="1800" spc="-35" dirty="0" err="1">
                <a:latin typeface="Calibri"/>
                <a:cs typeface="Calibri"/>
              </a:rPr>
              <a:t>otras</a:t>
            </a:r>
            <a:r>
              <a:rPr sz="1800" spc="5" dirty="0">
                <a:latin typeface="Calibri"/>
                <a:cs typeface="Calibri"/>
              </a:rPr>
              <a:t> </a:t>
            </a:r>
            <a:r>
              <a:rPr sz="1800" spc="-25" dirty="0" err="1" smtClean="0">
                <a:latin typeface="Calibri"/>
                <a:cs typeface="Calibri"/>
              </a:rPr>
              <a:t>neuronas</a:t>
            </a:r>
            <a:r>
              <a:rPr lang="es-ES" sz="1800" spc="-25" dirty="0" smtClean="0">
                <a:latin typeface="Calibri"/>
                <a:cs typeface="Calibri"/>
              </a:rPr>
              <a:t> por diferencias de potencial eléctrico</a:t>
            </a:r>
            <a:r>
              <a:rPr sz="1800" spc="-25" dirty="0" smtClean="0">
                <a:latin typeface="Calibri"/>
                <a:cs typeface="Calibri"/>
              </a:rPr>
              <a:t>.</a:t>
            </a:r>
            <a:endParaRPr sz="1800" dirty="0">
              <a:latin typeface="Calibri"/>
              <a:cs typeface="Calibri"/>
            </a:endParaRPr>
          </a:p>
        </p:txBody>
      </p:sp>
      <p:pic>
        <p:nvPicPr>
          <p:cNvPr id="3" name="object 3"/>
          <p:cNvPicPr/>
          <p:nvPr/>
        </p:nvPicPr>
        <p:blipFill>
          <a:blip r:embed="rId2" cstate="print"/>
          <a:stretch>
            <a:fillRect/>
          </a:stretch>
        </p:blipFill>
        <p:spPr>
          <a:xfrm>
            <a:off x="927100" y="2257425"/>
            <a:ext cx="3796286" cy="251435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1129" y="490473"/>
            <a:ext cx="5309870"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538DD3"/>
                </a:solidFill>
                <a:latin typeface="Times New Roman"/>
                <a:cs typeface="Times New Roman"/>
              </a:rPr>
              <a:t>Input,</a:t>
            </a:r>
            <a:r>
              <a:rPr sz="3600" b="1" spc="-20" dirty="0">
                <a:solidFill>
                  <a:srgbClr val="538DD3"/>
                </a:solidFill>
                <a:latin typeface="Times New Roman"/>
                <a:cs typeface="Times New Roman"/>
              </a:rPr>
              <a:t> </a:t>
            </a:r>
            <a:r>
              <a:rPr sz="3600" b="1" spc="-5" dirty="0">
                <a:solidFill>
                  <a:srgbClr val="538DD3"/>
                </a:solidFill>
                <a:latin typeface="Times New Roman"/>
                <a:cs typeface="Times New Roman"/>
              </a:rPr>
              <a:t>Activación</a:t>
            </a:r>
            <a:r>
              <a:rPr sz="3600" b="1" spc="-20" dirty="0">
                <a:solidFill>
                  <a:srgbClr val="538DD3"/>
                </a:solidFill>
                <a:latin typeface="Times New Roman"/>
                <a:cs typeface="Times New Roman"/>
              </a:rPr>
              <a:t> </a:t>
            </a:r>
            <a:r>
              <a:rPr sz="3600" b="1" dirty="0">
                <a:solidFill>
                  <a:srgbClr val="538DD3"/>
                </a:solidFill>
                <a:latin typeface="Times New Roman"/>
                <a:cs typeface="Times New Roman"/>
              </a:rPr>
              <a:t>y</a:t>
            </a:r>
            <a:r>
              <a:rPr sz="3600" b="1" spc="-20" dirty="0">
                <a:solidFill>
                  <a:srgbClr val="538DD3"/>
                </a:solidFill>
                <a:latin typeface="Times New Roman"/>
                <a:cs typeface="Times New Roman"/>
              </a:rPr>
              <a:t> </a:t>
            </a:r>
            <a:r>
              <a:rPr sz="3600" b="1" dirty="0">
                <a:solidFill>
                  <a:srgbClr val="538DD3"/>
                </a:solidFill>
                <a:latin typeface="Times New Roman"/>
                <a:cs typeface="Times New Roman"/>
              </a:rPr>
              <a:t>Output</a:t>
            </a:r>
            <a:endParaRPr sz="3600" dirty="0">
              <a:latin typeface="Times New Roman"/>
              <a:cs typeface="Times New Roman"/>
            </a:endParaRPr>
          </a:p>
        </p:txBody>
      </p:sp>
      <p:grpSp>
        <p:nvGrpSpPr>
          <p:cNvPr id="9" name="Grupo 8"/>
          <p:cNvGrpSpPr/>
          <p:nvPr/>
        </p:nvGrpSpPr>
        <p:grpSpPr>
          <a:xfrm>
            <a:off x="2222500" y="1419225"/>
            <a:ext cx="5562600" cy="3430630"/>
            <a:chOff x="2222500" y="1800226"/>
            <a:chExt cx="5562600" cy="3430630"/>
          </a:xfrm>
        </p:grpSpPr>
        <p:pic>
          <p:nvPicPr>
            <p:cNvPr id="3" name="object 3"/>
            <p:cNvPicPr/>
            <p:nvPr/>
          </p:nvPicPr>
          <p:blipFill>
            <a:blip r:embed="rId3" cstate="print"/>
            <a:stretch>
              <a:fillRect/>
            </a:stretch>
          </p:blipFill>
          <p:spPr>
            <a:xfrm>
              <a:off x="2374900" y="1800226"/>
              <a:ext cx="4981233" cy="3285492"/>
            </a:xfrm>
            <a:prstGeom prst="rect">
              <a:avLst/>
            </a:prstGeom>
          </p:spPr>
        </p:pic>
        <p:sp>
          <p:nvSpPr>
            <p:cNvPr id="5" name="CuadroTexto 4"/>
            <p:cNvSpPr txBox="1"/>
            <p:nvPr/>
          </p:nvSpPr>
          <p:spPr>
            <a:xfrm>
              <a:off x="2374900" y="1952625"/>
              <a:ext cx="1143000" cy="461665"/>
            </a:xfrm>
            <a:prstGeom prst="rect">
              <a:avLst/>
            </a:prstGeom>
            <a:solidFill>
              <a:schemeClr val="bg1"/>
            </a:solidFill>
          </p:spPr>
          <p:txBody>
            <a:bodyPr wrap="square" rtlCol="0">
              <a:spAutoFit/>
            </a:bodyPr>
            <a:lstStyle/>
            <a:p>
              <a:r>
                <a:rPr lang="es-ES" sz="1200" dirty="0" smtClean="0"/>
                <a:t>Input: señal sonora</a:t>
              </a:r>
              <a:endParaRPr lang="es-ES" sz="1200" dirty="0"/>
            </a:p>
          </p:txBody>
        </p:sp>
        <p:sp>
          <p:nvSpPr>
            <p:cNvPr id="6" name="CuadroTexto 5"/>
            <p:cNvSpPr txBox="1"/>
            <p:nvPr/>
          </p:nvSpPr>
          <p:spPr>
            <a:xfrm>
              <a:off x="2222500" y="3573518"/>
              <a:ext cx="914400" cy="461665"/>
            </a:xfrm>
            <a:prstGeom prst="rect">
              <a:avLst/>
            </a:prstGeom>
            <a:solidFill>
              <a:schemeClr val="bg1"/>
            </a:solidFill>
          </p:spPr>
          <p:txBody>
            <a:bodyPr wrap="square" rtlCol="0">
              <a:spAutoFit/>
            </a:bodyPr>
            <a:lstStyle/>
            <a:p>
              <a:r>
                <a:rPr lang="es-ES" sz="1200" dirty="0" smtClean="0"/>
                <a:t>Input: señal visual</a:t>
              </a:r>
              <a:endParaRPr lang="es-ES" sz="1200" dirty="0"/>
            </a:p>
          </p:txBody>
        </p:sp>
        <p:sp>
          <p:nvSpPr>
            <p:cNvPr id="7" name="CuadroTexto 6"/>
            <p:cNvSpPr txBox="1"/>
            <p:nvPr/>
          </p:nvSpPr>
          <p:spPr>
            <a:xfrm>
              <a:off x="6337300" y="2486025"/>
              <a:ext cx="1143000" cy="461665"/>
            </a:xfrm>
            <a:prstGeom prst="rect">
              <a:avLst/>
            </a:prstGeom>
            <a:solidFill>
              <a:schemeClr val="bg1"/>
            </a:solidFill>
          </p:spPr>
          <p:txBody>
            <a:bodyPr wrap="square" rtlCol="0">
              <a:spAutoFit/>
            </a:bodyPr>
            <a:lstStyle/>
            <a:p>
              <a:r>
                <a:rPr lang="es-ES" sz="1200" dirty="0" smtClean="0"/>
                <a:t>Output: salivación</a:t>
              </a:r>
              <a:endParaRPr lang="es-ES" sz="1200" dirty="0"/>
            </a:p>
          </p:txBody>
        </p:sp>
        <p:sp>
          <p:nvSpPr>
            <p:cNvPr id="8" name="CuadroTexto 7"/>
            <p:cNvSpPr txBox="1"/>
            <p:nvPr/>
          </p:nvSpPr>
          <p:spPr>
            <a:xfrm>
              <a:off x="3136900" y="4338304"/>
              <a:ext cx="4648200" cy="892552"/>
            </a:xfrm>
            <a:prstGeom prst="rect">
              <a:avLst/>
            </a:prstGeom>
            <a:solidFill>
              <a:schemeClr val="bg1"/>
            </a:solidFill>
          </p:spPr>
          <p:txBody>
            <a:bodyPr wrap="square" rtlCol="0">
              <a:spAutoFit/>
            </a:bodyPr>
            <a:lstStyle/>
            <a:p>
              <a:r>
                <a:rPr lang="es-ES" sz="1200" dirty="0" smtClean="0">
                  <a:solidFill>
                    <a:schemeClr val="bg1"/>
                  </a:solidFill>
                </a:rPr>
                <a:t>Dos neuronas, A y C, son estimuladas por estímulos sensoriales input, sonoro y visual,. La tercera neurona, B, provoca salivación. Las dos uniones sinápticas se llaman S</a:t>
              </a:r>
              <a:r>
                <a:rPr lang="es-ES" sz="1200" baseline="-25000" dirty="0" smtClean="0">
                  <a:solidFill>
                    <a:schemeClr val="bg1"/>
                  </a:solidFill>
                </a:rPr>
                <a:t>BA</a:t>
              </a:r>
              <a:r>
                <a:rPr lang="es-ES" sz="1200" dirty="0" smtClean="0">
                  <a:solidFill>
                    <a:schemeClr val="bg1"/>
                  </a:solidFill>
                </a:rPr>
                <a:t> y S</a:t>
              </a:r>
              <a:r>
                <a:rPr lang="es-ES" sz="1200" baseline="-25000" dirty="0" smtClean="0">
                  <a:solidFill>
                    <a:schemeClr val="bg1"/>
                  </a:solidFill>
                </a:rPr>
                <a:t>BC</a:t>
              </a:r>
            </a:p>
            <a:p>
              <a:endParaRPr lang="es-ES" sz="1200" baseline="-25000" dirty="0"/>
            </a:p>
            <a:p>
              <a:endParaRPr lang="es-ES" sz="1200" baseline="-25000" dirty="0"/>
            </a:p>
          </p:txBody>
        </p:sp>
      </p:grpSp>
      <p:sp>
        <p:nvSpPr>
          <p:cNvPr id="4" name="CuadroTexto 3"/>
          <p:cNvSpPr txBox="1"/>
          <p:nvPr/>
        </p:nvSpPr>
        <p:spPr>
          <a:xfrm>
            <a:off x="584200" y="4619625"/>
            <a:ext cx="9753600" cy="2031325"/>
          </a:xfrm>
          <a:prstGeom prst="rect">
            <a:avLst/>
          </a:prstGeom>
          <a:noFill/>
        </p:spPr>
        <p:txBody>
          <a:bodyPr wrap="square" rtlCol="0">
            <a:spAutoFit/>
          </a:bodyPr>
          <a:lstStyle/>
          <a:p>
            <a:r>
              <a:rPr lang="es-ES" dirty="0" smtClean="0"/>
              <a:t>Las redes neuronales artificiales buscan hacer una simulación abstracta del sistema nervioso.</a:t>
            </a:r>
          </a:p>
          <a:p>
            <a:endParaRPr lang="es-ES" dirty="0" smtClean="0"/>
          </a:p>
          <a:p>
            <a:r>
              <a:rPr lang="es-ES" dirty="0" smtClean="0"/>
              <a:t>En este ejemplo hay dos neuronas que reciben la información o el estímulo desde fuera. La neurona A recibe un estímulo sonoro y la neurona C recibe un estímulo visual. Estas entradas a </a:t>
            </a:r>
            <a:r>
              <a:rPr lang="es-ES" dirty="0" err="1" smtClean="0"/>
              <a:t>A</a:t>
            </a:r>
            <a:r>
              <a:rPr lang="es-ES" dirty="0" smtClean="0"/>
              <a:t> y C se activan y envían la señal de activación a la neurona B, que efectúa la salida, en este caso salivación</a:t>
            </a:r>
            <a:r>
              <a:rPr lang="es-ES" dirty="0"/>
              <a:t>. Las dos uniones sinápticas se llaman S</a:t>
            </a:r>
            <a:r>
              <a:rPr lang="es-ES" baseline="-25000" dirty="0"/>
              <a:t>BA</a:t>
            </a:r>
            <a:r>
              <a:rPr lang="es-ES" dirty="0"/>
              <a:t> y S</a:t>
            </a:r>
            <a:r>
              <a:rPr lang="es-ES" baseline="-25000" dirty="0"/>
              <a:t>BC</a:t>
            </a:r>
          </a:p>
          <a:p>
            <a:endParaRPr lang="es-E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84322" y="665734"/>
            <a:ext cx="4518660"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538DD3"/>
                </a:solidFill>
                <a:latin typeface="Times New Roman"/>
                <a:cs typeface="Times New Roman"/>
              </a:rPr>
              <a:t>Representación</a:t>
            </a:r>
            <a:r>
              <a:rPr sz="3600" b="1" spc="-50" dirty="0">
                <a:solidFill>
                  <a:srgbClr val="538DD3"/>
                </a:solidFill>
                <a:latin typeface="Times New Roman"/>
                <a:cs typeface="Times New Roman"/>
              </a:rPr>
              <a:t> </a:t>
            </a:r>
            <a:r>
              <a:rPr sz="3600" b="1" dirty="0">
                <a:solidFill>
                  <a:srgbClr val="538DD3"/>
                </a:solidFill>
                <a:latin typeface="Times New Roman"/>
                <a:cs typeface="Times New Roman"/>
              </a:rPr>
              <a:t>en</a:t>
            </a:r>
            <a:r>
              <a:rPr sz="3600" b="1" spc="-45" dirty="0">
                <a:solidFill>
                  <a:srgbClr val="538DD3"/>
                </a:solidFill>
                <a:latin typeface="Times New Roman"/>
                <a:cs typeface="Times New Roman"/>
              </a:rPr>
              <a:t> </a:t>
            </a:r>
            <a:r>
              <a:rPr sz="3600" b="1" spc="-5" dirty="0">
                <a:solidFill>
                  <a:srgbClr val="538DD3"/>
                </a:solidFill>
                <a:latin typeface="Times New Roman"/>
                <a:cs typeface="Times New Roman"/>
              </a:rPr>
              <a:t>Red</a:t>
            </a:r>
            <a:endParaRPr sz="3600">
              <a:latin typeface="Times New Roman"/>
              <a:cs typeface="Times New Roman"/>
            </a:endParaRPr>
          </a:p>
        </p:txBody>
      </p:sp>
      <p:pic>
        <p:nvPicPr>
          <p:cNvPr id="3" name="object 3"/>
          <p:cNvPicPr/>
          <p:nvPr/>
        </p:nvPicPr>
        <p:blipFill>
          <a:blip r:embed="rId2" cstate="print"/>
          <a:stretch>
            <a:fillRect/>
          </a:stretch>
        </p:blipFill>
        <p:spPr>
          <a:xfrm>
            <a:off x="2362807" y="2429468"/>
            <a:ext cx="5116843" cy="2878364"/>
          </a:xfrm>
          <a:prstGeom prst="rect">
            <a:avLst/>
          </a:prstGeom>
        </p:spPr>
      </p:pic>
      <p:sp>
        <p:nvSpPr>
          <p:cNvPr id="4" name="object 4"/>
          <p:cNvSpPr txBox="1"/>
          <p:nvPr/>
        </p:nvSpPr>
        <p:spPr>
          <a:xfrm>
            <a:off x="774687" y="5767463"/>
            <a:ext cx="9271000" cy="848360"/>
          </a:xfrm>
          <a:prstGeom prst="rect">
            <a:avLst/>
          </a:prstGeom>
        </p:spPr>
        <p:txBody>
          <a:bodyPr vert="horz" wrap="square" lIns="0" tIns="12700" rIns="0" bIns="0" rtlCol="0">
            <a:spAutoFit/>
          </a:bodyPr>
          <a:lstStyle/>
          <a:p>
            <a:pPr marL="12700" marR="5080" algn="just">
              <a:lnSpc>
                <a:spcPct val="100000"/>
              </a:lnSpc>
              <a:spcBef>
                <a:spcPts val="100"/>
              </a:spcBef>
            </a:pPr>
            <a:r>
              <a:rPr sz="1800" spc="-45" dirty="0">
                <a:latin typeface="+mj-lt"/>
                <a:cs typeface="Cambria"/>
              </a:rPr>
              <a:t>La</a:t>
            </a:r>
            <a:r>
              <a:rPr sz="1800" spc="310" dirty="0">
                <a:latin typeface="+mj-lt"/>
                <a:cs typeface="Cambria"/>
              </a:rPr>
              <a:t> </a:t>
            </a:r>
            <a:r>
              <a:rPr sz="1800" spc="-60" dirty="0">
                <a:latin typeface="+mj-lt"/>
                <a:cs typeface="Cambria"/>
              </a:rPr>
              <a:t>neurona</a:t>
            </a:r>
            <a:r>
              <a:rPr sz="1800" spc="-55" dirty="0">
                <a:latin typeface="+mj-lt"/>
                <a:cs typeface="Cambria"/>
              </a:rPr>
              <a:t> </a:t>
            </a:r>
            <a:r>
              <a:rPr sz="1800" spc="-70" dirty="0">
                <a:latin typeface="+mj-lt"/>
                <a:cs typeface="Cambria"/>
              </a:rPr>
              <a:t>recoge</a:t>
            </a:r>
            <a:r>
              <a:rPr sz="1800" spc="260" dirty="0">
                <a:latin typeface="+mj-lt"/>
                <a:cs typeface="Cambria"/>
              </a:rPr>
              <a:t> </a:t>
            </a:r>
            <a:r>
              <a:rPr sz="1800" spc="-80" dirty="0">
                <a:latin typeface="+mj-lt"/>
                <a:cs typeface="Cambria"/>
              </a:rPr>
              <a:t>las</a:t>
            </a:r>
            <a:r>
              <a:rPr sz="1800" spc="-75" dirty="0">
                <a:latin typeface="+mj-lt"/>
                <a:cs typeface="Cambria"/>
              </a:rPr>
              <a:t> </a:t>
            </a:r>
            <a:r>
              <a:rPr sz="1800" spc="-85" dirty="0">
                <a:latin typeface="+mj-lt"/>
                <a:cs typeface="Cambria"/>
              </a:rPr>
              <a:t>señales</a:t>
            </a:r>
            <a:r>
              <a:rPr sz="1800" spc="-80" dirty="0">
                <a:latin typeface="+mj-lt"/>
                <a:cs typeface="Cambria"/>
              </a:rPr>
              <a:t> </a:t>
            </a:r>
            <a:r>
              <a:rPr sz="1800" spc="-60" dirty="0">
                <a:latin typeface="+mj-lt"/>
                <a:cs typeface="Cambria"/>
              </a:rPr>
              <a:t>por</a:t>
            </a:r>
            <a:r>
              <a:rPr sz="1800" spc="-55" dirty="0">
                <a:latin typeface="+mj-lt"/>
                <a:cs typeface="Cambria"/>
              </a:rPr>
              <a:t> </a:t>
            </a:r>
            <a:r>
              <a:rPr sz="1800" spc="-80" dirty="0">
                <a:latin typeface="+mj-lt"/>
                <a:cs typeface="Cambria"/>
              </a:rPr>
              <a:t>su</a:t>
            </a:r>
            <a:r>
              <a:rPr sz="1800" spc="-75" dirty="0">
                <a:latin typeface="+mj-lt"/>
                <a:cs typeface="Cambria"/>
              </a:rPr>
              <a:t> </a:t>
            </a:r>
            <a:r>
              <a:rPr sz="1800" spc="-70" dirty="0">
                <a:latin typeface="+mj-lt"/>
                <a:cs typeface="Cambria"/>
              </a:rPr>
              <a:t>sinapsis</a:t>
            </a:r>
            <a:r>
              <a:rPr sz="1800" spc="260" dirty="0">
                <a:latin typeface="+mj-lt"/>
                <a:cs typeface="Cambria"/>
              </a:rPr>
              <a:t> </a:t>
            </a:r>
            <a:r>
              <a:rPr sz="1800" spc="-55" dirty="0">
                <a:latin typeface="+mj-lt"/>
                <a:cs typeface="Cambria"/>
              </a:rPr>
              <a:t>sumando</a:t>
            </a:r>
            <a:r>
              <a:rPr sz="1800" spc="-50" dirty="0">
                <a:latin typeface="+mj-lt"/>
                <a:cs typeface="Cambria"/>
              </a:rPr>
              <a:t> </a:t>
            </a:r>
            <a:r>
              <a:rPr sz="1800" spc="-70" dirty="0">
                <a:latin typeface="+mj-lt"/>
                <a:cs typeface="Cambria"/>
              </a:rPr>
              <a:t>todas</a:t>
            </a:r>
            <a:r>
              <a:rPr sz="1800" spc="260" dirty="0">
                <a:latin typeface="+mj-lt"/>
                <a:cs typeface="Cambria"/>
              </a:rPr>
              <a:t> </a:t>
            </a:r>
            <a:r>
              <a:rPr sz="1800" spc="-80" dirty="0">
                <a:latin typeface="+mj-lt"/>
                <a:cs typeface="Cambria"/>
              </a:rPr>
              <a:t>las</a:t>
            </a:r>
            <a:r>
              <a:rPr sz="1800" spc="-75" dirty="0">
                <a:latin typeface="+mj-lt"/>
                <a:cs typeface="Cambria"/>
              </a:rPr>
              <a:t> </a:t>
            </a:r>
            <a:r>
              <a:rPr sz="1800" spc="-50" dirty="0">
                <a:latin typeface="+mj-lt"/>
                <a:cs typeface="Cambria"/>
              </a:rPr>
              <a:t>influencias</a:t>
            </a:r>
            <a:r>
              <a:rPr sz="1800" spc="-45" dirty="0">
                <a:latin typeface="+mj-lt"/>
                <a:cs typeface="Cambria"/>
              </a:rPr>
              <a:t> </a:t>
            </a:r>
            <a:r>
              <a:rPr sz="1800" b="1" spc="-65" dirty="0">
                <a:latin typeface="+mj-lt"/>
                <a:cs typeface="Cambria"/>
              </a:rPr>
              <a:t>excitadoras</a:t>
            </a:r>
            <a:r>
              <a:rPr sz="1800" spc="-60" dirty="0">
                <a:latin typeface="+mj-lt"/>
                <a:cs typeface="Cambria"/>
              </a:rPr>
              <a:t> </a:t>
            </a:r>
            <a:r>
              <a:rPr sz="1800" spc="-114" dirty="0">
                <a:latin typeface="+mj-lt"/>
                <a:cs typeface="Cambria"/>
              </a:rPr>
              <a:t>e </a:t>
            </a:r>
            <a:r>
              <a:rPr sz="1800" b="1" spc="-110" dirty="0">
                <a:latin typeface="+mj-lt"/>
                <a:cs typeface="Cambria"/>
              </a:rPr>
              <a:t> </a:t>
            </a:r>
            <a:r>
              <a:rPr sz="1800" b="1" spc="-45" dirty="0">
                <a:latin typeface="+mj-lt"/>
                <a:cs typeface="Cambria"/>
              </a:rPr>
              <a:t>inhibidoras</a:t>
            </a:r>
            <a:r>
              <a:rPr sz="1800" spc="-45" dirty="0">
                <a:latin typeface="+mj-lt"/>
                <a:cs typeface="Cambria"/>
              </a:rPr>
              <a:t>. </a:t>
            </a:r>
            <a:r>
              <a:rPr sz="1800" spc="-30" dirty="0">
                <a:latin typeface="+mj-lt"/>
                <a:cs typeface="Cambria"/>
              </a:rPr>
              <a:t>Si </a:t>
            </a:r>
            <a:r>
              <a:rPr sz="1800" spc="-80" dirty="0">
                <a:latin typeface="+mj-lt"/>
                <a:cs typeface="Cambria"/>
              </a:rPr>
              <a:t>las </a:t>
            </a:r>
            <a:r>
              <a:rPr sz="1800" spc="-50" dirty="0">
                <a:latin typeface="+mj-lt"/>
                <a:cs typeface="Cambria"/>
              </a:rPr>
              <a:t>influencias </a:t>
            </a:r>
            <a:r>
              <a:rPr sz="1800" spc="-65" dirty="0">
                <a:latin typeface="+mj-lt"/>
                <a:cs typeface="Cambria"/>
              </a:rPr>
              <a:t>excitadoras positivas </a:t>
            </a:r>
            <a:r>
              <a:rPr sz="1800" spc="-30" dirty="0">
                <a:latin typeface="+mj-lt"/>
                <a:cs typeface="Cambria"/>
              </a:rPr>
              <a:t>dominan, </a:t>
            </a:r>
            <a:r>
              <a:rPr sz="1800" spc="-65" dirty="0">
                <a:latin typeface="+mj-lt"/>
                <a:cs typeface="Cambria"/>
              </a:rPr>
              <a:t>entonces la </a:t>
            </a:r>
            <a:r>
              <a:rPr sz="1800" spc="-60" dirty="0">
                <a:latin typeface="+mj-lt"/>
                <a:cs typeface="Cambria"/>
              </a:rPr>
              <a:t>neurona produce </a:t>
            </a:r>
            <a:r>
              <a:rPr sz="1800" spc="-50" dirty="0">
                <a:latin typeface="+mj-lt"/>
                <a:cs typeface="Cambria"/>
              </a:rPr>
              <a:t>una </a:t>
            </a:r>
            <a:r>
              <a:rPr sz="1800" spc="-75" dirty="0">
                <a:latin typeface="+mj-lt"/>
                <a:cs typeface="Cambria"/>
              </a:rPr>
              <a:t>señal </a:t>
            </a:r>
            <a:r>
              <a:rPr sz="1800" spc="-70" dirty="0">
                <a:latin typeface="+mj-lt"/>
                <a:cs typeface="Cambria"/>
              </a:rPr>
              <a:t> </a:t>
            </a:r>
            <a:r>
              <a:rPr sz="1800" spc="-60" dirty="0">
                <a:latin typeface="+mj-lt"/>
                <a:cs typeface="Cambria"/>
              </a:rPr>
              <a:t>positiva</a:t>
            </a:r>
            <a:r>
              <a:rPr sz="1800" spc="10" dirty="0">
                <a:latin typeface="+mj-lt"/>
                <a:cs typeface="Cambria"/>
              </a:rPr>
              <a:t> </a:t>
            </a:r>
            <a:r>
              <a:rPr sz="1800" spc="-85" dirty="0">
                <a:latin typeface="+mj-lt"/>
                <a:cs typeface="Cambria"/>
              </a:rPr>
              <a:t>y</a:t>
            </a:r>
            <a:r>
              <a:rPr sz="1800" spc="10" dirty="0">
                <a:latin typeface="+mj-lt"/>
                <a:cs typeface="Cambria"/>
              </a:rPr>
              <a:t> </a:t>
            </a:r>
            <a:r>
              <a:rPr sz="1800" spc="-55" dirty="0">
                <a:latin typeface="+mj-lt"/>
                <a:cs typeface="Cambria"/>
              </a:rPr>
              <a:t>manda</a:t>
            </a:r>
            <a:r>
              <a:rPr sz="1800" spc="10" dirty="0">
                <a:latin typeface="+mj-lt"/>
                <a:cs typeface="Cambria"/>
              </a:rPr>
              <a:t> </a:t>
            </a:r>
            <a:r>
              <a:rPr sz="1800" spc="-100" dirty="0">
                <a:latin typeface="+mj-lt"/>
                <a:cs typeface="Cambria"/>
              </a:rPr>
              <a:t>este</a:t>
            </a:r>
            <a:r>
              <a:rPr sz="1800" spc="10" dirty="0">
                <a:latin typeface="+mj-lt"/>
                <a:cs typeface="Cambria"/>
              </a:rPr>
              <a:t> </a:t>
            </a:r>
            <a:r>
              <a:rPr sz="1800" spc="-70" dirty="0">
                <a:latin typeface="+mj-lt"/>
                <a:cs typeface="Cambria"/>
              </a:rPr>
              <a:t>mensaje</a:t>
            </a:r>
            <a:r>
              <a:rPr sz="1800" spc="10" dirty="0">
                <a:latin typeface="+mj-lt"/>
                <a:cs typeface="Cambria"/>
              </a:rPr>
              <a:t> </a:t>
            </a:r>
            <a:r>
              <a:rPr sz="1800" spc="-90" dirty="0">
                <a:latin typeface="+mj-lt"/>
                <a:cs typeface="Cambria"/>
              </a:rPr>
              <a:t>a</a:t>
            </a:r>
            <a:r>
              <a:rPr sz="1800" spc="10" dirty="0">
                <a:latin typeface="+mj-lt"/>
                <a:cs typeface="Cambria"/>
              </a:rPr>
              <a:t> </a:t>
            </a:r>
            <a:r>
              <a:rPr sz="1800" spc="-80" dirty="0">
                <a:latin typeface="+mj-lt"/>
                <a:cs typeface="Cambria"/>
              </a:rPr>
              <a:t>otras</a:t>
            </a:r>
            <a:r>
              <a:rPr sz="1800" spc="10" dirty="0">
                <a:latin typeface="+mj-lt"/>
                <a:cs typeface="Cambria"/>
              </a:rPr>
              <a:t> </a:t>
            </a:r>
            <a:r>
              <a:rPr sz="1800" spc="-65" dirty="0">
                <a:latin typeface="+mj-lt"/>
                <a:cs typeface="Cambria"/>
              </a:rPr>
              <a:t>neuronas</a:t>
            </a:r>
            <a:r>
              <a:rPr sz="1800" spc="10" dirty="0">
                <a:latin typeface="+mj-lt"/>
                <a:cs typeface="Cambria"/>
              </a:rPr>
              <a:t> </a:t>
            </a:r>
            <a:r>
              <a:rPr sz="1800" spc="-60" dirty="0">
                <a:latin typeface="+mj-lt"/>
                <a:cs typeface="Cambria"/>
              </a:rPr>
              <a:t>por</a:t>
            </a:r>
            <a:r>
              <a:rPr sz="1800" spc="10" dirty="0">
                <a:latin typeface="+mj-lt"/>
                <a:cs typeface="Cambria"/>
              </a:rPr>
              <a:t> </a:t>
            </a:r>
            <a:r>
              <a:rPr sz="1800" spc="-90" dirty="0">
                <a:latin typeface="+mj-lt"/>
                <a:cs typeface="Cambria"/>
              </a:rPr>
              <a:t>sus</a:t>
            </a:r>
            <a:r>
              <a:rPr sz="1800" spc="10" dirty="0">
                <a:latin typeface="+mj-lt"/>
                <a:cs typeface="Cambria"/>
              </a:rPr>
              <a:t> </a:t>
            </a:r>
            <a:r>
              <a:rPr sz="1800" spc="-70" dirty="0">
                <a:latin typeface="+mj-lt"/>
                <a:cs typeface="Cambria"/>
              </a:rPr>
              <a:t>sinapsis</a:t>
            </a:r>
            <a:r>
              <a:rPr sz="1800" spc="10" dirty="0">
                <a:latin typeface="+mj-lt"/>
                <a:cs typeface="Cambria"/>
              </a:rPr>
              <a:t> </a:t>
            </a:r>
            <a:r>
              <a:rPr sz="1800" spc="-85" dirty="0">
                <a:latin typeface="+mj-lt"/>
                <a:cs typeface="Cambria"/>
              </a:rPr>
              <a:t>de</a:t>
            </a:r>
            <a:r>
              <a:rPr sz="1800" spc="10" dirty="0">
                <a:latin typeface="+mj-lt"/>
                <a:cs typeface="Cambria"/>
              </a:rPr>
              <a:t> </a:t>
            </a:r>
            <a:r>
              <a:rPr sz="1800" spc="-50" dirty="0">
                <a:latin typeface="+mj-lt"/>
                <a:cs typeface="Cambria"/>
              </a:rPr>
              <a:t>salida.</a:t>
            </a:r>
            <a:endParaRPr sz="1800" dirty="0">
              <a:latin typeface="+mj-lt"/>
              <a:cs typeface="Cambri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14959"/>
            <a:ext cx="3442970"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538DD3"/>
                </a:solidFill>
                <a:latin typeface="Times New Roman"/>
                <a:cs typeface="Times New Roman"/>
              </a:rPr>
              <a:t>Algunos</a:t>
            </a:r>
            <a:r>
              <a:rPr sz="3600" b="1" spc="-85" dirty="0">
                <a:solidFill>
                  <a:srgbClr val="538DD3"/>
                </a:solidFill>
                <a:latin typeface="Times New Roman"/>
                <a:cs typeface="Times New Roman"/>
              </a:rPr>
              <a:t> </a:t>
            </a:r>
            <a:r>
              <a:rPr sz="3600" b="1" dirty="0">
                <a:solidFill>
                  <a:srgbClr val="538DD3"/>
                </a:solidFill>
                <a:latin typeface="Times New Roman"/>
                <a:cs typeface="Times New Roman"/>
              </a:rPr>
              <a:t>números</a:t>
            </a:r>
            <a:endParaRPr sz="3600" dirty="0">
              <a:latin typeface="Times New Roman"/>
              <a:cs typeface="Times New Roman"/>
            </a:endParaRPr>
          </a:p>
        </p:txBody>
      </p:sp>
      <p:graphicFrame>
        <p:nvGraphicFramePr>
          <p:cNvPr id="3" name="object 3"/>
          <p:cNvGraphicFramePr>
            <a:graphicFrameLocks noGrp="1"/>
          </p:cNvGraphicFramePr>
          <p:nvPr>
            <p:extLst>
              <p:ext uri="{D42A27DB-BD31-4B8C-83A1-F6EECF244321}">
                <p14:modId xmlns:p14="http://schemas.microsoft.com/office/powerpoint/2010/main" val="1190996819"/>
              </p:ext>
            </p:extLst>
          </p:nvPr>
        </p:nvGraphicFramePr>
        <p:xfrm>
          <a:off x="288036" y="2028195"/>
          <a:ext cx="10110467" cy="3277230"/>
        </p:xfrm>
        <a:graphic>
          <a:graphicData uri="http://schemas.openxmlformats.org/drawingml/2006/table">
            <a:tbl>
              <a:tblPr firstRow="1" bandRow="1">
                <a:tableStyleId>{2D5ABB26-0587-4C30-8999-92F81FD0307C}</a:tableStyleId>
              </a:tblPr>
              <a:tblGrid>
                <a:gridCol w="3475354"/>
                <a:gridCol w="3557904"/>
                <a:gridCol w="3077209"/>
              </a:tblGrid>
              <a:tr h="591312">
                <a:tc>
                  <a:txBody>
                    <a:bodyPr/>
                    <a:lstStyle/>
                    <a:p>
                      <a:pPr marL="67945">
                        <a:lnSpc>
                          <a:spcPts val="2285"/>
                        </a:lnSpc>
                      </a:pPr>
                      <a:r>
                        <a:rPr sz="2000" b="1" spc="-5" dirty="0">
                          <a:solidFill>
                            <a:schemeClr val="tx1"/>
                          </a:solidFill>
                          <a:latin typeface="Times New Roman"/>
                          <a:cs typeface="Times New Roman"/>
                        </a:rPr>
                        <a:t>Animal</a:t>
                      </a:r>
                      <a:endParaRPr sz="2000" dirty="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28905">
                        <a:lnSpc>
                          <a:spcPts val="2300"/>
                        </a:lnSpc>
                      </a:pPr>
                      <a:r>
                        <a:rPr sz="2000" b="1" spc="-5" dirty="0">
                          <a:solidFill>
                            <a:schemeClr val="tx1"/>
                          </a:solidFill>
                          <a:latin typeface="Times New Roman"/>
                          <a:cs typeface="Times New Roman"/>
                        </a:rPr>
                        <a:t>Neuronas </a:t>
                      </a:r>
                      <a:r>
                        <a:rPr sz="2000" b="1" dirty="0">
                          <a:solidFill>
                            <a:schemeClr val="tx1"/>
                          </a:solidFill>
                          <a:latin typeface="Times New Roman"/>
                          <a:cs typeface="Times New Roman"/>
                        </a:rPr>
                        <a:t>en </a:t>
                      </a:r>
                      <a:r>
                        <a:rPr sz="2000" b="1" spc="-5" dirty="0">
                          <a:solidFill>
                            <a:schemeClr val="tx1"/>
                          </a:solidFill>
                          <a:latin typeface="Times New Roman"/>
                          <a:cs typeface="Times New Roman"/>
                        </a:rPr>
                        <a:t>total </a:t>
                      </a:r>
                      <a:r>
                        <a:rPr sz="2000" b="1" dirty="0">
                          <a:solidFill>
                            <a:schemeClr val="tx1"/>
                          </a:solidFill>
                          <a:latin typeface="Times New Roman"/>
                          <a:cs typeface="Times New Roman"/>
                        </a:rPr>
                        <a:t>en el </a:t>
                      </a:r>
                      <a:r>
                        <a:rPr sz="2000" b="1" spc="-5" dirty="0">
                          <a:solidFill>
                            <a:schemeClr val="tx1"/>
                          </a:solidFill>
                          <a:latin typeface="Times New Roman"/>
                          <a:cs typeface="Times New Roman"/>
                        </a:rPr>
                        <a:t>sistema </a:t>
                      </a:r>
                      <a:r>
                        <a:rPr sz="2000" b="1" spc="-484" dirty="0">
                          <a:solidFill>
                            <a:schemeClr val="tx1"/>
                          </a:solidFill>
                          <a:latin typeface="Times New Roman"/>
                          <a:cs typeface="Times New Roman"/>
                        </a:rPr>
                        <a:t> </a:t>
                      </a:r>
                      <a:r>
                        <a:rPr sz="2000" b="1" spc="-5" dirty="0">
                          <a:solidFill>
                            <a:schemeClr val="tx1"/>
                          </a:solidFill>
                          <a:latin typeface="Times New Roman"/>
                          <a:cs typeface="Times New Roman"/>
                        </a:rPr>
                        <a:t>nervioso</a:t>
                      </a:r>
                      <a:endParaRPr sz="2000" dirty="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63830">
                        <a:lnSpc>
                          <a:spcPts val="2300"/>
                        </a:lnSpc>
                      </a:pPr>
                      <a:r>
                        <a:rPr sz="2000" b="1" spc="-5" dirty="0">
                          <a:solidFill>
                            <a:schemeClr val="tx1"/>
                          </a:solidFill>
                          <a:latin typeface="Times New Roman"/>
                          <a:cs typeface="Times New Roman"/>
                        </a:rPr>
                        <a:t>Neuronas sólo </a:t>
                      </a:r>
                      <a:r>
                        <a:rPr sz="2000" b="1" dirty="0">
                          <a:solidFill>
                            <a:schemeClr val="tx1"/>
                          </a:solidFill>
                          <a:latin typeface="Times New Roman"/>
                          <a:cs typeface="Times New Roman"/>
                        </a:rPr>
                        <a:t>en el </a:t>
                      </a:r>
                      <a:r>
                        <a:rPr sz="2000" b="1" spc="-5" dirty="0">
                          <a:solidFill>
                            <a:schemeClr val="tx1"/>
                          </a:solidFill>
                          <a:latin typeface="Times New Roman"/>
                          <a:cs typeface="Times New Roman"/>
                        </a:rPr>
                        <a:t>cortex </a:t>
                      </a:r>
                      <a:r>
                        <a:rPr sz="2000" b="1" spc="-484" dirty="0">
                          <a:solidFill>
                            <a:schemeClr val="tx1"/>
                          </a:solidFill>
                          <a:latin typeface="Times New Roman"/>
                          <a:cs typeface="Times New Roman"/>
                        </a:rPr>
                        <a:t> </a:t>
                      </a:r>
                      <a:r>
                        <a:rPr sz="2000" b="1" spc="-5" dirty="0">
                          <a:solidFill>
                            <a:schemeClr val="tx1"/>
                          </a:solidFill>
                          <a:latin typeface="Times New Roman"/>
                          <a:cs typeface="Times New Roman"/>
                        </a:rPr>
                        <a:t>cerebral</a:t>
                      </a:r>
                      <a:endParaRPr sz="20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98704">
                <a:tc>
                  <a:txBody>
                    <a:bodyPr/>
                    <a:lstStyle/>
                    <a:p>
                      <a:pPr marL="67945">
                        <a:lnSpc>
                          <a:spcPts val="2250"/>
                        </a:lnSpc>
                      </a:pPr>
                      <a:r>
                        <a:rPr sz="2000" spc="-5" dirty="0">
                          <a:solidFill>
                            <a:schemeClr val="tx1"/>
                          </a:solidFill>
                          <a:latin typeface="Times New Roman"/>
                          <a:cs typeface="Times New Roman"/>
                        </a:rPr>
                        <a:t>Hombre</a:t>
                      </a:r>
                      <a:endParaRPr sz="20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2250"/>
                        </a:lnSpc>
                      </a:pPr>
                      <a:r>
                        <a:rPr sz="2000" dirty="0">
                          <a:solidFill>
                            <a:schemeClr val="tx1"/>
                          </a:solidFill>
                          <a:latin typeface="Times New Roman"/>
                          <a:cs typeface="Times New Roman"/>
                        </a:rPr>
                        <a:t>8x10</a:t>
                      </a:r>
                      <a:r>
                        <a:rPr sz="1950" baseline="38461" dirty="0">
                          <a:solidFill>
                            <a:schemeClr val="tx1"/>
                          </a:solidFill>
                          <a:latin typeface="Times New Roman"/>
                          <a:cs typeface="Times New Roman"/>
                        </a:rPr>
                        <a:t>10</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2250"/>
                        </a:lnSpc>
                      </a:pPr>
                      <a:r>
                        <a:rPr sz="2000" dirty="0">
                          <a:solidFill>
                            <a:schemeClr val="tx1"/>
                          </a:solidFill>
                          <a:latin typeface="Times New Roman"/>
                          <a:cs typeface="Times New Roman"/>
                        </a:rPr>
                        <a:t>2x10</a:t>
                      </a:r>
                      <a:r>
                        <a:rPr sz="1950" baseline="38461" dirty="0">
                          <a:solidFill>
                            <a:schemeClr val="tx1"/>
                          </a:solidFill>
                          <a:latin typeface="Times New Roman"/>
                          <a:cs typeface="Times New Roman"/>
                        </a:rPr>
                        <a:t>10</a:t>
                      </a:r>
                      <a:endParaRPr sz="1950" baseline="38461">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97179">
                <a:tc>
                  <a:txBody>
                    <a:bodyPr/>
                    <a:lstStyle/>
                    <a:p>
                      <a:pPr marL="67945">
                        <a:lnSpc>
                          <a:spcPts val="2240"/>
                        </a:lnSpc>
                      </a:pPr>
                      <a:r>
                        <a:rPr sz="2000" spc="-5" dirty="0">
                          <a:solidFill>
                            <a:schemeClr val="tx1"/>
                          </a:solidFill>
                          <a:latin typeface="Times New Roman"/>
                          <a:cs typeface="Times New Roman"/>
                        </a:rPr>
                        <a:t>Mosca</a:t>
                      </a:r>
                      <a:r>
                        <a:rPr sz="2000" spc="-35" dirty="0">
                          <a:solidFill>
                            <a:schemeClr val="tx1"/>
                          </a:solidFill>
                          <a:latin typeface="Times New Roman"/>
                          <a:cs typeface="Times New Roman"/>
                        </a:rPr>
                        <a:t> </a:t>
                      </a:r>
                      <a:r>
                        <a:rPr sz="2000" dirty="0">
                          <a:solidFill>
                            <a:schemeClr val="tx1"/>
                          </a:solidFill>
                          <a:latin typeface="Times New Roman"/>
                          <a:cs typeface="Times New Roman"/>
                        </a:rPr>
                        <a:t>de</a:t>
                      </a:r>
                      <a:r>
                        <a:rPr sz="2000" spc="-10" dirty="0">
                          <a:solidFill>
                            <a:schemeClr val="tx1"/>
                          </a:solidFill>
                          <a:latin typeface="Times New Roman"/>
                          <a:cs typeface="Times New Roman"/>
                        </a:rPr>
                        <a:t> </a:t>
                      </a:r>
                      <a:r>
                        <a:rPr sz="2000" dirty="0">
                          <a:solidFill>
                            <a:schemeClr val="tx1"/>
                          </a:solidFill>
                          <a:latin typeface="Times New Roman"/>
                          <a:cs typeface="Times New Roman"/>
                        </a:rPr>
                        <a:t>la</a:t>
                      </a:r>
                      <a:r>
                        <a:rPr sz="2000" spc="-30" dirty="0">
                          <a:solidFill>
                            <a:schemeClr val="tx1"/>
                          </a:solidFill>
                          <a:latin typeface="Times New Roman"/>
                          <a:cs typeface="Times New Roman"/>
                        </a:rPr>
                        <a:t> </a:t>
                      </a:r>
                      <a:r>
                        <a:rPr sz="2000" dirty="0">
                          <a:solidFill>
                            <a:schemeClr val="tx1"/>
                          </a:solidFill>
                          <a:latin typeface="Times New Roman"/>
                          <a:cs typeface="Times New Roman"/>
                        </a:rPr>
                        <a:t>fruta</a:t>
                      </a:r>
                      <a:endParaRPr sz="20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2240"/>
                        </a:lnSpc>
                      </a:pPr>
                      <a:r>
                        <a:rPr sz="2000" dirty="0">
                          <a:solidFill>
                            <a:schemeClr val="tx1"/>
                          </a:solidFill>
                          <a:latin typeface="Times New Roman"/>
                          <a:cs typeface="Times New Roman"/>
                        </a:rPr>
                        <a:t>2x10</a:t>
                      </a:r>
                      <a:r>
                        <a:rPr sz="1950" baseline="38461" dirty="0">
                          <a:solidFill>
                            <a:schemeClr val="tx1"/>
                          </a:solidFill>
                          <a:latin typeface="Times New Roman"/>
                          <a:cs typeface="Times New Roman"/>
                        </a:rPr>
                        <a:t>5</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8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98703">
                <a:tc>
                  <a:txBody>
                    <a:bodyPr/>
                    <a:lstStyle/>
                    <a:p>
                      <a:pPr marL="67945">
                        <a:lnSpc>
                          <a:spcPts val="2250"/>
                        </a:lnSpc>
                      </a:pPr>
                      <a:r>
                        <a:rPr sz="2000" spc="-5" dirty="0">
                          <a:solidFill>
                            <a:schemeClr val="tx1"/>
                          </a:solidFill>
                          <a:latin typeface="Times New Roman"/>
                          <a:cs typeface="Times New Roman"/>
                        </a:rPr>
                        <a:t>Abeja</a:t>
                      </a:r>
                      <a:endParaRPr sz="20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2250"/>
                        </a:lnSpc>
                      </a:pPr>
                      <a:r>
                        <a:rPr sz="2000" dirty="0">
                          <a:solidFill>
                            <a:schemeClr val="tx1"/>
                          </a:solidFill>
                          <a:latin typeface="Times New Roman"/>
                          <a:cs typeface="Times New Roman"/>
                        </a:rPr>
                        <a:t>1x10</a:t>
                      </a:r>
                      <a:r>
                        <a:rPr sz="1950" baseline="38461" dirty="0">
                          <a:solidFill>
                            <a:schemeClr val="tx1"/>
                          </a:solidFill>
                          <a:latin typeface="Times New Roman"/>
                          <a:cs typeface="Times New Roman"/>
                        </a:rPr>
                        <a:t>6</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8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99085">
                <a:tc>
                  <a:txBody>
                    <a:bodyPr/>
                    <a:lstStyle/>
                    <a:p>
                      <a:pPr marL="67945">
                        <a:lnSpc>
                          <a:spcPts val="2255"/>
                        </a:lnSpc>
                      </a:pPr>
                      <a:r>
                        <a:rPr sz="2000" spc="-5" dirty="0">
                          <a:solidFill>
                            <a:schemeClr val="tx1"/>
                          </a:solidFill>
                          <a:latin typeface="Times New Roman"/>
                          <a:cs typeface="Times New Roman"/>
                        </a:rPr>
                        <a:t>Rata</a:t>
                      </a:r>
                      <a:endParaRPr sz="20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2255"/>
                        </a:lnSpc>
                      </a:pPr>
                      <a:r>
                        <a:rPr sz="2000" dirty="0">
                          <a:solidFill>
                            <a:schemeClr val="tx1"/>
                          </a:solidFill>
                          <a:latin typeface="Times New Roman"/>
                          <a:cs typeface="Times New Roman"/>
                        </a:rPr>
                        <a:t>2x10</a:t>
                      </a:r>
                      <a:r>
                        <a:rPr sz="1950" baseline="38461" dirty="0">
                          <a:solidFill>
                            <a:schemeClr val="tx1"/>
                          </a:solidFill>
                          <a:latin typeface="Times New Roman"/>
                          <a:cs typeface="Times New Roman"/>
                        </a:rPr>
                        <a:t>8</a:t>
                      </a:r>
                      <a:endParaRPr sz="1950" baseline="38461">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2255"/>
                        </a:lnSpc>
                      </a:pPr>
                      <a:r>
                        <a:rPr sz="2000" dirty="0">
                          <a:solidFill>
                            <a:schemeClr val="tx1"/>
                          </a:solidFill>
                          <a:latin typeface="Times New Roman"/>
                          <a:cs typeface="Times New Roman"/>
                        </a:rPr>
                        <a:t>2x10</a:t>
                      </a:r>
                      <a:r>
                        <a:rPr sz="1950" baseline="38461" dirty="0">
                          <a:solidFill>
                            <a:schemeClr val="tx1"/>
                          </a:solidFill>
                          <a:latin typeface="Times New Roman"/>
                          <a:cs typeface="Times New Roman"/>
                        </a:rPr>
                        <a:t>7</a:t>
                      </a:r>
                      <a:endParaRPr sz="1950" baseline="38461">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98704">
                <a:tc>
                  <a:txBody>
                    <a:bodyPr/>
                    <a:lstStyle/>
                    <a:p>
                      <a:pPr marL="67945">
                        <a:lnSpc>
                          <a:spcPts val="2250"/>
                        </a:lnSpc>
                      </a:pPr>
                      <a:r>
                        <a:rPr sz="2000" spc="-10" dirty="0">
                          <a:solidFill>
                            <a:schemeClr val="tx1"/>
                          </a:solidFill>
                          <a:latin typeface="Times New Roman"/>
                          <a:cs typeface="Times New Roman"/>
                        </a:rPr>
                        <a:t>Paloma</a:t>
                      </a:r>
                      <a:endParaRPr sz="20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2250"/>
                        </a:lnSpc>
                      </a:pPr>
                      <a:r>
                        <a:rPr sz="2000" dirty="0">
                          <a:solidFill>
                            <a:schemeClr val="tx1"/>
                          </a:solidFill>
                          <a:latin typeface="Times New Roman"/>
                          <a:cs typeface="Times New Roman"/>
                        </a:rPr>
                        <a:t>3x10</a:t>
                      </a:r>
                      <a:r>
                        <a:rPr sz="1950" baseline="38461" dirty="0">
                          <a:solidFill>
                            <a:schemeClr val="tx1"/>
                          </a:solidFill>
                          <a:latin typeface="Times New Roman"/>
                          <a:cs typeface="Times New Roman"/>
                        </a:rPr>
                        <a:t>8</a:t>
                      </a:r>
                      <a:endParaRPr sz="1950" baseline="38461">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8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98703">
                <a:tc>
                  <a:txBody>
                    <a:bodyPr/>
                    <a:lstStyle/>
                    <a:p>
                      <a:pPr marL="67945">
                        <a:lnSpc>
                          <a:spcPts val="2250"/>
                        </a:lnSpc>
                      </a:pPr>
                      <a:r>
                        <a:rPr sz="2000" spc="-5" dirty="0">
                          <a:solidFill>
                            <a:schemeClr val="tx1"/>
                          </a:solidFill>
                          <a:latin typeface="Times New Roman"/>
                          <a:cs typeface="Times New Roman"/>
                        </a:rPr>
                        <a:t>Pulpo</a:t>
                      </a:r>
                      <a:endParaRPr sz="20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2250"/>
                        </a:lnSpc>
                      </a:pPr>
                      <a:r>
                        <a:rPr sz="2000" dirty="0">
                          <a:solidFill>
                            <a:schemeClr val="tx1"/>
                          </a:solidFill>
                          <a:latin typeface="Times New Roman"/>
                          <a:cs typeface="Times New Roman"/>
                        </a:rPr>
                        <a:t>5x10</a:t>
                      </a:r>
                      <a:r>
                        <a:rPr sz="1950" baseline="38461" dirty="0">
                          <a:solidFill>
                            <a:schemeClr val="tx1"/>
                          </a:solidFill>
                          <a:latin typeface="Times New Roman"/>
                          <a:cs typeface="Times New Roman"/>
                        </a:rPr>
                        <a:t>8</a:t>
                      </a:r>
                      <a:endParaRPr sz="1950" baseline="38461">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8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97179">
                <a:tc>
                  <a:txBody>
                    <a:bodyPr/>
                    <a:lstStyle/>
                    <a:p>
                      <a:pPr marL="67945">
                        <a:lnSpc>
                          <a:spcPts val="2240"/>
                        </a:lnSpc>
                      </a:pPr>
                      <a:r>
                        <a:rPr sz="2000" spc="-5" dirty="0">
                          <a:solidFill>
                            <a:schemeClr val="tx1"/>
                          </a:solidFill>
                          <a:latin typeface="Times New Roman"/>
                          <a:cs typeface="Times New Roman"/>
                        </a:rPr>
                        <a:t>Gato</a:t>
                      </a:r>
                      <a:endParaRPr sz="200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2240"/>
                        </a:lnSpc>
                      </a:pPr>
                      <a:r>
                        <a:rPr sz="2000" dirty="0">
                          <a:solidFill>
                            <a:schemeClr val="tx1"/>
                          </a:solidFill>
                          <a:latin typeface="Times New Roman"/>
                          <a:cs typeface="Times New Roman"/>
                        </a:rPr>
                        <a:t>7x10</a:t>
                      </a:r>
                      <a:r>
                        <a:rPr sz="1950" baseline="38461" dirty="0">
                          <a:solidFill>
                            <a:schemeClr val="tx1"/>
                          </a:solidFill>
                          <a:latin typeface="Times New Roman"/>
                          <a:cs typeface="Times New Roman"/>
                        </a:rPr>
                        <a:t>8</a:t>
                      </a:r>
                      <a:endParaRPr sz="1950" baseline="38461">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2240"/>
                        </a:lnSpc>
                      </a:pPr>
                      <a:r>
                        <a:rPr sz="2000" dirty="0">
                          <a:solidFill>
                            <a:schemeClr val="tx1"/>
                          </a:solidFill>
                          <a:latin typeface="Times New Roman"/>
                          <a:cs typeface="Times New Roman"/>
                        </a:rPr>
                        <a:t>3x10</a:t>
                      </a:r>
                      <a:r>
                        <a:rPr sz="1950" baseline="38461" dirty="0">
                          <a:solidFill>
                            <a:schemeClr val="tx1"/>
                          </a:solidFill>
                          <a:latin typeface="Times New Roman"/>
                          <a:cs typeface="Times New Roman"/>
                        </a:rPr>
                        <a:t>8</a:t>
                      </a:r>
                      <a:endParaRPr sz="1950" baseline="38461">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98704">
                <a:tc>
                  <a:txBody>
                    <a:bodyPr/>
                    <a:lstStyle/>
                    <a:p>
                      <a:pPr marL="67945">
                        <a:lnSpc>
                          <a:spcPts val="2250"/>
                        </a:lnSpc>
                      </a:pPr>
                      <a:r>
                        <a:rPr sz="2000" spc="-5" dirty="0">
                          <a:solidFill>
                            <a:schemeClr val="tx1"/>
                          </a:solidFill>
                          <a:latin typeface="Times New Roman"/>
                          <a:cs typeface="Times New Roman"/>
                        </a:rPr>
                        <a:t>Mono</a:t>
                      </a:r>
                      <a:r>
                        <a:rPr sz="2000" spc="-30" dirty="0">
                          <a:solidFill>
                            <a:schemeClr val="tx1"/>
                          </a:solidFill>
                          <a:latin typeface="Times New Roman"/>
                          <a:cs typeface="Times New Roman"/>
                        </a:rPr>
                        <a:t> </a:t>
                      </a:r>
                      <a:r>
                        <a:rPr sz="2000" spc="-5" dirty="0">
                          <a:solidFill>
                            <a:schemeClr val="tx1"/>
                          </a:solidFill>
                          <a:latin typeface="Times New Roman"/>
                          <a:cs typeface="Times New Roman"/>
                        </a:rPr>
                        <a:t>capuchino</a:t>
                      </a:r>
                      <a:endParaRPr sz="2000" dirty="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2250"/>
                        </a:lnSpc>
                      </a:pPr>
                      <a:r>
                        <a:rPr sz="2000" dirty="0">
                          <a:solidFill>
                            <a:schemeClr val="tx1"/>
                          </a:solidFill>
                          <a:latin typeface="Times New Roman"/>
                          <a:cs typeface="Times New Roman"/>
                        </a:rPr>
                        <a:t>3x10</a:t>
                      </a:r>
                      <a:r>
                        <a:rPr sz="1950" baseline="38461" dirty="0">
                          <a:solidFill>
                            <a:schemeClr val="tx1"/>
                          </a:solidFill>
                          <a:latin typeface="Times New Roman"/>
                          <a:cs typeface="Times New Roman"/>
                        </a:rPr>
                        <a:t>9</a:t>
                      </a:r>
                      <a:endParaRPr sz="1950" baseline="38461">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2250"/>
                        </a:lnSpc>
                      </a:pPr>
                      <a:r>
                        <a:rPr sz="2000" dirty="0">
                          <a:solidFill>
                            <a:schemeClr val="tx1"/>
                          </a:solidFill>
                          <a:latin typeface="Times New Roman"/>
                          <a:cs typeface="Times New Roman"/>
                        </a:rPr>
                        <a:t>6x10</a:t>
                      </a:r>
                      <a:r>
                        <a:rPr sz="1950" baseline="38461" dirty="0">
                          <a:solidFill>
                            <a:schemeClr val="tx1"/>
                          </a:solidFill>
                          <a:latin typeface="Times New Roman"/>
                          <a:cs typeface="Times New Roman"/>
                        </a:rPr>
                        <a:t>8</a:t>
                      </a:r>
                      <a:endParaRPr sz="1950" baseline="38461">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98957">
                <a:tc>
                  <a:txBody>
                    <a:bodyPr/>
                    <a:lstStyle/>
                    <a:p>
                      <a:pPr marL="67945">
                        <a:lnSpc>
                          <a:spcPts val="2255"/>
                        </a:lnSpc>
                      </a:pPr>
                      <a:r>
                        <a:rPr sz="2000" dirty="0">
                          <a:solidFill>
                            <a:schemeClr val="tx1"/>
                          </a:solidFill>
                          <a:latin typeface="Times New Roman"/>
                          <a:cs typeface="Times New Roman"/>
                        </a:rPr>
                        <a:t>Elefante</a:t>
                      </a:r>
                      <a:r>
                        <a:rPr sz="2000" spc="-50" dirty="0">
                          <a:solidFill>
                            <a:schemeClr val="tx1"/>
                          </a:solidFill>
                          <a:latin typeface="Times New Roman"/>
                          <a:cs typeface="Times New Roman"/>
                        </a:rPr>
                        <a:t> </a:t>
                      </a:r>
                      <a:r>
                        <a:rPr sz="2000" spc="-5" dirty="0">
                          <a:solidFill>
                            <a:schemeClr val="tx1"/>
                          </a:solidFill>
                          <a:latin typeface="Times New Roman"/>
                          <a:cs typeface="Times New Roman"/>
                        </a:rPr>
                        <a:t>Africano</a:t>
                      </a:r>
                      <a:endParaRPr sz="2000" dirty="0">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2255"/>
                        </a:lnSpc>
                      </a:pPr>
                      <a:r>
                        <a:rPr sz="2000" dirty="0">
                          <a:solidFill>
                            <a:schemeClr val="tx1"/>
                          </a:solidFill>
                          <a:latin typeface="Times New Roman"/>
                          <a:cs typeface="Times New Roman"/>
                        </a:rPr>
                        <a:t>2x10</a:t>
                      </a:r>
                      <a:r>
                        <a:rPr sz="1950" baseline="38461" dirty="0">
                          <a:solidFill>
                            <a:schemeClr val="tx1"/>
                          </a:solidFill>
                          <a:latin typeface="Times New Roman"/>
                          <a:cs typeface="Times New Roman"/>
                        </a:rPr>
                        <a:t>11</a:t>
                      </a:r>
                      <a:endParaRPr sz="1950" baseline="38461">
                        <a:solidFill>
                          <a:schemeClr val="tx1"/>
                        </a:solidFill>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2255"/>
                        </a:lnSpc>
                      </a:pPr>
                      <a:r>
                        <a:rPr sz="2000" dirty="0">
                          <a:solidFill>
                            <a:schemeClr val="tx1"/>
                          </a:solidFill>
                          <a:latin typeface="Times New Roman"/>
                          <a:cs typeface="Times New Roman"/>
                        </a:rPr>
                        <a:t>1x10</a:t>
                      </a:r>
                      <a:r>
                        <a:rPr sz="1950" baseline="38461" dirty="0">
                          <a:solidFill>
                            <a:schemeClr val="tx1"/>
                          </a:solidFill>
                          <a:latin typeface="Times New Roman"/>
                          <a:cs typeface="Times New Roman"/>
                        </a:rPr>
                        <a:t>10</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4" name="object 4"/>
          <p:cNvSpPr txBox="1"/>
          <p:nvPr/>
        </p:nvSpPr>
        <p:spPr>
          <a:xfrm>
            <a:off x="288036" y="5501346"/>
            <a:ext cx="9246235" cy="1636345"/>
          </a:xfrm>
          <a:prstGeom prst="rect">
            <a:avLst/>
          </a:prstGeom>
        </p:spPr>
        <p:txBody>
          <a:bodyPr vert="horz" wrap="square" lIns="0" tIns="12700" rIns="0" bIns="0" rtlCol="0">
            <a:spAutoFit/>
          </a:bodyPr>
          <a:lstStyle/>
          <a:p>
            <a:pPr marL="50800">
              <a:lnSpc>
                <a:spcPct val="100000"/>
              </a:lnSpc>
              <a:spcBef>
                <a:spcPts val="100"/>
              </a:spcBef>
            </a:pPr>
            <a:r>
              <a:rPr sz="1800" dirty="0">
                <a:latin typeface="+mj-lt"/>
                <a:cs typeface="Times New Roman"/>
              </a:rPr>
              <a:t>*El</a:t>
            </a:r>
            <a:r>
              <a:rPr sz="1800" spc="5" dirty="0">
                <a:latin typeface="+mj-lt"/>
                <a:cs typeface="Times New Roman"/>
              </a:rPr>
              <a:t> </a:t>
            </a:r>
            <a:r>
              <a:rPr sz="1800" spc="-5" dirty="0">
                <a:latin typeface="+mj-lt"/>
                <a:cs typeface="Times New Roman"/>
              </a:rPr>
              <a:t>hombre tiene</a:t>
            </a:r>
            <a:r>
              <a:rPr sz="1800" spc="5" dirty="0">
                <a:latin typeface="+mj-lt"/>
                <a:cs typeface="Times New Roman"/>
              </a:rPr>
              <a:t> </a:t>
            </a:r>
            <a:r>
              <a:rPr sz="1800" spc="-5" dirty="0">
                <a:latin typeface="+mj-lt"/>
                <a:cs typeface="Times New Roman"/>
              </a:rPr>
              <a:t>aproximadamente</a:t>
            </a:r>
            <a:r>
              <a:rPr sz="1800" spc="10" dirty="0">
                <a:latin typeface="+mj-lt"/>
                <a:cs typeface="Times New Roman"/>
              </a:rPr>
              <a:t> </a:t>
            </a:r>
            <a:r>
              <a:rPr sz="1800" dirty="0">
                <a:latin typeface="+mj-lt"/>
                <a:cs typeface="Times New Roman"/>
              </a:rPr>
              <a:t>1.5x10</a:t>
            </a:r>
            <a:r>
              <a:rPr sz="1725" baseline="38647" dirty="0">
                <a:latin typeface="+mj-lt"/>
                <a:cs typeface="Times New Roman"/>
              </a:rPr>
              <a:t>14</a:t>
            </a:r>
            <a:r>
              <a:rPr sz="1725" spc="247" baseline="38647" dirty="0">
                <a:latin typeface="+mj-lt"/>
                <a:cs typeface="Times New Roman"/>
              </a:rPr>
              <a:t> </a:t>
            </a:r>
            <a:r>
              <a:rPr sz="1800" spc="-5" dirty="0" err="1">
                <a:latin typeface="+mj-lt"/>
                <a:cs typeface="Times New Roman"/>
              </a:rPr>
              <a:t>sinapsis</a:t>
            </a:r>
            <a:r>
              <a:rPr sz="1800" spc="-5" dirty="0" smtClean="0">
                <a:latin typeface="+mj-lt"/>
                <a:cs typeface="Times New Roman"/>
              </a:rPr>
              <a:t>.</a:t>
            </a:r>
            <a:endParaRPr sz="1800" dirty="0">
              <a:latin typeface="+mj-lt"/>
              <a:cs typeface="Times New Roman"/>
            </a:endParaRPr>
          </a:p>
          <a:p>
            <a:pPr marL="50800" marR="17780">
              <a:lnSpc>
                <a:spcPts val="2080"/>
              </a:lnSpc>
            </a:pPr>
            <a:r>
              <a:rPr sz="1800" dirty="0">
                <a:latin typeface="+mj-lt"/>
                <a:cs typeface="Times New Roman"/>
              </a:rPr>
              <a:t>*Entre</a:t>
            </a:r>
            <a:r>
              <a:rPr sz="1800" spc="5" dirty="0">
                <a:latin typeface="+mj-lt"/>
                <a:cs typeface="Times New Roman"/>
              </a:rPr>
              <a:t> </a:t>
            </a:r>
            <a:r>
              <a:rPr sz="1800" dirty="0">
                <a:latin typeface="+mj-lt"/>
                <a:cs typeface="Times New Roman"/>
              </a:rPr>
              <a:t>los</a:t>
            </a:r>
            <a:r>
              <a:rPr sz="1800" spc="10" dirty="0">
                <a:latin typeface="+mj-lt"/>
                <a:cs typeface="Times New Roman"/>
              </a:rPr>
              <a:t> </a:t>
            </a:r>
            <a:r>
              <a:rPr sz="1800" spc="-5" dirty="0">
                <a:latin typeface="+mj-lt"/>
                <a:cs typeface="Times New Roman"/>
              </a:rPr>
              <a:t>mamíferos,</a:t>
            </a:r>
            <a:r>
              <a:rPr sz="1800" spc="15" dirty="0">
                <a:latin typeface="+mj-lt"/>
                <a:cs typeface="Times New Roman"/>
              </a:rPr>
              <a:t> </a:t>
            </a:r>
            <a:r>
              <a:rPr sz="1800" spc="-5" dirty="0">
                <a:latin typeface="+mj-lt"/>
                <a:cs typeface="Times New Roman"/>
              </a:rPr>
              <a:t>son considerados</a:t>
            </a:r>
            <a:r>
              <a:rPr sz="1800" spc="10" dirty="0">
                <a:latin typeface="+mj-lt"/>
                <a:cs typeface="Times New Roman"/>
              </a:rPr>
              <a:t> </a:t>
            </a:r>
            <a:r>
              <a:rPr sz="1800" spc="-5" dirty="0">
                <a:latin typeface="+mj-lt"/>
                <a:cs typeface="Times New Roman"/>
              </a:rPr>
              <a:t>más</a:t>
            </a:r>
            <a:r>
              <a:rPr sz="1800" spc="20" dirty="0">
                <a:latin typeface="+mj-lt"/>
                <a:cs typeface="Times New Roman"/>
              </a:rPr>
              <a:t> </a:t>
            </a:r>
            <a:r>
              <a:rPr sz="1800" spc="-5" dirty="0">
                <a:latin typeface="+mj-lt"/>
                <a:cs typeface="Times New Roman"/>
              </a:rPr>
              <a:t>inteligentes</a:t>
            </a:r>
            <a:r>
              <a:rPr sz="1800" spc="5" dirty="0">
                <a:latin typeface="+mj-lt"/>
                <a:cs typeface="Times New Roman"/>
              </a:rPr>
              <a:t> </a:t>
            </a:r>
            <a:r>
              <a:rPr sz="1800" spc="-5" dirty="0">
                <a:latin typeface="+mj-lt"/>
                <a:cs typeface="Times New Roman"/>
              </a:rPr>
              <a:t>aquellos</a:t>
            </a:r>
            <a:r>
              <a:rPr sz="1800" dirty="0">
                <a:latin typeface="+mj-lt"/>
                <a:cs typeface="Times New Roman"/>
              </a:rPr>
              <a:t> con</a:t>
            </a:r>
            <a:r>
              <a:rPr sz="1800" spc="15" dirty="0">
                <a:latin typeface="+mj-lt"/>
                <a:cs typeface="Times New Roman"/>
              </a:rPr>
              <a:t> </a:t>
            </a:r>
            <a:r>
              <a:rPr sz="1800" spc="-5" dirty="0">
                <a:latin typeface="+mj-lt"/>
                <a:cs typeface="Times New Roman"/>
              </a:rPr>
              <a:t>mayor</a:t>
            </a:r>
            <a:r>
              <a:rPr sz="1800" spc="25" dirty="0">
                <a:latin typeface="+mj-lt"/>
                <a:cs typeface="Times New Roman"/>
              </a:rPr>
              <a:t> </a:t>
            </a:r>
            <a:r>
              <a:rPr sz="1800" spc="-5" dirty="0">
                <a:latin typeface="+mj-lt"/>
                <a:cs typeface="Times New Roman"/>
              </a:rPr>
              <a:t>número</a:t>
            </a:r>
            <a:r>
              <a:rPr sz="1800" spc="15" dirty="0">
                <a:latin typeface="+mj-lt"/>
                <a:cs typeface="Times New Roman"/>
              </a:rPr>
              <a:t> </a:t>
            </a:r>
            <a:r>
              <a:rPr sz="1800" dirty="0">
                <a:latin typeface="+mj-lt"/>
                <a:cs typeface="Times New Roman"/>
              </a:rPr>
              <a:t>de</a:t>
            </a:r>
            <a:r>
              <a:rPr sz="1800" spc="10" dirty="0">
                <a:latin typeface="+mj-lt"/>
                <a:cs typeface="Times New Roman"/>
              </a:rPr>
              <a:t> </a:t>
            </a:r>
            <a:r>
              <a:rPr sz="1800" spc="-5" dirty="0">
                <a:latin typeface="+mj-lt"/>
                <a:cs typeface="Times New Roman"/>
              </a:rPr>
              <a:t>neuronas</a:t>
            </a:r>
            <a:r>
              <a:rPr sz="1800" spc="5" dirty="0">
                <a:latin typeface="+mj-lt"/>
                <a:cs typeface="Times New Roman"/>
              </a:rPr>
              <a:t> </a:t>
            </a:r>
            <a:r>
              <a:rPr sz="1800" dirty="0">
                <a:latin typeface="+mj-lt"/>
                <a:cs typeface="Times New Roman"/>
              </a:rPr>
              <a:t>y </a:t>
            </a:r>
            <a:r>
              <a:rPr sz="1800" spc="-434" dirty="0">
                <a:latin typeface="+mj-lt"/>
                <a:cs typeface="Times New Roman"/>
              </a:rPr>
              <a:t> </a:t>
            </a:r>
            <a:r>
              <a:rPr sz="1800" spc="-5" dirty="0">
                <a:latin typeface="+mj-lt"/>
                <a:cs typeface="Times New Roman"/>
              </a:rPr>
              <a:t>sinapsis:</a:t>
            </a:r>
            <a:r>
              <a:rPr sz="1800" dirty="0">
                <a:latin typeface="+mj-lt"/>
                <a:cs typeface="Times New Roman"/>
              </a:rPr>
              <a:t> </a:t>
            </a:r>
            <a:r>
              <a:rPr sz="1800" spc="-5" dirty="0">
                <a:latin typeface="+mj-lt"/>
                <a:cs typeface="Times New Roman"/>
              </a:rPr>
              <a:t>cetáceos</a:t>
            </a:r>
            <a:r>
              <a:rPr sz="1800" spc="-15" dirty="0">
                <a:latin typeface="+mj-lt"/>
                <a:cs typeface="Times New Roman"/>
              </a:rPr>
              <a:t> </a:t>
            </a:r>
            <a:r>
              <a:rPr sz="1800" dirty="0">
                <a:latin typeface="+mj-lt"/>
                <a:cs typeface="Times New Roman"/>
              </a:rPr>
              <a:t>y</a:t>
            </a:r>
            <a:r>
              <a:rPr sz="1800" spc="10" dirty="0">
                <a:latin typeface="+mj-lt"/>
                <a:cs typeface="Times New Roman"/>
              </a:rPr>
              <a:t> </a:t>
            </a:r>
            <a:r>
              <a:rPr sz="1800" spc="-5" dirty="0">
                <a:latin typeface="+mj-lt"/>
                <a:cs typeface="Times New Roman"/>
              </a:rPr>
              <a:t>primates</a:t>
            </a:r>
            <a:r>
              <a:rPr sz="1800" spc="-5" dirty="0" smtClean="0">
                <a:latin typeface="+mj-lt"/>
                <a:cs typeface="Times New Roman"/>
              </a:rPr>
              <a:t>.</a:t>
            </a:r>
            <a:endParaRPr lang="es-ES" sz="1800" spc="-5" dirty="0" smtClean="0">
              <a:latin typeface="+mj-lt"/>
              <a:cs typeface="Times New Roman"/>
            </a:endParaRPr>
          </a:p>
          <a:p>
            <a:pPr marL="50800" marR="17780">
              <a:lnSpc>
                <a:spcPts val="2080"/>
              </a:lnSpc>
            </a:pPr>
            <a:endParaRPr lang="es-ES" spc="-5" dirty="0">
              <a:latin typeface="+mj-lt"/>
              <a:cs typeface="Times New Roman"/>
            </a:endParaRPr>
          </a:p>
          <a:p>
            <a:pPr marL="50800" marR="17780" algn="ctr">
              <a:lnSpc>
                <a:spcPts val="2080"/>
              </a:lnSpc>
            </a:pPr>
            <a:endParaRPr lang="es-ES" spc="-5" dirty="0">
              <a:latin typeface="+mj-lt"/>
              <a:cs typeface="Times New Roman"/>
            </a:endParaRPr>
          </a:p>
          <a:p>
            <a:pPr marL="50800" marR="17780" algn="ctr">
              <a:lnSpc>
                <a:spcPts val="2080"/>
              </a:lnSpc>
            </a:pPr>
            <a:r>
              <a:rPr lang="es-ES" sz="2800" spc="-5" dirty="0" smtClean="0">
                <a:latin typeface="+mj-lt"/>
                <a:cs typeface="Times New Roman"/>
              </a:rPr>
              <a:t>A mayor número de neuronas          sistema más inteligente</a:t>
            </a:r>
            <a:endParaRPr sz="2800" dirty="0">
              <a:latin typeface="+mj-lt"/>
              <a:cs typeface="Times New Roman"/>
            </a:endParaRPr>
          </a:p>
        </p:txBody>
      </p:sp>
      <p:sp>
        <p:nvSpPr>
          <p:cNvPr id="5" name="object 5"/>
          <p:cNvSpPr txBox="1"/>
          <p:nvPr/>
        </p:nvSpPr>
        <p:spPr>
          <a:xfrm>
            <a:off x="346963" y="6501333"/>
            <a:ext cx="8255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Times New Roman"/>
                <a:cs typeface="Times New Roman"/>
              </a:rPr>
              <a:t>.</a:t>
            </a:r>
            <a:endParaRPr sz="1800">
              <a:latin typeface="Times New Roman"/>
              <a:cs typeface="Times New Roman"/>
            </a:endParaRPr>
          </a:p>
        </p:txBody>
      </p:sp>
      <p:sp>
        <p:nvSpPr>
          <p:cNvPr id="6" name="CuadroTexto 5"/>
          <p:cNvSpPr txBox="1"/>
          <p:nvPr/>
        </p:nvSpPr>
        <p:spPr>
          <a:xfrm>
            <a:off x="288036" y="1076373"/>
            <a:ext cx="6694077" cy="646331"/>
          </a:xfrm>
          <a:prstGeom prst="rect">
            <a:avLst/>
          </a:prstGeom>
          <a:noFill/>
        </p:spPr>
        <p:txBody>
          <a:bodyPr wrap="none" rtlCol="0">
            <a:spAutoFit/>
          </a:bodyPr>
          <a:lstStyle/>
          <a:p>
            <a:r>
              <a:rPr lang="es-ES" dirty="0" smtClean="0"/>
              <a:t>¿Cuántas neuronas tiene un ser vivo?</a:t>
            </a:r>
          </a:p>
          <a:p>
            <a:r>
              <a:rPr lang="es-ES" dirty="0" smtClean="0"/>
              <a:t>Cuantas más neuronas y sinapsis tenga un ser vivo, más inteligente es</a:t>
            </a:r>
            <a:endParaRPr lang="es-ES" dirty="0"/>
          </a:p>
        </p:txBody>
      </p:sp>
      <p:sp>
        <p:nvSpPr>
          <p:cNvPr id="7" name="Flecha derecha 6"/>
          <p:cNvSpPr/>
          <p:nvPr/>
        </p:nvSpPr>
        <p:spPr>
          <a:xfrm>
            <a:off x="5194300" y="6801054"/>
            <a:ext cx="431027" cy="3204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3900" y="840994"/>
            <a:ext cx="6781800" cy="566822"/>
          </a:xfrm>
          <a:prstGeom prst="rect">
            <a:avLst/>
          </a:prstGeom>
        </p:spPr>
        <p:txBody>
          <a:bodyPr vert="horz" wrap="square" lIns="0" tIns="12700" rIns="0" bIns="0" rtlCol="0">
            <a:spAutoFit/>
          </a:bodyPr>
          <a:lstStyle/>
          <a:p>
            <a:pPr marL="12700">
              <a:lnSpc>
                <a:spcPct val="100000"/>
              </a:lnSpc>
              <a:spcBef>
                <a:spcPts val="100"/>
              </a:spcBef>
            </a:pPr>
            <a:r>
              <a:rPr sz="3600" b="1" spc="-5" dirty="0" smtClean="0">
                <a:solidFill>
                  <a:srgbClr val="538DD3"/>
                </a:solidFill>
                <a:latin typeface="Times New Roman"/>
                <a:cs typeface="Times New Roman"/>
              </a:rPr>
              <a:t>Red</a:t>
            </a:r>
            <a:r>
              <a:rPr sz="3600" b="1" spc="-50" dirty="0" smtClean="0">
                <a:solidFill>
                  <a:srgbClr val="538DD3"/>
                </a:solidFill>
                <a:latin typeface="Times New Roman"/>
                <a:cs typeface="Times New Roman"/>
              </a:rPr>
              <a:t> </a:t>
            </a:r>
            <a:r>
              <a:rPr sz="3600" b="1" spc="-5" dirty="0">
                <a:solidFill>
                  <a:srgbClr val="538DD3"/>
                </a:solidFill>
                <a:latin typeface="Times New Roman"/>
                <a:cs typeface="Times New Roman"/>
              </a:rPr>
              <a:t>Neuronal</a:t>
            </a:r>
            <a:r>
              <a:rPr sz="3600" b="1" spc="-45" dirty="0">
                <a:solidFill>
                  <a:srgbClr val="538DD3"/>
                </a:solidFill>
                <a:latin typeface="Times New Roman"/>
                <a:cs typeface="Times New Roman"/>
              </a:rPr>
              <a:t> </a:t>
            </a:r>
            <a:r>
              <a:rPr sz="3600" b="1" spc="-5" dirty="0" smtClean="0">
                <a:solidFill>
                  <a:srgbClr val="538DD3"/>
                </a:solidFill>
                <a:latin typeface="Times New Roman"/>
                <a:cs typeface="Times New Roman"/>
              </a:rPr>
              <a:t>Artificial</a:t>
            </a:r>
            <a:r>
              <a:rPr lang="es-ES" sz="3600" b="1" spc="-5" dirty="0" smtClean="0">
                <a:solidFill>
                  <a:srgbClr val="538DD3"/>
                </a:solidFill>
              </a:rPr>
              <a:t>. Origen</a:t>
            </a:r>
            <a:endParaRPr sz="3600" dirty="0">
              <a:latin typeface="Times New Roman"/>
              <a:cs typeface="Times New Roman"/>
            </a:endParaRPr>
          </a:p>
        </p:txBody>
      </p:sp>
      <p:sp>
        <p:nvSpPr>
          <p:cNvPr id="4" name="CuadroTexto 3"/>
          <p:cNvSpPr txBox="1"/>
          <p:nvPr/>
        </p:nvSpPr>
        <p:spPr>
          <a:xfrm>
            <a:off x="698500" y="2638425"/>
            <a:ext cx="9525000" cy="369332"/>
          </a:xfrm>
          <a:prstGeom prst="rect">
            <a:avLst/>
          </a:prstGeom>
          <a:noFill/>
        </p:spPr>
        <p:txBody>
          <a:bodyPr wrap="square" rtlCol="0">
            <a:spAutoFit/>
          </a:bodyPr>
          <a:lstStyle/>
          <a:p>
            <a:r>
              <a:rPr lang="es-ES" dirty="0" smtClean="0"/>
              <a:t> </a:t>
            </a:r>
            <a:endParaRPr lang="es-ES" dirty="0"/>
          </a:p>
        </p:txBody>
      </p:sp>
      <p:sp>
        <p:nvSpPr>
          <p:cNvPr id="3" name="CuadroTexto 2"/>
          <p:cNvSpPr txBox="1"/>
          <p:nvPr/>
        </p:nvSpPr>
        <p:spPr>
          <a:xfrm>
            <a:off x="698500" y="1724025"/>
            <a:ext cx="9753600" cy="5632311"/>
          </a:xfrm>
          <a:prstGeom prst="rect">
            <a:avLst/>
          </a:prstGeom>
          <a:noFill/>
        </p:spPr>
        <p:txBody>
          <a:bodyPr wrap="square" rtlCol="0">
            <a:spAutoFit/>
          </a:bodyPr>
          <a:lstStyle/>
          <a:p>
            <a:pPr marL="342900" indent="-342900">
              <a:buFont typeface="Arial" panose="020B0604020202020204" pitchFamily="34" charset="0"/>
              <a:buChar char="•"/>
            </a:pPr>
            <a:r>
              <a:rPr lang="es-ES" sz="2400" b="1" dirty="0" smtClean="0">
                <a:solidFill>
                  <a:srgbClr val="0070C0"/>
                </a:solidFill>
              </a:rPr>
              <a:t>~1940</a:t>
            </a:r>
            <a:r>
              <a:rPr lang="es-ES" sz="2400" dirty="0"/>
              <a:t>, </a:t>
            </a:r>
            <a:r>
              <a:rPr lang="es-ES" sz="2400" dirty="0" err="1" smtClean="0"/>
              <a:t>W.McCulloch</a:t>
            </a:r>
            <a:r>
              <a:rPr lang="es-ES" sz="2400" dirty="0" smtClean="0"/>
              <a:t> (</a:t>
            </a:r>
            <a:r>
              <a:rPr lang="es-ES" sz="2400" dirty="0" err="1" smtClean="0"/>
              <a:t>neurofisiólogo</a:t>
            </a:r>
            <a:r>
              <a:rPr lang="es-ES" sz="2400" dirty="0" smtClean="0"/>
              <a:t>) </a:t>
            </a:r>
            <a:r>
              <a:rPr lang="es-ES" sz="2400" dirty="0" err="1" smtClean="0"/>
              <a:t>W.Pitts</a:t>
            </a:r>
            <a:r>
              <a:rPr lang="es-ES" sz="2400" dirty="0" smtClean="0"/>
              <a:t> (matemático) </a:t>
            </a:r>
            <a:r>
              <a:rPr lang="es-ES" sz="2400" dirty="0"/>
              <a:t>desarrollaron un modelo matemático de una </a:t>
            </a:r>
            <a:r>
              <a:rPr lang="es-ES" sz="2400" dirty="0" smtClean="0"/>
              <a:t>neurona: </a:t>
            </a:r>
            <a:r>
              <a:rPr lang="es-ES" sz="2400" dirty="0" smtClean="0">
                <a:solidFill>
                  <a:srgbClr val="0070C0"/>
                </a:solidFill>
              </a:rPr>
              <a:t>neurona </a:t>
            </a:r>
            <a:r>
              <a:rPr lang="es-ES" sz="2400" dirty="0">
                <a:solidFill>
                  <a:srgbClr val="0070C0"/>
                </a:solidFill>
              </a:rPr>
              <a:t>de </a:t>
            </a:r>
            <a:r>
              <a:rPr lang="es-ES" sz="2400" dirty="0" err="1" smtClean="0">
                <a:solidFill>
                  <a:srgbClr val="0070C0"/>
                </a:solidFill>
              </a:rPr>
              <a:t>McCulloch-Pitts</a:t>
            </a:r>
            <a:r>
              <a:rPr lang="es-ES" sz="2400" dirty="0"/>
              <a:t>,</a:t>
            </a:r>
            <a:r>
              <a:rPr lang="es-ES" sz="2400" dirty="0" smtClean="0"/>
              <a:t> capaz </a:t>
            </a:r>
            <a:r>
              <a:rPr lang="es-ES" sz="2400" dirty="0"/>
              <a:t>de recibir múltiples entradas binarias y producir una salida binaria, dependiendo de la </a:t>
            </a:r>
            <a:r>
              <a:rPr lang="es-ES" sz="2400" u="sng" dirty="0"/>
              <a:t>suma de las entradas y los pesos</a:t>
            </a:r>
            <a:r>
              <a:rPr lang="es-ES" sz="2400" dirty="0"/>
              <a:t> asociados a ellas.</a:t>
            </a:r>
          </a:p>
          <a:p>
            <a:pPr marL="342900" indent="-342900">
              <a:buFont typeface="Arial" panose="020B0604020202020204" pitchFamily="34" charset="0"/>
              <a:buChar char="•"/>
            </a:pPr>
            <a:r>
              <a:rPr lang="es-ES" sz="2400" b="1" dirty="0">
                <a:solidFill>
                  <a:srgbClr val="0070C0"/>
                </a:solidFill>
              </a:rPr>
              <a:t>~</a:t>
            </a:r>
            <a:r>
              <a:rPr lang="es-ES" sz="2400" b="1" dirty="0" smtClean="0">
                <a:solidFill>
                  <a:srgbClr val="0070C0"/>
                </a:solidFill>
              </a:rPr>
              <a:t>1950</a:t>
            </a:r>
            <a:r>
              <a:rPr lang="es-ES" sz="2400" dirty="0" smtClean="0"/>
              <a:t>, </a:t>
            </a:r>
            <a:r>
              <a:rPr lang="es-ES" sz="2400" dirty="0" err="1" smtClean="0"/>
              <a:t>F.Rosenblatt</a:t>
            </a:r>
            <a:r>
              <a:rPr lang="es-ES" sz="2400" dirty="0" smtClean="0"/>
              <a:t> (</a:t>
            </a:r>
            <a:r>
              <a:rPr lang="es-ES" sz="2400" dirty="0"/>
              <a:t>psicólogo </a:t>
            </a:r>
            <a:r>
              <a:rPr lang="es-ES" sz="2400" dirty="0" smtClean="0"/>
              <a:t>) desarrolló </a:t>
            </a:r>
            <a:r>
              <a:rPr lang="es-ES" sz="2400" dirty="0"/>
              <a:t>el </a:t>
            </a:r>
            <a:r>
              <a:rPr lang="es-ES" sz="2400" dirty="0" err="1">
                <a:solidFill>
                  <a:srgbClr val="0070C0"/>
                </a:solidFill>
              </a:rPr>
              <a:t>perceptrón</a:t>
            </a:r>
            <a:r>
              <a:rPr lang="es-ES" sz="2400" dirty="0"/>
              <a:t>, </a:t>
            </a:r>
            <a:r>
              <a:rPr lang="es-ES" sz="2400" dirty="0" smtClean="0"/>
              <a:t>red </a:t>
            </a:r>
            <a:r>
              <a:rPr lang="es-ES" sz="2400" dirty="0"/>
              <a:t>neuronal que </a:t>
            </a:r>
            <a:r>
              <a:rPr lang="es-ES" sz="2400" dirty="0" smtClean="0"/>
              <a:t>aprende </a:t>
            </a:r>
            <a:r>
              <a:rPr lang="es-ES" sz="2400" dirty="0"/>
              <a:t>a clasificar datos linealmente separables. </a:t>
            </a:r>
            <a:r>
              <a:rPr lang="es-ES" sz="2400" dirty="0" smtClean="0"/>
              <a:t>Primera red capaz </a:t>
            </a:r>
            <a:r>
              <a:rPr lang="es-ES" sz="2400" dirty="0"/>
              <a:t>de </a:t>
            </a:r>
            <a:r>
              <a:rPr lang="es-ES" sz="2400" u="sng" dirty="0"/>
              <a:t>aprender </a:t>
            </a:r>
            <a:r>
              <a:rPr lang="es-ES" sz="2400" u="sng" dirty="0" smtClean="0"/>
              <a:t>automáticamente</a:t>
            </a:r>
            <a:r>
              <a:rPr lang="es-ES" sz="2400" dirty="0" smtClean="0"/>
              <a:t> </a:t>
            </a:r>
            <a:r>
              <a:rPr lang="es-ES" sz="2400" dirty="0"/>
              <a:t>a partir de datos de entrenamiento.</a:t>
            </a:r>
          </a:p>
          <a:p>
            <a:pPr marL="342900" indent="-342900">
              <a:buFont typeface="Arial" panose="020B0604020202020204" pitchFamily="34" charset="0"/>
              <a:buChar char="•"/>
            </a:pPr>
            <a:r>
              <a:rPr lang="es-ES" sz="2400" b="1" dirty="0">
                <a:solidFill>
                  <a:srgbClr val="0070C0"/>
                </a:solidFill>
              </a:rPr>
              <a:t>~</a:t>
            </a:r>
            <a:r>
              <a:rPr lang="es-ES" sz="2400" b="1" dirty="0" smtClean="0">
                <a:solidFill>
                  <a:srgbClr val="0070C0"/>
                </a:solidFill>
              </a:rPr>
              <a:t>1960</a:t>
            </a:r>
            <a:r>
              <a:rPr lang="es-ES" sz="2400" dirty="0" smtClean="0"/>
              <a:t>, limitaciones de los patrones para aprender patrones complejos.</a:t>
            </a:r>
            <a:endParaRPr lang="es-ES" sz="2400" dirty="0"/>
          </a:p>
          <a:p>
            <a:pPr marL="342900" indent="-342900">
              <a:buFont typeface="Arial" panose="020B0604020202020204" pitchFamily="34" charset="0"/>
              <a:buChar char="•"/>
            </a:pPr>
            <a:r>
              <a:rPr lang="es-ES" sz="2400" b="1" dirty="0">
                <a:solidFill>
                  <a:srgbClr val="0070C0"/>
                </a:solidFill>
              </a:rPr>
              <a:t>~1980</a:t>
            </a:r>
            <a:r>
              <a:rPr lang="es-ES" sz="2400" dirty="0" smtClean="0"/>
              <a:t>, algoritmos </a:t>
            </a:r>
            <a:r>
              <a:rPr lang="es-ES" sz="2400" dirty="0"/>
              <a:t>de </a:t>
            </a:r>
            <a:r>
              <a:rPr lang="es-ES" sz="2400" dirty="0" err="1"/>
              <a:t>retropropagación</a:t>
            </a:r>
            <a:r>
              <a:rPr lang="es-ES" sz="2400" dirty="0"/>
              <a:t> </a:t>
            </a:r>
            <a:r>
              <a:rPr lang="es-ES" sz="2400" dirty="0" smtClean="0"/>
              <a:t>permiten </a:t>
            </a:r>
            <a:r>
              <a:rPr lang="es-ES" sz="2400" dirty="0"/>
              <a:t>el entrenamiento de redes neuronales de múltiples capas, lo que permitió que las redes neuronales aprendieran patrones más </a:t>
            </a:r>
            <a:r>
              <a:rPr lang="es-ES" sz="2400" dirty="0" smtClean="0"/>
              <a:t>complejos.</a:t>
            </a:r>
            <a:endParaRPr lang="es-ES" sz="2400" dirty="0"/>
          </a:p>
          <a:p>
            <a:pPr marL="342900" indent="-342900">
              <a:buFont typeface="Arial" panose="020B0604020202020204" pitchFamily="34" charset="0"/>
              <a:buChar char="•"/>
            </a:pPr>
            <a:r>
              <a:rPr lang="es-ES" sz="2400" b="1" dirty="0">
                <a:solidFill>
                  <a:srgbClr val="0070C0"/>
                </a:solidFill>
              </a:rPr>
              <a:t>HOY</a:t>
            </a:r>
            <a:r>
              <a:rPr lang="es-ES" sz="2400" dirty="0" smtClean="0"/>
              <a:t>, </a:t>
            </a:r>
            <a:r>
              <a:rPr lang="es-ES" sz="2400" dirty="0"/>
              <a:t>las redes neuronales artificiales se utilizan en una variedad de aplicaciones, incluyendo el reconocimiento de voz y de imagen, el procesamiento del lenguaje natural, la detección de fraude financiero, la conducción autónoma y muchas otras áreas.</a:t>
            </a:r>
          </a:p>
        </p:txBody>
      </p:sp>
    </p:spTree>
    <p:extLst>
      <p:ext uri="{BB962C8B-B14F-4D97-AF65-F5344CB8AC3E}">
        <p14:creationId xmlns:p14="http://schemas.microsoft.com/office/powerpoint/2010/main" val="39229040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21838" y="840994"/>
            <a:ext cx="4645025"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538DD3"/>
                </a:solidFill>
                <a:latin typeface="Times New Roman"/>
                <a:cs typeface="Times New Roman"/>
              </a:rPr>
              <a:t>Red</a:t>
            </a:r>
            <a:r>
              <a:rPr sz="3600" b="1" spc="-50" dirty="0">
                <a:solidFill>
                  <a:srgbClr val="538DD3"/>
                </a:solidFill>
                <a:latin typeface="Times New Roman"/>
                <a:cs typeface="Times New Roman"/>
              </a:rPr>
              <a:t> </a:t>
            </a:r>
            <a:r>
              <a:rPr sz="3600" b="1" spc="-5" dirty="0">
                <a:solidFill>
                  <a:srgbClr val="538DD3"/>
                </a:solidFill>
                <a:latin typeface="Times New Roman"/>
                <a:cs typeface="Times New Roman"/>
              </a:rPr>
              <a:t>Neuronal</a:t>
            </a:r>
            <a:r>
              <a:rPr sz="3600" b="1" spc="-45" dirty="0">
                <a:solidFill>
                  <a:srgbClr val="538DD3"/>
                </a:solidFill>
                <a:latin typeface="Times New Roman"/>
                <a:cs typeface="Times New Roman"/>
              </a:rPr>
              <a:t> </a:t>
            </a:r>
            <a:r>
              <a:rPr sz="3600" b="1" spc="-5" dirty="0">
                <a:solidFill>
                  <a:srgbClr val="538DD3"/>
                </a:solidFill>
                <a:latin typeface="Times New Roman"/>
                <a:cs typeface="Times New Roman"/>
              </a:rPr>
              <a:t>Artificial</a:t>
            </a:r>
            <a:endParaRPr sz="3600">
              <a:latin typeface="Times New Roman"/>
              <a:cs typeface="Times New Roman"/>
            </a:endParaRPr>
          </a:p>
        </p:txBody>
      </p:sp>
      <p:sp>
        <p:nvSpPr>
          <p:cNvPr id="4" name="CuadroTexto 3"/>
          <p:cNvSpPr txBox="1"/>
          <p:nvPr/>
        </p:nvSpPr>
        <p:spPr>
          <a:xfrm>
            <a:off x="698500" y="2638425"/>
            <a:ext cx="9525000" cy="369332"/>
          </a:xfrm>
          <a:prstGeom prst="rect">
            <a:avLst/>
          </a:prstGeom>
          <a:noFill/>
        </p:spPr>
        <p:txBody>
          <a:bodyPr wrap="square" rtlCol="0">
            <a:spAutoFit/>
          </a:bodyPr>
          <a:lstStyle/>
          <a:p>
            <a:r>
              <a:rPr lang="es-ES" dirty="0" smtClean="0"/>
              <a:t> </a:t>
            </a:r>
            <a:endParaRPr lang="es-ES" dirty="0"/>
          </a:p>
        </p:txBody>
      </p:sp>
      <p:sp>
        <p:nvSpPr>
          <p:cNvPr id="3" name="CuadroTexto 2"/>
          <p:cNvSpPr txBox="1"/>
          <p:nvPr/>
        </p:nvSpPr>
        <p:spPr>
          <a:xfrm>
            <a:off x="698500" y="1876425"/>
            <a:ext cx="9753600" cy="4893647"/>
          </a:xfrm>
          <a:prstGeom prst="rect">
            <a:avLst/>
          </a:prstGeom>
          <a:noFill/>
        </p:spPr>
        <p:txBody>
          <a:bodyPr wrap="square" rtlCol="0">
            <a:spAutoFit/>
          </a:bodyPr>
          <a:lstStyle/>
          <a:p>
            <a:pPr algn="just"/>
            <a:r>
              <a:rPr lang="es-ES" sz="2400" b="1" dirty="0">
                <a:solidFill>
                  <a:srgbClr val="0070C0"/>
                </a:solidFill>
              </a:rPr>
              <a:t>¿Para qué se usan las redes </a:t>
            </a:r>
            <a:r>
              <a:rPr lang="es-ES" sz="2400" b="1" dirty="0" smtClean="0">
                <a:solidFill>
                  <a:srgbClr val="0070C0"/>
                </a:solidFill>
              </a:rPr>
              <a:t>neuronales? </a:t>
            </a:r>
            <a:r>
              <a:rPr lang="es-ES" sz="2400" dirty="0" smtClean="0"/>
              <a:t>Para extraer </a:t>
            </a:r>
            <a:r>
              <a:rPr lang="es-ES" sz="2400" dirty="0"/>
              <a:t>información útil y producir inferencias a partir de los datos disponibles gracias a su capacidad de </a:t>
            </a:r>
            <a:r>
              <a:rPr lang="es-ES" sz="2400" dirty="0" smtClean="0"/>
              <a:t>aprendizaje. Permiten realizar predicciones, clasificaciones o simplemente explicaciones de una variable respuesta o dependiente en función de otras variables independientes.</a:t>
            </a:r>
          </a:p>
          <a:p>
            <a:pPr algn="just"/>
            <a:endParaRPr lang="es-ES" sz="2400" dirty="0" smtClean="0"/>
          </a:p>
          <a:p>
            <a:pPr algn="just"/>
            <a:r>
              <a:rPr lang="es-ES" sz="2400" b="1" dirty="0" smtClean="0">
                <a:solidFill>
                  <a:srgbClr val="0070C0"/>
                </a:solidFill>
              </a:rPr>
              <a:t>Mismo concepto general que en otros modelos predictivos más sencillos como regresión o series temporales. </a:t>
            </a:r>
            <a:r>
              <a:rPr lang="es-ES" sz="2400" dirty="0" smtClean="0"/>
              <a:t>Dada una variable respuesta y una serie de variables independientes, poder predecir la variable respuesta (</a:t>
            </a:r>
            <a:r>
              <a:rPr lang="es-ES" sz="2400" dirty="0" smtClean="0">
                <a:solidFill>
                  <a:srgbClr val="C00000"/>
                </a:solidFill>
              </a:rPr>
              <a:t>regresión/clasificación</a:t>
            </a:r>
            <a:r>
              <a:rPr lang="es-ES" sz="2400" dirty="0" smtClean="0"/>
              <a:t>)</a:t>
            </a:r>
          </a:p>
          <a:p>
            <a:pPr algn="just"/>
            <a:endParaRPr lang="es-ES" sz="2400" b="1" dirty="0" smtClean="0"/>
          </a:p>
          <a:p>
            <a:pPr algn="just"/>
            <a:r>
              <a:rPr lang="es-ES" sz="2400" b="1" dirty="0">
                <a:solidFill>
                  <a:srgbClr val="0070C0"/>
                </a:solidFill>
              </a:rPr>
              <a:t>Dependiendo de la relación entre las </a:t>
            </a:r>
            <a:r>
              <a:rPr lang="es-ES" sz="2400" b="1" dirty="0" smtClean="0">
                <a:solidFill>
                  <a:srgbClr val="0070C0"/>
                </a:solidFill>
              </a:rPr>
              <a:t>variables y la complejidad de los datos, </a:t>
            </a:r>
            <a:r>
              <a:rPr lang="es-ES" sz="2400" b="1" dirty="0">
                <a:solidFill>
                  <a:srgbClr val="0070C0"/>
                </a:solidFill>
              </a:rPr>
              <a:t>habrá que aplicar unas técnicas u otras.</a:t>
            </a:r>
          </a:p>
        </p:txBody>
      </p:sp>
    </p:spTree>
    <p:extLst>
      <p:ext uri="{BB962C8B-B14F-4D97-AF65-F5344CB8AC3E}">
        <p14:creationId xmlns:p14="http://schemas.microsoft.com/office/powerpoint/2010/main" val="33975369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 y="352425"/>
            <a:ext cx="9918700"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538DD3"/>
                </a:solidFill>
                <a:latin typeface="Times New Roman"/>
                <a:cs typeface="Times New Roman"/>
              </a:rPr>
              <a:t>Red</a:t>
            </a:r>
            <a:r>
              <a:rPr sz="3600" b="1" spc="-50" dirty="0">
                <a:solidFill>
                  <a:srgbClr val="538DD3"/>
                </a:solidFill>
                <a:latin typeface="Times New Roman"/>
                <a:cs typeface="Times New Roman"/>
              </a:rPr>
              <a:t> </a:t>
            </a:r>
            <a:r>
              <a:rPr sz="3600" b="1" spc="-5" dirty="0">
                <a:solidFill>
                  <a:srgbClr val="538DD3"/>
                </a:solidFill>
                <a:latin typeface="Times New Roman"/>
                <a:cs typeface="Times New Roman"/>
              </a:rPr>
              <a:t>Neuronal</a:t>
            </a:r>
            <a:r>
              <a:rPr sz="3600" b="1" spc="-45" dirty="0">
                <a:solidFill>
                  <a:srgbClr val="538DD3"/>
                </a:solidFill>
                <a:latin typeface="Times New Roman"/>
                <a:cs typeface="Times New Roman"/>
              </a:rPr>
              <a:t> </a:t>
            </a:r>
            <a:r>
              <a:rPr sz="3600" b="1" spc="-5" dirty="0" smtClean="0">
                <a:solidFill>
                  <a:srgbClr val="538DD3"/>
                </a:solidFill>
                <a:latin typeface="Times New Roman"/>
                <a:cs typeface="Times New Roman"/>
              </a:rPr>
              <a:t>Artificial</a:t>
            </a:r>
            <a:r>
              <a:rPr lang="es-ES" sz="3600" b="1" spc="-5" dirty="0" smtClean="0">
                <a:solidFill>
                  <a:srgbClr val="538DD3"/>
                </a:solidFill>
                <a:latin typeface="Times New Roman"/>
                <a:cs typeface="Times New Roman"/>
              </a:rPr>
              <a:t>. Algunas nociones básicas</a:t>
            </a:r>
            <a:endParaRPr sz="3600" dirty="0">
              <a:latin typeface="Times New Roman"/>
              <a:cs typeface="Times New Roman"/>
            </a:endParaRPr>
          </a:p>
        </p:txBody>
      </p:sp>
      <p:sp>
        <p:nvSpPr>
          <p:cNvPr id="4" name="CuadroTexto 3"/>
          <p:cNvSpPr txBox="1"/>
          <p:nvPr/>
        </p:nvSpPr>
        <p:spPr>
          <a:xfrm>
            <a:off x="698500" y="2638425"/>
            <a:ext cx="9525000" cy="369332"/>
          </a:xfrm>
          <a:prstGeom prst="rect">
            <a:avLst/>
          </a:prstGeom>
          <a:noFill/>
        </p:spPr>
        <p:txBody>
          <a:bodyPr wrap="square" rtlCol="0">
            <a:spAutoFit/>
          </a:bodyPr>
          <a:lstStyle/>
          <a:p>
            <a:r>
              <a:rPr lang="es-ES" dirty="0" smtClean="0"/>
              <a:t> </a:t>
            </a:r>
            <a:endParaRPr lang="es-ES" dirty="0"/>
          </a:p>
        </p:txBody>
      </p:sp>
      <p:sp>
        <p:nvSpPr>
          <p:cNvPr id="5" name="Rectángulo 4"/>
          <p:cNvSpPr/>
          <p:nvPr/>
        </p:nvSpPr>
        <p:spPr>
          <a:xfrm>
            <a:off x="279400" y="999053"/>
            <a:ext cx="9982200" cy="7201972"/>
          </a:xfrm>
          <a:prstGeom prst="rect">
            <a:avLst/>
          </a:prstGeom>
        </p:spPr>
        <p:txBody>
          <a:bodyPr wrap="square">
            <a:spAutoFit/>
          </a:bodyPr>
          <a:lstStyle/>
          <a:p>
            <a:pPr marL="285750" indent="-285750" algn="just">
              <a:lnSpc>
                <a:spcPct val="150000"/>
              </a:lnSpc>
              <a:buFont typeface="Wingdings" panose="05000000000000000000" pitchFamily="2" charset="2"/>
              <a:buChar char="q"/>
            </a:pPr>
            <a:r>
              <a:rPr lang="es-ES" sz="1700" dirty="0" smtClean="0"/>
              <a:t>Las </a:t>
            </a:r>
            <a:r>
              <a:rPr lang="es-ES" sz="1700" dirty="0"/>
              <a:t>neuronas artificiales se conectan entre sí para transmitirse señales.</a:t>
            </a:r>
          </a:p>
          <a:p>
            <a:pPr marL="285750" indent="-285750" algn="just">
              <a:lnSpc>
                <a:spcPct val="150000"/>
              </a:lnSpc>
              <a:buFont typeface="Wingdings" panose="05000000000000000000" pitchFamily="2" charset="2"/>
              <a:buChar char="q"/>
            </a:pPr>
            <a:r>
              <a:rPr lang="es-ES" sz="1700" dirty="0"/>
              <a:t>La información de entrada llega a una neurona. Mientras la atraviesa sufre distintas operaciones, obteniéndose un valor de salida</a:t>
            </a:r>
            <a:r>
              <a:rPr lang="es-ES" sz="1700" dirty="0" smtClean="0"/>
              <a:t>.</a:t>
            </a:r>
            <a:endParaRPr lang="es-ES" sz="1700" dirty="0"/>
          </a:p>
          <a:p>
            <a:pPr marL="285750" indent="-285750" algn="just">
              <a:lnSpc>
                <a:spcPct val="150000"/>
              </a:lnSpc>
              <a:buFont typeface="Wingdings" panose="05000000000000000000" pitchFamily="2" charset="2"/>
              <a:buChar char="q"/>
            </a:pPr>
            <a:r>
              <a:rPr lang="es-ES" sz="1700" dirty="0"/>
              <a:t>Las neuronas se conectan entre sí mediante </a:t>
            </a:r>
            <a:r>
              <a:rPr lang="es-ES" sz="1700" b="1" dirty="0"/>
              <a:t>enlaces</a:t>
            </a:r>
            <a:r>
              <a:rPr lang="es-ES" sz="1700" dirty="0"/>
              <a:t>.</a:t>
            </a:r>
          </a:p>
          <a:p>
            <a:pPr marL="285750" indent="-285750" algn="just">
              <a:lnSpc>
                <a:spcPct val="150000"/>
              </a:lnSpc>
              <a:buFont typeface="Wingdings" panose="05000000000000000000" pitchFamily="2" charset="2"/>
              <a:buChar char="q"/>
            </a:pPr>
            <a:r>
              <a:rPr lang="es-ES" sz="1700" dirty="0"/>
              <a:t>En los enlaces el valor de salida de la neurona anterior se multiplica por un </a:t>
            </a:r>
            <a:r>
              <a:rPr lang="es-ES" sz="1700" b="1" dirty="0"/>
              <a:t>peso</a:t>
            </a:r>
            <a:r>
              <a:rPr lang="es-ES" sz="1700" dirty="0"/>
              <a:t>. </a:t>
            </a:r>
          </a:p>
          <a:p>
            <a:pPr marL="285750" indent="-285750" algn="just">
              <a:lnSpc>
                <a:spcPct val="150000"/>
              </a:lnSpc>
              <a:buFont typeface="Wingdings" panose="05000000000000000000" pitchFamily="2" charset="2"/>
              <a:buChar char="q"/>
            </a:pPr>
            <a:r>
              <a:rPr lang="es-ES" sz="1700" dirty="0"/>
              <a:t>Estos pesos en los enlaces pueden </a:t>
            </a:r>
            <a:r>
              <a:rPr lang="es-ES" sz="1700" b="1" dirty="0"/>
              <a:t>incrementar o inhibir</a:t>
            </a:r>
            <a:r>
              <a:rPr lang="es-ES" sz="1700" dirty="0"/>
              <a:t> el estado de activación de las </a:t>
            </a:r>
            <a:r>
              <a:rPr lang="es-ES" sz="1700" b="1" dirty="0"/>
              <a:t>neuronas adyacentes</a:t>
            </a:r>
            <a:r>
              <a:rPr lang="es-ES" sz="1700" dirty="0"/>
              <a:t>. </a:t>
            </a:r>
            <a:endParaRPr lang="es-ES" sz="1700" dirty="0" smtClean="0"/>
          </a:p>
          <a:p>
            <a:pPr marL="285750" indent="-285750" algn="just">
              <a:lnSpc>
                <a:spcPct val="150000"/>
              </a:lnSpc>
              <a:buFont typeface="Wingdings" panose="05000000000000000000" pitchFamily="2" charset="2"/>
              <a:buChar char="q"/>
            </a:pPr>
            <a:r>
              <a:rPr lang="es-ES" sz="1700" dirty="0" smtClean="0"/>
              <a:t>La conexión entre neuronas se lleva a cabo mediante </a:t>
            </a:r>
            <a:r>
              <a:rPr lang="es-ES" sz="1700" b="1" dirty="0" smtClean="0"/>
              <a:t>funciones de combinación</a:t>
            </a:r>
            <a:endParaRPr lang="es-ES" sz="1700" b="1" dirty="0"/>
          </a:p>
          <a:p>
            <a:pPr marL="285750" indent="-285750" algn="just">
              <a:lnSpc>
                <a:spcPct val="150000"/>
              </a:lnSpc>
              <a:buFont typeface="Wingdings" panose="05000000000000000000" pitchFamily="2" charset="2"/>
              <a:buChar char="q"/>
            </a:pPr>
            <a:r>
              <a:rPr lang="es-ES" sz="1700" dirty="0"/>
              <a:t>A la salida de la neurona, puede existir una </a:t>
            </a:r>
            <a:r>
              <a:rPr lang="es-ES" sz="1700" b="1" dirty="0"/>
              <a:t>función limitadora</a:t>
            </a:r>
            <a:r>
              <a:rPr lang="es-ES" sz="1700" dirty="0"/>
              <a:t> o </a:t>
            </a:r>
            <a:r>
              <a:rPr lang="es-ES" sz="1700" b="1" dirty="0" smtClean="0"/>
              <a:t>umbral</a:t>
            </a:r>
            <a:r>
              <a:rPr lang="es-ES" sz="1700" dirty="0" smtClean="0"/>
              <a:t> </a:t>
            </a:r>
            <a:r>
              <a:rPr lang="es-ES" sz="1700" dirty="0"/>
              <a:t>que modifica el valor resultado o impone un límite que no se debe sobrepasar antes de propagarse a otra neurona. </a:t>
            </a:r>
            <a:r>
              <a:rPr lang="es-ES" sz="1700" dirty="0" smtClean="0"/>
              <a:t>Es la </a:t>
            </a:r>
            <a:r>
              <a:rPr lang="es-ES" sz="1700" b="1" dirty="0" smtClean="0"/>
              <a:t>función de activación</a:t>
            </a:r>
            <a:r>
              <a:rPr lang="es-ES" sz="1700" dirty="0" smtClean="0"/>
              <a:t>.</a:t>
            </a:r>
          </a:p>
          <a:p>
            <a:pPr marL="285750" indent="-285750" algn="just">
              <a:lnSpc>
                <a:spcPct val="150000"/>
              </a:lnSpc>
              <a:buFont typeface="Wingdings" panose="05000000000000000000" pitchFamily="2" charset="2"/>
              <a:buChar char="q"/>
            </a:pPr>
            <a:r>
              <a:rPr lang="es-ES" sz="1700" dirty="0"/>
              <a:t>En este módulo se trabajará con redes neuronales </a:t>
            </a:r>
            <a:r>
              <a:rPr lang="es-ES" sz="1700" b="1" dirty="0"/>
              <a:t>supervisadas: </a:t>
            </a:r>
            <a:r>
              <a:rPr lang="es-ES" sz="1700" dirty="0"/>
              <a:t>la</a:t>
            </a:r>
            <a:r>
              <a:rPr lang="es-ES" sz="1700" b="1" dirty="0"/>
              <a:t> </a:t>
            </a:r>
            <a:r>
              <a:rPr lang="es-ES" sz="1700" dirty="0"/>
              <a:t>red </a:t>
            </a:r>
            <a:r>
              <a:rPr lang="es-ES" sz="1700" dirty="0" smtClean="0"/>
              <a:t>recibe </a:t>
            </a:r>
            <a:r>
              <a:rPr lang="es-ES" sz="1700" dirty="0"/>
              <a:t>pares de entrada y salida conocidos durante el entrenamiento y ajusta sus pesos para minimizar la diferencia entre las salidas predichas y las </a:t>
            </a:r>
            <a:r>
              <a:rPr lang="es-ES" sz="1700" dirty="0" smtClean="0"/>
              <a:t>reales.</a:t>
            </a:r>
          </a:p>
          <a:p>
            <a:pPr marL="285750" indent="-285750" algn="just">
              <a:lnSpc>
                <a:spcPct val="150000"/>
              </a:lnSpc>
              <a:buFont typeface="Wingdings" panose="05000000000000000000" pitchFamily="2" charset="2"/>
              <a:buChar char="q"/>
            </a:pPr>
            <a:r>
              <a:rPr lang="es-ES" sz="1700" dirty="0" smtClean="0"/>
              <a:t>Como parte del </a:t>
            </a:r>
            <a:r>
              <a:rPr lang="es-ES" sz="1700" dirty="0"/>
              <a:t>proceso de aprendizaje en redes neuronales </a:t>
            </a:r>
            <a:r>
              <a:rPr lang="es-ES" sz="1700" dirty="0" smtClean="0"/>
              <a:t>supervisadas: </a:t>
            </a:r>
            <a:r>
              <a:rPr lang="es-ES" sz="1700" b="1" dirty="0" smtClean="0"/>
              <a:t>funciones </a:t>
            </a:r>
            <a:r>
              <a:rPr lang="es-ES" sz="1700" dirty="0" smtClean="0"/>
              <a:t>de </a:t>
            </a:r>
            <a:r>
              <a:rPr lang="es-ES" sz="1700" b="1" dirty="0" smtClean="0"/>
              <a:t>aprendizaje, pérdida o coste</a:t>
            </a:r>
            <a:r>
              <a:rPr lang="es-ES" sz="1700" dirty="0" smtClean="0"/>
              <a:t>, que evalúan </a:t>
            </a:r>
            <a:r>
              <a:rPr lang="es-ES" sz="1700" dirty="0"/>
              <a:t>la discrepancia entre </a:t>
            </a:r>
            <a:r>
              <a:rPr lang="es-ES" sz="1700" dirty="0" smtClean="0"/>
              <a:t>las predicciones y las etiquetas durante </a:t>
            </a:r>
            <a:r>
              <a:rPr lang="es-ES" sz="1700" dirty="0"/>
              <a:t>el entrenamiento</a:t>
            </a:r>
            <a:endParaRPr lang="es-ES" sz="1700" dirty="0" smtClean="0"/>
          </a:p>
          <a:p>
            <a:pPr marL="285750" indent="-285750" algn="just">
              <a:lnSpc>
                <a:spcPct val="150000"/>
              </a:lnSpc>
              <a:buFont typeface="Wingdings" panose="05000000000000000000" pitchFamily="2" charset="2"/>
              <a:buChar char="q"/>
            </a:pPr>
            <a:endParaRPr lang="es-ES" b="1" dirty="0"/>
          </a:p>
          <a:p>
            <a:pPr marL="285750" indent="-285750" algn="just">
              <a:lnSpc>
                <a:spcPct val="150000"/>
              </a:lnSpc>
              <a:buFont typeface="Wingdings" panose="05000000000000000000" pitchFamily="2" charset="2"/>
              <a:buChar char="q"/>
            </a:pPr>
            <a:endParaRPr lang="es-ES" b="1" dirty="0"/>
          </a:p>
        </p:txBody>
      </p:sp>
    </p:spTree>
    <p:extLst>
      <p:ext uri="{BB962C8B-B14F-4D97-AF65-F5344CB8AC3E}">
        <p14:creationId xmlns:p14="http://schemas.microsoft.com/office/powerpoint/2010/main" val="16980260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581025"/>
            <a:ext cx="10225088"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538DD3"/>
                </a:solidFill>
                <a:latin typeface="Times New Roman"/>
                <a:cs typeface="Times New Roman"/>
              </a:rPr>
              <a:t>Red</a:t>
            </a:r>
            <a:r>
              <a:rPr sz="3600" b="1" spc="-50" dirty="0">
                <a:solidFill>
                  <a:srgbClr val="538DD3"/>
                </a:solidFill>
                <a:latin typeface="Times New Roman"/>
                <a:cs typeface="Times New Roman"/>
              </a:rPr>
              <a:t> </a:t>
            </a:r>
            <a:r>
              <a:rPr sz="3600" b="1" spc="-5" dirty="0">
                <a:solidFill>
                  <a:srgbClr val="538DD3"/>
                </a:solidFill>
                <a:latin typeface="Times New Roman"/>
                <a:cs typeface="Times New Roman"/>
              </a:rPr>
              <a:t>Neuronal</a:t>
            </a:r>
            <a:r>
              <a:rPr sz="3600" b="1" spc="-45" dirty="0">
                <a:solidFill>
                  <a:srgbClr val="538DD3"/>
                </a:solidFill>
                <a:latin typeface="Times New Roman"/>
                <a:cs typeface="Times New Roman"/>
              </a:rPr>
              <a:t> </a:t>
            </a:r>
            <a:r>
              <a:rPr sz="3600" b="1" spc="-5" dirty="0" smtClean="0">
                <a:solidFill>
                  <a:srgbClr val="538DD3"/>
                </a:solidFill>
                <a:latin typeface="Times New Roman"/>
                <a:cs typeface="Times New Roman"/>
              </a:rPr>
              <a:t>Artificial</a:t>
            </a:r>
            <a:r>
              <a:rPr lang="es-ES" sz="3600" b="1" spc="-5" dirty="0" smtClean="0">
                <a:solidFill>
                  <a:srgbClr val="538DD3"/>
                </a:solidFill>
                <a:latin typeface="Times New Roman"/>
                <a:cs typeface="Times New Roman"/>
              </a:rPr>
              <a:t>. Características principales</a:t>
            </a:r>
            <a:endParaRPr sz="3600" dirty="0">
              <a:latin typeface="Times New Roman"/>
              <a:cs typeface="Times New Roman"/>
            </a:endParaRPr>
          </a:p>
        </p:txBody>
      </p:sp>
      <p:sp>
        <p:nvSpPr>
          <p:cNvPr id="4" name="CuadroTexto 3"/>
          <p:cNvSpPr txBox="1"/>
          <p:nvPr/>
        </p:nvSpPr>
        <p:spPr>
          <a:xfrm>
            <a:off x="698500" y="2638425"/>
            <a:ext cx="9525000" cy="369332"/>
          </a:xfrm>
          <a:prstGeom prst="rect">
            <a:avLst/>
          </a:prstGeom>
          <a:noFill/>
        </p:spPr>
        <p:txBody>
          <a:bodyPr wrap="square" rtlCol="0">
            <a:spAutoFit/>
          </a:bodyPr>
          <a:lstStyle/>
          <a:p>
            <a:r>
              <a:rPr lang="es-ES" dirty="0" smtClean="0"/>
              <a:t> </a:t>
            </a:r>
            <a:endParaRPr lang="es-ES" dirty="0"/>
          </a:p>
        </p:txBody>
      </p:sp>
      <p:sp>
        <p:nvSpPr>
          <p:cNvPr id="5" name="Rectángulo 4"/>
          <p:cNvSpPr/>
          <p:nvPr/>
        </p:nvSpPr>
        <p:spPr>
          <a:xfrm>
            <a:off x="315912" y="1571625"/>
            <a:ext cx="9982200" cy="3903954"/>
          </a:xfrm>
          <a:prstGeom prst="rect">
            <a:avLst/>
          </a:prstGeom>
        </p:spPr>
        <p:txBody>
          <a:bodyPr wrap="square">
            <a:spAutoFit/>
          </a:bodyPr>
          <a:lstStyle/>
          <a:p>
            <a:pPr marL="285750" indent="-285750">
              <a:lnSpc>
                <a:spcPct val="150000"/>
              </a:lnSpc>
              <a:buFont typeface="Wingdings" panose="05000000000000000000" pitchFamily="2" charset="2"/>
              <a:buChar char="q"/>
            </a:pPr>
            <a:r>
              <a:rPr lang="es-ES" sz="2400" b="1" dirty="0">
                <a:latin typeface="Times New Roman" panose="02020603050405020304" pitchFamily="18" charset="0"/>
                <a:cs typeface="Times New Roman" panose="02020603050405020304" pitchFamily="18" charset="0"/>
              </a:rPr>
              <a:t>Auto-Organización y Adaptabilidad</a:t>
            </a:r>
            <a:r>
              <a:rPr lang="es-ES" sz="2400" dirty="0">
                <a:latin typeface="Times New Roman" panose="02020603050405020304" pitchFamily="18" charset="0"/>
                <a:cs typeface="Times New Roman" panose="02020603050405020304" pitchFamily="18" charset="0"/>
              </a:rPr>
              <a:t>: utilizan algoritmos de aprendizaje </a:t>
            </a:r>
            <a:r>
              <a:rPr lang="es-ES" sz="2400" dirty="0" smtClean="0">
                <a:latin typeface="Times New Roman" panose="02020603050405020304" pitchFamily="18" charset="0"/>
                <a:cs typeface="Times New Roman" panose="02020603050405020304" pitchFamily="18" charset="0"/>
              </a:rPr>
              <a:t>adaptativo y </a:t>
            </a:r>
            <a:r>
              <a:rPr lang="es-ES" sz="2400" dirty="0">
                <a:latin typeface="Times New Roman" panose="02020603050405020304" pitchFamily="18" charset="0"/>
                <a:cs typeface="Times New Roman" panose="02020603050405020304" pitchFamily="18" charset="0"/>
              </a:rPr>
              <a:t>auto-organización, por lo que ofrecen mejores posibilidades de procesado </a:t>
            </a:r>
            <a:r>
              <a:rPr lang="es-ES" sz="2400" dirty="0" smtClean="0">
                <a:latin typeface="Times New Roman" panose="02020603050405020304" pitchFamily="18" charset="0"/>
                <a:cs typeface="Times New Roman" panose="02020603050405020304" pitchFamily="18" charset="0"/>
              </a:rPr>
              <a:t>robusto y </a:t>
            </a:r>
            <a:r>
              <a:rPr lang="es-ES" sz="2400" dirty="0">
                <a:latin typeface="Times New Roman" panose="02020603050405020304" pitchFamily="18" charset="0"/>
                <a:cs typeface="Times New Roman" panose="02020603050405020304" pitchFamily="18" charset="0"/>
              </a:rPr>
              <a:t>adaptativo.</a:t>
            </a:r>
          </a:p>
          <a:p>
            <a:pPr marL="285750" indent="-285750">
              <a:lnSpc>
                <a:spcPct val="150000"/>
              </a:lnSpc>
              <a:buFont typeface="Wingdings" panose="05000000000000000000" pitchFamily="2" charset="2"/>
              <a:buChar char="q"/>
            </a:pPr>
            <a:r>
              <a:rPr lang="es-ES" sz="2400" b="1" dirty="0" smtClean="0">
                <a:latin typeface="Times New Roman" panose="02020603050405020304" pitchFamily="18" charset="0"/>
                <a:cs typeface="Times New Roman" panose="02020603050405020304" pitchFamily="18" charset="0"/>
              </a:rPr>
              <a:t>Procesado </a:t>
            </a:r>
            <a:r>
              <a:rPr lang="es-ES" sz="2400" b="1" dirty="0">
                <a:latin typeface="Times New Roman" panose="02020603050405020304" pitchFamily="18" charset="0"/>
                <a:cs typeface="Times New Roman" panose="02020603050405020304" pitchFamily="18" charset="0"/>
              </a:rPr>
              <a:t>no Lineal</a:t>
            </a:r>
            <a:r>
              <a:rPr lang="es-ES" sz="2400" dirty="0">
                <a:latin typeface="Times New Roman" panose="02020603050405020304" pitchFamily="18" charset="0"/>
                <a:cs typeface="Times New Roman" panose="02020603050405020304" pitchFamily="18" charset="0"/>
              </a:rPr>
              <a:t>: aumenta la capacidad de la red para aproximar </a:t>
            </a:r>
            <a:r>
              <a:rPr lang="es-ES" sz="2400" dirty="0" smtClean="0">
                <a:latin typeface="Times New Roman" panose="02020603050405020304" pitchFamily="18" charset="0"/>
                <a:cs typeface="Times New Roman" panose="02020603050405020304" pitchFamily="18" charset="0"/>
              </a:rPr>
              <a:t>funciones, clasificar </a:t>
            </a:r>
            <a:r>
              <a:rPr lang="es-ES" sz="2400" dirty="0">
                <a:latin typeface="Times New Roman" panose="02020603050405020304" pitchFamily="18" charset="0"/>
                <a:cs typeface="Times New Roman" panose="02020603050405020304" pitchFamily="18" charset="0"/>
              </a:rPr>
              <a:t>patrones y aumenta su inmunidad frente al ruido.</a:t>
            </a:r>
          </a:p>
          <a:p>
            <a:pPr marL="285750" indent="-285750">
              <a:lnSpc>
                <a:spcPct val="150000"/>
              </a:lnSpc>
              <a:buFont typeface="Wingdings" panose="05000000000000000000" pitchFamily="2" charset="2"/>
              <a:buChar char="q"/>
            </a:pPr>
            <a:r>
              <a:rPr lang="es-ES" sz="2400" b="1" dirty="0" smtClean="0">
                <a:latin typeface="Times New Roman" panose="02020603050405020304" pitchFamily="18" charset="0"/>
                <a:cs typeface="Times New Roman" panose="02020603050405020304" pitchFamily="18" charset="0"/>
              </a:rPr>
              <a:t>Procesado </a:t>
            </a:r>
            <a:r>
              <a:rPr lang="es-ES" sz="2400" b="1" dirty="0">
                <a:latin typeface="Times New Roman" panose="02020603050405020304" pitchFamily="18" charset="0"/>
                <a:cs typeface="Times New Roman" panose="02020603050405020304" pitchFamily="18" charset="0"/>
              </a:rPr>
              <a:t>Paralelo</a:t>
            </a:r>
            <a:r>
              <a:rPr lang="es-ES" sz="2400" dirty="0">
                <a:latin typeface="Times New Roman" panose="02020603050405020304" pitchFamily="18" charset="0"/>
                <a:cs typeface="Times New Roman" panose="02020603050405020304" pitchFamily="18" charset="0"/>
              </a:rPr>
              <a:t>: normalmente se usa un gran número de nodos de </a:t>
            </a:r>
            <a:r>
              <a:rPr lang="es-ES" sz="2400" dirty="0" smtClean="0">
                <a:latin typeface="Times New Roman" panose="02020603050405020304" pitchFamily="18" charset="0"/>
                <a:cs typeface="Times New Roman" panose="02020603050405020304" pitchFamily="18" charset="0"/>
              </a:rPr>
              <a:t>procesado, con </a:t>
            </a:r>
            <a:r>
              <a:rPr lang="es-ES" sz="2400" dirty="0">
                <a:latin typeface="Times New Roman" panose="02020603050405020304" pitchFamily="18" charset="0"/>
                <a:cs typeface="Times New Roman" panose="02020603050405020304" pitchFamily="18" charset="0"/>
              </a:rPr>
              <a:t>alto nivel de interconectividad.</a:t>
            </a:r>
          </a:p>
        </p:txBody>
      </p:sp>
    </p:spTree>
    <p:extLst>
      <p:ext uri="{BB962C8B-B14F-4D97-AF65-F5344CB8AC3E}">
        <p14:creationId xmlns:p14="http://schemas.microsoft.com/office/powerpoint/2010/main" val="17824328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21838" y="387985"/>
            <a:ext cx="4645025"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538DD3"/>
                </a:solidFill>
                <a:latin typeface="Times New Roman"/>
                <a:cs typeface="Times New Roman"/>
              </a:rPr>
              <a:t>Red</a:t>
            </a:r>
            <a:r>
              <a:rPr sz="3600" b="1" spc="-50" dirty="0">
                <a:solidFill>
                  <a:srgbClr val="538DD3"/>
                </a:solidFill>
                <a:latin typeface="Times New Roman"/>
                <a:cs typeface="Times New Roman"/>
              </a:rPr>
              <a:t> </a:t>
            </a:r>
            <a:r>
              <a:rPr sz="3600" b="1" spc="-5" dirty="0">
                <a:solidFill>
                  <a:srgbClr val="538DD3"/>
                </a:solidFill>
                <a:latin typeface="Times New Roman"/>
                <a:cs typeface="Times New Roman"/>
              </a:rPr>
              <a:t>Neuronal</a:t>
            </a:r>
            <a:r>
              <a:rPr sz="3600" b="1" spc="-45" dirty="0">
                <a:solidFill>
                  <a:srgbClr val="538DD3"/>
                </a:solidFill>
                <a:latin typeface="Times New Roman"/>
                <a:cs typeface="Times New Roman"/>
              </a:rPr>
              <a:t> </a:t>
            </a:r>
            <a:r>
              <a:rPr sz="3600" b="1" spc="-5" dirty="0">
                <a:solidFill>
                  <a:srgbClr val="538DD3"/>
                </a:solidFill>
                <a:latin typeface="Times New Roman"/>
                <a:cs typeface="Times New Roman"/>
              </a:rPr>
              <a:t>Artificial</a:t>
            </a:r>
            <a:endParaRPr sz="3600">
              <a:latin typeface="Times New Roman"/>
              <a:cs typeface="Times New Roman"/>
            </a:endParaRPr>
          </a:p>
        </p:txBody>
      </p:sp>
      <p:pic>
        <p:nvPicPr>
          <p:cNvPr id="3" name="object 3"/>
          <p:cNvPicPr/>
          <p:nvPr/>
        </p:nvPicPr>
        <p:blipFill>
          <a:blip r:embed="rId3" cstate="print"/>
          <a:stretch>
            <a:fillRect/>
          </a:stretch>
        </p:blipFill>
        <p:spPr>
          <a:xfrm>
            <a:off x="4508500" y="3324225"/>
            <a:ext cx="5196331" cy="3200400"/>
          </a:xfrm>
          <a:prstGeom prst="rect">
            <a:avLst/>
          </a:prstGeom>
        </p:spPr>
      </p:pic>
      <p:sp>
        <p:nvSpPr>
          <p:cNvPr id="4" name="CuadroTexto 3"/>
          <p:cNvSpPr txBox="1"/>
          <p:nvPr/>
        </p:nvSpPr>
        <p:spPr>
          <a:xfrm>
            <a:off x="393700" y="1223903"/>
            <a:ext cx="9525000" cy="3970318"/>
          </a:xfrm>
          <a:prstGeom prst="rect">
            <a:avLst/>
          </a:prstGeom>
          <a:noFill/>
        </p:spPr>
        <p:txBody>
          <a:bodyPr wrap="square" rtlCol="0">
            <a:spAutoFit/>
          </a:bodyPr>
          <a:lstStyle/>
          <a:p>
            <a:r>
              <a:rPr lang="es-ES" sz="2400" dirty="0" smtClean="0"/>
              <a:t>A igual que en los sistemas biológicos, en las redes neuronales artificiales necesitaremos </a:t>
            </a:r>
            <a:r>
              <a:rPr lang="es-ES" sz="2400" b="1" dirty="0" smtClean="0"/>
              <a:t>neuronas de entrada</a:t>
            </a:r>
            <a:r>
              <a:rPr lang="es-ES" sz="2400" dirty="0" smtClean="0"/>
              <a:t> y </a:t>
            </a:r>
            <a:r>
              <a:rPr lang="es-ES" sz="2400" b="1" dirty="0" smtClean="0"/>
              <a:t>neuronas de salida</a:t>
            </a:r>
            <a:r>
              <a:rPr lang="es-ES" sz="2400" dirty="0" smtClean="0"/>
              <a:t> y </a:t>
            </a:r>
            <a:r>
              <a:rPr lang="es-ES" sz="2400" b="1" dirty="0" smtClean="0"/>
              <a:t>conexiones</a:t>
            </a:r>
            <a:r>
              <a:rPr lang="es-ES" sz="2400" dirty="0" smtClean="0"/>
              <a:t> entre ambas.</a:t>
            </a:r>
          </a:p>
          <a:p>
            <a:endParaRPr lang="es-ES" sz="2400" dirty="0" smtClean="0"/>
          </a:p>
          <a:p>
            <a:r>
              <a:rPr lang="es-ES" sz="2400" dirty="0" smtClean="0"/>
              <a:t>Siempre habrá al menos 3 capas:</a:t>
            </a:r>
          </a:p>
          <a:p>
            <a:endParaRPr lang="es-ES" sz="2400" dirty="0" smtClean="0"/>
          </a:p>
          <a:p>
            <a:pPr marL="285750" indent="-285750">
              <a:buFont typeface="Arial" panose="020B0604020202020204" pitchFamily="34" charset="0"/>
              <a:buChar char="•"/>
            </a:pPr>
            <a:r>
              <a:rPr lang="es-ES" sz="2400" b="1" dirty="0" smtClean="0">
                <a:solidFill>
                  <a:srgbClr val="0070C0"/>
                </a:solidFill>
              </a:rPr>
              <a:t>Capa de entrada </a:t>
            </a:r>
            <a:r>
              <a:rPr lang="es-ES" sz="2400" dirty="0" smtClean="0">
                <a:solidFill>
                  <a:srgbClr val="0070C0"/>
                </a:solidFill>
              </a:rPr>
              <a:t>(verde)</a:t>
            </a:r>
            <a:endParaRPr lang="es-ES" sz="2400" b="1" dirty="0" smtClean="0">
              <a:solidFill>
                <a:srgbClr val="0070C0"/>
              </a:solidFill>
            </a:endParaRPr>
          </a:p>
          <a:p>
            <a:pPr marL="285750" indent="-285750">
              <a:buFont typeface="Arial" panose="020B0604020202020204" pitchFamily="34" charset="0"/>
              <a:buChar char="•"/>
            </a:pPr>
            <a:r>
              <a:rPr lang="es-ES" sz="2400" b="1" dirty="0" smtClean="0">
                <a:solidFill>
                  <a:srgbClr val="0070C0"/>
                </a:solidFill>
              </a:rPr>
              <a:t>Capa oculta </a:t>
            </a:r>
            <a:r>
              <a:rPr lang="es-ES" sz="2400" dirty="0" smtClean="0">
                <a:solidFill>
                  <a:srgbClr val="0070C0"/>
                </a:solidFill>
              </a:rPr>
              <a:t>(morada)</a:t>
            </a:r>
            <a:endParaRPr lang="es-ES" sz="2400" dirty="0"/>
          </a:p>
          <a:p>
            <a:pPr marL="285750" indent="-285750">
              <a:buFont typeface="Arial" panose="020B0604020202020204" pitchFamily="34" charset="0"/>
              <a:buChar char="•"/>
            </a:pPr>
            <a:r>
              <a:rPr lang="es-ES" sz="2400" b="1" dirty="0" smtClean="0">
                <a:solidFill>
                  <a:srgbClr val="0070C0"/>
                </a:solidFill>
              </a:rPr>
              <a:t>Capa de salida </a:t>
            </a:r>
            <a:r>
              <a:rPr lang="es-ES" sz="2400" dirty="0" smtClean="0">
                <a:solidFill>
                  <a:srgbClr val="0070C0"/>
                </a:solidFill>
              </a:rPr>
              <a:t>(roja)</a:t>
            </a:r>
            <a:endParaRPr lang="es-ES" sz="2400" b="1" dirty="0" smtClean="0">
              <a:solidFill>
                <a:srgbClr val="0070C0"/>
              </a:solidFill>
            </a:endParaRPr>
          </a:p>
          <a:p>
            <a:endParaRPr lang="es-ES" dirty="0" smtClean="0"/>
          </a:p>
          <a:p>
            <a:endParaRPr lang="es-E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21838" y="387985"/>
            <a:ext cx="4645025"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538DD3"/>
                </a:solidFill>
                <a:latin typeface="Times New Roman"/>
                <a:cs typeface="Times New Roman"/>
              </a:rPr>
              <a:t>Red</a:t>
            </a:r>
            <a:r>
              <a:rPr sz="3600" b="1" spc="-50" dirty="0">
                <a:solidFill>
                  <a:srgbClr val="538DD3"/>
                </a:solidFill>
                <a:latin typeface="Times New Roman"/>
                <a:cs typeface="Times New Roman"/>
              </a:rPr>
              <a:t> </a:t>
            </a:r>
            <a:r>
              <a:rPr sz="3600" b="1" spc="-5" dirty="0">
                <a:solidFill>
                  <a:srgbClr val="538DD3"/>
                </a:solidFill>
                <a:latin typeface="Times New Roman"/>
                <a:cs typeface="Times New Roman"/>
              </a:rPr>
              <a:t>Neuronal</a:t>
            </a:r>
            <a:r>
              <a:rPr sz="3600" b="1" spc="-45" dirty="0">
                <a:solidFill>
                  <a:srgbClr val="538DD3"/>
                </a:solidFill>
                <a:latin typeface="Times New Roman"/>
                <a:cs typeface="Times New Roman"/>
              </a:rPr>
              <a:t> </a:t>
            </a:r>
            <a:r>
              <a:rPr sz="3600" b="1" spc="-5" dirty="0">
                <a:solidFill>
                  <a:srgbClr val="538DD3"/>
                </a:solidFill>
                <a:latin typeface="Times New Roman"/>
                <a:cs typeface="Times New Roman"/>
              </a:rPr>
              <a:t>Artificial</a:t>
            </a:r>
            <a:endParaRPr sz="3600">
              <a:latin typeface="Times New Roman"/>
              <a:cs typeface="Times New Roman"/>
            </a:endParaRPr>
          </a:p>
        </p:txBody>
      </p:sp>
      <p:sp>
        <p:nvSpPr>
          <p:cNvPr id="4" name="CuadroTexto 3"/>
          <p:cNvSpPr txBox="1"/>
          <p:nvPr/>
        </p:nvSpPr>
        <p:spPr>
          <a:xfrm>
            <a:off x="317500" y="962025"/>
            <a:ext cx="9753600" cy="594008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s-ES" sz="2400" b="1" dirty="0" smtClean="0">
                <a:solidFill>
                  <a:srgbClr val="0070C0"/>
                </a:solidFill>
              </a:rPr>
              <a:t>Capa de entrada: </a:t>
            </a:r>
            <a:r>
              <a:rPr lang="es-ES" sz="2000" dirty="0" smtClean="0"/>
              <a:t>los </a:t>
            </a:r>
            <a:r>
              <a:rPr lang="es-ES" sz="2000" dirty="0"/>
              <a:t>nodos de esta capa son las </a:t>
            </a:r>
            <a:r>
              <a:rPr lang="es-ES" sz="2000" b="1" dirty="0"/>
              <a:t>variables de entrada </a:t>
            </a:r>
            <a:r>
              <a:rPr lang="es-ES" sz="2000" dirty="0"/>
              <a:t>disponibles en el conjunto de </a:t>
            </a:r>
            <a:r>
              <a:rPr lang="es-ES" sz="2000" dirty="0" smtClean="0"/>
              <a:t>datos o </a:t>
            </a:r>
            <a:r>
              <a:rPr lang="es-ES" sz="2000" b="1" dirty="0" smtClean="0"/>
              <a:t>variables independientes</a:t>
            </a:r>
            <a:r>
              <a:rPr lang="es-ES" sz="2000" dirty="0" smtClean="0"/>
              <a:t>. Contiene los nodos </a:t>
            </a:r>
            <a:r>
              <a:rPr lang="es-ES" sz="2000" b="1" dirty="0" smtClean="0"/>
              <a:t>input</a:t>
            </a:r>
            <a:endParaRPr lang="es-ES" sz="2000" b="1" dirty="0"/>
          </a:p>
          <a:p>
            <a:pPr marL="285750" indent="-285750" algn="just">
              <a:lnSpc>
                <a:spcPct val="150000"/>
              </a:lnSpc>
              <a:buFont typeface="Arial" panose="020B0604020202020204" pitchFamily="34" charset="0"/>
              <a:buChar char="•"/>
            </a:pPr>
            <a:r>
              <a:rPr lang="es-ES" sz="2400" b="1" dirty="0" smtClean="0">
                <a:solidFill>
                  <a:srgbClr val="0070C0"/>
                </a:solidFill>
              </a:rPr>
              <a:t>Capa oculta: </a:t>
            </a:r>
            <a:r>
              <a:rPr lang="es-ES" sz="2000" dirty="0"/>
              <a:t>e</a:t>
            </a:r>
            <a:r>
              <a:rPr lang="es-ES" sz="2000" dirty="0" smtClean="0"/>
              <a:t>n esta capa hay variables “</a:t>
            </a:r>
            <a:r>
              <a:rPr lang="es-ES" sz="2000" b="1" dirty="0" smtClean="0"/>
              <a:t>artificiales</a:t>
            </a:r>
            <a:r>
              <a:rPr lang="es-ES" sz="2000" dirty="0" smtClean="0"/>
              <a:t>” o </a:t>
            </a:r>
            <a:r>
              <a:rPr lang="es-ES" sz="2000" b="1" dirty="0" smtClean="0"/>
              <a:t>nodos ocultos</a:t>
            </a:r>
            <a:r>
              <a:rPr lang="es-ES" sz="2000" dirty="0" smtClean="0"/>
              <a:t> </a:t>
            </a:r>
            <a:r>
              <a:rPr lang="es-ES" sz="2000" u="sng" dirty="0" smtClean="0"/>
              <a:t>que en general no existen en los datos</a:t>
            </a:r>
            <a:r>
              <a:rPr lang="es-ES" sz="2000" dirty="0" smtClean="0"/>
              <a:t>. Estas variables conectan </a:t>
            </a:r>
            <a:r>
              <a:rPr lang="es-ES" sz="2000" dirty="0"/>
              <a:t>la entrada con la </a:t>
            </a:r>
            <a:r>
              <a:rPr lang="es-ES" sz="2000" dirty="0" smtClean="0"/>
              <a:t>salida, </a:t>
            </a:r>
            <a:r>
              <a:rPr lang="es-ES" sz="2000" dirty="0"/>
              <a:t>y permiten construir la función que se utiliza para determinar la variable de salida en función de las variables de entrada</a:t>
            </a:r>
            <a:r>
              <a:rPr lang="es-ES" sz="2000" dirty="0" smtClean="0"/>
              <a:t>. En general, trabajaremos con redes neuronales con </a:t>
            </a:r>
            <a:r>
              <a:rPr lang="es-ES" sz="2000" b="1" dirty="0" smtClean="0"/>
              <a:t>una</a:t>
            </a:r>
            <a:r>
              <a:rPr lang="es-ES" sz="2000" dirty="0" smtClean="0"/>
              <a:t> sola capa oculta. Los problemas con más de una capa oculta se abordan con técnicas de </a:t>
            </a:r>
            <a:r>
              <a:rPr lang="es-ES" sz="2000" i="1" dirty="0" err="1" smtClean="0"/>
              <a:t>deep</a:t>
            </a:r>
            <a:r>
              <a:rPr lang="es-ES" sz="2000" i="1" dirty="0" smtClean="0"/>
              <a:t> </a:t>
            </a:r>
            <a:r>
              <a:rPr lang="es-ES" sz="2000" i="1" dirty="0" err="1" smtClean="0"/>
              <a:t>learning</a:t>
            </a:r>
            <a:r>
              <a:rPr lang="es-ES" sz="2000" i="1" dirty="0" smtClean="0"/>
              <a:t>.</a:t>
            </a:r>
            <a:endParaRPr lang="es-ES" sz="2400" dirty="0"/>
          </a:p>
          <a:p>
            <a:pPr marL="285750" indent="-285750" algn="just">
              <a:lnSpc>
                <a:spcPct val="150000"/>
              </a:lnSpc>
              <a:buFont typeface="Arial" panose="020B0604020202020204" pitchFamily="34" charset="0"/>
              <a:buChar char="•"/>
            </a:pPr>
            <a:r>
              <a:rPr lang="es-ES" sz="2400" b="1" dirty="0" smtClean="0">
                <a:solidFill>
                  <a:srgbClr val="0070C0"/>
                </a:solidFill>
              </a:rPr>
              <a:t>Capa de salida:</a:t>
            </a:r>
            <a:r>
              <a:rPr lang="es-ES" sz="2400" dirty="0" smtClean="0"/>
              <a:t> </a:t>
            </a:r>
            <a:r>
              <a:rPr lang="es-ES" sz="2000" dirty="0" smtClean="0"/>
              <a:t>contiene la </a:t>
            </a:r>
            <a:r>
              <a:rPr lang="es-ES" sz="2000" b="1" dirty="0" smtClean="0"/>
              <a:t>variable</a:t>
            </a:r>
            <a:r>
              <a:rPr lang="es-ES" sz="2000" dirty="0" smtClean="0"/>
              <a:t> </a:t>
            </a:r>
            <a:r>
              <a:rPr lang="es-ES" sz="2000" b="1" dirty="0" smtClean="0"/>
              <a:t>respuesta</a:t>
            </a:r>
            <a:r>
              <a:rPr lang="es-ES" sz="2000" dirty="0" smtClean="0"/>
              <a:t> o </a:t>
            </a:r>
            <a:r>
              <a:rPr lang="es-ES" sz="2000" b="1" dirty="0" smtClean="0"/>
              <a:t>dependiente </a:t>
            </a:r>
            <a:r>
              <a:rPr lang="es-ES" sz="2000" dirty="0" smtClean="0"/>
              <a:t>(puede haber uno o varios nodos, tantos como características se quieran predecir, clasificar o explicar). Puede ser continua o cualitativa.</a:t>
            </a:r>
          </a:p>
          <a:p>
            <a:endParaRPr lang="es-ES" sz="1600" dirty="0" smtClean="0"/>
          </a:p>
          <a:p>
            <a:endParaRPr lang="es-ES" sz="1600" dirty="0"/>
          </a:p>
        </p:txBody>
      </p:sp>
    </p:spTree>
    <p:extLst>
      <p:ext uri="{BB962C8B-B14F-4D97-AF65-F5344CB8AC3E}">
        <p14:creationId xmlns:p14="http://schemas.microsoft.com/office/powerpoint/2010/main" val="27461784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2903" y="314959"/>
            <a:ext cx="2845435" cy="574040"/>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538DD3"/>
                </a:solidFill>
                <a:latin typeface="Times New Roman"/>
                <a:cs typeface="Times New Roman"/>
              </a:rPr>
              <a:t>Planteamiento</a:t>
            </a:r>
            <a:endParaRPr sz="3600" dirty="0">
              <a:latin typeface="Times New Roman"/>
              <a:cs typeface="Times New Roman"/>
            </a:endParaRPr>
          </a:p>
        </p:txBody>
      </p:sp>
      <p:sp>
        <p:nvSpPr>
          <p:cNvPr id="3" name="object 3"/>
          <p:cNvSpPr txBox="1"/>
          <p:nvPr/>
        </p:nvSpPr>
        <p:spPr>
          <a:xfrm>
            <a:off x="1035631" y="4086225"/>
            <a:ext cx="8854440" cy="2889894"/>
          </a:xfrm>
          <a:prstGeom prst="rect">
            <a:avLst/>
          </a:prstGeom>
        </p:spPr>
        <p:txBody>
          <a:bodyPr vert="horz" wrap="square" lIns="0" tIns="200025" rIns="0" bIns="0" rtlCol="0">
            <a:spAutoFit/>
          </a:bodyPr>
          <a:lstStyle/>
          <a:p>
            <a:pPr marL="12700">
              <a:lnSpc>
                <a:spcPct val="100000"/>
              </a:lnSpc>
              <a:spcBef>
                <a:spcPts val="1575"/>
              </a:spcBef>
            </a:pPr>
            <a:r>
              <a:rPr sz="2500" spc="-10" dirty="0">
                <a:latin typeface="Times New Roman"/>
                <a:cs typeface="Times New Roman"/>
              </a:rPr>
              <a:t>Una</a:t>
            </a:r>
            <a:r>
              <a:rPr sz="2500" spc="-5" dirty="0">
                <a:latin typeface="Times New Roman"/>
                <a:cs typeface="Times New Roman"/>
              </a:rPr>
              <a:t> Red Neuronal es </a:t>
            </a:r>
            <a:r>
              <a:rPr sz="2500" dirty="0">
                <a:latin typeface="Times New Roman"/>
                <a:cs typeface="Times New Roman"/>
              </a:rPr>
              <a:t>en</a:t>
            </a:r>
            <a:r>
              <a:rPr sz="2500" spc="-5" dirty="0">
                <a:latin typeface="Times New Roman"/>
                <a:cs typeface="Times New Roman"/>
              </a:rPr>
              <a:t> realidad </a:t>
            </a:r>
            <a:r>
              <a:rPr sz="2500" dirty="0">
                <a:latin typeface="Times New Roman"/>
                <a:cs typeface="Times New Roman"/>
              </a:rPr>
              <a:t>un</a:t>
            </a:r>
            <a:r>
              <a:rPr sz="2500" spc="5" dirty="0">
                <a:latin typeface="Times New Roman"/>
                <a:cs typeface="Times New Roman"/>
              </a:rPr>
              <a:t> </a:t>
            </a:r>
            <a:r>
              <a:rPr sz="2500" spc="-5" dirty="0">
                <a:latin typeface="Times New Roman"/>
                <a:cs typeface="Times New Roman"/>
              </a:rPr>
              <a:t>modelo </a:t>
            </a:r>
            <a:r>
              <a:rPr sz="2500" dirty="0">
                <a:latin typeface="Times New Roman"/>
                <a:cs typeface="Times New Roman"/>
              </a:rPr>
              <a:t>de</a:t>
            </a:r>
            <a:r>
              <a:rPr sz="2500" spc="-5" dirty="0">
                <a:latin typeface="Times New Roman"/>
                <a:cs typeface="Times New Roman"/>
              </a:rPr>
              <a:t> la forma</a:t>
            </a:r>
            <a:endParaRPr sz="2500" dirty="0">
              <a:latin typeface="Times New Roman"/>
              <a:cs typeface="Times New Roman"/>
            </a:endParaRPr>
          </a:p>
          <a:p>
            <a:pPr marL="4045585">
              <a:lnSpc>
                <a:spcPct val="100000"/>
              </a:lnSpc>
              <a:spcBef>
                <a:spcPts val="1300"/>
              </a:spcBef>
            </a:pPr>
            <a:r>
              <a:rPr sz="2200" b="1" i="1" spc="-5" dirty="0">
                <a:solidFill>
                  <a:srgbClr val="1F487C"/>
                </a:solidFill>
                <a:latin typeface="Times New Roman"/>
                <a:cs typeface="Times New Roman"/>
              </a:rPr>
              <a:t>y=f(x1,x2,x3,…)</a:t>
            </a:r>
            <a:endParaRPr sz="2200" i="1" dirty="0">
              <a:latin typeface="Times New Roman"/>
              <a:cs typeface="Times New Roman"/>
            </a:endParaRPr>
          </a:p>
          <a:p>
            <a:pPr marL="12700">
              <a:lnSpc>
                <a:spcPct val="100000"/>
              </a:lnSpc>
              <a:spcBef>
                <a:spcPts val="1220"/>
              </a:spcBef>
            </a:pPr>
            <a:r>
              <a:rPr sz="2500" spc="-5" dirty="0">
                <a:latin typeface="Times New Roman"/>
                <a:cs typeface="Times New Roman"/>
              </a:rPr>
              <a:t>donde </a:t>
            </a:r>
            <a:r>
              <a:rPr sz="2500" dirty="0">
                <a:latin typeface="Times New Roman"/>
                <a:cs typeface="Times New Roman"/>
              </a:rPr>
              <a:t>la</a:t>
            </a:r>
            <a:r>
              <a:rPr sz="2500" spc="-5" dirty="0">
                <a:latin typeface="Times New Roman"/>
                <a:cs typeface="Times New Roman"/>
              </a:rPr>
              <a:t> función </a:t>
            </a:r>
            <a:r>
              <a:rPr sz="2500" i="1" spc="-5" dirty="0">
                <a:latin typeface="Times New Roman"/>
                <a:cs typeface="Times New Roman"/>
              </a:rPr>
              <a:t>f</a:t>
            </a:r>
            <a:r>
              <a:rPr sz="2500" i="1" spc="5" dirty="0">
                <a:latin typeface="Times New Roman"/>
                <a:cs typeface="Times New Roman"/>
              </a:rPr>
              <a:t> </a:t>
            </a:r>
            <a:r>
              <a:rPr sz="2500" spc="-5" dirty="0">
                <a:latin typeface="Times New Roman"/>
                <a:cs typeface="Times New Roman"/>
              </a:rPr>
              <a:t>es por lo </a:t>
            </a:r>
            <a:r>
              <a:rPr sz="2500" dirty="0">
                <a:latin typeface="Times New Roman"/>
                <a:cs typeface="Times New Roman"/>
              </a:rPr>
              <a:t>general</a:t>
            </a:r>
            <a:r>
              <a:rPr sz="2500" spc="10" dirty="0">
                <a:latin typeface="Times New Roman"/>
                <a:cs typeface="Times New Roman"/>
              </a:rPr>
              <a:t> </a:t>
            </a:r>
            <a:r>
              <a:rPr sz="2500" spc="-5" dirty="0">
                <a:latin typeface="Times New Roman"/>
                <a:cs typeface="Times New Roman"/>
              </a:rPr>
              <a:t>no</a:t>
            </a:r>
            <a:r>
              <a:rPr sz="2500" dirty="0">
                <a:latin typeface="Times New Roman"/>
                <a:cs typeface="Times New Roman"/>
              </a:rPr>
              <a:t> </a:t>
            </a:r>
            <a:r>
              <a:rPr sz="2500" spc="-5" dirty="0">
                <a:latin typeface="Times New Roman"/>
                <a:cs typeface="Times New Roman"/>
              </a:rPr>
              <a:t>lineal.</a:t>
            </a:r>
            <a:endParaRPr sz="2500" dirty="0">
              <a:latin typeface="Times New Roman"/>
              <a:cs typeface="Times New Roman"/>
            </a:endParaRPr>
          </a:p>
          <a:p>
            <a:pPr>
              <a:lnSpc>
                <a:spcPct val="100000"/>
              </a:lnSpc>
              <a:spcBef>
                <a:spcPts val="5"/>
              </a:spcBef>
            </a:pPr>
            <a:endParaRPr sz="2400" dirty="0">
              <a:latin typeface="Times New Roman"/>
              <a:cs typeface="Times New Roman"/>
            </a:endParaRPr>
          </a:p>
          <a:p>
            <a:pPr marL="12700">
              <a:lnSpc>
                <a:spcPct val="100000"/>
              </a:lnSpc>
            </a:pPr>
            <a:r>
              <a:rPr sz="2500" spc="-5" dirty="0">
                <a:latin typeface="Times New Roman"/>
                <a:cs typeface="Times New Roman"/>
              </a:rPr>
              <a:t>Ejemplo</a:t>
            </a:r>
            <a:r>
              <a:rPr sz="2500" spc="-25" dirty="0">
                <a:latin typeface="Times New Roman"/>
                <a:cs typeface="Times New Roman"/>
              </a:rPr>
              <a:t> </a:t>
            </a:r>
            <a:r>
              <a:rPr sz="2500" dirty="0">
                <a:latin typeface="Times New Roman"/>
                <a:cs typeface="Times New Roman"/>
              </a:rPr>
              <a:t>de</a:t>
            </a:r>
            <a:r>
              <a:rPr sz="2500" spc="-20" dirty="0">
                <a:latin typeface="Times New Roman"/>
                <a:cs typeface="Times New Roman"/>
              </a:rPr>
              <a:t> </a:t>
            </a:r>
            <a:r>
              <a:rPr sz="2500" spc="-5" dirty="0">
                <a:latin typeface="Times New Roman"/>
                <a:cs typeface="Times New Roman"/>
              </a:rPr>
              <a:t>red:</a:t>
            </a:r>
            <a:endParaRPr sz="2500" dirty="0">
              <a:latin typeface="Times New Roman"/>
              <a:cs typeface="Times New Roman"/>
            </a:endParaRPr>
          </a:p>
          <a:p>
            <a:pPr marL="12700">
              <a:lnSpc>
                <a:spcPct val="100000"/>
              </a:lnSpc>
              <a:spcBef>
                <a:spcPts val="1285"/>
              </a:spcBef>
            </a:pPr>
            <a:r>
              <a:rPr sz="2200" dirty="0">
                <a:latin typeface="Times New Roman"/>
                <a:cs typeface="Times New Roman"/>
              </a:rPr>
              <a:t>y=</a:t>
            </a:r>
            <a:r>
              <a:rPr sz="1800" dirty="0">
                <a:latin typeface="Courier New"/>
                <a:cs typeface="Courier New"/>
              </a:rPr>
              <a:t>29.8+85.2*tanh(-0.9+2.1*</a:t>
            </a:r>
            <a:r>
              <a:rPr sz="1800" dirty="0">
                <a:solidFill>
                  <a:srgbClr val="1F487C"/>
                </a:solidFill>
                <a:latin typeface="Courier New"/>
                <a:cs typeface="Courier New"/>
              </a:rPr>
              <a:t>X1</a:t>
            </a:r>
            <a:r>
              <a:rPr sz="1800" dirty="0">
                <a:latin typeface="Courier New"/>
                <a:cs typeface="Courier New"/>
              </a:rPr>
              <a:t>-0.15*</a:t>
            </a:r>
            <a:r>
              <a:rPr sz="1800" dirty="0">
                <a:solidFill>
                  <a:srgbClr val="1F487C"/>
                </a:solidFill>
                <a:latin typeface="Courier New"/>
                <a:cs typeface="Courier New"/>
              </a:rPr>
              <a:t>X2</a:t>
            </a:r>
            <a:r>
              <a:rPr sz="1800" dirty="0">
                <a:latin typeface="Courier New"/>
                <a:cs typeface="Courier New"/>
              </a:rPr>
              <a:t>)-79*tanh(-3.5+5*</a:t>
            </a:r>
            <a:r>
              <a:rPr sz="1800" dirty="0">
                <a:solidFill>
                  <a:srgbClr val="1F487C"/>
                </a:solidFill>
                <a:latin typeface="Courier New"/>
                <a:cs typeface="Courier New"/>
              </a:rPr>
              <a:t>X1</a:t>
            </a:r>
            <a:r>
              <a:rPr sz="1800" dirty="0">
                <a:latin typeface="Courier New"/>
                <a:cs typeface="Courier New"/>
              </a:rPr>
              <a:t>+0.01*</a:t>
            </a:r>
            <a:r>
              <a:rPr sz="1800" dirty="0">
                <a:solidFill>
                  <a:srgbClr val="1F487C"/>
                </a:solidFill>
                <a:latin typeface="Courier New"/>
                <a:cs typeface="Courier New"/>
              </a:rPr>
              <a:t>X2</a:t>
            </a:r>
            <a:r>
              <a:rPr sz="1800" dirty="0">
                <a:latin typeface="Courier New"/>
                <a:cs typeface="Courier New"/>
              </a:rPr>
              <a:t>)</a:t>
            </a:r>
          </a:p>
        </p:txBody>
      </p:sp>
      <p:pic>
        <p:nvPicPr>
          <p:cNvPr id="4" name="object 4"/>
          <p:cNvPicPr/>
          <p:nvPr/>
        </p:nvPicPr>
        <p:blipFill>
          <a:blip r:embed="rId2" cstate="print"/>
          <a:stretch>
            <a:fillRect/>
          </a:stretch>
        </p:blipFill>
        <p:spPr>
          <a:xfrm>
            <a:off x="698500" y="1266825"/>
            <a:ext cx="3981480" cy="2454231"/>
          </a:xfrm>
          <a:prstGeom prst="rect">
            <a:avLst/>
          </a:prstGeom>
        </p:spPr>
      </p:pic>
      <p:sp>
        <p:nvSpPr>
          <p:cNvPr id="6" name="CuadroTexto 5"/>
          <p:cNvSpPr txBox="1"/>
          <p:nvPr/>
        </p:nvSpPr>
        <p:spPr>
          <a:xfrm>
            <a:off x="4692680" y="1364227"/>
            <a:ext cx="5698827" cy="2246769"/>
          </a:xfrm>
          <a:prstGeom prst="rect">
            <a:avLst/>
          </a:prstGeom>
          <a:noFill/>
        </p:spPr>
        <p:txBody>
          <a:bodyPr wrap="square" rtlCol="0">
            <a:spAutoFit/>
          </a:bodyPr>
          <a:lstStyle/>
          <a:p>
            <a:pPr algn="just"/>
            <a:r>
              <a:rPr lang="es-ES" sz="2000" dirty="0" smtClean="0"/>
              <a:t>Al construir una red neuronal estamos definiendo un </a:t>
            </a:r>
            <a:r>
              <a:rPr lang="es-ES" sz="2000" b="1" dirty="0" smtClean="0"/>
              <a:t>modelo</a:t>
            </a:r>
            <a:r>
              <a:rPr lang="es-ES" sz="2000" dirty="0" smtClean="0"/>
              <a:t> que relaciona las entradas o los nodos de la capa de entrada (variables independientes) mediante una función que viene asociada por las </a:t>
            </a:r>
            <a:r>
              <a:rPr lang="es-ES" sz="2000" b="1" dirty="0" smtClean="0"/>
              <a:t>relaciones existentes </a:t>
            </a:r>
            <a:r>
              <a:rPr lang="es-ES" sz="2000" dirty="0" smtClean="0"/>
              <a:t>entre cada uno de los nodos de las distintas capas, con la variable respuesta de la capa de salida. En general estas funciones </a:t>
            </a:r>
            <a:r>
              <a:rPr lang="es-ES" sz="2000" b="1" dirty="0" smtClean="0"/>
              <a:t>no son lineales</a:t>
            </a:r>
            <a:r>
              <a:rPr lang="es-ES" sz="2000" dirty="0" smtClean="0"/>
              <a:t>.</a:t>
            </a:r>
            <a:endParaRPr lang="es-ES" sz="2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8260" rIns="0" bIns="0" rtlCol="0">
            <a:spAutoFit/>
          </a:bodyPr>
          <a:lstStyle/>
          <a:p>
            <a:pPr marL="12700" marR="5080">
              <a:lnSpc>
                <a:spcPts val="4140"/>
              </a:lnSpc>
              <a:spcBef>
                <a:spcPts val="380"/>
              </a:spcBef>
            </a:pPr>
            <a:r>
              <a:rPr sz="3600" b="1" dirty="0">
                <a:solidFill>
                  <a:srgbClr val="538DD3"/>
                </a:solidFill>
                <a:latin typeface="Times New Roman"/>
                <a:cs typeface="Times New Roman"/>
              </a:rPr>
              <a:t>¿Qué </a:t>
            </a:r>
            <a:r>
              <a:rPr sz="3600" b="1" spc="-5" dirty="0">
                <a:solidFill>
                  <a:srgbClr val="538DD3"/>
                </a:solidFill>
                <a:latin typeface="Times New Roman"/>
                <a:cs typeface="Times New Roman"/>
              </a:rPr>
              <a:t>problemas de modelización </a:t>
            </a:r>
            <a:r>
              <a:rPr sz="3600" b="1" dirty="0">
                <a:solidFill>
                  <a:srgbClr val="538DD3"/>
                </a:solidFill>
                <a:latin typeface="Times New Roman"/>
                <a:cs typeface="Times New Roman"/>
              </a:rPr>
              <a:t>estadística </a:t>
            </a:r>
            <a:r>
              <a:rPr sz="3600" b="1" spc="-5" dirty="0">
                <a:solidFill>
                  <a:srgbClr val="538DD3"/>
                </a:solidFill>
                <a:latin typeface="Times New Roman"/>
                <a:cs typeface="Times New Roman"/>
              </a:rPr>
              <a:t>se </a:t>
            </a:r>
            <a:r>
              <a:rPr sz="3600" b="1" spc="-885" dirty="0">
                <a:solidFill>
                  <a:srgbClr val="538DD3"/>
                </a:solidFill>
                <a:latin typeface="Times New Roman"/>
                <a:cs typeface="Times New Roman"/>
              </a:rPr>
              <a:t> </a:t>
            </a:r>
            <a:r>
              <a:rPr sz="3600" b="1" spc="-5" dirty="0">
                <a:solidFill>
                  <a:srgbClr val="538DD3"/>
                </a:solidFill>
                <a:latin typeface="Times New Roman"/>
                <a:cs typeface="Times New Roman"/>
              </a:rPr>
              <a:t>pueden</a:t>
            </a:r>
            <a:r>
              <a:rPr sz="3600" b="1" spc="-15" dirty="0">
                <a:solidFill>
                  <a:srgbClr val="538DD3"/>
                </a:solidFill>
                <a:latin typeface="Times New Roman"/>
                <a:cs typeface="Times New Roman"/>
              </a:rPr>
              <a:t> </a:t>
            </a:r>
            <a:r>
              <a:rPr sz="3600" b="1" dirty="0">
                <a:solidFill>
                  <a:srgbClr val="538DD3"/>
                </a:solidFill>
                <a:latin typeface="Times New Roman"/>
                <a:cs typeface="Times New Roman"/>
              </a:rPr>
              <a:t>abordar</a:t>
            </a:r>
            <a:r>
              <a:rPr sz="3600" b="1" spc="-5" dirty="0">
                <a:solidFill>
                  <a:srgbClr val="538DD3"/>
                </a:solidFill>
                <a:latin typeface="Times New Roman"/>
                <a:cs typeface="Times New Roman"/>
              </a:rPr>
              <a:t> </a:t>
            </a:r>
            <a:r>
              <a:rPr sz="3600" b="1" dirty="0">
                <a:solidFill>
                  <a:srgbClr val="538DD3"/>
                </a:solidFill>
                <a:latin typeface="Times New Roman"/>
                <a:cs typeface="Times New Roman"/>
              </a:rPr>
              <a:t>con</a:t>
            </a:r>
            <a:r>
              <a:rPr sz="3600" b="1" spc="-10" dirty="0">
                <a:solidFill>
                  <a:srgbClr val="538DD3"/>
                </a:solidFill>
                <a:latin typeface="Times New Roman"/>
                <a:cs typeface="Times New Roman"/>
              </a:rPr>
              <a:t> </a:t>
            </a:r>
            <a:r>
              <a:rPr sz="3600" b="1" dirty="0">
                <a:solidFill>
                  <a:srgbClr val="538DD3"/>
                </a:solidFill>
                <a:latin typeface="Times New Roman"/>
                <a:cs typeface="Times New Roman"/>
              </a:rPr>
              <a:t>las</a:t>
            </a:r>
            <a:r>
              <a:rPr sz="3600" b="1" spc="-10" dirty="0">
                <a:solidFill>
                  <a:srgbClr val="538DD3"/>
                </a:solidFill>
                <a:latin typeface="Times New Roman"/>
                <a:cs typeface="Times New Roman"/>
              </a:rPr>
              <a:t> </a:t>
            </a:r>
            <a:r>
              <a:rPr sz="3600" b="1" dirty="0">
                <a:solidFill>
                  <a:srgbClr val="538DD3"/>
                </a:solidFill>
                <a:latin typeface="Times New Roman"/>
                <a:cs typeface="Times New Roman"/>
              </a:rPr>
              <a:t>redes</a:t>
            </a:r>
            <a:r>
              <a:rPr sz="3600" b="1" spc="-5" dirty="0">
                <a:solidFill>
                  <a:srgbClr val="538DD3"/>
                </a:solidFill>
                <a:latin typeface="Times New Roman"/>
                <a:cs typeface="Times New Roman"/>
              </a:rPr>
              <a:t> neuronales?</a:t>
            </a:r>
            <a:endParaRPr sz="3600" dirty="0">
              <a:latin typeface="Times New Roman"/>
              <a:cs typeface="Times New Roman"/>
            </a:endParaRPr>
          </a:p>
        </p:txBody>
      </p:sp>
      <p:sp>
        <p:nvSpPr>
          <p:cNvPr id="3" name="object 3"/>
          <p:cNvSpPr txBox="1"/>
          <p:nvPr/>
        </p:nvSpPr>
        <p:spPr>
          <a:xfrm>
            <a:off x="664463" y="1571625"/>
            <a:ext cx="10028937" cy="5311069"/>
          </a:xfrm>
          <a:prstGeom prst="rect">
            <a:avLst/>
          </a:prstGeom>
        </p:spPr>
        <p:txBody>
          <a:bodyPr vert="horz" wrap="square" lIns="0" tIns="12065" rIns="0" bIns="0" rtlCol="0">
            <a:spAutoFit/>
          </a:bodyPr>
          <a:lstStyle/>
          <a:p>
            <a:pPr marL="241300" indent="-228600">
              <a:lnSpc>
                <a:spcPct val="100000"/>
              </a:lnSpc>
              <a:spcBef>
                <a:spcPts val="95"/>
              </a:spcBef>
              <a:buFont typeface="Symbol"/>
              <a:buChar char=""/>
              <a:tabLst>
                <a:tab pos="241300" algn="l"/>
              </a:tabLst>
            </a:pPr>
            <a:endParaRPr lang="es-ES" sz="2800" b="1" spc="-10" dirty="0" smtClean="0">
              <a:solidFill>
                <a:srgbClr val="4F6128"/>
              </a:solidFill>
              <a:latin typeface="Times New Roman"/>
              <a:cs typeface="Times New Roman"/>
            </a:endParaRPr>
          </a:p>
          <a:p>
            <a:pPr marL="12700">
              <a:lnSpc>
                <a:spcPct val="100000"/>
              </a:lnSpc>
              <a:spcBef>
                <a:spcPts val="95"/>
              </a:spcBef>
              <a:tabLst>
                <a:tab pos="241300" algn="l"/>
              </a:tabLst>
            </a:pPr>
            <a:r>
              <a:rPr lang="es-ES" sz="2800" spc="-10" dirty="0" smtClean="0">
                <a:latin typeface="Times New Roman"/>
                <a:cs typeface="Times New Roman"/>
              </a:rPr>
              <a:t>Cualquiera de los problemas conocidos se pueden abordar con la técnica de redes neuronales</a:t>
            </a:r>
          </a:p>
          <a:p>
            <a:pPr marL="12700">
              <a:lnSpc>
                <a:spcPct val="100000"/>
              </a:lnSpc>
              <a:spcBef>
                <a:spcPts val="95"/>
              </a:spcBef>
              <a:tabLst>
                <a:tab pos="241300" algn="l"/>
              </a:tabLst>
            </a:pPr>
            <a:endParaRPr lang="es-ES" sz="2800" spc="-10" dirty="0">
              <a:latin typeface="Times New Roman"/>
              <a:cs typeface="Times New Roman"/>
            </a:endParaRPr>
          </a:p>
          <a:p>
            <a:pPr marL="241300" indent="-228600">
              <a:lnSpc>
                <a:spcPct val="100000"/>
              </a:lnSpc>
              <a:spcBef>
                <a:spcPts val="95"/>
              </a:spcBef>
              <a:buFont typeface="Symbol"/>
              <a:buChar char=""/>
              <a:tabLst>
                <a:tab pos="241300" algn="l"/>
              </a:tabLst>
            </a:pPr>
            <a:r>
              <a:rPr sz="2800" b="1" spc="-10" dirty="0" err="1" smtClean="0">
                <a:latin typeface="Times New Roman"/>
                <a:cs typeface="Times New Roman"/>
              </a:rPr>
              <a:t>Regresión</a:t>
            </a:r>
            <a:endParaRPr sz="2800" dirty="0">
              <a:latin typeface="Times New Roman"/>
              <a:cs typeface="Times New Roman"/>
            </a:endParaRPr>
          </a:p>
          <a:p>
            <a:pPr marL="241300" indent="-228600">
              <a:lnSpc>
                <a:spcPct val="100000"/>
              </a:lnSpc>
              <a:spcBef>
                <a:spcPts val="60"/>
              </a:spcBef>
              <a:buFont typeface="Symbol"/>
              <a:buChar char=""/>
              <a:tabLst>
                <a:tab pos="241300" algn="l"/>
              </a:tabLst>
            </a:pPr>
            <a:r>
              <a:rPr sz="2800" b="1" spc="-10" dirty="0">
                <a:latin typeface="Times New Roman"/>
                <a:cs typeface="Times New Roman"/>
              </a:rPr>
              <a:t>Regresión</a:t>
            </a:r>
            <a:r>
              <a:rPr sz="2800" b="1" spc="-15" dirty="0">
                <a:latin typeface="Times New Roman"/>
                <a:cs typeface="Times New Roman"/>
              </a:rPr>
              <a:t> </a:t>
            </a:r>
            <a:r>
              <a:rPr sz="2800" b="1" spc="-5" dirty="0">
                <a:latin typeface="Times New Roman"/>
                <a:cs typeface="Times New Roman"/>
              </a:rPr>
              <a:t>no lineal</a:t>
            </a:r>
            <a:endParaRPr sz="2800" dirty="0">
              <a:latin typeface="Times New Roman"/>
              <a:cs typeface="Times New Roman"/>
            </a:endParaRPr>
          </a:p>
          <a:p>
            <a:pPr marL="241300" indent="-228600">
              <a:lnSpc>
                <a:spcPct val="100000"/>
              </a:lnSpc>
              <a:spcBef>
                <a:spcPts val="60"/>
              </a:spcBef>
              <a:buFont typeface="Symbol"/>
              <a:buChar char=""/>
              <a:tabLst>
                <a:tab pos="241300" algn="l"/>
              </a:tabLst>
            </a:pPr>
            <a:r>
              <a:rPr sz="2800" b="1" spc="-10" dirty="0">
                <a:latin typeface="Times New Roman"/>
                <a:cs typeface="Times New Roman"/>
              </a:rPr>
              <a:t>Regresión</a:t>
            </a:r>
            <a:r>
              <a:rPr sz="2800" b="1" spc="-15" dirty="0">
                <a:latin typeface="Times New Roman"/>
                <a:cs typeface="Times New Roman"/>
              </a:rPr>
              <a:t> </a:t>
            </a:r>
            <a:r>
              <a:rPr sz="2800" b="1" spc="-5" dirty="0">
                <a:latin typeface="Times New Roman"/>
                <a:cs typeface="Times New Roman"/>
              </a:rPr>
              <a:t>logística</a:t>
            </a:r>
            <a:endParaRPr sz="2800" dirty="0">
              <a:latin typeface="Times New Roman"/>
              <a:cs typeface="Times New Roman"/>
            </a:endParaRPr>
          </a:p>
          <a:p>
            <a:pPr marL="241300" indent="-228600">
              <a:lnSpc>
                <a:spcPct val="100000"/>
              </a:lnSpc>
              <a:spcBef>
                <a:spcPts val="65"/>
              </a:spcBef>
              <a:buFont typeface="Symbol"/>
              <a:buChar char=""/>
              <a:tabLst>
                <a:tab pos="241300" algn="l"/>
              </a:tabLst>
            </a:pPr>
            <a:r>
              <a:rPr sz="2800" b="1" spc="-5" dirty="0">
                <a:latin typeface="Times New Roman"/>
                <a:cs typeface="Times New Roman"/>
              </a:rPr>
              <a:t>Análisis</a:t>
            </a:r>
            <a:r>
              <a:rPr sz="2800" b="1" spc="-35" dirty="0">
                <a:latin typeface="Times New Roman"/>
                <a:cs typeface="Times New Roman"/>
              </a:rPr>
              <a:t> </a:t>
            </a:r>
            <a:r>
              <a:rPr sz="2800" b="1" spc="-5" dirty="0">
                <a:latin typeface="Times New Roman"/>
                <a:cs typeface="Times New Roman"/>
              </a:rPr>
              <a:t>discriminante</a:t>
            </a:r>
            <a:endParaRPr sz="2800" dirty="0">
              <a:latin typeface="Times New Roman"/>
              <a:cs typeface="Times New Roman"/>
            </a:endParaRPr>
          </a:p>
          <a:p>
            <a:pPr marL="241300" indent="-228600">
              <a:lnSpc>
                <a:spcPct val="100000"/>
              </a:lnSpc>
              <a:spcBef>
                <a:spcPts val="55"/>
              </a:spcBef>
              <a:buFont typeface="Symbol"/>
              <a:buChar char=""/>
              <a:tabLst>
                <a:tab pos="241300" algn="l"/>
              </a:tabLst>
            </a:pPr>
            <a:r>
              <a:rPr sz="2800" b="1" spc="-10" dirty="0">
                <a:latin typeface="Times New Roman"/>
                <a:cs typeface="Times New Roman"/>
              </a:rPr>
              <a:t>Series</a:t>
            </a:r>
            <a:r>
              <a:rPr sz="2800" b="1" spc="-20" dirty="0">
                <a:latin typeface="Times New Roman"/>
                <a:cs typeface="Times New Roman"/>
              </a:rPr>
              <a:t> </a:t>
            </a:r>
            <a:r>
              <a:rPr sz="2800" b="1" spc="-5" dirty="0">
                <a:latin typeface="Times New Roman"/>
                <a:cs typeface="Times New Roman"/>
              </a:rPr>
              <a:t>temporales</a:t>
            </a:r>
            <a:endParaRPr sz="2800" dirty="0">
              <a:latin typeface="Times New Roman"/>
              <a:cs typeface="Times New Roman"/>
            </a:endParaRPr>
          </a:p>
          <a:p>
            <a:pPr marL="241300" indent="-228600">
              <a:lnSpc>
                <a:spcPct val="100000"/>
              </a:lnSpc>
              <a:spcBef>
                <a:spcPts val="65"/>
              </a:spcBef>
              <a:buFont typeface="Symbol"/>
              <a:buChar char=""/>
              <a:tabLst>
                <a:tab pos="241300" algn="l"/>
              </a:tabLst>
            </a:pPr>
            <a:r>
              <a:rPr sz="2800" b="1" spc="-5" dirty="0">
                <a:latin typeface="Times New Roman"/>
                <a:cs typeface="Times New Roman"/>
              </a:rPr>
              <a:t>Análisis</a:t>
            </a:r>
            <a:r>
              <a:rPr sz="2800" b="1" spc="-25" dirty="0">
                <a:latin typeface="Times New Roman"/>
                <a:cs typeface="Times New Roman"/>
              </a:rPr>
              <a:t> </a:t>
            </a:r>
            <a:r>
              <a:rPr sz="2800" b="1" spc="-5" dirty="0">
                <a:latin typeface="Times New Roman"/>
                <a:cs typeface="Times New Roman"/>
              </a:rPr>
              <a:t>Cluster</a:t>
            </a:r>
            <a:endParaRPr sz="2800" dirty="0">
              <a:latin typeface="Times New Roman"/>
              <a:cs typeface="Times New Roman"/>
            </a:endParaRPr>
          </a:p>
          <a:p>
            <a:pPr marL="241300" indent="-228600">
              <a:lnSpc>
                <a:spcPct val="100000"/>
              </a:lnSpc>
              <a:spcBef>
                <a:spcPts val="60"/>
              </a:spcBef>
              <a:buFont typeface="Symbol"/>
              <a:buChar char=""/>
              <a:tabLst>
                <a:tab pos="241300" algn="l"/>
              </a:tabLst>
            </a:pPr>
            <a:r>
              <a:rPr sz="2800" b="1" spc="-5" dirty="0">
                <a:latin typeface="Times New Roman"/>
                <a:cs typeface="Times New Roman"/>
              </a:rPr>
              <a:t>Problemas</a:t>
            </a:r>
            <a:r>
              <a:rPr sz="2800" b="1" spc="-20" dirty="0">
                <a:latin typeface="Times New Roman"/>
                <a:cs typeface="Times New Roman"/>
              </a:rPr>
              <a:t> </a:t>
            </a:r>
            <a:r>
              <a:rPr sz="2800" b="1" spc="-5" dirty="0">
                <a:latin typeface="Times New Roman"/>
                <a:cs typeface="Times New Roman"/>
              </a:rPr>
              <a:t>de</a:t>
            </a:r>
            <a:r>
              <a:rPr sz="2800" b="1" spc="-20" dirty="0">
                <a:latin typeface="Times New Roman"/>
                <a:cs typeface="Times New Roman"/>
              </a:rPr>
              <a:t> </a:t>
            </a:r>
            <a:r>
              <a:rPr sz="2800" b="1" spc="-5" dirty="0">
                <a:latin typeface="Times New Roman"/>
                <a:cs typeface="Times New Roman"/>
              </a:rPr>
              <a:t>Optimización</a:t>
            </a:r>
            <a:endParaRPr sz="2800" dirty="0">
              <a:latin typeface="Times New Roman"/>
              <a:cs typeface="Times New Roman"/>
            </a:endParaRPr>
          </a:p>
          <a:p>
            <a:pPr marL="241300" indent="-228600">
              <a:lnSpc>
                <a:spcPct val="100000"/>
              </a:lnSpc>
              <a:spcBef>
                <a:spcPts val="60"/>
              </a:spcBef>
              <a:buFont typeface="Symbol"/>
              <a:buChar char=""/>
              <a:tabLst>
                <a:tab pos="241300" algn="l"/>
              </a:tabLst>
            </a:pPr>
            <a:r>
              <a:rPr sz="2800" b="1" spc="-5" dirty="0">
                <a:latin typeface="Times New Roman"/>
                <a:cs typeface="Times New Roman"/>
              </a:rPr>
              <a:t>Etc.</a:t>
            </a:r>
            <a:endParaRPr sz="2800" dirty="0">
              <a:latin typeface="Times New Roman"/>
              <a:cs typeface="Times New Roman"/>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908300" y="1571625"/>
            <a:ext cx="5463504" cy="4999934"/>
          </a:xfrm>
          <a:prstGeom prst="rect">
            <a:avLst/>
          </a:prstGeom>
        </p:spPr>
      </p:pic>
      <p:sp>
        <p:nvSpPr>
          <p:cNvPr id="4" name="object 2"/>
          <p:cNvSpPr txBox="1">
            <a:spLocks/>
          </p:cNvSpPr>
          <p:nvPr/>
        </p:nvSpPr>
        <p:spPr>
          <a:xfrm>
            <a:off x="346963" y="314959"/>
            <a:ext cx="9999472" cy="574516"/>
          </a:xfrm>
          <a:prstGeom prst="rect">
            <a:avLst/>
          </a:prstGeom>
        </p:spPr>
        <p:txBody>
          <a:bodyPr vert="horz" wrap="square" lIns="0" tIns="48260" rIns="0" bIns="0" rtlCol="0">
            <a:spAutoFit/>
          </a:bodyPr>
          <a:lstStyle>
            <a:lvl1pPr>
              <a:defRPr>
                <a:latin typeface="+mj-lt"/>
                <a:ea typeface="+mj-ea"/>
                <a:cs typeface="+mj-cs"/>
              </a:defRPr>
            </a:lvl1pPr>
          </a:lstStyle>
          <a:p>
            <a:pPr marL="12700" marR="5080">
              <a:lnSpc>
                <a:spcPts val="4140"/>
              </a:lnSpc>
              <a:spcBef>
                <a:spcPts val="380"/>
              </a:spcBef>
            </a:pPr>
            <a:r>
              <a:rPr lang="es-ES" sz="3600" b="1" kern="0" dirty="0" smtClean="0">
                <a:solidFill>
                  <a:srgbClr val="538DD3"/>
                </a:solidFill>
                <a:latin typeface="Times New Roman"/>
                <a:cs typeface="Times New Roman"/>
              </a:rPr>
              <a:t>Red neuronal artificial: problema de diagnóstico</a:t>
            </a:r>
            <a:endParaRPr lang="es-ES" sz="3600" kern="0" dirty="0">
              <a:solidFill>
                <a:sysClr val="windowText" lastClr="000000"/>
              </a:solidFill>
              <a:latin typeface="Times New Roman"/>
              <a:cs typeface="Times New Roman"/>
            </a:endParaRPr>
          </a:p>
        </p:txBody>
      </p:sp>
    </p:spTree>
    <p:extLst>
      <p:ext uri="{BB962C8B-B14F-4D97-AF65-F5344CB8AC3E}">
        <p14:creationId xmlns:p14="http://schemas.microsoft.com/office/powerpoint/2010/main" val="3106993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14959"/>
            <a:ext cx="9999472" cy="2162515"/>
          </a:xfrm>
          <a:prstGeom prst="rect">
            <a:avLst/>
          </a:prstGeom>
        </p:spPr>
        <p:txBody>
          <a:bodyPr vert="horz" wrap="square" lIns="0" tIns="34925" rIns="0" bIns="0" rtlCol="0">
            <a:spAutoFit/>
          </a:bodyPr>
          <a:lstStyle/>
          <a:p>
            <a:pPr marL="12700" marR="5080">
              <a:lnSpc>
                <a:spcPct val="95900"/>
              </a:lnSpc>
              <a:spcBef>
                <a:spcPts val="275"/>
              </a:spcBef>
            </a:pPr>
            <a:r>
              <a:rPr sz="3600" b="1" dirty="0">
                <a:solidFill>
                  <a:srgbClr val="538DD3"/>
                </a:solidFill>
                <a:latin typeface="Times New Roman"/>
                <a:cs typeface="Times New Roman"/>
              </a:rPr>
              <a:t>¿Qué </a:t>
            </a:r>
            <a:r>
              <a:rPr sz="3600" b="1" spc="-5" dirty="0">
                <a:solidFill>
                  <a:srgbClr val="538DD3"/>
                </a:solidFill>
                <a:latin typeface="Times New Roman"/>
                <a:cs typeface="Times New Roman"/>
              </a:rPr>
              <a:t>problemas </a:t>
            </a:r>
            <a:r>
              <a:rPr sz="3600" b="1" dirty="0">
                <a:solidFill>
                  <a:srgbClr val="538DD3"/>
                </a:solidFill>
                <a:latin typeface="Times New Roman"/>
                <a:cs typeface="Times New Roman"/>
              </a:rPr>
              <a:t>en el campo </a:t>
            </a:r>
            <a:r>
              <a:rPr sz="3600" b="1" spc="-5" dirty="0">
                <a:solidFill>
                  <a:srgbClr val="538DD3"/>
                </a:solidFill>
                <a:latin typeface="Times New Roman"/>
                <a:cs typeface="Times New Roman"/>
              </a:rPr>
              <a:t>de </a:t>
            </a:r>
            <a:r>
              <a:rPr sz="3600" b="1" dirty="0">
                <a:solidFill>
                  <a:srgbClr val="538DD3"/>
                </a:solidFill>
                <a:latin typeface="Times New Roman"/>
                <a:cs typeface="Times New Roman"/>
              </a:rPr>
              <a:t>la </a:t>
            </a:r>
            <a:r>
              <a:rPr sz="3600" b="1" spc="-5" dirty="0">
                <a:solidFill>
                  <a:srgbClr val="538DD3"/>
                </a:solidFill>
                <a:latin typeface="Times New Roman"/>
                <a:cs typeface="Times New Roman"/>
              </a:rPr>
              <a:t>Inteligencia de </a:t>
            </a:r>
            <a:r>
              <a:rPr sz="3600" b="1" spc="-885" dirty="0">
                <a:solidFill>
                  <a:srgbClr val="538DD3"/>
                </a:solidFill>
                <a:latin typeface="Times New Roman"/>
                <a:cs typeface="Times New Roman"/>
              </a:rPr>
              <a:t> </a:t>
            </a:r>
            <a:r>
              <a:rPr sz="3600" b="1" spc="-5" dirty="0">
                <a:solidFill>
                  <a:srgbClr val="538DD3"/>
                </a:solidFill>
                <a:latin typeface="Times New Roman"/>
                <a:cs typeface="Times New Roman"/>
              </a:rPr>
              <a:t>Negocios se suelen </a:t>
            </a:r>
            <a:r>
              <a:rPr sz="3600" b="1" dirty="0">
                <a:solidFill>
                  <a:srgbClr val="538DD3"/>
                </a:solidFill>
                <a:latin typeface="Times New Roman"/>
                <a:cs typeface="Times New Roman"/>
              </a:rPr>
              <a:t>abordar con las redes </a:t>
            </a:r>
            <a:r>
              <a:rPr sz="3600" b="1" spc="5" dirty="0">
                <a:solidFill>
                  <a:srgbClr val="538DD3"/>
                </a:solidFill>
                <a:latin typeface="Times New Roman"/>
                <a:cs typeface="Times New Roman"/>
              </a:rPr>
              <a:t> </a:t>
            </a:r>
            <a:r>
              <a:rPr sz="3600" b="1" spc="-5" dirty="0" err="1">
                <a:solidFill>
                  <a:srgbClr val="538DD3"/>
                </a:solidFill>
                <a:latin typeface="Times New Roman"/>
                <a:cs typeface="Times New Roman"/>
              </a:rPr>
              <a:t>neuronales</a:t>
            </a:r>
            <a:r>
              <a:rPr sz="3600" b="1" spc="-5" dirty="0" smtClean="0">
                <a:solidFill>
                  <a:srgbClr val="538DD3"/>
                </a:solidFill>
                <a:latin typeface="Times New Roman"/>
                <a:cs typeface="Times New Roman"/>
              </a:rPr>
              <a:t>?</a:t>
            </a:r>
            <a:r>
              <a:rPr lang="es-ES" sz="3600" b="1" spc="-5" dirty="0" smtClean="0">
                <a:solidFill>
                  <a:srgbClr val="538DD3"/>
                </a:solidFill>
                <a:latin typeface="Times New Roman"/>
                <a:cs typeface="Times New Roman"/>
              </a:rPr>
              <a:t> </a:t>
            </a:r>
            <a:r>
              <a:rPr lang="es-ES" sz="3600" spc="-5" dirty="0" smtClean="0">
                <a:solidFill>
                  <a:srgbClr val="538DD3"/>
                </a:solidFill>
                <a:latin typeface="Times New Roman"/>
                <a:cs typeface="Times New Roman"/>
              </a:rPr>
              <a:t>Principalmente problemas relacionados con predicción y clasificación</a:t>
            </a:r>
            <a:endParaRPr sz="3600" dirty="0">
              <a:latin typeface="Times New Roman"/>
              <a:cs typeface="Times New Roman"/>
            </a:endParaRPr>
          </a:p>
        </p:txBody>
      </p:sp>
      <p:sp>
        <p:nvSpPr>
          <p:cNvPr id="3" name="object 3"/>
          <p:cNvSpPr txBox="1"/>
          <p:nvPr/>
        </p:nvSpPr>
        <p:spPr>
          <a:xfrm>
            <a:off x="575563" y="2628265"/>
            <a:ext cx="8648700" cy="391160"/>
          </a:xfrm>
          <a:prstGeom prst="rect">
            <a:avLst/>
          </a:prstGeom>
        </p:spPr>
        <p:txBody>
          <a:bodyPr vert="horz" wrap="square" lIns="0" tIns="12700" rIns="0" bIns="0" rtlCol="0">
            <a:spAutoFit/>
          </a:bodyPr>
          <a:lstStyle/>
          <a:p>
            <a:pPr marL="241300" indent="-228600">
              <a:lnSpc>
                <a:spcPct val="100000"/>
              </a:lnSpc>
              <a:spcBef>
                <a:spcPts val="100"/>
              </a:spcBef>
              <a:buFont typeface="Symbol"/>
              <a:buChar char=""/>
              <a:tabLst>
                <a:tab pos="241300" algn="l"/>
                <a:tab pos="1582420" algn="l"/>
              </a:tabLst>
            </a:pPr>
            <a:r>
              <a:rPr sz="2400" b="1" spc="-5" dirty="0">
                <a:latin typeface="Times New Roman"/>
                <a:cs typeface="Times New Roman"/>
              </a:rPr>
              <a:t>Finanzas</a:t>
            </a:r>
            <a:r>
              <a:rPr sz="2400" spc="-5" dirty="0">
                <a:latin typeface="Times New Roman"/>
                <a:cs typeface="Times New Roman"/>
              </a:rPr>
              <a:t>:	</a:t>
            </a:r>
            <a:r>
              <a:rPr sz="2400" dirty="0">
                <a:latin typeface="Times New Roman"/>
                <a:cs typeface="Times New Roman"/>
              </a:rPr>
              <a:t>Estudios</a:t>
            </a:r>
            <a:r>
              <a:rPr sz="2400" spc="-5" dirty="0">
                <a:latin typeface="Times New Roman"/>
                <a:cs typeface="Times New Roman"/>
              </a:rPr>
              <a:t> </a:t>
            </a:r>
            <a:r>
              <a:rPr sz="2400" dirty="0">
                <a:latin typeface="Times New Roman"/>
                <a:cs typeface="Times New Roman"/>
              </a:rPr>
              <a:t>de</a:t>
            </a:r>
            <a:r>
              <a:rPr sz="2400" spc="-10" dirty="0">
                <a:latin typeface="Times New Roman"/>
                <a:cs typeface="Times New Roman"/>
              </a:rPr>
              <a:t> </a:t>
            </a:r>
            <a:r>
              <a:rPr sz="2400" dirty="0">
                <a:latin typeface="Times New Roman"/>
                <a:cs typeface="Times New Roman"/>
              </a:rPr>
              <a:t>evolución</a:t>
            </a:r>
            <a:r>
              <a:rPr sz="2400" spc="-5" dirty="0">
                <a:latin typeface="Times New Roman"/>
                <a:cs typeface="Times New Roman"/>
              </a:rPr>
              <a:t> </a:t>
            </a:r>
            <a:r>
              <a:rPr sz="2400" spc="-10" dirty="0">
                <a:latin typeface="Times New Roman"/>
                <a:cs typeface="Times New Roman"/>
              </a:rPr>
              <a:t>de</a:t>
            </a:r>
            <a:r>
              <a:rPr sz="2400" dirty="0">
                <a:latin typeface="Times New Roman"/>
                <a:cs typeface="Times New Roman"/>
              </a:rPr>
              <a:t> precios</a:t>
            </a:r>
            <a:r>
              <a:rPr sz="2400" spc="-10" dirty="0">
                <a:latin typeface="Times New Roman"/>
                <a:cs typeface="Times New Roman"/>
              </a:rPr>
              <a:t> </a:t>
            </a:r>
            <a:r>
              <a:rPr sz="2400" dirty="0">
                <a:latin typeface="Times New Roman"/>
                <a:cs typeface="Times New Roman"/>
              </a:rPr>
              <a:t>en </a:t>
            </a:r>
            <a:r>
              <a:rPr sz="2400" spc="-5" dirty="0">
                <a:latin typeface="Times New Roman"/>
                <a:cs typeface="Times New Roman"/>
              </a:rPr>
              <a:t>mercados</a:t>
            </a:r>
            <a:r>
              <a:rPr sz="2400" spc="10" dirty="0">
                <a:latin typeface="Times New Roman"/>
                <a:cs typeface="Times New Roman"/>
              </a:rPr>
              <a:t> </a:t>
            </a:r>
            <a:r>
              <a:rPr sz="2400" spc="-5" dirty="0">
                <a:latin typeface="Times New Roman"/>
                <a:cs typeface="Times New Roman"/>
              </a:rPr>
              <a:t>financieros</a:t>
            </a:r>
            <a:endParaRPr sz="2400" dirty="0">
              <a:latin typeface="Times New Roman"/>
              <a:cs typeface="Times New Roman"/>
            </a:endParaRPr>
          </a:p>
        </p:txBody>
      </p:sp>
      <p:sp>
        <p:nvSpPr>
          <p:cNvPr id="4" name="object 4"/>
          <p:cNvSpPr txBox="1"/>
          <p:nvPr/>
        </p:nvSpPr>
        <p:spPr>
          <a:xfrm>
            <a:off x="575563" y="2941955"/>
            <a:ext cx="1342137" cy="382156"/>
          </a:xfrm>
          <a:prstGeom prst="rect">
            <a:avLst/>
          </a:prstGeom>
        </p:spPr>
        <p:txBody>
          <a:bodyPr vert="horz" wrap="square" lIns="0" tIns="12700" rIns="0" bIns="0" rtlCol="0">
            <a:spAutoFit/>
          </a:bodyPr>
          <a:lstStyle/>
          <a:p>
            <a:pPr marL="241300" indent="-228600">
              <a:lnSpc>
                <a:spcPct val="100000"/>
              </a:lnSpc>
              <a:spcBef>
                <a:spcPts val="100"/>
              </a:spcBef>
              <a:buFont typeface="Symbol"/>
              <a:buChar char=""/>
              <a:tabLst>
                <a:tab pos="241300" algn="l"/>
              </a:tabLst>
            </a:pPr>
            <a:r>
              <a:rPr sz="2400" b="1" dirty="0" smtClean="0">
                <a:latin typeface="Times New Roman"/>
                <a:cs typeface="Times New Roman"/>
              </a:rPr>
              <a:t>Banca</a:t>
            </a:r>
            <a:r>
              <a:rPr lang="es-ES" sz="2400" dirty="0" smtClean="0">
                <a:latin typeface="Times New Roman"/>
                <a:cs typeface="Times New Roman"/>
              </a:rPr>
              <a:t>:</a:t>
            </a:r>
            <a:endParaRPr sz="2400" dirty="0">
              <a:latin typeface="Times New Roman"/>
              <a:cs typeface="Times New Roman"/>
            </a:endParaRPr>
          </a:p>
        </p:txBody>
      </p:sp>
      <p:sp>
        <p:nvSpPr>
          <p:cNvPr id="5" name="object 5"/>
          <p:cNvSpPr txBox="1"/>
          <p:nvPr/>
        </p:nvSpPr>
        <p:spPr>
          <a:xfrm>
            <a:off x="2145538" y="2941955"/>
            <a:ext cx="5603240" cy="2564805"/>
          </a:xfrm>
          <a:prstGeom prst="rect">
            <a:avLst/>
          </a:prstGeom>
        </p:spPr>
        <p:txBody>
          <a:bodyPr vert="horz" wrap="square" lIns="0" tIns="38100" rIns="0" bIns="0" rtlCol="0">
            <a:spAutoFit/>
          </a:bodyPr>
          <a:lstStyle/>
          <a:p>
            <a:pPr marL="43180" marR="5080" indent="-30480">
              <a:lnSpc>
                <a:spcPts val="2750"/>
              </a:lnSpc>
              <a:spcBef>
                <a:spcPts val="300"/>
              </a:spcBef>
            </a:pPr>
            <a:r>
              <a:rPr sz="2400" spc="-5" dirty="0">
                <a:latin typeface="Times New Roman"/>
                <a:cs typeface="Times New Roman"/>
              </a:rPr>
              <a:t>Predicción </a:t>
            </a:r>
            <a:r>
              <a:rPr sz="2400" spc="-10" dirty="0">
                <a:latin typeface="Times New Roman"/>
                <a:cs typeface="Times New Roman"/>
              </a:rPr>
              <a:t>de</a:t>
            </a:r>
            <a:r>
              <a:rPr sz="2400" dirty="0">
                <a:latin typeface="Times New Roman"/>
                <a:cs typeface="Times New Roman"/>
              </a:rPr>
              <a:t> </a:t>
            </a:r>
            <a:r>
              <a:rPr sz="2400" spc="-5" dirty="0">
                <a:latin typeface="Times New Roman"/>
                <a:cs typeface="Times New Roman"/>
              </a:rPr>
              <a:t>deserciones</a:t>
            </a:r>
            <a:r>
              <a:rPr sz="2400" dirty="0">
                <a:latin typeface="Times New Roman"/>
                <a:cs typeface="Times New Roman"/>
              </a:rPr>
              <a:t> de clientes</a:t>
            </a:r>
            <a:r>
              <a:rPr sz="2400" spc="-10" dirty="0">
                <a:latin typeface="Times New Roman"/>
                <a:cs typeface="Times New Roman"/>
              </a:rPr>
              <a:t> </a:t>
            </a:r>
            <a:r>
              <a:rPr sz="2400" dirty="0">
                <a:latin typeface="Times New Roman"/>
                <a:cs typeface="Times New Roman"/>
              </a:rPr>
              <a:t>(Churn) </a:t>
            </a:r>
            <a:r>
              <a:rPr sz="2400" spc="-585" dirty="0">
                <a:latin typeface="Times New Roman"/>
                <a:cs typeface="Times New Roman"/>
              </a:rPr>
              <a:t> </a:t>
            </a:r>
            <a:r>
              <a:rPr sz="2400" spc="-5" dirty="0">
                <a:latin typeface="Times New Roman"/>
                <a:cs typeface="Times New Roman"/>
              </a:rPr>
              <a:t>Predicción </a:t>
            </a:r>
            <a:r>
              <a:rPr sz="2400" spc="-10" dirty="0">
                <a:latin typeface="Times New Roman"/>
                <a:cs typeface="Times New Roman"/>
              </a:rPr>
              <a:t>de</a:t>
            </a:r>
            <a:r>
              <a:rPr sz="2400" dirty="0">
                <a:latin typeface="Times New Roman"/>
                <a:cs typeface="Times New Roman"/>
              </a:rPr>
              <a:t> </a:t>
            </a:r>
            <a:r>
              <a:rPr sz="2400" spc="-5" dirty="0">
                <a:latin typeface="Times New Roman"/>
                <a:cs typeface="Times New Roman"/>
              </a:rPr>
              <a:t>morosidad</a:t>
            </a:r>
            <a:endParaRPr sz="2400" dirty="0">
              <a:latin typeface="Times New Roman"/>
              <a:cs typeface="Times New Roman"/>
            </a:endParaRPr>
          </a:p>
          <a:p>
            <a:pPr marL="43180" marR="3098165">
              <a:lnSpc>
                <a:spcPts val="2760"/>
              </a:lnSpc>
            </a:pPr>
            <a:r>
              <a:rPr sz="2400" dirty="0">
                <a:latin typeface="Times New Roman"/>
                <a:cs typeface="Times New Roman"/>
              </a:rPr>
              <a:t>Credit </a:t>
            </a:r>
            <a:r>
              <a:rPr sz="2400" spc="-5" dirty="0">
                <a:latin typeface="Times New Roman"/>
                <a:cs typeface="Times New Roman"/>
              </a:rPr>
              <a:t>Scoring </a:t>
            </a:r>
            <a:r>
              <a:rPr sz="2400" dirty="0">
                <a:latin typeface="Times New Roman"/>
                <a:cs typeface="Times New Roman"/>
              </a:rPr>
              <a:t> </a:t>
            </a:r>
            <a:r>
              <a:rPr sz="2400" spc="-5" dirty="0">
                <a:latin typeface="Times New Roman"/>
                <a:cs typeface="Times New Roman"/>
              </a:rPr>
              <a:t>Detección</a:t>
            </a:r>
            <a:r>
              <a:rPr sz="2400" spc="-35" dirty="0">
                <a:latin typeface="Times New Roman"/>
                <a:cs typeface="Times New Roman"/>
              </a:rPr>
              <a:t> </a:t>
            </a:r>
            <a:r>
              <a:rPr sz="2400" spc="-10" dirty="0">
                <a:latin typeface="Times New Roman"/>
                <a:cs typeface="Times New Roman"/>
              </a:rPr>
              <a:t>de</a:t>
            </a:r>
            <a:r>
              <a:rPr sz="2400" spc="-30" dirty="0">
                <a:latin typeface="Times New Roman"/>
                <a:cs typeface="Times New Roman"/>
              </a:rPr>
              <a:t> </a:t>
            </a:r>
            <a:r>
              <a:rPr sz="2400" dirty="0">
                <a:latin typeface="Times New Roman"/>
                <a:cs typeface="Times New Roman"/>
              </a:rPr>
              <a:t>fraude</a:t>
            </a:r>
          </a:p>
          <a:p>
            <a:pPr marL="12700">
              <a:lnSpc>
                <a:spcPts val="2810"/>
              </a:lnSpc>
            </a:pPr>
            <a:r>
              <a:rPr sz="2400" spc="-5" dirty="0">
                <a:latin typeface="Times New Roman"/>
                <a:cs typeface="Times New Roman"/>
              </a:rPr>
              <a:t>Predicción</a:t>
            </a:r>
            <a:r>
              <a:rPr sz="2400" spc="-20" dirty="0">
                <a:latin typeface="Times New Roman"/>
                <a:cs typeface="Times New Roman"/>
              </a:rPr>
              <a:t> </a:t>
            </a:r>
            <a:r>
              <a:rPr sz="2400" spc="-10" dirty="0">
                <a:latin typeface="Times New Roman"/>
                <a:cs typeface="Times New Roman"/>
              </a:rPr>
              <a:t>de</a:t>
            </a:r>
            <a:r>
              <a:rPr sz="2400" spc="-15" dirty="0">
                <a:latin typeface="Times New Roman"/>
                <a:cs typeface="Times New Roman"/>
              </a:rPr>
              <a:t> </a:t>
            </a:r>
            <a:r>
              <a:rPr sz="2400" dirty="0">
                <a:latin typeface="Times New Roman"/>
                <a:cs typeface="Times New Roman"/>
              </a:rPr>
              <a:t>pérdidas</a:t>
            </a:r>
          </a:p>
          <a:p>
            <a:pPr marL="43180" marR="394970">
              <a:lnSpc>
                <a:spcPts val="2760"/>
              </a:lnSpc>
              <a:spcBef>
                <a:spcPts val="130"/>
              </a:spcBef>
            </a:pPr>
            <a:r>
              <a:rPr sz="2400" dirty="0">
                <a:latin typeface="Times New Roman"/>
                <a:cs typeface="Times New Roman"/>
              </a:rPr>
              <a:t>Evaluación de </a:t>
            </a:r>
            <a:r>
              <a:rPr sz="2400" spc="-5" dirty="0">
                <a:latin typeface="Times New Roman"/>
                <a:cs typeface="Times New Roman"/>
              </a:rPr>
              <a:t>riesgos </a:t>
            </a:r>
            <a:r>
              <a:rPr sz="2400" dirty="0">
                <a:latin typeface="Times New Roman"/>
                <a:cs typeface="Times New Roman"/>
              </a:rPr>
              <a:t>asociados a </a:t>
            </a:r>
            <a:r>
              <a:rPr sz="2400" spc="-5" dirty="0">
                <a:latin typeface="Times New Roman"/>
                <a:cs typeface="Times New Roman"/>
              </a:rPr>
              <a:t>clientes </a:t>
            </a:r>
            <a:r>
              <a:rPr sz="2400" spc="-590" dirty="0">
                <a:latin typeface="Times New Roman"/>
                <a:cs typeface="Times New Roman"/>
              </a:rPr>
              <a:t> </a:t>
            </a:r>
            <a:r>
              <a:rPr sz="2400" spc="-5" dirty="0">
                <a:latin typeface="Times New Roman"/>
                <a:cs typeface="Times New Roman"/>
              </a:rPr>
              <a:t>Análisis</a:t>
            </a:r>
            <a:r>
              <a:rPr sz="2400" dirty="0">
                <a:latin typeface="Times New Roman"/>
                <a:cs typeface="Times New Roman"/>
              </a:rPr>
              <a:t> </a:t>
            </a:r>
            <a:r>
              <a:rPr sz="2400" spc="-10" dirty="0">
                <a:latin typeface="Times New Roman"/>
                <a:cs typeface="Times New Roman"/>
              </a:rPr>
              <a:t>de</a:t>
            </a:r>
            <a:r>
              <a:rPr sz="2400" dirty="0">
                <a:latin typeface="Times New Roman"/>
                <a:cs typeface="Times New Roman"/>
              </a:rPr>
              <a:t> </a:t>
            </a:r>
            <a:r>
              <a:rPr sz="2400" spc="-5" dirty="0">
                <a:latin typeface="Times New Roman"/>
                <a:cs typeface="Times New Roman"/>
              </a:rPr>
              <a:t>supervivencia</a:t>
            </a:r>
            <a:endParaRPr sz="2400" dirty="0">
              <a:latin typeface="Times New Roman"/>
              <a:cs typeface="Times New Roman"/>
            </a:endParaRPr>
          </a:p>
        </p:txBody>
      </p:sp>
      <p:sp>
        <p:nvSpPr>
          <p:cNvPr id="6" name="object 6"/>
          <p:cNvSpPr txBox="1"/>
          <p:nvPr/>
        </p:nvSpPr>
        <p:spPr>
          <a:xfrm>
            <a:off x="575563" y="4380865"/>
            <a:ext cx="1494537" cy="382156"/>
          </a:xfrm>
          <a:prstGeom prst="rect">
            <a:avLst/>
          </a:prstGeom>
        </p:spPr>
        <p:txBody>
          <a:bodyPr vert="horz" wrap="square" lIns="0" tIns="12700" rIns="0" bIns="0" rtlCol="0">
            <a:spAutoFit/>
          </a:bodyPr>
          <a:lstStyle/>
          <a:p>
            <a:pPr marL="241300" indent="-228600">
              <a:lnSpc>
                <a:spcPct val="100000"/>
              </a:lnSpc>
              <a:spcBef>
                <a:spcPts val="100"/>
              </a:spcBef>
              <a:buFont typeface="Symbol"/>
              <a:buChar char=""/>
              <a:tabLst>
                <a:tab pos="241300" algn="l"/>
              </a:tabLst>
            </a:pPr>
            <a:r>
              <a:rPr sz="2400" b="1" spc="-5" dirty="0" err="1" smtClean="0">
                <a:latin typeface="Times New Roman"/>
                <a:cs typeface="Times New Roman"/>
              </a:rPr>
              <a:t>Seguro</a:t>
            </a:r>
            <a:r>
              <a:rPr lang="es-ES" sz="2400" b="1" spc="-5" dirty="0" smtClean="0">
                <a:latin typeface="Times New Roman"/>
                <a:cs typeface="Times New Roman"/>
              </a:rPr>
              <a:t>s</a:t>
            </a:r>
            <a:r>
              <a:rPr lang="es-ES" sz="2400" spc="-5" dirty="0" smtClean="0">
                <a:latin typeface="Times New Roman"/>
                <a:cs typeface="Times New Roman"/>
              </a:rPr>
              <a:t>:</a:t>
            </a:r>
            <a:endParaRPr sz="2400" dirty="0">
              <a:latin typeface="Times New Roman"/>
              <a:cs typeface="Times New Roman"/>
            </a:endParaRPr>
          </a:p>
        </p:txBody>
      </p:sp>
      <p:sp>
        <p:nvSpPr>
          <p:cNvPr id="7" name="object 7"/>
          <p:cNvSpPr txBox="1"/>
          <p:nvPr/>
        </p:nvSpPr>
        <p:spPr>
          <a:xfrm>
            <a:off x="575563" y="5547361"/>
            <a:ext cx="7617459" cy="1815464"/>
          </a:xfrm>
          <a:prstGeom prst="rect">
            <a:avLst/>
          </a:prstGeom>
        </p:spPr>
        <p:txBody>
          <a:bodyPr vert="horz" wrap="square" lIns="0" tIns="12700" rIns="0" bIns="0" rtlCol="0">
            <a:spAutoFit/>
          </a:bodyPr>
          <a:lstStyle/>
          <a:p>
            <a:pPr marL="241300" indent="-228600">
              <a:lnSpc>
                <a:spcPts val="2815"/>
              </a:lnSpc>
              <a:spcBef>
                <a:spcPts val="100"/>
              </a:spcBef>
              <a:buFont typeface="Symbol"/>
              <a:buChar char=""/>
              <a:tabLst>
                <a:tab pos="241300" algn="l"/>
              </a:tabLst>
            </a:pPr>
            <a:r>
              <a:rPr sz="2400" b="1" spc="-5" dirty="0">
                <a:latin typeface="Times New Roman"/>
                <a:cs typeface="Times New Roman"/>
              </a:rPr>
              <a:t>Investigación</a:t>
            </a:r>
            <a:r>
              <a:rPr sz="2400" b="1" spc="-15" dirty="0">
                <a:latin typeface="Times New Roman"/>
                <a:cs typeface="Times New Roman"/>
              </a:rPr>
              <a:t> </a:t>
            </a:r>
            <a:r>
              <a:rPr sz="2400" b="1" dirty="0">
                <a:latin typeface="Times New Roman"/>
                <a:cs typeface="Times New Roman"/>
              </a:rPr>
              <a:t>de</a:t>
            </a:r>
            <a:r>
              <a:rPr sz="2400" b="1" spc="-15" dirty="0">
                <a:latin typeface="Times New Roman"/>
                <a:cs typeface="Times New Roman"/>
              </a:rPr>
              <a:t> </a:t>
            </a:r>
            <a:r>
              <a:rPr sz="2400" b="1" spc="-5" dirty="0">
                <a:latin typeface="Times New Roman"/>
                <a:cs typeface="Times New Roman"/>
              </a:rPr>
              <a:t>Mercados</a:t>
            </a:r>
            <a:r>
              <a:rPr sz="2400" spc="-5" dirty="0">
                <a:latin typeface="Times New Roman"/>
                <a:cs typeface="Times New Roman"/>
              </a:rPr>
              <a:t>:</a:t>
            </a:r>
            <a:endParaRPr sz="2400" dirty="0">
              <a:latin typeface="Times New Roman"/>
              <a:cs typeface="Times New Roman"/>
            </a:endParaRPr>
          </a:p>
          <a:p>
            <a:pPr marL="1612900" marR="1661795">
              <a:lnSpc>
                <a:spcPts val="2760"/>
              </a:lnSpc>
              <a:spcBef>
                <a:spcPts val="125"/>
              </a:spcBef>
            </a:pPr>
            <a:r>
              <a:rPr sz="2400" spc="-5" dirty="0">
                <a:latin typeface="Times New Roman"/>
                <a:cs typeface="Times New Roman"/>
              </a:rPr>
              <a:t>Segmentación</a:t>
            </a:r>
            <a:r>
              <a:rPr sz="2400" spc="-15" dirty="0">
                <a:latin typeface="Times New Roman"/>
                <a:cs typeface="Times New Roman"/>
              </a:rPr>
              <a:t> </a:t>
            </a:r>
            <a:r>
              <a:rPr sz="2400" dirty="0">
                <a:latin typeface="Times New Roman"/>
                <a:cs typeface="Times New Roman"/>
              </a:rPr>
              <a:t>y</a:t>
            </a:r>
            <a:r>
              <a:rPr sz="2400" spc="-10" dirty="0">
                <a:latin typeface="Times New Roman"/>
                <a:cs typeface="Times New Roman"/>
              </a:rPr>
              <a:t> </a:t>
            </a:r>
            <a:r>
              <a:rPr sz="2400" dirty="0">
                <a:latin typeface="Times New Roman"/>
                <a:cs typeface="Times New Roman"/>
              </a:rPr>
              <a:t>ranking</a:t>
            </a:r>
            <a:r>
              <a:rPr sz="2400" spc="-30" dirty="0">
                <a:latin typeface="Times New Roman"/>
                <a:cs typeface="Times New Roman"/>
              </a:rPr>
              <a:t> </a:t>
            </a:r>
            <a:r>
              <a:rPr sz="2400" dirty="0">
                <a:latin typeface="Times New Roman"/>
                <a:cs typeface="Times New Roman"/>
              </a:rPr>
              <a:t>de</a:t>
            </a:r>
            <a:r>
              <a:rPr sz="2400" spc="-10" dirty="0">
                <a:latin typeface="Times New Roman"/>
                <a:cs typeface="Times New Roman"/>
              </a:rPr>
              <a:t> </a:t>
            </a:r>
            <a:r>
              <a:rPr sz="2400" dirty="0">
                <a:latin typeface="Times New Roman"/>
                <a:cs typeface="Times New Roman"/>
              </a:rPr>
              <a:t>clientes </a:t>
            </a:r>
            <a:r>
              <a:rPr sz="2400" spc="-585" dirty="0">
                <a:latin typeface="Times New Roman"/>
                <a:cs typeface="Times New Roman"/>
              </a:rPr>
              <a:t> </a:t>
            </a:r>
            <a:r>
              <a:rPr sz="2400" spc="-5" dirty="0">
                <a:latin typeface="Times New Roman"/>
                <a:cs typeface="Times New Roman"/>
              </a:rPr>
              <a:t>Predicción </a:t>
            </a:r>
            <a:r>
              <a:rPr sz="2400" spc="-10" dirty="0">
                <a:latin typeface="Times New Roman"/>
                <a:cs typeface="Times New Roman"/>
              </a:rPr>
              <a:t>de</a:t>
            </a:r>
            <a:r>
              <a:rPr sz="2400" dirty="0">
                <a:latin typeface="Times New Roman"/>
                <a:cs typeface="Times New Roman"/>
              </a:rPr>
              <a:t> </a:t>
            </a:r>
            <a:r>
              <a:rPr sz="2400" spc="-5" dirty="0">
                <a:latin typeface="Times New Roman"/>
                <a:cs typeface="Times New Roman"/>
              </a:rPr>
              <a:t>Ventas</a:t>
            </a:r>
            <a:endParaRPr sz="2400" dirty="0">
              <a:latin typeface="Times New Roman"/>
              <a:cs typeface="Times New Roman"/>
            </a:endParaRPr>
          </a:p>
          <a:p>
            <a:pPr marL="1612900">
              <a:lnSpc>
                <a:spcPts val="2690"/>
              </a:lnSpc>
            </a:pPr>
            <a:r>
              <a:rPr sz="2400" spc="-5" dirty="0">
                <a:latin typeface="Times New Roman"/>
                <a:cs typeface="Times New Roman"/>
              </a:rPr>
              <a:t>Predicción</a:t>
            </a:r>
            <a:r>
              <a:rPr sz="2400" spc="5" dirty="0">
                <a:latin typeface="Times New Roman"/>
                <a:cs typeface="Times New Roman"/>
              </a:rPr>
              <a:t> </a:t>
            </a:r>
            <a:r>
              <a:rPr sz="2400" spc="-10" dirty="0">
                <a:latin typeface="Times New Roman"/>
                <a:cs typeface="Times New Roman"/>
              </a:rPr>
              <a:t>de</a:t>
            </a:r>
            <a:r>
              <a:rPr sz="2400" spc="5" dirty="0">
                <a:latin typeface="Times New Roman"/>
                <a:cs typeface="Times New Roman"/>
              </a:rPr>
              <a:t> </a:t>
            </a:r>
            <a:r>
              <a:rPr sz="2400" spc="-5" dirty="0">
                <a:latin typeface="Times New Roman"/>
                <a:cs typeface="Times New Roman"/>
              </a:rPr>
              <a:t>precios</a:t>
            </a:r>
            <a:r>
              <a:rPr sz="2400" dirty="0">
                <a:latin typeface="Times New Roman"/>
                <a:cs typeface="Times New Roman"/>
              </a:rPr>
              <a:t> en</a:t>
            </a:r>
            <a:r>
              <a:rPr sz="2400" spc="10" dirty="0">
                <a:latin typeface="Times New Roman"/>
                <a:cs typeface="Times New Roman"/>
              </a:rPr>
              <a:t> </a:t>
            </a:r>
            <a:r>
              <a:rPr sz="2400" dirty="0">
                <a:latin typeface="Times New Roman"/>
                <a:cs typeface="Times New Roman"/>
              </a:rPr>
              <a:t>el</a:t>
            </a:r>
            <a:r>
              <a:rPr sz="2400" spc="5" dirty="0">
                <a:latin typeface="Times New Roman"/>
                <a:cs typeface="Times New Roman"/>
              </a:rPr>
              <a:t> </a:t>
            </a:r>
            <a:r>
              <a:rPr sz="2400" spc="-5" dirty="0" err="1">
                <a:latin typeface="Times New Roman"/>
                <a:cs typeface="Times New Roman"/>
              </a:rPr>
              <a:t>mercado</a:t>
            </a:r>
            <a:r>
              <a:rPr sz="2400" spc="5" dirty="0">
                <a:latin typeface="Times New Roman"/>
                <a:cs typeface="Times New Roman"/>
              </a:rPr>
              <a:t> </a:t>
            </a:r>
            <a:r>
              <a:rPr sz="2400" spc="-5" dirty="0" err="1" smtClean="0">
                <a:latin typeface="Times New Roman"/>
                <a:cs typeface="Times New Roman"/>
              </a:rPr>
              <a:t>inmobiliario</a:t>
            </a:r>
            <a:endParaRPr sz="2400" spc="-5" dirty="0" smtClean="0">
              <a:latin typeface="Times New Roman"/>
              <a:cs typeface="Times New Roman"/>
            </a:endParaRPr>
          </a:p>
          <a:p>
            <a:pPr marL="241300" indent="-228600">
              <a:lnSpc>
                <a:spcPct val="100000"/>
              </a:lnSpc>
              <a:spcBef>
                <a:spcPts val="60"/>
              </a:spcBef>
              <a:buFont typeface="Symbol"/>
              <a:buChar char=""/>
              <a:tabLst>
                <a:tab pos="241300" algn="l"/>
              </a:tabLst>
            </a:pPr>
            <a:endParaRPr sz="2400" dirty="0">
              <a:latin typeface="Times New Roman"/>
              <a:cs typeface="Times New Roman"/>
            </a:endParaRPr>
          </a:p>
        </p:txBody>
      </p:sp>
    </p:spTree>
    <p:extLst>
      <p:ext uri="{BB962C8B-B14F-4D97-AF65-F5344CB8AC3E}">
        <p14:creationId xmlns:p14="http://schemas.microsoft.com/office/powerpoint/2010/main" val="6724997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293694"/>
            <a:ext cx="9999472" cy="567078"/>
          </a:xfrm>
          <a:prstGeom prst="rect">
            <a:avLst/>
          </a:prstGeom>
        </p:spPr>
        <p:txBody>
          <a:bodyPr vert="horz" wrap="square" lIns="0" tIns="34925" rIns="0" bIns="0" rtlCol="0">
            <a:spAutoFit/>
          </a:bodyPr>
          <a:lstStyle/>
          <a:p>
            <a:pPr marL="12700" marR="5080">
              <a:lnSpc>
                <a:spcPct val="95900"/>
              </a:lnSpc>
              <a:spcBef>
                <a:spcPts val="275"/>
              </a:spcBef>
            </a:pPr>
            <a:r>
              <a:rPr lang="es-ES" sz="3600" b="1" dirty="0" smtClean="0">
                <a:solidFill>
                  <a:srgbClr val="538DD3"/>
                </a:solidFill>
                <a:latin typeface="Times New Roman"/>
                <a:cs typeface="Times New Roman"/>
              </a:rPr>
              <a:t>Otras aplicaciones</a:t>
            </a:r>
            <a:endParaRPr sz="3600" dirty="0">
              <a:latin typeface="Times New Roman"/>
              <a:cs typeface="Times New Roman"/>
            </a:endParaRPr>
          </a:p>
        </p:txBody>
      </p:sp>
      <p:sp>
        <p:nvSpPr>
          <p:cNvPr id="9" name="CuadroTexto 8"/>
          <p:cNvSpPr txBox="1"/>
          <p:nvPr/>
        </p:nvSpPr>
        <p:spPr>
          <a:xfrm>
            <a:off x="622300" y="1495425"/>
            <a:ext cx="9067799" cy="5262979"/>
          </a:xfrm>
          <a:prstGeom prst="rect">
            <a:avLst/>
          </a:prstGeom>
          <a:noFill/>
        </p:spPr>
        <p:txBody>
          <a:bodyPr wrap="square" rtlCol="0">
            <a:spAutoFit/>
          </a:bodyPr>
          <a:lstStyle/>
          <a:p>
            <a:pPr marL="285750" indent="-285750">
              <a:buFont typeface="Arial" panose="020B0604020202020204" pitchFamily="34" charset="0"/>
              <a:buChar char="•"/>
            </a:pPr>
            <a:r>
              <a:rPr lang="es-ES" sz="2400" b="1" dirty="0" smtClean="0">
                <a:latin typeface="Times New Roman" panose="02020603050405020304" pitchFamily="18" charset="0"/>
                <a:cs typeface="Times New Roman" panose="02020603050405020304" pitchFamily="18" charset="0"/>
              </a:rPr>
              <a:t>Negocios</a:t>
            </a:r>
            <a:r>
              <a:rPr lang="es-ES" sz="2400" dirty="0" smtClean="0">
                <a:latin typeface="Times New Roman" panose="02020603050405020304" pitchFamily="18" charset="0"/>
                <a:cs typeface="Times New Roman" panose="02020603050405020304" pitchFamily="18" charset="0"/>
              </a:rPr>
              <a:t>: marketing, campañas de venta</a:t>
            </a:r>
          </a:p>
          <a:p>
            <a:pPr marL="285750" indent="-285750">
              <a:buFont typeface="Arial" panose="020B0604020202020204" pitchFamily="34" charset="0"/>
              <a:buChar char="•"/>
            </a:pPr>
            <a:endParaRPr lang="es-ES"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ES" sz="2400" b="1" dirty="0" smtClean="0">
                <a:latin typeface="Times New Roman" panose="02020603050405020304" pitchFamily="18" charset="0"/>
                <a:cs typeface="Times New Roman" panose="02020603050405020304" pitchFamily="18" charset="0"/>
              </a:rPr>
              <a:t>Medicina y salud</a:t>
            </a:r>
            <a:r>
              <a:rPr lang="es-ES" sz="2400" dirty="0" smtClean="0">
                <a:latin typeface="Times New Roman" panose="02020603050405020304" pitchFamily="18" charset="0"/>
                <a:cs typeface="Times New Roman" panose="02020603050405020304" pitchFamily="18" charset="0"/>
              </a:rPr>
              <a:t>: ayuda al diagnóstico, análisis de imágenes, desarrollo de medicamentos y distribución de recursos.</a:t>
            </a:r>
          </a:p>
          <a:p>
            <a:pPr marL="285750" indent="-285750">
              <a:buFont typeface="Arial" panose="020B0604020202020204" pitchFamily="34" charset="0"/>
              <a:buChar char="•"/>
            </a:pPr>
            <a:endParaRPr lang="es-ES"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ES" sz="2400" b="1" dirty="0" smtClean="0">
                <a:latin typeface="Times New Roman" panose="02020603050405020304" pitchFamily="18" charset="0"/>
                <a:cs typeface="Times New Roman" panose="02020603050405020304" pitchFamily="18" charset="0"/>
              </a:rPr>
              <a:t>Alimentación</a:t>
            </a:r>
            <a:r>
              <a:rPr lang="es-ES" sz="2400" dirty="0" smtClean="0">
                <a:latin typeface="Times New Roman" panose="02020603050405020304" pitchFamily="18" charset="0"/>
                <a:cs typeface="Times New Roman" panose="02020603050405020304" pitchFamily="18" charset="0"/>
              </a:rPr>
              <a:t>: análisis de olor y aroma, perfilamiento de clientes, desarrollo de productos, control de calidad.</a:t>
            </a:r>
          </a:p>
          <a:p>
            <a:pPr marL="285750" indent="-285750">
              <a:buFont typeface="Arial" panose="020B0604020202020204" pitchFamily="34" charset="0"/>
              <a:buChar char="•"/>
            </a:pPr>
            <a:endParaRPr lang="es-ES"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ES" sz="2400" b="1" dirty="0" smtClean="0">
                <a:latin typeface="Times New Roman" panose="02020603050405020304" pitchFamily="18" charset="0"/>
                <a:cs typeface="Times New Roman" panose="02020603050405020304" pitchFamily="18" charset="0"/>
              </a:rPr>
              <a:t>Transporte y comunicaciones</a:t>
            </a:r>
            <a:r>
              <a:rPr lang="es-ES" sz="2400" dirty="0" smtClean="0">
                <a:latin typeface="Times New Roman" panose="02020603050405020304" pitchFamily="18" charset="0"/>
                <a:cs typeface="Times New Roman" panose="02020603050405020304" pitchFamily="18" charset="0"/>
              </a:rPr>
              <a:t>: optimización de rutas y de distribución de recursos.</a:t>
            </a:r>
          </a:p>
          <a:p>
            <a:pPr marL="285750" indent="-285750">
              <a:buFont typeface="Arial" panose="020B0604020202020204" pitchFamily="34" charset="0"/>
              <a:buChar char="•"/>
            </a:pPr>
            <a:endParaRPr lang="es-E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ES" sz="2400" b="1" dirty="0" smtClean="0">
                <a:latin typeface="Times New Roman" panose="02020603050405020304" pitchFamily="18" charset="0"/>
                <a:cs typeface="Times New Roman" panose="02020603050405020304" pitchFamily="18" charset="0"/>
              </a:rPr>
              <a:t>Tratamiento de texto y procesamiento de formas</a:t>
            </a:r>
            <a:r>
              <a:rPr lang="es-ES" sz="2400" dirty="0" smtClean="0">
                <a:latin typeface="Times New Roman" panose="02020603050405020304" pitchFamily="18" charset="0"/>
                <a:cs typeface="Times New Roman" panose="02020603050405020304" pitchFamily="18" charset="0"/>
              </a:rPr>
              <a:t>: reconocimiento de caracteres impresos o escritos a mano, reconocimiento de gráficos...</a:t>
            </a:r>
            <a:endParaRPr lang="es-E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263214"/>
            <a:ext cx="9999472" cy="567078"/>
          </a:xfrm>
          <a:prstGeom prst="rect">
            <a:avLst/>
          </a:prstGeom>
        </p:spPr>
        <p:txBody>
          <a:bodyPr vert="horz" wrap="square" lIns="0" tIns="34925" rIns="0" bIns="0" rtlCol="0">
            <a:spAutoFit/>
          </a:bodyPr>
          <a:lstStyle/>
          <a:p>
            <a:pPr marL="12700" marR="5080">
              <a:lnSpc>
                <a:spcPct val="95900"/>
              </a:lnSpc>
              <a:spcBef>
                <a:spcPts val="275"/>
              </a:spcBef>
            </a:pPr>
            <a:r>
              <a:rPr lang="es-ES" sz="3600" b="1" dirty="0" smtClean="0">
                <a:solidFill>
                  <a:srgbClr val="538DD3"/>
                </a:solidFill>
              </a:rPr>
              <a:t>Concretamente…</a:t>
            </a:r>
            <a:endParaRPr sz="3600" dirty="0">
              <a:latin typeface="Times New Roman"/>
              <a:cs typeface="Times New Roman"/>
            </a:endParaRPr>
          </a:p>
        </p:txBody>
      </p:sp>
      <p:sp>
        <p:nvSpPr>
          <p:cNvPr id="9" name="CuadroTexto 8"/>
          <p:cNvSpPr txBox="1"/>
          <p:nvPr/>
        </p:nvSpPr>
        <p:spPr>
          <a:xfrm>
            <a:off x="698498" y="1343025"/>
            <a:ext cx="9296401" cy="5170646"/>
          </a:xfrm>
          <a:prstGeom prst="rect">
            <a:avLst/>
          </a:prstGeom>
          <a:noFill/>
        </p:spPr>
        <p:txBody>
          <a:bodyPr wrap="square" rtlCol="0">
            <a:spAutoFit/>
          </a:bodyPr>
          <a:lstStyle/>
          <a:p>
            <a:pPr marL="342900" indent="-342900" algn="just">
              <a:buFont typeface="Arial" panose="020B0604020202020204" pitchFamily="34" charset="0"/>
              <a:buChar char="•"/>
            </a:pPr>
            <a:r>
              <a:rPr lang="es-ES" sz="2200" b="1" dirty="0"/>
              <a:t>Reconocimiento de voz</a:t>
            </a:r>
            <a:r>
              <a:rPr lang="es-ES" sz="2200" dirty="0"/>
              <a:t>: </a:t>
            </a:r>
            <a:r>
              <a:rPr lang="es-ES" sz="2200" dirty="0" smtClean="0"/>
              <a:t>se </a:t>
            </a:r>
            <a:r>
              <a:rPr lang="es-ES" sz="2200" dirty="0"/>
              <a:t>utilizan en </a:t>
            </a:r>
            <a:r>
              <a:rPr lang="es-ES" sz="2200" dirty="0" smtClean="0"/>
              <a:t>sistemas </a:t>
            </a:r>
            <a:r>
              <a:rPr lang="es-ES" sz="2200" dirty="0"/>
              <a:t>de reconocimiento de voz para transcribir audio a texto y permitir la interacción hombre-máquina mediante comandos de voz.</a:t>
            </a:r>
          </a:p>
          <a:p>
            <a:pPr marL="342900" indent="-342900" algn="just">
              <a:buFont typeface="Arial" panose="020B0604020202020204" pitchFamily="34" charset="0"/>
              <a:buChar char="•"/>
            </a:pPr>
            <a:r>
              <a:rPr lang="es-ES" sz="2200" b="1" dirty="0"/>
              <a:t>Reconocimiento de imágenes</a:t>
            </a:r>
            <a:r>
              <a:rPr lang="es-ES" sz="2200" dirty="0"/>
              <a:t>: </a:t>
            </a:r>
            <a:r>
              <a:rPr lang="es-ES" sz="2200" dirty="0" smtClean="0"/>
              <a:t>se </a:t>
            </a:r>
            <a:r>
              <a:rPr lang="es-ES" sz="2200" dirty="0"/>
              <a:t>utilizan para el reconocimiento de imágenes y la clasificación de objetos, lo que permite aplicaciones en visión por computadora, reconocimiento facial, seguridad, y en sistemas de cámaras de seguridad.</a:t>
            </a:r>
          </a:p>
          <a:p>
            <a:pPr marL="342900" indent="-342900" algn="just">
              <a:buFont typeface="Arial" panose="020B0604020202020204" pitchFamily="34" charset="0"/>
              <a:buChar char="•"/>
            </a:pPr>
            <a:r>
              <a:rPr lang="es-ES" sz="2200" b="1" dirty="0"/>
              <a:t>Procesamiento del lenguaje natural</a:t>
            </a:r>
            <a:r>
              <a:rPr lang="es-ES" sz="2200" dirty="0"/>
              <a:t>: </a:t>
            </a:r>
            <a:r>
              <a:rPr lang="es-ES" sz="2200" dirty="0" smtClean="0"/>
              <a:t>que </a:t>
            </a:r>
            <a:r>
              <a:rPr lang="es-ES" sz="2200" dirty="0"/>
              <a:t>permite aplicaciones como </a:t>
            </a:r>
            <a:r>
              <a:rPr lang="es-ES" sz="2200" dirty="0" err="1"/>
              <a:t>chatbots</a:t>
            </a:r>
            <a:r>
              <a:rPr lang="es-ES" sz="2200" dirty="0"/>
              <a:t>, asistentes virtuales, y sistemas de traducción automática.</a:t>
            </a:r>
          </a:p>
          <a:p>
            <a:pPr marL="342900" indent="-342900" algn="just">
              <a:buFont typeface="Arial" panose="020B0604020202020204" pitchFamily="34" charset="0"/>
              <a:buChar char="•"/>
            </a:pPr>
            <a:r>
              <a:rPr lang="es-ES" sz="2200" b="1" dirty="0"/>
              <a:t>Conducción autónoma</a:t>
            </a:r>
            <a:r>
              <a:rPr lang="es-ES" sz="2200" dirty="0"/>
              <a:t>: </a:t>
            </a:r>
            <a:r>
              <a:rPr lang="es-ES" sz="2200" dirty="0" smtClean="0"/>
              <a:t>sistemas </a:t>
            </a:r>
            <a:r>
              <a:rPr lang="es-ES" sz="2200" dirty="0"/>
              <a:t>de conducción autónoma para procesar y analizar datos de sensores de vehículos, como cámaras, radares y </a:t>
            </a:r>
            <a:r>
              <a:rPr lang="es-ES" sz="2200" dirty="0" err="1" smtClean="0"/>
              <a:t>lidar</a:t>
            </a:r>
            <a:r>
              <a:rPr lang="es-ES" sz="2200" dirty="0" smtClean="0"/>
              <a:t>.</a:t>
            </a:r>
            <a:endParaRPr lang="es-ES" sz="2200" dirty="0"/>
          </a:p>
          <a:p>
            <a:pPr marL="342900" indent="-342900" algn="just">
              <a:buFont typeface="Arial" panose="020B0604020202020204" pitchFamily="34" charset="0"/>
              <a:buChar char="•"/>
            </a:pPr>
            <a:r>
              <a:rPr lang="es-ES" sz="2200" b="1" dirty="0"/>
              <a:t>Pronóstico del </a:t>
            </a:r>
            <a:r>
              <a:rPr lang="es-ES" sz="2200" b="1" dirty="0" smtClean="0"/>
              <a:t>tiempo</a:t>
            </a:r>
            <a:endParaRPr lang="es-ES" sz="2200" dirty="0"/>
          </a:p>
          <a:p>
            <a:pPr marL="342900" indent="-342900" algn="just">
              <a:buFont typeface="Arial" panose="020B0604020202020204" pitchFamily="34" charset="0"/>
              <a:buChar char="•"/>
            </a:pPr>
            <a:r>
              <a:rPr lang="es-ES" sz="2200" b="1" dirty="0" smtClean="0"/>
              <a:t>Juegos</a:t>
            </a:r>
            <a:r>
              <a:rPr lang="es-ES" sz="2200" dirty="0"/>
              <a:t>: </a:t>
            </a:r>
            <a:r>
              <a:rPr lang="es-ES" sz="2200" dirty="0" smtClean="0"/>
              <a:t>en </a:t>
            </a:r>
            <a:r>
              <a:rPr lang="es-ES" sz="2200" dirty="0"/>
              <a:t>juegos como ajedrez, </a:t>
            </a:r>
            <a:r>
              <a:rPr lang="es-ES" sz="2200" dirty="0" err="1"/>
              <a:t>Go</a:t>
            </a:r>
            <a:r>
              <a:rPr lang="es-ES" sz="2200" dirty="0"/>
              <a:t> y póker para aprender a tomar decisiones óptimas en función del estado actual del juego y maximizar la probabilidad de ganar.</a:t>
            </a:r>
          </a:p>
        </p:txBody>
      </p:sp>
    </p:spTree>
    <p:extLst>
      <p:ext uri="{BB962C8B-B14F-4D97-AF65-F5344CB8AC3E}">
        <p14:creationId xmlns:p14="http://schemas.microsoft.com/office/powerpoint/2010/main" val="19983539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293694"/>
            <a:ext cx="9999472" cy="567078"/>
          </a:xfrm>
          <a:prstGeom prst="rect">
            <a:avLst/>
          </a:prstGeom>
        </p:spPr>
        <p:txBody>
          <a:bodyPr vert="horz" wrap="square" lIns="0" tIns="34925" rIns="0" bIns="0" rtlCol="0">
            <a:spAutoFit/>
          </a:bodyPr>
          <a:lstStyle/>
          <a:p>
            <a:pPr marL="12700" marR="5080">
              <a:lnSpc>
                <a:spcPct val="95900"/>
              </a:lnSpc>
              <a:spcBef>
                <a:spcPts val="275"/>
              </a:spcBef>
            </a:pPr>
            <a:r>
              <a:rPr lang="es-ES" sz="3600" b="1" dirty="0" smtClean="0">
                <a:solidFill>
                  <a:srgbClr val="538DD3"/>
                </a:solidFill>
                <a:latin typeface="Times New Roman"/>
                <a:cs typeface="Times New Roman"/>
              </a:rPr>
              <a:t>Aplicaciones reales</a:t>
            </a:r>
            <a:endParaRPr sz="3600" dirty="0">
              <a:latin typeface="Times New Roman"/>
              <a:cs typeface="Times New Roman"/>
            </a:endParaRPr>
          </a:p>
        </p:txBody>
      </p:sp>
      <p:sp>
        <p:nvSpPr>
          <p:cNvPr id="9" name="CuadroTexto 8"/>
          <p:cNvSpPr txBox="1"/>
          <p:nvPr/>
        </p:nvSpPr>
        <p:spPr>
          <a:xfrm>
            <a:off x="329537" y="962025"/>
            <a:ext cx="10198763" cy="6370975"/>
          </a:xfrm>
          <a:prstGeom prst="rect">
            <a:avLst/>
          </a:prstGeom>
          <a:noFill/>
        </p:spPr>
        <p:txBody>
          <a:bodyPr wrap="square" rtlCol="0">
            <a:spAutoFit/>
          </a:bodyPr>
          <a:lstStyle/>
          <a:p>
            <a:pPr marL="285750" indent="-285750">
              <a:buFont typeface="Arial" panose="020B0604020202020204" pitchFamily="34" charset="0"/>
              <a:buChar char="•"/>
            </a:pPr>
            <a:r>
              <a:rPr lang="es-ES" sz="2400" b="1" dirty="0" smtClean="0">
                <a:latin typeface="Times New Roman" panose="02020603050405020304" pitchFamily="18" charset="0"/>
                <a:cs typeface="Times New Roman" panose="02020603050405020304" pitchFamily="18" charset="0"/>
              </a:rPr>
              <a:t>Reconocimiento de voz</a:t>
            </a:r>
            <a:r>
              <a:rPr lang="es-ES" sz="2400" dirty="0" smtClean="0">
                <a:latin typeface="Times New Roman" panose="02020603050405020304" pitchFamily="18" charset="0"/>
                <a:cs typeface="Times New Roman" panose="02020603050405020304" pitchFamily="18" charset="0"/>
              </a:rPr>
              <a:t>, para transcribir audio a texto. </a:t>
            </a:r>
            <a:r>
              <a:rPr lang="es-ES" sz="2400" dirty="0" err="1" smtClean="0">
                <a:latin typeface="Times New Roman" panose="02020603050405020304" pitchFamily="18" charset="0"/>
                <a:cs typeface="Times New Roman" panose="02020603050405020304" pitchFamily="18" charset="0"/>
              </a:rPr>
              <a:t>Siri</a:t>
            </a:r>
            <a:endParaRPr lang="es-ES"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s-ES" sz="2400" b="1"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ES" sz="2400" b="1" dirty="0" smtClean="0">
                <a:latin typeface="Times New Roman" panose="02020603050405020304" pitchFamily="18" charset="0"/>
                <a:cs typeface="Times New Roman" panose="02020603050405020304" pitchFamily="18" charset="0"/>
              </a:rPr>
              <a:t>Pronunciación</a:t>
            </a:r>
            <a:r>
              <a:rPr lang="es-ES" sz="2400" b="1" dirty="0">
                <a:latin typeface="Times New Roman" panose="02020603050405020304" pitchFamily="18" charset="0"/>
                <a:cs typeface="Times New Roman" panose="02020603050405020304" pitchFamily="18" charset="0"/>
              </a:rPr>
              <a:t>: </a:t>
            </a:r>
            <a:r>
              <a:rPr lang="es-ES" sz="2400" b="1" dirty="0" err="1">
                <a:latin typeface="Times New Roman" panose="02020603050405020304" pitchFamily="18" charset="0"/>
                <a:cs typeface="Times New Roman" panose="02020603050405020304" pitchFamily="18" charset="0"/>
              </a:rPr>
              <a:t>NETtalk</a:t>
            </a:r>
            <a:r>
              <a:rPr lang="es-ES" sz="2400" b="1" dirty="0">
                <a:latin typeface="Times New Roman" panose="02020603050405020304" pitchFamily="18" charset="0"/>
                <a:cs typeface="Times New Roman" panose="02020603050405020304" pitchFamily="18" charset="0"/>
              </a:rPr>
              <a:t> (87)</a:t>
            </a:r>
            <a:r>
              <a:rPr lang="es-ES" sz="2400" dirty="0">
                <a:latin typeface="Times New Roman" panose="02020603050405020304" pitchFamily="18" charset="0"/>
                <a:cs typeface="Times New Roman" panose="02020603050405020304" pitchFamily="18" charset="0"/>
              </a:rPr>
              <a:t>, aprende a </a:t>
            </a:r>
            <a:r>
              <a:rPr lang="es-ES" sz="2400" dirty="0" smtClean="0">
                <a:latin typeface="Times New Roman" panose="02020603050405020304" pitchFamily="18" charset="0"/>
                <a:cs typeface="Times New Roman" panose="02020603050405020304" pitchFamily="18" charset="0"/>
              </a:rPr>
              <a:t>pronunciar </a:t>
            </a:r>
            <a:r>
              <a:rPr lang="es-ES" sz="2400" dirty="0">
                <a:latin typeface="Times New Roman" panose="02020603050405020304" pitchFamily="18" charset="0"/>
                <a:cs typeface="Times New Roman" panose="02020603050405020304" pitchFamily="18" charset="0"/>
              </a:rPr>
              <a:t>texto escrito. 29 unidades de entrada (26 letras, más espacios, puntos, </a:t>
            </a:r>
            <a:r>
              <a:rPr lang="es-ES" sz="2400" dirty="0" smtClean="0">
                <a:latin typeface="Times New Roman" panose="02020603050405020304" pitchFamily="18" charset="0"/>
                <a:cs typeface="Times New Roman" panose="02020603050405020304" pitchFamily="18" charset="0"/>
              </a:rPr>
              <a:t>comas), 80 </a:t>
            </a:r>
            <a:r>
              <a:rPr lang="es-ES" sz="2400" dirty="0">
                <a:latin typeface="Times New Roman" panose="02020603050405020304" pitchFamily="18" charset="0"/>
                <a:cs typeface="Times New Roman" panose="02020603050405020304" pitchFamily="18" charset="0"/>
              </a:rPr>
              <a:t>unidades ocultas. 1024-palabras de </a:t>
            </a:r>
            <a:r>
              <a:rPr lang="es-ES" sz="2400" dirty="0" smtClean="0">
                <a:latin typeface="Times New Roman" panose="02020603050405020304" pitchFamily="18" charset="0"/>
                <a:cs typeface="Times New Roman" panose="02020603050405020304" pitchFamily="18" charset="0"/>
              </a:rPr>
              <a:t>entrenamiento. 95</a:t>
            </a:r>
            <a:r>
              <a:rPr lang="es-ES" sz="2400" dirty="0">
                <a:latin typeface="Times New Roman" panose="02020603050405020304" pitchFamily="18" charset="0"/>
                <a:cs typeface="Times New Roman" panose="02020603050405020304" pitchFamily="18" charset="0"/>
              </a:rPr>
              <a:t>% de éxito en </a:t>
            </a:r>
            <a:r>
              <a:rPr lang="es-ES" sz="2400" dirty="0" smtClean="0">
                <a:latin typeface="Times New Roman" panose="02020603050405020304" pitchFamily="18" charset="0"/>
                <a:cs typeface="Times New Roman" panose="02020603050405020304" pitchFamily="18" charset="0"/>
              </a:rPr>
              <a:t>entrenamiento</a:t>
            </a:r>
            <a:r>
              <a:rPr lang="es-ES" sz="2400" dirty="0">
                <a:latin typeface="Times New Roman" panose="02020603050405020304" pitchFamily="18" charset="0"/>
                <a:cs typeface="Times New Roman" panose="02020603050405020304" pitchFamily="18" charset="0"/>
              </a:rPr>
              <a:t>, </a:t>
            </a:r>
            <a:r>
              <a:rPr lang="es-ES" sz="2400" dirty="0" smtClean="0">
                <a:latin typeface="Times New Roman" panose="02020603050405020304" pitchFamily="18" charset="0"/>
                <a:cs typeface="Times New Roman" panose="02020603050405020304" pitchFamily="18" charset="0"/>
              </a:rPr>
              <a:t>y 78</a:t>
            </a:r>
            <a:r>
              <a:rPr lang="es-ES" sz="2400" dirty="0">
                <a:latin typeface="Times New Roman" panose="02020603050405020304" pitchFamily="18" charset="0"/>
                <a:cs typeface="Times New Roman" panose="02020603050405020304" pitchFamily="18" charset="0"/>
              </a:rPr>
              <a:t>% en la prueba</a:t>
            </a:r>
            <a:r>
              <a:rPr lang="es-ES" sz="24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s-ES"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ES" sz="2400" b="1" dirty="0" smtClean="0">
                <a:latin typeface="Times New Roman" panose="02020603050405020304" pitchFamily="18" charset="0"/>
                <a:cs typeface="Times New Roman" panose="02020603050405020304" pitchFamily="18" charset="0"/>
              </a:rPr>
              <a:t>Reconocimiento </a:t>
            </a:r>
            <a:r>
              <a:rPr lang="es-ES" sz="2400" b="1" dirty="0">
                <a:latin typeface="Times New Roman" panose="02020603050405020304" pitchFamily="18" charset="0"/>
                <a:cs typeface="Times New Roman" panose="02020603050405020304" pitchFamily="18" charset="0"/>
              </a:rPr>
              <a:t>de caracteres: </a:t>
            </a:r>
            <a:r>
              <a:rPr lang="es-ES" sz="2400" dirty="0">
                <a:latin typeface="Times New Roman" panose="02020603050405020304" pitchFamily="18" charset="0"/>
                <a:cs typeface="Times New Roman" panose="02020603050405020304" pitchFamily="18" charset="0"/>
              </a:rPr>
              <a:t>una de las aplicaciones más grandes de redes neuronales actuales (Le </a:t>
            </a:r>
            <a:r>
              <a:rPr lang="es-ES" sz="2400" dirty="0" err="1">
                <a:latin typeface="Times New Roman" panose="02020603050405020304" pitchFamily="18" charset="0"/>
                <a:cs typeface="Times New Roman" panose="02020603050405020304" pitchFamily="18" charset="0"/>
              </a:rPr>
              <a:t>Cun</a:t>
            </a:r>
            <a:r>
              <a:rPr lang="es-ES" sz="2400" dirty="0">
                <a:latin typeface="Times New Roman" panose="02020603050405020304" pitchFamily="18" charset="0"/>
                <a:cs typeface="Times New Roman" panose="02020603050405020304" pitchFamily="18" charset="0"/>
              </a:rPr>
              <a:t> et al. 89). </a:t>
            </a:r>
            <a:r>
              <a:rPr lang="es-ES" sz="2400" dirty="0" smtClean="0">
                <a:latin typeface="Times New Roman" panose="02020603050405020304" pitchFamily="18" charset="0"/>
                <a:cs typeface="Times New Roman" panose="02020603050405020304" pitchFamily="18" charset="0"/>
              </a:rPr>
              <a:t>Esta </a:t>
            </a:r>
            <a:r>
              <a:rPr lang="es-ES" sz="2400" dirty="0">
                <a:latin typeface="Times New Roman" panose="02020603050405020304" pitchFamily="18" charset="0"/>
                <a:cs typeface="Times New Roman" panose="02020603050405020304" pitchFamily="18" charset="0"/>
              </a:rPr>
              <a:t>red </a:t>
            </a:r>
            <a:r>
              <a:rPr lang="es-ES" sz="2400" dirty="0" smtClean="0">
                <a:latin typeface="Times New Roman" panose="02020603050405020304" pitchFamily="18" charset="0"/>
                <a:cs typeface="Times New Roman" panose="02020603050405020304" pitchFamily="18" charset="0"/>
              </a:rPr>
              <a:t>lee </a:t>
            </a:r>
            <a:r>
              <a:rPr lang="es-ES" sz="2400" dirty="0">
                <a:latin typeface="Times New Roman" panose="02020603050405020304" pitchFamily="18" charset="0"/>
                <a:cs typeface="Times New Roman" panose="02020603050405020304" pitchFamily="18" charset="0"/>
              </a:rPr>
              <a:t>códigos postales en cartas escritas a mano. El sistema tiene un </a:t>
            </a:r>
            <a:r>
              <a:rPr lang="es-ES" sz="2400" dirty="0" err="1">
                <a:latin typeface="Times New Roman" panose="02020603050405020304" pitchFamily="18" charset="0"/>
                <a:cs typeface="Times New Roman" panose="02020603050405020304" pitchFamily="18" charset="0"/>
              </a:rPr>
              <a:t>prepocesador</a:t>
            </a:r>
            <a:r>
              <a:rPr lang="es-ES" sz="2400" dirty="0">
                <a:latin typeface="Times New Roman" panose="02020603050405020304" pitchFamily="18" charset="0"/>
                <a:cs typeface="Times New Roman" panose="02020603050405020304" pitchFamily="18" charset="0"/>
              </a:rPr>
              <a:t> para localizar </a:t>
            </a:r>
            <a:r>
              <a:rPr lang="es-ES" sz="2400" dirty="0" smtClean="0">
                <a:latin typeface="Times New Roman" panose="02020603050405020304" pitchFamily="18" charset="0"/>
                <a:cs typeface="Times New Roman" panose="02020603050405020304" pitchFamily="18" charset="0"/>
              </a:rPr>
              <a:t>números</a:t>
            </a:r>
            <a:r>
              <a:rPr lang="es-ES" sz="2400" dirty="0">
                <a:latin typeface="Times New Roman" panose="02020603050405020304" pitchFamily="18" charset="0"/>
                <a:cs typeface="Times New Roman" panose="02020603050405020304" pitchFamily="18" charset="0"/>
              </a:rPr>
              <a:t>, y la red los descifra. 3 capas ocultas (768, 192 y 30 unidades cada una). </a:t>
            </a:r>
            <a:r>
              <a:rPr lang="es-ES" sz="2400" dirty="0" smtClean="0">
                <a:latin typeface="Times New Roman" panose="02020603050405020304" pitchFamily="18" charset="0"/>
                <a:cs typeface="Times New Roman" panose="02020603050405020304" pitchFamily="18" charset="0"/>
              </a:rPr>
              <a:t>Logra </a:t>
            </a:r>
            <a:r>
              <a:rPr lang="es-ES" sz="2400" dirty="0">
                <a:latin typeface="Times New Roman" panose="02020603050405020304" pitchFamily="18" charset="0"/>
                <a:cs typeface="Times New Roman" panose="02020603050405020304" pitchFamily="18" charset="0"/>
              </a:rPr>
              <a:t>un 99% de éxito, adecuado para un sistema de correo automático y se ha implementado en un chip. </a:t>
            </a:r>
            <a:endParaRPr lang="es-ES"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s-E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ES" sz="2400" b="1" dirty="0" smtClean="0">
                <a:latin typeface="Times New Roman" panose="02020603050405020304" pitchFamily="18" charset="0"/>
                <a:cs typeface="Times New Roman" panose="02020603050405020304" pitchFamily="18" charset="0"/>
              </a:rPr>
              <a:t>ALVINN </a:t>
            </a:r>
            <a:r>
              <a:rPr lang="es-ES" sz="2400" dirty="0">
                <a:latin typeface="Times New Roman" panose="02020603050405020304" pitchFamily="18" charset="0"/>
                <a:cs typeface="Times New Roman" panose="02020603050405020304" pitchFamily="18" charset="0"/>
              </a:rPr>
              <a:t>(</a:t>
            </a:r>
            <a:r>
              <a:rPr lang="es-ES" sz="2400" dirty="0" err="1">
                <a:latin typeface="Times New Roman" panose="02020603050405020304" pitchFamily="18" charset="0"/>
                <a:cs typeface="Times New Roman" panose="02020603050405020304" pitchFamily="18" charset="0"/>
              </a:rPr>
              <a:t>Autonomous</a:t>
            </a:r>
            <a:r>
              <a:rPr lang="es-ES" sz="2400" dirty="0">
                <a:latin typeface="Times New Roman" panose="02020603050405020304" pitchFamily="18" charset="0"/>
                <a:cs typeface="Times New Roman" panose="02020603050405020304" pitchFamily="18" charset="0"/>
              </a:rPr>
              <a:t> </a:t>
            </a:r>
            <a:r>
              <a:rPr lang="es-ES" sz="2400" dirty="0" err="1">
                <a:latin typeface="Times New Roman" panose="02020603050405020304" pitchFamily="18" charset="0"/>
                <a:cs typeface="Times New Roman" panose="02020603050405020304" pitchFamily="18" charset="0"/>
              </a:rPr>
              <a:t>Land</a:t>
            </a:r>
            <a:r>
              <a:rPr lang="es-ES" sz="2400" dirty="0">
                <a:latin typeface="Times New Roman" panose="02020603050405020304" pitchFamily="18" charset="0"/>
                <a:cs typeface="Times New Roman" panose="02020603050405020304" pitchFamily="18" charset="0"/>
              </a:rPr>
              <a:t> </a:t>
            </a:r>
            <a:r>
              <a:rPr lang="es-ES" sz="2400" dirty="0" err="1">
                <a:latin typeface="Times New Roman" panose="02020603050405020304" pitchFamily="18" charset="0"/>
                <a:cs typeface="Times New Roman" panose="02020603050405020304" pitchFamily="18" charset="0"/>
              </a:rPr>
              <a:t>Vehicle</a:t>
            </a:r>
            <a:r>
              <a:rPr lang="es-ES" sz="2400" dirty="0">
                <a:latin typeface="Times New Roman" panose="02020603050405020304" pitchFamily="18" charset="0"/>
                <a:cs typeface="Times New Roman" panose="02020603050405020304" pitchFamily="18" charset="0"/>
              </a:rPr>
              <a:t> In a Neural Network) (</a:t>
            </a:r>
            <a:r>
              <a:rPr lang="es-ES" sz="2400" dirty="0" err="1">
                <a:latin typeface="Times New Roman" panose="02020603050405020304" pitchFamily="18" charset="0"/>
                <a:cs typeface="Times New Roman" panose="02020603050405020304" pitchFamily="18" charset="0"/>
              </a:rPr>
              <a:t>Pomerleau</a:t>
            </a:r>
            <a:r>
              <a:rPr lang="es-ES" sz="2400" dirty="0">
                <a:latin typeface="Times New Roman" panose="02020603050405020304" pitchFamily="18" charset="0"/>
                <a:cs typeface="Times New Roman" panose="02020603050405020304" pitchFamily="18" charset="0"/>
              </a:rPr>
              <a:t> 93) es una red neuronal que aprende a </a:t>
            </a:r>
            <a:r>
              <a:rPr lang="es-ES" sz="2400" dirty="0" smtClean="0">
                <a:latin typeface="Times New Roman" panose="02020603050405020304" pitchFamily="18" charset="0"/>
                <a:cs typeface="Times New Roman" panose="02020603050405020304" pitchFamily="18" charset="0"/>
              </a:rPr>
              <a:t>conducir un vehículo </a:t>
            </a:r>
            <a:r>
              <a:rPr lang="es-ES" sz="2400" dirty="0">
                <a:latin typeface="Times New Roman" panose="02020603050405020304" pitchFamily="18" charset="0"/>
                <a:cs typeface="Times New Roman" panose="02020603050405020304" pitchFamily="18" charset="0"/>
              </a:rPr>
              <a:t>viendo </a:t>
            </a:r>
            <a:r>
              <a:rPr lang="es-ES" sz="2400" dirty="0" smtClean="0">
                <a:latin typeface="Times New Roman" panose="02020603050405020304" pitchFamily="18" charset="0"/>
                <a:cs typeface="Times New Roman" panose="02020603050405020304" pitchFamily="18" charset="0"/>
              </a:rPr>
              <a:t>cómo lo hace un </a:t>
            </a:r>
            <a:r>
              <a:rPr lang="es-ES" sz="2400" dirty="0">
                <a:latin typeface="Times New Roman" panose="02020603050405020304" pitchFamily="18" charset="0"/>
                <a:cs typeface="Times New Roman" panose="02020603050405020304" pitchFamily="18" charset="0"/>
              </a:rPr>
              <a:t>humano. </a:t>
            </a:r>
            <a:r>
              <a:rPr lang="es-ES" sz="2400" dirty="0" smtClean="0">
                <a:latin typeface="Times New Roman" panose="02020603050405020304" pitchFamily="18" charset="0"/>
                <a:cs typeface="Times New Roman" panose="02020603050405020304" pitchFamily="18" charset="0"/>
              </a:rPr>
              <a:t>Se </a:t>
            </a:r>
            <a:r>
              <a:rPr lang="es-ES" sz="2400" dirty="0">
                <a:latin typeface="Times New Roman" panose="02020603050405020304" pitchFamily="18" charset="0"/>
                <a:cs typeface="Times New Roman" panose="02020603050405020304" pitchFamily="18" charset="0"/>
              </a:rPr>
              <a:t>utiliza una </a:t>
            </a:r>
            <a:r>
              <a:rPr lang="es-ES" sz="2400" dirty="0" smtClean="0">
                <a:latin typeface="Times New Roman" panose="02020603050405020304" pitchFamily="18" charset="0"/>
                <a:cs typeface="Times New Roman" panose="02020603050405020304" pitchFamily="18" charset="0"/>
              </a:rPr>
              <a:t>cámara </a:t>
            </a:r>
            <a:r>
              <a:rPr lang="es-ES" sz="2400" dirty="0">
                <a:latin typeface="Times New Roman" panose="02020603050405020304" pitchFamily="18" charset="0"/>
                <a:cs typeface="Times New Roman" panose="02020603050405020304" pitchFamily="18" charset="0"/>
              </a:rPr>
              <a:t>que alimenta una rejilla de entradas a la red. La salida (30 unidades) controla la dirección del volante. </a:t>
            </a:r>
          </a:p>
        </p:txBody>
      </p:sp>
    </p:spTree>
    <p:extLst>
      <p:ext uri="{BB962C8B-B14F-4D97-AF65-F5344CB8AC3E}">
        <p14:creationId xmlns:p14="http://schemas.microsoft.com/office/powerpoint/2010/main" val="3098334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293694"/>
            <a:ext cx="9999472" cy="567078"/>
          </a:xfrm>
          <a:prstGeom prst="rect">
            <a:avLst/>
          </a:prstGeom>
        </p:spPr>
        <p:txBody>
          <a:bodyPr vert="horz" wrap="square" lIns="0" tIns="34925" rIns="0" bIns="0" rtlCol="0">
            <a:spAutoFit/>
          </a:bodyPr>
          <a:lstStyle/>
          <a:p>
            <a:pPr marL="12700" marR="5080">
              <a:lnSpc>
                <a:spcPct val="95900"/>
              </a:lnSpc>
              <a:spcBef>
                <a:spcPts val="275"/>
              </a:spcBef>
            </a:pPr>
            <a:r>
              <a:rPr lang="es-ES" sz="3600" b="1" dirty="0" smtClean="0">
                <a:solidFill>
                  <a:srgbClr val="538DD3"/>
                </a:solidFill>
                <a:latin typeface="Times New Roman"/>
                <a:cs typeface="Times New Roman"/>
              </a:rPr>
              <a:t>Aplicaciones reales</a:t>
            </a:r>
            <a:endParaRPr sz="3600" dirty="0">
              <a:latin typeface="Times New Roman"/>
              <a:cs typeface="Times New Roman"/>
            </a:endParaRPr>
          </a:p>
        </p:txBody>
      </p:sp>
      <p:sp>
        <p:nvSpPr>
          <p:cNvPr id="9" name="CuadroTexto 8"/>
          <p:cNvSpPr txBox="1"/>
          <p:nvPr/>
        </p:nvSpPr>
        <p:spPr>
          <a:xfrm>
            <a:off x="329537" y="962025"/>
            <a:ext cx="9817763" cy="6370975"/>
          </a:xfrm>
          <a:prstGeom prst="rect">
            <a:avLst/>
          </a:prstGeom>
          <a:noFill/>
        </p:spPr>
        <p:txBody>
          <a:bodyPr wrap="square" rtlCol="0">
            <a:spAutoFit/>
          </a:bodyPr>
          <a:lstStyle/>
          <a:p>
            <a:pPr marL="342900" indent="-342900" algn="just">
              <a:buFont typeface="Arial" panose="020B0604020202020204" pitchFamily="34" charset="0"/>
              <a:buChar char="•"/>
            </a:pPr>
            <a:r>
              <a:rPr lang="es-ES" sz="2400" b="1" dirty="0"/>
              <a:t>Búsqueda de imágenes de Google</a:t>
            </a:r>
            <a:r>
              <a:rPr lang="es-ES" sz="2400" dirty="0"/>
              <a:t>: Google utiliza una red neuronal para etiquetar automáticamente las imágenes y mejorar la precisión de la búsqueda de imágenes.</a:t>
            </a:r>
          </a:p>
          <a:p>
            <a:pPr marL="342900" indent="-342900" algn="just">
              <a:buFont typeface="Arial" panose="020B0604020202020204" pitchFamily="34" charset="0"/>
              <a:buChar char="•"/>
            </a:pPr>
            <a:r>
              <a:rPr lang="es-ES" sz="2400" b="1" dirty="0"/>
              <a:t>YouTube</a:t>
            </a:r>
            <a:r>
              <a:rPr lang="es-ES" sz="2400" dirty="0"/>
              <a:t>: </a:t>
            </a:r>
            <a:r>
              <a:rPr lang="es-ES" sz="2400" dirty="0" smtClean="0"/>
              <a:t>utiliza </a:t>
            </a:r>
            <a:r>
              <a:rPr lang="es-ES" sz="2400" dirty="0"/>
              <a:t>una red neuronal para recomendar videos personalizados a los usuarios, basándose en su historial de búsqueda y visualización.</a:t>
            </a:r>
          </a:p>
          <a:p>
            <a:pPr marL="342900" indent="-342900" algn="just">
              <a:buFont typeface="Arial" panose="020B0604020202020204" pitchFamily="34" charset="0"/>
              <a:buChar char="•"/>
            </a:pPr>
            <a:r>
              <a:rPr lang="es-ES" sz="2400" b="1" dirty="0"/>
              <a:t>Facebook</a:t>
            </a:r>
            <a:r>
              <a:rPr lang="es-ES" sz="2400" dirty="0"/>
              <a:t>: </a:t>
            </a:r>
            <a:r>
              <a:rPr lang="es-ES" sz="2400" dirty="0" smtClean="0"/>
              <a:t>para </a:t>
            </a:r>
            <a:r>
              <a:rPr lang="es-ES" sz="2400" dirty="0"/>
              <a:t>analizar y etiquetar automáticamente las fotos subidas por los usuarios, lo que permite una fácil búsqueda y organización.</a:t>
            </a:r>
          </a:p>
          <a:p>
            <a:pPr marL="342900" indent="-342900" algn="just">
              <a:buFont typeface="Arial" panose="020B0604020202020204" pitchFamily="34" charset="0"/>
              <a:buChar char="•"/>
            </a:pPr>
            <a:r>
              <a:rPr lang="es-ES" sz="2400" b="1" dirty="0" err="1"/>
              <a:t>Netflix</a:t>
            </a:r>
            <a:r>
              <a:rPr lang="es-ES" sz="2400" dirty="0"/>
              <a:t>: </a:t>
            </a:r>
            <a:r>
              <a:rPr lang="es-ES" sz="2400" dirty="0" smtClean="0"/>
              <a:t>para recomendar </a:t>
            </a:r>
            <a:r>
              <a:rPr lang="es-ES" sz="2400" dirty="0"/>
              <a:t>películas y programas de televisión personalizados a los usuarios, basándose en su historial de visualización y calificaciones.</a:t>
            </a:r>
          </a:p>
          <a:p>
            <a:pPr marL="342900" indent="-342900" algn="just">
              <a:buFont typeface="Arial" panose="020B0604020202020204" pitchFamily="34" charset="0"/>
              <a:buChar char="•"/>
            </a:pPr>
            <a:r>
              <a:rPr lang="es-ES" sz="2400" b="1" dirty="0"/>
              <a:t>Amazon</a:t>
            </a:r>
            <a:r>
              <a:rPr lang="es-ES" sz="2400" dirty="0"/>
              <a:t>: </a:t>
            </a:r>
            <a:r>
              <a:rPr lang="es-ES" sz="2400" dirty="0" smtClean="0"/>
              <a:t>para </a:t>
            </a:r>
            <a:r>
              <a:rPr lang="es-ES" sz="2400" dirty="0"/>
              <a:t>recomendar productos personalizados a los usuarios, basándose en su historial de búsqueda y compra.</a:t>
            </a:r>
          </a:p>
          <a:p>
            <a:pPr marL="342900" indent="-342900" algn="just">
              <a:buFont typeface="Arial" panose="020B0604020202020204" pitchFamily="34" charset="0"/>
              <a:buChar char="•"/>
            </a:pPr>
            <a:r>
              <a:rPr lang="es-ES" sz="2400" b="1" dirty="0" err="1"/>
              <a:t>Spotify</a:t>
            </a:r>
            <a:r>
              <a:rPr lang="es-ES" sz="2400" dirty="0"/>
              <a:t>: </a:t>
            </a:r>
            <a:r>
              <a:rPr lang="es-ES" sz="2400" dirty="0" smtClean="0"/>
              <a:t>para </a:t>
            </a:r>
            <a:r>
              <a:rPr lang="es-ES" sz="2400" dirty="0"/>
              <a:t>recomendar música personalizada a los usuarios, basándose en sus preferencias de escucha y hábitos.</a:t>
            </a:r>
          </a:p>
          <a:p>
            <a:pPr marL="342900" indent="-342900" algn="just">
              <a:buFont typeface="Arial" panose="020B0604020202020204" pitchFamily="34" charset="0"/>
              <a:buChar char="•"/>
            </a:pPr>
            <a:r>
              <a:rPr lang="es-ES" sz="2400" b="1" dirty="0"/>
              <a:t>Google </a:t>
            </a:r>
            <a:r>
              <a:rPr lang="es-ES" sz="2400" b="1" dirty="0" err="1"/>
              <a:t>Translate</a:t>
            </a:r>
            <a:r>
              <a:rPr lang="es-ES" sz="2400" dirty="0"/>
              <a:t>: </a:t>
            </a:r>
            <a:r>
              <a:rPr lang="es-ES" sz="2400" dirty="0" smtClean="0"/>
              <a:t>para </a:t>
            </a:r>
            <a:r>
              <a:rPr lang="es-ES" sz="2400" dirty="0"/>
              <a:t>mejorar la calidad de las traducciones y hacerlas más precisas y naturales.</a:t>
            </a:r>
          </a:p>
          <a:p>
            <a:pPr marL="285750" indent="-285750">
              <a:buFont typeface="Arial" panose="020B0604020202020204" pitchFamily="34" charset="0"/>
              <a:buChar char="•"/>
            </a:pPr>
            <a:endParaRPr lang="es-E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40763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6963" y="314959"/>
            <a:ext cx="9999472" cy="492443"/>
          </a:xfrm>
        </p:spPr>
        <p:txBody>
          <a:bodyPr/>
          <a:lstStyle/>
          <a:p>
            <a:r>
              <a:rPr lang="es-ES" sz="3200" b="1" dirty="0" smtClean="0">
                <a:solidFill>
                  <a:srgbClr val="0070C0"/>
                </a:solidFill>
              </a:rPr>
              <a:t>Algunas </a:t>
            </a:r>
            <a:r>
              <a:rPr lang="es-ES" sz="3200" b="1" dirty="0" err="1" smtClean="0">
                <a:solidFill>
                  <a:srgbClr val="0070C0"/>
                </a:solidFill>
              </a:rPr>
              <a:t>APPs</a:t>
            </a:r>
            <a:r>
              <a:rPr lang="es-ES" sz="3200" b="1" dirty="0" smtClean="0">
                <a:solidFill>
                  <a:srgbClr val="0070C0"/>
                </a:solidFill>
              </a:rPr>
              <a:t> para “jugar” con redes neuronales</a:t>
            </a:r>
            <a:endParaRPr lang="es-ES" sz="3200" b="1" dirty="0">
              <a:solidFill>
                <a:srgbClr val="0070C0"/>
              </a:solidFill>
            </a:endParaRPr>
          </a:p>
        </p:txBody>
      </p:sp>
      <p:sp>
        <p:nvSpPr>
          <p:cNvPr id="4" name="CuadroTexto 3"/>
          <p:cNvSpPr txBox="1"/>
          <p:nvPr/>
        </p:nvSpPr>
        <p:spPr>
          <a:xfrm>
            <a:off x="393700" y="809625"/>
            <a:ext cx="10071100" cy="7232749"/>
          </a:xfrm>
          <a:prstGeom prst="rect">
            <a:avLst/>
          </a:prstGeom>
          <a:noFill/>
        </p:spPr>
        <p:txBody>
          <a:bodyPr wrap="square" rtlCol="0">
            <a:spAutoFit/>
          </a:bodyPr>
          <a:lstStyle/>
          <a:p>
            <a:pPr marL="342900" indent="-342900">
              <a:buFont typeface="Arial" panose="020B0604020202020204" pitchFamily="34" charset="0"/>
              <a:buChar char="•"/>
            </a:pPr>
            <a:r>
              <a:rPr lang="es-ES" sz="2800" dirty="0">
                <a:solidFill>
                  <a:srgbClr val="0070C0"/>
                </a:solidFill>
                <a:latin typeface="Times New Roman" panose="02020603050405020304" pitchFamily="18" charset="0"/>
                <a:cs typeface="Times New Roman" panose="02020603050405020304" pitchFamily="18" charset="0"/>
              </a:rPr>
              <a:t>Deep </a:t>
            </a:r>
            <a:r>
              <a:rPr lang="es-ES" sz="2800" dirty="0" err="1">
                <a:solidFill>
                  <a:srgbClr val="0070C0"/>
                </a:solidFill>
                <a:latin typeface="Times New Roman" panose="02020603050405020304" pitchFamily="18" charset="0"/>
                <a:cs typeface="Times New Roman" panose="02020603050405020304" pitchFamily="18" charset="0"/>
              </a:rPr>
              <a:t>Learning</a:t>
            </a:r>
            <a:r>
              <a:rPr lang="es-ES" sz="2800" dirty="0">
                <a:solidFill>
                  <a:srgbClr val="0070C0"/>
                </a:solidFill>
                <a:latin typeface="Times New Roman" panose="02020603050405020304" pitchFamily="18" charset="0"/>
                <a:cs typeface="Times New Roman" panose="02020603050405020304" pitchFamily="18" charset="0"/>
              </a:rPr>
              <a:t> Studio (https://deeplearningstudio.com/ </a:t>
            </a:r>
            <a:r>
              <a:rPr lang="es-ES" sz="2800" dirty="0" smtClean="0">
                <a:solidFill>
                  <a:srgbClr val="0070C0"/>
                </a:solidFill>
                <a:latin typeface="Times New Roman" panose="02020603050405020304" pitchFamily="18" charset="0"/>
                <a:cs typeface="Times New Roman" panose="02020603050405020304" pitchFamily="18" charset="0"/>
              </a:rPr>
              <a:t>): </a:t>
            </a:r>
            <a:r>
              <a:rPr lang="es-ES" sz="2400" dirty="0" smtClean="0">
                <a:latin typeface="+mj-lt"/>
                <a:cs typeface="Times New Roman" panose="02020603050405020304" pitchFamily="18" charset="0"/>
              </a:rPr>
              <a:t>plataforma </a:t>
            </a:r>
            <a:r>
              <a:rPr lang="es-ES" sz="2400" dirty="0">
                <a:latin typeface="+mj-lt"/>
                <a:cs typeface="Times New Roman" panose="02020603050405020304" pitchFamily="18" charset="0"/>
              </a:rPr>
              <a:t>en línea gratuita que </a:t>
            </a:r>
            <a:r>
              <a:rPr lang="es-ES" sz="2400" dirty="0" smtClean="0">
                <a:latin typeface="+mj-lt"/>
                <a:cs typeface="Times New Roman" panose="02020603050405020304" pitchFamily="18" charset="0"/>
              </a:rPr>
              <a:t>permite </a:t>
            </a:r>
            <a:r>
              <a:rPr lang="es-ES" sz="2400" dirty="0">
                <a:latin typeface="+mj-lt"/>
                <a:cs typeface="Times New Roman" panose="02020603050405020304" pitchFamily="18" charset="0"/>
              </a:rPr>
              <a:t>crear, entrenar y probar modelos de redes neuronales sin necesidad de instalar software. </a:t>
            </a:r>
            <a:r>
              <a:rPr lang="es-ES" sz="2400" dirty="0" smtClean="0">
                <a:latin typeface="+mj-lt"/>
                <a:cs typeface="Times New Roman" panose="02020603050405020304" pitchFamily="18" charset="0"/>
              </a:rPr>
              <a:t>Compatible </a:t>
            </a:r>
            <a:r>
              <a:rPr lang="es-ES" sz="2400" dirty="0">
                <a:latin typeface="+mj-lt"/>
                <a:cs typeface="Times New Roman" panose="02020603050405020304" pitchFamily="18" charset="0"/>
              </a:rPr>
              <a:t>con una variedad de marcos de aprendizaje profundo y ofrece una interfaz </a:t>
            </a:r>
            <a:r>
              <a:rPr lang="es-ES" sz="2400" dirty="0" smtClean="0">
                <a:latin typeface="+mj-lt"/>
                <a:cs typeface="Times New Roman" panose="02020603050405020304" pitchFamily="18" charset="0"/>
              </a:rPr>
              <a:t>gráfica.</a:t>
            </a:r>
            <a:endParaRPr lang="es-ES" sz="2400" dirty="0">
              <a:latin typeface="+mj-lt"/>
              <a:cs typeface="Times New Roman" panose="02020603050405020304" pitchFamily="18" charset="0"/>
            </a:endParaRPr>
          </a:p>
          <a:p>
            <a:pPr marL="342900" indent="-342900">
              <a:buFont typeface="Arial" panose="020B0604020202020204" pitchFamily="34" charset="0"/>
              <a:buChar char="•"/>
            </a:pPr>
            <a:r>
              <a:rPr lang="es-ES" sz="2800" dirty="0">
                <a:solidFill>
                  <a:srgbClr val="0070C0"/>
                </a:solidFill>
                <a:latin typeface="Times New Roman" panose="02020603050405020304" pitchFamily="18" charset="0"/>
                <a:cs typeface="Times New Roman" panose="02020603050405020304" pitchFamily="18" charset="0"/>
              </a:rPr>
              <a:t>Neural Network </a:t>
            </a:r>
            <a:r>
              <a:rPr lang="es-ES" sz="2800" dirty="0" err="1" smtClean="0">
                <a:solidFill>
                  <a:srgbClr val="0070C0"/>
                </a:solidFill>
                <a:latin typeface="Times New Roman" panose="02020603050405020304" pitchFamily="18" charset="0"/>
                <a:cs typeface="Times New Roman" panose="02020603050405020304" pitchFamily="18" charset="0"/>
              </a:rPr>
              <a:t>Console</a:t>
            </a:r>
            <a:r>
              <a:rPr lang="es-ES" sz="2800" dirty="0">
                <a:solidFill>
                  <a:srgbClr val="0070C0"/>
                </a:solidFill>
                <a:latin typeface="Times New Roman" panose="02020603050405020304" pitchFamily="18" charset="0"/>
                <a:cs typeface="Times New Roman" panose="02020603050405020304" pitchFamily="18" charset="0"/>
              </a:rPr>
              <a:t> (https://dl.sony.com/ </a:t>
            </a:r>
            <a:r>
              <a:rPr lang="es-ES" sz="2800" dirty="0" smtClean="0">
                <a:solidFill>
                  <a:srgbClr val="0070C0"/>
                </a:solidFill>
                <a:latin typeface="Times New Roman" panose="02020603050405020304" pitchFamily="18" charset="0"/>
                <a:cs typeface="Times New Roman" panose="02020603050405020304" pitchFamily="18" charset="0"/>
              </a:rPr>
              <a:t>): </a:t>
            </a:r>
            <a:r>
              <a:rPr lang="es-ES" sz="2400" dirty="0" smtClean="0">
                <a:latin typeface="+mj-lt"/>
                <a:cs typeface="Times New Roman" panose="02020603050405020304" pitchFamily="18" charset="0"/>
              </a:rPr>
              <a:t>herramienta </a:t>
            </a:r>
            <a:r>
              <a:rPr lang="es-ES" sz="2400" dirty="0">
                <a:latin typeface="+mj-lt"/>
                <a:cs typeface="Times New Roman" panose="02020603050405020304" pitchFamily="18" charset="0"/>
              </a:rPr>
              <a:t>en línea gratuita que </a:t>
            </a:r>
            <a:r>
              <a:rPr lang="es-ES" sz="2400" dirty="0" smtClean="0">
                <a:latin typeface="+mj-lt"/>
                <a:cs typeface="Times New Roman" panose="02020603050405020304" pitchFamily="18" charset="0"/>
              </a:rPr>
              <a:t>permite </a:t>
            </a:r>
            <a:r>
              <a:rPr lang="es-ES" sz="2400" dirty="0">
                <a:latin typeface="+mj-lt"/>
                <a:cs typeface="Times New Roman" panose="02020603050405020304" pitchFamily="18" charset="0"/>
              </a:rPr>
              <a:t>diseñar y entrenar redes neuronales de forma interactiva. Puedes seleccionar diferentes capas y funciones de activación, ajustar los parámetros de entrenamiento y observar el rendimiento de la red en tiempo real.</a:t>
            </a:r>
          </a:p>
          <a:p>
            <a:pPr marL="342900" indent="-342900">
              <a:buFont typeface="Arial" panose="020B0604020202020204" pitchFamily="34" charset="0"/>
              <a:buChar char="•"/>
            </a:pPr>
            <a:r>
              <a:rPr lang="es-ES" sz="2800" dirty="0" err="1" smtClean="0">
                <a:solidFill>
                  <a:srgbClr val="0070C0"/>
                </a:solidFill>
                <a:latin typeface="Times New Roman" panose="02020603050405020304" pitchFamily="18" charset="0"/>
                <a:cs typeface="Times New Roman" panose="02020603050405020304" pitchFamily="18" charset="0"/>
              </a:rPr>
              <a:t>Keras</a:t>
            </a:r>
            <a:r>
              <a:rPr lang="es-ES" sz="2800" dirty="0">
                <a:solidFill>
                  <a:srgbClr val="0070C0"/>
                </a:solidFill>
                <a:latin typeface="Times New Roman" panose="02020603050405020304" pitchFamily="18" charset="0"/>
                <a:cs typeface="Times New Roman" panose="02020603050405020304" pitchFamily="18" charset="0"/>
              </a:rPr>
              <a:t> (https://keras.io/ </a:t>
            </a:r>
            <a:r>
              <a:rPr lang="es-ES" sz="2800" dirty="0" smtClean="0">
                <a:solidFill>
                  <a:srgbClr val="0070C0"/>
                </a:solidFill>
                <a:latin typeface="Times New Roman" panose="02020603050405020304" pitchFamily="18" charset="0"/>
                <a:cs typeface="Times New Roman" panose="02020603050405020304" pitchFamily="18" charset="0"/>
              </a:rPr>
              <a:t>)</a:t>
            </a:r>
            <a:r>
              <a:rPr lang="es-ES" sz="2400" dirty="0" smtClean="0">
                <a:latin typeface="+mj-lt"/>
                <a:cs typeface="Times New Roman" panose="02020603050405020304" pitchFamily="18" charset="0"/>
              </a:rPr>
              <a:t>: biblioteca </a:t>
            </a:r>
            <a:r>
              <a:rPr lang="es-ES" sz="2400" dirty="0">
                <a:latin typeface="+mj-lt"/>
                <a:cs typeface="Times New Roman" panose="02020603050405020304" pitchFamily="18" charset="0"/>
              </a:rPr>
              <a:t>de aprendizaje profundo de código abierto para Python que </a:t>
            </a:r>
            <a:r>
              <a:rPr lang="es-ES" sz="2400" dirty="0" smtClean="0">
                <a:latin typeface="+mj-lt"/>
                <a:cs typeface="Times New Roman" panose="02020603050405020304" pitchFamily="18" charset="0"/>
              </a:rPr>
              <a:t> </a:t>
            </a:r>
            <a:r>
              <a:rPr lang="es-ES" sz="2400" dirty="0">
                <a:latin typeface="+mj-lt"/>
                <a:cs typeface="Times New Roman" panose="02020603050405020304" pitchFamily="18" charset="0"/>
              </a:rPr>
              <a:t>permite crear y entrenar redes neuronales. Es fácil de usar y ofrece una amplia gama de funciones de activación y capas para construir modelos complejos de redes neuronales.</a:t>
            </a:r>
          </a:p>
          <a:p>
            <a:pPr marL="342900" indent="-342900">
              <a:buFont typeface="Arial" panose="020B0604020202020204" pitchFamily="34" charset="0"/>
              <a:buChar char="•"/>
            </a:pPr>
            <a:r>
              <a:rPr lang="es-ES" sz="2800" dirty="0" err="1" smtClean="0">
                <a:solidFill>
                  <a:srgbClr val="0070C0"/>
                </a:solidFill>
                <a:latin typeface="Times New Roman" panose="02020603050405020304" pitchFamily="18" charset="0"/>
                <a:cs typeface="Times New Roman" panose="02020603050405020304" pitchFamily="18" charset="0"/>
              </a:rPr>
              <a:t>Caffe</a:t>
            </a:r>
            <a:r>
              <a:rPr lang="es-ES" sz="2800" dirty="0">
                <a:solidFill>
                  <a:srgbClr val="0070C0"/>
                </a:solidFill>
                <a:latin typeface="Times New Roman" panose="02020603050405020304" pitchFamily="18" charset="0"/>
                <a:cs typeface="Times New Roman" panose="02020603050405020304" pitchFamily="18" charset="0"/>
              </a:rPr>
              <a:t> (https://caffe.berkeleyvision.org/ </a:t>
            </a:r>
            <a:r>
              <a:rPr lang="es-ES" sz="2800" dirty="0" smtClean="0">
                <a:solidFill>
                  <a:srgbClr val="0070C0"/>
                </a:solidFill>
                <a:latin typeface="Times New Roman" panose="02020603050405020304" pitchFamily="18" charset="0"/>
                <a:cs typeface="Times New Roman" panose="02020603050405020304" pitchFamily="18" charset="0"/>
              </a:rPr>
              <a:t>)</a:t>
            </a:r>
            <a:r>
              <a:rPr lang="es-ES" sz="2400" dirty="0" smtClean="0">
                <a:latin typeface="+mj-lt"/>
                <a:cs typeface="Times New Roman" panose="02020603050405020304" pitchFamily="18" charset="0"/>
              </a:rPr>
              <a:t>: marco </a:t>
            </a:r>
            <a:r>
              <a:rPr lang="es-ES" sz="2400" dirty="0">
                <a:latin typeface="+mj-lt"/>
                <a:cs typeface="Times New Roman" panose="02020603050405020304" pitchFamily="18" charset="0"/>
              </a:rPr>
              <a:t>de aprendizaje profundo de código abierto para la construcción y entrenamiento de redes neuronales. Ofrece un rendimiento rápido y eficiente para modelos de redes neuronales grandes y complejos.</a:t>
            </a:r>
          </a:p>
          <a:p>
            <a:pPr marL="285750" indent="-285750">
              <a:lnSpc>
                <a:spcPct val="200000"/>
              </a:lnSpc>
              <a:buFont typeface="Arial" panose="020B0604020202020204" pitchFamily="34" charset="0"/>
              <a:buChar char="•"/>
            </a:pPr>
            <a:endParaRPr lang="es-ES" sz="2000" dirty="0">
              <a:latin typeface="+mj-lt"/>
              <a:cs typeface="Times New Roman" panose="02020603050405020304" pitchFamily="18" charset="0"/>
            </a:endParaRPr>
          </a:p>
        </p:txBody>
      </p:sp>
    </p:spTree>
    <p:extLst>
      <p:ext uri="{BB962C8B-B14F-4D97-AF65-F5344CB8AC3E}">
        <p14:creationId xmlns:p14="http://schemas.microsoft.com/office/powerpoint/2010/main" val="33034284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6963" y="314959"/>
            <a:ext cx="9999472" cy="492443"/>
          </a:xfrm>
        </p:spPr>
        <p:txBody>
          <a:bodyPr/>
          <a:lstStyle/>
          <a:p>
            <a:r>
              <a:rPr lang="es-ES" sz="3200" b="1" dirty="0" smtClean="0">
                <a:solidFill>
                  <a:srgbClr val="0070C0"/>
                </a:solidFill>
              </a:rPr>
              <a:t>Algunas </a:t>
            </a:r>
            <a:r>
              <a:rPr lang="es-ES" sz="3200" b="1" dirty="0" err="1" smtClean="0">
                <a:solidFill>
                  <a:srgbClr val="0070C0"/>
                </a:solidFill>
              </a:rPr>
              <a:t>APPs</a:t>
            </a:r>
            <a:r>
              <a:rPr lang="es-ES" sz="3200" b="1" dirty="0" smtClean="0">
                <a:solidFill>
                  <a:srgbClr val="0070C0"/>
                </a:solidFill>
              </a:rPr>
              <a:t> para “jugar” con redes neuronales</a:t>
            </a:r>
            <a:endParaRPr lang="es-ES" sz="3200" b="1" dirty="0">
              <a:solidFill>
                <a:srgbClr val="0070C0"/>
              </a:solidFill>
            </a:endParaRPr>
          </a:p>
        </p:txBody>
      </p:sp>
      <p:sp>
        <p:nvSpPr>
          <p:cNvPr id="4" name="CuadroTexto 3"/>
          <p:cNvSpPr txBox="1"/>
          <p:nvPr/>
        </p:nvSpPr>
        <p:spPr>
          <a:xfrm>
            <a:off x="622301" y="1038225"/>
            <a:ext cx="9372599" cy="6617196"/>
          </a:xfrm>
          <a:prstGeom prst="rect">
            <a:avLst/>
          </a:prstGeom>
          <a:noFill/>
        </p:spPr>
        <p:txBody>
          <a:bodyPr wrap="square" rtlCol="0">
            <a:spAutoFit/>
          </a:bodyPr>
          <a:lstStyle/>
          <a:p>
            <a:pPr marL="285750" indent="-285750">
              <a:buFont typeface="Arial" panose="020B0604020202020204" pitchFamily="34" charset="0"/>
              <a:buChar char="•"/>
            </a:pPr>
            <a:r>
              <a:rPr lang="es-ES" sz="2800" dirty="0" err="1" smtClean="0">
                <a:latin typeface="Times New Roman" panose="02020603050405020304" pitchFamily="18" charset="0"/>
                <a:cs typeface="Times New Roman" panose="02020603050405020304" pitchFamily="18" charset="0"/>
                <a:hlinkClick r:id="rId2"/>
              </a:rPr>
              <a:t>TensorFlow</a:t>
            </a:r>
            <a:r>
              <a:rPr lang="es-ES" sz="2800" dirty="0" smtClean="0">
                <a:latin typeface="Times New Roman" panose="02020603050405020304" pitchFamily="18" charset="0"/>
                <a:cs typeface="Times New Roman" panose="02020603050405020304" pitchFamily="18" charset="0"/>
                <a:hlinkClick r:id="rId2"/>
              </a:rPr>
              <a:t> </a:t>
            </a:r>
            <a:r>
              <a:rPr lang="es-ES" sz="2800" dirty="0" err="1" smtClean="0">
                <a:latin typeface="Times New Roman" panose="02020603050405020304" pitchFamily="18" charset="0"/>
                <a:cs typeface="Times New Roman" panose="02020603050405020304" pitchFamily="18" charset="0"/>
                <a:hlinkClick r:id="rId2"/>
              </a:rPr>
              <a:t>Playground</a:t>
            </a:r>
            <a:r>
              <a:rPr lang="es-ES" sz="2800" dirty="0" smtClean="0">
                <a:latin typeface="Times New Roman" panose="02020603050405020304" pitchFamily="18" charset="0"/>
                <a:cs typeface="Times New Roman" panose="02020603050405020304" pitchFamily="18" charset="0"/>
                <a:hlinkClick r:id="rId2"/>
              </a:rPr>
              <a:t> </a:t>
            </a:r>
            <a:r>
              <a:rPr lang="es-ES" sz="2800" dirty="0" smtClean="0">
                <a:latin typeface="Times New Roman" panose="02020603050405020304" pitchFamily="18" charset="0"/>
                <a:cs typeface="Times New Roman" panose="02020603050405020304" pitchFamily="18" charset="0"/>
              </a:rPr>
              <a:t>(</a:t>
            </a:r>
            <a:r>
              <a:rPr lang="es-ES" sz="2800" dirty="0" smtClean="0">
                <a:latin typeface="Times New Roman" panose="02020603050405020304" pitchFamily="18" charset="0"/>
                <a:cs typeface="Times New Roman" panose="02020603050405020304" pitchFamily="18" charset="0"/>
                <a:hlinkClick r:id="rId2"/>
              </a:rPr>
              <a:t>https://playground.tensorflow.org/</a:t>
            </a:r>
            <a:r>
              <a:rPr lang="es-ES" sz="2800" dirty="0" smtClean="0">
                <a:latin typeface="Times New Roman" panose="02020603050405020304" pitchFamily="18" charset="0"/>
                <a:cs typeface="Times New Roman" panose="02020603050405020304" pitchFamily="18" charset="0"/>
              </a:rPr>
              <a:t>) </a:t>
            </a:r>
            <a:r>
              <a:rPr lang="es-ES" sz="2000" dirty="0" smtClean="0"/>
              <a:t>herramienta </a:t>
            </a:r>
            <a:r>
              <a:rPr lang="es-ES" sz="2000" dirty="0"/>
              <a:t>en línea gratuita y fácil de usar que te permite experimentar con redes neuronales en tiempo real. Puedes ajustar los parámetros de la red neuronal y observar cómo cambia el rendimiento de la red en diferentes tareas.</a:t>
            </a:r>
            <a:endParaRPr lang="es-ES" sz="2000" dirty="0" smtClean="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s-ES" sz="2800" dirty="0">
                <a:latin typeface="Times New Roman" panose="02020603050405020304" pitchFamily="18" charset="0"/>
                <a:cs typeface="Times New Roman" panose="02020603050405020304" pitchFamily="18" charset="0"/>
                <a:hlinkClick r:id="rId3"/>
              </a:rPr>
              <a:t>https://</a:t>
            </a:r>
            <a:r>
              <a:rPr lang="es-ES" sz="2800" dirty="0" smtClean="0">
                <a:latin typeface="Times New Roman" panose="02020603050405020304" pitchFamily="18" charset="0"/>
                <a:cs typeface="Times New Roman" panose="02020603050405020304" pitchFamily="18" charset="0"/>
                <a:hlinkClick r:id="rId3"/>
              </a:rPr>
              <a:t>www.i-am.ai/neural-numbers.html</a:t>
            </a:r>
            <a:endParaRPr lang="es-ES" sz="2800" dirty="0" smtClean="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s-ES" sz="2800" dirty="0">
                <a:latin typeface="Times New Roman" panose="02020603050405020304" pitchFamily="18" charset="0"/>
                <a:cs typeface="Times New Roman" panose="02020603050405020304" pitchFamily="18" charset="0"/>
                <a:hlinkClick r:id="rId4"/>
              </a:rPr>
              <a:t>https://</a:t>
            </a:r>
            <a:r>
              <a:rPr lang="es-ES" sz="2800" dirty="0" smtClean="0">
                <a:latin typeface="Times New Roman" panose="02020603050405020304" pitchFamily="18" charset="0"/>
                <a:cs typeface="Times New Roman" panose="02020603050405020304" pitchFamily="18" charset="0"/>
                <a:hlinkClick r:id="rId4"/>
              </a:rPr>
              <a:t>www.i-am.ai/piano-genie.html</a:t>
            </a:r>
            <a:endParaRPr lang="es-ES" sz="2800" dirty="0" smtClean="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s-ES" sz="2800" dirty="0">
                <a:latin typeface="Times New Roman" panose="02020603050405020304" pitchFamily="18" charset="0"/>
                <a:cs typeface="Times New Roman" panose="02020603050405020304" pitchFamily="18" charset="0"/>
                <a:hlinkClick r:id="rId5"/>
              </a:rPr>
              <a:t>https://modeldepot.github.io/tfjs-yolo-tiny-demo</a:t>
            </a:r>
            <a:r>
              <a:rPr lang="es-ES" sz="2800" dirty="0" smtClean="0">
                <a:latin typeface="Times New Roman" panose="02020603050405020304" pitchFamily="18" charset="0"/>
                <a:cs typeface="Times New Roman" panose="02020603050405020304" pitchFamily="18" charset="0"/>
                <a:hlinkClick r:id="rId5"/>
              </a:rPr>
              <a:t>/</a:t>
            </a:r>
            <a:endParaRPr lang="es-ES" sz="2800" dirty="0" smtClean="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s-ES" sz="2800" dirty="0">
                <a:solidFill>
                  <a:srgbClr val="FF0000"/>
                </a:solidFill>
                <a:latin typeface="Times New Roman" panose="02020603050405020304" pitchFamily="18" charset="0"/>
                <a:cs typeface="Times New Roman" panose="02020603050405020304" pitchFamily="18" charset="0"/>
                <a:hlinkClick r:id="rId6"/>
              </a:rPr>
              <a:t>http://</a:t>
            </a:r>
            <a:r>
              <a:rPr lang="es-ES" sz="2800" dirty="0" smtClean="0">
                <a:solidFill>
                  <a:srgbClr val="FF0000"/>
                </a:solidFill>
                <a:latin typeface="Times New Roman" panose="02020603050405020304" pitchFamily="18" charset="0"/>
                <a:cs typeface="Times New Roman" panose="02020603050405020304" pitchFamily="18" charset="0"/>
                <a:hlinkClick r:id="rId6"/>
              </a:rPr>
              <a:t>places2.csail.mit.edu/</a:t>
            </a:r>
            <a:r>
              <a:rPr lang="es-ES" sz="2800" dirty="0" smtClean="0">
                <a:solidFill>
                  <a:srgbClr val="FF0000"/>
                </a:solidFill>
                <a:latin typeface="Times New Roman" panose="02020603050405020304" pitchFamily="18" charset="0"/>
                <a:cs typeface="Times New Roman" panose="02020603050405020304" pitchFamily="18" charset="0"/>
              </a:rPr>
              <a:t> </a:t>
            </a:r>
          </a:p>
          <a:p>
            <a:pPr marL="285750" indent="-285750">
              <a:lnSpc>
                <a:spcPct val="200000"/>
              </a:lnSpc>
              <a:buFont typeface="Arial" panose="020B0604020202020204" pitchFamily="34" charset="0"/>
              <a:buChar char="•"/>
            </a:pPr>
            <a:r>
              <a:rPr lang="es-ES" sz="2800" dirty="0" smtClean="0">
                <a:solidFill>
                  <a:srgbClr val="FF0000"/>
                </a:solidFill>
                <a:latin typeface="Times New Roman" panose="02020603050405020304" pitchFamily="18" charset="0"/>
                <a:cs typeface="Times New Roman" panose="02020603050405020304" pitchFamily="18" charset="0"/>
              </a:rPr>
              <a:t>Y por supuesto, </a:t>
            </a:r>
            <a:r>
              <a:rPr lang="es-ES" sz="2800" dirty="0">
                <a:solidFill>
                  <a:srgbClr val="FF0000"/>
                </a:solidFill>
                <a:latin typeface="Times New Roman" panose="02020603050405020304" pitchFamily="18" charset="0"/>
                <a:cs typeface="Times New Roman" panose="02020603050405020304" pitchFamily="18" charset="0"/>
              </a:rPr>
              <a:t>GPT: </a:t>
            </a:r>
            <a:endParaRPr lang="es-ES" sz="2800" dirty="0" smtClean="0">
              <a:solidFill>
                <a:srgbClr val="FF0000"/>
              </a:solidFill>
              <a:latin typeface="Times New Roman" panose="02020603050405020304" pitchFamily="18" charset="0"/>
              <a:cs typeface="Times New Roman" panose="02020603050405020304" pitchFamily="18" charset="0"/>
            </a:endParaRPr>
          </a:p>
          <a:p>
            <a:pPr>
              <a:lnSpc>
                <a:spcPct val="200000"/>
              </a:lnSpc>
            </a:pPr>
            <a:r>
              <a:rPr lang="es-ES" sz="2800" dirty="0">
                <a:solidFill>
                  <a:srgbClr val="0066FF"/>
                </a:solidFill>
                <a:latin typeface="Times New Roman" panose="02020603050405020304" pitchFamily="18" charset="0"/>
                <a:cs typeface="Times New Roman" panose="02020603050405020304" pitchFamily="18" charset="0"/>
              </a:rPr>
              <a:t>https://chat.openai.com ps://chat.openai.com</a:t>
            </a:r>
          </a:p>
        </p:txBody>
      </p:sp>
    </p:spTree>
    <p:extLst>
      <p:ext uri="{BB962C8B-B14F-4D97-AF65-F5344CB8AC3E}">
        <p14:creationId xmlns:p14="http://schemas.microsoft.com/office/powerpoint/2010/main" val="19920123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noGrp="1"/>
          </p:cNvSpPr>
          <p:nvPr>
            <p:ph type="title"/>
          </p:nvPr>
        </p:nvSpPr>
        <p:spPr>
          <a:xfrm>
            <a:off x="546100" y="885825"/>
            <a:ext cx="9918700" cy="566822"/>
          </a:xfrm>
          <a:prstGeom prst="rect">
            <a:avLst/>
          </a:prstGeom>
        </p:spPr>
        <p:txBody>
          <a:bodyPr vert="horz" wrap="square" lIns="0" tIns="12700" rIns="0" bIns="0" rtlCol="0">
            <a:spAutoFit/>
          </a:bodyPr>
          <a:lstStyle/>
          <a:p>
            <a:pPr marL="12700" algn="ctr">
              <a:lnSpc>
                <a:spcPct val="100000"/>
              </a:lnSpc>
              <a:spcBef>
                <a:spcPts val="100"/>
              </a:spcBef>
            </a:pPr>
            <a:r>
              <a:rPr lang="es-ES" sz="3600" b="1" spc="-5" dirty="0" smtClean="0">
                <a:solidFill>
                  <a:srgbClr val="538DD3"/>
                </a:solidFill>
              </a:rPr>
              <a:t>2. ¿Por qué utilizar redes neuronales artificiales?</a:t>
            </a:r>
            <a:endParaRPr sz="3600" dirty="0">
              <a:latin typeface="Times New Roman"/>
              <a:cs typeface="Times New Roman"/>
            </a:endParaRPr>
          </a:p>
        </p:txBody>
      </p:sp>
      <p:sp>
        <p:nvSpPr>
          <p:cNvPr id="4" name="CuadroTexto 3"/>
          <p:cNvSpPr txBox="1"/>
          <p:nvPr/>
        </p:nvSpPr>
        <p:spPr>
          <a:xfrm>
            <a:off x="1155700" y="2105025"/>
            <a:ext cx="6268576" cy="923330"/>
          </a:xfrm>
          <a:prstGeom prst="rect">
            <a:avLst/>
          </a:prstGeom>
          <a:noFill/>
        </p:spPr>
        <p:txBody>
          <a:bodyPr wrap="none" rtlCol="0">
            <a:spAutoFit/>
          </a:bodyPr>
          <a:lstStyle/>
          <a:p>
            <a:pPr marL="342900" indent="-342900">
              <a:buFont typeface="+mj-lt"/>
              <a:buAutoNum type="arabicPeriod"/>
            </a:pPr>
            <a:r>
              <a:rPr lang="es-ES" dirty="0" smtClean="0"/>
              <a:t>Comparación entre redes neuronales y métodos clásicos</a:t>
            </a:r>
          </a:p>
          <a:p>
            <a:pPr marL="342900" indent="-342900">
              <a:buFont typeface="+mj-lt"/>
              <a:buAutoNum type="arabicPeriod"/>
            </a:pPr>
            <a:r>
              <a:rPr lang="es-ES" dirty="0" smtClean="0"/>
              <a:t>Las dos culturas de la modelización estadística</a:t>
            </a:r>
          </a:p>
          <a:p>
            <a:pPr marL="342900" indent="-342900">
              <a:buFont typeface="+mj-lt"/>
              <a:buAutoNum type="arabicPeriod"/>
            </a:pPr>
            <a:r>
              <a:rPr lang="es-ES" dirty="0" smtClean="0"/>
              <a:t>Escenarios apropiados para la aplicación de redes neuronales</a:t>
            </a:r>
            <a:endParaRPr lang="es-ES" dirty="0"/>
          </a:p>
        </p:txBody>
      </p:sp>
    </p:spTree>
    <p:extLst>
      <p:ext uri="{BB962C8B-B14F-4D97-AF65-F5344CB8AC3E}">
        <p14:creationId xmlns:p14="http://schemas.microsoft.com/office/powerpoint/2010/main" val="12773033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rotWithShape="1">
          <a:blip r:embed="rId2" cstate="print"/>
          <a:srcRect t="4760"/>
          <a:stretch/>
        </p:blipFill>
        <p:spPr>
          <a:xfrm>
            <a:off x="774700" y="835938"/>
            <a:ext cx="8001000" cy="5612487"/>
          </a:xfrm>
          <a:prstGeom prst="rect">
            <a:avLst/>
          </a:prstGeom>
        </p:spPr>
      </p:pic>
      <p:sp>
        <p:nvSpPr>
          <p:cNvPr id="2" name="object 2"/>
          <p:cNvSpPr txBox="1"/>
          <p:nvPr/>
        </p:nvSpPr>
        <p:spPr>
          <a:xfrm>
            <a:off x="7861300" y="3430827"/>
            <a:ext cx="2286001" cy="1010533"/>
          </a:xfrm>
          <a:prstGeom prst="rect">
            <a:avLst/>
          </a:prstGeom>
        </p:spPr>
        <p:txBody>
          <a:bodyPr vert="horz" wrap="square" lIns="0" tIns="12700" rIns="0" bIns="0" rtlCol="0">
            <a:spAutoFit/>
          </a:bodyPr>
          <a:lstStyle/>
          <a:p>
            <a:pPr marL="12700">
              <a:lnSpc>
                <a:spcPct val="100000"/>
              </a:lnSpc>
              <a:spcBef>
                <a:spcPts val="100"/>
              </a:spcBef>
            </a:pPr>
            <a:r>
              <a:rPr sz="1600" spc="-5" dirty="0">
                <a:solidFill>
                  <a:srgbClr val="FF0000"/>
                </a:solidFill>
                <a:latin typeface="+mj-lt"/>
                <a:cs typeface="Times New Roman"/>
              </a:rPr>
              <a:t>[A]=La</a:t>
            </a:r>
            <a:r>
              <a:rPr sz="1600" spc="15" dirty="0">
                <a:solidFill>
                  <a:srgbClr val="FF0000"/>
                </a:solidFill>
                <a:latin typeface="+mj-lt"/>
                <a:cs typeface="Times New Roman"/>
              </a:rPr>
              <a:t> </a:t>
            </a:r>
            <a:r>
              <a:rPr sz="1600" dirty="0">
                <a:solidFill>
                  <a:srgbClr val="FF0000"/>
                </a:solidFill>
                <a:latin typeface="+mj-lt"/>
                <a:cs typeface="Times New Roman"/>
              </a:rPr>
              <a:t>red</a:t>
            </a:r>
            <a:r>
              <a:rPr sz="1600" spc="10" dirty="0">
                <a:solidFill>
                  <a:srgbClr val="FF0000"/>
                </a:solidFill>
                <a:latin typeface="+mj-lt"/>
                <a:cs typeface="Times New Roman"/>
              </a:rPr>
              <a:t> </a:t>
            </a:r>
            <a:r>
              <a:rPr sz="1600" spc="-5" dirty="0">
                <a:solidFill>
                  <a:srgbClr val="FF0000"/>
                </a:solidFill>
                <a:latin typeface="+mj-lt"/>
                <a:cs typeface="Times New Roman"/>
              </a:rPr>
              <a:t>neuronal</a:t>
            </a:r>
            <a:r>
              <a:rPr sz="1600" spc="25" dirty="0">
                <a:solidFill>
                  <a:srgbClr val="FF0000"/>
                </a:solidFill>
                <a:latin typeface="+mj-lt"/>
                <a:cs typeface="Times New Roman"/>
              </a:rPr>
              <a:t> </a:t>
            </a:r>
            <a:r>
              <a:rPr sz="1600" spc="-10" dirty="0" err="1">
                <a:solidFill>
                  <a:srgbClr val="FF0000"/>
                </a:solidFill>
                <a:latin typeface="+mj-lt"/>
                <a:cs typeface="Times New Roman"/>
              </a:rPr>
              <a:t>supera</a:t>
            </a:r>
            <a:r>
              <a:rPr sz="1600" spc="10" dirty="0">
                <a:solidFill>
                  <a:srgbClr val="FF0000"/>
                </a:solidFill>
                <a:latin typeface="+mj-lt"/>
                <a:cs typeface="Times New Roman"/>
              </a:rPr>
              <a:t> </a:t>
            </a:r>
            <a:r>
              <a:rPr lang="es-ES" sz="1600" spc="10" dirty="0" smtClean="0">
                <a:solidFill>
                  <a:srgbClr val="FF0000"/>
                </a:solidFill>
                <a:latin typeface="+mj-lt"/>
                <a:cs typeface="Times New Roman"/>
              </a:rPr>
              <a:t>       </a:t>
            </a:r>
          </a:p>
          <a:p>
            <a:pPr marL="12700">
              <a:lnSpc>
                <a:spcPct val="100000"/>
              </a:lnSpc>
              <a:spcBef>
                <a:spcPts val="100"/>
              </a:spcBef>
            </a:pPr>
            <a:r>
              <a:rPr lang="es-ES" sz="1600" spc="10" dirty="0">
                <a:solidFill>
                  <a:srgbClr val="FF0000"/>
                </a:solidFill>
                <a:latin typeface="+mj-lt"/>
                <a:cs typeface="Times New Roman"/>
              </a:rPr>
              <a:t> </a:t>
            </a:r>
            <a:r>
              <a:rPr lang="es-ES" sz="1600" spc="10" dirty="0" smtClean="0">
                <a:solidFill>
                  <a:srgbClr val="FF0000"/>
                </a:solidFill>
                <a:latin typeface="+mj-lt"/>
                <a:cs typeface="Times New Roman"/>
              </a:rPr>
              <a:t>       </a:t>
            </a:r>
            <a:r>
              <a:rPr sz="1600" dirty="0" smtClean="0">
                <a:solidFill>
                  <a:srgbClr val="FF0000"/>
                </a:solidFill>
                <a:latin typeface="+mj-lt"/>
                <a:cs typeface="Times New Roman"/>
              </a:rPr>
              <a:t>al</a:t>
            </a:r>
            <a:r>
              <a:rPr sz="1600" spc="20" dirty="0" smtClean="0">
                <a:solidFill>
                  <a:srgbClr val="FF0000"/>
                </a:solidFill>
                <a:latin typeface="+mj-lt"/>
                <a:cs typeface="Times New Roman"/>
              </a:rPr>
              <a:t> </a:t>
            </a:r>
            <a:r>
              <a:rPr sz="1600" spc="-5" dirty="0">
                <a:solidFill>
                  <a:srgbClr val="FF0000"/>
                </a:solidFill>
                <a:latin typeface="+mj-lt"/>
                <a:cs typeface="Times New Roman"/>
              </a:rPr>
              <a:t>método</a:t>
            </a:r>
            <a:r>
              <a:rPr sz="1600" dirty="0">
                <a:solidFill>
                  <a:srgbClr val="FF0000"/>
                </a:solidFill>
                <a:latin typeface="+mj-lt"/>
                <a:cs typeface="Times New Roman"/>
              </a:rPr>
              <a:t> </a:t>
            </a:r>
            <a:r>
              <a:rPr sz="1600" spc="-5" dirty="0">
                <a:solidFill>
                  <a:srgbClr val="FF0000"/>
                </a:solidFill>
                <a:latin typeface="+mj-lt"/>
                <a:cs typeface="Times New Roman"/>
              </a:rPr>
              <a:t>clásico;</a:t>
            </a:r>
            <a:r>
              <a:rPr sz="1600" spc="15" dirty="0">
                <a:solidFill>
                  <a:srgbClr val="FF0000"/>
                </a:solidFill>
                <a:latin typeface="+mj-lt"/>
                <a:cs typeface="Times New Roman"/>
              </a:rPr>
              <a:t> </a:t>
            </a:r>
            <a:r>
              <a:rPr sz="1600" spc="-5" dirty="0">
                <a:solidFill>
                  <a:srgbClr val="FF0000"/>
                </a:solidFill>
                <a:latin typeface="+mj-lt"/>
                <a:cs typeface="Times New Roman"/>
              </a:rPr>
              <a:t>[B]=Funcionan</a:t>
            </a:r>
            <a:r>
              <a:rPr sz="1600" spc="15" dirty="0">
                <a:solidFill>
                  <a:srgbClr val="FF0000"/>
                </a:solidFill>
                <a:latin typeface="+mj-lt"/>
                <a:cs typeface="Times New Roman"/>
              </a:rPr>
              <a:t> </a:t>
            </a:r>
            <a:r>
              <a:rPr sz="1600" spc="-5" dirty="0">
                <a:solidFill>
                  <a:srgbClr val="FF0000"/>
                </a:solidFill>
                <a:latin typeface="+mj-lt"/>
                <a:cs typeface="Times New Roman"/>
              </a:rPr>
              <a:t>igual;</a:t>
            </a:r>
            <a:r>
              <a:rPr sz="1600" spc="5" dirty="0">
                <a:solidFill>
                  <a:srgbClr val="FF0000"/>
                </a:solidFill>
                <a:latin typeface="+mj-lt"/>
                <a:cs typeface="Times New Roman"/>
              </a:rPr>
              <a:t> </a:t>
            </a:r>
            <a:r>
              <a:rPr sz="1600" spc="-5" dirty="0">
                <a:solidFill>
                  <a:srgbClr val="FF0000"/>
                </a:solidFill>
                <a:latin typeface="+mj-lt"/>
                <a:cs typeface="Times New Roman"/>
              </a:rPr>
              <a:t>[C]=Mejor</a:t>
            </a:r>
            <a:r>
              <a:rPr sz="1600" spc="50" dirty="0">
                <a:solidFill>
                  <a:srgbClr val="FF0000"/>
                </a:solidFill>
                <a:latin typeface="+mj-lt"/>
                <a:cs typeface="Times New Roman"/>
              </a:rPr>
              <a:t> </a:t>
            </a:r>
            <a:r>
              <a:rPr sz="1600" spc="-5" dirty="0">
                <a:solidFill>
                  <a:srgbClr val="FF0000"/>
                </a:solidFill>
                <a:latin typeface="+mj-lt"/>
                <a:cs typeface="Times New Roman"/>
              </a:rPr>
              <a:t>clásico</a:t>
            </a:r>
            <a:endParaRPr sz="1800" dirty="0">
              <a:latin typeface="+mj-lt"/>
              <a:cs typeface="Times New Roman"/>
            </a:endParaRPr>
          </a:p>
        </p:txBody>
      </p:sp>
      <p:sp>
        <p:nvSpPr>
          <p:cNvPr id="4" name="CuadroTexto 3"/>
          <p:cNvSpPr txBox="1"/>
          <p:nvPr/>
        </p:nvSpPr>
        <p:spPr>
          <a:xfrm>
            <a:off x="393700" y="6439495"/>
            <a:ext cx="10134600" cy="646331"/>
          </a:xfrm>
          <a:prstGeom prst="rect">
            <a:avLst/>
          </a:prstGeom>
          <a:noFill/>
        </p:spPr>
        <p:txBody>
          <a:bodyPr wrap="square" rtlCol="0">
            <a:spAutoFit/>
          </a:bodyPr>
          <a:lstStyle/>
          <a:p>
            <a:pPr algn="just"/>
            <a:r>
              <a:rPr lang="es-ES" dirty="0" smtClean="0">
                <a:solidFill>
                  <a:srgbClr val="0070C0"/>
                </a:solidFill>
              </a:rPr>
              <a:t>Las redes neuronales han mejorado notablemente en los últimos años, ante el aumento de la cantidad y complejidad de los datos a analizar. </a:t>
            </a:r>
            <a:endParaRPr lang="es-ES" dirty="0">
              <a:solidFill>
                <a:srgbClr val="0070C0"/>
              </a:solidFill>
            </a:endParaRPr>
          </a:p>
        </p:txBody>
      </p:sp>
      <p:sp>
        <p:nvSpPr>
          <p:cNvPr id="5" name="CuadroTexto 4"/>
          <p:cNvSpPr txBox="1"/>
          <p:nvPr/>
        </p:nvSpPr>
        <p:spPr>
          <a:xfrm>
            <a:off x="165100" y="189607"/>
            <a:ext cx="10528300" cy="646331"/>
          </a:xfrm>
          <a:prstGeom prst="rect">
            <a:avLst/>
          </a:prstGeom>
          <a:noFill/>
        </p:spPr>
        <p:txBody>
          <a:bodyPr wrap="square" rtlCol="0">
            <a:spAutoFit/>
          </a:bodyPr>
          <a:lstStyle/>
          <a:p>
            <a:pPr algn="just"/>
            <a:r>
              <a:rPr lang="es-ES" dirty="0" smtClean="0">
                <a:solidFill>
                  <a:srgbClr val="0070C0"/>
                </a:solidFill>
              </a:rPr>
              <a:t>Comparativas entre la aplicación de redes neuronales y métodos clásicos existentes en la literatura.</a:t>
            </a:r>
          </a:p>
          <a:p>
            <a:pPr algn="just"/>
            <a:r>
              <a:rPr lang="es-ES" dirty="0" smtClean="0">
                <a:solidFill>
                  <a:srgbClr val="0070C0"/>
                </a:solidFill>
              </a:rPr>
              <a:t>Métodos de validación y datos utilizados y tamaño de las muestras consideradas.</a:t>
            </a:r>
            <a:endParaRPr lang="es-ES" dirty="0">
              <a:solidFill>
                <a:srgbClr val="0070C0"/>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11910" y="325628"/>
            <a:ext cx="80645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Times New Roman"/>
                <a:cs typeface="Times New Roman"/>
              </a:rPr>
              <a:t>[A]=La</a:t>
            </a:r>
            <a:r>
              <a:rPr sz="1800" spc="15" dirty="0">
                <a:solidFill>
                  <a:srgbClr val="FF0000"/>
                </a:solidFill>
                <a:latin typeface="Times New Roman"/>
                <a:cs typeface="Times New Roman"/>
              </a:rPr>
              <a:t> </a:t>
            </a:r>
            <a:r>
              <a:rPr sz="1800" dirty="0">
                <a:solidFill>
                  <a:srgbClr val="FF0000"/>
                </a:solidFill>
                <a:latin typeface="Times New Roman"/>
                <a:cs typeface="Times New Roman"/>
              </a:rPr>
              <a:t>red</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neuronal</a:t>
            </a:r>
            <a:r>
              <a:rPr sz="1800" spc="25" dirty="0">
                <a:solidFill>
                  <a:srgbClr val="FF0000"/>
                </a:solidFill>
                <a:latin typeface="Times New Roman"/>
                <a:cs typeface="Times New Roman"/>
              </a:rPr>
              <a:t> </a:t>
            </a:r>
            <a:r>
              <a:rPr sz="1800" spc="-10" dirty="0">
                <a:solidFill>
                  <a:srgbClr val="FF0000"/>
                </a:solidFill>
                <a:latin typeface="Times New Roman"/>
                <a:cs typeface="Times New Roman"/>
              </a:rPr>
              <a:t>supera</a:t>
            </a:r>
            <a:r>
              <a:rPr sz="1800" spc="15" dirty="0">
                <a:solidFill>
                  <a:srgbClr val="FF0000"/>
                </a:solidFill>
                <a:latin typeface="Times New Roman"/>
                <a:cs typeface="Times New Roman"/>
              </a:rPr>
              <a:t> </a:t>
            </a:r>
            <a:r>
              <a:rPr sz="1800" dirty="0">
                <a:solidFill>
                  <a:srgbClr val="FF0000"/>
                </a:solidFill>
                <a:latin typeface="Times New Roman"/>
                <a:cs typeface="Times New Roman"/>
              </a:rPr>
              <a:t>al</a:t>
            </a:r>
            <a:r>
              <a:rPr sz="1800" spc="15" dirty="0">
                <a:solidFill>
                  <a:srgbClr val="FF0000"/>
                </a:solidFill>
                <a:latin typeface="Times New Roman"/>
                <a:cs typeface="Times New Roman"/>
              </a:rPr>
              <a:t> </a:t>
            </a:r>
            <a:r>
              <a:rPr sz="1800" spc="-5" dirty="0">
                <a:solidFill>
                  <a:srgbClr val="FF0000"/>
                </a:solidFill>
                <a:latin typeface="Times New Roman"/>
                <a:cs typeface="Times New Roman"/>
              </a:rPr>
              <a:t>método</a:t>
            </a:r>
            <a:r>
              <a:rPr sz="1800" dirty="0">
                <a:solidFill>
                  <a:srgbClr val="FF0000"/>
                </a:solidFill>
                <a:latin typeface="Times New Roman"/>
                <a:cs typeface="Times New Roman"/>
              </a:rPr>
              <a:t> </a:t>
            </a:r>
            <a:r>
              <a:rPr sz="1800" spc="-5" dirty="0">
                <a:solidFill>
                  <a:srgbClr val="FF0000"/>
                </a:solidFill>
                <a:latin typeface="Times New Roman"/>
                <a:cs typeface="Times New Roman"/>
              </a:rPr>
              <a:t>clásico;</a:t>
            </a:r>
            <a:r>
              <a:rPr sz="1800" spc="15" dirty="0">
                <a:solidFill>
                  <a:srgbClr val="FF0000"/>
                </a:solidFill>
                <a:latin typeface="Times New Roman"/>
                <a:cs typeface="Times New Roman"/>
              </a:rPr>
              <a:t> </a:t>
            </a:r>
            <a:r>
              <a:rPr sz="1800" spc="-5" dirty="0">
                <a:solidFill>
                  <a:srgbClr val="FF0000"/>
                </a:solidFill>
                <a:latin typeface="Times New Roman"/>
                <a:cs typeface="Times New Roman"/>
              </a:rPr>
              <a:t>[B]=Funcionan</a:t>
            </a:r>
            <a:r>
              <a:rPr sz="1800" spc="15" dirty="0">
                <a:solidFill>
                  <a:srgbClr val="FF0000"/>
                </a:solidFill>
                <a:latin typeface="Times New Roman"/>
                <a:cs typeface="Times New Roman"/>
              </a:rPr>
              <a:t> </a:t>
            </a:r>
            <a:r>
              <a:rPr sz="1800" spc="-5" dirty="0">
                <a:solidFill>
                  <a:srgbClr val="FF0000"/>
                </a:solidFill>
                <a:latin typeface="Times New Roman"/>
                <a:cs typeface="Times New Roman"/>
              </a:rPr>
              <a:t>igual;</a:t>
            </a:r>
            <a:r>
              <a:rPr sz="1800" spc="5" dirty="0">
                <a:solidFill>
                  <a:srgbClr val="FF0000"/>
                </a:solidFill>
                <a:latin typeface="Times New Roman"/>
                <a:cs typeface="Times New Roman"/>
              </a:rPr>
              <a:t> </a:t>
            </a:r>
            <a:r>
              <a:rPr sz="1800" spc="-5" dirty="0">
                <a:solidFill>
                  <a:srgbClr val="FF0000"/>
                </a:solidFill>
                <a:latin typeface="Times New Roman"/>
                <a:cs typeface="Times New Roman"/>
              </a:rPr>
              <a:t>[C]=Mejor</a:t>
            </a:r>
            <a:r>
              <a:rPr sz="1800" spc="15" dirty="0">
                <a:solidFill>
                  <a:srgbClr val="FF0000"/>
                </a:solidFill>
                <a:latin typeface="Times New Roman"/>
                <a:cs typeface="Times New Roman"/>
              </a:rPr>
              <a:t> </a:t>
            </a:r>
            <a:r>
              <a:rPr sz="1800" spc="-5" dirty="0">
                <a:solidFill>
                  <a:srgbClr val="FF0000"/>
                </a:solidFill>
                <a:latin typeface="Times New Roman"/>
                <a:cs typeface="Times New Roman"/>
              </a:rPr>
              <a:t>clásico</a:t>
            </a:r>
            <a:endParaRPr sz="1800">
              <a:latin typeface="Times New Roman"/>
              <a:cs typeface="Times New Roman"/>
            </a:endParaRPr>
          </a:p>
        </p:txBody>
      </p:sp>
      <p:pic>
        <p:nvPicPr>
          <p:cNvPr id="3" name="object 3"/>
          <p:cNvPicPr/>
          <p:nvPr/>
        </p:nvPicPr>
        <p:blipFill>
          <a:blip r:embed="rId2" cstate="print"/>
          <a:stretch>
            <a:fillRect/>
          </a:stretch>
        </p:blipFill>
        <p:spPr>
          <a:xfrm>
            <a:off x="587506" y="1007535"/>
            <a:ext cx="9712194" cy="5288489"/>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700" y="1190625"/>
            <a:ext cx="9829800" cy="5176225"/>
          </a:xfrm>
          <a:prstGeom prst="rect">
            <a:avLst/>
          </a:prstGeom>
        </p:spPr>
        <p:txBody>
          <a:bodyPr vert="horz" wrap="square" lIns="0" tIns="34925" rIns="0" bIns="0" rtlCol="0">
            <a:spAutoFit/>
          </a:bodyPr>
          <a:lstStyle/>
          <a:p>
            <a:pPr marL="12700" marR="5080">
              <a:lnSpc>
                <a:spcPct val="95900"/>
              </a:lnSpc>
              <a:spcBef>
                <a:spcPts val="275"/>
              </a:spcBef>
            </a:pPr>
            <a:r>
              <a:rPr sz="3200" b="1" dirty="0">
                <a:solidFill>
                  <a:srgbClr val="0070C0"/>
                </a:solidFill>
                <a:latin typeface="Times New Roman"/>
                <a:cs typeface="Times New Roman"/>
              </a:rPr>
              <a:t>¿Por </a:t>
            </a:r>
            <a:r>
              <a:rPr sz="3200" b="1" spc="-5" dirty="0">
                <a:solidFill>
                  <a:srgbClr val="0070C0"/>
                </a:solidFill>
                <a:latin typeface="Times New Roman"/>
                <a:cs typeface="Times New Roman"/>
              </a:rPr>
              <a:t>qué utilizar las </a:t>
            </a:r>
            <a:r>
              <a:rPr sz="3200" b="1" dirty="0">
                <a:solidFill>
                  <a:srgbClr val="0070C0"/>
                </a:solidFill>
                <a:latin typeface="Times New Roman"/>
                <a:cs typeface="Times New Roman"/>
              </a:rPr>
              <a:t>redes </a:t>
            </a:r>
            <a:r>
              <a:rPr sz="3200" b="1" spc="-5" dirty="0">
                <a:solidFill>
                  <a:srgbClr val="0070C0"/>
                </a:solidFill>
                <a:latin typeface="Times New Roman"/>
                <a:cs typeface="Times New Roman"/>
              </a:rPr>
              <a:t>neuronales si </a:t>
            </a:r>
            <a:r>
              <a:rPr sz="3200" b="1" dirty="0">
                <a:solidFill>
                  <a:srgbClr val="0070C0"/>
                </a:solidFill>
                <a:latin typeface="Times New Roman"/>
                <a:cs typeface="Times New Roman"/>
              </a:rPr>
              <a:t>ya existen </a:t>
            </a:r>
            <a:r>
              <a:rPr sz="3200" b="1" spc="-885" dirty="0">
                <a:solidFill>
                  <a:srgbClr val="0070C0"/>
                </a:solidFill>
                <a:latin typeface="Times New Roman"/>
                <a:cs typeface="Times New Roman"/>
              </a:rPr>
              <a:t> </a:t>
            </a:r>
            <a:r>
              <a:rPr sz="3200" b="1" spc="-5" dirty="0">
                <a:solidFill>
                  <a:srgbClr val="0070C0"/>
                </a:solidFill>
                <a:latin typeface="Times New Roman"/>
                <a:cs typeface="Times New Roman"/>
              </a:rPr>
              <a:t>modelos </a:t>
            </a:r>
            <a:r>
              <a:rPr sz="3200" b="1" dirty="0">
                <a:solidFill>
                  <a:srgbClr val="0070C0"/>
                </a:solidFill>
                <a:latin typeface="Times New Roman"/>
                <a:cs typeface="Times New Roman"/>
              </a:rPr>
              <a:t>estadísticos </a:t>
            </a:r>
            <a:r>
              <a:rPr sz="3200" b="1" spc="-5" dirty="0">
                <a:solidFill>
                  <a:srgbClr val="0070C0"/>
                </a:solidFill>
                <a:latin typeface="Times New Roman"/>
                <a:cs typeface="Times New Roman"/>
              </a:rPr>
              <a:t>para </a:t>
            </a:r>
            <a:r>
              <a:rPr sz="3200" b="1" dirty="0">
                <a:solidFill>
                  <a:srgbClr val="0070C0"/>
                </a:solidFill>
                <a:latin typeface="Times New Roman"/>
                <a:cs typeface="Times New Roman"/>
              </a:rPr>
              <a:t>cada </a:t>
            </a:r>
            <a:r>
              <a:rPr sz="3200" b="1" spc="-5" dirty="0">
                <a:solidFill>
                  <a:srgbClr val="0070C0"/>
                </a:solidFill>
                <a:latin typeface="Times New Roman"/>
                <a:cs typeface="Times New Roman"/>
              </a:rPr>
              <a:t>problema de </a:t>
            </a:r>
            <a:r>
              <a:rPr sz="3200" b="1" dirty="0">
                <a:solidFill>
                  <a:srgbClr val="0070C0"/>
                </a:solidFill>
                <a:latin typeface="Times New Roman"/>
                <a:cs typeface="Times New Roman"/>
              </a:rPr>
              <a:t> </a:t>
            </a:r>
            <a:r>
              <a:rPr sz="3200" b="1" spc="-5" dirty="0">
                <a:solidFill>
                  <a:srgbClr val="0070C0"/>
                </a:solidFill>
                <a:latin typeface="Times New Roman"/>
                <a:cs typeface="Times New Roman"/>
              </a:rPr>
              <a:t>predicción</a:t>
            </a:r>
            <a:r>
              <a:rPr sz="3200" b="1" spc="-10" dirty="0">
                <a:solidFill>
                  <a:srgbClr val="0070C0"/>
                </a:solidFill>
                <a:latin typeface="Times New Roman"/>
                <a:cs typeface="Times New Roman"/>
              </a:rPr>
              <a:t> </a:t>
            </a:r>
            <a:r>
              <a:rPr sz="3200" b="1" dirty="0">
                <a:solidFill>
                  <a:srgbClr val="0070C0"/>
                </a:solidFill>
                <a:latin typeface="Times New Roman"/>
                <a:cs typeface="Times New Roman"/>
              </a:rPr>
              <a:t>continua, </a:t>
            </a:r>
            <a:r>
              <a:rPr sz="3200" b="1" spc="-5" dirty="0">
                <a:solidFill>
                  <a:srgbClr val="0070C0"/>
                </a:solidFill>
                <a:latin typeface="Times New Roman"/>
                <a:cs typeface="Times New Roman"/>
              </a:rPr>
              <a:t>clasificación,</a:t>
            </a:r>
            <a:r>
              <a:rPr sz="3200" b="1" dirty="0">
                <a:solidFill>
                  <a:srgbClr val="0070C0"/>
                </a:solidFill>
                <a:latin typeface="Times New Roman"/>
                <a:cs typeface="Times New Roman"/>
              </a:rPr>
              <a:t> </a:t>
            </a:r>
            <a:r>
              <a:rPr sz="3200" b="1" spc="-10" dirty="0">
                <a:solidFill>
                  <a:srgbClr val="0070C0"/>
                </a:solidFill>
                <a:latin typeface="Times New Roman"/>
                <a:cs typeface="Times New Roman"/>
              </a:rPr>
              <a:t>series</a:t>
            </a:r>
            <a:r>
              <a:rPr sz="3200" b="1" spc="-5" dirty="0">
                <a:solidFill>
                  <a:srgbClr val="0070C0"/>
                </a:solidFill>
                <a:latin typeface="Times New Roman"/>
                <a:cs typeface="Times New Roman"/>
              </a:rPr>
              <a:t> </a:t>
            </a:r>
            <a:r>
              <a:rPr sz="3200" b="1" dirty="0">
                <a:solidFill>
                  <a:srgbClr val="0070C0"/>
                </a:solidFill>
                <a:latin typeface="Times New Roman"/>
                <a:cs typeface="Times New Roman"/>
              </a:rPr>
              <a:t>o </a:t>
            </a:r>
            <a:r>
              <a:rPr sz="3200" b="1" spc="5" dirty="0">
                <a:solidFill>
                  <a:srgbClr val="0070C0"/>
                </a:solidFill>
                <a:latin typeface="Times New Roman"/>
                <a:cs typeface="Times New Roman"/>
              </a:rPr>
              <a:t> </a:t>
            </a:r>
            <a:r>
              <a:rPr sz="3200" b="1" dirty="0">
                <a:solidFill>
                  <a:srgbClr val="0070C0"/>
                </a:solidFill>
                <a:latin typeface="Times New Roman"/>
                <a:cs typeface="Times New Roman"/>
              </a:rPr>
              <a:t>clustering</a:t>
            </a:r>
            <a:r>
              <a:rPr sz="3200" b="1" dirty="0" smtClean="0">
                <a:solidFill>
                  <a:srgbClr val="0070C0"/>
                </a:solidFill>
                <a:latin typeface="Times New Roman"/>
                <a:cs typeface="Times New Roman"/>
              </a:rPr>
              <a:t>?</a:t>
            </a:r>
            <a:r>
              <a:rPr lang="es-ES" sz="3200" b="1" dirty="0" smtClean="0">
                <a:solidFill>
                  <a:srgbClr val="0070C0"/>
                </a:solidFill>
                <a:latin typeface="Times New Roman"/>
                <a:cs typeface="Times New Roman"/>
              </a:rPr>
              <a:t> </a:t>
            </a:r>
            <a:r>
              <a:rPr lang="es-ES" sz="3600" b="1" dirty="0" smtClean="0">
                <a:solidFill>
                  <a:srgbClr val="4F6128"/>
                </a:solidFill>
                <a:latin typeface="Times New Roman"/>
                <a:cs typeface="Times New Roman"/>
              </a:rPr>
              <a:t/>
            </a:r>
            <a:br>
              <a:rPr lang="es-ES" sz="3600" b="1" dirty="0" smtClean="0">
                <a:solidFill>
                  <a:srgbClr val="4F6128"/>
                </a:solidFill>
                <a:latin typeface="Times New Roman"/>
                <a:cs typeface="Times New Roman"/>
              </a:rPr>
            </a:br>
            <a:r>
              <a:rPr lang="es-ES" sz="3600" b="1" dirty="0" smtClean="0">
                <a:solidFill>
                  <a:srgbClr val="4F6128"/>
                </a:solidFill>
                <a:latin typeface="Times New Roman"/>
                <a:cs typeface="Times New Roman"/>
              </a:rPr>
              <a:t/>
            </a:r>
            <a:br>
              <a:rPr lang="es-ES" sz="3600" b="1" dirty="0" smtClean="0">
                <a:solidFill>
                  <a:srgbClr val="4F6128"/>
                </a:solidFill>
                <a:latin typeface="Times New Roman"/>
                <a:cs typeface="Times New Roman"/>
              </a:rPr>
            </a:br>
            <a:r>
              <a:rPr lang="es-ES" sz="3600" b="1" dirty="0" smtClean="0">
                <a:latin typeface="Times New Roman"/>
                <a:cs typeface="Times New Roman"/>
              </a:rPr>
              <a:t>Las relaciones entr</a:t>
            </a:r>
            <a:r>
              <a:rPr lang="es-ES" sz="3600" b="1" dirty="0" smtClean="0"/>
              <a:t>e variables no son lineales, o no son conocidas.</a:t>
            </a:r>
            <a:br>
              <a:rPr lang="es-ES" sz="3600" b="1" dirty="0" smtClean="0"/>
            </a:br>
            <a:r>
              <a:rPr lang="es-ES" sz="3600" b="1" dirty="0" smtClean="0"/>
              <a:t/>
            </a:r>
            <a:br>
              <a:rPr lang="es-ES" sz="3600" b="1" dirty="0" smtClean="0"/>
            </a:br>
            <a:r>
              <a:rPr lang="es-ES" sz="3600" b="1" dirty="0" smtClean="0"/>
              <a:t>OJO: </a:t>
            </a:r>
            <a:r>
              <a:rPr lang="es-ES" sz="3600" dirty="0" smtClean="0">
                <a:solidFill>
                  <a:schemeClr val="tx1"/>
                </a:solidFill>
              </a:rPr>
              <a:t>también se podrían usar cuando sí se conocen las relaciones entre las variables pero el volumen de datos es demasiado grande.</a:t>
            </a:r>
            <a:endParaRPr sz="3600" dirty="0">
              <a:solidFill>
                <a:schemeClr val="tx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003300" y="2105025"/>
            <a:ext cx="8915400" cy="3046988"/>
          </a:xfrm>
          <a:prstGeom prst="rect">
            <a:avLst/>
          </a:prstGeom>
          <a:noFill/>
        </p:spPr>
        <p:txBody>
          <a:bodyPr wrap="square" rtlCol="0">
            <a:spAutoFit/>
          </a:bodyPr>
          <a:lstStyle/>
          <a:p>
            <a:r>
              <a:rPr lang="es-ES" sz="2400" dirty="0" smtClean="0"/>
              <a:t>Cuando las </a:t>
            </a:r>
            <a:r>
              <a:rPr lang="es-ES" sz="2400" b="1" dirty="0" smtClean="0"/>
              <a:t>relaciones</a:t>
            </a:r>
            <a:r>
              <a:rPr lang="es-ES" sz="2400" dirty="0" smtClean="0"/>
              <a:t> entre las variables son </a:t>
            </a:r>
            <a:r>
              <a:rPr lang="es-ES" sz="2400" b="1" dirty="0" smtClean="0"/>
              <a:t>relativamente lineales</a:t>
            </a:r>
            <a:r>
              <a:rPr lang="es-ES" sz="2400" dirty="0" smtClean="0"/>
              <a:t>, o el </a:t>
            </a:r>
            <a:r>
              <a:rPr lang="es-ES" sz="2400" b="1" dirty="0" smtClean="0"/>
              <a:t>volumen de datos</a:t>
            </a:r>
            <a:r>
              <a:rPr lang="es-ES" sz="2400" dirty="0" smtClean="0"/>
              <a:t> </a:t>
            </a:r>
            <a:r>
              <a:rPr lang="es-ES" sz="2400" b="1" dirty="0" smtClean="0"/>
              <a:t>no</a:t>
            </a:r>
            <a:r>
              <a:rPr lang="es-ES" sz="2400" dirty="0" smtClean="0"/>
              <a:t> es </a:t>
            </a:r>
            <a:r>
              <a:rPr lang="es-ES" sz="2400" b="1" dirty="0" smtClean="0"/>
              <a:t>excesivamente grande</a:t>
            </a:r>
            <a:r>
              <a:rPr lang="es-ES" sz="2400" dirty="0" smtClean="0"/>
              <a:t>, en ocasiones suelen funcionar mejor las </a:t>
            </a:r>
            <a:r>
              <a:rPr lang="es-ES" sz="2400" b="1" dirty="0" smtClean="0"/>
              <a:t>técnicas clásicas</a:t>
            </a:r>
            <a:r>
              <a:rPr lang="es-ES" sz="2400" dirty="0" smtClean="0"/>
              <a:t>, como la regresión lineal, logística o análisis discriminante, que las redes neuronales.</a:t>
            </a:r>
          </a:p>
          <a:p>
            <a:endParaRPr lang="es-ES" sz="2400" dirty="0"/>
          </a:p>
          <a:p>
            <a:r>
              <a:rPr lang="es-ES" sz="2400" dirty="0" smtClean="0"/>
              <a:t>A día de hoy se siguen haciendo muchas comparativas entre métodos de </a:t>
            </a:r>
            <a:r>
              <a:rPr lang="es-ES" sz="2400" i="1" dirty="0" smtClean="0"/>
              <a:t>machine </a:t>
            </a:r>
            <a:r>
              <a:rPr lang="es-ES" sz="2400" i="1" dirty="0" err="1" smtClean="0"/>
              <a:t>learning</a:t>
            </a:r>
            <a:r>
              <a:rPr lang="es-ES" sz="2400" dirty="0" smtClean="0"/>
              <a:t> y métodos clásicos, que nos permiten entender y diferenciar ambos escenarios.</a:t>
            </a:r>
            <a:endParaRPr lang="es-ES" sz="2400" dirty="0"/>
          </a:p>
        </p:txBody>
      </p:sp>
    </p:spTree>
    <p:extLst>
      <p:ext uri="{BB962C8B-B14F-4D97-AF65-F5344CB8AC3E}">
        <p14:creationId xmlns:p14="http://schemas.microsoft.com/office/powerpoint/2010/main" val="21802753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33698" y="1892554"/>
            <a:ext cx="3824604" cy="574040"/>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FF0000"/>
                </a:solidFill>
                <a:latin typeface="Times New Roman"/>
                <a:cs typeface="Times New Roman"/>
              </a:rPr>
              <a:t>Paréntesis</a:t>
            </a:r>
            <a:r>
              <a:rPr sz="3600" b="1" spc="-80" dirty="0">
                <a:solidFill>
                  <a:srgbClr val="FF0000"/>
                </a:solidFill>
                <a:latin typeface="Times New Roman"/>
                <a:cs typeface="Times New Roman"/>
              </a:rPr>
              <a:t> </a:t>
            </a:r>
            <a:r>
              <a:rPr sz="3600" b="1" spc="-5" dirty="0">
                <a:solidFill>
                  <a:srgbClr val="FF0000"/>
                </a:solidFill>
                <a:latin typeface="Times New Roman"/>
                <a:cs typeface="Times New Roman"/>
              </a:rPr>
              <a:t>Cultural</a:t>
            </a:r>
            <a:endParaRPr sz="3600">
              <a:latin typeface="Times New Roman"/>
              <a:cs typeface="Times New Roman"/>
            </a:endParaRPr>
          </a:p>
        </p:txBody>
      </p:sp>
      <p:sp>
        <p:nvSpPr>
          <p:cNvPr id="3" name="object 3"/>
          <p:cNvSpPr txBox="1"/>
          <p:nvPr/>
        </p:nvSpPr>
        <p:spPr>
          <a:xfrm>
            <a:off x="798068" y="2944495"/>
            <a:ext cx="9095740" cy="574040"/>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006FC0"/>
                </a:solidFill>
                <a:latin typeface="Times New Roman"/>
                <a:cs typeface="Times New Roman"/>
              </a:rPr>
              <a:t>Las</a:t>
            </a:r>
            <a:r>
              <a:rPr sz="3600" b="1" spc="-10" dirty="0">
                <a:solidFill>
                  <a:srgbClr val="006FC0"/>
                </a:solidFill>
                <a:latin typeface="Times New Roman"/>
                <a:cs typeface="Times New Roman"/>
              </a:rPr>
              <a:t> </a:t>
            </a:r>
            <a:r>
              <a:rPr sz="3600" b="1" spc="-5" dirty="0">
                <a:solidFill>
                  <a:srgbClr val="006FC0"/>
                </a:solidFill>
                <a:latin typeface="Times New Roman"/>
                <a:cs typeface="Times New Roman"/>
              </a:rPr>
              <a:t>dos</a:t>
            </a:r>
            <a:r>
              <a:rPr sz="3600" b="1" spc="-10" dirty="0">
                <a:solidFill>
                  <a:srgbClr val="006FC0"/>
                </a:solidFill>
                <a:latin typeface="Times New Roman"/>
                <a:cs typeface="Times New Roman"/>
              </a:rPr>
              <a:t> </a:t>
            </a:r>
            <a:r>
              <a:rPr sz="3600" b="1" dirty="0">
                <a:solidFill>
                  <a:srgbClr val="006FC0"/>
                </a:solidFill>
                <a:latin typeface="Times New Roman"/>
                <a:cs typeface="Times New Roman"/>
              </a:rPr>
              <a:t>culturas</a:t>
            </a:r>
            <a:r>
              <a:rPr sz="3600" b="1" spc="-10" dirty="0">
                <a:solidFill>
                  <a:srgbClr val="006FC0"/>
                </a:solidFill>
                <a:latin typeface="Times New Roman"/>
                <a:cs typeface="Times New Roman"/>
              </a:rPr>
              <a:t> </a:t>
            </a:r>
            <a:r>
              <a:rPr sz="3600" b="1" dirty="0">
                <a:solidFill>
                  <a:srgbClr val="006FC0"/>
                </a:solidFill>
                <a:latin typeface="Times New Roman"/>
                <a:cs typeface="Times New Roman"/>
              </a:rPr>
              <a:t>de</a:t>
            </a:r>
            <a:r>
              <a:rPr sz="3600" b="1" spc="-5" dirty="0">
                <a:solidFill>
                  <a:srgbClr val="006FC0"/>
                </a:solidFill>
                <a:latin typeface="Times New Roman"/>
                <a:cs typeface="Times New Roman"/>
              </a:rPr>
              <a:t> </a:t>
            </a:r>
            <a:r>
              <a:rPr sz="3600" b="1" dirty="0">
                <a:solidFill>
                  <a:srgbClr val="006FC0"/>
                </a:solidFill>
                <a:latin typeface="Times New Roman"/>
                <a:cs typeface="Times New Roman"/>
              </a:rPr>
              <a:t>la</a:t>
            </a:r>
            <a:r>
              <a:rPr sz="3600" b="1" spc="-10" dirty="0">
                <a:solidFill>
                  <a:srgbClr val="006FC0"/>
                </a:solidFill>
                <a:latin typeface="Times New Roman"/>
                <a:cs typeface="Times New Roman"/>
              </a:rPr>
              <a:t> </a:t>
            </a:r>
            <a:r>
              <a:rPr sz="3600" b="1" spc="-5" dirty="0">
                <a:solidFill>
                  <a:srgbClr val="006FC0"/>
                </a:solidFill>
                <a:latin typeface="Times New Roman"/>
                <a:cs typeface="Times New Roman"/>
              </a:rPr>
              <a:t>modelización </a:t>
            </a:r>
            <a:r>
              <a:rPr sz="3600" b="1" dirty="0">
                <a:solidFill>
                  <a:srgbClr val="006FC0"/>
                </a:solidFill>
                <a:latin typeface="Times New Roman"/>
                <a:cs typeface="Times New Roman"/>
              </a:rPr>
              <a:t>estadística</a:t>
            </a:r>
            <a:endParaRPr sz="3600">
              <a:latin typeface="Times New Roman"/>
              <a:cs typeface="Times New Roman"/>
            </a:endParaRPr>
          </a:p>
        </p:txBody>
      </p:sp>
      <p:sp>
        <p:nvSpPr>
          <p:cNvPr id="4" name="CuadroTexto 3"/>
          <p:cNvSpPr txBox="1"/>
          <p:nvPr/>
        </p:nvSpPr>
        <p:spPr>
          <a:xfrm>
            <a:off x="791274" y="3996435"/>
            <a:ext cx="9279825" cy="1569660"/>
          </a:xfrm>
          <a:prstGeom prst="rect">
            <a:avLst/>
          </a:prstGeom>
          <a:noFill/>
        </p:spPr>
        <p:txBody>
          <a:bodyPr wrap="square" rtlCol="0">
            <a:spAutoFit/>
          </a:bodyPr>
          <a:lstStyle/>
          <a:p>
            <a:pPr marL="285750" indent="-285750" algn="just">
              <a:buFont typeface="Wingdings" panose="05000000000000000000" pitchFamily="2" charset="2"/>
              <a:buChar char="q"/>
            </a:pPr>
            <a:r>
              <a:rPr lang="es-ES" sz="2400" dirty="0" smtClean="0"/>
              <a:t>Hay quien piensa que no es necesaria la aplicación de algoritmia, pudiendo considerar las técnicas estocásticas clásicas.</a:t>
            </a:r>
          </a:p>
          <a:p>
            <a:pPr marL="285750" indent="-285750" algn="just">
              <a:buFont typeface="Wingdings" panose="05000000000000000000" pitchFamily="2" charset="2"/>
              <a:buChar char="q"/>
            </a:pPr>
            <a:endParaRPr lang="es-ES" sz="2400" dirty="0" smtClean="0"/>
          </a:p>
          <a:p>
            <a:pPr marL="285750" indent="-285750" algn="just">
              <a:buFont typeface="Wingdings" panose="05000000000000000000" pitchFamily="2" charset="2"/>
              <a:buChar char="q"/>
            </a:pPr>
            <a:r>
              <a:rPr lang="es-ES" sz="2400" dirty="0" smtClean="0"/>
              <a:t>Hay quien apoya lo contrario, insistiendo en la utilidad de la algoritmia.</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62430" y="352425"/>
            <a:ext cx="8206740" cy="505267"/>
          </a:xfrm>
          <a:prstGeom prst="rect">
            <a:avLst/>
          </a:prstGeom>
        </p:spPr>
        <p:txBody>
          <a:bodyPr vert="horz" wrap="square" lIns="0" tIns="12700" rIns="0" bIns="0" rtlCol="0">
            <a:spAutoFit/>
          </a:bodyPr>
          <a:lstStyle/>
          <a:p>
            <a:pPr marL="12700">
              <a:lnSpc>
                <a:spcPct val="100000"/>
              </a:lnSpc>
              <a:spcBef>
                <a:spcPts val="100"/>
              </a:spcBef>
            </a:pPr>
            <a:r>
              <a:rPr sz="3200" b="1" dirty="0">
                <a:solidFill>
                  <a:srgbClr val="1F487C"/>
                </a:solidFill>
                <a:latin typeface="Times New Roman"/>
                <a:cs typeface="Times New Roman"/>
              </a:rPr>
              <a:t>“Statistical</a:t>
            </a:r>
            <a:r>
              <a:rPr sz="3200" b="1" spc="-20" dirty="0">
                <a:solidFill>
                  <a:srgbClr val="1F487C"/>
                </a:solidFill>
                <a:latin typeface="Times New Roman"/>
                <a:cs typeface="Times New Roman"/>
              </a:rPr>
              <a:t> </a:t>
            </a:r>
            <a:r>
              <a:rPr sz="3200" b="1" spc="-5" dirty="0">
                <a:solidFill>
                  <a:srgbClr val="1F487C"/>
                </a:solidFill>
                <a:latin typeface="Times New Roman"/>
                <a:cs typeface="Times New Roman"/>
              </a:rPr>
              <a:t>Modeling:</a:t>
            </a:r>
            <a:r>
              <a:rPr sz="3200" b="1" dirty="0">
                <a:solidFill>
                  <a:srgbClr val="1F487C"/>
                </a:solidFill>
                <a:latin typeface="Times New Roman"/>
                <a:cs typeface="Times New Roman"/>
              </a:rPr>
              <a:t> </a:t>
            </a:r>
            <a:r>
              <a:rPr sz="3200" b="1" spc="-5" dirty="0">
                <a:solidFill>
                  <a:srgbClr val="1F487C"/>
                </a:solidFill>
                <a:latin typeface="Times New Roman"/>
                <a:cs typeface="Times New Roman"/>
              </a:rPr>
              <a:t>The</a:t>
            </a:r>
            <a:r>
              <a:rPr sz="3200" b="1" spc="-15" dirty="0">
                <a:solidFill>
                  <a:srgbClr val="1F487C"/>
                </a:solidFill>
                <a:latin typeface="Times New Roman"/>
                <a:cs typeface="Times New Roman"/>
              </a:rPr>
              <a:t> </a:t>
            </a:r>
            <a:r>
              <a:rPr sz="3200" b="1" spc="-5" dirty="0">
                <a:solidFill>
                  <a:srgbClr val="1F487C"/>
                </a:solidFill>
                <a:latin typeface="Times New Roman"/>
                <a:cs typeface="Times New Roman"/>
              </a:rPr>
              <a:t>Two</a:t>
            </a:r>
            <a:r>
              <a:rPr sz="3200" b="1" spc="-15" dirty="0">
                <a:solidFill>
                  <a:srgbClr val="1F487C"/>
                </a:solidFill>
                <a:latin typeface="Times New Roman"/>
                <a:cs typeface="Times New Roman"/>
              </a:rPr>
              <a:t> </a:t>
            </a:r>
            <a:r>
              <a:rPr sz="3200" b="1" spc="-5" dirty="0">
                <a:solidFill>
                  <a:srgbClr val="1F487C"/>
                </a:solidFill>
                <a:latin typeface="Times New Roman"/>
                <a:cs typeface="Times New Roman"/>
              </a:rPr>
              <a:t>Cultures”</a:t>
            </a:r>
            <a:endParaRPr sz="3200" dirty="0">
              <a:latin typeface="Times New Roman"/>
              <a:cs typeface="Times New Roman"/>
            </a:endParaRPr>
          </a:p>
        </p:txBody>
      </p:sp>
      <p:sp>
        <p:nvSpPr>
          <p:cNvPr id="3" name="object 3"/>
          <p:cNvSpPr txBox="1"/>
          <p:nvPr/>
        </p:nvSpPr>
        <p:spPr>
          <a:xfrm>
            <a:off x="774700" y="885825"/>
            <a:ext cx="8218171" cy="574516"/>
          </a:xfrm>
          <a:prstGeom prst="rect">
            <a:avLst/>
          </a:prstGeom>
        </p:spPr>
        <p:txBody>
          <a:bodyPr vert="horz" wrap="square" lIns="0" tIns="48260" rIns="0" bIns="0" rtlCol="0">
            <a:spAutoFit/>
          </a:bodyPr>
          <a:lstStyle/>
          <a:p>
            <a:pPr marL="12700" marR="5080" indent="1078865">
              <a:lnSpc>
                <a:spcPts val="4140"/>
              </a:lnSpc>
              <a:spcBef>
                <a:spcPts val="380"/>
              </a:spcBef>
            </a:pPr>
            <a:r>
              <a:rPr sz="3200" b="1" dirty="0">
                <a:solidFill>
                  <a:srgbClr val="1F487C"/>
                </a:solidFill>
                <a:latin typeface="Times New Roman"/>
                <a:cs typeface="Times New Roman"/>
              </a:rPr>
              <a:t>Leo Breiman, </a:t>
            </a:r>
            <a:r>
              <a:rPr sz="3200" b="1" spc="5" dirty="0">
                <a:solidFill>
                  <a:srgbClr val="1F487C"/>
                </a:solidFill>
                <a:latin typeface="Times New Roman"/>
                <a:cs typeface="Times New Roman"/>
              </a:rPr>
              <a:t> </a:t>
            </a:r>
            <a:r>
              <a:rPr sz="3200" b="1" spc="-5" dirty="0">
                <a:solidFill>
                  <a:srgbClr val="1F487C"/>
                </a:solidFill>
                <a:latin typeface="Times New Roman"/>
                <a:cs typeface="Times New Roman"/>
              </a:rPr>
              <a:t>Statistical</a:t>
            </a:r>
            <a:r>
              <a:rPr sz="3200" b="1" spc="-35" dirty="0">
                <a:solidFill>
                  <a:srgbClr val="1F487C"/>
                </a:solidFill>
                <a:latin typeface="Times New Roman"/>
                <a:cs typeface="Times New Roman"/>
              </a:rPr>
              <a:t> </a:t>
            </a:r>
            <a:r>
              <a:rPr sz="3200" b="1" spc="-5" dirty="0">
                <a:solidFill>
                  <a:srgbClr val="1F487C"/>
                </a:solidFill>
                <a:latin typeface="Times New Roman"/>
                <a:cs typeface="Times New Roman"/>
              </a:rPr>
              <a:t>Science</a:t>
            </a:r>
            <a:r>
              <a:rPr sz="3200" b="1" spc="-40" dirty="0">
                <a:solidFill>
                  <a:srgbClr val="1F487C"/>
                </a:solidFill>
                <a:latin typeface="Times New Roman"/>
                <a:cs typeface="Times New Roman"/>
              </a:rPr>
              <a:t> </a:t>
            </a:r>
            <a:r>
              <a:rPr sz="3200" b="1" dirty="0">
                <a:solidFill>
                  <a:srgbClr val="1F487C"/>
                </a:solidFill>
                <a:latin typeface="Times New Roman"/>
                <a:cs typeface="Times New Roman"/>
              </a:rPr>
              <a:t>(2001)</a:t>
            </a:r>
            <a:endParaRPr sz="3200" dirty="0">
              <a:latin typeface="Times New Roman"/>
              <a:cs typeface="Times New Roman"/>
            </a:endParaRPr>
          </a:p>
        </p:txBody>
      </p:sp>
      <p:sp>
        <p:nvSpPr>
          <p:cNvPr id="4" name="CuadroTexto 3"/>
          <p:cNvSpPr txBox="1"/>
          <p:nvPr/>
        </p:nvSpPr>
        <p:spPr>
          <a:xfrm>
            <a:off x="241300" y="1419225"/>
            <a:ext cx="10134600" cy="5909310"/>
          </a:xfrm>
          <a:prstGeom prst="rect">
            <a:avLst/>
          </a:prstGeom>
          <a:noFill/>
        </p:spPr>
        <p:txBody>
          <a:bodyPr wrap="square" rtlCol="0">
            <a:spAutoFit/>
          </a:bodyPr>
          <a:lstStyle/>
          <a:p>
            <a:pPr algn="just"/>
            <a:r>
              <a:rPr lang="es-ES" dirty="0" smtClean="0"/>
              <a:t>En este artículo se presenta una comparativa entre ambos puntos de vista, planteando los pros/contras de cada una de ellas.</a:t>
            </a:r>
          </a:p>
          <a:p>
            <a:pPr algn="just"/>
            <a:endParaRPr lang="es-ES" dirty="0" smtClean="0"/>
          </a:p>
          <a:p>
            <a:pPr algn="just"/>
            <a:r>
              <a:rPr lang="es-ES" dirty="0" smtClean="0"/>
              <a:t>Proporciona una visión de la </a:t>
            </a:r>
            <a:r>
              <a:rPr lang="es-ES" b="1" dirty="0" smtClean="0"/>
              <a:t>modelización estocástica</a:t>
            </a:r>
            <a:r>
              <a:rPr lang="es-ES" dirty="0" smtClean="0"/>
              <a:t> y otra de la </a:t>
            </a:r>
            <a:r>
              <a:rPr lang="es-ES" b="1" dirty="0" smtClean="0"/>
              <a:t>modelización algorítmica</a:t>
            </a:r>
            <a:r>
              <a:rPr lang="es-ES" dirty="0" smtClean="0"/>
              <a:t>.</a:t>
            </a:r>
          </a:p>
          <a:p>
            <a:pPr algn="just"/>
            <a:endParaRPr lang="es-ES" dirty="0" smtClean="0"/>
          </a:p>
          <a:p>
            <a:pPr algn="just"/>
            <a:r>
              <a:rPr lang="es-ES" dirty="0" smtClean="0"/>
              <a:t>Normalmente se tiene un </a:t>
            </a:r>
            <a:r>
              <a:rPr lang="es-ES" b="1" dirty="0" smtClean="0"/>
              <a:t>conjunto de datos</a:t>
            </a:r>
            <a:r>
              <a:rPr lang="es-ES" dirty="0" smtClean="0"/>
              <a:t> y una </a:t>
            </a:r>
            <a:r>
              <a:rPr lang="es-ES" b="1" dirty="0" smtClean="0"/>
              <a:t>caja negra </a:t>
            </a:r>
            <a:r>
              <a:rPr lang="es-ES" dirty="0" smtClean="0"/>
              <a:t>para su explicación:</a:t>
            </a:r>
          </a:p>
          <a:p>
            <a:pPr algn="just"/>
            <a:r>
              <a:rPr lang="es-ES" dirty="0" smtClean="0"/>
              <a:t>una serie de variables de entrada; a partir de esta caja negra se puede entender la relación entre las variables de entrada y la de salida con el objetivo de </a:t>
            </a:r>
            <a:r>
              <a:rPr lang="es-ES" dirty="0" smtClean="0">
                <a:solidFill>
                  <a:srgbClr val="C00000"/>
                </a:solidFill>
              </a:rPr>
              <a:t>predecir</a:t>
            </a:r>
            <a:r>
              <a:rPr lang="es-ES" dirty="0" smtClean="0"/>
              <a:t>, </a:t>
            </a:r>
            <a:r>
              <a:rPr lang="es-ES" dirty="0" smtClean="0">
                <a:solidFill>
                  <a:srgbClr val="C00000"/>
                </a:solidFill>
              </a:rPr>
              <a:t>clasificar</a:t>
            </a:r>
            <a:r>
              <a:rPr lang="es-ES" dirty="0" smtClean="0"/>
              <a:t> o simplemente obtener una </a:t>
            </a:r>
            <a:r>
              <a:rPr lang="es-ES" dirty="0" smtClean="0">
                <a:solidFill>
                  <a:srgbClr val="C00000"/>
                </a:solidFill>
              </a:rPr>
              <a:t>explicación</a:t>
            </a:r>
            <a:r>
              <a:rPr lang="es-ES" dirty="0" smtClean="0"/>
              <a:t> sobre la variable respuesta.</a:t>
            </a:r>
          </a:p>
          <a:p>
            <a:pPr algn="just"/>
            <a:endParaRPr lang="es-ES" dirty="0" smtClean="0"/>
          </a:p>
          <a:p>
            <a:pPr algn="just"/>
            <a:r>
              <a:rPr lang="es-ES" dirty="0" smtClean="0"/>
              <a:t>Desde las perspectiva de la </a:t>
            </a:r>
            <a:r>
              <a:rPr lang="es-ES" b="1" dirty="0" smtClean="0"/>
              <a:t>modelización estocástica</a:t>
            </a:r>
            <a:r>
              <a:rPr lang="es-ES" dirty="0" smtClean="0"/>
              <a:t> se considera que dentro de la </a:t>
            </a:r>
            <a:r>
              <a:rPr lang="es-ES" dirty="0" smtClean="0">
                <a:solidFill>
                  <a:srgbClr val="C00000"/>
                </a:solidFill>
              </a:rPr>
              <a:t>caja negra </a:t>
            </a:r>
            <a:r>
              <a:rPr lang="es-ES" dirty="0" smtClean="0"/>
              <a:t>hay </a:t>
            </a:r>
            <a:r>
              <a:rPr lang="es-ES" dirty="0" smtClean="0">
                <a:solidFill>
                  <a:srgbClr val="C00000"/>
                </a:solidFill>
              </a:rPr>
              <a:t>modelos estocásticos </a:t>
            </a:r>
            <a:r>
              <a:rPr lang="es-ES" dirty="0" smtClean="0"/>
              <a:t>en los que </a:t>
            </a:r>
            <a:r>
              <a:rPr lang="es-ES" dirty="0" smtClean="0">
                <a:solidFill>
                  <a:srgbClr val="C00000"/>
                </a:solidFill>
              </a:rPr>
              <a:t>se conocen los parámetros asociados a cada variable</a:t>
            </a:r>
            <a:r>
              <a:rPr lang="es-ES" dirty="0" smtClean="0"/>
              <a:t>, la importancia de las mismas, el error cometido, los parámetros estimados, etc. Esto permite establecer una función “sencilla” (regresión lineal, logística, clúster….) que relaciona las variables de entrada con la de salida. Para validar estos modelos se evalúa la efectividad mediante el </a:t>
            </a:r>
            <a:r>
              <a:rPr lang="es-ES" dirty="0" smtClean="0">
                <a:solidFill>
                  <a:srgbClr val="C00000"/>
                </a:solidFill>
              </a:rPr>
              <a:t>análisis de los residuos</a:t>
            </a:r>
            <a:r>
              <a:rPr lang="es-ES" dirty="0" smtClean="0"/>
              <a:t>.</a:t>
            </a:r>
          </a:p>
          <a:p>
            <a:pPr algn="just"/>
            <a:endParaRPr lang="es-ES" dirty="0" smtClean="0"/>
          </a:p>
          <a:p>
            <a:pPr algn="just"/>
            <a:r>
              <a:rPr lang="es-ES" dirty="0" smtClean="0"/>
              <a:t>Desde la perspectiva de la </a:t>
            </a:r>
            <a:r>
              <a:rPr lang="es-ES" b="1" dirty="0" smtClean="0"/>
              <a:t>modelización algorítmica </a:t>
            </a:r>
            <a:r>
              <a:rPr lang="es-ES" dirty="0" smtClean="0"/>
              <a:t>el </a:t>
            </a:r>
            <a:r>
              <a:rPr lang="es-ES" dirty="0" smtClean="0">
                <a:solidFill>
                  <a:srgbClr val="C00000"/>
                </a:solidFill>
              </a:rPr>
              <a:t>interior</a:t>
            </a:r>
            <a:r>
              <a:rPr lang="es-ES" dirty="0" smtClean="0"/>
              <a:t> de la </a:t>
            </a:r>
            <a:r>
              <a:rPr lang="es-ES" dirty="0" smtClean="0">
                <a:solidFill>
                  <a:srgbClr val="C00000"/>
                </a:solidFill>
              </a:rPr>
              <a:t>caja</a:t>
            </a:r>
            <a:r>
              <a:rPr lang="es-ES" dirty="0" smtClean="0"/>
              <a:t> </a:t>
            </a:r>
            <a:r>
              <a:rPr lang="es-ES" dirty="0" smtClean="0">
                <a:solidFill>
                  <a:srgbClr val="C00000"/>
                </a:solidFill>
              </a:rPr>
              <a:t>negra</a:t>
            </a:r>
            <a:r>
              <a:rPr lang="es-ES" dirty="0" smtClean="0"/>
              <a:t> es totalmente </a:t>
            </a:r>
            <a:r>
              <a:rPr lang="es-ES" dirty="0" smtClean="0">
                <a:solidFill>
                  <a:srgbClr val="C00000"/>
                </a:solidFill>
              </a:rPr>
              <a:t>desconocido</a:t>
            </a:r>
            <a:r>
              <a:rPr lang="es-ES" dirty="0" smtClean="0"/>
              <a:t>. Se construye una función que relaciona las variables de entrada con la independiente. No se puede determinar la influencia de cada variable sobre el objetivo. </a:t>
            </a:r>
            <a:r>
              <a:rPr lang="es-ES" b="1" dirty="0" smtClean="0"/>
              <a:t>No es posible hacer la validación mediante test ni análisis de los residuos</a:t>
            </a:r>
            <a:r>
              <a:rPr lang="es-ES" dirty="0" smtClean="0"/>
              <a:t>. Para evaluar estos métodos se analiza la diferencia entre los valores reales y los predichos, técnicas de validación cruzada, </a:t>
            </a:r>
            <a:r>
              <a:rPr lang="es-ES" i="1" dirty="0" smtClean="0"/>
              <a:t>training/test. </a:t>
            </a:r>
            <a:r>
              <a:rPr lang="es-ES" dirty="0" smtClean="0">
                <a:solidFill>
                  <a:srgbClr val="C00000"/>
                </a:solidFill>
              </a:rPr>
              <a:t>NECESARIO GRAN VOLUMEN DE DATOS</a:t>
            </a:r>
            <a:r>
              <a:rPr lang="es-ES" dirty="0" smtClean="0"/>
              <a:t>.</a:t>
            </a:r>
            <a:endParaRPr lang="es-E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14382" y="562114"/>
            <a:ext cx="5350185" cy="649591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317500" y="2638425"/>
            <a:ext cx="9662795" cy="2031325"/>
          </a:xfrm>
        </p:spPr>
        <p:txBody>
          <a:bodyPr/>
          <a:lstStyle/>
          <a:p>
            <a:pPr algn="ctr"/>
            <a:r>
              <a:rPr lang="es-ES" sz="4400" b="1" dirty="0">
                <a:solidFill>
                  <a:schemeClr val="tx2"/>
                </a:solidFill>
              </a:rPr>
              <a:t>¿</a:t>
            </a:r>
            <a:r>
              <a:rPr lang="es-ES" sz="4400" b="1" dirty="0" smtClean="0">
                <a:solidFill>
                  <a:schemeClr val="tx2"/>
                </a:solidFill>
              </a:rPr>
              <a:t>Métodos Estocásticos </a:t>
            </a:r>
          </a:p>
          <a:p>
            <a:pPr algn="ctr"/>
            <a:r>
              <a:rPr lang="es-ES" sz="4400" b="1" dirty="0" smtClean="0">
                <a:solidFill>
                  <a:schemeClr val="tx2"/>
                </a:solidFill>
              </a:rPr>
              <a:t>VS</a:t>
            </a:r>
          </a:p>
          <a:p>
            <a:pPr algn="ctr"/>
            <a:r>
              <a:rPr lang="es-ES" sz="4400" b="1" dirty="0" smtClean="0">
                <a:solidFill>
                  <a:schemeClr val="tx2"/>
                </a:solidFill>
              </a:rPr>
              <a:t>Métodos Algorítmicos?</a:t>
            </a:r>
            <a:endParaRPr lang="es-ES" sz="4400" b="1" dirty="0">
              <a:solidFill>
                <a:schemeClr val="tx2"/>
              </a:solidFill>
            </a:endParaRPr>
          </a:p>
        </p:txBody>
      </p:sp>
    </p:spTree>
    <p:extLst>
      <p:ext uri="{BB962C8B-B14F-4D97-AF65-F5344CB8AC3E}">
        <p14:creationId xmlns:p14="http://schemas.microsoft.com/office/powerpoint/2010/main" val="37592867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7472" y="314959"/>
            <a:ext cx="9310828" cy="566822"/>
          </a:xfrm>
          <a:prstGeom prst="rect">
            <a:avLst/>
          </a:prstGeom>
        </p:spPr>
        <p:txBody>
          <a:bodyPr vert="horz" wrap="square" lIns="0" tIns="12700" rIns="0" bIns="0" rtlCol="0">
            <a:spAutoFit/>
          </a:bodyPr>
          <a:lstStyle/>
          <a:p>
            <a:pPr marL="12700">
              <a:lnSpc>
                <a:spcPct val="100000"/>
              </a:lnSpc>
              <a:spcBef>
                <a:spcPts val="100"/>
              </a:spcBef>
            </a:pPr>
            <a:r>
              <a:rPr lang="es-ES" sz="3600" b="1" dirty="0" smtClean="0">
                <a:solidFill>
                  <a:srgbClr val="1F487C"/>
                </a:solidFill>
              </a:rPr>
              <a:t>1. L</a:t>
            </a:r>
            <a:r>
              <a:rPr sz="3600" b="1" dirty="0" err="1" smtClean="0">
                <a:solidFill>
                  <a:srgbClr val="1F487C"/>
                </a:solidFill>
                <a:latin typeface="Times New Roman"/>
                <a:cs typeface="Times New Roman"/>
              </a:rPr>
              <a:t>imitaciones</a:t>
            </a:r>
            <a:r>
              <a:rPr sz="3600" b="1" spc="-20" dirty="0" smtClean="0">
                <a:solidFill>
                  <a:srgbClr val="1F487C"/>
                </a:solidFill>
                <a:latin typeface="Times New Roman"/>
                <a:cs typeface="Times New Roman"/>
              </a:rPr>
              <a:t> </a:t>
            </a:r>
            <a:r>
              <a:rPr sz="3600" b="1" dirty="0">
                <a:solidFill>
                  <a:srgbClr val="1F487C"/>
                </a:solidFill>
                <a:latin typeface="Times New Roman"/>
                <a:cs typeface="Times New Roman"/>
              </a:rPr>
              <a:t>en</a:t>
            </a:r>
            <a:r>
              <a:rPr sz="3600" b="1" spc="-20" dirty="0">
                <a:solidFill>
                  <a:srgbClr val="1F487C"/>
                </a:solidFill>
                <a:latin typeface="Times New Roman"/>
                <a:cs typeface="Times New Roman"/>
              </a:rPr>
              <a:t> </a:t>
            </a:r>
            <a:r>
              <a:rPr sz="3600" b="1" dirty="0">
                <a:solidFill>
                  <a:srgbClr val="1F487C"/>
                </a:solidFill>
                <a:latin typeface="Times New Roman"/>
                <a:cs typeface="Times New Roman"/>
              </a:rPr>
              <a:t>los</a:t>
            </a:r>
            <a:r>
              <a:rPr sz="3600" b="1" spc="-15" dirty="0">
                <a:solidFill>
                  <a:srgbClr val="1F487C"/>
                </a:solidFill>
                <a:latin typeface="Times New Roman"/>
                <a:cs typeface="Times New Roman"/>
              </a:rPr>
              <a:t> </a:t>
            </a:r>
            <a:r>
              <a:rPr sz="3600" b="1" spc="-5" dirty="0">
                <a:solidFill>
                  <a:srgbClr val="1F487C"/>
                </a:solidFill>
                <a:latin typeface="Times New Roman"/>
                <a:cs typeface="Times New Roman"/>
              </a:rPr>
              <a:t>modelos</a:t>
            </a:r>
            <a:r>
              <a:rPr sz="3600" b="1" spc="-20" dirty="0">
                <a:solidFill>
                  <a:srgbClr val="1F487C"/>
                </a:solidFill>
                <a:latin typeface="Times New Roman"/>
                <a:cs typeface="Times New Roman"/>
              </a:rPr>
              <a:t> </a:t>
            </a:r>
            <a:r>
              <a:rPr sz="3600" b="1" dirty="0">
                <a:solidFill>
                  <a:srgbClr val="1F487C"/>
                </a:solidFill>
                <a:latin typeface="Times New Roman"/>
                <a:cs typeface="Times New Roman"/>
              </a:rPr>
              <a:t>estadísticos</a:t>
            </a:r>
            <a:endParaRPr sz="3600" dirty="0">
              <a:latin typeface="Times New Roman"/>
              <a:cs typeface="Times New Roman"/>
            </a:endParaRPr>
          </a:p>
        </p:txBody>
      </p:sp>
      <p:sp>
        <p:nvSpPr>
          <p:cNvPr id="3" name="object 3"/>
          <p:cNvSpPr txBox="1"/>
          <p:nvPr/>
        </p:nvSpPr>
        <p:spPr>
          <a:xfrm>
            <a:off x="311326" y="2790825"/>
            <a:ext cx="10064574" cy="4489691"/>
          </a:xfrm>
          <a:prstGeom prst="rect">
            <a:avLst/>
          </a:prstGeom>
        </p:spPr>
        <p:txBody>
          <a:bodyPr vert="horz" wrap="square" lIns="0" tIns="39370" rIns="0" bIns="0" rtlCol="0">
            <a:spAutoFit/>
          </a:bodyPr>
          <a:lstStyle/>
          <a:p>
            <a:pPr marL="419100" marR="3221990" indent="-342900" algn="just">
              <a:lnSpc>
                <a:spcPts val="2990"/>
              </a:lnSpc>
              <a:spcBef>
                <a:spcPts val="310"/>
              </a:spcBef>
              <a:buFont typeface="Arial" panose="020B0604020202020204" pitchFamily="34" charset="0"/>
              <a:buChar char="•"/>
              <a:tabLst>
                <a:tab pos="4204970" algn="l"/>
              </a:tabLst>
            </a:pPr>
            <a:r>
              <a:rPr sz="2000" b="1" spc="-5" dirty="0" err="1" smtClean="0">
                <a:latin typeface="Times New Roman"/>
                <a:cs typeface="Times New Roman"/>
              </a:rPr>
              <a:t>Regresión</a:t>
            </a:r>
            <a:r>
              <a:rPr lang="es-ES" sz="2000" b="1" spc="-5" dirty="0" smtClean="0">
                <a:latin typeface="Times New Roman"/>
                <a:cs typeface="Times New Roman"/>
              </a:rPr>
              <a:t> lineal</a:t>
            </a:r>
            <a:r>
              <a:rPr sz="2000" spc="-5" dirty="0" smtClean="0">
                <a:latin typeface="Times New Roman"/>
                <a:cs typeface="Times New Roman"/>
              </a:rPr>
              <a:t>:</a:t>
            </a:r>
            <a:r>
              <a:rPr lang="es-ES" sz="2000" spc="-5" dirty="0" smtClean="0">
                <a:latin typeface="Times New Roman"/>
                <a:cs typeface="Times New Roman"/>
              </a:rPr>
              <a:t> </a:t>
            </a:r>
            <a:r>
              <a:rPr sz="2000" i="1" spc="-5" dirty="0" smtClean="0">
                <a:latin typeface="Times New Roman"/>
                <a:cs typeface="Times New Roman"/>
              </a:rPr>
              <a:t>y=b</a:t>
            </a:r>
            <a:r>
              <a:rPr sz="2000" i="1" spc="-7" baseline="-11437" dirty="0" smtClean="0">
                <a:latin typeface="Times New Roman"/>
                <a:cs typeface="Times New Roman"/>
              </a:rPr>
              <a:t>0</a:t>
            </a:r>
            <a:r>
              <a:rPr sz="2000" i="1" spc="-5" dirty="0" smtClean="0">
                <a:latin typeface="Times New Roman"/>
                <a:cs typeface="Times New Roman"/>
              </a:rPr>
              <a:t>+b</a:t>
            </a:r>
            <a:r>
              <a:rPr sz="2000" i="1" spc="-7" baseline="-11437" dirty="0" smtClean="0">
                <a:latin typeface="Times New Roman"/>
                <a:cs typeface="Times New Roman"/>
              </a:rPr>
              <a:t>1</a:t>
            </a:r>
            <a:r>
              <a:rPr sz="2000" i="1" spc="-5" dirty="0" smtClean="0">
                <a:latin typeface="Times New Roman"/>
                <a:cs typeface="Times New Roman"/>
              </a:rPr>
              <a:t>x</a:t>
            </a:r>
            <a:r>
              <a:rPr sz="2000" i="1" spc="-7" baseline="-11437" dirty="0" smtClean="0">
                <a:latin typeface="Times New Roman"/>
                <a:cs typeface="Times New Roman"/>
              </a:rPr>
              <a:t>1</a:t>
            </a:r>
            <a:r>
              <a:rPr sz="2000" i="1" spc="-5" dirty="0" smtClean="0">
                <a:latin typeface="Times New Roman"/>
                <a:cs typeface="Times New Roman"/>
              </a:rPr>
              <a:t>+b</a:t>
            </a:r>
            <a:r>
              <a:rPr sz="2000" i="1" spc="-7" baseline="-11437" dirty="0" smtClean="0">
                <a:latin typeface="Times New Roman"/>
                <a:cs typeface="Times New Roman"/>
              </a:rPr>
              <a:t>2</a:t>
            </a:r>
            <a:r>
              <a:rPr sz="2000" i="1" spc="-5" dirty="0" smtClean="0">
                <a:latin typeface="Times New Roman"/>
                <a:cs typeface="Times New Roman"/>
              </a:rPr>
              <a:t>x</a:t>
            </a:r>
            <a:r>
              <a:rPr sz="2000" i="1" spc="-7" baseline="-11437" dirty="0" smtClean="0">
                <a:latin typeface="Times New Roman"/>
                <a:cs typeface="Times New Roman"/>
              </a:rPr>
              <a:t>2</a:t>
            </a:r>
            <a:r>
              <a:rPr sz="2000" i="1" spc="-5" dirty="0" smtClean="0">
                <a:latin typeface="Times New Roman"/>
                <a:cs typeface="Times New Roman"/>
              </a:rPr>
              <a:t>+e </a:t>
            </a:r>
            <a:r>
              <a:rPr sz="2000" i="1" dirty="0" smtClean="0">
                <a:latin typeface="Times New Roman"/>
                <a:cs typeface="Times New Roman"/>
              </a:rPr>
              <a:t> </a:t>
            </a:r>
            <a:endParaRPr lang="es-ES" sz="2000" i="1" dirty="0" smtClean="0">
              <a:latin typeface="Times New Roman"/>
              <a:cs typeface="Times New Roman"/>
            </a:endParaRPr>
          </a:p>
          <a:p>
            <a:pPr marL="419100" marR="3221990" indent="-342900" algn="just">
              <a:lnSpc>
                <a:spcPts val="2990"/>
              </a:lnSpc>
              <a:spcBef>
                <a:spcPts val="310"/>
              </a:spcBef>
              <a:buFont typeface="Arial" panose="020B0604020202020204" pitchFamily="34" charset="0"/>
              <a:buChar char="•"/>
              <a:tabLst>
                <a:tab pos="4204970" algn="l"/>
              </a:tabLst>
            </a:pPr>
            <a:r>
              <a:rPr sz="2000" b="1" spc="-5" dirty="0" err="1" smtClean="0">
                <a:latin typeface="Times New Roman"/>
                <a:cs typeface="Times New Roman"/>
              </a:rPr>
              <a:t>Regresión</a:t>
            </a:r>
            <a:r>
              <a:rPr sz="2000" b="1" spc="10" dirty="0" smtClean="0">
                <a:latin typeface="Times New Roman"/>
                <a:cs typeface="Times New Roman"/>
              </a:rPr>
              <a:t> </a:t>
            </a:r>
            <a:r>
              <a:rPr sz="2000" b="1" spc="-5" dirty="0">
                <a:latin typeface="Times New Roman"/>
                <a:cs typeface="Times New Roman"/>
              </a:rPr>
              <a:t>logística</a:t>
            </a:r>
            <a:r>
              <a:rPr sz="2000" spc="-5" dirty="0">
                <a:latin typeface="Times New Roman"/>
                <a:cs typeface="Times New Roman"/>
              </a:rPr>
              <a:t>:</a:t>
            </a:r>
            <a:r>
              <a:rPr sz="2000" spc="20" dirty="0">
                <a:latin typeface="Times New Roman"/>
                <a:cs typeface="Times New Roman"/>
              </a:rPr>
              <a:t> </a:t>
            </a:r>
            <a:r>
              <a:rPr sz="2000" i="1" spc="-5" dirty="0">
                <a:latin typeface="Times New Roman"/>
                <a:cs typeface="Times New Roman"/>
              </a:rPr>
              <a:t>log(p/(1-p))=b</a:t>
            </a:r>
            <a:r>
              <a:rPr sz="2000" i="1" spc="-7" baseline="-11437" dirty="0">
                <a:latin typeface="Times New Roman"/>
                <a:cs typeface="Times New Roman"/>
              </a:rPr>
              <a:t>0</a:t>
            </a:r>
            <a:r>
              <a:rPr sz="2000" i="1" spc="-5" dirty="0">
                <a:latin typeface="Times New Roman"/>
                <a:cs typeface="Times New Roman"/>
              </a:rPr>
              <a:t>+b</a:t>
            </a:r>
            <a:r>
              <a:rPr sz="2000" i="1" spc="-7" baseline="-11437" dirty="0">
                <a:latin typeface="Times New Roman"/>
                <a:cs typeface="Times New Roman"/>
              </a:rPr>
              <a:t>1</a:t>
            </a:r>
            <a:r>
              <a:rPr sz="2000" i="1" spc="-5" dirty="0">
                <a:latin typeface="Times New Roman"/>
                <a:cs typeface="Times New Roman"/>
              </a:rPr>
              <a:t>x</a:t>
            </a:r>
            <a:r>
              <a:rPr sz="2000" i="1" spc="-7" baseline="-11437" dirty="0">
                <a:latin typeface="Times New Roman"/>
                <a:cs typeface="Times New Roman"/>
              </a:rPr>
              <a:t>1</a:t>
            </a:r>
            <a:r>
              <a:rPr sz="2000" i="1" spc="-5" dirty="0">
                <a:latin typeface="Times New Roman"/>
                <a:cs typeface="Times New Roman"/>
              </a:rPr>
              <a:t>+b</a:t>
            </a:r>
            <a:r>
              <a:rPr sz="2000" i="1" spc="-7" baseline="-11437" dirty="0">
                <a:latin typeface="Times New Roman"/>
                <a:cs typeface="Times New Roman"/>
              </a:rPr>
              <a:t>2</a:t>
            </a:r>
            <a:r>
              <a:rPr sz="2000" i="1" spc="-5" dirty="0">
                <a:latin typeface="Times New Roman"/>
                <a:cs typeface="Times New Roman"/>
              </a:rPr>
              <a:t>x</a:t>
            </a:r>
            <a:r>
              <a:rPr sz="2000" i="1" spc="-7" baseline="-11437" dirty="0">
                <a:latin typeface="Times New Roman"/>
                <a:cs typeface="Times New Roman"/>
              </a:rPr>
              <a:t>2</a:t>
            </a:r>
            <a:r>
              <a:rPr sz="2000" i="1" spc="-5" dirty="0">
                <a:latin typeface="Times New Roman"/>
                <a:cs typeface="Times New Roman"/>
              </a:rPr>
              <a:t>+e</a:t>
            </a:r>
            <a:endParaRPr sz="2000" i="1" dirty="0">
              <a:latin typeface="Times New Roman"/>
              <a:cs typeface="Times New Roman"/>
            </a:endParaRPr>
          </a:p>
          <a:p>
            <a:pPr algn="just">
              <a:lnSpc>
                <a:spcPct val="100000"/>
              </a:lnSpc>
              <a:spcBef>
                <a:spcPts val="5"/>
              </a:spcBef>
            </a:pPr>
            <a:endParaRPr sz="2000" dirty="0">
              <a:latin typeface="Times New Roman"/>
              <a:cs typeface="Times New Roman"/>
            </a:endParaRPr>
          </a:p>
          <a:p>
            <a:pPr marL="76200" marR="281940" algn="just">
              <a:lnSpc>
                <a:spcPts val="2990"/>
              </a:lnSpc>
            </a:pPr>
            <a:r>
              <a:rPr sz="2000" b="1" spc="-5" dirty="0">
                <a:solidFill>
                  <a:srgbClr val="4F6128"/>
                </a:solidFill>
                <a:latin typeface="Times New Roman"/>
                <a:cs typeface="Times New Roman"/>
              </a:rPr>
              <a:t>Complejidad </a:t>
            </a:r>
            <a:r>
              <a:rPr sz="2000" b="1" dirty="0">
                <a:solidFill>
                  <a:srgbClr val="4F6128"/>
                </a:solidFill>
                <a:latin typeface="Times New Roman"/>
                <a:cs typeface="Times New Roman"/>
              </a:rPr>
              <a:t>actual </a:t>
            </a:r>
            <a:r>
              <a:rPr sz="2000" b="1" spc="-5" dirty="0">
                <a:solidFill>
                  <a:srgbClr val="4F6128"/>
                </a:solidFill>
                <a:latin typeface="Times New Roman"/>
                <a:cs typeface="Times New Roman"/>
              </a:rPr>
              <a:t>de los </a:t>
            </a:r>
            <a:r>
              <a:rPr sz="2000" b="1" dirty="0">
                <a:solidFill>
                  <a:srgbClr val="4F6128"/>
                </a:solidFill>
                <a:latin typeface="Times New Roman"/>
                <a:cs typeface="Times New Roman"/>
              </a:rPr>
              <a:t>datos a tratar</a:t>
            </a:r>
            <a:r>
              <a:rPr sz="2000" dirty="0">
                <a:latin typeface="Times New Roman"/>
                <a:cs typeface="Times New Roman"/>
              </a:rPr>
              <a:t>: </a:t>
            </a:r>
            <a:r>
              <a:rPr sz="2000" spc="-5" dirty="0">
                <a:latin typeface="Times New Roman"/>
                <a:cs typeface="Times New Roman"/>
              </a:rPr>
              <a:t>número </a:t>
            </a:r>
            <a:r>
              <a:rPr sz="2000" dirty="0">
                <a:latin typeface="Times New Roman"/>
                <a:cs typeface="Times New Roman"/>
              </a:rPr>
              <a:t>y tipo </a:t>
            </a:r>
            <a:r>
              <a:rPr sz="2000" spc="-5" dirty="0">
                <a:latin typeface="Times New Roman"/>
                <a:cs typeface="Times New Roman"/>
              </a:rPr>
              <a:t>de variables, </a:t>
            </a:r>
            <a:r>
              <a:rPr sz="2000" dirty="0" err="1" smtClean="0">
                <a:latin typeface="Times New Roman"/>
                <a:cs typeface="Times New Roman"/>
              </a:rPr>
              <a:t>relaciones</a:t>
            </a:r>
            <a:r>
              <a:rPr sz="2000" dirty="0" smtClean="0">
                <a:latin typeface="Times New Roman"/>
                <a:cs typeface="Times New Roman"/>
              </a:rPr>
              <a:t> </a:t>
            </a:r>
            <a:r>
              <a:rPr sz="2000" dirty="0">
                <a:latin typeface="Times New Roman"/>
                <a:cs typeface="Times New Roman"/>
              </a:rPr>
              <a:t>oscuras, </a:t>
            </a:r>
            <a:r>
              <a:rPr lang="es-ES" sz="2000" dirty="0" smtClean="0">
                <a:latin typeface="Times New Roman"/>
                <a:cs typeface="Times New Roman"/>
              </a:rPr>
              <a:t>relaciones desconocidas, </a:t>
            </a:r>
            <a:r>
              <a:rPr sz="2000" spc="-5" dirty="0" err="1" smtClean="0">
                <a:latin typeface="Times New Roman"/>
                <a:cs typeface="Times New Roman"/>
              </a:rPr>
              <a:t>lineales</a:t>
            </a:r>
            <a:r>
              <a:rPr sz="2000" spc="-5" dirty="0" smtClean="0">
                <a:latin typeface="Times New Roman"/>
                <a:cs typeface="Times New Roman"/>
              </a:rPr>
              <a:t> </a:t>
            </a:r>
            <a:r>
              <a:rPr sz="2000" dirty="0">
                <a:latin typeface="Times New Roman"/>
                <a:cs typeface="Times New Roman"/>
              </a:rPr>
              <a:t>y </a:t>
            </a:r>
            <a:r>
              <a:rPr sz="2000" spc="-5" dirty="0">
                <a:latin typeface="Times New Roman"/>
                <a:cs typeface="Times New Roman"/>
              </a:rPr>
              <a:t>no lineales, </a:t>
            </a:r>
            <a:r>
              <a:rPr sz="2000" dirty="0">
                <a:latin typeface="Times New Roman"/>
                <a:cs typeface="Times New Roman"/>
              </a:rPr>
              <a:t>rangos </a:t>
            </a:r>
            <a:r>
              <a:rPr sz="2000" spc="-5" dirty="0">
                <a:latin typeface="Times New Roman"/>
                <a:cs typeface="Times New Roman"/>
              </a:rPr>
              <a:t>de </a:t>
            </a:r>
            <a:r>
              <a:rPr sz="2000" spc="-5" dirty="0" err="1" smtClean="0">
                <a:latin typeface="Times New Roman"/>
                <a:cs typeface="Times New Roman"/>
              </a:rPr>
              <a:t>diferente</a:t>
            </a:r>
            <a:r>
              <a:rPr lang="es-ES" sz="2000" spc="-5" dirty="0">
                <a:latin typeface="Times New Roman"/>
                <a:cs typeface="Times New Roman"/>
              </a:rPr>
              <a:t> </a:t>
            </a:r>
            <a:r>
              <a:rPr sz="2000" dirty="0" err="1" smtClean="0">
                <a:latin typeface="Times New Roman"/>
                <a:cs typeface="Times New Roman"/>
              </a:rPr>
              <a:t>comportamiento</a:t>
            </a:r>
            <a:r>
              <a:rPr sz="2000" dirty="0">
                <a:latin typeface="Times New Roman"/>
                <a:cs typeface="Times New Roman"/>
              </a:rPr>
              <a:t>, </a:t>
            </a:r>
            <a:r>
              <a:rPr sz="2000" spc="-5" dirty="0">
                <a:latin typeface="Times New Roman"/>
                <a:cs typeface="Times New Roman"/>
              </a:rPr>
              <a:t>las</a:t>
            </a:r>
            <a:r>
              <a:rPr sz="2000" spc="-10" dirty="0">
                <a:latin typeface="Times New Roman"/>
                <a:cs typeface="Times New Roman"/>
              </a:rPr>
              <a:t> </a:t>
            </a:r>
            <a:r>
              <a:rPr sz="2000" spc="-5" dirty="0">
                <a:latin typeface="Times New Roman"/>
                <a:cs typeface="Times New Roman"/>
              </a:rPr>
              <a:t>hipótesis de</a:t>
            </a:r>
            <a:r>
              <a:rPr sz="2000" dirty="0">
                <a:latin typeface="Times New Roman"/>
                <a:cs typeface="Times New Roman"/>
              </a:rPr>
              <a:t> </a:t>
            </a:r>
            <a:r>
              <a:rPr sz="2000" spc="-5" dirty="0">
                <a:latin typeface="Times New Roman"/>
                <a:cs typeface="Times New Roman"/>
              </a:rPr>
              <a:t>normalidad</a:t>
            </a:r>
            <a:r>
              <a:rPr sz="2000" spc="5" dirty="0">
                <a:latin typeface="Times New Roman"/>
                <a:cs typeface="Times New Roman"/>
              </a:rPr>
              <a:t> </a:t>
            </a:r>
            <a:r>
              <a:rPr sz="2000" spc="-5" dirty="0">
                <a:latin typeface="Times New Roman"/>
                <a:cs typeface="Times New Roman"/>
              </a:rPr>
              <a:t>no</a:t>
            </a:r>
            <a:r>
              <a:rPr sz="2000" dirty="0">
                <a:latin typeface="Times New Roman"/>
                <a:cs typeface="Times New Roman"/>
              </a:rPr>
              <a:t> </a:t>
            </a:r>
            <a:r>
              <a:rPr sz="2000" spc="-5" dirty="0">
                <a:latin typeface="Times New Roman"/>
                <a:cs typeface="Times New Roman"/>
              </a:rPr>
              <a:t>se</a:t>
            </a:r>
            <a:r>
              <a:rPr sz="2000" spc="-10" dirty="0">
                <a:latin typeface="Times New Roman"/>
                <a:cs typeface="Times New Roman"/>
              </a:rPr>
              <a:t> </a:t>
            </a:r>
            <a:r>
              <a:rPr sz="2000" spc="-5" dirty="0" err="1" smtClean="0">
                <a:latin typeface="Times New Roman"/>
                <a:cs typeface="Times New Roman"/>
              </a:rPr>
              <a:t>cumplen</a:t>
            </a:r>
            <a:r>
              <a:rPr lang="es-ES" sz="2000" spc="-5" dirty="0" smtClean="0">
                <a:latin typeface="Times New Roman"/>
                <a:cs typeface="Times New Roman"/>
              </a:rPr>
              <a:t> (sobre todo con grandes volúmenes de datos)</a:t>
            </a:r>
            <a:r>
              <a:rPr sz="2000" spc="-5" dirty="0" smtClean="0">
                <a:latin typeface="Times New Roman"/>
                <a:cs typeface="Times New Roman"/>
              </a:rPr>
              <a:t>,</a:t>
            </a:r>
            <a:r>
              <a:rPr sz="2000" dirty="0" smtClean="0">
                <a:latin typeface="Times New Roman"/>
                <a:cs typeface="Times New Roman"/>
              </a:rPr>
              <a:t> </a:t>
            </a:r>
            <a:r>
              <a:rPr lang="es-ES" sz="2000" dirty="0" smtClean="0">
                <a:latin typeface="Times New Roman"/>
                <a:cs typeface="Times New Roman"/>
              </a:rPr>
              <a:t>gran cantidad de observaciones, </a:t>
            </a:r>
            <a:r>
              <a:rPr sz="2000" spc="-5" dirty="0" smtClean="0">
                <a:latin typeface="Times New Roman"/>
                <a:cs typeface="Times New Roman"/>
              </a:rPr>
              <a:t>etc</a:t>
            </a:r>
            <a:r>
              <a:rPr sz="2000" spc="-5" dirty="0">
                <a:latin typeface="Times New Roman"/>
                <a:cs typeface="Times New Roman"/>
              </a:rPr>
              <a:t>.</a:t>
            </a:r>
            <a:endParaRPr sz="2000" dirty="0">
              <a:latin typeface="Times New Roman"/>
              <a:cs typeface="Times New Roman"/>
            </a:endParaRPr>
          </a:p>
          <a:p>
            <a:pPr marL="76200" algn="just">
              <a:lnSpc>
                <a:spcPts val="2910"/>
              </a:lnSpc>
            </a:pPr>
            <a:r>
              <a:rPr lang="es-ES" sz="2000" b="1" u="sng" spc="-5" dirty="0" smtClean="0">
                <a:solidFill>
                  <a:srgbClr val="4F6128"/>
                </a:solidFill>
                <a:latin typeface="Times New Roman"/>
                <a:cs typeface="Times New Roman"/>
              </a:rPr>
              <a:t>Ante estas </a:t>
            </a:r>
            <a:r>
              <a:rPr lang="es-ES" sz="2000" b="1" u="sng" spc="-5" dirty="0" err="1" smtClean="0">
                <a:solidFill>
                  <a:srgbClr val="4F6128"/>
                </a:solidFill>
                <a:latin typeface="Times New Roman"/>
                <a:cs typeface="Times New Roman"/>
              </a:rPr>
              <a:t>situaciónes</a:t>
            </a:r>
            <a:r>
              <a:rPr lang="es-ES" sz="2000" b="1" u="sng" spc="-5" dirty="0" smtClean="0">
                <a:solidFill>
                  <a:srgbClr val="4F6128"/>
                </a:solidFill>
                <a:latin typeface="Times New Roman"/>
                <a:cs typeface="Times New Roman"/>
              </a:rPr>
              <a:t> </a:t>
            </a:r>
            <a:r>
              <a:rPr lang="es-ES" sz="2000" b="1" u="sng" spc="-5" dirty="0">
                <a:solidFill>
                  <a:srgbClr val="4F6128"/>
                </a:solidFill>
                <a:latin typeface="Times New Roman"/>
                <a:cs typeface="Times New Roman"/>
              </a:rPr>
              <a:t>e</a:t>
            </a:r>
            <a:r>
              <a:rPr sz="2000" b="1" u="sng" spc="-5" dirty="0" smtClean="0">
                <a:solidFill>
                  <a:srgbClr val="4F6128"/>
                </a:solidFill>
                <a:latin typeface="Times New Roman"/>
                <a:cs typeface="Times New Roman"/>
              </a:rPr>
              <a:t>s </a:t>
            </a:r>
            <a:r>
              <a:rPr sz="2000" b="1" u="sng" spc="-5" dirty="0">
                <a:solidFill>
                  <a:srgbClr val="4F6128"/>
                </a:solidFill>
                <a:latin typeface="Times New Roman"/>
                <a:cs typeface="Times New Roman"/>
              </a:rPr>
              <a:t>difícil</a:t>
            </a:r>
            <a:r>
              <a:rPr sz="2000" b="1" u="sng" spc="10" dirty="0">
                <a:solidFill>
                  <a:srgbClr val="4F6128"/>
                </a:solidFill>
                <a:latin typeface="Times New Roman"/>
                <a:cs typeface="Times New Roman"/>
              </a:rPr>
              <a:t> </a:t>
            </a:r>
            <a:r>
              <a:rPr sz="2000" b="1" u="sng" spc="-5" dirty="0">
                <a:solidFill>
                  <a:srgbClr val="4F6128"/>
                </a:solidFill>
                <a:latin typeface="Times New Roman"/>
                <a:cs typeface="Times New Roman"/>
              </a:rPr>
              <a:t>establecer</a:t>
            </a:r>
            <a:r>
              <a:rPr sz="2000" b="1" u="sng" spc="5" dirty="0">
                <a:solidFill>
                  <a:srgbClr val="4F6128"/>
                </a:solidFill>
                <a:latin typeface="Times New Roman"/>
                <a:cs typeface="Times New Roman"/>
              </a:rPr>
              <a:t> </a:t>
            </a:r>
            <a:r>
              <a:rPr sz="2000" b="1" u="sng" spc="-5" dirty="0">
                <a:solidFill>
                  <a:srgbClr val="4F6128"/>
                </a:solidFill>
                <a:latin typeface="Times New Roman"/>
                <a:cs typeface="Times New Roman"/>
              </a:rPr>
              <a:t>un</a:t>
            </a:r>
            <a:r>
              <a:rPr sz="2000" b="1" u="sng" spc="10" dirty="0">
                <a:solidFill>
                  <a:srgbClr val="4F6128"/>
                </a:solidFill>
                <a:latin typeface="Times New Roman"/>
                <a:cs typeface="Times New Roman"/>
              </a:rPr>
              <a:t> </a:t>
            </a:r>
            <a:r>
              <a:rPr sz="2000" b="1" u="sng" spc="-5" dirty="0">
                <a:solidFill>
                  <a:srgbClr val="4F6128"/>
                </a:solidFill>
                <a:latin typeface="Times New Roman"/>
                <a:cs typeface="Times New Roman"/>
              </a:rPr>
              <a:t>modelo</a:t>
            </a:r>
            <a:r>
              <a:rPr sz="2000" b="1" u="sng" spc="5" dirty="0">
                <a:solidFill>
                  <a:srgbClr val="4F6128"/>
                </a:solidFill>
                <a:latin typeface="Times New Roman"/>
                <a:cs typeface="Times New Roman"/>
              </a:rPr>
              <a:t> </a:t>
            </a:r>
            <a:r>
              <a:rPr sz="2000" b="1" u="sng" dirty="0">
                <a:solidFill>
                  <a:srgbClr val="4F6128"/>
                </a:solidFill>
                <a:latin typeface="Times New Roman"/>
                <a:cs typeface="Times New Roman"/>
              </a:rPr>
              <a:t>y</a:t>
            </a:r>
            <a:r>
              <a:rPr sz="2000" b="1" u="sng" spc="15" dirty="0">
                <a:solidFill>
                  <a:srgbClr val="4F6128"/>
                </a:solidFill>
                <a:latin typeface="Times New Roman"/>
                <a:cs typeface="Times New Roman"/>
              </a:rPr>
              <a:t> </a:t>
            </a:r>
            <a:r>
              <a:rPr sz="2000" b="1" u="sng" dirty="0">
                <a:solidFill>
                  <a:srgbClr val="4F6128"/>
                </a:solidFill>
                <a:latin typeface="Times New Roman"/>
                <a:cs typeface="Times New Roman"/>
              </a:rPr>
              <a:t>es</a:t>
            </a:r>
            <a:r>
              <a:rPr sz="2000" b="1" u="sng" spc="-10" dirty="0">
                <a:solidFill>
                  <a:srgbClr val="4F6128"/>
                </a:solidFill>
                <a:latin typeface="Times New Roman"/>
                <a:cs typeface="Times New Roman"/>
              </a:rPr>
              <a:t> </a:t>
            </a:r>
            <a:r>
              <a:rPr sz="2000" b="1" u="sng" spc="-5" dirty="0">
                <a:solidFill>
                  <a:srgbClr val="4F6128"/>
                </a:solidFill>
                <a:latin typeface="Times New Roman"/>
                <a:cs typeface="Times New Roman"/>
              </a:rPr>
              <a:t>optimista</a:t>
            </a:r>
            <a:r>
              <a:rPr sz="2000" b="1" u="sng" spc="10" dirty="0">
                <a:solidFill>
                  <a:srgbClr val="4F6128"/>
                </a:solidFill>
                <a:latin typeface="Times New Roman"/>
                <a:cs typeface="Times New Roman"/>
              </a:rPr>
              <a:t> </a:t>
            </a:r>
            <a:r>
              <a:rPr sz="2000" b="1" u="sng" spc="-5" dirty="0">
                <a:solidFill>
                  <a:srgbClr val="4F6128"/>
                </a:solidFill>
                <a:latin typeface="Times New Roman"/>
                <a:cs typeface="Times New Roman"/>
              </a:rPr>
              <a:t>ceñirse </a:t>
            </a:r>
            <a:r>
              <a:rPr sz="2000" b="1" u="sng" dirty="0">
                <a:solidFill>
                  <a:srgbClr val="4F6128"/>
                </a:solidFill>
                <a:latin typeface="Times New Roman"/>
                <a:cs typeface="Times New Roman"/>
              </a:rPr>
              <a:t>a</a:t>
            </a:r>
            <a:r>
              <a:rPr sz="2000" b="1" u="sng" spc="10" dirty="0">
                <a:solidFill>
                  <a:srgbClr val="4F6128"/>
                </a:solidFill>
                <a:latin typeface="Times New Roman"/>
                <a:cs typeface="Times New Roman"/>
              </a:rPr>
              <a:t> </a:t>
            </a:r>
            <a:r>
              <a:rPr sz="2000" b="1" u="sng" spc="-5" dirty="0">
                <a:solidFill>
                  <a:srgbClr val="4F6128"/>
                </a:solidFill>
                <a:latin typeface="Times New Roman"/>
                <a:cs typeface="Times New Roman"/>
              </a:rPr>
              <a:t>él.</a:t>
            </a:r>
            <a:endParaRPr sz="2000" u="sng" dirty="0">
              <a:latin typeface="Times New Roman"/>
              <a:cs typeface="Times New Roman"/>
            </a:endParaRPr>
          </a:p>
          <a:p>
            <a:pPr algn="just">
              <a:lnSpc>
                <a:spcPct val="100000"/>
              </a:lnSpc>
              <a:spcBef>
                <a:spcPts val="20"/>
              </a:spcBef>
            </a:pPr>
            <a:endParaRPr sz="2000" dirty="0">
              <a:latin typeface="Times New Roman"/>
              <a:cs typeface="Times New Roman"/>
            </a:endParaRPr>
          </a:p>
          <a:p>
            <a:pPr marL="76200" marR="17780" algn="just">
              <a:lnSpc>
                <a:spcPts val="2990"/>
              </a:lnSpc>
            </a:pPr>
            <a:r>
              <a:rPr sz="2000" b="1" dirty="0">
                <a:solidFill>
                  <a:srgbClr val="FF0000"/>
                </a:solidFill>
                <a:latin typeface="Times New Roman"/>
                <a:cs typeface="Times New Roman"/>
              </a:rPr>
              <a:t>Los</a:t>
            </a:r>
            <a:r>
              <a:rPr sz="2000" b="1" spc="160" dirty="0">
                <a:solidFill>
                  <a:srgbClr val="FF0000"/>
                </a:solidFill>
                <a:latin typeface="Times New Roman"/>
                <a:cs typeface="Times New Roman"/>
              </a:rPr>
              <a:t> </a:t>
            </a:r>
            <a:r>
              <a:rPr sz="2000" b="1" dirty="0">
                <a:solidFill>
                  <a:srgbClr val="FF0000"/>
                </a:solidFill>
                <a:latin typeface="Times New Roman"/>
                <a:cs typeface="Times New Roman"/>
              </a:rPr>
              <a:t>modelos</a:t>
            </a:r>
            <a:r>
              <a:rPr sz="2000" b="1" spc="180" dirty="0">
                <a:solidFill>
                  <a:srgbClr val="FF0000"/>
                </a:solidFill>
                <a:latin typeface="Times New Roman"/>
                <a:cs typeface="Times New Roman"/>
              </a:rPr>
              <a:t> </a:t>
            </a:r>
            <a:r>
              <a:rPr sz="2000" b="1" dirty="0">
                <a:solidFill>
                  <a:srgbClr val="FF0000"/>
                </a:solidFill>
                <a:latin typeface="Times New Roman"/>
                <a:cs typeface="Times New Roman"/>
              </a:rPr>
              <a:t>clásicos</a:t>
            </a:r>
            <a:r>
              <a:rPr sz="2000" b="1" spc="165" dirty="0">
                <a:solidFill>
                  <a:srgbClr val="FF0000"/>
                </a:solidFill>
                <a:latin typeface="Times New Roman"/>
                <a:cs typeface="Times New Roman"/>
              </a:rPr>
              <a:t> </a:t>
            </a:r>
            <a:r>
              <a:rPr sz="2000" b="1" spc="-5" dirty="0">
                <a:solidFill>
                  <a:srgbClr val="FF0000"/>
                </a:solidFill>
                <a:latin typeface="Times New Roman"/>
                <a:cs typeface="Times New Roman"/>
              </a:rPr>
              <a:t>pueden</a:t>
            </a:r>
            <a:r>
              <a:rPr sz="2000" b="1" spc="190" dirty="0">
                <a:solidFill>
                  <a:srgbClr val="FF0000"/>
                </a:solidFill>
                <a:latin typeface="Times New Roman"/>
                <a:cs typeface="Times New Roman"/>
              </a:rPr>
              <a:t> </a:t>
            </a:r>
            <a:r>
              <a:rPr sz="2000" b="1" spc="-5" dirty="0">
                <a:solidFill>
                  <a:srgbClr val="FF0000"/>
                </a:solidFill>
                <a:latin typeface="Times New Roman"/>
                <a:cs typeface="Times New Roman"/>
              </a:rPr>
              <a:t>funcionar</a:t>
            </a:r>
            <a:r>
              <a:rPr sz="2000" b="1" spc="175" dirty="0">
                <a:solidFill>
                  <a:srgbClr val="FF0000"/>
                </a:solidFill>
                <a:latin typeface="Times New Roman"/>
                <a:cs typeface="Times New Roman"/>
              </a:rPr>
              <a:t> </a:t>
            </a:r>
            <a:r>
              <a:rPr sz="2000" b="1" spc="-5" dirty="0">
                <a:solidFill>
                  <a:srgbClr val="FF0000"/>
                </a:solidFill>
                <a:latin typeface="Times New Roman"/>
                <a:cs typeface="Times New Roman"/>
              </a:rPr>
              <a:t>(son</a:t>
            </a:r>
            <a:r>
              <a:rPr sz="2000" b="1" spc="185" dirty="0">
                <a:solidFill>
                  <a:srgbClr val="FF0000"/>
                </a:solidFill>
                <a:latin typeface="Times New Roman"/>
                <a:cs typeface="Times New Roman"/>
              </a:rPr>
              <a:t> </a:t>
            </a:r>
            <a:r>
              <a:rPr sz="2000" b="1" spc="-5" dirty="0">
                <a:solidFill>
                  <a:srgbClr val="FF0000"/>
                </a:solidFill>
                <a:latin typeface="Times New Roman"/>
                <a:cs typeface="Times New Roman"/>
              </a:rPr>
              <a:t>robustos),</a:t>
            </a:r>
            <a:r>
              <a:rPr sz="2000" b="1" spc="175" dirty="0">
                <a:solidFill>
                  <a:srgbClr val="FF0000"/>
                </a:solidFill>
                <a:latin typeface="Times New Roman"/>
                <a:cs typeface="Times New Roman"/>
              </a:rPr>
              <a:t> </a:t>
            </a:r>
            <a:r>
              <a:rPr sz="2000" b="1" spc="-5" dirty="0">
                <a:solidFill>
                  <a:srgbClr val="FF0000"/>
                </a:solidFill>
                <a:latin typeface="Times New Roman"/>
                <a:cs typeface="Times New Roman"/>
              </a:rPr>
              <a:t>pero</a:t>
            </a:r>
            <a:r>
              <a:rPr sz="2000" b="1" spc="185" dirty="0">
                <a:solidFill>
                  <a:srgbClr val="FF0000"/>
                </a:solidFill>
                <a:latin typeface="Times New Roman"/>
                <a:cs typeface="Times New Roman"/>
              </a:rPr>
              <a:t> </a:t>
            </a:r>
            <a:r>
              <a:rPr sz="2000" b="1" u="sng" dirty="0" err="1">
                <a:solidFill>
                  <a:srgbClr val="FF0000"/>
                </a:solidFill>
                <a:latin typeface="Times New Roman"/>
                <a:cs typeface="Times New Roman"/>
              </a:rPr>
              <a:t>habrá</a:t>
            </a:r>
            <a:r>
              <a:rPr sz="2000" b="1" u="sng" spc="180" dirty="0">
                <a:solidFill>
                  <a:srgbClr val="FF0000"/>
                </a:solidFill>
                <a:latin typeface="Times New Roman"/>
                <a:cs typeface="Times New Roman"/>
              </a:rPr>
              <a:t> </a:t>
            </a:r>
            <a:r>
              <a:rPr sz="2000" b="1" u="sng" spc="-5" dirty="0" err="1" smtClean="0">
                <a:solidFill>
                  <a:srgbClr val="FF0000"/>
                </a:solidFill>
                <a:latin typeface="Times New Roman"/>
                <a:cs typeface="Times New Roman"/>
              </a:rPr>
              <a:t>mejores</a:t>
            </a:r>
            <a:r>
              <a:rPr sz="2000" b="1" u="sng" spc="-10" dirty="0" smtClean="0">
                <a:solidFill>
                  <a:srgbClr val="FF0000"/>
                </a:solidFill>
                <a:latin typeface="Times New Roman"/>
                <a:cs typeface="Times New Roman"/>
              </a:rPr>
              <a:t> </a:t>
            </a:r>
            <a:r>
              <a:rPr sz="2000" b="1" u="sng" dirty="0" err="1">
                <a:solidFill>
                  <a:srgbClr val="FF0000"/>
                </a:solidFill>
                <a:latin typeface="Times New Roman"/>
                <a:cs typeface="Times New Roman"/>
              </a:rPr>
              <a:t>opciones</a:t>
            </a:r>
            <a:r>
              <a:rPr sz="2000" b="1" u="sng" dirty="0" smtClean="0">
                <a:solidFill>
                  <a:srgbClr val="FF0000"/>
                </a:solidFill>
                <a:latin typeface="Times New Roman"/>
                <a:cs typeface="Times New Roman"/>
              </a:rPr>
              <a:t>.</a:t>
            </a:r>
            <a:endParaRPr lang="es-ES" sz="2000" b="1" u="sng" dirty="0">
              <a:solidFill>
                <a:srgbClr val="FF0000"/>
              </a:solidFill>
              <a:latin typeface="Times New Roman"/>
              <a:cs typeface="Times New Roman"/>
            </a:endParaRPr>
          </a:p>
          <a:p>
            <a:pPr marL="76200" marR="17780" algn="just">
              <a:lnSpc>
                <a:spcPts val="2990"/>
              </a:lnSpc>
            </a:pPr>
            <a:r>
              <a:rPr lang="es-ES" sz="2000" b="1" dirty="0" smtClean="0">
                <a:solidFill>
                  <a:srgbClr val="FF0000"/>
                </a:solidFill>
                <a:latin typeface="Times New Roman"/>
                <a:cs typeface="Times New Roman"/>
              </a:rPr>
              <a:t>Cuando los datos son muy numerosos o muy complejos no se pueden garantizar las hipótesis/</a:t>
            </a:r>
            <a:r>
              <a:rPr lang="es-ES" sz="2000" b="1" dirty="0" err="1" smtClean="0">
                <a:solidFill>
                  <a:srgbClr val="FF0000"/>
                </a:solidFill>
                <a:latin typeface="Times New Roman"/>
                <a:cs typeface="Times New Roman"/>
              </a:rPr>
              <a:t>tests</a:t>
            </a:r>
            <a:r>
              <a:rPr lang="es-ES" sz="2000" b="1" dirty="0" smtClean="0">
                <a:solidFill>
                  <a:srgbClr val="FF0000"/>
                </a:solidFill>
                <a:latin typeface="Times New Roman"/>
                <a:cs typeface="Times New Roman"/>
              </a:rPr>
              <a:t>.</a:t>
            </a:r>
            <a:endParaRPr sz="2000" dirty="0">
              <a:latin typeface="Times New Roman"/>
              <a:cs typeface="Times New Roman"/>
            </a:endParaRPr>
          </a:p>
        </p:txBody>
      </p:sp>
      <p:sp>
        <p:nvSpPr>
          <p:cNvPr id="6" name="CuadroTexto 5"/>
          <p:cNvSpPr txBox="1"/>
          <p:nvPr/>
        </p:nvSpPr>
        <p:spPr>
          <a:xfrm>
            <a:off x="283462" y="1114425"/>
            <a:ext cx="9940038" cy="1631216"/>
          </a:xfrm>
          <a:prstGeom prst="rect">
            <a:avLst/>
          </a:prstGeom>
          <a:noFill/>
        </p:spPr>
        <p:txBody>
          <a:bodyPr wrap="square" rtlCol="0">
            <a:spAutoFit/>
          </a:bodyPr>
          <a:lstStyle/>
          <a:p>
            <a:pPr algn="just"/>
            <a:r>
              <a:rPr lang="es-ES" sz="2000" spc="-5" dirty="0">
                <a:latin typeface="Times New Roman"/>
                <a:cs typeface="Times New Roman"/>
              </a:rPr>
              <a:t>Siempre que se define un modelo estocástico, hay que determinar algo del tipo: </a:t>
            </a:r>
            <a:r>
              <a:rPr lang="es-ES" sz="2000" spc="-5" dirty="0" smtClean="0">
                <a:latin typeface="Times New Roman"/>
                <a:cs typeface="Times New Roman"/>
              </a:rPr>
              <a:t>“</a:t>
            </a:r>
            <a:r>
              <a:rPr lang="es-ES" sz="2000" i="1" spc="-5" dirty="0" smtClean="0">
                <a:latin typeface="Times New Roman"/>
                <a:cs typeface="Times New Roman"/>
              </a:rPr>
              <a:t>este </a:t>
            </a:r>
            <a:r>
              <a:rPr lang="es-ES" sz="2000" i="1" spc="-5" dirty="0">
                <a:latin typeface="Times New Roman"/>
                <a:cs typeface="Times New Roman"/>
              </a:rPr>
              <a:t>conjunto de datos ha sido generado de acuerdo al modelo </a:t>
            </a:r>
            <a:r>
              <a:rPr lang="es-ES" sz="2000" i="1" spc="-5" dirty="0" smtClean="0">
                <a:latin typeface="Times New Roman"/>
                <a:cs typeface="Times New Roman"/>
              </a:rPr>
              <a:t>[-----]</a:t>
            </a:r>
            <a:r>
              <a:rPr lang="es-ES" sz="2000" spc="-5" dirty="0" smtClean="0">
                <a:latin typeface="Times New Roman"/>
                <a:cs typeface="Times New Roman"/>
              </a:rPr>
              <a:t>.”</a:t>
            </a:r>
          </a:p>
          <a:p>
            <a:pPr algn="just"/>
            <a:endParaRPr lang="es-ES" sz="2000" spc="-5" dirty="0">
              <a:latin typeface="Times New Roman"/>
              <a:cs typeface="Times New Roman"/>
            </a:endParaRPr>
          </a:p>
          <a:p>
            <a:pPr algn="just"/>
            <a:r>
              <a:rPr lang="es-ES" sz="2000" spc="-5" dirty="0">
                <a:latin typeface="Times New Roman"/>
                <a:cs typeface="Times New Roman"/>
              </a:rPr>
              <a:t>Además, hay que exigir una inferencia estadística a cada uno de los parámetros y residuos resultantes del modelo</a:t>
            </a:r>
            <a:r>
              <a:rPr lang="es-ES" sz="2000" spc="-5" dirty="0" smtClean="0">
                <a:latin typeface="Times New Roman"/>
                <a:cs typeface="Times New Roman"/>
              </a:rPr>
              <a:t>. Se asocia una hipótesis previa al conjunto de datos.</a:t>
            </a:r>
            <a:endParaRPr lang="es-ES" sz="2000" spc="-5" dirty="0">
              <a:latin typeface="Times New Roman"/>
              <a:cs typeface="Times New Roman"/>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1003300" y="2562225"/>
            <a:ext cx="8610600" cy="2462213"/>
          </a:xfrm>
        </p:spPr>
        <p:txBody>
          <a:bodyPr/>
          <a:lstStyle/>
          <a:p>
            <a:pPr algn="just"/>
            <a:r>
              <a:rPr lang="es-ES" sz="3200" dirty="0" smtClean="0">
                <a:solidFill>
                  <a:srgbClr val="002060"/>
                </a:solidFill>
              </a:rPr>
              <a:t>Cuando el conjunto de datos es complejo, es conveniente tratar de comparar la aplicación de </a:t>
            </a:r>
            <a:r>
              <a:rPr lang="es-ES" sz="3200" b="1" dirty="0" smtClean="0">
                <a:solidFill>
                  <a:srgbClr val="002060"/>
                </a:solidFill>
              </a:rPr>
              <a:t>modelos clásicos</a:t>
            </a:r>
            <a:r>
              <a:rPr lang="es-ES" sz="3200" dirty="0" smtClean="0">
                <a:solidFill>
                  <a:srgbClr val="002060"/>
                </a:solidFill>
              </a:rPr>
              <a:t>, que ayudan a la </a:t>
            </a:r>
            <a:r>
              <a:rPr lang="es-ES" sz="3200" b="1" dirty="0" smtClean="0">
                <a:solidFill>
                  <a:srgbClr val="002060"/>
                </a:solidFill>
              </a:rPr>
              <a:t>interpretación</a:t>
            </a:r>
            <a:r>
              <a:rPr lang="es-ES" sz="3200" dirty="0" smtClean="0">
                <a:solidFill>
                  <a:srgbClr val="002060"/>
                </a:solidFill>
              </a:rPr>
              <a:t>, con la aplicación de </a:t>
            </a:r>
            <a:r>
              <a:rPr lang="es-ES" sz="3200" b="1" dirty="0" smtClean="0">
                <a:solidFill>
                  <a:srgbClr val="002060"/>
                </a:solidFill>
              </a:rPr>
              <a:t>técnicas algorítmicas</a:t>
            </a:r>
            <a:r>
              <a:rPr lang="es-ES" sz="3200" dirty="0" smtClean="0">
                <a:solidFill>
                  <a:srgbClr val="002060"/>
                </a:solidFill>
              </a:rPr>
              <a:t>, que proporcionan una </a:t>
            </a:r>
            <a:r>
              <a:rPr lang="es-ES" sz="3200" b="1" dirty="0" smtClean="0">
                <a:solidFill>
                  <a:srgbClr val="002060"/>
                </a:solidFill>
              </a:rPr>
              <a:t>mejor predicción</a:t>
            </a:r>
            <a:r>
              <a:rPr lang="es-ES" sz="3200" dirty="0" smtClean="0">
                <a:solidFill>
                  <a:srgbClr val="002060"/>
                </a:solidFill>
              </a:rPr>
              <a:t>.</a:t>
            </a:r>
            <a:endParaRPr lang="es-ES" sz="3200" dirty="0">
              <a:solidFill>
                <a:srgbClr val="002060"/>
              </a:solidFill>
            </a:endParaRPr>
          </a:p>
        </p:txBody>
      </p:sp>
    </p:spTree>
    <p:extLst>
      <p:ext uri="{BB962C8B-B14F-4D97-AF65-F5344CB8AC3E}">
        <p14:creationId xmlns:p14="http://schemas.microsoft.com/office/powerpoint/2010/main" val="50967915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28417" y="314959"/>
            <a:ext cx="6035675" cy="574040"/>
          </a:xfrm>
          <a:prstGeom prst="rect">
            <a:avLst/>
          </a:prstGeom>
        </p:spPr>
        <p:txBody>
          <a:bodyPr vert="horz" wrap="square" lIns="0" tIns="12700" rIns="0" bIns="0" rtlCol="0">
            <a:spAutoFit/>
          </a:bodyPr>
          <a:lstStyle/>
          <a:p>
            <a:pPr marL="12700">
              <a:lnSpc>
                <a:spcPct val="100000"/>
              </a:lnSpc>
              <a:spcBef>
                <a:spcPts val="100"/>
              </a:spcBef>
            </a:pPr>
            <a:r>
              <a:rPr lang="es-ES" sz="3600" b="1" dirty="0" smtClean="0">
                <a:solidFill>
                  <a:srgbClr val="1F487C"/>
                </a:solidFill>
                <a:latin typeface="Times New Roman"/>
                <a:cs typeface="Times New Roman"/>
              </a:rPr>
              <a:t>2. </a:t>
            </a:r>
            <a:r>
              <a:rPr sz="3600" b="1" dirty="0" smtClean="0">
                <a:solidFill>
                  <a:srgbClr val="1F487C"/>
                </a:solidFill>
                <a:latin typeface="Times New Roman"/>
                <a:cs typeface="Times New Roman"/>
              </a:rPr>
              <a:t>La</a:t>
            </a:r>
            <a:r>
              <a:rPr sz="3600" b="1" spc="-10" dirty="0" smtClean="0">
                <a:solidFill>
                  <a:srgbClr val="1F487C"/>
                </a:solidFill>
                <a:latin typeface="Times New Roman"/>
                <a:cs typeface="Times New Roman"/>
              </a:rPr>
              <a:t> </a:t>
            </a:r>
            <a:r>
              <a:rPr sz="3600" b="1" spc="-5" dirty="0">
                <a:solidFill>
                  <a:srgbClr val="1F487C"/>
                </a:solidFill>
                <a:latin typeface="Times New Roman"/>
                <a:cs typeface="Times New Roman"/>
              </a:rPr>
              <a:t>multiplicidad</a:t>
            </a:r>
            <a:r>
              <a:rPr sz="3600" b="1" spc="-15" dirty="0">
                <a:solidFill>
                  <a:srgbClr val="1F487C"/>
                </a:solidFill>
                <a:latin typeface="Times New Roman"/>
                <a:cs typeface="Times New Roman"/>
              </a:rPr>
              <a:t> </a:t>
            </a:r>
            <a:r>
              <a:rPr sz="3600" b="1" spc="-5" dirty="0">
                <a:solidFill>
                  <a:srgbClr val="1F487C"/>
                </a:solidFill>
                <a:latin typeface="Times New Roman"/>
                <a:cs typeface="Times New Roman"/>
              </a:rPr>
              <a:t>de</a:t>
            </a:r>
            <a:r>
              <a:rPr sz="3600" b="1" spc="5" dirty="0">
                <a:solidFill>
                  <a:srgbClr val="1F487C"/>
                </a:solidFill>
                <a:latin typeface="Times New Roman"/>
                <a:cs typeface="Times New Roman"/>
              </a:rPr>
              <a:t> </a:t>
            </a:r>
            <a:r>
              <a:rPr sz="3600" b="1" dirty="0">
                <a:solidFill>
                  <a:srgbClr val="1F487C"/>
                </a:solidFill>
                <a:latin typeface="Times New Roman"/>
                <a:cs typeface="Times New Roman"/>
              </a:rPr>
              <a:t>modelos</a:t>
            </a:r>
            <a:endParaRPr sz="3600" dirty="0">
              <a:latin typeface="Times New Roman"/>
              <a:cs typeface="Times New Roman"/>
            </a:endParaRPr>
          </a:p>
        </p:txBody>
      </p:sp>
      <p:sp>
        <p:nvSpPr>
          <p:cNvPr id="3" name="object 3"/>
          <p:cNvSpPr txBox="1"/>
          <p:nvPr/>
        </p:nvSpPr>
        <p:spPr>
          <a:xfrm>
            <a:off x="927100" y="1114425"/>
            <a:ext cx="9372599" cy="5554085"/>
          </a:xfrm>
          <a:prstGeom prst="rect">
            <a:avLst/>
          </a:prstGeom>
        </p:spPr>
        <p:txBody>
          <a:bodyPr vert="horz" wrap="square" lIns="0" tIns="39370" rIns="0" bIns="0" rtlCol="0">
            <a:spAutoFit/>
          </a:bodyPr>
          <a:lstStyle/>
          <a:p>
            <a:pPr marL="12700" marR="583565" algn="just">
              <a:lnSpc>
                <a:spcPts val="2990"/>
              </a:lnSpc>
              <a:spcBef>
                <a:spcPts val="310"/>
              </a:spcBef>
            </a:pPr>
            <a:r>
              <a:rPr sz="2000" dirty="0">
                <a:latin typeface="Times New Roman"/>
                <a:cs typeface="Times New Roman"/>
              </a:rPr>
              <a:t>En</a:t>
            </a:r>
            <a:r>
              <a:rPr sz="2000" spc="-5" dirty="0">
                <a:latin typeface="Times New Roman"/>
                <a:cs typeface="Times New Roman"/>
              </a:rPr>
              <a:t> general,</a:t>
            </a:r>
            <a:r>
              <a:rPr sz="2000" dirty="0">
                <a:latin typeface="Times New Roman"/>
                <a:cs typeface="Times New Roman"/>
              </a:rPr>
              <a:t> </a:t>
            </a:r>
            <a:r>
              <a:rPr sz="2000" spc="-5" dirty="0">
                <a:latin typeface="Times New Roman"/>
                <a:cs typeface="Times New Roman"/>
              </a:rPr>
              <a:t>para</a:t>
            </a:r>
            <a:r>
              <a:rPr sz="2000" dirty="0">
                <a:latin typeface="Times New Roman"/>
                <a:cs typeface="Times New Roman"/>
              </a:rPr>
              <a:t> </a:t>
            </a:r>
            <a:r>
              <a:rPr sz="2000" spc="-5" dirty="0">
                <a:latin typeface="Times New Roman"/>
                <a:cs typeface="Times New Roman"/>
              </a:rPr>
              <a:t>los</a:t>
            </a:r>
            <a:r>
              <a:rPr sz="2000" dirty="0">
                <a:latin typeface="Times New Roman"/>
                <a:cs typeface="Times New Roman"/>
              </a:rPr>
              <a:t> </a:t>
            </a:r>
            <a:r>
              <a:rPr sz="2000" dirty="0">
                <a:solidFill>
                  <a:srgbClr val="C00000"/>
                </a:solidFill>
                <a:latin typeface="Times New Roman"/>
                <a:cs typeface="Times New Roman"/>
              </a:rPr>
              <a:t>mismos</a:t>
            </a:r>
            <a:r>
              <a:rPr sz="2000" spc="-10" dirty="0">
                <a:solidFill>
                  <a:srgbClr val="C00000"/>
                </a:solidFill>
                <a:latin typeface="Times New Roman"/>
                <a:cs typeface="Times New Roman"/>
              </a:rPr>
              <a:t> </a:t>
            </a:r>
            <a:r>
              <a:rPr sz="2000" spc="-5" dirty="0">
                <a:solidFill>
                  <a:srgbClr val="C00000"/>
                </a:solidFill>
                <a:latin typeface="Times New Roman"/>
                <a:cs typeface="Times New Roman"/>
              </a:rPr>
              <a:t>datos</a:t>
            </a:r>
            <a:r>
              <a:rPr sz="2000" spc="-5" dirty="0">
                <a:latin typeface="Times New Roman"/>
                <a:cs typeface="Times New Roman"/>
              </a:rPr>
              <a:t>,</a:t>
            </a:r>
            <a:r>
              <a:rPr sz="2000" dirty="0">
                <a:latin typeface="Times New Roman"/>
                <a:cs typeface="Times New Roman"/>
              </a:rPr>
              <a:t> </a:t>
            </a:r>
            <a:r>
              <a:rPr sz="2000" spc="-5" dirty="0">
                <a:latin typeface="Times New Roman"/>
                <a:cs typeface="Times New Roman"/>
              </a:rPr>
              <a:t>suelen </a:t>
            </a:r>
            <a:r>
              <a:rPr sz="2000" dirty="0">
                <a:latin typeface="Times New Roman"/>
                <a:cs typeface="Times New Roman"/>
              </a:rPr>
              <a:t>existir</a:t>
            </a:r>
            <a:r>
              <a:rPr sz="2000" spc="10" dirty="0">
                <a:latin typeface="Times New Roman"/>
                <a:cs typeface="Times New Roman"/>
              </a:rPr>
              <a:t> </a:t>
            </a:r>
            <a:r>
              <a:rPr sz="2000" dirty="0">
                <a:solidFill>
                  <a:srgbClr val="C00000"/>
                </a:solidFill>
                <a:latin typeface="Times New Roman"/>
                <a:cs typeface="Times New Roman"/>
              </a:rPr>
              <a:t>muchos</a:t>
            </a:r>
            <a:r>
              <a:rPr sz="2000" spc="-10" dirty="0">
                <a:solidFill>
                  <a:srgbClr val="C00000"/>
                </a:solidFill>
                <a:latin typeface="Times New Roman"/>
                <a:cs typeface="Times New Roman"/>
              </a:rPr>
              <a:t> </a:t>
            </a:r>
            <a:r>
              <a:rPr sz="2000" spc="-5" dirty="0">
                <a:solidFill>
                  <a:srgbClr val="C00000"/>
                </a:solidFill>
                <a:latin typeface="Times New Roman"/>
                <a:cs typeface="Times New Roman"/>
              </a:rPr>
              <a:t>modelos </a:t>
            </a:r>
            <a:r>
              <a:rPr sz="2000" spc="-635" dirty="0">
                <a:solidFill>
                  <a:srgbClr val="C00000"/>
                </a:solidFill>
                <a:latin typeface="Times New Roman"/>
                <a:cs typeface="Times New Roman"/>
              </a:rPr>
              <a:t> </a:t>
            </a:r>
            <a:r>
              <a:rPr sz="2000" spc="-5" dirty="0">
                <a:latin typeface="Times New Roman"/>
                <a:cs typeface="Times New Roman"/>
              </a:rPr>
              <a:t>alternativos</a:t>
            </a:r>
            <a:r>
              <a:rPr sz="2000" spc="-10" dirty="0">
                <a:latin typeface="Times New Roman"/>
                <a:cs typeface="Times New Roman"/>
              </a:rPr>
              <a:t> </a:t>
            </a:r>
            <a:r>
              <a:rPr sz="2000" dirty="0">
                <a:latin typeface="Times New Roman"/>
                <a:cs typeface="Times New Roman"/>
              </a:rPr>
              <a:t>que </a:t>
            </a:r>
            <a:r>
              <a:rPr sz="2000" spc="-5" dirty="0">
                <a:latin typeface="Times New Roman"/>
                <a:cs typeface="Times New Roman"/>
              </a:rPr>
              <a:t>funcionan</a:t>
            </a:r>
            <a:r>
              <a:rPr sz="2000" spc="-10" dirty="0">
                <a:latin typeface="Times New Roman"/>
                <a:cs typeface="Times New Roman"/>
              </a:rPr>
              <a:t> </a:t>
            </a:r>
            <a:r>
              <a:rPr sz="2000" spc="-5" dirty="0">
                <a:latin typeface="Times New Roman"/>
                <a:cs typeface="Times New Roman"/>
              </a:rPr>
              <a:t>de</a:t>
            </a:r>
            <a:r>
              <a:rPr sz="2000" dirty="0">
                <a:latin typeface="Times New Roman"/>
                <a:cs typeface="Times New Roman"/>
              </a:rPr>
              <a:t> </a:t>
            </a:r>
            <a:r>
              <a:rPr sz="2000" spc="-5" dirty="0" err="1">
                <a:latin typeface="Times New Roman"/>
                <a:cs typeface="Times New Roman"/>
              </a:rPr>
              <a:t>manera</a:t>
            </a:r>
            <a:r>
              <a:rPr sz="2000" dirty="0">
                <a:latin typeface="Times New Roman"/>
                <a:cs typeface="Times New Roman"/>
              </a:rPr>
              <a:t> </a:t>
            </a:r>
            <a:r>
              <a:rPr sz="2000" spc="-5" dirty="0" err="1" smtClean="0">
                <a:solidFill>
                  <a:srgbClr val="C00000"/>
                </a:solidFill>
                <a:latin typeface="Times New Roman"/>
                <a:cs typeface="Times New Roman"/>
              </a:rPr>
              <a:t>equivalente</a:t>
            </a:r>
            <a:r>
              <a:rPr lang="es-ES" sz="2000" spc="-5" dirty="0" smtClean="0">
                <a:latin typeface="Times New Roman"/>
                <a:cs typeface="Times New Roman"/>
              </a:rPr>
              <a:t>, ajustándose correctamente</a:t>
            </a:r>
            <a:r>
              <a:rPr sz="2000" spc="-5" dirty="0" smtClean="0">
                <a:latin typeface="Times New Roman"/>
                <a:cs typeface="Times New Roman"/>
              </a:rPr>
              <a:t>:</a:t>
            </a:r>
            <a:endParaRPr sz="2000" dirty="0">
              <a:latin typeface="Times New Roman"/>
              <a:cs typeface="Times New Roman"/>
            </a:endParaRPr>
          </a:p>
          <a:p>
            <a:pPr algn="just">
              <a:lnSpc>
                <a:spcPct val="100000"/>
              </a:lnSpc>
              <a:spcBef>
                <a:spcPts val="40"/>
              </a:spcBef>
            </a:pPr>
            <a:endParaRPr sz="2000" dirty="0">
              <a:latin typeface="Times New Roman"/>
              <a:cs typeface="Times New Roman"/>
            </a:endParaRPr>
          </a:p>
          <a:p>
            <a:pPr marL="469900" indent="-228600" algn="just">
              <a:lnSpc>
                <a:spcPct val="100000"/>
              </a:lnSpc>
              <a:buFont typeface="Symbol"/>
              <a:buChar char=""/>
              <a:tabLst>
                <a:tab pos="469900" algn="l"/>
              </a:tabLst>
            </a:pPr>
            <a:r>
              <a:rPr sz="2000" b="1" dirty="0">
                <a:solidFill>
                  <a:srgbClr val="4F6128"/>
                </a:solidFill>
                <a:latin typeface="Times New Roman"/>
                <a:cs typeface="Times New Roman"/>
              </a:rPr>
              <a:t>Modelos</a:t>
            </a:r>
            <a:r>
              <a:rPr sz="2000" b="1" spc="-10" dirty="0">
                <a:solidFill>
                  <a:srgbClr val="4F6128"/>
                </a:solidFill>
                <a:latin typeface="Times New Roman"/>
                <a:cs typeface="Times New Roman"/>
              </a:rPr>
              <a:t> </a:t>
            </a:r>
            <a:r>
              <a:rPr sz="2000" b="1" dirty="0">
                <a:solidFill>
                  <a:srgbClr val="4F6128"/>
                </a:solidFill>
                <a:latin typeface="Times New Roman"/>
                <a:cs typeface="Times New Roman"/>
              </a:rPr>
              <a:t>con</a:t>
            </a:r>
            <a:r>
              <a:rPr sz="2000" b="1" spc="-5" dirty="0">
                <a:solidFill>
                  <a:srgbClr val="4F6128"/>
                </a:solidFill>
                <a:latin typeface="Times New Roman"/>
                <a:cs typeface="Times New Roman"/>
              </a:rPr>
              <a:t> diferentes</a:t>
            </a:r>
            <a:r>
              <a:rPr sz="2000" b="1" spc="-15" dirty="0">
                <a:solidFill>
                  <a:srgbClr val="4F6128"/>
                </a:solidFill>
                <a:latin typeface="Times New Roman"/>
                <a:cs typeface="Times New Roman"/>
              </a:rPr>
              <a:t> </a:t>
            </a:r>
            <a:r>
              <a:rPr sz="2000" b="1" spc="-5" dirty="0">
                <a:solidFill>
                  <a:srgbClr val="4F6128"/>
                </a:solidFill>
                <a:latin typeface="Times New Roman"/>
                <a:cs typeface="Times New Roman"/>
              </a:rPr>
              <a:t>variables</a:t>
            </a:r>
            <a:r>
              <a:rPr sz="2000" b="1" spc="-15" dirty="0">
                <a:solidFill>
                  <a:srgbClr val="4F6128"/>
                </a:solidFill>
                <a:latin typeface="Times New Roman"/>
                <a:cs typeface="Times New Roman"/>
              </a:rPr>
              <a:t> </a:t>
            </a:r>
            <a:r>
              <a:rPr sz="2000" b="1" dirty="0" smtClean="0">
                <a:solidFill>
                  <a:srgbClr val="4F6128"/>
                </a:solidFill>
                <a:latin typeface="Times New Roman"/>
                <a:cs typeface="Times New Roman"/>
              </a:rPr>
              <a:t>input</a:t>
            </a:r>
            <a:r>
              <a:rPr lang="es-ES" sz="2000" b="1" dirty="0" smtClean="0">
                <a:solidFill>
                  <a:srgbClr val="4F6128"/>
                </a:solidFill>
                <a:latin typeface="Times New Roman"/>
                <a:cs typeface="Times New Roman"/>
              </a:rPr>
              <a:t>	</a:t>
            </a:r>
            <a:endParaRPr sz="2000" dirty="0">
              <a:latin typeface="Times New Roman"/>
              <a:cs typeface="Times New Roman"/>
            </a:endParaRPr>
          </a:p>
          <a:p>
            <a:pPr marL="469265" marR="239395" indent="-228600" algn="just">
              <a:lnSpc>
                <a:spcPts val="3000"/>
              </a:lnSpc>
              <a:spcBef>
                <a:spcPts val="245"/>
              </a:spcBef>
              <a:buFont typeface="Symbol"/>
              <a:buChar char=""/>
              <a:tabLst>
                <a:tab pos="469900" algn="l"/>
              </a:tabLst>
            </a:pPr>
            <a:r>
              <a:rPr sz="2000" b="1" dirty="0">
                <a:solidFill>
                  <a:srgbClr val="4F6128"/>
                </a:solidFill>
                <a:latin typeface="Times New Roman"/>
                <a:cs typeface="Times New Roman"/>
              </a:rPr>
              <a:t>Modelos con </a:t>
            </a:r>
            <a:r>
              <a:rPr sz="2000" b="1" spc="-5" dirty="0">
                <a:solidFill>
                  <a:srgbClr val="4F6128"/>
                </a:solidFill>
                <a:latin typeface="Times New Roman"/>
                <a:cs typeface="Times New Roman"/>
              </a:rPr>
              <a:t>diferentes </a:t>
            </a:r>
            <a:r>
              <a:rPr sz="2000" b="1" dirty="0">
                <a:solidFill>
                  <a:srgbClr val="4F6128"/>
                </a:solidFill>
                <a:latin typeface="Times New Roman"/>
                <a:cs typeface="Times New Roman"/>
              </a:rPr>
              <a:t>funciones </a:t>
            </a:r>
            <a:r>
              <a:rPr sz="2000" dirty="0">
                <a:latin typeface="Times New Roman"/>
                <a:cs typeface="Times New Roman"/>
              </a:rPr>
              <a:t>(logística </a:t>
            </a:r>
            <a:r>
              <a:rPr sz="2000" spc="-5" dirty="0">
                <a:latin typeface="Times New Roman"/>
                <a:cs typeface="Times New Roman"/>
              </a:rPr>
              <a:t>versus discriminante, </a:t>
            </a:r>
            <a:r>
              <a:rPr sz="2000" spc="-635" dirty="0">
                <a:latin typeface="Times New Roman"/>
                <a:cs typeface="Times New Roman"/>
              </a:rPr>
              <a:t> </a:t>
            </a:r>
            <a:r>
              <a:rPr sz="2000" spc="-5" dirty="0">
                <a:latin typeface="Times New Roman"/>
                <a:cs typeface="Times New Roman"/>
              </a:rPr>
              <a:t>regresión</a:t>
            </a:r>
            <a:r>
              <a:rPr sz="2000" spc="5" dirty="0">
                <a:latin typeface="Times New Roman"/>
                <a:cs typeface="Times New Roman"/>
              </a:rPr>
              <a:t> </a:t>
            </a:r>
            <a:r>
              <a:rPr sz="2000" dirty="0">
                <a:latin typeface="Times New Roman"/>
                <a:cs typeface="Times New Roman"/>
              </a:rPr>
              <a:t>o </a:t>
            </a:r>
            <a:r>
              <a:rPr sz="2000" spc="-5" dirty="0">
                <a:latin typeface="Times New Roman"/>
                <a:cs typeface="Times New Roman"/>
              </a:rPr>
              <a:t>regresión</a:t>
            </a:r>
            <a:r>
              <a:rPr sz="2000" dirty="0">
                <a:latin typeface="Times New Roman"/>
                <a:cs typeface="Times New Roman"/>
              </a:rPr>
              <a:t> </a:t>
            </a:r>
            <a:r>
              <a:rPr sz="2000" spc="-5" dirty="0">
                <a:latin typeface="Times New Roman"/>
                <a:cs typeface="Times New Roman"/>
              </a:rPr>
              <a:t>PLS,</a:t>
            </a:r>
            <a:r>
              <a:rPr sz="2000" dirty="0">
                <a:latin typeface="Times New Roman"/>
                <a:cs typeface="Times New Roman"/>
              </a:rPr>
              <a:t> </a:t>
            </a:r>
            <a:r>
              <a:rPr sz="2000" spc="-5" dirty="0">
                <a:latin typeface="Times New Roman"/>
                <a:cs typeface="Times New Roman"/>
              </a:rPr>
              <a:t>etc.)</a:t>
            </a:r>
            <a:endParaRPr sz="2000" dirty="0">
              <a:latin typeface="Times New Roman"/>
              <a:cs typeface="Times New Roman"/>
            </a:endParaRPr>
          </a:p>
          <a:p>
            <a:pPr algn="just">
              <a:lnSpc>
                <a:spcPct val="100000"/>
              </a:lnSpc>
              <a:spcBef>
                <a:spcPts val="25"/>
              </a:spcBef>
            </a:pPr>
            <a:endParaRPr sz="2000" dirty="0">
              <a:latin typeface="Times New Roman"/>
              <a:cs typeface="Times New Roman"/>
            </a:endParaRPr>
          </a:p>
          <a:p>
            <a:pPr marL="12700" marR="5080" algn="just">
              <a:lnSpc>
                <a:spcPts val="2760"/>
              </a:lnSpc>
            </a:pPr>
            <a:r>
              <a:rPr sz="2000" dirty="0">
                <a:latin typeface="Times New Roman"/>
                <a:cs typeface="Times New Roman"/>
              </a:rPr>
              <a:t>Esto es </a:t>
            </a:r>
            <a:r>
              <a:rPr sz="2000" spc="-5" dirty="0">
                <a:latin typeface="Times New Roman"/>
                <a:cs typeface="Times New Roman"/>
              </a:rPr>
              <a:t>natural,</a:t>
            </a:r>
            <a:r>
              <a:rPr sz="2000" dirty="0">
                <a:latin typeface="Times New Roman"/>
                <a:cs typeface="Times New Roman"/>
              </a:rPr>
              <a:t> pero</a:t>
            </a:r>
            <a:r>
              <a:rPr sz="2000" spc="5" dirty="0">
                <a:latin typeface="Times New Roman"/>
                <a:cs typeface="Times New Roman"/>
              </a:rPr>
              <a:t> </a:t>
            </a:r>
            <a:r>
              <a:rPr sz="2000" dirty="0">
                <a:latin typeface="Times New Roman"/>
                <a:cs typeface="Times New Roman"/>
              </a:rPr>
              <a:t>es</a:t>
            </a:r>
            <a:r>
              <a:rPr sz="2000" spc="-5" dirty="0">
                <a:latin typeface="Times New Roman"/>
                <a:cs typeface="Times New Roman"/>
              </a:rPr>
              <a:t> </a:t>
            </a:r>
            <a:r>
              <a:rPr sz="2000" dirty="0">
                <a:latin typeface="Times New Roman"/>
                <a:cs typeface="Times New Roman"/>
              </a:rPr>
              <a:t>una realidad</a:t>
            </a:r>
            <a:r>
              <a:rPr sz="2000" spc="5" dirty="0">
                <a:latin typeface="Times New Roman"/>
                <a:cs typeface="Times New Roman"/>
              </a:rPr>
              <a:t> </a:t>
            </a:r>
            <a:r>
              <a:rPr sz="2000" dirty="0">
                <a:latin typeface="Times New Roman"/>
                <a:cs typeface="Times New Roman"/>
              </a:rPr>
              <a:t>que</a:t>
            </a:r>
            <a:r>
              <a:rPr sz="2000" spc="5" dirty="0">
                <a:latin typeface="Times New Roman"/>
                <a:cs typeface="Times New Roman"/>
              </a:rPr>
              <a:t> </a:t>
            </a:r>
            <a:r>
              <a:rPr sz="2000" spc="-5" dirty="0">
                <a:latin typeface="Times New Roman"/>
                <a:cs typeface="Times New Roman"/>
              </a:rPr>
              <a:t>se suele</a:t>
            </a:r>
            <a:r>
              <a:rPr sz="2000" spc="-10" dirty="0">
                <a:latin typeface="Times New Roman"/>
                <a:cs typeface="Times New Roman"/>
              </a:rPr>
              <a:t> </a:t>
            </a:r>
            <a:r>
              <a:rPr sz="2000" spc="-5" dirty="0">
                <a:latin typeface="Times New Roman"/>
                <a:cs typeface="Times New Roman"/>
              </a:rPr>
              <a:t>soslayar,</a:t>
            </a:r>
            <a:r>
              <a:rPr sz="2000" spc="5" dirty="0">
                <a:latin typeface="Times New Roman"/>
                <a:cs typeface="Times New Roman"/>
              </a:rPr>
              <a:t> </a:t>
            </a:r>
            <a:r>
              <a:rPr sz="2000" spc="-5" dirty="0">
                <a:latin typeface="Times New Roman"/>
                <a:cs typeface="Times New Roman"/>
              </a:rPr>
              <a:t>pretendiendo</a:t>
            </a:r>
            <a:r>
              <a:rPr sz="2000" dirty="0">
                <a:latin typeface="Times New Roman"/>
                <a:cs typeface="Times New Roman"/>
              </a:rPr>
              <a:t> </a:t>
            </a:r>
            <a:r>
              <a:rPr sz="2000" spc="-5" dirty="0">
                <a:latin typeface="Times New Roman"/>
                <a:cs typeface="Times New Roman"/>
              </a:rPr>
              <a:t>siempre </a:t>
            </a:r>
            <a:r>
              <a:rPr sz="2000" spc="-585" dirty="0">
                <a:latin typeface="Times New Roman"/>
                <a:cs typeface="Times New Roman"/>
              </a:rPr>
              <a:t> </a:t>
            </a:r>
            <a:r>
              <a:rPr sz="2000" dirty="0">
                <a:latin typeface="Times New Roman"/>
                <a:cs typeface="Times New Roman"/>
              </a:rPr>
              <a:t>mostrar</a:t>
            </a:r>
            <a:r>
              <a:rPr sz="2000" spc="5" dirty="0">
                <a:latin typeface="Times New Roman"/>
                <a:cs typeface="Times New Roman"/>
              </a:rPr>
              <a:t> </a:t>
            </a:r>
            <a:r>
              <a:rPr sz="2000" dirty="0">
                <a:latin typeface="Times New Roman"/>
                <a:cs typeface="Times New Roman"/>
              </a:rPr>
              <a:t>que</a:t>
            </a:r>
            <a:r>
              <a:rPr sz="2000" spc="-10" dirty="0">
                <a:latin typeface="Times New Roman"/>
                <a:cs typeface="Times New Roman"/>
              </a:rPr>
              <a:t> </a:t>
            </a:r>
            <a:r>
              <a:rPr sz="2000" dirty="0">
                <a:latin typeface="Times New Roman"/>
                <a:cs typeface="Times New Roman"/>
              </a:rPr>
              <a:t>el</a:t>
            </a:r>
            <a:r>
              <a:rPr sz="2000" spc="5" dirty="0">
                <a:latin typeface="Times New Roman"/>
                <a:cs typeface="Times New Roman"/>
              </a:rPr>
              <a:t> </a:t>
            </a:r>
            <a:r>
              <a:rPr sz="2000" spc="-5" dirty="0">
                <a:latin typeface="Times New Roman"/>
                <a:cs typeface="Times New Roman"/>
              </a:rPr>
              <a:t>modelo </a:t>
            </a:r>
            <a:r>
              <a:rPr sz="2000" dirty="0">
                <a:latin typeface="Times New Roman"/>
                <a:cs typeface="Times New Roman"/>
              </a:rPr>
              <a:t>planteado </a:t>
            </a:r>
            <a:r>
              <a:rPr sz="2000" dirty="0" err="1">
                <a:latin typeface="Times New Roman"/>
                <a:cs typeface="Times New Roman"/>
              </a:rPr>
              <a:t>es</a:t>
            </a:r>
            <a:r>
              <a:rPr sz="2000" spc="5" dirty="0">
                <a:latin typeface="Times New Roman"/>
                <a:cs typeface="Times New Roman"/>
              </a:rPr>
              <a:t> </a:t>
            </a:r>
            <a:r>
              <a:rPr sz="2000" spc="-5" dirty="0" err="1" smtClean="0">
                <a:latin typeface="Times New Roman"/>
                <a:cs typeface="Times New Roman"/>
              </a:rPr>
              <a:t>óptimo</a:t>
            </a:r>
            <a:r>
              <a:rPr lang="es-ES" sz="2000" spc="-5" dirty="0" smtClean="0">
                <a:latin typeface="Times New Roman"/>
                <a:cs typeface="Times New Roman"/>
              </a:rPr>
              <a:t> </a:t>
            </a:r>
            <a:r>
              <a:rPr lang="es-ES" sz="2000" spc="-5" dirty="0" smtClean="0">
                <a:solidFill>
                  <a:srgbClr val="FF0000"/>
                </a:solidFill>
                <a:latin typeface="Times New Roman"/>
                <a:cs typeface="Times New Roman"/>
              </a:rPr>
              <a:t>(lo cual no siempre es cierto)</a:t>
            </a:r>
            <a:r>
              <a:rPr sz="2000" spc="-5" dirty="0" smtClean="0">
                <a:latin typeface="Times New Roman"/>
                <a:cs typeface="Times New Roman"/>
              </a:rPr>
              <a:t>.</a:t>
            </a:r>
            <a:endParaRPr sz="2000" dirty="0">
              <a:latin typeface="Times New Roman"/>
              <a:cs typeface="Times New Roman"/>
            </a:endParaRPr>
          </a:p>
          <a:p>
            <a:pPr algn="just"/>
            <a:endParaRPr lang="es-ES" sz="2000" spc="-5" dirty="0">
              <a:latin typeface="Times New Roman"/>
              <a:cs typeface="Times New Roman"/>
            </a:endParaRPr>
          </a:p>
          <a:p>
            <a:pPr algn="just"/>
            <a:r>
              <a:rPr lang="es-ES" sz="2000" spc="-5" dirty="0">
                <a:latin typeface="Times New Roman"/>
                <a:cs typeface="Times New Roman"/>
              </a:rPr>
              <a:t>La rigidez que en ocasiones se exige a los planteamientos clásicos puede desembocar en una </a:t>
            </a:r>
            <a:r>
              <a:rPr lang="es-ES" sz="2000" spc="-5" dirty="0">
                <a:solidFill>
                  <a:srgbClr val="FF0000"/>
                </a:solidFill>
                <a:latin typeface="Times New Roman"/>
                <a:cs typeface="Times New Roman"/>
              </a:rPr>
              <a:t>falta de eficacia predictiva</a:t>
            </a:r>
            <a:r>
              <a:rPr lang="es-ES" sz="2000" spc="-5" dirty="0">
                <a:latin typeface="Times New Roman"/>
                <a:cs typeface="Times New Roman"/>
              </a:rPr>
              <a:t>.</a:t>
            </a:r>
          </a:p>
          <a:p>
            <a:pPr algn="just">
              <a:lnSpc>
                <a:spcPct val="100000"/>
              </a:lnSpc>
              <a:spcBef>
                <a:spcPts val="15"/>
              </a:spcBef>
            </a:pPr>
            <a:endParaRPr sz="2000" spc="-5" dirty="0">
              <a:latin typeface="Times New Roman"/>
              <a:cs typeface="Times New Roman"/>
            </a:endParaRPr>
          </a:p>
          <a:p>
            <a:pPr marL="12700" marR="172085" algn="just">
              <a:lnSpc>
                <a:spcPts val="2760"/>
              </a:lnSpc>
              <a:spcBef>
                <a:spcPts val="5"/>
              </a:spcBef>
            </a:pPr>
            <a:r>
              <a:rPr lang="es-ES" sz="2000" b="1" u="sng" spc="-5" dirty="0" smtClean="0">
                <a:latin typeface="Times New Roman"/>
                <a:cs typeface="Times New Roman"/>
              </a:rPr>
              <a:t>IMPRESCINDIBLE</a:t>
            </a:r>
            <a:r>
              <a:rPr lang="es-ES" sz="2000" spc="-5" dirty="0" smtClean="0">
                <a:latin typeface="Times New Roman"/>
                <a:cs typeface="Times New Roman"/>
              </a:rPr>
              <a:t>: </a:t>
            </a:r>
            <a:r>
              <a:rPr lang="es-ES" sz="2000" spc="-5" dirty="0" smtClean="0">
                <a:solidFill>
                  <a:srgbClr val="FF0000"/>
                </a:solidFill>
                <a:latin typeface="Times New Roman"/>
                <a:cs typeface="Times New Roman"/>
              </a:rPr>
              <a:t>comparar </a:t>
            </a:r>
            <a:r>
              <a:rPr lang="es-ES" sz="2000" spc="-5" dirty="0">
                <a:solidFill>
                  <a:srgbClr val="FF0000"/>
                </a:solidFill>
                <a:latin typeface="Times New Roman"/>
                <a:cs typeface="Times New Roman"/>
              </a:rPr>
              <a:t>métodos clásicos con métodos algorítmicos</a:t>
            </a:r>
            <a:r>
              <a:rPr lang="es-ES" sz="2000" spc="-5" dirty="0">
                <a:latin typeface="Times New Roman"/>
                <a:cs typeface="Times New Roman"/>
              </a:rPr>
              <a:t>, </a:t>
            </a:r>
            <a:r>
              <a:rPr lang="es-ES" sz="2000" spc="-5" dirty="0" smtClean="0">
                <a:latin typeface="Times New Roman"/>
                <a:cs typeface="Times New Roman"/>
              </a:rPr>
              <a:t>y </a:t>
            </a:r>
            <a:r>
              <a:rPr lang="es-ES" sz="2000" spc="-5" dirty="0" smtClean="0">
                <a:solidFill>
                  <a:srgbClr val="FF0000"/>
                </a:solidFill>
                <a:latin typeface="Times New Roman"/>
                <a:cs typeface="Times New Roman"/>
              </a:rPr>
              <a:t>contrastarlos</a:t>
            </a:r>
            <a:r>
              <a:rPr lang="es-ES" sz="2000" spc="-5" dirty="0" smtClean="0">
                <a:latin typeface="Times New Roman"/>
                <a:cs typeface="Times New Roman"/>
              </a:rPr>
              <a:t> </a:t>
            </a:r>
            <a:r>
              <a:rPr lang="es-ES" sz="2000" spc="-5" dirty="0">
                <a:latin typeface="Times New Roman"/>
                <a:cs typeface="Times New Roman"/>
              </a:rPr>
              <a:t>mediante </a:t>
            </a:r>
            <a:r>
              <a:rPr lang="es-ES" sz="2000" spc="-5" dirty="0">
                <a:solidFill>
                  <a:srgbClr val="FF0000"/>
                </a:solidFill>
                <a:latin typeface="Times New Roman"/>
                <a:cs typeface="Times New Roman"/>
              </a:rPr>
              <a:t>técnicas de validación cruzada y/o datos test</a:t>
            </a:r>
            <a:r>
              <a:rPr lang="es-ES" sz="2000" spc="-5" dirty="0">
                <a:latin typeface="Times New Roman"/>
                <a:cs typeface="Times New Roman"/>
              </a:rPr>
              <a:t>, probando muchas opciones, </a:t>
            </a:r>
            <a:r>
              <a:rPr sz="2000" spc="-5" dirty="0" err="1" smtClean="0">
                <a:latin typeface="Times New Roman"/>
                <a:cs typeface="Times New Roman"/>
              </a:rPr>
              <a:t>inclu</a:t>
            </a:r>
            <a:r>
              <a:rPr lang="es-ES" sz="2000" spc="-5" dirty="0">
                <a:latin typeface="Times New Roman"/>
                <a:cs typeface="Times New Roman"/>
              </a:rPr>
              <a:t>i</a:t>
            </a:r>
            <a:r>
              <a:rPr sz="2000" spc="-5" dirty="0" smtClean="0">
                <a:latin typeface="Times New Roman"/>
                <a:cs typeface="Times New Roman"/>
              </a:rPr>
              <a:t>do</a:t>
            </a:r>
            <a:r>
              <a:rPr sz="2000" spc="5" dirty="0" smtClean="0">
                <a:latin typeface="Times New Roman"/>
                <a:cs typeface="Times New Roman"/>
              </a:rPr>
              <a:t> </a:t>
            </a:r>
            <a:r>
              <a:rPr sz="2000" spc="-5" dirty="0" err="1">
                <a:latin typeface="Times New Roman"/>
                <a:cs typeface="Times New Roman"/>
              </a:rPr>
              <a:t>métodos</a:t>
            </a:r>
            <a:r>
              <a:rPr sz="2000" dirty="0">
                <a:latin typeface="Times New Roman"/>
                <a:cs typeface="Times New Roman"/>
              </a:rPr>
              <a:t> </a:t>
            </a:r>
            <a:r>
              <a:rPr lang="es-ES" sz="2000" dirty="0" smtClean="0">
                <a:latin typeface="Times New Roman"/>
                <a:cs typeface="Times New Roman"/>
              </a:rPr>
              <a:t>de </a:t>
            </a:r>
            <a:r>
              <a:rPr lang="es-ES" sz="2000" spc="-5" dirty="0" smtClean="0">
                <a:latin typeface="Times New Roman"/>
                <a:cs typeface="Times New Roman"/>
              </a:rPr>
              <a:t>ensamblado</a:t>
            </a:r>
            <a:r>
              <a:rPr sz="2000" dirty="0" smtClean="0">
                <a:latin typeface="Times New Roman"/>
                <a:cs typeface="Times New Roman"/>
              </a:rPr>
              <a:t> </a:t>
            </a:r>
            <a:r>
              <a:rPr sz="2000" dirty="0">
                <a:latin typeface="Times New Roman"/>
                <a:cs typeface="Times New Roman"/>
              </a:rPr>
              <a:t>(agregado de </a:t>
            </a:r>
            <a:r>
              <a:rPr sz="2000" spc="-5" dirty="0">
                <a:latin typeface="Times New Roman"/>
                <a:cs typeface="Times New Roman"/>
              </a:rPr>
              <a:t>modelos:</a:t>
            </a:r>
            <a:r>
              <a:rPr sz="2000" spc="5" dirty="0">
                <a:latin typeface="Times New Roman"/>
                <a:cs typeface="Times New Roman"/>
              </a:rPr>
              <a:t> </a:t>
            </a:r>
            <a:r>
              <a:rPr sz="2000" spc="-5" dirty="0">
                <a:latin typeface="Times New Roman"/>
                <a:cs typeface="Times New Roman"/>
              </a:rPr>
              <a:t>bagging,</a:t>
            </a:r>
            <a:r>
              <a:rPr sz="2000" dirty="0">
                <a:latin typeface="Times New Roman"/>
                <a:cs typeface="Times New Roman"/>
              </a:rPr>
              <a:t> </a:t>
            </a:r>
            <a:r>
              <a:rPr sz="2000" spc="-5" dirty="0">
                <a:latin typeface="Times New Roman"/>
                <a:cs typeface="Times New Roman"/>
              </a:rPr>
              <a:t>boosting,</a:t>
            </a:r>
            <a:r>
              <a:rPr sz="2000" dirty="0">
                <a:latin typeface="Times New Roman"/>
                <a:cs typeface="Times New Roman"/>
              </a:rPr>
              <a:t> etc.)</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2719" y="314959"/>
            <a:ext cx="4264660" cy="566822"/>
          </a:xfrm>
          <a:prstGeom prst="rect">
            <a:avLst/>
          </a:prstGeom>
        </p:spPr>
        <p:txBody>
          <a:bodyPr vert="horz" wrap="square" lIns="0" tIns="12700" rIns="0" bIns="0" rtlCol="0">
            <a:spAutoFit/>
          </a:bodyPr>
          <a:lstStyle/>
          <a:p>
            <a:pPr marL="12700">
              <a:lnSpc>
                <a:spcPct val="100000"/>
              </a:lnSpc>
              <a:spcBef>
                <a:spcPts val="100"/>
              </a:spcBef>
            </a:pPr>
            <a:r>
              <a:rPr lang="es-ES" sz="3600" b="1" dirty="0" smtClean="0">
                <a:solidFill>
                  <a:srgbClr val="1F487C"/>
                </a:solidFill>
                <a:latin typeface="Times New Roman"/>
                <a:cs typeface="Times New Roman"/>
              </a:rPr>
              <a:t>3. E</a:t>
            </a:r>
            <a:r>
              <a:rPr sz="3600" b="1" dirty="0" err="1" smtClean="0">
                <a:solidFill>
                  <a:srgbClr val="1F487C"/>
                </a:solidFill>
                <a:latin typeface="Times New Roman"/>
                <a:cs typeface="Times New Roman"/>
              </a:rPr>
              <a:t>xplicar</a:t>
            </a:r>
            <a:r>
              <a:rPr sz="3600" b="1" spc="-20" dirty="0" smtClean="0">
                <a:solidFill>
                  <a:srgbClr val="1F487C"/>
                </a:solidFill>
                <a:latin typeface="Times New Roman"/>
                <a:cs typeface="Times New Roman"/>
              </a:rPr>
              <a:t> </a:t>
            </a:r>
            <a:r>
              <a:rPr sz="3600" b="1" dirty="0">
                <a:solidFill>
                  <a:srgbClr val="1F487C"/>
                </a:solidFill>
                <a:latin typeface="Times New Roman"/>
                <a:cs typeface="Times New Roman"/>
              </a:rPr>
              <a:t>o</a:t>
            </a:r>
            <a:r>
              <a:rPr sz="3600" b="1" spc="-20" dirty="0">
                <a:solidFill>
                  <a:srgbClr val="1F487C"/>
                </a:solidFill>
                <a:latin typeface="Times New Roman"/>
                <a:cs typeface="Times New Roman"/>
              </a:rPr>
              <a:t> </a:t>
            </a:r>
            <a:r>
              <a:rPr sz="3600" b="1" spc="-10" dirty="0">
                <a:solidFill>
                  <a:srgbClr val="1F487C"/>
                </a:solidFill>
                <a:latin typeface="Times New Roman"/>
                <a:cs typeface="Times New Roman"/>
              </a:rPr>
              <a:t>predecir</a:t>
            </a:r>
            <a:endParaRPr sz="3600" dirty="0">
              <a:latin typeface="Times New Roman"/>
              <a:cs typeface="Times New Roman"/>
            </a:endParaRPr>
          </a:p>
        </p:txBody>
      </p:sp>
      <p:sp>
        <p:nvSpPr>
          <p:cNvPr id="3" name="object 3"/>
          <p:cNvSpPr txBox="1"/>
          <p:nvPr/>
        </p:nvSpPr>
        <p:spPr>
          <a:xfrm>
            <a:off x="658749" y="1266825"/>
            <a:ext cx="9372600" cy="5084084"/>
          </a:xfrm>
          <a:prstGeom prst="rect">
            <a:avLst/>
          </a:prstGeom>
        </p:spPr>
        <p:txBody>
          <a:bodyPr vert="horz" wrap="square" lIns="0" tIns="29845" rIns="0" bIns="0" rtlCol="0">
            <a:spAutoFit/>
          </a:bodyPr>
          <a:lstStyle/>
          <a:p>
            <a:pPr marL="12700" marR="5080" algn="just">
              <a:lnSpc>
                <a:spcPct val="95800"/>
              </a:lnSpc>
              <a:spcBef>
                <a:spcPts val="235"/>
              </a:spcBef>
            </a:pPr>
            <a:r>
              <a:rPr sz="2400" dirty="0">
                <a:latin typeface="Times New Roman"/>
                <a:cs typeface="Times New Roman"/>
              </a:rPr>
              <a:t>Los</a:t>
            </a:r>
            <a:r>
              <a:rPr sz="2400" spc="-10" dirty="0">
                <a:latin typeface="Times New Roman"/>
                <a:cs typeface="Times New Roman"/>
              </a:rPr>
              <a:t> </a:t>
            </a:r>
            <a:r>
              <a:rPr sz="2400" u="sng" spc="-5" dirty="0" err="1">
                <a:latin typeface="Times New Roman"/>
                <a:cs typeface="Times New Roman"/>
              </a:rPr>
              <a:t>modelos</a:t>
            </a:r>
            <a:r>
              <a:rPr sz="2400" u="sng" dirty="0">
                <a:latin typeface="Times New Roman"/>
                <a:cs typeface="Times New Roman"/>
              </a:rPr>
              <a:t> </a:t>
            </a:r>
            <a:r>
              <a:rPr sz="2400" spc="-5" dirty="0" err="1" smtClean="0">
                <a:latin typeface="Times New Roman"/>
                <a:cs typeface="Times New Roman"/>
              </a:rPr>
              <a:t>estadísticos</a:t>
            </a:r>
            <a:r>
              <a:rPr lang="es-ES" sz="2400" spc="-5" dirty="0">
                <a:latin typeface="Times New Roman"/>
                <a:cs typeface="Times New Roman"/>
              </a:rPr>
              <a:t> </a:t>
            </a:r>
            <a:r>
              <a:rPr sz="2400" spc="-5" dirty="0" err="1" smtClean="0">
                <a:latin typeface="Times New Roman"/>
                <a:cs typeface="Times New Roman"/>
              </a:rPr>
              <a:t>tienen</a:t>
            </a:r>
            <a:r>
              <a:rPr sz="2400" dirty="0" smtClean="0">
                <a:latin typeface="Times New Roman"/>
                <a:cs typeface="Times New Roman"/>
              </a:rPr>
              <a:t> </a:t>
            </a:r>
            <a:r>
              <a:rPr sz="2400" dirty="0">
                <a:latin typeface="Times New Roman"/>
                <a:cs typeface="Times New Roman"/>
              </a:rPr>
              <a:t>la</a:t>
            </a:r>
            <a:r>
              <a:rPr sz="2400" spc="5" dirty="0">
                <a:latin typeface="Times New Roman"/>
                <a:cs typeface="Times New Roman"/>
              </a:rPr>
              <a:t> </a:t>
            </a:r>
            <a:r>
              <a:rPr sz="2400" dirty="0">
                <a:latin typeface="Times New Roman"/>
                <a:cs typeface="Times New Roman"/>
              </a:rPr>
              <a:t>ventaja</a:t>
            </a:r>
            <a:r>
              <a:rPr sz="2400" spc="-10" dirty="0">
                <a:latin typeface="Times New Roman"/>
                <a:cs typeface="Times New Roman"/>
              </a:rPr>
              <a:t> </a:t>
            </a:r>
            <a:r>
              <a:rPr sz="2400" spc="-5" dirty="0">
                <a:latin typeface="Times New Roman"/>
                <a:cs typeface="Times New Roman"/>
              </a:rPr>
              <a:t>de</a:t>
            </a:r>
            <a:r>
              <a:rPr sz="2400" spc="5" dirty="0">
                <a:latin typeface="Times New Roman"/>
                <a:cs typeface="Times New Roman"/>
              </a:rPr>
              <a:t> </a:t>
            </a:r>
            <a:r>
              <a:rPr lang="es-ES" sz="2400" u="sng" spc="-5" dirty="0" smtClean="0">
                <a:latin typeface="Times New Roman"/>
                <a:cs typeface="Times New Roman"/>
              </a:rPr>
              <a:t>proporcionar </a:t>
            </a:r>
            <a:r>
              <a:rPr sz="2400" u="sng" dirty="0" err="1" smtClean="0">
                <a:latin typeface="Times New Roman"/>
                <a:cs typeface="Times New Roman"/>
              </a:rPr>
              <a:t>información</a:t>
            </a:r>
            <a:r>
              <a:rPr sz="2400" u="sng" dirty="0" smtClean="0">
                <a:latin typeface="Times New Roman"/>
                <a:cs typeface="Times New Roman"/>
              </a:rPr>
              <a:t> </a:t>
            </a:r>
            <a:r>
              <a:rPr sz="2400" spc="-5" dirty="0" err="1" smtClean="0">
                <a:latin typeface="Times New Roman"/>
                <a:cs typeface="Times New Roman"/>
              </a:rPr>
              <a:t>sobre</a:t>
            </a:r>
            <a:r>
              <a:rPr sz="2400" dirty="0" smtClean="0">
                <a:latin typeface="Times New Roman"/>
                <a:cs typeface="Times New Roman"/>
              </a:rPr>
              <a:t> </a:t>
            </a:r>
            <a:r>
              <a:rPr sz="2400" spc="-5" dirty="0">
                <a:latin typeface="Times New Roman"/>
                <a:cs typeface="Times New Roman"/>
              </a:rPr>
              <a:t>la</a:t>
            </a:r>
            <a:r>
              <a:rPr sz="2400" spc="5" dirty="0">
                <a:latin typeface="Times New Roman"/>
                <a:cs typeface="Times New Roman"/>
              </a:rPr>
              <a:t> </a:t>
            </a:r>
            <a:r>
              <a:rPr sz="2400" spc="-5" dirty="0">
                <a:latin typeface="Times New Roman"/>
                <a:cs typeface="Times New Roman"/>
              </a:rPr>
              <a:t>aportación</a:t>
            </a:r>
            <a:r>
              <a:rPr sz="2400" spc="5" dirty="0">
                <a:latin typeface="Times New Roman"/>
                <a:cs typeface="Times New Roman"/>
              </a:rPr>
              <a:t> </a:t>
            </a:r>
            <a:r>
              <a:rPr sz="2400" spc="-5" dirty="0">
                <a:latin typeface="Times New Roman"/>
                <a:cs typeface="Times New Roman"/>
              </a:rPr>
              <a:t>de </a:t>
            </a:r>
            <a:r>
              <a:rPr sz="2400" dirty="0">
                <a:latin typeface="Times New Roman"/>
                <a:cs typeface="Times New Roman"/>
              </a:rPr>
              <a:t>las</a:t>
            </a:r>
            <a:r>
              <a:rPr sz="2400" spc="-5" dirty="0">
                <a:latin typeface="Times New Roman"/>
                <a:cs typeface="Times New Roman"/>
              </a:rPr>
              <a:t> diferentes variables</a:t>
            </a:r>
            <a:r>
              <a:rPr sz="2400" spc="-10" dirty="0">
                <a:latin typeface="Times New Roman"/>
                <a:cs typeface="Times New Roman"/>
              </a:rPr>
              <a:t> </a:t>
            </a:r>
            <a:r>
              <a:rPr sz="2400" dirty="0">
                <a:latin typeface="Times New Roman"/>
                <a:cs typeface="Times New Roman"/>
              </a:rPr>
              <a:t>input</a:t>
            </a:r>
            <a:r>
              <a:rPr sz="2400" spc="-15" dirty="0">
                <a:latin typeface="Times New Roman"/>
                <a:cs typeface="Times New Roman"/>
              </a:rPr>
              <a:t> </a:t>
            </a:r>
            <a:r>
              <a:rPr sz="2400" dirty="0">
                <a:latin typeface="Times New Roman"/>
                <a:cs typeface="Times New Roman"/>
              </a:rPr>
              <a:t>al</a:t>
            </a:r>
            <a:r>
              <a:rPr sz="2400" spc="5" dirty="0">
                <a:latin typeface="Times New Roman"/>
                <a:cs typeface="Times New Roman"/>
              </a:rPr>
              <a:t> </a:t>
            </a:r>
            <a:r>
              <a:rPr sz="2400" dirty="0">
                <a:latin typeface="Times New Roman"/>
                <a:cs typeface="Times New Roman"/>
              </a:rPr>
              <a:t>modelo,</a:t>
            </a:r>
            <a:r>
              <a:rPr sz="2400" spc="-10" dirty="0">
                <a:latin typeface="Times New Roman"/>
                <a:cs typeface="Times New Roman"/>
              </a:rPr>
              <a:t> </a:t>
            </a:r>
            <a:r>
              <a:rPr sz="2400" spc="-5" dirty="0">
                <a:latin typeface="Times New Roman"/>
                <a:cs typeface="Times New Roman"/>
              </a:rPr>
              <a:t>de</a:t>
            </a:r>
            <a:r>
              <a:rPr sz="2400" spc="5" dirty="0">
                <a:latin typeface="Times New Roman"/>
                <a:cs typeface="Times New Roman"/>
              </a:rPr>
              <a:t> </a:t>
            </a:r>
            <a:r>
              <a:rPr sz="2400" dirty="0">
                <a:latin typeface="Times New Roman"/>
                <a:cs typeface="Times New Roman"/>
              </a:rPr>
              <a:t>la </a:t>
            </a:r>
            <a:r>
              <a:rPr sz="2400" spc="5" dirty="0">
                <a:latin typeface="Times New Roman"/>
                <a:cs typeface="Times New Roman"/>
              </a:rPr>
              <a:t> </a:t>
            </a:r>
            <a:r>
              <a:rPr sz="2400" dirty="0">
                <a:latin typeface="Times New Roman"/>
                <a:cs typeface="Times New Roman"/>
              </a:rPr>
              <a:t>significatividad, </a:t>
            </a:r>
            <a:r>
              <a:rPr sz="2400" spc="-5" dirty="0">
                <a:latin typeface="Times New Roman"/>
                <a:cs typeface="Times New Roman"/>
              </a:rPr>
              <a:t>signo</a:t>
            </a:r>
            <a:r>
              <a:rPr sz="2400" dirty="0">
                <a:latin typeface="Times New Roman"/>
                <a:cs typeface="Times New Roman"/>
              </a:rPr>
              <a:t> y</a:t>
            </a:r>
            <a:r>
              <a:rPr sz="2400" spc="5" dirty="0">
                <a:latin typeface="Times New Roman"/>
                <a:cs typeface="Times New Roman"/>
              </a:rPr>
              <a:t> </a:t>
            </a:r>
            <a:r>
              <a:rPr sz="2400" spc="-5" dirty="0">
                <a:latin typeface="Times New Roman"/>
                <a:cs typeface="Times New Roman"/>
              </a:rPr>
              <a:t>magnitud</a:t>
            </a:r>
            <a:r>
              <a:rPr sz="2400" dirty="0">
                <a:latin typeface="Times New Roman"/>
                <a:cs typeface="Times New Roman"/>
              </a:rPr>
              <a:t> </a:t>
            </a:r>
            <a:r>
              <a:rPr sz="2400" spc="-5" dirty="0">
                <a:latin typeface="Times New Roman"/>
                <a:cs typeface="Times New Roman"/>
              </a:rPr>
              <a:t>de</a:t>
            </a:r>
            <a:r>
              <a:rPr sz="2400" dirty="0">
                <a:latin typeface="Times New Roman"/>
                <a:cs typeface="Times New Roman"/>
              </a:rPr>
              <a:t> los</a:t>
            </a:r>
            <a:r>
              <a:rPr sz="2400" spc="5" dirty="0">
                <a:latin typeface="Times New Roman"/>
                <a:cs typeface="Times New Roman"/>
              </a:rPr>
              <a:t> </a:t>
            </a:r>
            <a:r>
              <a:rPr sz="2400" spc="-5" dirty="0" err="1">
                <a:latin typeface="Times New Roman"/>
                <a:cs typeface="Times New Roman"/>
              </a:rPr>
              <a:t>parámetros</a:t>
            </a:r>
            <a:r>
              <a:rPr sz="2400" dirty="0">
                <a:latin typeface="Times New Roman"/>
                <a:cs typeface="Times New Roman"/>
              </a:rPr>
              <a:t> </a:t>
            </a:r>
            <a:r>
              <a:rPr sz="2400" spc="-5" dirty="0" err="1" smtClean="0">
                <a:latin typeface="Times New Roman"/>
                <a:cs typeface="Times New Roman"/>
              </a:rPr>
              <a:t>correspondientes</a:t>
            </a:r>
            <a:r>
              <a:rPr lang="es-ES" sz="2400" spc="-5" dirty="0" smtClean="0">
                <a:latin typeface="Times New Roman"/>
                <a:cs typeface="Times New Roman"/>
              </a:rPr>
              <a:t>, ganando </a:t>
            </a:r>
            <a:r>
              <a:rPr lang="es-ES" sz="2400" u="sng" spc="-5" dirty="0" err="1" smtClean="0">
                <a:latin typeface="Times New Roman"/>
                <a:cs typeface="Times New Roman"/>
              </a:rPr>
              <a:t>explicabilidad</a:t>
            </a:r>
            <a:r>
              <a:rPr sz="2400" spc="-5" dirty="0" smtClean="0">
                <a:latin typeface="Times New Roman"/>
                <a:cs typeface="Times New Roman"/>
              </a:rPr>
              <a:t>.</a:t>
            </a:r>
            <a:r>
              <a:rPr lang="es-ES" sz="2400" dirty="0">
                <a:latin typeface="Times New Roman"/>
                <a:cs typeface="Times New Roman"/>
              </a:rPr>
              <a:t> </a:t>
            </a:r>
            <a:r>
              <a:rPr sz="2400" dirty="0" smtClean="0">
                <a:latin typeface="Times New Roman"/>
                <a:cs typeface="Times New Roman"/>
              </a:rPr>
              <a:t>Pero</a:t>
            </a:r>
            <a:r>
              <a:rPr sz="2400" spc="5" dirty="0" smtClean="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spc="-5" dirty="0">
                <a:latin typeface="Times New Roman"/>
                <a:cs typeface="Times New Roman"/>
              </a:rPr>
              <a:t>menudo</a:t>
            </a:r>
            <a:r>
              <a:rPr sz="2400" spc="5" dirty="0">
                <a:latin typeface="Times New Roman"/>
                <a:cs typeface="Times New Roman"/>
              </a:rPr>
              <a:t> </a:t>
            </a:r>
            <a:r>
              <a:rPr sz="2400" dirty="0" err="1" smtClean="0">
                <a:latin typeface="Times New Roman"/>
                <a:cs typeface="Times New Roman"/>
              </a:rPr>
              <a:t>es</a:t>
            </a:r>
            <a:r>
              <a:rPr lang="es-ES" sz="2400" dirty="0" smtClean="0">
                <a:latin typeface="Times New Roman"/>
                <a:cs typeface="Times New Roman"/>
              </a:rPr>
              <a:t>t</a:t>
            </a:r>
            <a:r>
              <a:rPr sz="2400" dirty="0" smtClean="0">
                <a:latin typeface="Times New Roman"/>
                <a:cs typeface="Times New Roman"/>
              </a:rPr>
              <a:t>o</a:t>
            </a:r>
            <a:r>
              <a:rPr sz="2400" spc="5" dirty="0" smtClean="0">
                <a:latin typeface="Times New Roman"/>
                <a:cs typeface="Times New Roman"/>
              </a:rPr>
              <a:t> </a:t>
            </a:r>
            <a:r>
              <a:rPr sz="2400" spc="-10" dirty="0">
                <a:latin typeface="Times New Roman"/>
                <a:cs typeface="Times New Roman"/>
              </a:rPr>
              <a:t>es</a:t>
            </a:r>
            <a:r>
              <a:rPr sz="2400" spc="-5" dirty="0">
                <a:latin typeface="Times New Roman"/>
                <a:cs typeface="Times New Roman"/>
              </a:rPr>
              <a:t> </a:t>
            </a:r>
            <a:r>
              <a:rPr sz="2400" dirty="0" err="1">
                <a:latin typeface="Times New Roman"/>
                <a:cs typeface="Times New Roman"/>
              </a:rPr>
              <a:t>poco</a:t>
            </a:r>
            <a:r>
              <a:rPr sz="2400" spc="5" dirty="0">
                <a:latin typeface="Times New Roman"/>
                <a:cs typeface="Times New Roman"/>
              </a:rPr>
              <a:t> </a:t>
            </a:r>
            <a:r>
              <a:rPr sz="2400" spc="-5" dirty="0" err="1" smtClean="0">
                <a:latin typeface="Times New Roman"/>
                <a:cs typeface="Times New Roman"/>
              </a:rPr>
              <a:t>importante</a:t>
            </a:r>
            <a:r>
              <a:rPr lang="es-ES" sz="2400" spc="-5" dirty="0" smtClean="0">
                <a:latin typeface="Times New Roman"/>
                <a:cs typeface="Times New Roman"/>
              </a:rPr>
              <a:t> respecto</a:t>
            </a:r>
            <a:r>
              <a:rPr sz="2400" spc="5" dirty="0" smtClean="0">
                <a:latin typeface="Times New Roman"/>
                <a:cs typeface="Times New Roman"/>
              </a:rPr>
              <a:t> </a:t>
            </a:r>
            <a:r>
              <a:rPr lang="es-ES" sz="2400" dirty="0" smtClean="0">
                <a:latin typeface="Times New Roman"/>
                <a:cs typeface="Times New Roman"/>
              </a:rPr>
              <a:t>de</a:t>
            </a:r>
            <a:r>
              <a:rPr sz="2400" spc="10" dirty="0" smtClean="0">
                <a:latin typeface="Times New Roman"/>
                <a:cs typeface="Times New Roman"/>
              </a:rPr>
              <a:t> </a:t>
            </a:r>
            <a:r>
              <a:rPr sz="2400" dirty="0" smtClean="0">
                <a:latin typeface="Times New Roman"/>
                <a:cs typeface="Times New Roman"/>
              </a:rPr>
              <a:t>la</a:t>
            </a:r>
            <a:r>
              <a:rPr lang="es-ES" sz="2400" spc="5" dirty="0">
                <a:latin typeface="Times New Roman"/>
                <a:cs typeface="Times New Roman"/>
              </a:rPr>
              <a:t> </a:t>
            </a:r>
            <a:r>
              <a:rPr sz="2400" spc="-5" dirty="0" err="1" smtClean="0">
                <a:latin typeface="Times New Roman"/>
                <a:cs typeface="Times New Roman"/>
              </a:rPr>
              <a:t>capacidad</a:t>
            </a:r>
            <a:r>
              <a:rPr sz="2400" spc="-5" dirty="0" smtClean="0">
                <a:latin typeface="Times New Roman"/>
                <a:cs typeface="Times New Roman"/>
              </a:rPr>
              <a:t> </a:t>
            </a:r>
            <a:r>
              <a:rPr sz="2400" spc="-635" dirty="0" smtClean="0">
                <a:latin typeface="Times New Roman"/>
                <a:cs typeface="Times New Roman"/>
              </a:rPr>
              <a:t> </a:t>
            </a:r>
            <a:r>
              <a:rPr sz="2400" spc="-5" dirty="0">
                <a:latin typeface="Times New Roman"/>
                <a:cs typeface="Times New Roman"/>
              </a:rPr>
              <a:t>predictiva</a:t>
            </a:r>
            <a:r>
              <a:rPr sz="2400" spc="-15" dirty="0">
                <a:latin typeface="Times New Roman"/>
                <a:cs typeface="Times New Roman"/>
              </a:rPr>
              <a:t> </a:t>
            </a:r>
            <a:r>
              <a:rPr sz="2400" spc="-5" dirty="0">
                <a:latin typeface="Times New Roman"/>
                <a:cs typeface="Times New Roman"/>
              </a:rPr>
              <a:t>del</a:t>
            </a:r>
            <a:r>
              <a:rPr sz="2400" dirty="0">
                <a:latin typeface="Times New Roman"/>
                <a:cs typeface="Times New Roman"/>
              </a:rPr>
              <a:t> </a:t>
            </a:r>
            <a:r>
              <a:rPr sz="2400" spc="-5" dirty="0">
                <a:latin typeface="Times New Roman"/>
                <a:cs typeface="Times New Roman"/>
              </a:rPr>
              <a:t>modelo.</a:t>
            </a:r>
            <a:endParaRPr sz="2400" dirty="0">
              <a:latin typeface="Times New Roman"/>
              <a:cs typeface="Times New Roman"/>
            </a:endParaRPr>
          </a:p>
          <a:p>
            <a:pPr algn="just">
              <a:lnSpc>
                <a:spcPct val="100000"/>
              </a:lnSpc>
            </a:pPr>
            <a:endParaRPr sz="2400" dirty="0">
              <a:latin typeface="Times New Roman"/>
              <a:cs typeface="Times New Roman"/>
            </a:endParaRPr>
          </a:p>
          <a:p>
            <a:pPr marL="12700" marR="288290" algn="just">
              <a:lnSpc>
                <a:spcPts val="2990"/>
              </a:lnSpc>
            </a:pPr>
            <a:r>
              <a:rPr sz="2400" dirty="0">
                <a:latin typeface="Times New Roman"/>
                <a:cs typeface="Times New Roman"/>
              </a:rPr>
              <a:t>Las</a:t>
            </a:r>
            <a:r>
              <a:rPr sz="2400" spc="-5" dirty="0">
                <a:latin typeface="Times New Roman"/>
                <a:cs typeface="Times New Roman"/>
              </a:rPr>
              <a:t> medidas</a:t>
            </a:r>
            <a:r>
              <a:rPr sz="2400" spc="5" dirty="0">
                <a:latin typeface="Times New Roman"/>
                <a:cs typeface="Times New Roman"/>
              </a:rPr>
              <a:t> </a:t>
            </a:r>
            <a:r>
              <a:rPr sz="2400" dirty="0">
                <a:latin typeface="Times New Roman"/>
                <a:cs typeface="Times New Roman"/>
              </a:rPr>
              <a:t>clásicas</a:t>
            </a:r>
            <a:r>
              <a:rPr sz="2400" spc="-5" dirty="0">
                <a:latin typeface="Times New Roman"/>
                <a:cs typeface="Times New Roman"/>
              </a:rPr>
              <a:t> de</a:t>
            </a:r>
            <a:r>
              <a:rPr sz="2400" spc="5" dirty="0">
                <a:latin typeface="Times New Roman"/>
                <a:cs typeface="Times New Roman"/>
              </a:rPr>
              <a:t> </a:t>
            </a:r>
            <a:r>
              <a:rPr sz="2400" dirty="0">
                <a:latin typeface="Times New Roman"/>
                <a:cs typeface="Times New Roman"/>
              </a:rPr>
              <a:t>ajuste,</a:t>
            </a:r>
            <a:r>
              <a:rPr sz="2400" spc="5" dirty="0">
                <a:latin typeface="Times New Roman"/>
                <a:cs typeface="Times New Roman"/>
              </a:rPr>
              <a:t> </a:t>
            </a:r>
            <a:r>
              <a:rPr sz="2400" spc="-5" dirty="0">
                <a:latin typeface="Times New Roman"/>
                <a:cs typeface="Times New Roman"/>
              </a:rPr>
              <a:t>significatividad,</a:t>
            </a:r>
            <a:r>
              <a:rPr sz="2400" spc="5" dirty="0">
                <a:latin typeface="Times New Roman"/>
                <a:cs typeface="Times New Roman"/>
              </a:rPr>
              <a:t> </a:t>
            </a:r>
            <a:r>
              <a:rPr sz="2400" spc="-5" dirty="0">
                <a:latin typeface="Times New Roman"/>
                <a:cs typeface="Times New Roman"/>
              </a:rPr>
              <a:t>etc.</a:t>
            </a:r>
            <a:r>
              <a:rPr sz="2400" dirty="0">
                <a:latin typeface="Times New Roman"/>
                <a:cs typeface="Times New Roman"/>
              </a:rPr>
              <a:t> </a:t>
            </a:r>
            <a:r>
              <a:rPr sz="2400" spc="-5" dirty="0">
                <a:latin typeface="Times New Roman"/>
                <a:cs typeface="Times New Roman"/>
              </a:rPr>
              <a:t>pasan</a:t>
            </a:r>
            <a:r>
              <a:rPr sz="2400" spc="-10"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spc="-5" dirty="0">
                <a:latin typeface="Times New Roman"/>
                <a:cs typeface="Times New Roman"/>
              </a:rPr>
              <a:t>segundo </a:t>
            </a:r>
            <a:r>
              <a:rPr sz="2400" spc="-635" dirty="0">
                <a:latin typeface="Times New Roman"/>
                <a:cs typeface="Times New Roman"/>
              </a:rPr>
              <a:t> </a:t>
            </a:r>
            <a:r>
              <a:rPr sz="2400" spc="-5" dirty="0">
                <a:latin typeface="Times New Roman"/>
                <a:cs typeface="Times New Roman"/>
              </a:rPr>
              <a:t>plano</a:t>
            </a:r>
            <a:r>
              <a:rPr sz="2400" dirty="0">
                <a:latin typeface="Times New Roman"/>
                <a:cs typeface="Times New Roman"/>
              </a:rPr>
              <a:t> cuando</a:t>
            </a:r>
            <a:r>
              <a:rPr sz="2400" spc="5" dirty="0">
                <a:latin typeface="Times New Roman"/>
                <a:cs typeface="Times New Roman"/>
              </a:rPr>
              <a:t> </a:t>
            </a:r>
            <a:r>
              <a:rPr sz="2400" spc="-5" dirty="0">
                <a:latin typeface="Times New Roman"/>
                <a:cs typeface="Times New Roman"/>
              </a:rPr>
              <a:t>se</a:t>
            </a:r>
            <a:r>
              <a:rPr sz="2400" spc="5" dirty="0">
                <a:latin typeface="Times New Roman"/>
                <a:cs typeface="Times New Roman"/>
              </a:rPr>
              <a:t> </a:t>
            </a:r>
            <a:r>
              <a:rPr sz="2400" spc="-5" dirty="0">
                <a:latin typeface="Times New Roman"/>
                <a:cs typeface="Times New Roman"/>
              </a:rPr>
              <a:t>tiene</a:t>
            </a:r>
            <a:r>
              <a:rPr sz="2400" dirty="0">
                <a:latin typeface="Times New Roman"/>
                <a:cs typeface="Times New Roman"/>
              </a:rPr>
              <a:t> mucha</a:t>
            </a:r>
            <a:r>
              <a:rPr sz="2400" spc="5" dirty="0">
                <a:latin typeface="Times New Roman"/>
                <a:cs typeface="Times New Roman"/>
              </a:rPr>
              <a:t> </a:t>
            </a:r>
            <a:r>
              <a:rPr sz="2400" spc="-5" dirty="0">
                <a:latin typeface="Times New Roman"/>
                <a:cs typeface="Times New Roman"/>
              </a:rPr>
              <a:t>información</a:t>
            </a:r>
            <a:r>
              <a:rPr sz="2400" spc="-10" dirty="0">
                <a:latin typeface="Times New Roman"/>
                <a:cs typeface="Times New Roman"/>
              </a:rPr>
              <a:t> </a:t>
            </a:r>
            <a:r>
              <a:rPr sz="2400" dirty="0">
                <a:latin typeface="Times New Roman"/>
                <a:cs typeface="Times New Roman"/>
              </a:rPr>
              <a:t>y el</a:t>
            </a:r>
            <a:r>
              <a:rPr sz="2400" spc="-5" dirty="0">
                <a:latin typeface="Times New Roman"/>
                <a:cs typeface="Times New Roman"/>
              </a:rPr>
              <a:t> objetivo</a:t>
            </a:r>
            <a:r>
              <a:rPr sz="2400" dirty="0">
                <a:latin typeface="Times New Roman"/>
                <a:cs typeface="Times New Roman"/>
              </a:rPr>
              <a:t> es</a:t>
            </a:r>
            <a:r>
              <a:rPr sz="2400" spc="-5" dirty="0">
                <a:latin typeface="Times New Roman"/>
                <a:cs typeface="Times New Roman"/>
              </a:rPr>
              <a:t> predecir.</a:t>
            </a:r>
            <a:endParaRPr sz="2400" dirty="0">
              <a:latin typeface="Times New Roman"/>
              <a:cs typeface="Times New Roman"/>
            </a:endParaRPr>
          </a:p>
          <a:p>
            <a:pPr algn="just">
              <a:lnSpc>
                <a:spcPct val="100000"/>
              </a:lnSpc>
              <a:spcBef>
                <a:spcPts val="40"/>
              </a:spcBef>
            </a:pPr>
            <a:endParaRPr sz="2400" dirty="0">
              <a:latin typeface="Times New Roman"/>
              <a:cs typeface="Times New Roman"/>
            </a:endParaRPr>
          </a:p>
          <a:p>
            <a:pPr marL="12700" marR="86360" algn="just">
              <a:lnSpc>
                <a:spcPct val="95800"/>
              </a:lnSpc>
              <a:spcBef>
                <a:spcPts val="5"/>
              </a:spcBef>
            </a:pPr>
            <a:r>
              <a:rPr sz="2400" dirty="0">
                <a:latin typeface="Times New Roman"/>
                <a:cs typeface="Times New Roman"/>
              </a:rPr>
              <a:t>La</a:t>
            </a:r>
            <a:r>
              <a:rPr sz="2400" spc="5" dirty="0">
                <a:latin typeface="Times New Roman"/>
                <a:cs typeface="Times New Roman"/>
              </a:rPr>
              <a:t> </a:t>
            </a:r>
            <a:r>
              <a:rPr sz="2400" spc="-5" dirty="0">
                <a:latin typeface="Times New Roman"/>
                <a:cs typeface="Times New Roman"/>
              </a:rPr>
              <a:t>precisión,</a:t>
            </a:r>
            <a:r>
              <a:rPr sz="2400" spc="5" dirty="0">
                <a:latin typeface="Times New Roman"/>
                <a:cs typeface="Times New Roman"/>
              </a:rPr>
              <a:t> </a:t>
            </a:r>
            <a:r>
              <a:rPr sz="2400" b="1" spc="-5" dirty="0">
                <a:latin typeface="Times New Roman"/>
                <a:cs typeface="Times New Roman"/>
              </a:rPr>
              <a:t>capacidad</a:t>
            </a:r>
            <a:r>
              <a:rPr sz="2400" b="1" spc="5" dirty="0">
                <a:latin typeface="Times New Roman"/>
                <a:cs typeface="Times New Roman"/>
              </a:rPr>
              <a:t> </a:t>
            </a:r>
            <a:r>
              <a:rPr sz="2400" b="1" spc="-5" dirty="0">
                <a:latin typeface="Times New Roman"/>
                <a:cs typeface="Times New Roman"/>
              </a:rPr>
              <a:t>predictiva</a:t>
            </a:r>
            <a:r>
              <a:rPr sz="2400" b="1" dirty="0">
                <a:latin typeface="Times New Roman"/>
                <a:cs typeface="Times New Roman"/>
              </a:rPr>
              <a:t> </a:t>
            </a:r>
            <a:r>
              <a:rPr sz="2400" spc="-5" dirty="0">
                <a:latin typeface="Times New Roman"/>
                <a:cs typeface="Times New Roman"/>
              </a:rPr>
              <a:t>bajo</a:t>
            </a:r>
            <a:r>
              <a:rPr sz="2400" spc="-10" dirty="0">
                <a:latin typeface="Times New Roman"/>
                <a:cs typeface="Times New Roman"/>
              </a:rPr>
              <a:t> </a:t>
            </a:r>
            <a:r>
              <a:rPr sz="2400" spc="-5" dirty="0">
                <a:latin typeface="Times New Roman"/>
                <a:cs typeface="Times New Roman"/>
              </a:rPr>
              <a:t>diferentes perspectivas</a:t>
            </a:r>
            <a:r>
              <a:rPr sz="2400" dirty="0">
                <a:latin typeface="Times New Roman"/>
                <a:cs typeface="Times New Roman"/>
              </a:rPr>
              <a:t> y </a:t>
            </a:r>
            <a:r>
              <a:rPr sz="2400" spc="5" dirty="0">
                <a:latin typeface="Times New Roman"/>
                <a:cs typeface="Times New Roman"/>
              </a:rPr>
              <a:t> </a:t>
            </a:r>
            <a:r>
              <a:rPr sz="2400" spc="-5" dirty="0">
                <a:latin typeface="Times New Roman"/>
                <a:cs typeface="Times New Roman"/>
              </a:rPr>
              <a:t>funciones de</a:t>
            </a:r>
            <a:r>
              <a:rPr sz="2400" spc="10" dirty="0">
                <a:latin typeface="Times New Roman"/>
                <a:cs typeface="Times New Roman"/>
              </a:rPr>
              <a:t> </a:t>
            </a:r>
            <a:r>
              <a:rPr sz="2400" spc="-5" dirty="0">
                <a:latin typeface="Times New Roman"/>
                <a:cs typeface="Times New Roman"/>
              </a:rPr>
              <a:t>error</a:t>
            </a:r>
            <a:r>
              <a:rPr sz="2400" spc="5" dirty="0">
                <a:latin typeface="Times New Roman"/>
                <a:cs typeface="Times New Roman"/>
              </a:rPr>
              <a:t> </a:t>
            </a:r>
            <a:r>
              <a:rPr sz="2400" spc="-5" dirty="0">
                <a:latin typeface="Times New Roman"/>
                <a:cs typeface="Times New Roman"/>
              </a:rPr>
              <a:t>son</a:t>
            </a:r>
            <a:r>
              <a:rPr sz="2400" spc="15" dirty="0">
                <a:latin typeface="Times New Roman"/>
                <a:cs typeface="Times New Roman"/>
              </a:rPr>
              <a:t> </a:t>
            </a:r>
            <a:r>
              <a:rPr sz="2400" dirty="0">
                <a:latin typeface="Times New Roman"/>
                <a:cs typeface="Times New Roman"/>
              </a:rPr>
              <a:t>más</a:t>
            </a:r>
            <a:r>
              <a:rPr sz="2400" spc="10" dirty="0">
                <a:latin typeface="Times New Roman"/>
                <a:cs typeface="Times New Roman"/>
              </a:rPr>
              <a:t> </a:t>
            </a:r>
            <a:r>
              <a:rPr sz="2400" spc="-5" dirty="0">
                <a:latin typeface="Times New Roman"/>
                <a:cs typeface="Times New Roman"/>
              </a:rPr>
              <a:t>importantes</a:t>
            </a:r>
            <a:r>
              <a:rPr sz="2400" spc="-10" dirty="0">
                <a:latin typeface="Times New Roman"/>
                <a:cs typeface="Times New Roman"/>
              </a:rPr>
              <a:t> </a:t>
            </a:r>
            <a:r>
              <a:rPr sz="2400" dirty="0">
                <a:latin typeface="Times New Roman"/>
                <a:cs typeface="Times New Roman"/>
              </a:rPr>
              <a:t>que</a:t>
            </a:r>
            <a:r>
              <a:rPr sz="2400" spc="10" dirty="0">
                <a:latin typeface="Times New Roman"/>
                <a:cs typeface="Times New Roman"/>
              </a:rPr>
              <a:t> </a:t>
            </a:r>
            <a:r>
              <a:rPr sz="2400" dirty="0">
                <a:latin typeface="Times New Roman"/>
                <a:cs typeface="Times New Roman"/>
              </a:rPr>
              <a:t>la</a:t>
            </a:r>
            <a:r>
              <a:rPr sz="2400" spc="10" dirty="0">
                <a:latin typeface="Times New Roman"/>
                <a:cs typeface="Times New Roman"/>
              </a:rPr>
              <a:t> </a:t>
            </a:r>
            <a:r>
              <a:rPr sz="2400" spc="-5" dirty="0">
                <a:latin typeface="Times New Roman"/>
                <a:cs typeface="Times New Roman"/>
              </a:rPr>
              <a:t>comprensión</a:t>
            </a:r>
            <a:r>
              <a:rPr sz="2400" spc="5" dirty="0">
                <a:latin typeface="Times New Roman"/>
                <a:cs typeface="Times New Roman"/>
              </a:rPr>
              <a:t> </a:t>
            </a:r>
            <a:r>
              <a:rPr sz="2400" spc="-5" dirty="0">
                <a:latin typeface="Times New Roman"/>
                <a:cs typeface="Times New Roman"/>
              </a:rPr>
              <a:t>lógica</a:t>
            </a:r>
            <a:r>
              <a:rPr sz="2400" spc="10" dirty="0">
                <a:latin typeface="Times New Roman"/>
                <a:cs typeface="Times New Roman"/>
              </a:rPr>
              <a:t> </a:t>
            </a:r>
            <a:r>
              <a:rPr sz="2400" spc="-5" dirty="0">
                <a:latin typeface="Times New Roman"/>
                <a:cs typeface="Times New Roman"/>
              </a:rPr>
              <a:t>del </a:t>
            </a:r>
            <a:r>
              <a:rPr sz="2400" spc="-635" dirty="0">
                <a:latin typeface="Times New Roman"/>
                <a:cs typeface="Times New Roman"/>
              </a:rPr>
              <a:t> </a:t>
            </a:r>
            <a:r>
              <a:rPr sz="2400" dirty="0">
                <a:latin typeface="Times New Roman"/>
                <a:cs typeface="Times New Roman"/>
              </a:rPr>
              <a:t>modelo</a:t>
            </a:r>
            <a:r>
              <a:rPr sz="2400" spc="-5" dirty="0">
                <a:latin typeface="Times New Roman"/>
                <a:cs typeface="Times New Roman"/>
              </a:rPr>
              <a:t> en</a:t>
            </a:r>
            <a:r>
              <a:rPr sz="2400" spc="-15" dirty="0">
                <a:latin typeface="Times New Roman"/>
                <a:cs typeface="Times New Roman"/>
              </a:rPr>
              <a:t> </a:t>
            </a:r>
            <a:r>
              <a:rPr sz="2400" dirty="0">
                <a:latin typeface="Times New Roman"/>
                <a:cs typeface="Times New Roman"/>
              </a:rPr>
              <a:t>el</a:t>
            </a:r>
            <a:r>
              <a:rPr sz="2400" spc="-10" dirty="0">
                <a:latin typeface="Times New Roman"/>
                <a:cs typeface="Times New Roman"/>
              </a:rPr>
              <a:t> </a:t>
            </a:r>
            <a:r>
              <a:rPr sz="2400" dirty="0" err="1">
                <a:latin typeface="Times New Roman"/>
                <a:cs typeface="Times New Roman"/>
              </a:rPr>
              <a:t>contexto</a:t>
            </a:r>
            <a:r>
              <a:rPr sz="2400" dirty="0" smtClean="0">
                <a:latin typeface="Times New Roman"/>
                <a:cs typeface="Times New Roman"/>
              </a:rPr>
              <a:t>.</a:t>
            </a:r>
            <a:endParaRPr lang="es-ES" sz="2400" dirty="0" smtClean="0">
              <a:latin typeface="Times New Roman"/>
              <a:cs typeface="Times New Roman"/>
            </a:endParaRPr>
          </a:p>
          <a:p>
            <a:pPr marL="12700" marR="86360" algn="just">
              <a:lnSpc>
                <a:spcPct val="95800"/>
              </a:lnSpc>
              <a:spcBef>
                <a:spcPts val="5"/>
              </a:spcBef>
            </a:pPr>
            <a:endParaRPr lang="es-ES" sz="2400" dirty="0">
              <a:latin typeface="Times New Roman"/>
              <a:cs typeface="Times New Roman"/>
            </a:endParaRPr>
          </a:p>
          <a:p>
            <a:pPr marL="12700" marR="86360" algn="just">
              <a:lnSpc>
                <a:spcPct val="95800"/>
              </a:lnSpc>
              <a:spcBef>
                <a:spcPts val="5"/>
              </a:spcBef>
            </a:pPr>
            <a:r>
              <a:rPr lang="es-ES" sz="2400" dirty="0" smtClean="0">
                <a:latin typeface="Times New Roman"/>
                <a:cs typeface="Times New Roman"/>
              </a:rPr>
              <a:t>Cuando la intención es </a:t>
            </a:r>
            <a:r>
              <a:rPr lang="es-ES" sz="2400" u="sng" dirty="0" smtClean="0">
                <a:latin typeface="Times New Roman"/>
                <a:cs typeface="Times New Roman"/>
              </a:rPr>
              <a:t>predecir</a:t>
            </a:r>
            <a:r>
              <a:rPr lang="es-ES" sz="2400" dirty="0" smtClean="0">
                <a:latin typeface="Times New Roman"/>
                <a:cs typeface="Times New Roman"/>
              </a:rPr>
              <a:t>, es preferible utilizar </a:t>
            </a:r>
            <a:r>
              <a:rPr lang="es-ES" sz="2400" u="sng" dirty="0" smtClean="0">
                <a:latin typeface="Times New Roman"/>
                <a:cs typeface="Times New Roman"/>
              </a:rPr>
              <a:t>métodos algorítmicos.</a:t>
            </a:r>
            <a:endParaRPr sz="2400" u="sng" dirty="0">
              <a:latin typeface="Times New Roman"/>
              <a:cs typeface="Times New Roman"/>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774700" y="1800225"/>
            <a:ext cx="9601200" cy="3462486"/>
          </a:xfrm>
        </p:spPr>
        <p:txBody>
          <a:bodyPr/>
          <a:lstStyle/>
          <a:p>
            <a:pPr marL="12700" marR="288290" algn="just">
              <a:lnSpc>
                <a:spcPts val="2990"/>
              </a:lnSpc>
            </a:pPr>
            <a:r>
              <a:rPr lang="es-ES" sz="3200" b="1" dirty="0" smtClean="0">
                <a:solidFill>
                  <a:srgbClr val="4F6128"/>
                </a:solidFill>
              </a:rPr>
              <a:t>Cuando no se conocen las relaciones entre las variables, o cuando estas relaciones no son lineales, es preferible aplicar la modelización algorítmica que la modelización clásica</a:t>
            </a:r>
          </a:p>
          <a:p>
            <a:pPr marL="12700" marR="288290" algn="just">
              <a:lnSpc>
                <a:spcPts val="2990"/>
              </a:lnSpc>
            </a:pPr>
            <a:endParaRPr lang="es-ES" sz="3200" b="1" dirty="0" smtClean="0">
              <a:solidFill>
                <a:srgbClr val="4F6128"/>
              </a:solidFill>
            </a:endParaRPr>
          </a:p>
          <a:p>
            <a:pPr marL="12700" marR="288290" algn="just">
              <a:lnSpc>
                <a:spcPts val="2990"/>
              </a:lnSpc>
            </a:pPr>
            <a:endParaRPr lang="es-ES" sz="3200" b="1" dirty="0">
              <a:solidFill>
                <a:srgbClr val="4F6128"/>
              </a:solidFill>
            </a:endParaRPr>
          </a:p>
          <a:p>
            <a:pPr marL="12700" marR="288290" algn="just">
              <a:lnSpc>
                <a:spcPts val="2990"/>
              </a:lnSpc>
            </a:pPr>
            <a:r>
              <a:rPr lang="es-ES" sz="3200" b="1" dirty="0" smtClean="0">
                <a:solidFill>
                  <a:srgbClr val="4F6128"/>
                </a:solidFill>
              </a:rPr>
              <a:t>Cuando se tiene más interés en predecir que en entender los datos, es preferible aplicar la modelización algorítmica que la modelización clásica</a:t>
            </a:r>
            <a:endParaRPr lang="es-ES" sz="3200" dirty="0"/>
          </a:p>
        </p:txBody>
      </p:sp>
    </p:spTree>
    <p:extLst>
      <p:ext uri="{BB962C8B-B14F-4D97-AF65-F5344CB8AC3E}">
        <p14:creationId xmlns:p14="http://schemas.microsoft.com/office/powerpoint/2010/main" val="14912926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36116" y="314959"/>
            <a:ext cx="9339784" cy="566822"/>
          </a:xfrm>
          <a:prstGeom prst="rect">
            <a:avLst/>
          </a:prstGeom>
        </p:spPr>
        <p:txBody>
          <a:bodyPr vert="horz" wrap="square" lIns="0" tIns="12700" rIns="0" bIns="0" rtlCol="0">
            <a:spAutoFit/>
          </a:bodyPr>
          <a:lstStyle/>
          <a:p>
            <a:pPr marL="12700">
              <a:lnSpc>
                <a:spcPct val="100000"/>
              </a:lnSpc>
              <a:spcBef>
                <a:spcPts val="100"/>
              </a:spcBef>
            </a:pPr>
            <a:r>
              <a:rPr sz="3600" b="1" spc="-15" dirty="0" smtClean="0">
                <a:latin typeface="Times New Roman"/>
                <a:cs typeface="Times New Roman"/>
              </a:rPr>
              <a:t> </a:t>
            </a:r>
            <a:r>
              <a:rPr lang="es-ES" sz="3600" b="1" spc="-5" dirty="0" smtClean="0">
                <a:solidFill>
                  <a:srgbClr val="1F487C"/>
                </a:solidFill>
              </a:rPr>
              <a:t>4. C</a:t>
            </a:r>
            <a:r>
              <a:rPr sz="3600" b="1" spc="-5" dirty="0" err="1" smtClean="0">
                <a:solidFill>
                  <a:srgbClr val="1F487C"/>
                </a:solidFill>
                <a:latin typeface="Times New Roman"/>
                <a:cs typeface="Times New Roman"/>
              </a:rPr>
              <a:t>uando</a:t>
            </a:r>
            <a:r>
              <a:rPr sz="3600" b="1" spc="-5" dirty="0" smtClean="0">
                <a:solidFill>
                  <a:srgbClr val="1F487C"/>
                </a:solidFill>
                <a:latin typeface="Times New Roman"/>
                <a:cs typeface="Times New Roman"/>
              </a:rPr>
              <a:t> </a:t>
            </a:r>
            <a:r>
              <a:rPr sz="3600" b="1" dirty="0">
                <a:solidFill>
                  <a:srgbClr val="1F487C"/>
                </a:solidFill>
                <a:latin typeface="Times New Roman"/>
                <a:cs typeface="Times New Roman"/>
              </a:rPr>
              <a:t>la</a:t>
            </a:r>
            <a:r>
              <a:rPr sz="3600" b="1" spc="-5" dirty="0">
                <a:solidFill>
                  <a:srgbClr val="1F487C"/>
                </a:solidFill>
                <a:latin typeface="Times New Roman"/>
                <a:cs typeface="Times New Roman"/>
              </a:rPr>
              <a:t> modelización previa</a:t>
            </a:r>
            <a:r>
              <a:rPr sz="3600" b="1" spc="-10" dirty="0">
                <a:solidFill>
                  <a:srgbClr val="1F487C"/>
                </a:solidFill>
                <a:latin typeface="Times New Roman"/>
                <a:cs typeface="Times New Roman"/>
              </a:rPr>
              <a:t> </a:t>
            </a:r>
            <a:r>
              <a:rPr sz="3600" b="1" dirty="0">
                <a:solidFill>
                  <a:srgbClr val="1F487C"/>
                </a:solidFill>
                <a:latin typeface="Times New Roman"/>
                <a:cs typeface="Times New Roman"/>
              </a:rPr>
              <a:t>es inviable</a:t>
            </a:r>
            <a:endParaRPr sz="3600" dirty="0">
              <a:latin typeface="Times New Roman"/>
              <a:cs typeface="Times New Roman"/>
            </a:endParaRPr>
          </a:p>
        </p:txBody>
      </p:sp>
      <p:sp>
        <p:nvSpPr>
          <p:cNvPr id="3" name="object 3"/>
          <p:cNvSpPr txBox="1"/>
          <p:nvPr/>
        </p:nvSpPr>
        <p:spPr>
          <a:xfrm>
            <a:off x="469901" y="1232277"/>
            <a:ext cx="9906000" cy="6042680"/>
          </a:xfrm>
          <a:prstGeom prst="rect">
            <a:avLst/>
          </a:prstGeom>
        </p:spPr>
        <p:txBody>
          <a:bodyPr vert="horz" wrap="square" lIns="0" tIns="38735" rIns="0" bIns="0" rtlCol="0">
            <a:spAutoFit/>
          </a:bodyPr>
          <a:lstStyle/>
          <a:p>
            <a:pPr marL="12700" marR="701040">
              <a:lnSpc>
                <a:spcPts val="3000"/>
              </a:lnSpc>
              <a:spcBef>
                <a:spcPts val="305"/>
              </a:spcBef>
            </a:pPr>
            <a:r>
              <a:rPr sz="2400" dirty="0">
                <a:latin typeface="Times New Roman"/>
                <a:cs typeface="Times New Roman"/>
              </a:rPr>
              <a:t>En </a:t>
            </a:r>
            <a:r>
              <a:rPr sz="2400" spc="-5" dirty="0">
                <a:latin typeface="Times New Roman"/>
                <a:cs typeface="Times New Roman"/>
              </a:rPr>
              <a:t>un</a:t>
            </a:r>
            <a:r>
              <a:rPr sz="2400" dirty="0">
                <a:latin typeface="Times New Roman"/>
                <a:cs typeface="Times New Roman"/>
              </a:rPr>
              <a:t> </a:t>
            </a:r>
            <a:r>
              <a:rPr sz="2400" spc="-5" dirty="0">
                <a:latin typeface="Times New Roman"/>
                <a:cs typeface="Times New Roman"/>
              </a:rPr>
              <a:t>gran</a:t>
            </a:r>
            <a:r>
              <a:rPr sz="2400" dirty="0">
                <a:latin typeface="Times New Roman"/>
                <a:cs typeface="Times New Roman"/>
              </a:rPr>
              <a:t> </a:t>
            </a:r>
            <a:r>
              <a:rPr sz="2400" spc="-5" dirty="0">
                <a:latin typeface="Times New Roman"/>
                <a:cs typeface="Times New Roman"/>
              </a:rPr>
              <a:t>porcentaje</a:t>
            </a:r>
            <a:r>
              <a:rPr sz="2400" spc="5" dirty="0">
                <a:latin typeface="Times New Roman"/>
                <a:cs typeface="Times New Roman"/>
              </a:rPr>
              <a:t> </a:t>
            </a:r>
            <a:r>
              <a:rPr sz="2400" spc="-5" dirty="0">
                <a:latin typeface="Times New Roman"/>
                <a:cs typeface="Times New Roman"/>
              </a:rPr>
              <a:t>de</a:t>
            </a:r>
            <a:r>
              <a:rPr sz="2400" spc="-15" dirty="0">
                <a:latin typeface="Times New Roman"/>
                <a:cs typeface="Times New Roman"/>
              </a:rPr>
              <a:t> </a:t>
            </a:r>
            <a:r>
              <a:rPr sz="2400" dirty="0">
                <a:latin typeface="Times New Roman"/>
                <a:cs typeface="Times New Roman"/>
              </a:rPr>
              <a:t>los </a:t>
            </a:r>
            <a:r>
              <a:rPr sz="2400" spc="-5" dirty="0">
                <a:latin typeface="Times New Roman"/>
                <a:cs typeface="Times New Roman"/>
              </a:rPr>
              <a:t>casos</a:t>
            </a:r>
            <a:r>
              <a:rPr sz="2400" dirty="0">
                <a:latin typeface="Times New Roman"/>
                <a:cs typeface="Times New Roman"/>
              </a:rPr>
              <a:t> </a:t>
            </a:r>
            <a:r>
              <a:rPr sz="2400" spc="-5" dirty="0">
                <a:latin typeface="Times New Roman"/>
                <a:cs typeface="Times New Roman"/>
              </a:rPr>
              <a:t>se </a:t>
            </a:r>
            <a:r>
              <a:rPr sz="2400" dirty="0">
                <a:latin typeface="Times New Roman"/>
                <a:cs typeface="Times New Roman"/>
              </a:rPr>
              <a:t>desconocen las</a:t>
            </a:r>
            <a:r>
              <a:rPr sz="2400" spc="-20" dirty="0">
                <a:latin typeface="Times New Roman"/>
                <a:cs typeface="Times New Roman"/>
              </a:rPr>
              <a:t> </a:t>
            </a:r>
            <a:r>
              <a:rPr sz="2400" spc="-5" dirty="0">
                <a:latin typeface="Times New Roman"/>
                <a:cs typeface="Times New Roman"/>
              </a:rPr>
              <a:t>leyes</a:t>
            </a:r>
            <a:r>
              <a:rPr sz="2400" dirty="0">
                <a:latin typeface="Times New Roman"/>
                <a:cs typeface="Times New Roman"/>
              </a:rPr>
              <a:t> </a:t>
            </a:r>
            <a:r>
              <a:rPr sz="2400" spc="-5" dirty="0">
                <a:latin typeface="Times New Roman"/>
                <a:cs typeface="Times New Roman"/>
              </a:rPr>
              <a:t>que </a:t>
            </a:r>
            <a:r>
              <a:rPr sz="2400" spc="-635" dirty="0">
                <a:latin typeface="Times New Roman"/>
                <a:cs typeface="Times New Roman"/>
              </a:rPr>
              <a:t> </a:t>
            </a:r>
            <a:r>
              <a:rPr sz="2400" spc="-5" dirty="0">
                <a:latin typeface="Times New Roman"/>
                <a:cs typeface="Times New Roman"/>
              </a:rPr>
              <a:t>relacionan</a:t>
            </a:r>
            <a:r>
              <a:rPr sz="2400" dirty="0">
                <a:latin typeface="Times New Roman"/>
                <a:cs typeface="Times New Roman"/>
              </a:rPr>
              <a:t> </a:t>
            </a:r>
            <a:r>
              <a:rPr sz="2400" spc="-5" dirty="0">
                <a:latin typeface="Times New Roman"/>
                <a:cs typeface="Times New Roman"/>
              </a:rPr>
              <a:t>las</a:t>
            </a:r>
            <a:r>
              <a:rPr sz="2400" dirty="0">
                <a:latin typeface="Times New Roman"/>
                <a:cs typeface="Times New Roman"/>
              </a:rPr>
              <a:t> </a:t>
            </a:r>
            <a:r>
              <a:rPr sz="2400" spc="-5" dirty="0">
                <a:latin typeface="Times New Roman"/>
                <a:cs typeface="Times New Roman"/>
              </a:rPr>
              <a:t>variables</a:t>
            </a:r>
            <a:r>
              <a:rPr sz="2400" spc="-10" dirty="0">
                <a:latin typeface="Times New Roman"/>
                <a:cs typeface="Times New Roman"/>
              </a:rPr>
              <a:t> </a:t>
            </a:r>
            <a:r>
              <a:rPr sz="2400" dirty="0">
                <a:latin typeface="Times New Roman"/>
                <a:cs typeface="Times New Roman"/>
              </a:rPr>
              <a:t>input </a:t>
            </a:r>
            <a:r>
              <a:rPr sz="2400" spc="-5" dirty="0">
                <a:latin typeface="Times New Roman"/>
                <a:cs typeface="Times New Roman"/>
              </a:rPr>
              <a:t>con</a:t>
            </a:r>
            <a:r>
              <a:rPr sz="2400" dirty="0">
                <a:latin typeface="Times New Roman"/>
                <a:cs typeface="Times New Roman"/>
              </a:rPr>
              <a:t> las </a:t>
            </a:r>
            <a:r>
              <a:rPr sz="2400" spc="-5" dirty="0">
                <a:latin typeface="Times New Roman"/>
                <a:cs typeface="Times New Roman"/>
              </a:rPr>
              <a:t>output:</a:t>
            </a:r>
            <a:endParaRPr sz="2400" dirty="0">
              <a:latin typeface="Times New Roman"/>
              <a:cs typeface="Times New Roman"/>
            </a:endParaRPr>
          </a:p>
          <a:p>
            <a:pPr>
              <a:lnSpc>
                <a:spcPct val="100000"/>
              </a:lnSpc>
              <a:spcBef>
                <a:spcPts val="50"/>
              </a:spcBef>
            </a:pPr>
            <a:endParaRPr sz="2400" dirty="0">
              <a:latin typeface="Times New Roman"/>
              <a:cs typeface="Times New Roman"/>
            </a:endParaRPr>
          </a:p>
          <a:p>
            <a:pPr marL="469265" marR="417195" indent="-228600">
              <a:lnSpc>
                <a:spcPts val="3000"/>
              </a:lnSpc>
              <a:buFont typeface="Symbol"/>
              <a:buChar char=""/>
              <a:tabLst>
                <a:tab pos="469900" algn="l"/>
              </a:tabLst>
            </a:pPr>
            <a:r>
              <a:rPr sz="2400" b="1" spc="-5" dirty="0">
                <a:solidFill>
                  <a:srgbClr val="4F6128"/>
                </a:solidFill>
                <a:latin typeface="Times New Roman"/>
                <a:cs typeface="Times New Roman"/>
              </a:rPr>
              <a:t>No</a:t>
            </a:r>
            <a:r>
              <a:rPr sz="2400" b="1" spc="15" dirty="0">
                <a:solidFill>
                  <a:srgbClr val="4F6128"/>
                </a:solidFill>
                <a:latin typeface="Times New Roman"/>
                <a:cs typeface="Times New Roman"/>
              </a:rPr>
              <a:t> </a:t>
            </a:r>
            <a:r>
              <a:rPr sz="2400" b="1" spc="-5" dirty="0">
                <a:solidFill>
                  <a:srgbClr val="4F6128"/>
                </a:solidFill>
                <a:latin typeface="Times New Roman"/>
                <a:cs typeface="Times New Roman"/>
              </a:rPr>
              <a:t>linealidad,</a:t>
            </a:r>
            <a:r>
              <a:rPr sz="2400" b="1" spc="10" dirty="0">
                <a:solidFill>
                  <a:srgbClr val="4F6128"/>
                </a:solidFill>
                <a:latin typeface="Times New Roman"/>
                <a:cs typeface="Times New Roman"/>
              </a:rPr>
              <a:t> </a:t>
            </a:r>
            <a:r>
              <a:rPr sz="2400" b="1" spc="-10" dirty="0">
                <a:solidFill>
                  <a:srgbClr val="4F6128"/>
                </a:solidFill>
                <a:latin typeface="Times New Roman"/>
                <a:cs typeface="Times New Roman"/>
              </a:rPr>
              <a:t>funciones</a:t>
            </a:r>
            <a:r>
              <a:rPr sz="2400" b="1" spc="5" dirty="0">
                <a:solidFill>
                  <a:srgbClr val="4F6128"/>
                </a:solidFill>
                <a:latin typeface="Times New Roman"/>
                <a:cs typeface="Times New Roman"/>
              </a:rPr>
              <a:t> </a:t>
            </a:r>
            <a:r>
              <a:rPr sz="2400" b="1" spc="-5" dirty="0">
                <a:solidFill>
                  <a:srgbClr val="4F6128"/>
                </a:solidFill>
                <a:latin typeface="Times New Roman"/>
                <a:cs typeface="Times New Roman"/>
              </a:rPr>
              <a:t>desconocidas</a:t>
            </a:r>
            <a:r>
              <a:rPr sz="2400" b="1" spc="10" dirty="0">
                <a:solidFill>
                  <a:srgbClr val="4F6128"/>
                </a:solidFill>
                <a:latin typeface="Times New Roman"/>
                <a:cs typeface="Times New Roman"/>
              </a:rPr>
              <a:t> </a:t>
            </a:r>
            <a:r>
              <a:rPr sz="2400" b="1" spc="-5" dirty="0">
                <a:solidFill>
                  <a:srgbClr val="4F6128"/>
                </a:solidFill>
                <a:latin typeface="Times New Roman"/>
                <a:cs typeface="Times New Roman"/>
              </a:rPr>
              <a:t>entre</a:t>
            </a:r>
            <a:r>
              <a:rPr sz="2400" b="1" spc="15" dirty="0">
                <a:solidFill>
                  <a:srgbClr val="4F6128"/>
                </a:solidFill>
                <a:latin typeface="Times New Roman"/>
                <a:cs typeface="Times New Roman"/>
              </a:rPr>
              <a:t> </a:t>
            </a:r>
            <a:r>
              <a:rPr sz="2400" b="1" spc="-5" dirty="0">
                <a:solidFill>
                  <a:srgbClr val="4F6128"/>
                </a:solidFill>
                <a:latin typeface="Times New Roman"/>
                <a:cs typeface="Times New Roman"/>
              </a:rPr>
              <a:t>variables</a:t>
            </a:r>
            <a:r>
              <a:rPr sz="2400" b="1" dirty="0">
                <a:solidFill>
                  <a:srgbClr val="4F6128"/>
                </a:solidFill>
                <a:latin typeface="Times New Roman"/>
                <a:cs typeface="Times New Roman"/>
              </a:rPr>
              <a:t> input</a:t>
            </a:r>
            <a:r>
              <a:rPr sz="2400" b="1" spc="10" dirty="0">
                <a:solidFill>
                  <a:srgbClr val="4F6128"/>
                </a:solidFill>
                <a:latin typeface="Times New Roman"/>
                <a:cs typeface="Times New Roman"/>
              </a:rPr>
              <a:t> </a:t>
            </a:r>
            <a:r>
              <a:rPr sz="2400" b="1" dirty="0">
                <a:solidFill>
                  <a:srgbClr val="4F6128"/>
                </a:solidFill>
                <a:latin typeface="Times New Roman"/>
                <a:cs typeface="Times New Roman"/>
              </a:rPr>
              <a:t>y </a:t>
            </a:r>
            <a:r>
              <a:rPr sz="2400" b="1" spc="-635" dirty="0">
                <a:solidFill>
                  <a:srgbClr val="4F6128"/>
                </a:solidFill>
                <a:latin typeface="Times New Roman"/>
                <a:cs typeface="Times New Roman"/>
              </a:rPr>
              <a:t> </a:t>
            </a:r>
            <a:r>
              <a:rPr sz="2400" b="1" spc="-5" dirty="0">
                <a:solidFill>
                  <a:srgbClr val="4F6128"/>
                </a:solidFill>
                <a:latin typeface="Times New Roman"/>
                <a:cs typeface="Times New Roman"/>
              </a:rPr>
              <a:t>output</a:t>
            </a:r>
            <a:endParaRPr sz="2400" dirty="0">
              <a:latin typeface="Times New Roman"/>
              <a:cs typeface="Times New Roman"/>
            </a:endParaRPr>
          </a:p>
          <a:p>
            <a:pPr marL="469900" indent="-228600">
              <a:lnSpc>
                <a:spcPts val="3090"/>
              </a:lnSpc>
              <a:buFont typeface="Symbol"/>
              <a:buChar char=""/>
              <a:tabLst>
                <a:tab pos="469900" algn="l"/>
              </a:tabLst>
            </a:pPr>
            <a:r>
              <a:rPr sz="2400" b="1" dirty="0">
                <a:solidFill>
                  <a:srgbClr val="4F6128"/>
                </a:solidFill>
                <a:latin typeface="Times New Roman"/>
                <a:cs typeface="Times New Roman"/>
              </a:rPr>
              <a:t>Modelos</a:t>
            </a:r>
            <a:r>
              <a:rPr sz="2400" b="1" spc="-5" dirty="0">
                <a:solidFill>
                  <a:srgbClr val="4F6128"/>
                </a:solidFill>
                <a:latin typeface="Times New Roman"/>
                <a:cs typeface="Times New Roman"/>
              </a:rPr>
              <a:t> </a:t>
            </a:r>
            <a:r>
              <a:rPr sz="2400" b="1" dirty="0">
                <a:solidFill>
                  <a:srgbClr val="4F6128"/>
                </a:solidFill>
                <a:latin typeface="Times New Roman"/>
                <a:cs typeface="Times New Roman"/>
              </a:rPr>
              <a:t>a</a:t>
            </a:r>
            <a:r>
              <a:rPr sz="2400" b="1" spc="-15" dirty="0">
                <a:solidFill>
                  <a:srgbClr val="4F6128"/>
                </a:solidFill>
                <a:latin typeface="Times New Roman"/>
                <a:cs typeface="Times New Roman"/>
              </a:rPr>
              <a:t> </a:t>
            </a:r>
            <a:r>
              <a:rPr sz="2400" b="1" spc="-5" dirty="0">
                <a:solidFill>
                  <a:srgbClr val="4F6128"/>
                </a:solidFill>
                <a:latin typeface="Times New Roman"/>
                <a:cs typeface="Times New Roman"/>
              </a:rPr>
              <a:t>trozos,</a:t>
            </a:r>
            <a:r>
              <a:rPr sz="2400" b="1" dirty="0">
                <a:solidFill>
                  <a:srgbClr val="4F6128"/>
                </a:solidFill>
                <a:latin typeface="Times New Roman"/>
                <a:cs typeface="Times New Roman"/>
              </a:rPr>
              <a:t> según </a:t>
            </a:r>
            <a:r>
              <a:rPr sz="2400" b="1" spc="-5" dirty="0">
                <a:solidFill>
                  <a:srgbClr val="4F6128"/>
                </a:solidFill>
                <a:latin typeface="Times New Roman"/>
                <a:cs typeface="Times New Roman"/>
              </a:rPr>
              <a:t>rangos</a:t>
            </a:r>
            <a:r>
              <a:rPr sz="2400" b="1" spc="-20" dirty="0">
                <a:solidFill>
                  <a:srgbClr val="4F6128"/>
                </a:solidFill>
                <a:latin typeface="Times New Roman"/>
                <a:cs typeface="Times New Roman"/>
              </a:rPr>
              <a:t> </a:t>
            </a:r>
            <a:r>
              <a:rPr sz="2400" b="1" spc="-5" dirty="0">
                <a:solidFill>
                  <a:srgbClr val="4F6128"/>
                </a:solidFill>
                <a:latin typeface="Times New Roman"/>
                <a:cs typeface="Times New Roman"/>
              </a:rPr>
              <a:t>de variables</a:t>
            </a:r>
            <a:endParaRPr sz="2400" dirty="0">
              <a:latin typeface="Times New Roman"/>
              <a:cs typeface="Times New Roman"/>
            </a:endParaRPr>
          </a:p>
          <a:p>
            <a:pPr marL="469900" indent="-228600">
              <a:lnSpc>
                <a:spcPct val="100000"/>
              </a:lnSpc>
              <a:spcBef>
                <a:spcPts val="50"/>
              </a:spcBef>
              <a:buFont typeface="Symbol"/>
              <a:buChar char=""/>
              <a:tabLst>
                <a:tab pos="469900" algn="l"/>
              </a:tabLst>
            </a:pPr>
            <a:r>
              <a:rPr sz="2400" b="1" spc="-5" dirty="0">
                <a:solidFill>
                  <a:srgbClr val="4F6128"/>
                </a:solidFill>
                <a:latin typeface="Times New Roman"/>
                <a:cs typeface="Times New Roman"/>
              </a:rPr>
              <a:t>Variables</a:t>
            </a:r>
            <a:r>
              <a:rPr sz="2400" b="1" spc="-40" dirty="0">
                <a:solidFill>
                  <a:srgbClr val="4F6128"/>
                </a:solidFill>
                <a:latin typeface="Times New Roman"/>
                <a:cs typeface="Times New Roman"/>
              </a:rPr>
              <a:t> </a:t>
            </a:r>
            <a:r>
              <a:rPr sz="2400" b="1" dirty="0" err="1" smtClean="0">
                <a:solidFill>
                  <a:srgbClr val="4F6128"/>
                </a:solidFill>
                <a:latin typeface="Times New Roman"/>
                <a:cs typeface="Times New Roman"/>
              </a:rPr>
              <a:t>latentes</a:t>
            </a:r>
            <a:r>
              <a:rPr lang="es-ES" sz="2400" b="1" dirty="0" smtClean="0">
                <a:solidFill>
                  <a:srgbClr val="4F6128"/>
                </a:solidFill>
                <a:latin typeface="Times New Roman"/>
                <a:cs typeface="Times New Roman"/>
              </a:rPr>
              <a:t>, </a:t>
            </a:r>
            <a:r>
              <a:rPr lang="es-ES" sz="2400" dirty="0" smtClean="0">
                <a:latin typeface="Times New Roman"/>
                <a:cs typeface="Times New Roman"/>
              </a:rPr>
              <a:t>que no se obtienen por medición directa, sino que se pueden obtener a partir de otras variables; esto es, no se observan directamente sino que son inferidas. Por ejemplo, la calidad de vida de una persona, que se puede intuir a partir de otras variables.</a:t>
            </a:r>
            <a:endParaRPr sz="2400" dirty="0">
              <a:latin typeface="Times New Roman"/>
              <a:cs typeface="Times New Roman"/>
            </a:endParaRPr>
          </a:p>
          <a:p>
            <a:pPr marL="469900" indent="-228600">
              <a:lnSpc>
                <a:spcPct val="100000"/>
              </a:lnSpc>
              <a:spcBef>
                <a:spcPts val="60"/>
              </a:spcBef>
              <a:buFont typeface="Symbol"/>
              <a:buChar char=""/>
              <a:tabLst>
                <a:tab pos="469900" algn="l"/>
              </a:tabLst>
            </a:pPr>
            <a:r>
              <a:rPr sz="2400" b="1" spc="-5" dirty="0">
                <a:solidFill>
                  <a:srgbClr val="4F6128"/>
                </a:solidFill>
                <a:latin typeface="Times New Roman"/>
                <a:cs typeface="Times New Roman"/>
              </a:rPr>
              <a:t>Información</a:t>
            </a:r>
            <a:r>
              <a:rPr sz="2400" b="1" spc="-10" dirty="0">
                <a:solidFill>
                  <a:srgbClr val="4F6128"/>
                </a:solidFill>
                <a:latin typeface="Times New Roman"/>
                <a:cs typeface="Times New Roman"/>
              </a:rPr>
              <a:t> </a:t>
            </a:r>
            <a:r>
              <a:rPr sz="2400" b="1" spc="-5" dirty="0">
                <a:solidFill>
                  <a:srgbClr val="4F6128"/>
                </a:solidFill>
                <a:latin typeface="Times New Roman"/>
                <a:cs typeface="Times New Roman"/>
              </a:rPr>
              <a:t>redundante</a:t>
            </a:r>
            <a:endParaRPr sz="2400" dirty="0">
              <a:latin typeface="Times New Roman"/>
              <a:cs typeface="Times New Roman"/>
            </a:endParaRPr>
          </a:p>
          <a:p>
            <a:pPr marL="469900" indent="-228600">
              <a:lnSpc>
                <a:spcPct val="100000"/>
              </a:lnSpc>
              <a:spcBef>
                <a:spcPts val="60"/>
              </a:spcBef>
              <a:buFont typeface="Symbol"/>
              <a:buChar char=""/>
              <a:tabLst>
                <a:tab pos="469900" algn="l"/>
              </a:tabLst>
            </a:pPr>
            <a:r>
              <a:rPr sz="2400" b="1" spc="-5" dirty="0">
                <a:solidFill>
                  <a:srgbClr val="4F6128"/>
                </a:solidFill>
                <a:latin typeface="Times New Roman"/>
                <a:cs typeface="Times New Roman"/>
              </a:rPr>
              <a:t>Información</a:t>
            </a:r>
            <a:r>
              <a:rPr sz="2400" b="1" spc="15" dirty="0">
                <a:solidFill>
                  <a:srgbClr val="4F6128"/>
                </a:solidFill>
                <a:latin typeface="Times New Roman"/>
                <a:cs typeface="Times New Roman"/>
              </a:rPr>
              <a:t> </a:t>
            </a:r>
            <a:r>
              <a:rPr sz="2400" b="1" spc="-5" dirty="0">
                <a:solidFill>
                  <a:srgbClr val="4F6128"/>
                </a:solidFill>
                <a:latin typeface="Times New Roman"/>
                <a:cs typeface="Times New Roman"/>
              </a:rPr>
              <a:t>localizada</a:t>
            </a:r>
            <a:r>
              <a:rPr sz="2400" b="1" spc="15" dirty="0">
                <a:solidFill>
                  <a:srgbClr val="4F6128"/>
                </a:solidFill>
                <a:latin typeface="Times New Roman"/>
                <a:cs typeface="Times New Roman"/>
              </a:rPr>
              <a:t> </a:t>
            </a:r>
            <a:r>
              <a:rPr sz="2400" b="1" spc="-5" dirty="0">
                <a:solidFill>
                  <a:srgbClr val="4F6128"/>
                </a:solidFill>
                <a:latin typeface="Times New Roman"/>
                <a:cs typeface="Times New Roman"/>
              </a:rPr>
              <a:t>importante</a:t>
            </a:r>
            <a:r>
              <a:rPr sz="2400" b="1" spc="5" dirty="0">
                <a:solidFill>
                  <a:srgbClr val="4F6128"/>
                </a:solidFill>
                <a:latin typeface="Times New Roman"/>
                <a:cs typeface="Times New Roman"/>
              </a:rPr>
              <a:t> </a:t>
            </a:r>
            <a:r>
              <a:rPr sz="2400" b="1" dirty="0">
                <a:solidFill>
                  <a:srgbClr val="4F6128"/>
                </a:solidFill>
                <a:latin typeface="Times New Roman"/>
                <a:cs typeface="Times New Roman"/>
              </a:rPr>
              <a:t>en</a:t>
            </a:r>
            <a:r>
              <a:rPr sz="2400" b="1" spc="15" dirty="0">
                <a:solidFill>
                  <a:srgbClr val="4F6128"/>
                </a:solidFill>
                <a:latin typeface="Times New Roman"/>
                <a:cs typeface="Times New Roman"/>
              </a:rPr>
              <a:t> </a:t>
            </a:r>
            <a:r>
              <a:rPr sz="2400" b="1" spc="-5" dirty="0">
                <a:solidFill>
                  <a:srgbClr val="4F6128"/>
                </a:solidFill>
                <a:latin typeface="Times New Roman"/>
                <a:cs typeface="Times New Roman"/>
              </a:rPr>
              <a:t>algunos</a:t>
            </a:r>
            <a:r>
              <a:rPr sz="2400" b="1" spc="15" dirty="0">
                <a:solidFill>
                  <a:srgbClr val="4F6128"/>
                </a:solidFill>
                <a:latin typeface="Times New Roman"/>
                <a:cs typeface="Times New Roman"/>
              </a:rPr>
              <a:t> </a:t>
            </a:r>
            <a:r>
              <a:rPr sz="2400" b="1" spc="-5" dirty="0">
                <a:solidFill>
                  <a:srgbClr val="4F6128"/>
                </a:solidFill>
                <a:latin typeface="Times New Roman"/>
                <a:cs typeface="Times New Roman"/>
              </a:rPr>
              <a:t>rangos/variables</a:t>
            </a:r>
            <a:endParaRPr sz="2400" dirty="0">
              <a:latin typeface="Times New Roman"/>
              <a:cs typeface="Times New Roman"/>
            </a:endParaRPr>
          </a:p>
          <a:p>
            <a:pPr marL="469900" indent="-228600">
              <a:lnSpc>
                <a:spcPct val="100000"/>
              </a:lnSpc>
              <a:spcBef>
                <a:spcPts val="50"/>
              </a:spcBef>
              <a:buFont typeface="Symbol"/>
              <a:buChar char=""/>
              <a:tabLst>
                <a:tab pos="469900" algn="l"/>
              </a:tabLst>
            </a:pPr>
            <a:r>
              <a:rPr sz="2400" b="1" spc="-5" dirty="0">
                <a:solidFill>
                  <a:srgbClr val="4F6128"/>
                </a:solidFill>
                <a:latin typeface="Times New Roman"/>
                <a:cs typeface="Times New Roman"/>
              </a:rPr>
              <a:t>Datos</a:t>
            </a:r>
            <a:r>
              <a:rPr sz="2400" b="1" spc="-35" dirty="0">
                <a:solidFill>
                  <a:srgbClr val="4F6128"/>
                </a:solidFill>
                <a:latin typeface="Times New Roman"/>
                <a:cs typeface="Times New Roman"/>
              </a:rPr>
              <a:t> </a:t>
            </a:r>
            <a:r>
              <a:rPr sz="2400" b="1" spc="-5" dirty="0">
                <a:solidFill>
                  <a:srgbClr val="4F6128"/>
                </a:solidFill>
                <a:latin typeface="Times New Roman"/>
                <a:cs typeface="Times New Roman"/>
              </a:rPr>
              <a:t>missing</a:t>
            </a:r>
            <a:endParaRPr sz="2400" dirty="0">
              <a:latin typeface="Times New Roman"/>
              <a:cs typeface="Times New Roman"/>
            </a:endParaRPr>
          </a:p>
          <a:p>
            <a:pPr>
              <a:lnSpc>
                <a:spcPct val="100000"/>
              </a:lnSpc>
              <a:spcBef>
                <a:spcPts val="10"/>
              </a:spcBef>
            </a:pPr>
            <a:endParaRPr sz="2400" dirty="0">
              <a:latin typeface="Times New Roman"/>
              <a:cs typeface="Times New Roman"/>
            </a:endParaRPr>
          </a:p>
          <a:p>
            <a:pPr marL="12700" marR="5080">
              <a:lnSpc>
                <a:spcPct val="95900"/>
              </a:lnSpc>
            </a:pPr>
            <a:r>
              <a:rPr sz="2400" dirty="0" smtClean="0">
                <a:latin typeface="Wingdings"/>
                <a:cs typeface="Wingdings"/>
              </a:rPr>
              <a:t></a:t>
            </a:r>
            <a:r>
              <a:rPr sz="2400" dirty="0">
                <a:latin typeface="Times New Roman"/>
                <a:cs typeface="Times New Roman"/>
              </a:rPr>
              <a:t>Se </a:t>
            </a:r>
            <a:r>
              <a:rPr sz="2400" spc="-5" dirty="0">
                <a:latin typeface="Times New Roman"/>
                <a:cs typeface="Times New Roman"/>
              </a:rPr>
              <a:t>necesitan</a:t>
            </a:r>
            <a:r>
              <a:rPr sz="2400" dirty="0">
                <a:latin typeface="Times New Roman"/>
                <a:cs typeface="Times New Roman"/>
              </a:rPr>
              <a:t> métodos</a:t>
            </a:r>
            <a:r>
              <a:rPr sz="2400" spc="10" dirty="0">
                <a:latin typeface="Times New Roman"/>
                <a:cs typeface="Times New Roman"/>
              </a:rPr>
              <a:t> </a:t>
            </a:r>
            <a:r>
              <a:rPr sz="2400" spc="-5" dirty="0">
                <a:latin typeface="Times New Roman"/>
                <a:cs typeface="Times New Roman"/>
              </a:rPr>
              <a:t>flexibles</a:t>
            </a:r>
            <a:r>
              <a:rPr sz="2400" spc="-10" dirty="0">
                <a:latin typeface="Times New Roman"/>
                <a:cs typeface="Times New Roman"/>
              </a:rPr>
              <a:t> </a:t>
            </a:r>
            <a:r>
              <a:rPr sz="2400" spc="-5" dirty="0">
                <a:latin typeface="Times New Roman"/>
                <a:cs typeface="Times New Roman"/>
              </a:rPr>
              <a:t>que</a:t>
            </a:r>
            <a:r>
              <a:rPr sz="2400" spc="5" dirty="0">
                <a:latin typeface="Times New Roman"/>
                <a:cs typeface="Times New Roman"/>
              </a:rPr>
              <a:t> </a:t>
            </a:r>
            <a:r>
              <a:rPr sz="2400" spc="-5" dirty="0">
                <a:latin typeface="Times New Roman"/>
                <a:cs typeface="Times New Roman"/>
              </a:rPr>
              <a:t>puedan</a:t>
            </a:r>
            <a:r>
              <a:rPr sz="2400" dirty="0">
                <a:latin typeface="Times New Roman"/>
                <a:cs typeface="Times New Roman"/>
              </a:rPr>
              <a:t> </a:t>
            </a:r>
            <a:r>
              <a:rPr sz="2400" spc="-5" dirty="0">
                <a:latin typeface="Times New Roman"/>
                <a:cs typeface="Times New Roman"/>
              </a:rPr>
              <a:t>abordar</a:t>
            </a:r>
            <a:r>
              <a:rPr sz="2400" dirty="0">
                <a:latin typeface="Times New Roman"/>
                <a:cs typeface="Times New Roman"/>
              </a:rPr>
              <a:t> </a:t>
            </a:r>
            <a:r>
              <a:rPr sz="2400" spc="-5" dirty="0">
                <a:latin typeface="Times New Roman"/>
                <a:cs typeface="Times New Roman"/>
              </a:rPr>
              <a:t>este </a:t>
            </a:r>
            <a:r>
              <a:rPr sz="2400" dirty="0">
                <a:latin typeface="Times New Roman"/>
                <a:cs typeface="Times New Roman"/>
              </a:rPr>
              <a:t>tipo </a:t>
            </a:r>
            <a:r>
              <a:rPr sz="2400" spc="-5" dirty="0">
                <a:latin typeface="Times New Roman"/>
                <a:cs typeface="Times New Roman"/>
              </a:rPr>
              <a:t>de </a:t>
            </a:r>
            <a:r>
              <a:rPr sz="2400" dirty="0">
                <a:latin typeface="Times New Roman"/>
                <a:cs typeface="Times New Roman"/>
              </a:rPr>
              <a:t> </a:t>
            </a:r>
            <a:r>
              <a:rPr sz="2400" spc="-5" dirty="0">
                <a:latin typeface="Times New Roman"/>
                <a:cs typeface="Times New Roman"/>
              </a:rPr>
              <a:t>datos</a:t>
            </a:r>
            <a:r>
              <a:rPr sz="2400" dirty="0">
                <a:latin typeface="Times New Roman"/>
                <a:cs typeface="Times New Roman"/>
              </a:rPr>
              <a:t> </a:t>
            </a:r>
            <a:r>
              <a:rPr sz="2400" spc="-5" dirty="0">
                <a:latin typeface="Times New Roman"/>
                <a:cs typeface="Times New Roman"/>
              </a:rPr>
              <a:t>pues</a:t>
            </a:r>
            <a:r>
              <a:rPr sz="2400" spc="-10" dirty="0">
                <a:latin typeface="Times New Roman"/>
                <a:cs typeface="Times New Roman"/>
              </a:rPr>
              <a:t> </a:t>
            </a:r>
            <a:r>
              <a:rPr sz="2400" dirty="0">
                <a:latin typeface="Times New Roman"/>
                <a:cs typeface="Times New Roman"/>
              </a:rPr>
              <a:t>es</a:t>
            </a:r>
            <a:r>
              <a:rPr sz="2400" spc="-10" dirty="0">
                <a:latin typeface="Times New Roman"/>
                <a:cs typeface="Times New Roman"/>
              </a:rPr>
              <a:t> </a:t>
            </a:r>
            <a:r>
              <a:rPr sz="2400" dirty="0">
                <a:latin typeface="Times New Roman"/>
                <a:cs typeface="Times New Roman"/>
              </a:rPr>
              <a:t>casi</a:t>
            </a:r>
            <a:r>
              <a:rPr sz="2400" spc="-5" dirty="0">
                <a:latin typeface="Times New Roman"/>
                <a:cs typeface="Times New Roman"/>
              </a:rPr>
              <a:t> imposible</a:t>
            </a:r>
            <a:r>
              <a:rPr sz="2400" dirty="0">
                <a:latin typeface="Times New Roman"/>
                <a:cs typeface="Times New Roman"/>
              </a:rPr>
              <a:t> </a:t>
            </a:r>
            <a:r>
              <a:rPr sz="2400" spc="-5" dirty="0">
                <a:latin typeface="Times New Roman"/>
                <a:cs typeface="Times New Roman"/>
              </a:rPr>
              <a:t>derivar</a:t>
            </a:r>
            <a:r>
              <a:rPr sz="2400" spc="5" dirty="0">
                <a:latin typeface="Times New Roman"/>
                <a:cs typeface="Times New Roman"/>
              </a:rPr>
              <a:t> </a:t>
            </a:r>
            <a:r>
              <a:rPr sz="2400" spc="-5" dirty="0">
                <a:latin typeface="Times New Roman"/>
                <a:cs typeface="Times New Roman"/>
              </a:rPr>
              <a:t>artesanalmente</a:t>
            </a:r>
            <a:r>
              <a:rPr sz="2400" spc="5" dirty="0">
                <a:latin typeface="Times New Roman"/>
                <a:cs typeface="Times New Roman"/>
              </a:rPr>
              <a:t> </a:t>
            </a:r>
            <a:r>
              <a:rPr sz="2400" spc="-5" dirty="0">
                <a:latin typeface="Times New Roman"/>
                <a:cs typeface="Times New Roman"/>
              </a:rPr>
              <a:t>todas</a:t>
            </a:r>
            <a:r>
              <a:rPr sz="2400" spc="5" dirty="0">
                <a:latin typeface="Times New Roman"/>
                <a:cs typeface="Times New Roman"/>
              </a:rPr>
              <a:t> </a:t>
            </a:r>
            <a:r>
              <a:rPr sz="2400" dirty="0">
                <a:latin typeface="Times New Roman"/>
                <a:cs typeface="Times New Roman"/>
              </a:rPr>
              <a:t>las </a:t>
            </a:r>
            <a:r>
              <a:rPr sz="2400" spc="5" dirty="0">
                <a:latin typeface="Times New Roman"/>
                <a:cs typeface="Times New Roman"/>
              </a:rPr>
              <a:t> </a:t>
            </a:r>
            <a:r>
              <a:rPr sz="2400" dirty="0">
                <a:latin typeface="Times New Roman"/>
                <a:cs typeface="Times New Roman"/>
              </a:rPr>
              <a:t>relaciones</a:t>
            </a:r>
            <a:r>
              <a:rPr sz="2400" spc="-5" dirty="0">
                <a:latin typeface="Times New Roman"/>
                <a:cs typeface="Times New Roman"/>
              </a:rPr>
              <a:t> </a:t>
            </a:r>
            <a:r>
              <a:rPr sz="2400" dirty="0">
                <a:latin typeface="Times New Roman"/>
                <a:cs typeface="Times New Roman"/>
              </a:rPr>
              <a:t>y</a:t>
            </a:r>
            <a:r>
              <a:rPr sz="2400" spc="5" dirty="0">
                <a:latin typeface="Times New Roman"/>
                <a:cs typeface="Times New Roman"/>
              </a:rPr>
              <a:t> </a:t>
            </a:r>
            <a:r>
              <a:rPr sz="2400" spc="-5" dirty="0">
                <a:latin typeface="Times New Roman"/>
                <a:cs typeface="Times New Roman"/>
              </a:rPr>
              <a:t>solucionar</a:t>
            </a:r>
            <a:r>
              <a:rPr sz="2400" spc="10" dirty="0">
                <a:latin typeface="Times New Roman"/>
                <a:cs typeface="Times New Roman"/>
              </a:rPr>
              <a:t> </a:t>
            </a:r>
            <a:r>
              <a:rPr sz="2400" spc="-5" dirty="0">
                <a:latin typeface="Times New Roman"/>
                <a:cs typeface="Times New Roman"/>
              </a:rPr>
              <a:t>simultáneamente</a:t>
            </a:r>
            <a:r>
              <a:rPr sz="2400" spc="5" dirty="0">
                <a:latin typeface="Times New Roman"/>
                <a:cs typeface="Times New Roman"/>
              </a:rPr>
              <a:t> </a:t>
            </a:r>
            <a:r>
              <a:rPr sz="2400" spc="-5" dirty="0">
                <a:latin typeface="Times New Roman"/>
                <a:cs typeface="Times New Roman"/>
              </a:rPr>
              <a:t>todos</a:t>
            </a:r>
            <a:r>
              <a:rPr sz="2400" spc="10" dirty="0">
                <a:latin typeface="Times New Roman"/>
                <a:cs typeface="Times New Roman"/>
              </a:rPr>
              <a:t> </a:t>
            </a:r>
            <a:r>
              <a:rPr sz="2400" dirty="0">
                <a:latin typeface="Times New Roman"/>
                <a:cs typeface="Times New Roman"/>
              </a:rPr>
              <a:t>los</a:t>
            </a:r>
            <a:r>
              <a:rPr sz="2400" spc="-5" dirty="0">
                <a:latin typeface="Times New Roman"/>
                <a:cs typeface="Times New Roman"/>
              </a:rPr>
              <a:t> problemas</a:t>
            </a:r>
            <a:r>
              <a:rPr sz="2400" spc="10" dirty="0">
                <a:latin typeface="Times New Roman"/>
                <a:cs typeface="Times New Roman"/>
              </a:rPr>
              <a:t> </a:t>
            </a:r>
            <a:r>
              <a:rPr sz="2400" spc="-10" dirty="0">
                <a:latin typeface="Times New Roman"/>
                <a:cs typeface="Times New Roman"/>
              </a:rPr>
              <a:t>desde </a:t>
            </a:r>
            <a:r>
              <a:rPr sz="2400" spc="-635" dirty="0">
                <a:latin typeface="Times New Roman"/>
                <a:cs typeface="Times New Roman"/>
              </a:rPr>
              <a:t> </a:t>
            </a:r>
            <a:r>
              <a:rPr sz="2400" spc="-5" dirty="0">
                <a:latin typeface="Times New Roman"/>
                <a:cs typeface="Times New Roman"/>
              </a:rPr>
              <a:t>una perspectiva</a:t>
            </a:r>
            <a:r>
              <a:rPr sz="2400" spc="10" dirty="0">
                <a:latin typeface="Times New Roman"/>
                <a:cs typeface="Times New Roman"/>
              </a:rPr>
              <a:t> </a:t>
            </a:r>
            <a:r>
              <a:rPr sz="2400" dirty="0" err="1">
                <a:latin typeface="Times New Roman"/>
                <a:cs typeface="Times New Roman"/>
              </a:rPr>
              <a:t>clásica</a:t>
            </a:r>
            <a:r>
              <a:rPr sz="2400" dirty="0" smtClean="0">
                <a:latin typeface="Times New Roman"/>
                <a:cs typeface="Times New Roman"/>
              </a:rPr>
              <a:t>.</a:t>
            </a:r>
            <a:endParaRPr lang="es-ES" sz="2400" dirty="0" smtClean="0">
              <a:latin typeface="Times New Roman"/>
              <a:cs typeface="Times New Roman"/>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850900" y="1571625"/>
            <a:ext cx="9372600" cy="4370427"/>
          </a:xfrm>
        </p:spPr>
        <p:txBody>
          <a:bodyPr/>
          <a:lstStyle/>
          <a:p>
            <a:r>
              <a:rPr lang="es-ES" sz="2400" dirty="0">
                <a:solidFill>
                  <a:schemeClr val="tx1"/>
                </a:solidFill>
              </a:rPr>
              <a:t>Estos problemas son habituales cuando nos enfrentamos a grandes volúmenes de datos.</a:t>
            </a:r>
          </a:p>
          <a:p>
            <a:endParaRPr lang="es-ES" sz="2400" dirty="0">
              <a:solidFill>
                <a:schemeClr val="tx1"/>
              </a:solidFill>
            </a:endParaRPr>
          </a:p>
          <a:p>
            <a:r>
              <a:rPr lang="es-ES" sz="2400" dirty="0" smtClean="0">
                <a:solidFill>
                  <a:schemeClr val="tx1"/>
                </a:solidFill>
              </a:rPr>
              <a:t>Aunque en muchas ocasiones se pueden resolver, principalmente mediante la caja negra de los modelos algorítmicos, es conveniente enfrentarse en la medida de lo posible a estas casuísticas antes de proponer un modelo, mediante el análisis y depuración de datos.</a:t>
            </a:r>
          </a:p>
          <a:p>
            <a:endParaRPr lang="es-ES" sz="2400" dirty="0">
              <a:solidFill>
                <a:schemeClr val="tx1"/>
              </a:solidFill>
            </a:endParaRPr>
          </a:p>
          <a:p>
            <a:r>
              <a:rPr lang="es-ES" sz="2400" dirty="0" smtClean="0">
                <a:solidFill>
                  <a:schemeClr val="tx1"/>
                </a:solidFill>
              </a:rPr>
              <a:t>Siempre se intentará tener los datos lo más limpios y claros que se pueda, antes de considerar el modelo de red neuronal. Esto nos proporcionará mejores predicciones.</a:t>
            </a:r>
            <a:endParaRPr lang="es-ES" sz="2400" dirty="0">
              <a:solidFill>
                <a:schemeClr val="tx1"/>
              </a:solidFill>
            </a:endParaRPr>
          </a:p>
          <a:p>
            <a:endParaRPr lang="es-ES" dirty="0"/>
          </a:p>
        </p:txBody>
      </p:sp>
    </p:spTree>
    <p:extLst>
      <p:ext uri="{BB962C8B-B14F-4D97-AF65-F5344CB8AC3E}">
        <p14:creationId xmlns:p14="http://schemas.microsoft.com/office/powerpoint/2010/main" val="19741093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24103"/>
            <a:ext cx="9465310" cy="802005"/>
          </a:xfrm>
          <a:prstGeom prst="rect">
            <a:avLst/>
          </a:prstGeom>
        </p:spPr>
        <p:txBody>
          <a:bodyPr vert="horz" wrap="square" lIns="0" tIns="39370" rIns="0" bIns="0" rtlCol="0">
            <a:spAutoFit/>
          </a:bodyPr>
          <a:lstStyle/>
          <a:p>
            <a:pPr marL="12700" marR="5080">
              <a:lnSpc>
                <a:spcPts val="2990"/>
              </a:lnSpc>
              <a:spcBef>
                <a:spcPts val="310"/>
              </a:spcBef>
              <a:tabLst>
                <a:tab pos="7150100" algn="l"/>
              </a:tabLst>
            </a:pPr>
            <a:r>
              <a:rPr sz="2600" b="1" dirty="0">
                <a:solidFill>
                  <a:srgbClr val="6F2F9F"/>
                </a:solidFill>
                <a:latin typeface="Times New Roman"/>
                <a:cs typeface="Times New Roman"/>
              </a:rPr>
              <a:t>Métodos</a:t>
            </a:r>
            <a:r>
              <a:rPr sz="2600" b="1" spc="5" dirty="0">
                <a:solidFill>
                  <a:srgbClr val="6F2F9F"/>
                </a:solidFill>
                <a:latin typeface="Times New Roman"/>
                <a:cs typeface="Times New Roman"/>
              </a:rPr>
              <a:t> </a:t>
            </a:r>
            <a:r>
              <a:rPr sz="2600" b="1" spc="-5" dirty="0">
                <a:solidFill>
                  <a:srgbClr val="6F2F9F"/>
                </a:solidFill>
                <a:latin typeface="Times New Roman"/>
                <a:cs typeface="Times New Roman"/>
              </a:rPr>
              <a:t>algorítmicos</a:t>
            </a:r>
            <a:r>
              <a:rPr sz="2600" b="1" spc="15" dirty="0">
                <a:solidFill>
                  <a:srgbClr val="6F2F9F"/>
                </a:solidFill>
                <a:latin typeface="Times New Roman"/>
                <a:cs typeface="Times New Roman"/>
              </a:rPr>
              <a:t> </a:t>
            </a:r>
            <a:r>
              <a:rPr sz="2600" b="1" spc="-5" dirty="0">
                <a:solidFill>
                  <a:srgbClr val="6F2F9F"/>
                </a:solidFill>
                <a:latin typeface="Times New Roman"/>
                <a:cs typeface="Times New Roman"/>
              </a:rPr>
              <a:t>modernos </a:t>
            </a:r>
            <a:r>
              <a:rPr sz="2600" b="1" dirty="0">
                <a:solidFill>
                  <a:srgbClr val="6F2F9F"/>
                </a:solidFill>
                <a:latin typeface="Times New Roman"/>
                <a:cs typeface="Times New Roman"/>
              </a:rPr>
              <a:t>como</a:t>
            </a:r>
            <a:r>
              <a:rPr sz="2600" b="1" spc="15" dirty="0">
                <a:solidFill>
                  <a:srgbClr val="6F2F9F"/>
                </a:solidFill>
                <a:latin typeface="Times New Roman"/>
                <a:cs typeface="Times New Roman"/>
              </a:rPr>
              <a:t> </a:t>
            </a:r>
            <a:r>
              <a:rPr sz="2600" b="1" dirty="0">
                <a:solidFill>
                  <a:srgbClr val="6F2F9F"/>
                </a:solidFill>
                <a:latin typeface="Times New Roman"/>
                <a:cs typeface="Times New Roman"/>
              </a:rPr>
              <a:t>alternativa	a</a:t>
            </a:r>
            <a:r>
              <a:rPr sz="2600" b="1" spc="-20" dirty="0">
                <a:solidFill>
                  <a:srgbClr val="6F2F9F"/>
                </a:solidFill>
                <a:latin typeface="Times New Roman"/>
                <a:cs typeface="Times New Roman"/>
              </a:rPr>
              <a:t> </a:t>
            </a:r>
            <a:r>
              <a:rPr sz="2600" b="1" spc="-10" dirty="0">
                <a:solidFill>
                  <a:srgbClr val="6F2F9F"/>
                </a:solidFill>
                <a:latin typeface="Times New Roman"/>
                <a:cs typeface="Times New Roman"/>
              </a:rPr>
              <a:t>los</a:t>
            </a:r>
            <a:r>
              <a:rPr sz="2600" b="1" spc="-30" dirty="0">
                <a:solidFill>
                  <a:srgbClr val="6F2F9F"/>
                </a:solidFill>
                <a:latin typeface="Times New Roman"/>
                <a:cs typeface="Times New Roman"/>
              </a:rPr>
              <a:t> </a:t>
            </a:r>
            <a:r>
              <a:rPr sz="2600" b="1" dirty="0">
                <a:solidFill>
                  <a:srgbClr val="6F2F9F"/>
                </a:solidFill>
                <a:latin typeface="Times New Roman"/>
                <a:cs typeface="Times New Roman"/>
              </a:rPr>
              <a:t>métodos</a:t>
            </a:r>
            <a:r>
              <a:rPr sz="2600" b="1" spc="-30" dirty="0">
                <a:solidFill>
                  <a:srgbClr val="6F2F9F"/>
                </a:solidFill>
                <a:latin typeface="Times New Roman"/>
                <a:cs typeface="Times New Roman"/>
              </a:rPr>
              <a:t> </a:t>
            </a:r>
            <a:r>
              <a:rPr sz="2600" b="1" spc="-5" dirty="0">
                <a:solidFill>
                  <a:srgbClr val="6F2F9F"/>
                </a:solidFill>
                <a:latin typeface="Times New Roman"/>
                <a:cs typeface="Times New Roman"/>
              </a:rPr>
              <a:t>de </a:t>
            </a:r>
            <a:r>
              <a:rPr sz="2600" b="1" spc="-635" dirty="0">
                <a:solidFill>
                  <a:srgbClr val="6F2F9F"/>
                </a:solidFill>
                <a:latin typeface="Times New Roman"/>
                <a:cs typeface="Times New Roman"/>
              </a:rPr>
              <a:t> </a:t>
            </a:r>
            <a:r>
              <a:rPr sz="2600" b="1" spc="-5" dirty="0">
                <a:solidFill>
                  <a:srgbClr val="6F2F9F"/>
                </a:solidFill>
                <a:latin typeface="Times New Roman"/>
                <a:cs typeface="Times New Roman"/>
              </a:rPr>
              <a:t>modelización</a:t>
            </a:r>
            <a:r>
              <a:rPr sz="2600" b="1" spc="10" dirty="0">
                <a:solidFill>
                  <a:srgbClr val="6F2F9F"/>
                </a:solidFill>
                <a:latin typeface="Times New Roman"/>
                <a:cs typeface="Times New Roman"/>
              </a:rPr>
              <a:t> </a:t>
            </a:r>
            <a:r>
              <a:rPr sz="2600" b="1" spc="-5" dirty="0">
                <a:solidFill>
                  <a:srgbClr val="6F2F9F"/>
                </a:solidFill>
                <a:latin typeface="Times New Roman"/>
                <a:cs typeface="Times New Roman"/>
              </a:rPr>
              <a:t>estadística</a:t>
            </a:r>
            <a:r>
              <a:rPr sz="2600" b="1" spc="5" dirty="0">
                <a:solidFill>
                  <a:srgbClr val="6F2F9F"/>
                </a:solidFill>
                <a:latin typeface="Times New Roman"/>
                <a:cs typeface="Times New Roman"/>
              </a:rPr>
              <a:t> </a:t>
            </a:r>
            <a:r>
              <a:rPr sz="2600" b="1" dirty="0">
                <a:solidFill>
                  <a:srgbClr val="6F2F9F"/>
                </a:solidFill>
                <a:latin typeface="Times New Roman"/>
                <a:cs typeface="Times New Roman"/>
              </a:rPr>
              <a:t>clásica,</a:t>
            </a:r>
            <a:r>
              <a:rPr sz="2600" b="1" spc="10" dirty="0">
                <a:solidFill>
                  <a:srgbClr val="6F2F9F"/>
                </a:solidFill>
                <a:latin typeface="Times New Roman"/>
                <a:cs typeface="Times New Roman"/>
              </a:rPr>
              <a:t> </a:t>
            </a:r>
            <a:r>
              <a:rPr sz="2600" b="1" spc="-5" dirty="0">
                <a:solidFill>
                  <a:srgbClr val="6F2F9F"/>
                </a:solidFill>
                <a:latin typeface="Times New Roman"/>
                <a:cs typeface="Times New Roman"/>
              </a:rPr>
              <a:t>para predicción-clasificación</a:t>
            </a:r>
            <a:endParaRPr sz="2600">
              <a:latin typeface="Times New Roman"/>
              <a:cs typeface="Times New Roman"/>
            </a:endParaRPr>
          </a:p>
        </p:txBody>
      </p:sp>
      <p:sp>
        <p:nvSpPr>
          <p:cNvPr id="3" name="object 3"/>
          <p:cNvSpPr txBox="1"/>
          <p:nvPr/>
        </p:nvSpPr>
        <p:spPr>
          <a:xfrm>
            <a:off x="346963" y="1464309"/>
            <a:ext cx="8998585" cy="4222310"/>
          </a:xfrm>
          <a:prstGeom prst="rect">
            <a:avLst/>
          </a:prstGeom>
        </p:spPr>
        <p:txBody>
          <a:bodyPr vert="horz" wrap="square" lIns="0" tIns="13335" rIns="0" bIns="0" rtlCol="0">
            <a:spAutoFit/>
          </a:bodyPr>
          <a:lstStyle/>
          <a:p>
            <a:pPr marL="12700">
              <a:lnSpc>
                <a:spcPct val="100000"/>
              </a:lnSpc>
              <a:spcBef>
                <a:spcPts val="105"/>
              </a:spcBef>
            </a:pPr>
            <a:r>
              <a:rPr lang="es-ES" sz="2600" b="1" u="sng" spc="-5" dirty="0">
                <a:solidFill>
                  <a:srgbClr val="1F487C"/>
                </a:solidFill>
                <a:uFill>
                  <a:solidFill>
                    <a:srgbClr val="1F487C"/>
                  </a:solidFill>
                </a:uFill>
                <a:latin typeface="Times New Roman"/>
                <a:cs typeface="Times New Roman"/>
              </a:rPr>
              <a:t>U</a:t>
            </a:r>
            <a:r>
              <a:rPr sz="2600" b="1" u="sng" spc="-5" dirty="0" err="1" smtClean="0">
                <a:solidFill>
                  <a:srgbClr val="1F487C"/>
                </a:solidFill>
                <a:uFill>
                  <a:solidFill>
                    <a:srgbClr val="1F487C"/>
                  </a:solidFill>
                </a:uFill>
                <a:latin typeface="Times New Roman"/>
                <a:cs typeface="Times New Roman"/>
              </a:rPr>
              <a:t>niversales</a:t>
            </a:r>
            <a:r>
              <a:rPr sz="2600" b="1" u="sng" spc="-5" dirty="0" smtClean="0">
                <a:solidFill>
                  <a:srgbClr val="1F487C"/>
                </a:solidFill>
                <a:uFill>
                  <a:solidFill>
                    <a:srgbClr val="1F487C"/>
                  </a:solidFill>
                </a:uFill>
                <a:latin typeface="Times New Roman"/>
                <a:cs typeface="Times New Roman"/>
              </a:rPr>
              <a:t> </a:t>
            </a:r>
            <a:r>
              <a:rPr sz="2600" b="1" u="sng" spc="-5" dirty="0">
                <a:solidFill>
                  <a:srgbClr val="1F487C"/>
                </a:solidFill>
                <a:uFill>
                  <a:solidFill>
                    <a:srgbClr val="1F487C"/>
                  </a:solidFill>
                </a:uFill>
                <a:latin typeface="Times New Roman"/>
                <a:cs typeface="Times New Roman"/>
              </a:rPr>
              <a:t>(sólo</a:t>
            </a:r>
            <a:r>
              <a:rPr sz="2600" b="1" u="sng" spc="10" dirty="0">
                <a:solidFill>
                  <a:srgbClr val="1F487C"/>
                </a:solidFill>
                <a:uFill>
                  <a:solidFill>
                    <a:srgbClr val="1F487C"/>
                  </a:solidFill>
                </a:uFill>
                <a:latin typeface="Times New Roman"/>
                <a:cs typeface="Times New Roman"/>
              </a:rPr>
              <a:t> </a:t>
            </a:r>
            <a:r>
              <a:rPr sz="2600" b="1" u="sng" spc="-5" dirty="0">
                <a:solidFill>
                  <a:srgbClr val="1F487C"/>
                </a:solidFill>
                <a:uFill>
                  <a:solidFill>
                    <a:srgbClr val="1F487C"/>
                  </a:solidFill>
                </a:uFill>
                <a:latin typeface="Times New Roman"/>
                <a:cs typeface="Times New Roman"/>
              </a:rPr>
              <a:t>necesitan</a:t>
            </a:r>
            <a:r>
              <a:rPr sz="2600" b="1" u="sng" spc="5" dirty="0">
                <a:solidFill>
                  <a:srgbClr val="1F487C"/>
                </a:solidFill>
                <a:uFill>
                  <a:solidFill>
                    <a:srgbClr val="1F487C"/>
                  </a:solidFill>
                </a:uFill>
                <a:latin typeface="Times New Roman"/>
                <a:cs typeface="Times New Roman"/>
              </a:rPr>
              <a:t> </a:t>
            </a:r>
            <a:r>
              <a:rPr sz="2600" b="1" u="sng" spc="-5" dirty="0">
                <a:solidFill>
                  <a:srgbClr val="1F487C"/>
                </a:solidFill>
                <a:uFill>
                  <a:solidFill>
                    <a:srgbClr val="1F487C"/>
                  </a:solidFill>
                </a:uFill>
                <a:latin typeface="Times New Roman"/>
                <a:cs typeface="Times New Roman"/>
              </a:rPr>
              <a:t>monitorizar</a:t>
            </a:r>
            <a:r>
              <a:rPr sz="2600" b="1" u="sng" spc="5" dirty="0">
                <a:solidFill>
                  <a:srgbClr val="1F487C"/>
                </a:solidFill>
                <a:uFill>
                  <a:solidFill>
                    <a:srgbClr val="1F487C"/>
                  </a:solidFill>
                </a:uFill>
                <a:latin typeface="Times New Roman"/>
                <a:cs typeface="Times New Roman"/>
              </a:rPr>
              <a:t> </a:t>
            </a:r>
            <a:r>
              <a:rPr sz="2600" b="1" u="sng" dirty="0">
                <a:solidFill>
                  <a:srgbClr val="1F487C"/>
                </a:solidFill>
                <a:uFill>
                  <a:solidFill>
                    <a:srgbClr val="1F487C"/>
                  </a:solidFill>
                </a:uFill>
                <a:latin typeface="Times New Roman"/>
                <a:cs typeface="Times New Roman"/>
              </a:rPr>
              <a:t>ciertos</a:t>
            </a:r>
            <a:r>
              <a:rPr sz="2600" b="1" u="sng" spc="-5" dirty="0">
                <a:solidFill>
                  <a:srgbClr val="1F487C"/>
                </a:solidFill>
                <a:uFill>
                  <a:solidFill>
                    <a:srgbClr val="1F487C"/>
                  </a:solidFill>
                </a:uFill>
                <a:latin typeface="Times New Roman"/>
                <a:cs typeface="Times New Roman"/>
              </a:rPr>
              <a:t> </a:t>
            </a:r>
            <a:r>
              <a:rPr sz="2600" b="1" u="sng" dirty="0">
                <a:solidFill>
                  <a:srgbClr val="1F487C"/>
                </a:solidFill>
                <a:uFill>
                  <a:solidFill>
                    <a:srgbClr val="1F487C"/>
                  </a:solidFill>
                </a:uFill>
                <a:latin typeface="Times New Roman"/>
                <a:cs typeface="Times New Roman"/>
              </a:rPr>
              <a:t>parámetros)</a:t>
            </a:r>
            <a:endParaRPr sz="2600" u="sng" dirty="0">
              <a:latin typeface="Times New Roman"/>
              <a:cs typeface="Times New Roman"/>
            </a:endParaRPr>
          </a:p>
          <a:p>
            <a:pPr marL="469900" indent="-228600">
              <a:lnSpc>
                <a:spcPct val="100000"/>
              </a:lnSpc>
              <a:spcBef>
                <a:spcPts val="45"/>
              </a:spcBef>
              <a:buFont typeface="Symbol"/>
              <a:buChar char=""/>
              <a:tabLst>
                <a:tab pos="469900" algn="l"/>
              </a:tabLst>
            </a:pPr>
            <a:r>
              <a:rPr sz="2400" b="1" spc="-5" dirty="0">
                <a:solidFill>
                  <a:srgbClr val="4F6128"/>
                </a:solidFill>
                <a:latin typeface="Times New Roman"/>
                <a:cs typeface="Times New Roman"/>
              </a:rPr>
              <a:t>Gradient</a:t>
            </a:r>
            <a:r>
              <a:rPr sz="2400" b="1" spc="-20" dirty="0">
                <a:solidFill>
                  <a:srgbClr val="4F6128"/>
                </a:solidFill>
                <a:latin typeface="Times New Roman"/>
                <a:cs typeface="Times New Roman"/>
              </a:rPr>
              <a:t> </a:t>
            </a:r>
            <a:r>
              <a:rPr sz="2400" b="1" spc="-5" dirty="0">
                <a:solidFill>
                  <a:srgbClr val="4F6128"/>
                </a:solidFill>
                <a:latin typeface="Times New Roman"/>
                <a:cs typeface="Times New Roman"/>
              </a:rPr>
              <a:t>Boosting</a:t>
            </a:r>
            <a:endParaRPr sz="2400" dirty="0">
              <a:latin typeface="Times New Roman"/>
              <a:cs typeface="Times New Roman"/>
            </a:endParaRPr>
          </a:p>
          <a:p>
            <a:pPr marL="469900" indent="-228600">
              <a:lnSpc>
                <a:spcPct val="100000"/>
              </a:lnSpc>
              <a:spcBef>
                <a:spcPts val="65"/>
              </a:spcBef>
              <a:buFont typeface="Symbol"/>
              <a:buChar char=""/>
              <a:tabLst>
                <a:tab pos="469900" algn="l"/>
              </a:tabLst>
            </a:pPr>
            <a:r>
              <a:rPr sz="2400" b="1" spc="-5" dirty="0">
                <a:solidFill>
                  <a:srgbClr val="4F6128"/>
                </a:solidFill>
                <a:latin typeface="Times New Roman"/>
                <a:cs typeface="Times New Roman"/>
              </a:rPr>
              <a:t>Redes</a:t>
            </a:r>
            <a:r>
              <a:rPr sz="2400" b="1" spc="-30" dirty="0">
                <a:solidFill>
                  <a:srgbClr val="4F6128"/>
                </a:solidFill>
                <a:latin typeface="Times New Roman"/>
                <a:cs typeface="Times New Roman"/>
              </a:rPr>
              <a:t> </a:t>
            </a:r>
            <a:r>
              <a:rPr sz="2400" b="1" spc="-5" dirty="0">
                <a:solidFill>
                  <a:srgbClr val="4F6128"/>
                </a:solidFill>
                <a:latin typeface="Times New Roman"/>
                <a:cs typeface="Times New Roman"/>
              </a:rPr>
              <a:t>Neuronales</a:t>
            </a:r>
            <a:endParaRPr sz="2400" dirty="0">
              <a:latin typeface="Times New Roman"/>
              <a:cs typeface="Times New Roman"/>
            </a:endParaRPr>
          </a:p>
          <a:p>
            <a:pPr marL="469900" indent="-228600">
              <a:lnSpc>
                <a:spcPct val="100000"/>
              </a:lnSpc>
              <a:spcBef>
                <a:spcPts val="25"/>
              </a:spcBef>
              <a:buFont typeface="Symbol"/>
              <a:buChar char=""/>
              <a:tabLst>
                <a:tab pos="469900" algn="l"/>
              </a:tabLst>
            </a:pPr>
            <a:r>
              <a:rPr sz="2400" spc="-5" dirty="0">
                <a:solidFill>
                  <a:srgbClr val="4F6128"/>
                </a:solidFill>
                <a:latin typeface="Times New Roman"/>
                <a:cs typeface="Times New Roman"/>
              </a:rPr>
              <a:t>Support</a:t>
            </a:r>
            <a:r>
              <a:rPr sz="2400" spc="-25" dirty="0">
                <a:solidFill>
                  <a:srgbClr val="4F6128"/>
                </a:solidFill>
                <a:latin typeface="Times New Roman"/>
                <a:cs typeface="Times New Roman"/>
              </a:rPr>
              <a:t> </a:t>
            </a:r>
            <a:r>
              <a:rPr sz="2400" spc="-5" dirty="0">
                <a:solidFill>
                  <a:srgbClr val="4F6128"/>
                </a:solidFill>
                <a:latin typeface="Times New Roman"/>
                <a:cs typeface="Times New Roman"/>
              </a:rPr>
              <a:t>Vector Machines</a:t>
            </a:r>
            <a:r>
              <a:rPr sz="2400" spc="-10" dirty="0">
                <a:solidFill>
                  <a:srgbClr val="4F6128"/>
                </a:solidFill>
                <a:latin typeface="Times New Roman"/>
                <a:cs typeface="Times New Roman"/>
              </a:rPr>
              <a:t> </a:t>
            </a:r>
            <a:r>
              <a:rPr sz="2400" spc="-5" dirty="0">
                <a:solidFill>
                  <a:srgbClr val="4F6128"/>
                </a:solidFill>
                <a:latin typeface="Times New Roman"/>
                <a:cs typeface="Times New Roman"/>
              </a:rPr>
              <a:t>(SVM)</a:t>
            </a:r>
            <a:endParaRPr sz="2400" dirty="0">
              <a:latin typeface="Times New Roman"/>
              <a:cs typeface="Times New Roman"/>
            </a:endParaRPr>
          </a:p>
          <a:p>
            <a:pPr marL="469900" indent="-228600">
              <a:lnSpc>
                <a:spcPct val="100000"/>
              </a:lnSpc>
              <a:spcBef>
                <a:spcPts val="50"/>
              </a:spcBef>
              <a:buFont typeface="Symbol"/>
              <a:buChar char=""/>
              <a:tabLst>
                <a:tab pos="469900" algn="l"/>
              </a:tabLst>
            </a:pPr>
            <a:r>
              <a:rPr sz="2400" spc="-5" dirty="0">
                <a:solidFill>
                  <a:srgbClr val="4F6128"/>
                </a:solidFill>
                <a:latin typeface="Times New Roman"/>
                <a:cs typeface="Times New Roman"/>
              </a:rPr>
              <a:t>Multi</a:t>
            </a:r>
            <a:r>
              <a:rPr sz="2400" dirty="0">
                <a:solidFill>
                  <a:srgbClr val="4F6128"/>
                </a:solidFill>
                <a:latin typeface="Times New Roman"/>
                <a:cs typeface="Times New Roman"/>
              </a:rPr>
              <a:t> </a:t>
            </a:r>
            <a:r>
              <a:rPr sz="2400" spc="-5" dirty="0">
                <a:solidFill>
                  <a:srgbClr val="4F6128"/>
                </a:solidFill>
                <a:latin typeface="Times New Roman"/>
                <a:cs typeface="Times New Roman"/>
              </a:rPr>
              <a:t>Adaptive Regression</a:t>
            </a:r>
            <a:r>
              <a:rPr sz="2400" spc="5" dirty="0">
                <a:solidFill>
                  <a:srgbClr val="4F6128"/>
                </a:solidFill>
                <a:latin typeface="Times New Roman"/>
                <a:cs typeface="Times New Roman"/>
              </a:rPr>
              <a:t> </a:t>
            </a:r>
            <a:r>
              <a:rPr sz="2400" spc="-5" dirty="0">
                <a:solidFill>
                  <a:srgbClr val="4F6128"/>
                </a:solidFill>
                <a:latin typeface="Times New Roman"/>
                <a:cs typeface="Times New Roman"/>
              </a:rPr>
              <a:t>Splines </a:t>
            </a:r>
            <a:r>
              <a:rPr sz="2400" spc="-10" dirty="0">
                <a:solidFill>
                  <a:srgbClr val="4F6128"/>
                </a:solidFill>
                <a:latin typeface="Times New Roman"/>
                <a:cs typeface="Times New Roman"/>
              </a:rPr>
              <a:t>(MARS)</a:t>
            </a:r>
            <a:endParaRPr sz="2400" dirty="0">
              <a:latin typeface="Times New Roman"/>
              <a:cs typeface="Times New Roman"/>
            </a:endParaRPr>
          </a:p>
          <a:p>
            <a:pPr marL="469900" indent="-228600">
              <a:lnSpc>
                <a:spcPct val="100000"/>
              </a:lnSpc>
              <a:spcBef>
                <a:spcPts val="50"/>
              </a:spcBef>
              <a:buFont typeface="Symbol"/>
              <a:buChar char=""/>
              <a:tabLst>
                <a:tab pos="469900" algn="l"/>
              </a:tabLst>
            </a:pPr>
            <a:r>
              <a:rPr sz="2400" spc="-5" dirty="0">
                <a:solidFill>
                  <a:srgbClr val="4F6128"/>
                </a:solidFill>
                <a:latin typeface="Times New Roman"/>
                <a:cs typeface="Times New Roman"/>
              </a:rPr>
              <a:t>Trees</a:t>
            </a:r>
            <a:r>
              <a:rPr sz="2400" spc="-20" dirty="0">
                <a:solidFill>
                  <a:srgbClr val="4F6128"/>
                </a:solidFill>
                <a:latin typeface="Times New Roman"/>
                <a:cs typeface="Times New Roman"/>
              </a:rPr>
              <a:t> </a:t>
            </a:r>
            <a:r>
              <a:rPr sz="2400" spc="-5" dirty="0">
                <a:solidFill>
                  <a:srgbClr val="4F6128"/>
                </a:solidFill>
                <a:latin typeface="Times New Roman"/>
                <a:cs typeface="Times New Roman"/>
              </a:rPr>
              <a:t>y</a:t>
            </a:r>
            <a:r>
              <a:rPr sz="2400" dirty="0">
                <a:solidFill>
                  <a:srgbClr val="4F6128"/>
                </a:solidFill>
                <a:latin typeface="Times New Roman"/>
                <a:cs typeface="Times New Roman"/>
              </a:rPr>
              <a:t> </a:t>
            </a:r>
            <a:r>
              <a:rPr sz="2400" spc="-5" dirty="0">
                <a:solidFill>
                  <a:srgbClr val="4F6128"/>
                </a:solidFill>
                <a:latin typeface="Times New Roman"/>
                <a:cs typeface="Times New Roman"/>
              </a:rPr>
              <a:t>Random</a:t>
            </a:r>
            <a:r>
              <a:rPr sz="2400" spc="-15" dirty="0">
                <a:solidFill>
                  <a:srgbClr val="4F6128"/>
                </a:solidFill>
                <a:latin typeface="Times New Roman"/>
                <a:cs typeface="Times New Roman"/>
              </a:rPr>
              <a:t> </a:t>
            </a:r>
            <a:r>
              <a:rPr sz="2400" spc="-5" dirty="0">
                <a:solidFill>
                  <a:srgbClr val="4F6128"/>
                </a:solidFill>
                <a:latin typeface="Times New Roman"/>
                <a:cs typeface="Times New Roman"/>
              </a:rPr>
              <a:t>Forests</a:t>
            </a:r>
            <a:endParaRPr sz="2400" dirty="0">
              <a:latin typeface="Times New Roman"/>
              <a:cs typeface="Times New Roman"/>
            </a:endParaRPr>
          </a:p>
          <a:p>
            <a:pPr marL="12700" marR="5080">
              <a:lnSpc>
                <a:spcPct val="191900"/>
              </a:lnSpc>
              <a:spcBef>
                <a:spcPts val="10"/>
              </a:spcBef>
            </a:pPr>
            <a:r>
              <a:rPr sz="2600" b="1" u="sng" spc="-5" dirty="0">
                <a:solidFill>
                  <a:srgbClr val="1F487C"/>
                </a:solidFill>
                <a:uFill>
                  <a:solidFill>
                    <a:srgbClr val="1F487C"/>
                  </a:solidFill>
                </a:uFill>
                <a:latin typeface="Times New Roman"/>
                <a:cs typeface="Times New Roman"/>
              </a:rPr>
              <a:t>No</a:t>
            </a:r>
            <a:r>
              <a:rPr sz="2600" b="1" u="sng" spc="5" dirty="0">
                <a:solidFill>
                  <a:srgbClr val="1F487C"/>
                </a:solidFill>
                <a:uFill>
                  <a:solidFill>
                    <a:srgbClr val="1F487C"/>
                  </a:solidFill>
                </a:uFill>
                <a:latin typeface="Times New Roman"/>
                <a:cs typeface="Times New Roman"/>
              </a:rPr>
              <a:t> </a:t>
            </a:r>
            <a:r>
              <a:rPr sz="2600" b="1" u="sng" spc="-5" dirty="0">
                <a:solidFill>
                  <a:srgbClr val="1F487C"/>
                </a:solidFill>
                <a:uFill>
                  <a:solidFill>
                    <a:srgbClr val="1F487C"/>
                  </a:solidFill>
                </a:uFill>
                <a:latin typeface="Times New Roman"/>
                <a:cs typeface="Times New Roman"/>
              </a:rPr>
              <a:t>universales (necesitan</a:t>
            </a:r>
            <a:r>
              <a:rPr sz="2600" b="1" u="sng" spc="5" dirty="0">
                <a:solidFill>
                  <a:srgbClr val="1F487C"/>
                </a:solidFill>
                <a:uFill>
                  <a:solidFill>
                    <a:srgbClr val="1F487C"/>
                  </a:solidFill>
                </a:uFill>
                <a:latin typeface="Times New Roman"/>
                <a:cs typeface="Times New Roman"/>
              </a:rPr>
              <a:t> </a:t>
            </a:r>
            <a:r>
              <a:rPr sz="2600" b="1" u="sng" spc="-10" dirty="0">
                <a:solidFill>
                  <a:srgbClr val="1F487C"/>
                </a:solidFill>
                <a:uFill>
                  <a:solidFill>
                    <a:srgbClr val="1F487C"/>
                  </a:solidFill>
                </a:uFill>
                <a:latin typeface="Times New Roman"/>
                <a:cs typeface="Times New Roman"/>
              </a:rPr>
              <a:t>un</a:t>
            </a:r>
            <a:r>
              <a:rPr sz="2600" b="1" u="sng" spc="5" dirty="0">
                <a:solidFill>
                  <a:srgbClr val="1F487C"/>
                </a:solidFill>
                <a:uFill>
                  <a:solidFill>
                    <a:srgbClr val="1F487C"/>
                  </a:solidFill>
                </a:uFill>
                <a:latin typeface="Times New Roman"/>
                <a:cs typeface="Times New Roman"/>
              </a:rPr>
              <a:t> </a:t>
            </a:r>
            <a:r>
              <a:rPr sz="2600" b="1" u="sng" dirty="0">
                <a:solidFill>
                  <a:srgbClr val="1F487C"/>
                </a:solidFill>
                <a:uFill>
                  <a:solidFill>
                    <a:srgbClr val="1F487C"/>
                  </a:solidFill>
                </a:uFill>
                <a:latin typeface="Times New Roman"/>
                <a:cs typeface="Times New Roman"/>
              </a:rPr>
              <a:t>cierto </a:t>
            </a:r>
            <a:r>
              <a:rPr sz="2600" b="1" u="sng" spc="-5" dirty="0">
                <a:solidFill>
                  <a:srgbClr val="1F487C"/>
                </a:solidFill>
                <a:uFill>
                  <a:solidFill>
                    <a:srgbClr val="1F487C"/>
                  </a:solidFill>
                </a:uFill>
                <a:latin typeface="Times New Roman"/>
                <a:cs typeface="Times New Roman"/>
              </a:rPr>
              <a:t>tipo</a:t>
            </a:r>
            <a:r>
              <a:rPr sz="2600" b="1" u="sng" spc="10" dirty="0">
                <a:solidFill>
                  <a:srgbClr val="1F487C"/>
                </a:solidFill>
                <a:uFill>
                  <a:solidFill>
                    <a:srgbClr val="1F487C"/>
                  </a:solidFill>
                </a:uFill>
                <a:latin typeface="Times New Roman"/>
                <a:cs typeface="Times New Roman"/>
              </a:rPr>
              <a:t> </a:t>
            </a:r>
            <a:r>
              <a:rPr sz="2600" b="1" u="sng" spc="-5" dirty="0">
                <a:solidFill>
                  <a:srgbClr val="1F487C"/>
                </a:solidFill>
                <a:uFill>
                  <a:solidFill>
                    <a:srgbClr val="1F487C"/>
                  </a:solidFill>
                </a:uFill>
                <a:latin typeface="Times New Roman"/>
                <a:cs typeface="Times New Roman"/>
              </a:rPr>
              <a:t>de</a:t>
            </a:r>
            <a:r>
              <a:rPr sz="2600" b="1" u="sng" spc="-20" dirty="0">
                <a:solidFill>
                  <a:srgbClr val="1F487C"/>
                </a:solidFill>
                <a:uFill>
                  <a:solidFill>
                    <a:srgbClr val="1F487C"/>
                  </a:solidFill>
                </a:uFill>
                <a:latin typeface="Times New Roman"/>
                <a:cs typeface="Times New Roman"/>
              </a:rPr>
              <a:t> </a:t>
            </a:r>
            <a:r>
              <a:rPr sz="2600" b="1" u="sng" dirty="0">
                <a:solidFill>
                  <a:srgbClr val="1F487C"/>
                </a:solidFill>
                <a:uFill>
                  <a:solidFill>
                    <a:srgbClr val="1F487C"/>
                  </a:solidFill>
                </a:uFill>
                <a:latin typeface="Times New Roman"/>
                <a:cs typeface="Times New Roman"/>
              </a:rPr>
              <a:t>modelización</a:t>
            </a:r>
            <a:r>
              <a:rPr sz="2600" b="1" u="sng" spc="10" dirty="0">
                <a:solidFill>
                  <a:srgbClr val="1F487C"/>
                </a:solidFill>
                <a:uFill>
                  <a:solidFill>
                    <a:srgbClr val="1F487C"/>
                  </a:solidFill>
                </a:uFill>
                <a:latin typeface="Times New Roman"/>
                <a:cs typeface="Times New Roman"/>
              </a:rPr>
              <a:t> </a:t>
            </a:r>
            <a:r>
              <a:rPr sz="2600" b="1" u="sng" spc="-5" dirty="0">
                <a:solidFill>
                  <a:srgbClr val="1F487C"/>
                </a:solidFill>
                <a:uFill>
                  <a:solidFill>
                    <a:srgbClr val="1F487C"/>
                  </a:solidFill>
                </a:uFill>
                <a:latin typeface="Times New Roman"/>
                <a:cs typeface="Times New Roman"/>
              </a:rPr>
              <a:t>previa) </a:t>
            </a:r>
            <a:r>
              <a:rPr sz="2600" b="1" u="sng" spc="-635" dirty="0">
                <a:solidFill>
                  <a:srgbClr val="1F487C"/>
                </a:solidFill>
                <a:latin typeface="Times New Roman"/>
                <a:cs typeface="Times New Roman"/>
              </a:rPr>
              <a:t> </a:t>
            </a:r>
            <a:r>
              <a:rPr sz="2400" b="1" spc="-5" dirty="0">
                <a:solidFill>
                  <a:srgbClr val="4F6128"/>
                </a:solidFill>
                <a:latin typeface="Times New Roman"/>
                <a:cs typeface="Times New Roman"/>
              </a:rPr>
              <a:t>Splines, kernel,</a:t>
            </a:r>
            <a:r>
              <a:rPr sz="2400" b="1" spc="-15" dirty="0">
                <a:solidFill>
                  <a:srgbClr val="4F6128"/>
                </a:solidFill>
                <a:latin typeface="Times New Roman"/>
                <a:cs typeface="Times New Roman"/>
              </a:rPr>
              <a:t> </a:t>
            </a:r>
            <a:r>
              <a:rPr sz="2400" b="1" spc="-5" dirty="0">
                <a:solidFill>
                  <a:srgbClr val="4F6128"/>
                </a:solidFill>
                <a:latin typeface="Times New Roman"/>
                <a:cs typeface="Times New Roman"/>
              </a:rPr>
              <a:t>wavelets,</a:t>
            </a:r>
            <a:r>
              <a:rPr sz="2400" b="1" spc="5" dirty="0">
                <a:solidFill>
                  <a:srgbClr val="4F6128"/>
                </a:solidFill>
                <a:latin typeface="Times New Roman"/>
                <a:cs typeface="Times New Roman"/>
              </a:rPr>
              <a:t> </a:t>
            </a:r>
            <a:r>
              <a:rPr sz="2400" b="1" spc="-5" dirty="0">
                <a:solidFill>
                  <a:srgbClr val="4F6128"/>
                </a:solidFill>
                <a:latin typeface="Times New Roman"/>
                <a:cs typeface="Times New Roman"/>
              </a:rPr>
              <a:t>naïve</a:t>
            </a:r>
            <a:r>
              <a:rPr sz="2400" b="1" dirty="0">
                <a:solidFill>
                  <a:srgbClr val="4F6128"/>
                </a:solidFill>
                <a:latin typeface="Times New Roman"/>
                <a:cs typeface="Times New Roman"/>
              </a:rPr>
              <a:t> </a:t>
            </a:r>
            <a:r>
              <a:rPr sz="2400" b="1" spc="-5" dirty="0">
                <a:solidFill>
                  <a:srgbClr val="4F6128"/>
                </a:solidFill>
                <a:latin typeface="Times New Roman"/>
                <a:cs typeface="Times New Roman"/>
              </a:rPr>
              <a:t>bayes,</a:t>
            </a:r>
            <a:r>
              <a:rPr sz="2400" b="1" spc="-10" dirty="0">
                <a:solidFill>
                  <a:srgbClr val="4F6128"/>
                </a:solidFill>
                <a:latin typeface="Times New Roman"/>
                <a:cs typeface="Times New Roman"/>
              </a:rPr>
              <a:t> </a:t>
            </a:r>
            <a:r>
              <a:rPr sz="2400" b="1" spc="-5" dirty="0">
                <a:solidFill>
                  <a:srgbClr val="4F6128"/>
                </a:solidFill>
                <a:latin typeface="Times New Roman"/>
                <a:cs typeface="Times New Roman"/>
              </a:rPr>
              <a:t>mixtures,</a:t>
            </a:r>
            <a:r>
              <a:rPr sz="2400" b="1" spc="5" dirty="0">
                <a:solidFill>
                  <a:srgbClr val="4F6128"/>
                </a:solidFill>
                <a:latin typeface="Times New Roman"/>
                <a:cs typeface="Times New Roman"/>
              </a:rPr>
              <a:t> </a:t>
            </a:r>
            <a:r>
              <a:rPr sz="2400" b="1" spc="-5" dirty="0">
                <a:solidFill>
                  <a:srgbClr val="4F6128"/>
                </a:solidFill>
                <a:latin typeface="Times New Roman"/>
                <a:cs typeface="Times New Roman"/>
              </a:rPr>
              <a:t>etc.</a:t>
            </a:r>
            <a:endParaRPr sz="2400" dirty="0">
              <a:latin typeface="Times New Roman"/>
              <a:cs typeface="Times New Roman"/>
            </a:endParaRPr>
          </a:p>
          <a:p>
            <a:pPr>
              <a:lnSpc>
                <a:spcPct val="100000"/>
              </a:lnSpc>
            </a:pPr>
            <a:endParaRPr sz="2900" dirty="0">
              <a:latin typeface="Times New Roman"/>
              <a:cs typeface="Times New Roman"/>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4900" y="703834"/>
            <a:ext cx="6365747" cy="443070"/>
          </a:xfrm>
          <a:prstGeom prst="rect">
            <a:avLst/>
          </a:prstGeom>
        </p:spPr>
        <p:txBody>
          <a:bodyPr vert="horz" wrap="square" lIns="0" tIns="12065" rIns="0" bIns="0" rtlCol="0">
            <a:spAutoFit/>
          </a:bodyPr>
          <a:lstStyle/>
          <a:p>
            <a:pPr marL="12700">
              <a:lnSpc>
                <a:spcPct val="100000"/>
              </a:lnSpc>
              <a:spcBef>
                <a:spcPts val="95"/>
              </a:spcBef>
            </a:pPr>
            <a:r>
              <a:rPr lang="es-ES" sz="2800" b="1" spc="-5" dirty="0" smtClean="0">
                <a:latin typeface="Times New Roman"/>
                <a:cs typeface="Times New Roman"/>
              </a:rPr>
              <a:t>¿</a:t>
            </a:r>
            <a:r>
              <a:rPr sz="2800" b="1" spc="-5" dirty="0" err="1" smtClean="0">
                <a:latin typeface="Times New Roman"/>
                <a:cs typeface="Times New Roman"/>
              </a:rPr>
              <a:t>Cuándo</a:t>
            </a:r>
            <a:r>
              <a:rPr sz="2800" b="1" spc="-5" dirty="0" smtClean="0">
                <a:latin typeface="Times New Roman"/>
                <a:cs typeface="Times New Roman"/>
              </a:rPr>
              <a:t> </a:t>
            </a:r>
            <a:r>
              <a:rPr sz="2800" b="1" spc="-10" dirty="0">
                <a:latin typeface="Times New Roman"/>
                <a:cs typeface="Times New Roman"/>
              </a:rPr>
              <a:t>utilizar</a:t>
            </a:r>
            <a:r>
              <a:rPr sz="2800" b="1" spc="-5" dirty="0">
                <a:latin typeface="Times New Roman"/>
                <a:cs typeface="Times New Roman"/>
              </a:rPr>
              <a:t> las</a:t>
            </a:r>
            <a:r>
              <a:rPr sz="2800" b="1" spc="10" dirty="0">
                <a:latin typeface="Times New Roman"/>
                <a:cs typeface="Times New Roman"/>
              </a:rPr>
              <a:t> </a:t>
            </a:r>
            <a:r>
              <a:rPr sz="2800" b="1" spc="-10" dirty="0" err="1">
                <a:latin typeface="Times New Roman"/>
                <a:cs typeface="Times New Roman"/>
              </a:rPr>
              <a:t>redes</a:t>
            </a:r>
            <a:r>
              <a:rPr sz="2800" b="1" spc="10" dirty="0">
                <a:latin typeface="Times New Roman"/>
                <a:cs typeface="Times New Roman"/>
              </a:rPr>
              <a:t> </a:t>
            </a:r>
            <a:r>
              <a:rPr sz="2800" b="1" spc="-5" dirty="0" err="1" smtClean="0">
                <a:latin typeface="Times New Roman"/>
                <a:cs typeface="Times New Roman"/>
              </a:rPr>
              <a:t>neuronales</a:t>
            </a:r>
            <a:r>
              <a:rPr lang="es-ES" sz="2800" b="1" spc="-5" dirty="0" smtClean="0">
                <a:latin typeface="Times New Roman"/>
                <a:cs typeface="Times New Roman"/>
              </a:rPr>
              <a:t>?</a:t>
            </a:r>
            <a:endParaRPr sz="2800" dirty="0">
              <a:latin typeface="Times New Roman"/>
              <a:cs typeface="Times New Roman"/>
            </a:endParaRPr>
          </a:p>
        </p:txBody>
      </p:sp>
      <p:sp>
        <p:nvSpPr>
          <p:cNvPr id="3" name="object 3"/>
          <p:cNvSpPr txBox="1"/>
          <p:nvPr/>
        </p:nvSpPr>
        <p:spPr>
          <a:xfrm>
            <a:off x="393700" y="1266825"/>
            <a:ext cx="9876537" cy="5852243"/>
          </a:xfrm>
          <a:prstGeom prst="rect">
            <a:avLst/>
          </a:prstGeom>
        </p:spPr>
        <p:txBody>
          <a:bodyPr vert="horz" wrap="square" lIns="0" tIns="12700" rIns="0" bIns="0" rtlCol="0">
            <a:spAutoFit/>
          </a:bodyPr>
          <a:lstStyle/>
          <a:p>
            <a:pPr marL="317500" indent="-304800" algn="just">
              <a:lnSpc>
                <a:spcPct val="100000"/>
              </a:lnSpc>
              <a:spcBef>
                <a:spcPts val="100"/>
              </a:spcBef>
              <a:buClr>
                <a:srgbClr val="4F6128"/>
              </a:buClr>
              <a:buFont typeface="Symbol"/>
              <a:buChar char=""/>
              <a:tabLst>
                <a:tab pos="316865" algn="l"/>
                <a:tab pos="317500" algn="l"/>
              </a:tabLst>
            </a:pPr>
            <a:r>
              <a:rPr sz="2400" b="1" spc="-5" dirty="0">
                <a:latin typeface="Times New Roman"/>
                <a:cs typeface="Times New Roman"/>
              </a:rPr>
              <a:t>No</a:t>
            </a:r>
            <a:r>
              <a:rPr sz="2400" b="1" spc="-10" dirty="0">
                <a:latin typeface="Times New Roman"/>
                <a:cs typeface="Times New Roman"/>
              </a:rPr>
              <a:t> </a:t>
            </a:r>
            <a:r>
              <a:rPr sz="2400" b="1" spc="-5" dirty="0">
                <a:latin typeface="Times New Roman"/>
                <a:cs typeface="Times New Roman"/>
              </a:rPr>
              <a:t>linealidad,</a:t>
            </a:r>
            <a:r>
              <a:rPr sz="2400" b="1" dirty="0">
                <a:latin typeface="Times New Roman"/>
                <a:cs typeface="Times New Roman"/>
              </a:rPr>
              <a:t> </a:t>
            </a:r>
            <a:r>
              <a:rPr sz="2400" dirty="0">
                <a:latin typeface="Times New Roman"/>
                <a:cs typeface="Times New Roman"/>
              </a:rPr>
              <a:t>funciones </a:t>
            </a:r>
            <a:r>
              <a:rPr sz="2400" spc="-5" dirty="0">
                <a:latin typeface="Times New Roman"/>
                <a:cs typeface="Times New Roman"/>
              </a:rPr>
              <a:t>desconocidas </a:t>
            </a:r>
            <a:r>
              <a:rPr sz="2400" dirty="0">
                <a:latin typeface="Times New Roman"/>
                <a:cs typeface="Times New Roman"/>
              </a:rPr>
              <a:t>entre </a:t>
            </a:r>
            <a:r>
              <a:rPr sz="2400" spc="-5" dirty="0">
                <a:latin typeface="Times New Roman"/>
                <a:cs typeface="Times New Roman"/>
              </a:rPr>
              <a:t>variables</a:t>
            </a:r>
            <a:r>
              <a:rPr sz="2400" spc="-10" dirty="0">
                <a:latin typeface="Times New Roman"/>
                <a:cs typeface="Times New Roman"/>
              </a:rPr>
              <a:t> </a:t>
            </a:r>
            <a:r>
              <a:rPr sz="2400" dirty="0">
                <a:latin typeface="Times New Roman"/>
                <a:cs typeface="Times New Roman"/>
              </a:rPr>
              <a:t>input y output</a:t>
            </a:r>
          </a:p>
          <a:p>
            <a:pPr algn="just">
              <a:lnSpc>
                <a:spcPct val="100000"/>
              </a:lnSpc>
              <a:spcBef>
                <a:spcPts val="10"/>
              </a:spcBef>
              <a:buClr>
                <a:srgbClr val="4F6128"/>
              </a:buClr>
              <a:buFont typeface="Symbol"/>
              <a:buChar char=""/>
            </a:pPr>
            <a:endParaRPr sz="2600" dirty="0">
              <a:latin typeface="Times New Roman"/>
              <a:cs typeface="Times New Roman"/>
            </a:endParaRPr>
          </a:p>
          <a:p>
            <a:pPr marL="240665" marR="5080" indent="-228600" algn="just">
              <a:lnSpc>
                <a:spcPts val="2760"/>
              </a:lnSpc>
              <a:buClr>
                <a:srgbClr val="4F6128"/>
              </a:buClr>
              <a:buFont typeface="Symbol"/>
              <a:buChar char=""/>
              <a:tabLst>
                <a:tab pos="241300" algn="l"/>
              </a:tabLst>
            </a:pPr>
            <a:r>
              <a:rPr sz="2400" b="1" spc="-5" dirty="0">
                <a:latin typeface="Times New Roman"/>
                <a:cs typeface="Times New Roman"/>
              </a:rPr>
              <a:t>Complejidad</a:t>
            </a:r>
            <a:r>
              <a:rPr sz="2400" b="1" dirty="0">
                <a:latin typeface="Times New Roman"/>
                <a:cs typeface="Times New Roman"/>
              </a:rPr>
              <a:t> </a:t>
            </a:r>
            <a:r>
              <a:rPr sz="2400" b="1" spc="-5" dirty="0">
                <a:latin typeface="Times New Roman"/>
                <a:cs typeface="Times New Roman"/>
              </a:rPr>
              <a:t>de</a:t>
            </a:r>
            <a:r>
              <a:rPr sz="2400" b="1" dirty="0">
                <a:latin typeface="Times New Roman"/>
                <a:cs typeface="Times New Roman"/>
              </a:rPr>
              <a:t> los</a:t>
            </a:r>
            <a:r>
              <a:rPr sz="2400" b="1" spc="5" dirty="0">
                <a:latin typeface="Times New Roman"/>
                <a:cs typeface="Times New Roman"/>
              </a:rPr>
              <a:t> </a:t>
            </a:r>
            <a:r>
              <a:rPr sz="2400" b="1" spc="-5" dirty="0">
                <a:latin typeface="Times New Roman"/>
                <a:cs typeface="Times New Roman"/>
              </a:rPr>
              <a:t>datos</a:t>
            </a:r>
            <a:r>
              <a:rPr sz="2400" b="1" dirty="0">
                <a:latin typeface="Times New Roman"/>
                <a:cs typeface="Times New Roman"/>
              </a:rPr>
              <a:t> </a:t>
            </a:r>
            <a:r>
              <a:rPr sz="2400" dirty="0">
                <a:latin typeface="Times New Roman"/>
                <a:cs typeface="Times New Roman"/>
              </a:rPr>
              <a:t>(efecto</a:t>
            </a:r>
            <a:r>
              <a:rPr sz="2400" spc="5" dirty="0">
                <a:latin typeface="Times New Roman"/>
                <a:cs typeface="Times New Roman"/>
              </a:rPr>
              <a:t> </a:t>
            </a:r>
            <a:r>
              <a:rPr sz="2400" spc="-5" dirty="0">
                <a:latin typeface="Times New Roman"/>
                <a:cs typeface="Times New Roman"/>
              </a:rPr>
              <a:t>temporal,</a:t>
            </a:r>
            <a:r>
              <a:rPr sz="2400" dirty="0">
                <a:latin typeface="Times New Roman"/>
                <a:cs typeface="Times New Roman"/>
              </a:rPr>
              <a:t> </a:t>
            </a:r>
            <a:r>
              <a:rPr sz="2400" spc="-5" dirty="0">
                <a:latin typeface="Times New Roman"/>
                <a:cs typeface="Times New Roman"/>
              </a:rPr>
              <a:t>muchas</a:t>
            </a:r>
            <a:r>
              <a:rPr sz="2400" spc="5" dirty="0">
                <a:latin typeface="Times New Roman"/>
                <a:cs typeface="Times New Roman"/>
              </a:rPr>
              <a:t> </a:t>
            </a:r>
            <a:r>
              <a:rPr sz="2400" spc="-5" dirty="0">
                <a:latin typeface="Times New Roman"/>
                <a:cs typeface="Times New Roman"/>
              </a:rPr>
              <a:t>variables </a:t>
            </a:r>
            <a:r>
              <a:rPr sz="2400" dirty="0">
                <a:latin typeface="Times New Roman"/>
                <a:cs typeface="Times New Roman"/>
              </a:rPr>
              <a:t>categóricas, </a:t>
            </a:r>
            <a:r>
              <a:rPr sz="2400" spc="-585" dirty="0">
                <a:latin typeface="Times New Roman"/>
                <a:cs typeface="Times New Roman"/>
              </a:rPr>
              <a:t> </a:t>
            </a:r>
            <a:r>
              <a:rPr sz="2400" spc="-5" dirty="0" err="1">
                <a:latin typeface="Times New Roman"/>
                <a:cs typeface="Times New Roman"/>
              </a:rPr>
              <a:t>datos</a:t>
            </a:r>
            <a:r>
              <a:rPr sz="2400" spc="-10" dirty="0">
                <a:latin typeface="Times New Roman"/>
                <a:cs typeface="Times New Roman"/>
              </a:rPr>
              <a:t> </a:t>
            </a:r>
            <a:r>
              <a:rPr sz="2400" dirty="0" err="1" smtClean="0">
                <a:latin typeface="Times New Roman"/>
                <a:cs typeface="Times New Roman"/>
              </a:rPr>
              <a:t>censurados</a:t>
            </a:r>
            <a:r>
              <a:rPr lang="es-ES" sz="2400" dirty="0" smtClean="0">
                <a:latin typeface="Times New Roman"/>
                <a:cs typeface="Times New Roman"/>
              </a:rPr>
              <a:t>, datos perdidos, variables latentes, etc.</a:t>
            </a:r>
            <a:r>
              <a:rPr sz="2400" dirty="0" smtClean="0">
                <a:latin typeface="Times New Roman"/>
                <a:cs typeface="Times New Roman"/>
              </a:rPr>
              <a:t>)</a:t>
            </a:r>
            <a:endParaRPr sz="2400" dirty="0">
              <a:latin typeface="Times New Roman"/>
              <a:cs typeface="Times New Roman"/>
            </a:endParaRPr>
          </a:p>
          <a:p>
            <a:pPr algn="just">
              <a:lnSpc>
                <a:spcPct val="100000"/>
              </a:lnSpc>
              <a:spcBef>
                <a:spcPts val="55"/>
              </a:spcBef>
              <a:buClr>
                <a:srgbClr val="4F6128"/>
              </a:buClr>
              <a:buFont typeface="Symbol"/>
              <a:buChar char=""/>
            </a:pPr>
            <a:endParaRPr sz="2500" dirty="0">
              <a:latin typeface="Times New Roman"/>
              <a:cs typeface="Times New Roman"/>
            </a:endParaRPr>
          </a:p>
          <a:p>
            <a:pPr marL="240665" marR="1078230" indent="-228600" algn="just">
              <a:lnSpc>
                <a:spcPts val="2760"/>
              </a:lnSpc>
              <a:buClr>
                <a:srgbClr val="4F6128"/>
              </a:buClr>
              <a:buFont typeface="Symbol"/>
              <a:buChar char=""/>
              <a:tabLst>
                <a:tab pos="241300" algn="l"/>
                <a:tab pos="2551430" algn="l"/>
              </a:tabLst>
            </a:pPr>
            <a:r>
              <a:rPr sz="2400" b="1" spc="-5" dirty="0">
                <a:latin typeface="Times New Roman"/>
                <a:cs typeface="Times New Roman"/>
              </a:rPr>
              <a:t>Complejidad</a:t>
            </a:r>
            <a:r>
              <a:rPr sz="2400" b="1" dirty="0">
                <a:latin typeface="Times New Roman"/>
                <a:cs typeface="Times New Roman"/>
              </a:rPr>
              <a:t> </a:t>
            </a:r>
            <a:r>
              <a:rPr sz="2400" b="1" spc="-5" dirty="0">
                <a:latin typeface="Times New Roman"/>
                <a:cs typeface="Times New Roman"/>
              </a:rPr>
              <a:t>del	</a:t>
            </a:r>
            <a:r>
              <a:rPr sz="2400" b="1" dirty="0">
                <a:latin typeface="Times New Roman"/>
                <a:cs typeface="Times New Roman"/>
              </a:rPr>
              <a:t>output </a:t>
            </a:r>
            <a:r>
              <a:rPr sz="2400" spc="-5" dirty="0">
                <a:latin typeface="Times New Roman"/>
                <a:cs typeface="Times New Roman"/>
              </a:rPr>
              <a:t>(varias variables output </a:t>
            </a:r>
            <a:r>
              <a:rPr sz="2400" dirty="0">
                <a:latin typeface="Times New Roman"/>
                <a:cs typeface="Times New Roman"/>
              </a:rPr>
              <a:t>simultáneas, </a:t>
            </a:r>
            <a:r>
              <a:rPr sz="2400" spc="-5" dirty="0">
                <a:latin typeface="Times New Roman"/>
                <a:cs typeface="Times New Roman"/>
              </a:rPr>
              <a:t>de </a:t>
            </a:r>
            <a:r>
              <a:rPr sz="2400" spc="-585" dirty="0">
                <a:latin typeface="Times New Roman"/>
                <a:cs typeface="Times New Roman"/>
              </a:rPr>
              <a:t> </a:t>
            </a:r>
            <a:r>
              <a:rPr sz="2400" spc="-5" dirty="0">
                <a:latin typeface="Times New Roman"/>
                <a:cs typeface="Times New Roman"/>
              </a:rPr>
              <a:t>diferente </a:t>
            </a:r>
            <a:r>
              <a:rPr sz="2400" dirty="0">
                <a:latin typeface="Times New Roman"/>
                <a:cs typeface="Times New Roman"/>
              </a:rPr>
              <a:t>tipo)</a:t>
            </a:r>
          </a:p>
          <a:p>
            <a:pPr algn="just">
              <a:lnSpc>
                <a:spcPct val="100000"/>
              </a:lnSpc>
            </a:pPr>
            <a:endParaRPr sz="2600" dirty="0">
              <a:latin typeface="Times New Roman"/>
              <a:cs typeface="Times New Roman"/>
            </a:endParaRPr>
          </a:p>
          <a:p>
            <a:pPr algn="just">
              <a:lnSpc>
                <a:spcPct val="100000"/>
              </a:lnSpc>
              <a:spcBef>
                <a:spcPts val="45"/>
              </a:spcBef>
            </a:pPr>
            <a:endParaRPr sz="2400" dirty="0">
              <a:latin typeface="Times New Roman"/>
              <a:cs typeface="Times New Roman"/>
            </a:endParaRPr>
          </a:p>
          <a:p>
            <a:pPr marL="240665" marR="323850" algn="just">
              <a:lnSpc>
                <a:spcPct val="95800"/>
              </a:lnSpc>
            </a:pPr>
            <a:r>
              <a:rPr sz="2400" dirty="0">
                <a:latin typeface="Times New Roman"/>
                <a:cs typeface="Times New Roman"/>
              </a:rPr>
              <a:t>En </a:t>
            </a:r>
            <a:r>
              <a:rPr sz="2400" spc="-5" dirty="0">
                <a:latin typeface="Times New Roman"/>
                <a:cs typeface="Times New Roman"/>
              </a:rPr>
              <a:t>general,</a:t>
            </a:r>
            <a:r>
              <a:rPr sz="2400" spc="5" dirty="0">
                <a:latin typeface="Times New Roman"/>
                <a:cs typeface="Times New Roman"/>
              </a:rPr>
              <a:t> </a:t>
            </a:r>
            <a:r>
              <a:rPr sz="2400" spc="-5" dirty="0">
                <a:latin typeface="Times New Roman"/>
                <a:cs typeface="Times New Roman"/>
              </a:rPr>
              <a:t>para</a:t>
            </a:r>
            <a:r>
              <a:rPr sz="2400" spc="-10" dirty="0">
                <a:latin typeface="Times New Roman"/>
                <a:cs typeface="Times New Roman"/>
              </a:rPr>
              <a:t> utilizar</a:t>
            </a:r>
            <a:r>
              <a:rPr sz="2400" spc="5" dirty="0">
                <a:latin typeface="Times New Roman"/>
                <a:cs typeface="Times New Roman"/>
              </a:rPr>
              <a:t> </a:t>
            </a:r>
            <a:r>
              <a:rPr sz="2400" spc="-5" dirty="0">
                <a:latin typeface="Times New Roman"/>
                <a:cs typeface="Times New Roman"/>
              </a:rPr>
              <a:t>una</a:t>
            </a:r>
            <a:r>
              <a:rPr sz="2400" spc="10" dirty="0">
                <a:latin typeface="Times New Roman"/>
                <a:cs typeface="Times New Roman"/>
              </a:rPr>
              <a:t> </a:t>
            </a:r>
            <a:r>
              <a:rPr sz="2400" spc="-5" dirty="0">
                <a:latin typeface="Times New Roman"/>
                <a:cs typeface="Times New Roman"/>
              </a:rPr>
              <a:t>red</a:t>
            </a:r>
            <a:r>
              <a:rPr sz="2400" spc="5" dirty="0">
                <a:latin typeface="Times New Roman"/>
                <a:cs typeface="Times New Roman"/>
              </a:rPr>
              <a:t> </a:t>
            </a:r>
            <a:r>
              <a:rPr sz="2400" spc="-5" dirty="0">
                <a:latin typeface="Times New Roman"/>
                <a:cs typeface="Times New Roman"/>
              </a:rPr>
              <a:t>neuronal</a:t>
            </a:r>
            <a:r>
              <a:rPr sz="2400" spc="-15" dirty="0">
                <a:latin typeface="Times New Roman"/>
                <a:cs typeface="Times New Roman"/>
              </a:rPr>
              <a:t> </a:t>
            </a:r>
            <a:r>
              <a:rPr sz="2400" dirty="0">
                <a:latin typeface="Times New Roman"/>
                <a:cs typeface="Times New Roman"/>
              </a:rPr>
              <a:t>con</a:t>
            </a:r>
            <a:r>
              <a:rPr sz="2400" spc="5" dirty="0">
                <a:latin typeface="Times New Roman"/>
                <a:cs typeface="Times New Roman"/>
              </a:rPr>
              <a:t> </a:t>
            </a:r>
            <a:r>
              <a:rPr sz="2400" spc="-5" dirty="0">
                <a:latin typeface="Times New Roman"/>
                <a:cs typeface="Times New Roman"/>
              </a:rPr>
              <a:t>garantías</a:t>
            </a:r>
            <a:r>
              <a:rPr sz="2400" spc="-10" dirty="0">
                <a:latin typeface="Times New Roman"/>
                <a:cs typeface="Times New Roman"/>
              </a:rPr>
              <a:t> </a:t>
            </a:r>
            <a:r>
              <a:rPr sz="2400" spc="-5" dirty="0">
                <a:latin typeface="Times New Roman"/>
                <a:cs typeface="Times New Roman"/>
              </a:rPr>
              <a:t>se </a:t>
            </a:r>
            <a:r>
              <a:rPr sz="2400" dirty="0">
                <a:latin typeface="Times New Roman"/>
                <a:cs typeface="Times New Roman"/>
              </a:rPr>
              <a:t> </a:t>
            </a:r>
            <a:r>
              <a:rPr sz="2400" spc="-5" dirty="0">
                <a:latin typeface="Times New Roman"/>
                <a:cs typeface="Times New Roman"/>
              </a:rPr>
              <a:t>requieren</a:t>
            </a:r>
            <a:r>
              <a:rPr sz="2400" dirty="0">
                <a:latin typeface="Times New Roman"/>
                <a:cs typeface="Times New Roman"/>
              </a:rPr>
              <a:t> </a:t>
            </a:r>
            <a:r>
              <a:rPr sz="2400" b="1" dirty="0" err="1">
                <a:latin typeface="Times New Roman"/>
                <a:cs typeface="Times New Roman"/>
              </a:rPr>
              <a:t>muchas</a:t>
            </a:r>
            <a:r>
              <a:rPr sz="2400" b="1" dirty="0">
                <a:latin typeface="Times New Roman"/>
                <a:cs typeface="Times New Roman"/>
              </a:rPr>
              <a:t> </a:t>
            </a:r>
            <a:r>
              <a:rPr sz="2400" b="1" spc="-5" dirty="0" err="1" smtClean="0">
                <a:latin typeface="Times New Roman"/>
                <a:cs typeface="Times New Roman"/>
              </a:rPr>
              <a:t>observaciones</a:t>
            </a:r>
            <a:r>
              <a:rPr lang="es-ES" sz="2400" dirty="0" smtClean="0">
                <a:latin typeface="Times New Roman"/>
                <a:cs typeface="Times New Roman"/>
              </a:rPr>
              <a:t>. </a:t>
            </a:r>
            <a:r>
              <a:rPr lang="es-ES" sz="2400" dirty="0">
                <a:latin typeface="Times New Roman"/>
                <a:cs typeface="Times New Roman"/>
              </a:rPr>
              <a:t>A</a:t>
            </a:r>
            <a:r>
              <a:rPr sz="2400" dirty="0" smtClean="0">
                <a:latin typeface="Times New Roman"/>
                <a:cs typeface="Times New Roman"/>
              </a:rPr>
              <a:t>l </a:t>
            </a:r>
            <a:r>
              <a:rPr sz="2400" spc="-5" dirty="0">
                <a:latin typeface="Times New Roman"/>
                <a:cs typeface="Times New Roman"/>
              </a:rPr>
              <a:t>no</a:t>
            </a:r>
            <a:r>
              <a:rPr sz="2400" dirty="0">
                <a:latin typeface="Times New Roman"/>
                <a:cs typeface="Times New Roman"/>
              </a:rPr>
              <a:t> </a:t>
            </a:r>
            <a:r>
              <a:rPr sz="2400" spc="-5" dirty="0">
                <a:latin typeface="Times New Roman"/>
                <a:cs typeface="Times New Roman"/>
              </a:rPr>
              <a:t>haber</a:t>
            </a:r>
            <a:r>
              <a:rPr sz="2400" dirty="0">
                <a:latin typeface="Times New Roman"/>
                <a:cs typeface="Times New Roman"/>
              </a:rPr>
              <a:t> </a:t>
            </a:r>
            <a:r>
              <a:rPr sz="2400" spc="-5" dirty="0">
                <a:latin typeface="Times New Roman"/>
                <a:cs typeface="Times New Roman"/>
              </a:rPr>
              <a:t>inferencia </a:t>
            </a:r>
            <a:r>
              <a:rPr sz="2400" dirty="0">
                <a:latin typeface="Times New Roman"/>
                <a:cs typeface="Times New Roman"/>
              </a:rPr>
              <a:t> </a:t>
            </a:r>
            <a:r>
              <a:rPr sz="2400" spc="-5" dirty="0">
                <a:latin typeface="Times New Roman"/>
                <a:cs typeface="Times New Roman"/>
              </a:rPr>
              <a:t>propiamente dicha</a:t>
            </a:r>
            <a:r>
              <a:rPr sz="2400" spc="5" dirty="0">
                <a:latin typeface="Times New Roman"/>
                <a:cs typeface="Times New Roman"/>
              </a:rPr>
              <a:t> </a:t>
            </a:r>
            <a:r>
              <a:rPr sz="2400" spc="-5" dirty="0">
                <a:latin typeface="Times New Roman"/>
                <a:cs typeface="Times New Roman"/>
              </a:rPr>
              <a:t>se</a:t>
            </a:r>
            <a:r>
              <a:rPr sz="2400" dirty="0">
                <a:latin typeface="Times New Roman"/>
                <a:cs typeface="Times New Roman"/>
              </a:rPr>
              <a:t> </a:t>
            </a:r>
            <a:r>
              <a:rPr sz="2400" spc="-5" dirty="0" err="1" smtClean="0">
                <a:latin typeface="Times New Roman"/>
                <a:cs typeface="Times New Roman"/>
              </a:rPr>
              <a:t>necesita</a:t>
            </a:r>
            <a:r>
              <a:rPr lang="es-ES" sz="2400" spc="-5" dirty="0" smtClean="0">
                <a:latin typeface="Times New Roman"/>
                <a:cs typeface="Times New Roman"/>
              </a:rPr>
              <a:t> que haya</a:t>
            </a:r>
            <a:r>
              <a:rPr sz="2400" spc="5" dirty="0" smtClean="0">
                <a:latin typeface="Times New Roman"/>
                <a:cs typeface="Times New Roman"/>
              </a:rPr>
              <a:t> </a:t>
            </a:r>
            <a:r>
              <a:rPr sz="2400" spc="-5" dirty="0" err="1" smtClean="0">
                <a:latin typeface="Times New Roman"/>
                <a:cs typeface="Times New Roman"/>
              </a:rPr>
              <a:t>datos</a:t>
            </a:r>
            <a:r>
              <a:rPr lang="es-ES" sz="2400" spc="-5" dirty="0" smtClean="0">
                <a:latin typeface="Times New Roman"/>
                <a:cs typeface="Times New Roman"/>
              </a:rPr>
              <a:t> suficientes para </a:t>
            </a:r>
            <a:r>
              <a:rPr lang="es-ES" sz="2400" b="1" spc="-5" dirty="0" smtClean="0">
                <a:latin typeface="Times New Roman"/>
                <a:cs typeface="Times New Roman"/>
              </a:rPr>
              <a:t>entrenar el modelo </a:t>
            </a:r>
            <a:r>
              <a:rPr lang="es-ES" sz="2400" spc="-5" dirty="0" smtClean="0">
                <a:latin typeface="Times New Roman"/>
                <a:cs typeface="Times New Roman"/>
              </a:rPr>
              <a:t>y obtener la función asociada al conjunto de variables, y otra parte de los datos para usarlos como</a:t>
            </a:r>
            <a:r>
              <a:rPr sz="2400" spc="10" dirty="0" smtClean="0">
                <a:latin typeface="Times New Roman"/>
                <a:cs typeface="Times New Roman"/>
              </a:rPr>
              <a:t> </a:t>
            </a:r>
            <a:r>
              <a:rPr sz="2400" b="1" spc="-5" dirty="0">
                <a:latin typeface="Times New Roman"/>
                <a:cs typeface="Times New Roman"/>
              </a:rPr>
              <a:t>test</a:t>
            </a:r>
            <a:r>
              <a:rPr sz="2400" dirty="0">
                <a:latin typeface="Times New Roman"/>
                <a:cs typeface="Times New Roman"/>
              </a:rPr>
              <a:t> </a:t>
            </a:r>
            <a:r>
              <a:rPr lang="es-ES" sz="2400" spc="-5" dirty="0" smtClean="0">
                <a:latin typeface="Times New Roman"/>
                <a:cs typeface="Times New Roman"/>
              </a:rPr>
              <a:t>en la </a:t>
            </a:r>
            <a:r>
              <a:rPr sz="2400" spc="-5" dirty="0" err="1" smtClean="0">
                <a:latin typeface="Times New Roman"/>
                <a:cs typeface="Times New Roman"/>
              </a:rPr>
              <a:t>valida</a:t>
            </a:r>
            <a:r>
              <a:rPr lang="es-ES" sz="2400" spc="-5" dirty="0" err="1" smtClean="0">
                <a:latin typeface="Times New Roman"/>
                <a:cs typeface="Times New Roman"/>
              </a:rPr>
              <a:t>ción</a:t>
            </a:r>
            <a:r>
              <a:rPr lang="es-ES" sz="2400" spc="-5" dirty="0" smtClean="0">
                <a:latin typeface="Times New Roman"/>
                <a:cs typeface="Times New Roman"/>
              </a:rPr>
              <a:t> d</a:t>
            </a:r>
            <a:r>
              <a:rPr sz="2400" dirty="0" smtClean="0">
                <a:latin typeface="Times New Roman"/>
                <a:cs typeface="Times New Roman"/>
              </a:rPr>
              <a:t>el </a:t>
            </a:r>
            <a:r>
              <a:rPr sz="2400" spc="-5" dirty="0" err="1">
                <a:latin typeface="Times New Roman"/>
                <a:cs typeface="Times New Roman"/>
              </a:rPr>
              <a:t>modelo</a:t>
            </a:r>
            <a:r>
              <a:rPr sz="2400" spc="-5" dirty="0" smtClean="0">
                <a:latin typeface="Times New Roman"/>
                <a:cs typeface="Times New Roman"/>
              </a:rPr>
              <a:t>)</a:t>
            </a:r>
            <a:r>
              <a:rPr lang="es-ES" sz="2400" spc="-5" dirty="0" smtClean="0">
                <a:latin typeface="Times New Roman"/>
                <a:cs typeface="Times New Roman"/>
              </a:rPr>
              <a:t>.</a:t>
            </a:r>
          </a:p>
          <a:p>
            <a:pPr marL="240665" marR="323850" algn="just">
              <a:lnSpc>
                <a:spcPct val="95800"/>
              </a:lnSpc>
            </a:pPr>
            <a:r>
              <a:rPr lang="es-ES" sz="2400" spc="-5" dirty="0" smtClean="0">
                <a:latin typeface="Times New Roman"/>
                <a:cs typeface="Times New Roman"/>
              </a:rPr>
              <a:t>Cuando los datos no son suficientes, las técnicas de </a:t>
            </a:r>
            <a:r>
              <a:rPr lang="es-ES" sz="2400" i="1" spc="-5" dirty="0" smtClean="0">
                <a:latin typeface="Times New Roman"/>
                <a:cs typeface="Times New Roman"/>
              </a:rPr>
              <a:t>machine </a:t>
            </a:r>
            <a:r>
              <a:rPr lang="es-ES" sz="2400" i="1" spc="-5" dirty="0" err="1" smtClean="0">
                <a:latin typeface="Times New Roman"/>
                <a:cs typeface="Times New Roman"/>
              </a:rPr>
              <a:t>learning</a:t>
            </a:r>
            <a:r>
              <a:rPr lang="es-ES" sz="2400" i="1" spc="-5" dirty="0" smtClean="0">
                <a:latin typeface="Times New Roman"/>
                <a:cs typeface="Times New Roman"/>
              </a:rPr>
              <a:t> </a:t>
            </a:r>
            <a:r>
              <a:rPr lang="es-ES" sz="2400" spc="-5" dirty="0" smtClean="0">
                <a:latin typeface="Times New Roman"/>
                <a:cs typeface="Times New Roman"/>
              </a:rPr>
              <a:t>tienden a </a:t>
            </a:r>
            <a:r>
              <a:rPr lang="es-ES" sz="2400" spc="-5" dirty="0" err="1" smtClean="0">
                <a:latin typeface="Times New Roman"/>
                <a:cs typeface="Times New Roman"/>
              </a:rPr>
              <a:t>sobreajustar</a:t>
            </a:r>
            <a:r>
              <a:rPr lang="es-ES" sz="2400" spc="-5" dirty="0" smtClean="0">
                <a:latin typeface="Times New Roman"/>
                <a:cs typeface="Times New Roman"/>
              </a:rPr>
              <a:t>.</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65577" y="324103"/>
            <a:ext cx="6157723" cy="412934"/>
          </a:xfrm>
          <a:prstGeom prst="rect">
            <a:avLst/>
          </a:prstGeom>
        </p:spPr>
        <p:txBody>
          <a:bodyPr vert="horz" wrap="square" lIns="0" tIns="12700" rIns="0" bIns="0" rtlCol="0">
            <a:spAutoFit/>
          </a:bodyPr>
          <a:lstStyle/>
          <a:p>
            <a:pPr marL="12700">
              <a:lnSpc>
                <a:spcPct val="100000"/>
              </a:lnSpc>
              <a:spcBef>
                <a:spcPts val="100"/>
              </a:spcBef>
            </a:pPr>
            <a:r>
              <a:rPr lang="es-ES" sz="2600" b="1" spc="-5" dirty="0" smtClean="0">
                <a:latin typeface="Times New Roman"/>
                <a:cs typeface="Times New Roman"/>
              </a:rPr>
              <a:t>¿</a:t>
            </a:r>
            <a:r>
              <a:rPr sz="2600" b="1" spc="-5" dirty="0" err="1" smtClean="0">
                <a:latin typeface="Times New Roman"/>
                <a:cs typeface="Times New Roman"/>
              </a:rPr>
              <a:t>Cuándo</a:t>
            </a:r>
            <a:r>
              <a:rPr sz="2600" b="1" spc="-15" dirty="0" smtClean="0">
                <a:latin typeface="Times New Roman"/>
                <a:cs typeface="Times New Roman"/>
              </a:rPr>
              <a:t> </a:t>
            </a:r>
            <a:r>
              <a:rPr sz="2600" b="1" spc="-5" dirty="0">
                <a:latin typeface="Times New Roman"/>
                <a:cs typeface="Times New Roman"/>
              </a:rPr>
              <a:t>NO</a:t>
            </a:r>
            <a:r>
              <a:rPr sz="2600" b="1" dirty="0">
                <a:latin typeface="Times New Roman"/>
                <a:cs typeface="Times New Roman"/>
              </a:rPr>
              <a:t> </a:t>
            </a:r>
            <a:r>
              <a:rPr sz="2600" b="1" spc="-10" dirty="0">
                <a:latin typeface="Times New Roman"/>
                <a:cs typeface="Times New Roman"/>
              </a:rPr>
              <a:t>utilizar</a:t>
            </a:r>
            <a:r>
              <a:rPr sz="2600" b="1" spc="5" dirty="0">
                <a:latin typeface="Times New Roman"/>
                <a:cs typeface="Times New Roman"/>
              </a:rPr>
              <a:t> </a:t>
            </a:r>
            <a:r>
              <a:rPr sz="2600" b="1" dirty="0">
                <a:latin typeface="Times New Roman"/>
                <a:cs typeface="Times New Roman"/>
              </a:rPr>
              <a:t>las</a:t>
            </a:r>
            <a:r>
              <a:rPr sz="2600" b="1" spc="-10" dirty="0">
                <a:latin typeface="Times New Roman"/>
                <a:cs typeface="Times New Roman"/>
              </a:rPr>
              <a:t> </a:t>
            </a:r>
            <a:r>
              <a:rPr sz="2600" b="1" spc="-5" dirty="0" err="1">
                <a:latin typeface="Times New Roman"/>
                <a:cs typeface="Times New Roman"/>
              </a:rPr>
              <a:t>redes</a:t>
            </a:r>
            <a:r>
              <a:rPr sz="2600" b="1" spc="-10" dirty="0">
                <a:latin typeface="Times New Roman"/>
                <a:cs typeface="Times New Roman"/>
              </a:rPr>
              <a:t> </a:t>
            </a:r>
            <a:r>
              <a:rPr sz="2600" b="1" spc="-5" dirty="0" err="1" smtClean="0">
                <a:latin typeface="Times New Roman"/>
                <a:cs typeface="Times New Roman"/>
              </a:rPr>
              <a:t>neuronales</a:t>
            </a:r>
            <a:r>
              <a:rPr lang="es-ES" sz="2600" b="1" spc="-5" dirty="0" smtClean="0">
                <a:latin typeface="Times New Roman"/>
                <a:cs typeface="Times New Roman"/>
              </a:rPr>
              <a:t>?</a:t>
            </a:r>
            <a:endParaRPr sz="2600" dirty="0">
              <a:latin typeface="Times New Roman"/>
              <a:cs typeface="Times New Roman"/>
            </a:endParaRPr>
          </a:p>
        </p:txBody>
      </p:sp>
      <p:sp>
        <p:nvSpPr>
          <p:cNvPr id="3" name="object 3"/>
          <p:cNvSpPr txBox="1"/>
          <p:nvPr/>
        </p:nvSpPr>
        <p:spPr>
          <a:xfrm>
            <a:off x="317500" y="885825"/>
            <a:ext cx="9829800" cy="5998885"/>
          </a:xfrm>
          <a:prstGeom prst="rect">
            <a:avLst/>
          </a:prstGeom>
        </p:spPr>
        <p:txBody>
          <a:bodyPr vert="horz" wrap="square" lIns="0" tIns="29209" rIns="0" bIns="0" rtlCol="0">
            <a:spAutoFit/>
          </a:bodyPr>
          <a:lstStyle/>
          <a:p>
            <a:pPr marL="469265" marR="76835" indent="-228600" algn="just">
              <a:lnSpc>
                <a:spcPct val="95900"/>
              </a:lnSpc>
              <a:spcBef>
                <a:spcPts val="229"/>
              </a:spcBef>
              <a:buClr>
                <a:srgbClr val="4F6128"/>
              </a:buClr>
              <a:buFont typeface="Symbol"/>
              <a:buChar char=""/>
              <a:tabLst>
                <a:tab pos="469900" algn="l"/>
              </a:tabLst>
            </a:pPr>
            <a:r>
              <a:rPr sz="2400" b="1" dirty="0">
                <a:latin typeface="Times New Roman"/>
                <a:cs typeface="Times New Roman"/>
              </a:rPr>
              <a:t>Linealidad </a:t>
            </a:r>
            <a:r>
              <a:rPr sz="2400" dirty="0">
                <a:latin typeface="Times New Roman"/>
                <a:cs typeface="Times New Roman"/>
              </a:rPr>
              <a:t>en</a:t>
            </a:r>
            <a:r>
              <a:rPr sz="2400" spc="10" dirty="0">
                <a:latin typeface="Times New Roman"/>
                <a:cs typeface="Times New Roman"/>
              </a:rPr>
              <a:t> </a:t>
            </a:r>
            <a:r>
              <a:rPr sz="2400" dirty="0">
                <a:latin typeface="Times New Roman"/>
                <a:cs typeface="Times New Roman"/>
              </a:rPr>
              <a:t>las</a:t>
            </a:r>
            <a:r>
              <a:rPr sz="2400" spc="-5" dirty="0">
                <a:latin typeface="Times New Roman"/>
                <a:cs typeface="Times New Roman"/>
              </a:rPr>
              <a:t> relaciones,</a:t>
            </a:r>
            <a:r>
              <a:rPr sz="2400" spc="5" dirty="0">
                <a:latin typeface="Times New Roman"/>
                <a:cs typeface="Times New Roman"/>
              </a:rPr>
              <a:t> </a:t>
            </a:r>
            <a:r>
              <a:rPr sz="2400" dirty="0">
                <a:latin typeface="Times New Roman"/>
                <a:cs typeface="Times New Roman"/>
              </a:rPr>
              <a:t>o</a:t>
            </a:r>
            <a:r>
              <a:rPr sz="2400" spc="5" dirty="0">
                <a:latin typeface="Times New Roman"/>
                <a:cs typeface="Times New Roman"/>
              </a:rPr>
              <a:t> </a:t>
            </a:r>
            <a:r>
              <a:rPr sz="2400" b="1" spc="-5" dirty="0" err="1" smtClean="0">
                <a:latin typeface="Times New Roman"/>
                <a:cs typeface="Times New Roman"/>
              </a:rPr>
              <a:t>funciones</a:t>
            </a:r>
            <a:r>
              <a:rPr sz="2400" b="1" spc="-5" dirty="0" smtClean="0">
                <a:latin typeface="Times New Roman"/>
                <a:cs typeface="Times New Roman"/>
              </a:rPr>
              <a:t> </a:t>
            </a:r>
            <a:r>
              <a:rPr sz="2400" b="1" spc="-5" dirty="0">
                <a:latin typeface="Times New Roman"/>
                <a:cs typeface="Times New Roman"/>
              </a:rPr>
              <a:t>de</a:t>
            </a:r>
            <a:r>
              <a:rPr sz="2400" b="1" spc="10" dirty="0">
                <a:latin typeface="Times New Roman"/>
                <a:cs typeface="Times New Roman"/>
              </a:rPr>
              <a:t> </a:t>
            </a:r>
            <a:r>
              <a:rPr sz="2400" b="1" dirty="0">
                <a:latin typeface="Times New Roman"/>
                <a:cs typeface="Times New Roman"/>
              </a:rPr>
              <a:t>relación</a:t>
            </a:r>
            <a:r>
              <a:rPr sz="2400" b="1" spc="5" dirty="0">
                <a:latin typeface="Times New Roman"/>
                <a:cs typeface="Times New Roman"/>
              </a:rPr>
              <a:t> </a:t>
            </a:r>
            <a:r>
              <a:rPr sz="2400" b="1" spc="-5" dirty="0">
                <a:latin typeface="Times New Roman"/>
                <a:cs typeface="Times New Roman"/>
              </a:rPr>
              <a:t>conocidas </a:t>
            </a:r>
            <a:r>
              <a:rPr sz="2400" b="1" spc="-635" dirty="0">
                <a:latin typeface="Times New Roman"/>
                <a:cs typeface="Times New Roman"/>
              </a:rPr>
              <a:t> </a:t>
            </a:r>
            <a:r>
              <a:rPr sz="2400" dirty="0">
                <a:latin typeface="Times New Roman"/>
                <a:cs typeface="Times New Roman"/>
              </a:rPr>
              <a:t>entre</a:t>
            </a:r>
            <a:r>
              <a:rPr sz="2400" spc="-5" dirty="0">
                <a:latin typeface="Times New Roman"/>
                <a:cs typeface="Times New Roman"/>
              </a:rPr>
              <a:t> variables </a:t>
            </a:r>
            <a:r>
              <a:rPr sz="2400" dirty="0">
                <a:latin typeface="Times New Roman"/>
                <a:cs typeface="Times New Roman"/>
              </a:rPr>
              <a:t>input</a:t>
            </a:r>
            <a:r>
              <a:rPr sz="2400" spc="-15" dirty="0">
                <a:latin typeface="Times New Roman"/>
                <a:cs typeface="Times New Roman"/>
              </a:rPr>
              <a:t> </a:t>
            </a:r>
            <a:r>
              <a:rPr sz="2400" dirty="0">
                <a:latin typeface="Times New Roman"/>
                <a:cs typeface="Times New Roman"/>
              </a:rPr>
              <a:t>y</a:t>
            </a:r>
            <a:r>
              <a:rPr sz="2400" spc="5" dirty="0">
                <a:latin typeface="Times New Roman"/>
                <a:cs typeface="Times New Roman"/>
              </a:rPr>
              <a:t> </a:t>
            </a:r>
            <a:r>
              <a:rPr sz="2400" dirty="0">
                <a:latin typeface="Times New Roman"/>
                <a:cs typeface="Times New Roman"/>
              </a:rPr>
              <a:t>output</a:t>
            </a:r>
            <a:r>
              <a:rPr sz="2400" spc="10" dirty="0">
                <a:latin typeface="Times New Roman"/>
                <a:cs typeface="Times New Roman"/>
              </a:rPr>
              <a:t> </a:t>
            </a:r>
            <a:r>
              <a:rPr sz="2400" spc="-5" dirty="0">
                <a:latin typeface="Times New Roman"/>
                <a:cs typeface="Times New Roman"/>
              </a:rPr>
              <a:t>(modelos</a:t>
            </a:r>
            <a:r>
              <a:rPr sz="2400" dirty="0">
                <a:latin typeface="Times New Roman"/>
                <a:cs typeface="Times New Roman"/>
              </a:rPr>
              <a:t> </a:t>
            </a:r>
            <a:r>
              <a:rPr sz="2400" dirty="0" err="1">
                <a:latin typeface="Times New Roman"/>
                <a:cs typeface="Times New Roman"/>
              </a:rPr>
              <a:t>econométricos</a:t>
            </a:r>
            <a:r>
              <a:rPr sz="2400" spc="5" dirty="0">
                <a:latin typeface="Times New Roman"/>
                <a:cs typeface="Times New Roman"/>
              </a:rPr>
              <a:t> </a:t>
            </a:r>
            <a:r>
              <a:rPr sz="2400" spc="-5" dirty="0" err="1" smtClean="0">
                <a:latin typeface="Times New Roman"/>
                <a:cs typeface="Times New Roman"/>
              </a:rPr>
              <a:t>conocidos</a:t>
            </a:r>
            <a:r>
              <a:rPr sz="2400" spc="-5" dirty="0" smtClean="0">
                <a:latin typeface="Times New Roman"/>
                <a:cs typeface="Times New Roman"/>
              </a:rPr>
              <a:t>,</a:t>
            </a:r>
            <a:r>
              <a:rPr lang="es-ES" sz="2400" dirty="0">
                <a:latin typeface="Times New Roman"/>
                <a:cs typeface="Times New Roman"/>
              </a:rPr>
              <a:t> </a:t>
            </a:r>
            <a:r>
              <a:rPr sz="2400" spc="-5" dirty="0" err="1" smtClean="0">
                <a:latin typeface="Times New Roman"/>
                <a:cs typeface="Times New Roman"/>
              </a:rPr>
              <a:t>datos</a:t>
            </a:r>
            <a:r>
              <a:rPr sz="2400" spc="5" dirty="0" smtClean="0">
                <a:latin typeface="Times New Roman"/>
                <a:cs typeface="Times New Roman"/>
              </a:rPr>
              <a:t> </a:t>
            </a:r>
            <a:r>
              <a:rPr sz="2400" spc="-5" dirty="0">
                <a:latin typeface="Times New Roman"/>
                <a:cs typeface="Times New Roman"/>
              </a:rPr>
              <a:t>de</a:t>
            </a:r>
            <a:r>
              <a:rPr sz="2400" spc="5" dirty="0">
                <a:latin typeface="Times New Roman"/>
                <a:cs typeface="Times New Roman"/>
              </a:rPr>
              <a:t> </a:t>
            </a:r>
            <a:r>
              <a:rPr sz="2400" spc="-5" dirty="0">
                <a:latin typeface="Times New Roman"/>
                <a:cs typeface="Times New Roman"/>
              </a:rPr>
              <a:t>química,</a:t>
            </a:r>
            <a:r>
              <a:rPr sz="2400" spc="10" dirty="0">
                <a:latin typeface="Times New Roman"/>
                <a:cs typeface="Times New Roman"/>
              </a:rPr>
              <a:t> </a:t>
            </a:r>
            <a:r>
              <a:rPr sz="2400" spc="-5" dirty="0">
                <a:latin typeface="Times New Roman"/>
                <a:cs typeface="Times New Roman"/>
              </a:rPr>
              <a:t>termodinámica,</a:t>
            </a:r>
            <a:r>
              <a:rPr sz="2400" spc="5" dirty="0">
                <a:latin typeface="Times New Roman"/>
                <a:cs typeface="Times New Roman"/>
              </a:rPr>
              <a:t> </a:t>
            </a:r>
            <a:r>
              <a:rPr sz="2400" spc="-5" dirty="0">
                <a:latin typeface="Times New Roman"/>
                <a:cs typeface="Times New Roman"/>
              </a:rPr>
              <a:t>biometría,</a:t>
            </a:r>
            <a:r>
              <a:rPr sz="2400" spc="10" dirty="0">
                <a:latin typeface="Times New Roman"/>
                <a:cs typeface="Times New Roman"/>
              </a:rPr>
              <a:t> </a:t>
            </a:r>
            <a:r>
              <a:rPr sz="2400" spc="-5" dirty="0">
                <a:latin typeface="Times New Roman"/>
                <a:cs typeface="Times New Roman"/>
              </a:rPr>
              <a:t>etc. </a:t>
            </a:r>
            <a:r>
              <a:rPr sz="2400" dirty="0">
                <a:latin typeface="Times New Roman"/>
                <a:cs typeface="Times New Roman"/>
              </a:rPr>
              <a:t>con</a:t>
            </a:r>
            <a:r>
              <a:rPr sz="2400" spc="10" dirty="0">
                <a:latin typeface="Times New Roman"/>
                <a:cs typeface="Times New Roman"/>
              </a:rPr>
              <a:t> </a:t>
            </a:r>
            <a:r>
              <a:rPr sz="2400" spc="-5" dirty="0">
                <a:latin typeface="Times New Roman"/>
                <a:cs typeface="Times New Roman"/>
              </a:rPr>
              <a:t>funciones no </a:t>
            </a:r>
            <a:r>
              <a:rPr sz="2400" dirty="0">
                <a:latin typeface="Times New Roman"/>
                <a:cs typeface="Times New Roman"/>
              </a:rPr>
              <a:t> </a:t>
            </a:r>
            <a:r>
              <a:rPr sz="2400" spc="-5" dirty="0">
                <a:latin typeface="Times New Roman"/>
                <a:cs typeface="Times New Roman"/>
              </a:rPr>
              <a:t>lineales</a:t>
            </a:r>
            <a:r>
              <a:rPr sz="2400" spc="-20" dirty="0">
                <a:latin typeface="Times New Roman"/>
                <a:cs typeface="Times New Roman"/>
              </a:rPr>
              <a:t> </a:t>
            </a:r>
            <a:r>
              <a:rPr sz="2400" spc="-5" dirty="0">
                <a:latin typeface="Times New Roman"/>
                <a:cs typeface="Times New Roman"/>
              </a:rPr>
              <a:t>pero</a:t>
            </a:r>
            <a:r>
              <a:rPr sz="2400" dirty="0">
                <a:latin typeface="Times New Roman"/>
                <a:cs typeface="Times New Roman"/>
              </a:rPr>
              <a:t> </a:t>
            </a:r>
            <a:r>
              <a:rPr sz="2400" spc="-5" dirty="0">
                <a:latin typeface="Times New Roman"/>
                <a:cs typeface="Times New Roman"/>
              </a:rPr>
              <a:t>bien</a:t>
            </a:r>
            <a:r>
              <a:rPr sz="2400" dirty="0">
                <a:latin typeface="Times New Roman"/>
                <a:cs typeface="Times New Roman"/>
              </a:rPr>
              <a:t> </a:t>
            </a:r>
            <a:r>
              <a:rPr sz="2400" spc="-5" dirty="0">
                <a:latin typeface="Times New Roman"/>
                <a:cs typeface="Times New Roman"/>
              </a:rPr>
              <a:t>conocidas,</a:t>
            </a:r>
            <a:r>
              <a:rPr sz="2400" dirty="0">
                <a:latin typeface="Times New Roman"/>
                <a:cs typeface="Times New Roman"/>
              </a:rPr>
              <a:t> </a:t>
            </a:r>
            <a:r>
              <a:rPr sz="2400" spc="-5" dirty="0">
                <a:latin typeface="Times New Roman"/>
                <a:cs typeface="Times New Roman"/>
              </a:rPr>
              <a:t>etc.)</a:t>
            </a:r>
            <a:endParaRPr sz="2400" dirty="0">
              <a:latin typeface="Times New Roman"/>
              <a:cs typeface="Times New Roman"/>
            </a:endParaRPr>
          </a:p>
          <a:p>
            <a:pPr algn="just">
              <a:lnSpc>
                <a:spcPct val="100000"/>
              </a:lnSpc>
              <a:spcBef>
                <a:spcPts val="15"/>
              </a:spcBef>
              <a:buClr>
                <a:srgbClr val="4F6128"/>
              </a:buClr>
              <a:buFont typeface="Symbol"/>
              <a:buChar char=""/>
            </a:pPr>
            <a:endParaRPr sz="2400" dirty="0">
              <a:latin typeface="Times New Roman"/>
              <a:cs typeface="Times New Roman"/>
            </a:endParaRPr>
          </a:p>
          <a:p>
            <a:pPr marL="469265" marR="5080" indent="-228600" algn="just">
              <a:lnSpc>
                <a:spcPts val="3000"/>
              </a:lnSpc>
              <a:buClr>
                <a:srgbClr val="4F6128"/>
              </a:buClr>
              <a:buFont typeface="Symbol"/>
              <a:buChar char=""/>
              <a:tabLst>
                <a:tab pos="469900" algn="l"/>
              </a:tabLst>
            </a:pPr>
            <a:r>
              <a:rPr sz="2400" b="1" spc="-5" dirty="0">
                <a:latin typeface="Times New Roman"/>
                <a:cs typeface="Times New Roman"/>
              </a:rPr>
              <a:t>Pocas</a:t>
            </a:r>
            <a:r>
              <a:rPr sz="2400" b="1" spc="5" dirty="0">
                <a:latin typeface="Times New Roman"/>
                <a:cs typeface="Times New Roman"/>
              </a:rPr>
              <a:t> </a:t>
            </a:r>
            <a:r>
              <a:rPr sz="2400" b="1" spc="-5" dirty="0">
                <a:latin typeface="Times New Roman"/>
                <a:cs typeface="Times New Roman"/>
              </a:rPr>
              <a:t>observaciones</a:t>
            </a:r>
            <a:r>
              <a:rPr sz="2400" b="1" spc="5" dirty="0">
                <a:latin typeface="Times New Roman"/>
                <a:cs typeface="Times New Roman"/>
              </a:rPr>
              <a:t> </a:t>
            </a:r>
            <a:r>
              <a:rPr sz="2400" dirty="0">
                <a:latin typeface="Times New Roman"/>
                <a:cs typeface="Times New Roman"/>
              </a:rPr>
              <a:t>(aquí</a:t>
            </a:r>
            <a:r>
              <a:rPr sz="2400" spc="5" dirty="0">
                <a:latin typeface="Times New Roman"/>
                <a:cs typeface="Times New Roman"/>
              </a:rPr>
              <a:t> </a:t>
            </a:r>
            <a:r>
              <a:rPr sz="2400" spc="-5" dirty="0">
                <a:latin typeface="Times New Roman"/>
                <a:cs typeface="Times New Roman"/>
              </a:rPr>
              <a:t>la</a:t>
            </a:r>
            <a:r>
              <a:rPr sz="2400" spc="10" dirty="0">
                <a:latin typeface="Times New Roman"/>
                <a:cs typeface="Times New Roman"/>
              </a:rPr>
              <a:t> </a:t>
            </a:r>
            <a:r>
              <a:rPr sz="2400" spc="-5" dirty="0">
                <a:latin typeface="Times New Roman"/>
                <a:cs typeface="Times New Roman"/>
              </a:rPr>
              <a:t>inferencia</a:t>
            </a:r>
            <a:r>
              <a:rPr sz="2400" spc="5" dirty="0">
                <a:latin typeface="Times New Roman"/>
                <a:cs typeface="Times New Roman"/>
              </a:rPr>
              <a:t> </a:t>
            </a:r>
            <a:r>
              <a:rPr sz="2400" dirty="0">
                <a:latin typeface="Times New Roman"/>
                <a:cs typeface="Times New Roman"/>
              </a:rPr>
              <a:t>clásica</a:t>
            </a:r>
            <a:r>
              <a:rPr sz="2400" spc="10" dirty="0">
                <a:latin typeface="Times New Roman"/>
                <a:cs typeface="Times New Roman"/>
              </a:rPr>
              <a:t> </a:t>
            </a:r>
            <a:r>
              <a:rPr sz="2400" spc="-5" dirty="0">
                <a:latin typeface="Times New Roman"/>
                <a:cs typeface="Times New Roman"/>
              </a:rPr>
              <a:t>es </a:t>
            </a:r>
            <a:r>
              <a:rPr sz="2400" dirty="0">
                <a:latin typeface="Times New Roman"/>
                <a:cs typeface="Times New Roman"/>
              </a:rPr>
              <a:t>fundamental</a:t>
            </a:r>
            <a:r>
              <a:rPr sz="2400" spc="-10" dirty="0">
                <a:latin typeface="Times New Roman"/>
                <a:cs typeface="Times New Roman"/>
              </a:rPr>
              <a:t> </a:t>
            </a:r>
            <a:r>
              <a:rPr sz="2400" spc="-5" dirty="0">
                <a:latin typeface="Times New Roman"/>
                <a:cs typeface="Times New Roman"/>
              </a:rPr>
              <a:t>para </a:t>
            </a:r>
            <a:r>
              <a:rPr sz="2400" spc="-635" dirty="0">
                <a:latin typeface="Times New Roman"/>
                <a:cs typeface="Times New Roman"/>
              </a:rPr>
              <a:t> </a:t>
            </a:r>
            <a:r>
              <a:rPr sz="2400" dirty="0">
                <a:latin typeface="Times New Roman"/>
                <a:cs typeface="Times New Roman"/>
              </a:rPr>
              <a:t>construir</a:t>
            </a:r>
            <a:r>
              <a:rPr sz="2400" spc="-15" dirty="0">
                <a:latin typeface="Times New Roman"/>
                <a:cs typeface="Times New Roman"/>
              </a:rPr>
              <a:t> </a:t>
            </a:r>
            <a:r>
              <a:rPr sz="2400" spc="-5" dirty="0">
                <a:latin typeface="Times New Roman"/>
                <a:cs typeface="Times New Roman"/>
              </a:rPr>
              <a:t>modelos</a:t>
            </a:r>
            <a:r>
              <a:rPr sz="2400" dirty="0">
                <a:latin typeface="Times New Roman"/>
                <a:cs typeface="Times New Roman"/>
              </a:rPr>
              <a:t> </a:t>
            </a:r>
            <a:r>
              <a:rPr sz="2400" spc="-5" dirty="0">
                <a:latin typeface="Times New Roman"/>
                <a:cs typeface="Times New Roman"/>
              </a:rPr>
              <a:t>robustos)</a:t>
            </a:r>
            <a:endParaRPr sz="2400" dirty="0">
              <a:latin typeface="Times New Roman"/>
              <a:cs typeface="Times New Roman"/>
            </a:endParaRPr>
          </a:p>
          <a:p>
            <a:pPr algn="just">
              <a:lnSpc>
                <a:spcPct val="100000"/>
              </a:lnSpc>
              <a:spcBef>
                <a:spcPts val="35"/>
              </a:spcBef>
              <a:buClr>
                <a:srgbClr val="4F6128"/>
              </a:buClr>
              <a:buFont typeface="Symbol"/>
              <a:buChar char=""/>
            </a:pPr>
            <a:endParaRPr sz="2400" dirty="0">
              <a:latin typeface="Times New Roman"/>
              <a:cs typeface="Times New Roman"/>
            </a:endParaRPr>
          </a:p>
          <a:p>
            <a:pPr marL="469265" marR="89535" indent="-228600" algn="just">
              <a:lnSpc>
                <a:spcPct val="96000"/>
              </a:lnSpc>
              <a:buFont typeface="Symbol"/>
              <a:buChar char=""/>
              <a:tabLst>
                <a:tab pos="469900" algn="l"/>
              </a:tabLst>
            </a:pPr>
            <a:r>
              <a:rPr sz="2400" b="1" dirty="0">
                <a:latin typeface="Times New Roman"/>
                <a:cs typeface="Times New Roman"/>
              </a:rPr>
              <a:t>El objetivo</a:t>
            </a:r>
            <a:r>
              <a:rPr sz="2400" b="1" spc="-15" dirty="0">
                <a:latin typeface="Times New Roman"/>
                <a:cs typeface="Times New Roman"/>
              </a:rPr>
              <a:t> </a:t>
            </a:r>
            <a:r>
              <a:rPr sz="2400" b="1" spc="-5" dirty="0">
                <a:latin typeface="Times New Roman"/>
                <a:cs typeface="Times New Roman"/>
              </a:rPr>
              <a:t>no</a:t>
            </a:r>
            <a:r>
              <a:rPr sz="2400" b="1" dirty="0">
                <a:latin typeface="Times New Roman"/>
                <a:cs typeface="Times New Roman"/>
              </a:rPr>
              <a:t> es</a:t>
            </a:r>
            <a:r>
              <a:rPr sz="2400" b="1" spc="-10" dirty="0">
                <a:latin typeface="Times New Roman"/>
                <a:cs typeface="Times New Roman"/>
              </a:rPr>
              <a:t> </a:t>
            </a:r>
            <a:r>
              <a:rPr sz="2400" b="1" spc="-5" dirty="0">
                <a:latin typeface="Times New Roman"/>
                <a:cs typeface="Times New Roman"/>
              </a:rPr>
              <a:t>predecir,</a:t>
            </a:r>
            <a:r>
              <a:rPr sz="2400" b="1" dirty="0">
                <a:latin typeface="Times New Roman"/>
                <a:cs typeface="Times New Roman"/>
              </a:rPr>
              <a:t> </a:t>
            </a:r>
            <a:r>
              <a:rPr sz="2400" b="1" spc="-5" dirty="0">
                <a:latin typeface="Times New Roman"/>
                <a:cs typeface="Times New Roman"/>
              </a:rPr>
              <a:t>sino</a:t>
            </a:r>
            <a:r>
              <a:rPr sz="2400" b="1" spc="20" dirty="0">
                <a:latin typeface="Times New Roman"/>
                <a:cs typeface="Times New Roman"/>
              </a:rPr>
              <a:t> </a:t>
            </a:r>
            <a:r>
              <a:rPr sz="2400" b="1" dirty="0">
                <a:latin typeface="Times New Roman"/>
                <a:cs typeface="Times New Roman"/>
              </a:rPr>
              <a:t>explicar,</a:t>
            </a:r>
            <a:r>
              <a:rPr sz="2400" dirty="0">
                <a:latin typeface="Times New Roman"/>
                <a:cs typeface="Times New Roman"/>
              </a:rPr>
              <a:t> o</a:t>
            </a:r>
            <a:r>
              <a:rPr sz="2400" spc="-15" dirty="0">
                <a:latin typeface="Times New Roman"/>
                <a:cs typeface="Times New Roman"/>
              </a:rPr>
              <a:t> </a:t>
            </a:r>
            <a:r>
              <a:rPr sz="2400" spc="-5" dirty="0">
                <a:latin typeface="Times New Roman"/>
                <a:cs typeface="Times New Roman"/>
              </a:rPr>
              <a:t>bien</a:t>
            </a:r>
            <a:r>
              <a:rPr sz="2400" dirty="0">
                <a:latin typeface="Times New Roman"/>
                <a:cs typeface="Times New Roman"/>
              </a:rPr>
              <a:t> </a:t>
            </a:r>
            <a:r>
              <a:rPr sz="2400" spc="-5" dirty="0">
                <a:latin typeface="Times New Roman"/>
                <a:cs typeface="Times New Roman"/>
              </a:rPr>
              <a:t>son</a:t>
            </a:r>
            <a:r>
              <a:rPr sz="2400" dirty="0">
                <a:latin typeface="Times New Roman"/>
                <a:cs typeface="Times New Roman"/>
              </a:rPr>
              <a:t> </a:t>
            </a:r>
            <a:r>
              <a:rPr sz="2400" spc="-10" dirty="0">
                <a:latin typeface="Times New Roman"/>
                <a:cs typeface="Times New Roman"/>
              </a:rPr>
              <a:t>las </a:t>
            </a:r>
            <a:r>
              <a:rPr sz="2400" spc="-5" dirty="0">
                <a:latin typeface="Times New Roman"/>
                <a:cs typeface="Times New Roman"/>
              </a:rPr>
              <a:t>dos</a:t>
            </a:r>
            <a:r>
              <a:rPr sz="2400" spc="5" dirty="0">
                <a:latin typeface="Times New Roman"/>
                <a:cs typeface="Times New Roman"/>
              </a:rPr>
              <a:t> </a:t>
            </a:r>
            <a:r>
              <a:rPr sz="2400" dirty="0">
                <a:latin typeface="Times New Roman"/>
                <a:cs typeface="Times New Roman"/>
              </a:rPr>
              <a:t>cosas</a:t>
            </a:r>
            <a:r>
              <a:rPr sz="2400" spc="-15" dirty="0">
                <a:latin typeface="Times New Roman"/>
                <a:cs typeface="Times New Roman"/>
              </a:rPr>
              <a:t> </a:t>
            </a:r>
            <a:r>
              <a:rPr sz="2400" spc="-5" dirty="0">
                <a:latin typeface="Times New Roman"/>
                <a:cs typeface="Times New Roman"/>
              </a:rPr>
              <a:t>(la </a:t>
            </a:r>
            <a:r>
              <a:rPr sz="2400" spc="-635" dirty="0">
                <a:latin typeface="Times New Roman"/>
                <a:cs typeface="Times New Roman"/>
              </a:rPr>
              <a:t> </a:t>
            </a:r>
            <a:r>
              <a:rPr sz="2400" spc="-5" dirty="0">
                <a:latin typeface="Times New Roman"/>
                <a:cs typeface="Times New Roman"/>
              </a:rPr>
              <a:t>red </a:t>
            </a:r>
            <a:r>
              <a:rPr sz="2400" dirty="0">
                <a:latin typeface="Times New Roman"/>
                <a:cs typeface="Times New Roman"/>
              </a:rPr>
              <a:t>es </a:t>
            </a:r>
            <a:r>
              <a:rPr sz="2400" spc="-5" dirty="0">
                <a:latin typeface="Times New Roman"/>
                <a:cs typeface="Times New Roman"/>
              </a:rPr>
              <a:t>una </a:t>
            </a:r>
            <a:r>
              <a:rPr sz="2400" dirty="0">
                <a:latin typeface="Times New Roman"/>
                <a:cs typeface="Times New Roman"/>
              </a:rPr>
              <a:t>caja </a:t>
            </a:r>
            <a:r>
              <a:rPr sz="2400" spc="-5" dirty="0">
                <a:latin typeface="Times New Roman"/>
                <a:cs typeface="Times New Roman"/>
              </a:rPr>
              <a:t>negra </a:t>
            </a:r>
            <a:r>
              <a:rPr sz="2400" dirty="0">
                <a:latin typeface="Times New Roman"/>
                <a:cs typeface="Times New Roman"/>
              </a:rPr>
              <a:t>y es </a:t>
            </a:r>
            <a:r>
              <a:rPr sz="2400" spc="-5" dirty="0">
                <a:latin typeface="Times New Roman"/>
                <a:cs typeface="Times New Roman"/>
              </a:rPr>
              <a:t>difícil </a:t>
            </a:r>
            <a:r>
              <a:rPr sz="2400" dirty="0">
                <a:latin typeface="Times New Roman"/>
                <a:cs typeface="Times New Roman"/>
              </a:rPr>
              <a:t>extraer </a:t>
            </a:r>
            <a:r>
              <a:rPr sz="2400" dirty="0" err="1">
                <a:latin typeface="Times New Roman"/>
                <a:cs typeface="Times New Roman"/>
              </a:rPr>
              <a:t>información</a:t>
            </a:r>
            <a:r>
              <a:rPr sz="2400" dirty="0">
                <a:latin typeface="Times New Roman"/>
                <a:cs typeface="Times New Roman"/>
              </a:rPr>
              <a:t> </a:t>
            </a:r>
            <a:r>
              <a:rPr sz="2400" dirty="0" err="1" smtClean="0">
                <a:latin typeface="Times New Roman"/>
                <a:cs typeface="Times New Roman"/>
              </a:rPr>
              <a:t>aparte</a:t>
            </a:r>
            <a:r>
              <a:rPr lang="es-ES" sz="2400" dirty="0">
                <a:latin typeface="Times New Roman"/>
                <a:cs typeface="Times New Roman"/>
              </a:rPr>
              <a:t> </a:t>
            </a:r>
            <a:r>
              <a:rPr sz="2400" spc="-5" dirty="0" smtClean="0">
                <a:latin typeface="Times New Roman"/>
                <a:cs typeface="Times New Roman"/>
              </a:rPr>
              <a:t>de</a:t>
            </a:r>
            <a:r>
              <a:rPr lang="es-ES" sz="2400" spc="5" dirty="0" smtClean="0">
                <a:latin typeface="Times New Roman"/>
                <a:cs typeface="Times New Roman"/>
              </a:rPr>
              <a:t> </a:t>
            </a:r>
            <a:r>
              <a:rPr sz="2400" spc="-5" dirty="0" err="1" smtClean="0">
                <a:latin typeface="Times New Roman"/>
                <a:cs typeface="Times New Roman"/>
              </a:rPr>
              <a:t>buenas</a:t>
            </a:r>
            <a:r>
              <a:rPr sz="2400" spc="-5" dirty="0" smtClean="0">
                <a:latin typeface="Times New Roman"/>
                <a:cs typeface="Times New Roman"/>
              </a:rPr>
              <a:t> </a:t>
            </a:r>
            <a:r>
              <a:rPr sz="2400" spc="-5" dirty="0" err="1" smtClean="0">
                <a:latin typeface="Times New Roman"/>
                <a:cs typeface="Times New Roman"/>
              </a:rPr>
              <a:t>predicciones</a:t>
            </a:r>
            <a:r>
              <a:rPr lang="es-ES" sz="2400" spc="-5" dirty="0" smtClean="0">
                <a:latin typeface="Times New Roman"/>
                <a:cs typeface="Times New Roman"/>
              </a:rPr>
              <a:t>)</a:t>
            </a:r>
          </a:p>
          <a:p>
            <a:pPr marL="240665" marR="89535" algn="just">
              <a:lnSpc>
                <a:spcPct val="96000"/>
              </a:lnSpc>
              <a:tabLst>
                <a:tab pos="469900" algn="l"/>
              </a:tabLst>
            </a:pPr>
            <a:endParaRPr sz="2400" dirty="0">
              <a:latin typeface="Times New Roman"/>
              <a:cs typeface="Times New Roman"/>
            </a:endParaRPr>
          </a:p>
          <a:p>
            <a:pPr marL="12700" marR="729615" algn="just">
              <a:lnSpc>
                <a:spcPts val="3220"/>
              </a:lnSpc>
              <a:spcBef>
                <a:spcPts val="90"/>
              </a:spcBef>
            </a:pPr>
            <a:r>
              <a:rPr sz="2000" b="1" spc="-5" dirty="0" err="1" smtClean="0">
                <a:latin typeface="Times New Roman"/>
                <a:cs typeface="Times New Roman"/>
              </a:rPr>
              <a:t>En</a:t>
            </a:r>
            <a:r>
              <a:rPr sz="2000" b="1" spc="-5" dirty="0" smtClean="0">
                <a:latin typeface="Times New Roman"/>
                <a:cs typeface="Times New Roman"/>
              </a:rPr>
              <a:t> </a:t>
            </a:r>
            <a:r>
              <a:rPr sz="2000" b="1" spc="-5" dirty="0">
                <a:latin typeface="Times New Roman"/>
                <a:cs typeface="Times New Roman"/>
              </a:rPr>
              <a:t>general,</a:t>
            </a:r>
            <a:r>
              <a:rPr sz="2000" b="1" dirty="0">
                <a:latin typeface="Times New Roman"/>
                <a:cs typeface="Times New Roman"/>
              </a:rPr>
              <a:t> </a:t>
            </a:r>
            <a:r>
              <a:rPr sz="2000" b="1" spc="-5" dirty="0">
                <a:latin typeface="Times New Roman"/>
                <a:cs typeface="Times New Roman"/>
              </a:rPr>
              <a:t>siempre que se</a:t>
            </a:r>
            <a:r>
              <a:rPr sz="2000" b="1" dirty="0">
                <a:latin typeface="Times New Roman"/>
                <a:cs typeface="Times New Roman"/>
              </a:rPr>
              <a:t> </a:t>
            </a:r>
            <a:r>
              <a:rPr sz="2000" b="1" spc="-5" dirty="0">
                <a:latin typeface="Times New Roman"/>
                <a:cs typeface="Times New Roman"/>
              </a:rPr>
              <a:t>pueda</a:t>
            </a:r>
            <a:r>
              <a:rPr sz="2000" b="1" spc="5" dirty="0">
                <a:latin typeface="Times New Roman"/>
                <a:cs typeface="Times New Roman"/>
              </a:rPr>
              <a:t> </a:t>
            </a:r>
            <a:r>
              <a:rPr sz="2000" b="1" spc="-5" dirty="0">
                <a:latin typeface="Times New Roman"/>
                <a:cs typeface="Times New Roman"/>
              </a:rPr>
              <a:t>se deben </a:t>
            </a:r>
            <a:r>
              <a:rPr sz="2000" b="1" dirty="0">
                <a:latin typeface="Times New Roman"/>
                <a:cs typeface="Times New Roman"/>
              </a:rPr>
              <a:t>probar</a:t>
            </a:r>
            <a:r>
              <a:rPr sz="2000" b="1" spc="-5" dirty="0">
                <a:latin typeface="Times New Roman"/>
                <a:cs typeface="Times New Roman"/>
              </a:rPr>
              <a:t> modelos </a:t>
            </a:r>
            <a:r>
              <a:rPr sz="2000" b="1" dirty="0">
                <a:latin typeface="Times New Roman"/>
                <a:cs typeface="Times New Roman"/>
              </a:rPr>
              <a:t> </a:t>
            </a:r>
            <a:r>
              <a:rPr sz="2000" b="1" spc="-5" dirty="0">
                <a:latin typeface="Times New Roman"/>
                <a:cs typeface="Times New Roman"/>
              </a:rPr>
              <a:t>clásicos</a:t>
            </a:r>
            <a:r>
              <a:rPr sz="2000" b="1" dirty="0">
                <a:latin typeface="Times New Roman"/>
                <a:cs typeface="Times New Roman"/>
              </a:rPr>
              <a:t> </a:t>
            </a:r>
            <a:r>
              <a:rPr sz="2000" b="1" spc="-5" dirty="0">
                <a:latin typeface="Times New Roman"/>
                <a:cs typeface="Times New Roman"/>
              </a:rPr>
              <a:t>y</a:t>
            </a:r>
            <a:r>
              <a:rPr sz="2000" b="1" spc="5" dirty="0">
                <a:latin typeface="Times New Roman"/>
                <a:cs typeface="Times New Roman"/>
              </a:rPr>
              <a:t> </a:t>
            </a:r>
            <a:r>
              <a:rPr sz="2000" b="1" spc="-5" dirty="0">
                <a:latin typeface="Times New Roman"/>
                <a:cs typeface="Times New Roman"/>
              </a:rPr>
              <a:t>contrastarlos</a:t>
            </a:r>
            <a:r>
              <a:rPr sz="2000" b="1" dirty="0">
                <a:latin typeface="Times New Roman"/>
                <a:cs typeface="Times New Roman"/>
              </a:rPr>
              <a:t> </a:t>
            </a:r>
            <a:r>
              <a:rPr sz="2000" b="1" spc="-5" dirty="0">
                <a:latin typeface="Times New Roman"/>
                <a:cs typeface="Times New Roman"/>
              </a:rPr>
              <a:t>en</a:t>
            </a:r>
            <a:r>
              <a:rPr sz="2000" b="1" spc="5" dirty="0">
                <a:latin typeface="Times New Roman"/>
                <a:cs typeface="Times New Roman"/>
              </a:rPr>
              <a:t> </a:t>
            </a:r>
            <a:r>
              <a:rPr sz="2000" b="1" dirty="0">
                <a:latin typeface="Times New Roman"/>
                <a:cs typeface="Times New Roman"/>
              </a:rPr>
              <a:t>términos</a:t>
            </a:r>
            <a:r>
              <a:rPr sz="2000" b="1" spc="10" dirty="0">
                <a:latin typeface="Times New Roman"/>
                <a:cs typeface="Times New Roman"/>
              </a:rPr>
              <a:t> </a:t>
            </a:r>
            <a:r>
              <a:rPr sz="2000" b="1" spc="-5" dirty="0">
                <a:latin typeface="Times New Roman"/>
                <a:cs typeface="Times New Roman"/>
              </a:rPr>
              <a:t>de</a:t>
            </a:r>
            <a:r>
              <a:rPr sz="2000" b="1" spc="5" dirty="0">
                <a:latin typeface="Times New Roman"/>
                <a:cs typeface="Times New Roman"/>
              </a:rPr>
              <a:t> </a:t>
            </a:r>
            <a:r>
              <a:rPr sz="2000" b="1" spc="-5" dirty="0">
                <a:latin typeface="Times New Roman"/>
                <a:cs typeface="Times New Roman"/>
              </a:rPr>
              <a:t>predicción</a:t>
            </a:r>
            <a:r>
              <a:rPr sz="2000" b="1" spc="40" dirty="0">
                <a:latin typeface="Times New Roman"/>
                <a:cs typeface="Times New Roman"/>
              </a:rPr>
              <a:t> </a:t>
            </a:r>
            <a:r>
              <a:rPr sz="2000" b="1" spc="-5" dirty="0">
                <a:latin typeface="Times New Roman"/>
                <a:cs typeface="Times New Roman"/>
              </a:rPr>
              <a:t>(datos</a:t>
            </a:r>
            <a:r>
              <a:rPr sz="2000" b="1" dirty="0">
                <a:latin typeface="Times New Roman"/>
                <a:cs typeface="Times New Roman"/>
              </a:rPr>
              <a:t> </a:t>
            </a:r>
            <a:r>
              <a:rPr sz="2000" b="1" spc="-5" dirty="0">
                <a:latin typeface="Times New Roman"/>
                <a:cs typeface="Times New Roman"/>
              </a:rPr>
              <a:t>test, </a:t>
            </a:r>
            <a:r>
              <a:rPr sz="2000" b="1" spc="-685" dirty="0">
                <a:latin typeface="Times New Roman"/>
                <a:cs typeface="Times New Roman"/>
              </a:rPr>
              <a:t> </a:t>
            </a:r>
            <a:r>
              <a:rPr sz="2000" b="1" spc="-5" dirty="0">
                <a:latin typeface="Times New Roman"/>
                <a:cs typeface="Times New Roman"/>
              </a:rPr>
              <a:t>validación</a:t>
            </a:r>
            <a:r>
              <a:rPr sz="2000" b="1" spc="10" dirty="0">
                <a:latin typeface="Times New Roman"/>
                <a:cs typeface="Times New Roman"/>
              </a:rPr>
              <a:t> </a:t>
            </a:r>
            <a:r>
              <a:rPr sz="2000" b="1" spc="-5" dirty="0">
                <a:latin typeface="Times New Roman"/>
                <a:cs typeface="Times New Roman"/>
              </a:rPr>
              <a:t>cruzada, etc.)</a:t>
            </a:r>
            <a:r>
              <a:rPr sz="2000" b="1" spc="20" dirty="0">
                <a:latin typeface="Times New Roman"/>
                <a:cs typeface="Times New Roman"/>
              </a:rPr>
              <a:t> </a:t>
            </a:r>
            <a:r>
              <a:rPr sz="2000" b="1" spc="-5" dirty="0">
                <a:latin typeface="Times New Roman"/>
                <a:cs typeface="Times New Roman"/>
              </a:rPr>
              <a:t>con</a:t>
            </a:r>
            <a:r>
              <a:rPr sz="2000" b="1" spc="10" dirty="0">
                <a:latin typeface="Times New Roman"/>
                <a:cs typeface="Times New Roman"/>
              </a:rPr>
              <a:t> </a:t>
            </a:r>
            <a:r>
              <a:rPr sz="2000" b="1" spc="-5" dirty="0">
                <a:latin typeface="Times New Roman"/>
                <a:cs typeface="Times New Roman"/>
              </a:rPr>
              <a:t>la</a:t>
            </a:r>
            <a:r>
              <a:rPr sz="2000" b="1" spc="5" dirty="0">
                <a:latin typeface="Times New Roman"/>
                <a:cs typeface="Times New Roman"/>
              </a:rPr>
              <a:t> </a:t>
            </a:r>
            <a:r>
              <a:rPr sz="2000" b="1" spc="-10" dirty="0">
                <a:latin typeface="Times New Roman"/>
                <a:cs typeface="Times New Roman"/>
              </a:rPr>
              <a:t>red</a:t>
            </a:r>
            <a:r>
              <a:rPr sz="2000" b="1" dirty="0">
                <a:latin typeface="Times New Roman"/>
                <a:cs typeface="Times New Roman"/>
              </a:rPr>
              <a:t> </a:t>
            </a:r>
            <a:r>
              <a:rPr sz="2000" b="1" spc="-5" dirty="0" smtClean="0">
                <a:latin typeface="Times New Roman"/>
                <a:cs typeface="Times New Roman"/>
              </a:rPr>
              <a:t>neuronal</a:t>
            </a:r>
            <a:r>
              <a:rPr lang="es-ES" sz="2000" b="1" spc="-5" dirty="0" smtClean="0">
                <a:latin typeface="Times New Roman"/>
                <a:cs typeface="Times New Roman"/>
              </a:rPr>
              <a:t>.</a:t>
            </a:r>
          </a:p>
          <a:p>
            <a:pPr marL="12700" marR="729615" algn="just">
              <a:lnSpc>
                <a:spcPts val="3220"/>
              </a:lnSpc>
              <a:spcBef>
                <a:spcPts val="90"/>
              </a:spcBef>
            </a:pPr>
            <a:r>
              <a:rPr lang="es-ES" sz="2000" spc="-5" dirty="0" smtClean="0">
                <a:latin typeface="Times New Roman"/>
                <a:cs typeface="Times New Roman"/>
              </a:rPr>
              <a:t>Aplicaremos modelos de redes neuronales y se compararán con el modelo de regresión lineal o logística que se habría considerado en su lugar.</a:t>
            </a:r>
            <a:endParaRPr sz="2000" dirty="0">
              <a:latin typeface="Times New Roman"/>
              <a:cs typeface="Times New Roman"/>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7617" y="432566"/>
            <a:ext cx="9525635" cy="1243930"/>
          </a:xfrm>
          <a:prstGeom prst="rect">
            <a:avLst/>
          </a:prstGeom>
        </p:spPr>
        <p:txBody>
          <a:bodyPr vert="horz" wrap="square" lIns="0" tIns="12700" rIns="0" bIns="0" rtlCol="0">
            <a:spAutoFit/>
          </a:bodyPr>
          <a:lstStyle/>
          <a:p>
            <a:pPr marL="12700">
              <a:lnSpc>
                <a:spcPct val="100000"/>
              </a:lnSpc>
              <a:spcBef>
                <a:spcPts val="100"/>
              </a:spcBef>
              <a:tabLst>
                <a:tab pos="2715260" algn="l"/>
              </a:tabLst>
            </a:pPr>
            <a:r>
              <a:rPr lang="es-ES" sz="2000" b="1" spc="-5" dirty="0" smtClean="0"/>
              <a:t>¿Qué características debe tener un modelo, o qué necesidades tengo, para decidir si es o no conveniente aplicar técnicas de </a:t>
            </a:r>
            <a:r>
              <a:rPr lang="es-ES" sz="2000" b="1" i="1" spc="-5" dirty="0" smtClean="0"/>
              <a:t>machine </a:t>
            </a:r>
            <a:r>
              <a:rPr lang="es-ES" sz="2000" b="1" i="1" spc="-5" dirty="0" err="1" smtClean="0"/>
              <a:t>learning</a:t>
            </a:r>
            <a:r>
              <a:rPr lang="es-ES" sz="2000" b="1" i="1" spc="-5" dirty="0" smtClean="0"/>
              <a:t>, </a:t>
            </a:r>
            <a:r>
              <a:rPr lang="es-ES" sz="2000" b="1" spc="-5" dirty="0" smtClean="0"/>
              <a:t> y cuáles son más convenientes?</a:t>
            </a:r>
            <a:br>
              <a:rPr lang="es-ES" sz="2000" b="1" spc="-5" dirty="0" smtClean="0"/>
            </a:br>
            <a:r>
              <a:rPr lang="es-ES" sz="2000" b="1" spc="-5" dirty="0"/>
              <a:t/>
            </a:r>
            <a:br>
              <a:rPr lang="es-ES" sz="2000" b="1" spc="-5" dirty="0"/>
            </a:br>
            <a:r>
              <a:rPr lang="es-ES" sz="2000" b="1" spc="-5" dirty="0" smtClean="0"/>
              <a:t>                       </a:t>
            </a:r>
            <a:r>
              <a:rPr lang="es-ES" sz="1400" dirty="0" smtClean="0">
                <a:solidFill>
                  <a:schemeClr val="tx1"/>
                </a:solidFill>
              </a:rPr>
              <a:t>Tabla</a:t>
            </a:r>
            <a:r>
              <a:rPr lang="es-ES" sz="1400" spc="10" dirty="0" smtClean="0">
                <a:solidFill>
                  <a:schemeClr val="tx1"/>
                </a:solidFill>
              </a:rPr>
              <a:t> </a:t>
            </a:r>
            <a:r>
              <a:rPr lang="es-ES" sz="1400" spc="-5" dirty="0">
                <a:solidFill>
                  <a:schemeClr val="tx1"/>
                </a:solidFill>
              </a:rPr>
              <a:t>extraída</a:t>
            </a:r>
            <a:r>
              <a:rPr lang="es-ES" sz="1400" spc="15" dirty="0">
                <a:solidFill>
                  <a:schemeClr val="tx1"/>
                </a:solidFill>
              </a:rPr>
              <a:t> </a:t>
            </a:r>
            <a:r>
              <a:rPr lang="es-ES" sz="1400" spc="-5" dirty="0">
                <a:solidFill>
                  <a:schemeClr val="tx1"/>
                </a:solidFill>
              </a:rPr>
              <a:t>del</a:t>
            </a:r>
            <a:r>
              <a:rPr lang="es-ES" sz="1400" spc="10" dirty="0">
                <a:solidFill>
                  <a:schemeClr val="tx1"/>
                </a:solidFill>
              </a:rPr>
              <a:t> </a:t>
            </a:r>
            <a:r>
              <a:rPr lang="es-ES" sz="1400" spc="-5" dirty="0">
                <a:solidFill>
                  <a:schemeClr val="tx1"/>
                </a:solidFill>
              </a:rPr>
              <a:t>libro “</a:t>
            </a:r>
            <a:r>
              <a:rPr lang="es-ES" sz="1400" dirty="0" err="1">
                <a:solidFill>
                  <a:schemeClr val="tx1"/>
                </a:solidFill>
              </a:rPr>
              <a:t>The</a:t>
            </a:r>
            <a:r>
              <a:rPr lang="es-ES" sz="1400" dirty="0">
                <a:solidFill>
                  <a:schemeClr val="tx1"/>
                </a:solidFill>
              </a:rPr>
              <a:t> </a:t>
            </a:r>
            <a:r>
              <a:rPr lang="es-ES" sz="1400" dirty="0" err="1">
                <a:solidFill>
                  <a:schemeClr val="tx1"/>
                </a:solidFill>
              </a:rPr>
              <a:t>Elements</a:t>
            </a:r>
            <a:r>
              <a:rPr lang="es-ES" sz="1400" spc="-5" dirty="0">
                <a:solidFill>
                  <a:schemeClr val="tx1"/>
                </a:solidFill>
              </a:rPr>
              <a:t> </a:t>
            </a:r>
            <a:r>
              <a:rPr lang="es-ES" sz="1400" dirty="0">
                <a:solidFill>
                  <a:schemeClr val="tx1"/>
                </a:solidFill>
              </a:rPr>
              <a:t>of</a:t>
            </a:r>
            <a:r>
              <a:rPr lang="es-ES" sz="1400" spc="-10" dirty="0">
                <a:solidFill>
                  <a:schemeClr val="tx1"/>
                </a:solidFill>
              </a:rPr>
              <a:t> </a:t>
            </a:r>
            <a:r>
              <a:rPr lang="es-ES" sz="1400" spc="-5" dirty="0" err="1">
                <a:solidFill>
                  <a:schemeClr val="tx1"/>
                </a:solidFill>
              </a:rPr>
              <a:t>Statistical</a:t>
            </a:r>
            <a:r>
              <a:rPr lang="es-ES" sz="1400" dirty="0">
                <a:solidFill>
                  <a:schemeClr val="tx1"/>
                </a:solidFill>
              </a:rPr>
              <a:t> </a:t>
            </a:r>
            <a:r>
              <a:rPr lang="es-ES" sz="1400" dirty="0" err="1">
                <a:solidFill>
                  <a:schemeClr val="tx1"/>
                </a:solidFill>
              </a:rPr>
              <a:t>Learning</a:t>
            </a:r>
            <a:r>
              <a:rPr lang="es-ES" sz="1400" dirty="0">
                <a:solidFill>
                  <a:schemeClr val="tx1"/>
                </a:solidFill>
              </a:rPr>
              <a:t>"</a:t>
            </a:r>
            <a:r>
              <a:rPr lang="es-ES" sz="1400" spc="-5" dirty="0">
                <a:solidFill>
                  <a:schemeClr val="tx1"/>
                </a:solidFill>
              </a:rPr>
              <a:t> </a:t>
            </a:r>
            <a:r>
              <a:rPr lang="es-ES" sz="1400" dirty="0">
                <a:solidFill>
                  <a:schemeClr val="tx1"/>
                </a:solidFill>
              </a:rPr>
              <a:t>(</a:t>
            </a:r>
            <a:r>
              <a:rPr lang="es-ES" sz="1400" dirty="0" err="1">
                <a:solidFill>
                  <a:schemeClr val="tx1"/>
                </a:solidFill>
              </a:rPr>
              <a:t>Hastie</a:t>
            </a:r>
            <a:r>
              <a:rPr lang="es-ES" sz="1400" dirty="0">
                <a:solidFill>
                  <a:schemeClr val="tx1"/>
                </a:solidFill>
              </a:rPr>
              <a:t>,</a:t>
            </a:r>
            <a:r>
              <a:rPr lang="es-ES" sz="1400" spc="-25" dirty="0">
                <a:solidFill>
                  <a:schemeClr val="tx1"/>
                </a:solidFill>
              </a:rPr>
              <a:t> </a:t>
            </a:r>
            <a:r>
              <a:rPr lang="es-ES" sz="1400" spc="-5" dirty="0" err="1">
                <a:solidFill>
                  <a:schemeClr val="tx1"/>
                </a:solidFill>
              </a:rPr>
              <a:t>Tibshirani</a:t>
            </a:r>
            <a:r>
              <a:rPr lang="es-ES" sz="1400" spc="-5" dirty="0">
                <a:solidFill>
                  <a:schemeClr val="tx1"/>
                </a:solidFill>
              </a:rPr>
              <a:t>,</a:t>
            </a:r>
            <a:r>
              <a:rPr lang="es-ES" sz="1400" dirty="0">
                <a:solidFill>
                  <a:schemeClr val="tx1"/>
                </a:solidFill>
              </a:rPr>
              <a:t> </a:t>
            </a:r>
            <a:r>
              <a:rPr lang="es-ES" sz="1400" spc="-5" dirty="0">
                <a:solidFill>
                  <a:schemeClr val="tx1"/>
                </a:solidFill>
              </a:rPr>
              <a:t>2001)</a:t>
            </a:r>
            <a:endParaRPr sz="1400" dirty="0">
              <a:solidFill>
                <a:schemeClr val="tx1"/>
              </a:solidFill>
            </a:endParaRPr>
          </a:p>
        </p:txBody>
      </p:sp>
      <p:pic>
        <p:nvPicPr>
          <p:cNvPr id="3" name="object 3"/>
          <p:cNvPicPr/>
          <p:nvPr/>
        </p:nvPicPr>
        <p:blipFill>
          <a:blip r:embed="rId2" cstate="print"/>
          <a:stretch>
            <a:fillRect/>
          </a:stretch>
        </p:blipFill>
        <p:spPr>
          <a:xfrm>
            <a:off x="1765300" y="1243543"/>
            <a:ext cx="6509245" cy="4896860"/>
          </a:xfrm>
          <a:prstGeom prst="rect">
            <a:avLst/>
          </a:prstGeom>
        </p:spPr>
      </p:pic>
      <p:sp>
        <p:nvSpPr>
          <p:cNvPr id="4" name="Rectángulo 3"/>
          <p:cNvSpPr/>
          <p:nvPr/>
        </p:nvSpPr>
        <p:spPr>
          <a:xfrm>
            <a:off x="1612900" y="5076825"/>
            <a:ext cx="3324450" cy="4572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4"/>
          <p:cNvSpPr/>
          <p:nvPr/>
        </p:nvSpPr>
        <p:spPr>
          <a:xfrm>
            <a:off x="1612900" y="5782359"/>
            <a:ext cx="3324450" cy="3810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p:cNvSpPr txBox="1"/>
          <p:nvPr/>
        </p:nvSpPr>
        <p:spPr>
          <a:xfrm>
            <a:off x="1003300" y="6405609"/>
            <a:ext cx="9144000" cy="646331"/>
          </a:xfrm>
          <a:prstGeom prst="rect">
            <a:avLst/>
          </a:prstGeom>
          <a:noFill/>
        </p:spPr>
        <p:txBody>
          <a:bodyPr wrap="square" rtlCol="0">
            <a:spAutoFit/>
          </a:bodyPr>
          <a:lstStyle/>
          <a:p>
            <a:r>
              <a:rPr lang="es-ES" dirty="0" smtClean="0">
                <a:solidFill>
                  <a:srgbClr val="FF0000"/>
                </a:solidFill>
              </a:rPr>
              <a:t>IMPORTANTE TENER LOS DATOS LO MAS LIMPIOS POSIBLE PARA CUBRIR LAS CARENCIAS DEPURATIVAS DE LAS REDES NEURONALES Y APROVECHAR SU CAPACIDAD PREDICTIVA</a:t>
            </a:r>
            <a:endParaRPr lang="es-ES" dirty="0">
              <a:solidFill>
                <a:srgbClr val="FF0000"/>
              </a:solidFill>
            </a:endParaRPr>
          </a:p>
        </p:txBody>
      </p:sp>
      <p:sp>
        <p:nvSpPr>
          <p:cNvPr id="7" name="Elipse 6"/>
          <p:cNvSpPr/>
          <p:nvPr/>
        </p:nvSpPr>
        <p:spPr>
          <a:xfrm>
            <a:off x="6604000" y="1715246"/>
            <a:ext cx="6858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p:cNvSpPr txBox="1"/>
          <p:nvPr/>
        </p:nvSpPr>
        <p:spPr>
          <a:xfrm>
            <a:off x="8699500" y="1468600"/>
            <a:ext cx="1752600" cy="461665"/>
          </a:xfrm>
          <a:prstGeom prst="rect">
            <a:avLst/>
          </a:prstGeom>
          <a:noFill/>
          <a:ln>
            <a:solidFill>
              <a:schemeClr val="tx1"/>
            </a:solidFill>
          </a:ln>
        </p:spPr>
        <p:txBody>
          <a:bodyPr wrap="square" rtlCol="0">
            <a:spAutoFit/>
          </a:bodyPr>
          <a:lstStyle/>
          <a:p>
            <a:r>
              <a:rPr lang="es-ES" sz="1200" i="1" dirty="0" err="1" smtClean="0"/>
              <a:t>Multivariate</a:t>
            </a:r>
            <a:r>
              <a:rPr lang="es-ES" sz="1200" i="1" dirty="0" smtClean="0"/>
              <a:t> </a:t>
            </a:r>
            <a:r>
              <a:rPr lang="es-ES" sz="1200" i="1" dirty="0" err="1" smtClean="0"/>
              <a:t>Adaptative</a:t>
            </a:r>
            <a:r>
              <a:rPr lang="es-ES" sz="1200" i="1" dirty="0" smtClean="0"/>
              <a:t> </a:t>
            </a:r>
            <a:r>
              <a:rPr lang="es-ES" sz="1200" i="1" dirty="0" err="1" smtClean="0"/>
              <a:t>Regression</a:t>
            </a:r>
            <a:r>
              <a:rPr lang="es-ES" sz="1200" i="1" dirty="0" smtClean="0"/>
              <a:t> </a:t>
            </a:r>
            <a:r>
              <a:rPr lang="es-ES" sz="1200" i="1" dirty="0" err="1" smtClean="0"/>
              <a:t>Splines</a:t>
            </a:r>
            <a:endParaRPr lang="es-ES" sz="1200" i="1" dirty="0"/>
          </a:p>
        </p:txBody>
      </p:sp>
      <p:cxnSp>
        <p:nvCxnSpPr>
          <p:cNvPr id="10" name="Conector recto de flecha 9"/>
          <p:cNvCxnSpPr>
            <a:stCxn id="8" idx="1"/>
          </p:cNvCxnSpPr>
          <p:nvPr/>
        </p:nvCxnSpPr>
        <p:spPr>
          <a:xfrm flipH="1">
            <a:off x="7251700" y="1699433"/>
            <a:ext cx="1447800" cy="230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6963" y="314959"/>
            <a:ext cx="9999472" cy="553998"/>
          </a:xfrm>
        </p:spPr>
        <p:txBody>
          <a:bodyPr/>
          <a:lstStyle/>
          <a:p>
            <a:r>
              <a:rPr lang="es-ES" sz="3600" b="1" dirty="0" smtClean="0">
                <a:solidFill>
                  <a:srgbClr val="0070C0"/>
                </a:solidFill>
              </a:rPr>
              <a:t>Fases en la modelización con redes neuronales</a:t>
            </a:r>
            <a:endParaRPr lang="es-ES" sz="3600" b="1" dirty="0">
              <a:solidFill>
                <a:srgbClr val="0070C0"/>
              </a:solidFill>
            </a:endParaRPr>
          </a:p>
        </p:txBody>
      </p:sp>
      <p:sp>
        <p:nvSpPr>
          <p:cNvPr id="3" name="CuadroTexto 2"/>
          <p:cNvSpPr txBox="1"/>
          <p:nvPr/>
        </p:nvSpPr>
        <p:spPr>
          <a:xfrm>
            <a:off x="546101" y="1190625"/>
            <a:ext cx="9525000" cy="6001643"/>
          </a:xfrm>
          <a:prstGeom prst="rect">
            <a:avLst/>
          </a:prstGeom>
          <a:noFill/>
        </p:spPr>
        <p:txBody>
          <a:bodyPr wrap="square" rtlCol="0">
            <a:spAutoFit/>
          </a:bodyPr>
          <a:lstStyle/>
          <a:p>
            <a:pPr algn="just"/>
            <a:r>
              <a:rPr lang="es-ES" sz="2400" b="1" dirty="0">
                <a:solidFill>
                  <a:srgbClr val="C00000"/>
                </a:solidFill>
                <a:latin typeface="Times New Roman" panose="02020603050405020304" pitchFamily="18" charset="0"/>
                <a:cs typeface="Times New Roman" panose="02020603050405020304" pitchFamily="18" charset="0"/>
              </a:rPr>
              <a:t>Fase de entrenamiento</a:t>
            </a:r>
            <a:r>
              <a:rPr lang="es-ES" sz="2400" dirty="0">
                <a:solidFill>
                  <a:srgbClr val="C00000"/>
                </a:solidFill>
                <a:latin typeface="Times New Roman" panose="02020603050405020304" pitchFamily="18" charset="0"/>
                <a:cs typeface="Times New Roman" panose="02020603050405020304" pitchFamily="18" charset="0"/>
              </a:rPr>
              <a:t>: </a:t>
            </a:r>
            <a:r>
              <a:rPr lang="es-ES" sz="2400" dirty="0">
                <a:latin typeface="Times New Roman" panose="02020603050405020304" pitchFamily="18" charset="0"/>
                <a:cs typeface="Times New Roman" panose="02020603050405020304" pitchFamily="18" charset="0"/>
              </a:rPr>
              <a:t>se usa un conjunto de datos o patrones </a:t>
            </a:r>
            <a:r>
              <a:rPr lang="es-ES" sz="2400" dirty="0" smtClean="0">
                <a:latin typeface="Times New Roman" panose="02020603050405020304" pitchFamily="18" charset="0"/>
                <a:cs typeface="Times New Roman" panose="02020603050405020304" pitchFamily="18" charset="0"/>
              </a:rPr>
              <a:t>de entrenamiento para </a:t>
            </a:r>
            <a:r>
              <a:rPr lang="es-ES" sz="2400" dirty="0">
                <a:latin typeface="Times New Roman" panose="02020603050405020304" pitchFamily="18" charset="0"/>
                <a:cs typeface="Times New Roman" panose="02020603050405020304" pitchFamily="18" charset="0"/>
              </a:rPr>
              <a:t>determinar los pesos (parámetros) que definen el modelo de red neuronal. </a:t>
            </a:r>
            <a:r>
              <a:rPr lang="es-ES" sz="2400" dirty="0" smtClean="0">
                <a:latin typeface="Times New Roman" panose="02020603050405020304" pitchFamily="18" charset="0"/>
                <a:cs typeface="Times New Roman" panose="02020603050405020304" pitchFamily="18" charset="0"/>
              </a:rPr>
              <a:t>Se calculan iterativamente, </a:t>
            </a:r>
            <a:r>
              <a:rPr lang="es-ES" sz="2400" dirty="0">
                <a:latin typeface="Times New Roman" panose="02020603050405020304" pitchFamily="18" charset="0"/>
                <a:cs typeface="Times New Roman" panose="02020603050405020304" pitchFamily="18" charset="0"/>
              </a:rPr>
              <a:t>de acuerdo con los valores de </a:t>
            </a:r>
            <a:r>
              <a:rPr lang="es-ES" sz="2400" dirty="0" smtClean="0">
                <a:latin typeface="Times New Roman" panose="02020603050405020304" pitchFamily="18" charset="0"/>
                <a:cs typeface="Times New Roman" panose="02020603050405020304" pitchFamily="18" charset="0"/>
              </a:rPr>
              <a:t>entrenamiento</a:t>
            </a:r>
            <a:r>
              <a:rPr lang="es-ES" sz="2400" dirty="0">
                <a:latin typeface="Times New Roman" panose="02020603050405020304" pitchFamily="18" charset="0"/>
                <a:cs typeface="Times New Roman" panose="02020603050405020304" pitchFamily="18" charset="0"/>
              </a:rPr>
              <a:t>, con el objeto de </a:t>
            </a:r>
            <a:r>
              <a:rPr lang="es-ES" sz="2400" b="1" dirty="0">
                <a:latin typeface="Times New Roman" panose="02020603050405020304" pitchFamily="18" charset="0"/>
                <a:cs typeface="Times New Roman" panose="02020603050405020304" pitchFamily="18" charset="0"/>
              </a:rPr>
              <a:t>minimizar el error cometido entre la salida obtenida </a:t>
            </a:r>
            <a:r>
              <a:rPr lang="es-ES" sz="2400" b="1" dirty="0" smtClean="0">
                <a:latin typeface="Times New Roman" panose="02020603050405020304" pitchFamily="18" charset="0"/>
                <a:cs typeface="Times New Roman" panose="02020603050405020304" pitchFamily="18" charset="0"/>
              </a:rPr>
              <a:t>por la </a:t>
            </a:r>
            <a:r>
              <a:rPr lang="es-ES" sz="2400" b="1" dirty="0">
                <a:latin typeface="Times New Roman" panose="02020603050405020304" pitchFamily="18" charset="0"/>
                <a:cs typeface="Times New Roman" panose="02020603050405020304" pitchFamily="18" charset="0"/>
              </a:rPr>
              <a:t>red neuronal y la salida deseada</a:t>
            </a:r>
            <a:r>
              <a:rPr lang="es-ES" sz="2400" dirty="0" smtClean="0">
                <a:latin typeface="Times New Roman" panose="02020603050405020304" pitchFamily="18" charset="0"/>
                <a:cs typeface="Times New Roman" panose="02020603050405020304" pitchFamily="18" charset="0"/>
              </a:rPr>
              <a:t>.</a:t>
            </a:r>
          </a:p>
          <a:p>
            <a:pPr algn="just"/>
            <a:endParaRPr lang="es-ES" sz="2400" dirty="0">
              <a:latin typeface="Times New Roman" panose="02020603050405020304" pitchFamily="18" charset="0"/>
              <a:cs typeface="Times New Roman" panose="02020603050405020304" pitchFamily="18" charset="0"/>
            </a:endParaRPr>
          </a:p>
          <a:p>
            <a:pPr algn="just"/>
            <a:r>
              <a:rPr lang="es-ES" sz="2400" b="1" dirty="0">
                <a:solidFill>
                  <a:srgbClr val="C00000"/>
                </a:solidFill>
                <a:latin typeface="Times New Roman" panose="02020603050405020304" pitchFamily="18" charset="0"/>
                <a:cs typeface="Times New Roman" panose="02020603050405020304" pitchFamily="18" charset="0"/>
              </a:rPr>
              <a:t>Fase de Prueba</a:t>
            </a:r>
            <a:r>
              <a:rPr lang="es-ES" sz="2400" dirty="0">
                <a:solidFill>
                  <a:srgbClr val="C00000"/>
                </a:solidFill>
                <a:latin typeface="Times New Roman" panose="02020603050405020304" pitchFamily="18" charset="0"/>
                <a:cs typeface="Times New Roman" panose="02020603050405020304" pitchFamily="18" charset="0"/>
              </a:rPr>
              <a:t>: </a:t>
            </a:r>
            <a:r>
              <a:rPr lang="es-ES" sz="2400" dirty="0">
                <a:latin typeface="Times New Roman" panose="02020603050405020304" pitchFamily="18" charset="0"/>
                <a:cs typeface="Times New Roman" panose="02020603050405020304" pitchFamily="18" charset="0"/>
              </a:rPr>
              <a:t>en la fase anterior, el modelo puede que se ajuste demasiado a </a:t>
            </a:r>
            <a:r>
              <a:rPr lang="es-ES" sz="2400" dirty="0" smtClean="0">
                <a:latin typeface="Times New Roman" panose="02020603050405020304" pitchFamily="18" charset="0"/>
                <a:cs typeface="Times New Roman" panose="02020603050405020304" pitchFamily="18" charset="0"/>
              </a:rPr>
              <a:t>las particularidades </a:t>
            </a:r>
            <a:r>
              <a:rPr lang="es-ES" sz="2400" dirty="0">
                <a:latin typeface="Times New Roman" panose="02020603050405020304" pitchFamily="18" charset="0"/>
                <a:cs typeface="Times New Roman" panose="02020603050405020304" pitchFamily="18" charset="0"/>
              </a:rPr>
              <a:t>presentes en los patrones de entrenamiento, perdiendo su </a:t>
            </a:r>
            <a:r>
              <a:rPr lang="es-ES" sz="2400" dirty="0" smtClean="0">
                <a:latin typeface="Times New Roman" panose="02020603050405020304" pitchFamily="18" charset="0"/>
                <a:cs typeface="Times New Roman" panose="02020603050405020304" pitchFamily="18" charset="0"/>
              </a:rPr>
              <a:t>habilidad de </a:t>
            </a:r>
            <a:r>
              <a:rPr lang="es-ES" sz="2400" dirty="0">
                <a:latin typeface="Times New Roman" panose="02020603050405020304" pitchFamily="18" charset="0"/>
                <a:cs typeface="Times New Roman" panose="02020603050405020304" pitchFamily="18" charset="0"/>
              </a:rPr>
              <a:t>generalizar su aprendizaje a casos nuevos (</a:t>
            </a:r>
            <a:r>
              <a:rPr lang="es-ES" sz="2400" b="1" dirty="0">
                <a:latin typeface="Times New Roman" panose="02020603050405020304" pitchFamily="18" charset="0"/>
                <a:cs typeface="Times New Roman" panose="02020603050405020304" pitchFamily="18" charset="0"/>
              </a:rPr>
              <a:t>sobreajuste</a:t>
            </a:r>
            <a:r>
              <a:rPr lang="es-ES" sz="2400" dirty="0" smtClean="0">
                <a:latin typeface="Times New Roman" panose="02020603050405020304" pitchFamily="18" charset="0"/>
                <a:cs typeface="Times New Roman" panose="02020603050405020304" pitchFamily="18" charset="0"/>
              </a:rPr>
              <a:t>). Para </a:t>
            </a:r>
            <a:r>
              <a:rPr lang="es-ES" sz="2400" dirty="0">
                <a:latin typeface="Times New Roman" panose="02020603050405020304" pitchFamily="18" charset="0"/>
                <a:cs typeface="Times New Roman" panose="02020603050405020304" pitchFamily="18" charset="0"/>
              </a:rPr>
              <a:t>evitar el problema del sobreajuste, es aconsejable utilizar un segundo </a:t>
            </a:r>
            <a:r>
              <a:rPr lang="es-ES" sz="2400" dirty="0" smtClean="0">
                <a:latin typeface="Times New Roman" panose="02020603050405020304" pitchFamily="18" charset="0"/>
                <a:cs typeface="Times New Roman" panose="02020603050405020304" pitchFamily="18" charset="0"/>
              </a:rPr>
              <a:t>grupo de </a:t>
            </a:r>
            <a:r>
              <a:rPr lang="es-ES" sz="2400" b="1" dirty="0">
                <a:latin typeface="Times New Roman" panose="02020603050405020304" pitchFamily="18" charset="0"/>
                <a:cs typeface="Times New Roman" panose="02020603050405020304" pitchFamily="18" charset="0"/>
              </a:rPr>
              <a:t>datos diferentes a los de entrenamiento</a:t>
            </a:r>
            <a:r>
              <a:rPr lang="es-ES" sz="2400" dirty="0">
                <a:latin typeface="Times New Roman" panose="02020603050405020304" pitchFamily="18" charset="0"/>
                <a:cs typeface="Times New Roman" panose="02020603050405020304" pitchFamily="18" charset="0"/>
              </a:rPr>
              <a:t>, el grupo de validación, que </a:t>
            </a:r>
            <a:r>
              <a:rPr lang="es-ES" sz="2400" dirty="0" smtClean="0">
                <a:latin typeface="Times New Roman" panose="02020603050405020304" pitchFamily="18" charset="0"/>
                <a:cs typeface="Times New Roman" panose="02020603050405020304" pitchFamily="18" charset="0"/>
              </a:rPr>
              <a:t>permita controlar </a:t>
            </a:r>
            <a:r>
              <a:rPr lang="es-ES" sz="2400" dirty="0">
                <a:latin typeface="Times New Roman" panose="02020603050405020304" pitchFamily="18" charset="0"/>
                <a:cs typeface="Times New Roman" panose="02020603050405020304" pitchFamily="18" charset="0"/>
              </a:rPr>
              <a:t>el proceso de aprendizaje</a:t>
            </a:r>
            <a:r>
              <a:rPr lang="es-ES" sz="2400" dirty="0" smtClean="0">
                <a:latin typeface="Times New Roman" panose="02020603050405020304" pitchFamily="18" charset="0"/>
                <a:cs typeface="Times New Roman" panose="02020603050405020304" pitchFamily="18" charset="0"/>
              </a:rPr>
              <a:t>.</a:t>
            </a:r>
          </a:p>
          <a:p>
            <a:pPr algn="just"/>
            <a:endParaRPr lang="es-ES" sz="2400" dirty="0">
              <a:latin typeface="Times New Roman" panose="02020603050405020304" pitchFamily="18" charset="0"/>
              <a:cs typeface="Times New Roman" panose="02020603050405020304" pitchFamily="18" charset="0"/>
            </a:endParaRPr>
          </a:p>
          <a:p>
            <a:pPr algn="just"/>
            <a:r>
              <a:rPr lang="es-ES" sz="2400" dirty="0" smtClean="0">
                <a:latin typeface="Times New Roman" panose="02020603050405020304" pitchFamily="18" charset="0"/>
                <a:cs typeface="Times New Roman" panose="02020603050405020304" pitchFamily="18" charset="0"/>
              </a:rPr>
              <a:t>Las redes neuronales suelen tender al sobreajuste. Para evitarlo, se recomienda utilizar un conjunto de datos de validación (diferente al de prueba) que permita controlar el proceso de aprendizaje.</a:t>
            </a:r>
            <a:endParaRPr lang="es-E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139559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833" y="0"/>
            <a:ext cx="11307233" cy="756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hape 49">
            <a:extLst>
              <a:ext uri="{FF2B5EF4-FFF2-40B4-BE49-F238E27FC236}">
                <a16:creationId xmlns="" xmlns:a16="http://schemas.microsoft.com/office/drawing/2014/main" id="{24A6ABCE-206C-4C33-940C-027B2CD6E148}"/>
              </a:ext>
            </a:extLst>
          </p:cNvPr>
          <p:cNvSpPr txBox="1">
            <a:spLocks/>
          </p:cNvSpPr>
          <p:nvPr/>
        </p:nvSpPr>
        <p:spPr bwMode="auto">
          <a:xfrm>
            <a:off x="1814638" y="3295487"/>
            <a:ext cx="5455812"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3508" kern="0" dirty="0">
                <a:solidFill>
                  <a:srgbClr val="0972CB"/>
                </a:solidFill>
                <a:latin typeface="Oxygen"/>
                <a:ea typeface="Oxygen"/>
                <a:cs typeface="Oxygen"/>
                <a:sym typeface="Oxygen"/>
              </a:rPr>
              <a:t>Machine </a:t>
            </a:r>
            <a:r>
              <a:rPr lang="es-ES" altLang="es-ES" sz="3508" kern="0" dirty="0" err="1">
                <a:solidFill>
                  <a:srgbClr val="0972CB"/>
                </a:solidFill>
                <a:latin typeface="Oxygen"/>
                <a:ea typeface="Oxygen"/>
                <a:cs typeface="Oxygen"/>
                <a:sym typeface="Oxygen"/>
              </a:rPr>
              <a:t>Learning</a:t>
            </a:r>
            <a:endParaRPr lang="es-ES" altLang="es-ES" sz="3508" kern="0" dirty="0">
              <a:solidFill>
                <a:srgbClr val="0972CB"/>
              </a:solidFill>
              <a:latin typeface="Oxygen"/>
              <a:ea typeface="Oxygen"/>
              <a:cs typeface="Oxygen"/>
              <a:sym typeface="Oxygen"/>
            </a:endParaRPr>
          </a:p>
          <a:p>
            <a:pPr marL="300758" indent="-133670" eaLnBrk="1" hangingPunct="1">
              <a:spcBef>
                <a:spcPct val="0"/>
              </a:spcBef>
              <a:buClr>
                <a:srgbClr val="000000"/>
              </a:buClr>
              <a:defRPr/>
            </a:pPr>
            <a:r>
              <a:rPr lang="es-ES" altLang="es-ES" sz="3508" kern="0" dirty="0" smtClean="0">
                <a:solidFill>
                  <a:srgbClr val="0972CB"/>
                </a:solidFill>
                <a:latin typeface="Oxygen"/>
                <a:ea typeface="Oxygen"/>
                <a:cs typeface="Oxygen"/>
                <a:sym typeface="Oxygen"/>
              </a:rPr>
              <a:t>Redes Neuronales</a:t>
            </a:r>
            <a:endParaRPr lang="es-ES" altLang="es-ES" sz="3508" kern="0" dirty="0">
              <a:solidFill>
                <a:srgbClr val="0972CB"/>
              </a:solidFill>
              <a:latin typeface="Oxygen"/>
              <a:ea typeface="Oxygen"/>
              <a:cs typeface="Oxygen"/>
              <a:sym typeface="Oxygen"/>
            </a:endParaRPr>
          </a:p>
        </p:txBody>
      </p:sp>
      <p:sp>
        <p:nvSpPr>
          <p:cNvPr id="6" name="Shape 49">
            <a:extLst>
              <a:ext uri="{FF2B5EF4-FFF2-40B4-BE49-F238E27FC236}">
                <a16:creationId xmlns="" xmlns:a16="http://schemas.microsoft.com/office/drawing/2014/main" id="{3B39229B-4789-4E5F-A863-803DF35813F8}"/>
              </a:ext>
            </a:extLst>
          </p:cNvPr>
          <p:cNvSpPr txBox="1">
            <a:spLocks/>
          </p:cNvSpPr>
          <p:nvPr/>
        </p:nvSpPr>
        <p:spPr bwMode="auto">
          <a:xfrm>
            <a:off x="3027140" y="5126330"/>
            <a:ext cx="3327866"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1403" kern="0" dirty="0">
                <a:solidFill>
                  <a:srgbClr val="0972CB"/>
                </a:solidFill>
                <a:latin typeface="Oxygen"/>
                <a:ea typeface="Oxygen"/>
                <a:cs typeface="Oxygen"/>
                <a:sym typeface="Oxygen"/>
              </a:rPr>
              <a:t>Inmaculada Gutiérrez García-Pardo</a:t>
            </a:r>
          </a:p>
        </p:txBody>
      </p:sp>
      <p:pic>
        <p:nvPicPr>
          <p:cNvPr id="7"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4645" y="1246805"/>
            <a:ext cx="2884990" cy="10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741" y="1134024"/>
            <a:ext cx="1294904" cy="129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171244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0900" y="1190625"/>
            <a:ext cx="9353804" cy="566822"/>
          </a:xfrm>
          <a:prstGeom prst="rect">
            <a:avLst/>
          </a:prstGeom>
        </p:spPr>
        <p:txBody>
          <a:bodyPr vert="horz" wrap="square" lIns="0" tIns="12700" rIns="0" bIns="0" rtlCol="0">
            <a:spAutoFit/>
          </a:bodyPr>
          <a:lstStyle/>
          <a:p>
            <a:pPr marL="12700">
              <a:lnSpc>
                <a:spcPct val="100000"/>
              </a:lnSpc>
              <a:spcBef>
                <a:spcPts val="100"/>
              </a:spcBef>
            </a:pPr>
            <a:r>
              <a:rPr lang="es-ES" sz="3600" b="1" spc="-5" dirty="0" smtClean="0">
                <a:solidFill>
                  <a:srgbClr val="538DD3"/>
                </a:solidFill>
                <a:latin typeface="Times New Roman"/>
                <a:cs typeface="Times New Roman"/>
              </a:rPr>
              <a:t>3. Arquitectura básica de las NN</a:t>
            </a:r>
            <a:endParaRPr sz="3600" dirty="0">
              <a:latin typeface="Times New Roman"/>
              <a:cs typeface="Times New Roman"/>
            </a:endParaRPr>
          </a:p>
        </p:txBody>
      </p:sp>
      <p:sp>
        <p:nvSpPr>
          <p:cNvPr id="3" name="CuadroTexto 2"/>
          <p:cNvSpPr txBox="1"/>
          <p:nvPr/>
        </p:nvSpPr>
        <p:spPr>
          <a:xfrm>
            <a:off x="1003300" y="2638425"/>
            <a:ext cx="5448415" cy="2308324"/>
          </a:xfrm>
          <a:prstGeom prst="rect">
            <a:avLst/>
          </a:prstGeom>
          <a:noFill/>
        </p:spPr>
        <p:txBody>
          <a:bodyPr wrap="none" rtlCol="0">
            <a:spAutoFit/>
          </a:bodyPr>
          <a:lstStyle/>
          <a:p>
            <a:pPr marL="342900" indent="-342900">
              <a:buFont typeface="+mj-lt"/>
              <a:buAutoNum type="arabicPeriod"/>
            </a:pPr>
            <a:r>
              <a:rPr lang="es-ES" dirty="0" smtClean="0"/>
              <a:t>Definición de la arquitectura de una red neuronal</a:t>
            </a:r>
          </a:p>
          <a:p>
            <a:pPr marL="342900" indent="-342900">
              <a:buFont typeface="+mj-lt"/>
              <a:buAutoNum type="arabicPeriod"/>
            </a:pPr>
            <a:r>
              <a:rPr lang="es-ES" dirty="0" smtClean="0"/>
              <a:t>Estructuras de conexión</a:t>
            </a:r>
          </a:p>
          <a:p>
            <a:pPr marL="342900" indent="-342900">
              <a:buFont typeface="+mj-lt"/>
              <a:buAutoNum type="arabicPeriod"/>
            </a:pPr>
            <a:r>
              <a:rPr lang="es-ES" dirty="0" smtClean="0"/>
              <a:t>Elementos de una red neuronal multicapa</a:t>
            </a:r>
          </a:p>
          <a:p>
            <a:pPr marL="800100" lvl="1" indent="-342900">
              <a:buFont typeface="+mj-lt"/>
              <a:buAutoNum type="arabicPeriod"/>
            </a:pPr>
            <a:r>
              <a:rPr lang="es-ES" dirty="0" smtClean="0"/>
              <a:t>Capas y neuronas</a:t>
            </a:r>
          </a:p>
          <a:p>
            <a:pPr marL="800100" lvl="1" indent="-342900">
              <a:buFont typeface="+mj-lt"/>
              <a:buAutoNum type="arabicPeriod"/>
            </a:pPr>
            <a:r>
              <a:rPr lang="es-ES" dirty="0" smtClean="0"/>
              <a:t>Función de combinación</a:t>
            </a:r>
          </a:p>
          <a:p>
            <a:pPr marL="800100" lvl="1" indent="-342900">
              <a:buFont typeface="+mj-lt"/>
              <a:buAutoNum type="arabicPeriod"/>
            </a:pPr>
            <a:r>
              <a:rPr lang="es-ES" dirty="0" smtClean="0"/>
              <a:t>Función de activación</a:t>
            </a:r>
          </a:p>
          <a:p>
            <a:pPr marL="800100" lvl="1" indent="-342900">
              <a:buFont typeface="+mj-lt"/>
              <a:buAutoNum type="arabicPeriod"/>
            </a:pPr>
            <a:r>
              <a:rPr lang="es-ES" dirty="0" smtClean="0"/>
              <a:t>Función de pérdida o costes</a:t>
            </a:r>
          </a:p>
          <a:p>
            <a:pPr marL="342900" indent="-342900">
              <a:buFont typeface="+mj-lt"/>
              <a:buAutoNum type="arabicPeriod"/>
            </a:pPr>
            <a:r>
              <a:rPr lang="es-ES" dirty="0" smtClean="0"/>
              <a:t>Motivación y justificación matemática del uso de NN</a:t>
            </a:r>
            <a:endParaRPr lang="es-E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370549" y="1822847"/>
            <a:ext cx="9975886" cy="5539978"/>
          </a:xfrm>
        </p:spPr>
        <p:txBody>
          <a:bodyPr/>
          <a:lstStyle/>
          <a:p>
            <a:pPr marL="342900" indent="-342900" algn="just">
              <a:buFont typeface="Arial" panose="020B0604020202020204" pitchFamily="34" charset="0"/>
              <a:buChar char="•"/>
            </a:pPr>
            <a:r>
              <a:rPr lang="es-ES" b="1" dirty="0" err="1" smtClean="0">
                <a:solidFill>
                  <a:schemeClr val="tx2">
                    <a:lumMod val="75000"/>
                  </a:schemeClr>
                </a:solidFill>
                <a:latin typeface="+mj-lt"/>
              </a:rPr>
              <a:t>Perceptrón</a:t>
            </a:r>
            <a:r>
              <a:rPr lang="es-ES" b="1" dirty="0" smtClean="0">
                <a:solidFill>
                  <a:schemeClr val="tx2">
                    <a:lumMod val="75000"/>
                  </a:schemeClr>
                </a:solidFill>
                <a:latin typeface="+mj-lt"/>
              </a:rPr>
              <a:t>:</a:t>
            </a:r>
            <a:r>
              <a:rPr lang="es-ES" dirty="0">
                <a:solidFill>
                  <a:schemeClr val="tx2">
                    <a:lumMod val="75000"/>
                  </a:schemeClr>
                </a:solidFill>
                <a:latin typeface="+mj-lt"/>
              </a:rPr>
              <a:t> e</a:t>
            </a:r>
            <a:r>
              <a:rPr lang="es-ES" dirty="0" smtClean="0">
                <a:solidFill>
                  <a:schemeClr val="tx2">
                    <a:lumMod val="75000"/>
                  </a:schemeClr>
                </a:solidFill>
                <a:latin typeface="+mj-lt"/>
              </a:rPr>
              <a:t>s </a:t>
            </a:r>
            <a:r>
              <a:rPr lang="es-ES" dirty="0">
                <a:solidFill>
                  <a:schemeClr val="tx2">
                    <a:lumMod val="75000"/>
                  </a:schemeClr>
                </a:solidFill>
                <a:latin typeface="+mj-lt"/>
              </a:rPr>
              <a:t>la unidad básica de una red neuronal. Consiste en una sola capa de neuronas conectadas directamente a la entrada y produciendo una salida. Puede utilizarse para problemas de </a:t>
            </a:r>
            <a:r>
              <a:rPr lang="es-ES" b="1" dirty="0">
                <a:solidFill>
                  <a:schemeClr val="tx2">
                    <a:lumMod val="75000"/>
                  </a:schemeClr>
                </a:solidFill>
                <a:latin typeface="+mj-lt"/>
              </a:rPr>
              <a:t>clasificación </a:t>
            </a:r>
            <a:r>
              <a:rPr lang="es-ES" b="1" dirty="0" smtClean="0">
                <a:solidFill>
                  <a:schemeClr val="tx2">
                    <a:lumMod val="75000"/>
                  </a:schemeClr>
                </a:solidFill>
                <a:latin typeface="+mj-lt"/>
              </a:rPr>
              <a:t>binaria</a:t>
            </a:r>
            <a:r>
              <a:rPr lang="es-ES" dirty="0" smtClean="0">
                <a:solidFill>
                  <a:schemeClr val="tx2">
                    <a:lumMod val="75000"/>
                  </a:schemeClr>
                </a:solidFill>
                <a:latin typeface="+mj-lt"/>
              </a:rPr>
              <a:t>, pues básicamente su capacidad es “separar” los datos. Consta de una capa de entrada con neuronas que presentan las características de entrada, en la que cada conexión está asociada a un peso, y una capa de salida con una única neurona que produce la salida del </a:t>
            </a:r>
            <a:r>
              <a:rPr lang="es-ES" dirty="0" err="1" smtClean="0">
                <a:solidFill>
                  <a:schemeClr val="tx2">
                    <a:lumMod val="75000"/>
                  </a:schemeClr>
                </a:solidFill>
                <a:latin typeface="+mj-lt"/>
              </a:rPr>
              <a:t>perceptrón</a:t>
            </a:r>
            <a:r>
              <a:rPr lang="es-ES" dirty="0" smtClean="0">
                <a:solidFill>
                  <a:schemeClr val="tx2">
                    <a:lumMod val="75000"/>
                  </a:schemeClr>
                </a:solidFill>
                <a:latin typeface="+mj-lt"/>
              </a:rPr>
              <a:t>, aplicando una función de activación al resultado de la suma ponderada de las entradas y los pesos</a:t>
            </a:r>
            <a:endParaRPr lang="es-ES" dirty="0">
              <a:solidFill>
                <a:schemeClr val="tx2">
                  <a:lumMod val="75000"/>
                </a:schemeClr>
              </a:solidFill>
              <a:latin typeface="+mj-lt"/>
            </a:endParaRPr>
          </a:p>
          <a:p>
            <a:pPr marL="342900" indent="-342900" algn="just">
              <a:buFont typeface="Arial" panose="020B0604020202020204" pitchFamily="34" charset="0"/>
              <a:buChar char="•"/>
            </a:pPr>
            <a:r>
              <a:rPr lang="es-ES" sz="2400" b="1" dirty="0">
                <a:latin typeface="+mj-lt"/>
              </a:rPr>
              <a:t>Red Neuronal Multicapa (MLP</a:t>
            </a:r>
            <a:r>
              <a:rPr lang="es-ES" sz="2400" b="1" dirty="0" smtClean="0">
                <a:latin typeface="+mj-lt"/>
              </a:rPr>
              <a:t>):</a:t>
            </a:r>
            <a:r>
              <a:rPr lang="es-ES" sz="2400" dirty="0">
                <a:latin typeface="+mj-lt"/>
              </a:rPr>
              <a:t> </a:t>
            </a:r>
            <a:r>
              <a:rPr lang="es-ES" sz="2400" dirty="0" smtClean="0">
                <a:solidFill>
                  <a:schemeClr val="tx2">
                    <a:lumMod val="75000"/>
                  </a:schemeClr>
                </a:solidFill>
                <a:latin typeface="+mj-lt"/>
              </a:rPr>
              <a:t>compuesta </a:t>
            </a:r>
            <a:r>
              <a:rPr lang="es-ES" sz="2400" dirty="0">
                <a:solidFill>
                  <a:schemeClr val="tx2">
                    <a:lumMod val="75000"/>
                  </a:schemeClr>
                </a:solidFill>
                <a:latin typeface="+mj-lt"/>
              </a:rPr>
              <a:t>por múltiples capas de neuronas (entrada, capas ocultas y salida</a:t>
            </a:r>
            <a:r>
              <a:rPr lang="es-ES" sz="2400" dirty="0" smtClean="0">
                <a:solidFill>
                  <a:schemeClr val="tx2">
                    <a:lumMod val="75000"/>
                  </a:schemeClr>
                </a:solidFill>
                <a:latin typeface="+mj-lt"/>
              </a:rPr>
              <a:t>). Utiliza </a:t>
            </a:r>
            <a:r>
              <a:rPr lang="es-ES" sz="2400" dirty="0">
                <a:solidFill>
                  <a:schemeClr val="tx2">
                    <a:lumMod val="75000"/>
                  </a:schemeClr>
                </a:solidFill>
                <a:latin typeface="+mj-lt"/>
              </a:rPr>
              <a:t>la </a:t>
            </a:r>
            <a:r>
              <a:rPr lang="es-ES" sz="2400" dirty="0" err="1">
                <a:solidFill>
                  <a:schemeClr val="tx2">
                    <a:lumMod val="75000"/>
                  </a:schemeClr>
                </a:solidFill>
                <a:latin typeface="+mj-lt"/>
              </a:rPr>
              <a:t>retropropagación</a:t>
            </a:r>
            <a:r>
              <a:rPr lang="es-ES" sz="2400" dirty="0">
                <a:solidFill>
                  <a:schemeClr val="tx2">
                    <a:lumMod val="75000"/>
                  </a:schemeClr>
                </a:solidFill>
                <a:latin typeface="+mj-lt"/>
              </a:rPr>
              <a:t> del error para </a:t>
            </a:r>
            <a:r>
              <a:rPr lang="es-ES" sz="2400" dirty="0" smtClean="0">
                <a:solidFill>
                  <a:schemeClr val="tx2">
                    <a:lumMod val="75000"/>
                  </a:schemeClr>
                </a:solidFill>
                <a:latin typeface="+mj-lt"/>
              </a:rPr>
              <a:t>entrenamiento. Adecuada </a:t>
            </a:r>
            <a:r>
              <a:rPr lang="es-ES" sz="2400" dirty="0">
                <a:solidFill>
                  <a:schemeClr val="tx2">
                    <a:lumMod val="75000"/>
                  </a:schemeClr>
                </a:solidFill>
                <a:latin typeface="+mj-lt"/>
              </a:rPr>
              <a:t>para una variedad de tareas, incluyendo clasificación y regresión</a:t>
            </a:r>
            <a:r>
              <a:rPr lang="es-ES" sz="2400" dirty="0" smtClean="0">
                <a:solidFill>
                  <a:schemeClr val="tx2">
                    <a:lumMod val="75000"/>
                  </a:schemeClr>
                </a:solidFill>
                <a:latin typeface="+mj-lt"/>
              </a:rPr>
              <a:t>.</a:t>
            </a:r>
          </a:p>
          <a:p>
            <a:pPr marL="800100" lvl="1" indent="-342900" algn="just">
              <a:buFont typeface="Arial" panose="020B0604020202020204" pitchFamily="34" charset="0"/>
              <a:buChar char="•"/>
            </a:pPr>
            <a:r>
              <a:rPr lang="es-ES" sz="2400" dirty="0" smtClean="0">
                <a:solidFill>
                  <a:srgbClr val="FF0000"/>
                </a:solidFill>
                <a:latin typeface="+mj-lt"/>
              </a:rPr>
              <a:t>Este módulo se centrará en las MLP con una sola capa oculta</a:t>
            </a:r>
            <a:endParaRPr lang="es-ES" sz="2400" dirty="0">
              <a:solidFill>
                <a:srgbClr val="FF0000"/>
              </a:solidFill>
              <a:latin typeface="+mj-lt"/>
            </a:endParaRPr>
          </a:p>
          <a:p>
            <a:pPr marL="342900" indent="-342900">
              <a:buFont typeface="Arial" panose="020B0604020202020204" pitchFamily="34" charset="0"/>
              <a:buChar char="•"/>
            </a:pPr>
            <a:r>
              <a:rPr lang="es-ES" b="1" dirty="0" smtClean="0">
                <a:solidFill>
                  <a:schemeClr val="tx2">
                    <a:lumMod val="75000"/>
                  </a:schemeClr>
                </a:solidFill>
                <a:latin typeface="+mj-lt"/>
              </a:rPr>
              <a:t>Redes Neuronales </a:t>
            </a:r>
            <a:r>
              <a:rPr lang="es-ES" b="1" dirty="0" err="1" smtClean="0">
                <a:solidFill>
                  <a:schemeClr val="tx2">
                    <a:lumMod val="75000"/>
                  </a:schemeClr>
                </a:solidFill>
                <a:latin typeface="+mj-lt"/>
              </a:rPr>
              <a:t>Convolucionales</a:t>
            </a:r>
            <a:r>
              <a:rPr lang="es-ES" b="1" dirty="0" smtClean="0">
                <a:solidFill>
                  <a:schemeClr val="tx2">
                    <a:lumMod val="75000"/>
                  </a:schemeClr>
                </a:solidFill>
                <a:latin typeface="+mj-lt"/>
              </a:rPr>
              <a:t> (CNN):</a:t>
            </a:r>
            <a:r>
              <a:rPr lang="es-ES" dirty="0" smtClean="0">
                <a:solidFill>
                  <a:schemeClr val="tx2">
                    <a:lumMod val="75000"/>
                  </a:schemeClr>
                </a:solidFill>
                <a:latin typeface="+mj-lt"/>
              </a:rPr>
              <a:t> diseñadas para procesar datos en forma de cuadrículas, como imágenes. Utilizan capas </a:t>
            </a:r>
            <a:r>
              <a:rPr lang="es-ES" dirty="0" err="1" smtClean="0">
                <a:solidFill>
                  <a:schemeClr val="tx2">
                    <a:lumMod val="75000"/>
                  </a:schemeClr>
                </a:solidFill>
                <a:latin typeface="+mj-lt"/>
              </a:rPr>
              <a:t>convolucionales</a:t>
            </a:r>
            <a:r>
              <a:rPr lang="es-ES" dirty="0" smtClean="0">
                <a:solidFill>
                  <a:schemeClr val="tx2">
                    <a:lumMod val="75000"/>
                  </a:schemeClr>
                </a:solidFill>
                <a:latin typeface="+mj-lt"/>
              </a:rPr>
              <a:t> para detectar patrones locales. Estas </a:t>
            </a:r>
            <a:r>
              <a:rPr lang="es-ES" dirty="0" err="1" smtClean="0">
                <a:solidFill>
                  <a:schemeClr val="tx2">
                    <a:lumMod val="75000"/>
                  </a:schemeClr>
                </a:solidFill>
                <a:latin typeface="+mj-lt"/>
              </a:rPr>
              <a:t>capass</a:t>
            </a:r>
            <a:r>
              <a:rPr lang="es-ES" dirty="0" smtClean="0">
                <a:solidFill>
                  <a:schemeClr val="tx2">
                    <a:lumMod val="75000"/>
                  </a:schemeClr>
                </a:solidFill>
                <a:latin typeface="+mj-lt"/>
              </a:rPr>
              <a:t> utilizan </a:t>
            </a:r>
            <a:r>
              <a:rPr lang="es-ES" dirty="0">
                <a:solidFill>
                  <a:schemeClr val="tx2">
                    <a:lumMod val="75000"/>
                  </a:schemeClr>
                </a:solidFill>
                <a:latin typeface="+mj-lt"/>
              </a:rPr>
              <a:t>filtros o </a:t>
            </a:r>
            <a:r>
              <a:rPr lang="es-ES" dirty="0" err="1">
                <a:solidFill>
                  <a:schemeClr val="tx2">
                    <a:lumMod val="75000"/>
                  </a:schemeClr>
                </a:solidFill>
                <a:latin typeface="+mj-lt"/>
              </a:rPr>
              <a:t>kernels</a:t>
            </a:r>
            <a:r>
              <a:rPr lang="es-ES" dirty="0">
                <a:solidFill>
                  <a:schemeClr val="tx2">
                    <a:lumMod val="75000"/>
                  </a:schemeClr>
                </a:solidFill>
                <a:latin typeface="+mj-lt"/>
              </a:rPr>
              <a:t> </a:t>
            </a:r>
            <a:r>
              <a:rPr lang="es-ES" dirty="0" smtClean="0">
                <a:solidFill>
                  <a:schemeClr val="tx2">
                    <a:lumMod val="75000"/>
                  </a:schemeClr>
                </a:solidFill>
                <a:latin typeface="+mj-lt"/>
              </a:rPr>
              <a:t>para </a:t>
            </a:r>
            <a:r>
              <a:rPr lang="es-ES" dirty="0">
                <a:solidFill>
                  <a:schemeClr val="tx2">
                    <a:lumMod val="75000"/>
                  </a:schemeClr>
                </a:solidFill>
                <a:latin typeface="+mj-lt"/>
              </a:rPr>
              <a:t>extraer características locales y comparten parámetros a través de la </a:t>
            </a:r>
            <a:r>
              <a:rPr lang="es-ES" dirty="0" smtClean="0">
                <a:solidFill>
                  <a:schemeClr val="tx2">
                    <a:lumMod val="75000"/>
                  </a:schemeClr>
                </a:solidFill>
                <a:latin typeface="+mj-lt"/>
              </a:rPr>
              <a:t>entrada; cada </a:t>
            </a:r>
            <a:r>
              <a:rPr lang="es-ES" dirty="0">
                <a:solidFill>
                  <a:schemeClr val="tx2">
                    <a:lumMod val="75000"/>
                  </a:schemeClr>
                </a:solidFill>
                <a:latin typeface="+mj-lt"/>
              </a:rPr>
              <a:t>neurona está conectada solo a una región local de la entrada, no a toda la </a:t>
            </a:r>
            <a:r>
              <a:rPr lang="es-ES" dirty="0" smtClean="0">
                <a:solidFill>
                  <a:schemeClr val="tx2">
                    <a:lumMod val="75000"/>
                  </a:schemeClr>
                </a:solidFill>
                <a:latin typeface="+mj-lt"/>
              </a:rPr>
              <a:t>entrada. Se suelen usar en tareas de visión por ordenador.</a:t>
            </a:r>
          </a:p>
        </p:txBody>
      </p:sp>
      <p:sp>
        <p:nvSpPr>
          <p:cNvPr id="4" name="object 2"/>
          <p:cNvSpPr txBox="1">
            <a:spLocks noGrp="1"/>
          </p:cNvSpPr>
          <p:nvPr>
            <p:ph type="title"/>
          </p:nvPr>
        </p:nvSpPr>
        <p:spPr>
          <a:xfrm>
            <a:off x="346963" y="200025"/>
            <a:ext cx="9999472" cy="1644040"/>
          </a:xfrm>
          <a:prstGeom prst="rect">
            <a:avLst/>
          </a:prstGeom>
        </p:spPr>
        <p:txBody>
          <a:bodyPr vert="horz" wrap="square" lIns="0" tIns="12700" rIns="0" bIns="0" rtlCol="0">
            <a:spAutoFit/>
          </a:bodyPr>
          <a:lstStyle/>
          <a:p>
            <a:pPr marL="12700">
              <a:lnSpc>
                <a:spcPct val="100000"/>
              </a:lnSpc>
              <a:spcBef>
                <a:spcPts val="100"/>
              </a:spcBef>
            </a:pPr>
            <a:r>
              <a:rPr lang="es-ES" sz="2600" b="1" spc="-5" dirty="0" smtClean="0">
                <a:solidFill>
                  <a:srgbClr val="538DD3"/>
                </a:solidFill>
                <a:latin typeface="Times New Roman"/>
                <a:cs typeface="Times New Roman"/>
              </a:rPr>
              <a:t>Arquitectura de una red neuronal: </a:t>
            </a:r>
            <a:r>
              <a:rPr lang="es-ES" sz="2000" dirty="0">
                <a:solidFill>
                  <a:schemeClr val="tx2">
                    <a:lumMod val="75000"/>
                  </a:schemeClr>
                </a:solidFill>
                <a:latin typeface="+mj-lt"/>
                <a:ea typeface="+mn-ea"/>
              </a:rPr>
              <a:t>se refiere a la </a:t>
            </a:r>
            <a:r>
              <a:rPr lang="es-ES" sz="2000" b="1" dirty="0">
                <a:solidFill>
                  <a:schemeClr val="tx2">
                    <a:lumMod val="75000"/>
                  </a:schemeClr>
                </a:solidFill>
                <a:latin typeface="+mj-lt"/>
                <a:ea typeface="+mn-ea"/>
              </a:rPr>
              <a:t>estructura</a:t>
            </a:r>
            <a:r>
              <a:rPr lang="es-ES" sz="2000" dirty="0">
                <a:solidFill>
                  <a:schemeClr val="tx2">
                    <a:lumMod val="75000"/>
                  </a:schemeClr>
                </a:solidFill>
                <a:latin typeface="+mj-lt"/>
                <a:ea typeface="+mn-ea"/>
              </a:rPr>
              <a:t> y </a:t>
            </a:r>
            <a:r>
              <a:rPr lang="es-ES" sz="2000" b="1" dirty="0">
                <a:solidFill>
                  <a:schemeClr val="tx2">
                    <a:lumMod val="75000"/>
                  </a:schemeClr>
                </a:solidFill>
                <a:latin typeface="+mj-lt"/>
                <a:ea typeface="+mn-ea"/>
              </a:rPr>
              <a:t>organización </a:t>
            </a:r>
            <a:r>
              <a:rPr lang="es-ES" sz="2000" dirty="0">
                <a:solidFill>
                  <a:schemeClr val="tx2">
                    <a:lumMod val="75000"/>
                  </a:schemeClr>
                </a:solidFill>
                <a:latin typeface="+mj-lt"/>
                <a:ea typeface="+mn-ea"/>
              </a:rPr>
              <a:t>de las capas y conexiones dentro de la </a:t>
            </a:r>
            <a:r>
              <a:rPr lang="es-ES" sz="2000" dirty="0" smtClean="0">
                <a:solidFill>
                  <a:schemeClr val="tx2">
                    <a:lumMod val="75000"/>
                  </a:schemeClr>
                </a:solidFill>
                <a:latin typeface="+mj-lt"/>
                <a:ea typeface="+mn-ea"/>
              </a:rPr>
              <a:t>red, especificando cómo </a:t>
            </a:r>
            <a:r>
              <a:rPr lang="es-ES" sz="2000" dirty="0">
                <a:solidFill>
                  <a:schemeClr val="tx2">
                    <a:lumMod val="75000"/>
                  </a:schemeClr>
                </a:solidFill>
                <a:latin typeface="+mj-lt"/>
                <a:ea typeface="+mn-ea"/>
              </a:rPr>
              <a:t>las </a:t>
            </a:r>
            <a:r>
              <a:rPr lang="es-ES" sz="2000" b="1" dirty="0">
                <a:solidFill>
                  <a:schemeClr val="tx2">
                    <a:lumMod val="75000"/>
                  </a:schemeClr>
                </a:solidFill>
                <a:latin typeface="+mj-lt"/>
                <a:ea typeface="+mn-ea"/>
              </a:rPr>
              <a:t>neuronas</a:t>
            </a:r>
            <a:r>
              <a:rPr lang="es-ES" sz="2000" dirty="0">
                <a:solidFill>
                  <a:schemeClr val="tx2">
                    <a:lumMod val="75000"/>
                  </a:schemeClr>
                </a:solidFill>
                <a:latin typeface="+mj-lt"/>
                <a:ea typeface="+mn-ea"/>
              </a:rPr>
              <a:t> y las </a:t>
            </a:r>
            <a:r>
              <a:rPr lang="es-ES" sz="2000" b="1" dirty="0">
                <a:solidFill>
                  <a:schemeClr val="tx2">
                    <a:lumMod val="75000"/>
                  </a:schemeClr>
                </a:solidFill>
                <a:latin typeface="+mj-lt"/>
                <a:ea typeface="+mn-ea"/>
              </a:rPr>
              <a:t>capas</a:t>
            </a:r>
            <a:r>
              <a:rPr lang="es-ES" sz="2000" dirty="0">
                <a:solidFill>
                  <a:schemeClr val="tx2">
                    <a:lumMod val="75000"/>
                  </a:schemeClr>
                </a:solidFill>
                <a:latin typeface="+mj-lt"/>
                <a:ea typeface="+mn-ea"/>
              </a:rPr>
              <a:t> están </a:t>
            </a:r>
            <a:r>
              <a:rPr lang="es-ES" sz="2000" b="1" dirty="0">
                <a:solidFill>
                  <a:schemeClr val="tx2">
                    <a:lumMod val="75000"/>
                  </a:schemeClr>
                </a:solidFill>
                <a:latin typeface="+mj-lt"/>
                <a:ea typeface="+mn-ea"/>
              </a:rPr>
              <a:t>dispuestas</a:t>
            </a:r>
            <a:r>
              <a:rPr lang="es-ES" sz="2000" dirty="0">
                <a:solidFill>
                  <a:schemeClr val="tx2">
                    <a:lumMod val="75000"/>
                  </a:schemeClr>
                </a:solidFill>
                <a:latin typeface="+mj-lt"/>
                <a:ea typeface="+mn-ea"/>
              </a:rPr>
              <a:t> y </a:t>
            </a:r>
            <a:r>
              <a:rPr lang="es-ES" sz="2000" b="1" dirty="0">
                <a:solidFill>
                  <a:schemeClr val="tx2">
                    <a:lumMod val="75000"/>
                  </a:schemeClr>
                </a:solidFill>
                <a:latin typeface="+mj-lt"/>
                <a:ea typeface="+mn-ea"/>
              </a:rPr>
              <a:t>conectadas</a:t>
            </a:r>
            <a:r>
              <a:rPr lang="es-ES" sz="2000" dirty="0">
                <a:solidFill>
                  <a:schemeClr val="tx2">
                    <a:lumMod val="75000"/>
                  </a:schemeClr>
                </a:solidFill>
                <a:latin typeface="+mj-lt"/>
                <a:ea typeface="+mn-ea"/>
              </a:rPr>
              <a:t> para realizar una tarea específica. Puede incluir detalles como el número de capas, el número de neuronas en cada capa, las funciones de activación utilizadas y la forma en que las neuronas están conectadas entre sí</a:t>
            </a:r>
            <a:endParaRPr sz="2000" dirty="0">
              <a:solidFill>
                <a:schemeClr val="tx2">
                  <a:lumMod val="75000"/>
                </a:schemeClr>
              </a:solidFill>
              <a:latin typeface="+mj-lt"/>
              <a:ea typeface="+mn-ea"/>
            </a:endParaRPr>
          </a:p>
        </p:txBody>
      </p:sp>
    </p:spTree>
    <p:extLst>
      <p:ext uri="{BB962C8B-B14F-4D97-AF65-F5344CB8AC3E}">
        <p14:creationId xmlns:p14="http://schemas.microsoft.com/office/powerpoint/2010/main" val="226917121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698500" y="938524"/>
            <a:ext cx="9372600" cy="6155531"/>
          </a:xfrm>
        </p:spPr>
        <p:txBody>
          <a:bodyPr/>
          <a:lstStyle/>
          <a:p>
            <a:pPr marL="342900" indent="-342900" algn="just">
              <a:buFont typeface="Arial" panose="020B0604020202020204" pitchFamily="34" charset="0"/>
              <a:buChar char="•"/>
            </a:pPr>
            <a:r>
              <a:rPr lang="es-ES" b="1" dirty="0">
                <a:solidFill>
                  <a:schemeClr val="tx2">
                    <a:lumMod val="75000"/>
                  </a:schemeClr>
                </a:solidFill>
                <a:latin typeface="+mj-lt"/>
              </a:rPr>
              <a:t>Redes Neuronales Recurrentes (RNN):</a:t>
            </a:r>
            <a:r>
              <a:rPr lang="es-ES" dirty="0">
                <a:solidFill>
                  <a:schemeClr val="tx2">
                    <a:lumMod val="75000"/>
                  </a:schemeClr>
                </a:solidFill>
                <a:latin typeface="+mj-lt"/>
              </a:rPr>
              <a:t> diseñadas para trabajar con datos secuenciales, como series temporales o texto. Contienen conexiones recurrentes que permiten a la red mantener información sobre estados anteriores. Útiles para tareas de procesamiento de lenguaje natural (NLP) y predicción </a:t>
            </a:r>
            <a:r>
              <a:rPr lang="es-ES" dirty="0" smtClean="0">
                <a:solidFill>
                  <a:schemeClr val="tx2">
                    <a:lumMod val="75000"/>
                  </a:schemeClr>
                </a:solidFill>
                <a:latin typeface="+mj-lt"/>
              </a:rPr>
              <a:t>temporal.</a:t>
            </a:r>
            <a:endParaRPr lang="es-ES" dirty="0" smtClean="0">
              <a:latin typeface="+mj-lt"/>
            </a:endParaRPr>
          </a:p>
          <a:p>
            <a:pPr marL="342900" indent="-342900" algn="just">
              <a:buFont typeface="Arial" panose="020B0604020202020204" pitchFamily="34" charset="0"/>
              <a:buChar char="•"/>
            </a:pPr>
            <a:r>
              <a:rPr lang="es-ES" b="1" dirty="0" smtClean="0">
                <a:solidFill>
                  <a:schemeClr val="tx2">
                    <a:lumMod val="75000"/>
                  </a:schemeClr>
                </a:solidFill>
                <a:latin typeface="+mj-lt"/>
              </a:rPr>
              <a:t>Redes </a:t>
            </a:r>
            <a:r>
              <a:rPr lang="es-ES" b="1" dirty="0">
                <a:solidFill>
                  <a:schemeClr val="tx2">
                    <a:lumMod val="75000"/>
                  </a:schemeClr>
                </a:solidFill>
                <a:latin typeface="+mj-lt"/>
              </a:rPr>
              <a:t>Neuronales Generativas (GAN</a:t>
            </a:r>
            <a:r>
              <a:rPr lang="es-ES" b="1" dirty="0" smtClean="0">
                <a:solidFill>
                  <a:schemeClr val="tx2">
                    <a:lumMod val="75000"/>
                  </a:schemeClr>
                </a:solidFill>
                <a:latin typeface="+mj-lt"/>
              </a:rPr>
              <a:t>):</a:t>
            </a:r>
            <a:r>
              <a:rPr lang="es-ES" dirty="0">
                <a:solidFill>
                  <a:schemeClr val="tx2">
                    <a:lumMod val="75000"/>
                  </a:schemeClr>
                </a:solidFill>
                <a:latin typeface="+mj-lt"/>
              </a:rPr>
              <a:t> </a:t>
            </a:r>
            <a:r>
              <a:rPr lang="es-ES" dirty="0" smtClean="0">
                <a:solidFill>
                  <a:schemeClr val="tx2">
                    <a:lumMod val="75000"/>
                  </a:schemeClr>
                </a:solidFill>
                <a:latin typeface="+mj-lt"/>
              </a:rPr>
              <a:t>compuestas </a:t>
            </a:r>
            <a:r>
              <a:rPr lang="es-ES" dirty="0">
                <a:solidFill>
                  <a:schemeClr val="tx2">
                    <a:lumMod val="75000"/>
                  </a:schemeClr>
                </a:solidFill>
                <a:latin typeface="+mj-lt"/>
              </a:rPr>
              <a:t>por un generador y un </a:t>
            </a:r>
            <a:r>
              <a:rPr lang="es-ES" dirty="0" smtClean="0">
                <a:solidFill>
                  <a:schemeClr val="tx2">
                    <a:lumMod val="75000"/>
                  </a:schemeClr>
                </a:solidFill>
                <a:latin typeface="+mj-lt"/>
              </a:rPr>
              <a:t>discriminador. El </a:t>
            </a:r>
            <a:r>
              <a:rPr lang="es-ES" dirty="0">
                <a:solidFill>
                  <a:schemeClr val="tx2">
                    <a:lumMod val="75000"/>
                  </a:schemeClr>
                </a:solidFill>
                <a:latin typeface="+mj-lt"/>
              </a:rPr>
              <a:t>generador crea datos sintéticos, mientras que el discriminador evalúa la </a:t>
            </a:r>
            <a:r>
              <a:rPr lang="es-ES" dirty="0" smtClean="0">
                <a:solidFill>
                  <a:schemeClr val="tx2">
                    <a:lumMod val="75000"/>
                  </a:schemeClr>
                </a:solidFill>
                <a:latin typeface="+mj-lt"/>
              </a:rPr>
              <a:t>autenticidad. Utilizadas </a:t>
            </a:r>
            <a:r>
              <a:rPr lang="es-ES" dirty="0">
                <a:solidFill>
                  <a:schemeClr val="tx2">
                    <a:lumMod val="75000"/>
                  </a:schemeClr>
                </a:solidFill>
                <a:latin typeface="+mj-lt"/>
              </a:rPr>
              <a:t>en la generación de imágenes y otros datos.</a:t>
            </a:r>
          </a:p>
          <a:p>
            <a:pPr marL="342900" indent="-342900" algn="just">
              <a:buFont typeface="Arial" panose="020B0604020202020204" pitchFamily="34" charset="0"/>
              <a:buChar char="•"/>
            </a:pPr>
            <a:r>
              <a:rPr lang="es-ES" b="1" dirty="0" err="1" smtClean="0">
                <a:solidFill>
                  <a:schemeClr val="tx2">
                    <a:lumMod val="75000"/>
                  </a:schemeClr>
                </a:solidFill>
                <a:latin typeface="+mj-lt"/>
              </a:rPr>
              <a:t>Autoencoders</a:t>
            </a:r>
            <a:r>
              <a:rPr lang="es-ES" b="1" dirty="0" smtClean="0">
                <a:solidFill>
                  <a:schemeClr val="tx2">
                    <a:lumMod val="75000"/>
                  </a:schemeClr>
                </a:solidFill>
                <a:latin typeface="+mj-lt"/>
              </a:rPr>
              <a:t>:</a:t>
            </a:r>
            <a:r>
              <a:rPr lang="es-ES" dirty="0">
                <a:solidFill>
                  <a:schemeClr val="tx2">
                    <a:lumMod val="75000"/>
                  </a:schemeClr>
                </a:solidFill>
                <a:latin typeface="+mj-lt"/>
              </a:rPr>
              <a:t> </a:t>
            </a:r>
            <a:r>
              <a:rPr lang="es-ES" dirty="0" smtClean="0">
                <a:solidFill>
                  <a:schemeClr val="tx2">
                    <a:lumMod val="75000"/>
                  </a:schemeClr>
                </a:solidFill>
                <a:latin typeface="+mj-lt"/>
              </a:rPr>
              <a:t>formados </a:t>
            </a:r>
            <a:r>
              <a:rPr lang="es-ES" dirty="0">
                <a:solidFill>
                  <a:schemeClr val="tx2">
                    <a:lumMod val="75000"/>
                  </a:schemeClr>
                </a:solidFill>
                <a:latin typeface="+mj-lt"/>
              </a:rPr>
              <a:t>por un codificador y un </a:t>
            </a:r>
            <a:r>
              <a:rPr lang="es-ES" dirty="0" smtClean="0">
                <a:solidFill>
                  <a:schemeClr val="tx2">
                    <a:lumMod val="75000"/>
                  </a:schemeClr>
                </a:solidFill>
                <a:latin typeface="+mj-lt"/>
              </a:rPr>
              <a:t>decodificador. Aprenden </a:t>
            </a:r>
            <a:r>
              <a:rPr lang="es-ES" dirty="0">
                <a:solidFill>
                  <a:schemeClr val="tx2">
                    <a:lumMod val="75000"/>
                  </a:schemeClr>
                </a:solidFill>
                <a:latin typeface="+mj-lt"/>
              </a:rPr>
              <a:t>una representación compacta de los </a:t>
            </a:r>
            <a:r>
              <a:rPr lang="es-ES" dirty="0" smtClean="0">
                <a:solidFill>
                  <a:schemeClr val="tx2">
                    <a:lumMod val="75000"/>
                  </a:schemeClr>
                </a:solidFill>
                <a:latin typeface="+mj-lt"/>
              </a:rPr>
              <a:t>datos. Útiles </a:t>
            </a:r>
            <a:r>
              <a:rPr lang="es-ES" dirty="0">
                <a:solidFill>
                  <a:schemeClr val="tx2">
                    <a:lumMod val="75000"/>
                  </a:schemeClr>
                </a:solidFill>
                <a:latin typeface="+mj-lt"/>
              </a:rPr>
              <a:t>en tareas de reducción de </a:t>
            </a:r>
            <a:r>
              <a:rPr lang="es-ES" dirty="0" err="1">
                <a:solidFill>
                  <a:schemeClr val="tx2">
                    <a:lumMod val="75000"/>
                  </a:schemeClr>
                </a:solidFill>
                <a:latin typeface="+mj-lt"/>
              </a:rPr>
              <a:t>dimensionalidad</a:t>
            </a:r>
            <a:r>
              <a:rPr lang="es-ES" dirty="0">
                <a:solidFill>
                  <a:schemeClr val="tx2">
                    <a:lumMod val="75000"/>
                  </a:schemeClr>
                </a:solidFill>
                <a:latin typeface="+mj-lt"/>
              </a:rPr>
              <a:t> y reconstrucción de datos.</a:t>
            </a:r>
          </a:p>
          <a:p>
            <a:pPr marL="342900" indent="-342900" algn="just">
              <a:buFont typeface="Arial" panose="020B0604020202020204" pitchFamily="34" charset="0"/>
              <a:buChar char="•"/>
            </a:pPr>
            <a:r>
              <a:rPr lang="es-ES" b="1" dirty="0">
                <a:solidFill>
                  <a:schemeClr val="tx2">
                    <a:lumMod val="75000"/>
                  </a:schemeClr>
                </a:solidFill>
                <a:latin typeface="+mj-lt"/>
              </a:rPr>
              <a:t>Redes Residuales (</a:t>
            </a:r>
            <a:r>
              <a:rPr lang="es-ES" b="1" dirty="0" err="1">
                <a:solidFill>
                  <a:schemeClr val="tx2">
                    <a:lumMod val="75000"/>
                  </a:schemeClr>
                </a:solidFill>
                <a:latin typeface="+mj-lt"/>
              </a:rPr>
              <a:t>ResNet</a:t>
            </a:r>
            <a:r>
              <a:rPr lang="es-ES" b="1" dirty="0" smtClean="0">
                <a:solidFill>
                  <a:schemeClr val="tx2">
                    <a:lumMod val="75000"/>
                  </a:schemeClr>
                </a:solidFill>
                <a:latin typeface="+mj-lt"/>
              </a:rPr>
              <a:t>):</a:t>
            </a:r>
            <a:r>
              <a:rPr lang="es-ES" dirty="0">
                <a:solidFill>
                  <a:schemeClr val="tx2">
                    <a:lumMod val="75000"/>
                  </a:schemeClr>
                </a:solidFill>
                <a:latin typeface="+mj-lt"/>
              </a:rPr>
              <a:t> </a:t>
            </a:r>
            <a:r>
              <a:rPr lang="es-ES" dirty="0" smtClean="0">
                <a:solidFill>
                  <a:schemeClr val="tx2">
                    <a:lumMod val="75000"/>
                  </a:schemeClr>
                </a:solidFill>
                <a:latin typeface="+mj-lt"/>
              </a:rPr>
              <a:t>Introducen </a:t>
            </a:r>
            <a:r>
              <a:rPr lang="es-ES" dirty="0">
                <a:solidFill>
                  <a:schemeClr val="tx2">
                    <a:lumMod val="75000"/>
                  </a:schemeClr>
                </a:solidFill>
                <a:latin typeface="+mj-lt"/>
              </a:rPr>
              <a:t>conexiones residuales para facilitar el entrenamiento de redes </a:t>
            </a:r>
            <a:r>
              <a:rPr lang="es-ES" dirty="0" smtClean="0">
                <a:solidFill>
                  <a:schemeClr val="tx2">
                    <a:lumMod val="75000"/>
                  </a:schemeClr>
                </a:solidFill>
                <a:latin typeface="+mj-lt"/>
              </a:rPr>
              <a:t>profundas. Dirigidas </a:t>
            </a:r>
            <a:r>
              <a:rPr lang="es-ES" dirty="0">
                <a:solidFill>
                  <a:schemeClr val="tx2">
                    <a:lumMod val="75000"/>
                  </a:schemeClr>
                </a:solidFill>
                <a:latin typeface="+mj-lt"/>
              </a:rPr>
              <a:t>a superar el problema de </a:t>
            </a:r>
            <a:r>
              <a:rPr lang="es-ES" dirty="0" smtClean="0">
                <a:solidFill>
                  <a:schemeClr val="tx2">
                    <a:lumMod val="75000"/>
                  </a:schemeClr>
                </a:solidFill>
                <a:latin typeface="+mj-lt"/>
              </a:rPr>
              <a:t>descenso del </a:t>
            </a:r>
            <a:r>
              <a:rPr lang="es-ES" dirty="0">
                <a:solidFill>
                  <a:schemeClr val="tx2">
                    <a:lumMod val="75000"/>
                  </a:schemeClr>
                </a:solidFill>
                <a:latin typeface="+mj-lt"/>
              </a:rPr>
              <a:t>gradiente en arquitecturas profundas.</a:t>
            </a:r>
          </a:p>
          <a:p>
            <a:pPr marL="342900" indent="-342900" algn="just">
              <a:buFont typeface="Arial" panose="020B0604020202020204" pitchFamily="34" charset="0"/>
              <a:buChar char="•"/>
            </a:pPr>
            <a:r>
              <a:rPr lang="es-ES" b="1" dirty="0">
                <a:solidFill>
                  <a:schemeClr val="tx2">
                    <a:lumMod val="75000"/>
                  </a:schemeClr>
                </a:solidFill>
                <a:latin typeface="+mj-lt"/>
              </a:rPr>
              <a:t>Redes Neuronales </a:t>
            </a:r>
            <a:r>
              <a:rPr lang="es-ES" b="1" dirty="0" smtClean="0">
                <a:solidFill>
                  <a:schemeClr val="tx2">
                    <a:lumMod val="75000"/>
                  </a:schemeClr>
                </a:solidFill>
                <a:latin typeface="+mj-lt"/>
              </a:rPr>
              <a:t>Siamesas:</a:t>
            </a:r>
            <a:r>
              <a:rPr lang="es-ES" dirty="0">
                <a:solidFill>
                  <a:schemeClr val="tx2">
                    <a:lumMod val="75000"/>
                  </a:schemeClr>
                </a:solidFill>
                <a:latin typeface="+mj-lt"/>
              </a:rPr>
              <a:t> u</a:t>
            </a:r>
            <a:r>
              <a:rPr lang="es-ES" dirty="0" smtClean="0">
                <a:solidFill>
                  <a:schemeClr val="tx2">
                    <a:lumMod val="75000"/>
                  </a:schemeClr>
                </a:solidFill>
                <a:latin typeface="+mj-lt"/>
              </a:rPr>
              <a:t>tilizadas </a:t>
            </a:r>
            <a:r>
              <a:rPr lang="es-ES" dirty="0">
                <a:solidFill>
                  <a:schemeClr val="tx2">
                    <a:lumMod val="75000"/>
                  </a:schemeClr>
                </a:solidFill>
                <a:latin typeface="+mj-lt"/>
              </a:rPr>
              <a:t>para comparar similitudes entre dos </a:t>
            </a:r>
            <a:r>
              <a:rPr lang="es-ES" dirty="0" smtClean="0">
                <a:solidFill>
                  <a:schemeClr val="tx2">
                    <a:lumMod val="75000"/>
                  </a:schemeClr>
                </a:solidFill>
                <a:latin typeface="+mj-lt"/>
              </a:rPr>
              <a:t>entradas. Comparten </a:t>
            </a:r>
            <a:r>
              <a:rPr lang="es-ES" dirty="0">
                <a:solidFill>
                  <a:schemeClr val="tx2">
                    <a:lumMod val="75000"/>
                  </a:schemeClr>
                </a:solidFill>
                <a:latin typeface="+mj-lt"/>
              </a:rPr>
              <a:t>parámetros entre dos ramas de la red para aprender representaciones similares.</a:t>
            </a:r>
          </a:p>
          <a:p>
            <a:pPr marL="342900" indent="-342900" algn="just">
              <a:buFont typeface="Arial" panose="020B0604020202020204" pitchFamily="34" charset="0"/>
              <a:buChar char="•"/>
            </a:pPr>
            <a:r>
              <a:rPr lang="es-ES" b="1" dirty="0">
                <a:solidFill>
                  <a:schemeClr val="tx2">
                    <a:lumMod val="75000"/>
                  </a:schemeClr>
                </a:solidFill>
                <a:latin typeface="+mj-lt"/>
              </a:rPr>
              <a:t>Redes Neuronales de Atención (</a:t>
            </a:r>
            <a:r>
              <a:rPr lang="es-ES" b="1" dirty="0" err="1">
                <a:solidFill>
                  <a:schemeClr val="tx2">
                    <a:lumMod val="75000"/>
                  </a:schemeClr>
                </a:solidFill>
                <a:latin typeface="+mj-lt"/>
              </a:rPr>
              <a:t>Transformer</a:t>
            </a:r>
            <a:r>
              <a:rPr lang="es-ES" b="1" dirty="0" smtClean="0">
                <a:solidFill>
                  <a:schemeClr val="tx2">
                    <a:lumMod val="75000"/>
                  </a:schemeClr>
                </a:solidFill>
                <a:latin typeface="+mj-lt"/>
              </a:rPr>
              <a:t>):</a:t>
            </a:r>
            <a:r>
              <a:rPr lang="es-ES" dirty="0">
                <a:solidFill>
                  <a:schemeClr val="tx2">
                    <a:lumMod val="75000"/>
                  </a:schemeClr>
                </a:solidFill>
                <a:latin typeface="+mj-lt"/>
              </a:rPr>
              <a:t> i</a:t>
            </a:r>
            <a:r>
              <a:rPr lang="es-ES" dirty="0" smtClean="0">
                <a:solidFill>
                  <a:schemeClr val="tx2">
                    <a:lumMod val="75000"/>
                  </a:schemeClr>
                </a:solidFill>
                <a:latin typeface="+mj-lt"/>
              </a:rPr>
              <a:t>ntroducen </a:t>
            </a:r>
            <a:r>
              <a:rPr lang="es-ES" dirty="0">
                <a:solidFill>
                  <a:schemeClr val="tx2">
                    <a:lumMod val="75000"/>
                  </a:schemeClr>
                </a:solidFill>
                <a:latin typeface="+mj-lt"/>
              </a:rPr>
              <a:t>mecanismos de atención para capturar relaciones entre diferentes partes de la </a:t>
            </a:r>
            <a:r>
              <a:rPr lang="es-ES" dirty="0" smtClean="0">
                <a:solidFill>
                  <a:schemeClr val="tx2">
                    <a:lumMod val="75000"/>
                  </a:schemeClr>
                </a:solidFill>
                <a:latin typeface="+mj-lt"/>
              </a:rPr>
              <a:t>entrada. Ampliamente </a:t>
            </a:r>
            <a:r>
              <a:rPr lang="es-ES" dirty="0">
                <a:solidFill>
                  <a:schemeClr val="tx2">
                    <a:lumMod val="75000"/>
                  </a:schemeClr>
                </a:solidFill>
                <a:latin typeface="+mj-lt"/>
              </a:rPr>
              <a:t>utilizadas en tareas de procesamiento de lenguaje natural</a:t>
            </a:r>
            <a:r>
              <a:rPr lang="es-ES" dirty="0" smtClean="0">
                <a:solidFill>
                  <a:schemeClr val="tx2">
                    <a:lumMod val="75000"/>
                  </a:schemeClr>
                </a:solidFill>
                <a:latin typeface="+mj-lt"/>
              </a:rPr>
              <a:t>. (</a:t>
            </a:r>
            <a:r>
              <a:rPr lang="es-ES" dirty="0" smtClean="0">
                <a:latin typeface="+mj-lt"/>
              </a:rPr>
              <a:t>CHATGPT</a:t>
            </a:r>
            <a:r>
              <a:rPr lang="es-ES" dirty="0" smtClean="0">
                <a:solidFill>
                  <a:schemeClr val="tx2">
                    <a:lumMod val="75000"/>
                  </a:schemeClr>
                </a:solidFill>
                <a:latin typeface="+mj-lt"/>
              </a:rPr>
              <a:t>)</a:t>
            </a:r>
            <a:endParaRPr lang="es-ES" dirty="0">
              <a:solidFill>
                <a:schemeClr val="tx2">
                  <a:lumMod val="75000"/>
                </a:schemeClr>
              </a:solidFill>
              <a:latin typeface="+mj-lt"/>
            </a:endParaRPr>
          </a:p>
          <a:p>
            <a:pPr algn="just"/>
            <a:endParaRPr lang="es-ES" dirty="0">
              <a:latin typeface="+mj-lt"/>
            </a:endParaRPr>
          </a:p>
        </p:txBody>
      </p:sp>
      <p:sp>
        <p:nvSpPr>
          <p:cNvPr id="4" name="object 2"/>
          <p:cNvSpPr txBox="1">
            <a:spLocks noGrp="1"/>
          </p:cNvSpPr>
          <p:nvPr>
            <p:ph type="title"/>
          </p:nvPr>
        </p:nvSpPr>
        <p:spPr>
          <a:xfrm>
            <a:off x="346963" y="314959"/>
            <a:ext cx="9999472" cy="412934"/>
          </a:xfrm>
          <a:prstGeom prst="rect">
            <a:avLst/>
          </a:prstGeom>
        </p:spPr>
        <p:txBody>
          <a:bodyPr vert="horz" wrap="square" lIns="0" tIns="12700" rIns="0" bIns="0" rtlCol="0">
            <a:spAutoFit/>
          </a:bodyPr>
          <a:lstStyle/>
          <a:p>
            <a:pPr marL="12700">
              <a:lnSpc>
                <a:spcPct val="100000"/>
              </a:lnSpc>
              <a:spcBef>
                <a:spcPts val="100"/>
              </a:spcBef>
            </a:pPr>
            <a:r>
              <a:rPr lang="es-ES" sz="2600" b="1" spc="-5" dirty="0" smtClean="0">
                <a:solidFill>
                  <a:srgbClr val="538DD3"/>
                </a:solidFill>
                <a:latin typeface="Times New Roman"/>
                <a:cs typeface="Times New Roman"/>
              </a:rPr>
              <a:t>Arquitectura de una red neuronal</a:t>
            </a:r>
            <a:endParaRPr sz="2600" dirty="0">
              <a:latin typeface="Times New Roman"/>
              <a:cs typeface="Times New Roman"/>
            </a:endParaRPr>
          </a:p>
        </p:txBody>
      </p:sp>
    </p:spTree>
    <p:extLst>
      <p:ext uri="{BB962C8B-B14F-4D97-AF65-F5344CB8AC3E}">
        <p14:creationId xmlns:p14="http://schemas.microsoft.com/office/powerpoint/2010/main" val="66402721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660616" y="2333625"/>
            <a:ext cx="9419337" cy="3046988"/>
          </a:xfrm>
        </p:spPr>
        <p:txBody>
          <a:bodyPr/>
          <a:lstStyle/>
          <a:p>
            <a:pPr marL="800100" lvl="1" indent="-342900" algn="just">
              <a:buFont typeface="Arial" panose="020B0604020202020204" pitchFamily="34" charset="0"/>
              <a:buChar char="•"/>
            </a:pPr>
            <a:r>
              <a:rPr lang="es-ES" sz="2200" b="1" dirty="0" smtClean="0">
                <a:solidFill>
                  <a:schemeClr val="tx2">
                    <a:lumMod val="75000"/>
                  </a:schemeClr>
                </a:solidFill>
                <a:latin typeface="+mj-lt"/>
              </a:rPr>
              <a:t>Conexiones hacia delante: </a:t>
            </a:r>
            <a:r>
              <a:rPr lang="es-ES" sz="2200" dirty="0" smtClean="0">
                <a:solidFill>
                  <a:schemeClr val="tx2">
                    <a:lumMod val="75000"/>
                  </a:schemeClr>
                </a:solidFill>
                <a:latin typeface="+mj-lt"/>
              </a:rPr>
              <a:t> los valores de las neuronas de una capa inferior son propagados hacia las neuronas de la capa superior por medio de las redes de conexiones hacia adelante.</a:t>
            </a:r>
          </a:p>
          <a:p>
            <a:pPr marL="800100" lvl="1" indent="-342900" algn="just">
              <a:buFont typeface="Arial" panose="020B0604020202020204" pitchFamily="34" charset="0"/>
              <a:buChar char="•"/>
            </a:pPr>
            <a:r>
              <a:rPr lang="es-ES" sz="2200" b="1" dirty="0" smtClean="0">
                <a:solidFill>
                  <a:schemeClr val="tx2">
                    <a:lumMod val="75000"/>
                  </a:schemeClr>
                </a:solidFill>
                <a:latin typeface="+mj-lt"/>
              </a:rPr>
              <a:t>Conexiones hacia atrás: </a:t>
            </a:r>
            <a:r>
              <a:rPr lang="es-ES" sz="2200" dirty="0" smtClean="0">
                <a:solidFill>
                  <a:schemeClr val="tx2">
                    <a:lumMod val="75000"/>
                  </a:schemeClr>
                </a:solidFill>
                <a:latin typeface="+mj-lt"/>
              </a:rPr>
              <a:t> llevan los valores de las neuronas de una capa superior a otras de la capa inferior.</a:t>
            </a:r>
          </a:p>
          <a:p>
            <a:pPr marL="800100" lvl="1" indent="-342900" algn="just">
              <a:buFont typeface="Arial" panose="020B0604020202020204" pitchFamily="34" charset="0"/>
              <a:buChar char="•"/>
            </a:pPr>
            <a:r>
              <a:rPr lang="es-ES" sz="2200" b="1" dirty="0" smtClean="0">
                <a:solidFill>
                  <a:schemeClr val="tx2">
                    <a:lumMod val="75000"/>
                  </a:schemeClr>
                </a:solidFill>
                <a:latin typeface="+mj-lt"/>
              </a:rPr>
              <a:t>Conexiones laterales: </a:t>
            </a:r>
            <a:r>
              <a:rPr lang="es-ES" sz="2200" dirty="0" smtClean="0">
                <a:solidFill>
                  <a:schemeClr val="tx2">
                    <a:lumMod val="75000"/>
                  </a:schemeClr>
                </a:solidFill>
                <a:latin typeface="+mj-lt"/>
              </a:rPr>
              <a:t>un ejemplo es el </a:t>
            </a:r>
            <a:r>
              <a:rPr lang="es-ES" sz="2200" i="1" dirty="0" err="1" smtClean="0">
                <a:solidFill>
                  <a:schemeClr val="tx2">
                    <a:lumMod val="75000"/>
                  </a:schemeClr>
                </a:solidFill>
                <a:latin typeface="+mj-lt"/>
              </a:rPr>
              <a:t>winner-takes-all</a:t>
            </a:r>
            <a:r>
              <a:rPr lang="es-ES" sz="2200" dirty="0" smtClean="0">
                <a:solidFill>
                  <a:schemeClr val="tx2">
                    <a:lumMod val="75000"/>
                  </a:schemeClr>
                </a:solidFill>
                <a:latin typeface="+mj-lt"/>
              </a:rPr>
              <a:t>: a la neurona de salida que da el valor más alto se le asigna el valor total</a:t>
            </a:r>
          </a:p>
          <a:p>
            <a:pPr marL="800100" lvl="1" indent="-342900" algn="just">
              <a:buFont typeface="Arial" panose="020B0604020202020204" pitchFamily="34" charset="0"/>
              <a:buChar char="•"/>
            </a:pPr>
            <a:r>
              <a:rPr lang="es-ES" sz="2200" b="1" dirty="0" smtClean="0">
                <a:solidFill>
                  <a:schemeClr val="tx2">
                    <a:lumMod val="75000"/>
                  </a:schemeClr>
                </a:solidFill>
                <a:latin typeface="+mj-lt"/>
              </a:rPr>
              <a:t>Conexiones con retardo: </a:t>
            </a:r>
            <a:r>
              <a:rPr lang="es-ES" sz="2200" dirty="0" smtClean="0">
                <a:solidFill>
                  <a:schemeClr val="tx2">
                    <a:lumMod val="75000"/>
                  </a:schemeClr>
                </a:solidFill>
                <a:latin typeface="+mj-lt"/>
              </a:rPr>
              <a:t>los elementos de retardo se incorporan en las conexiones para implementar modelos dinámicos y temporales</a:t>
            </a:r>
            <a:endParaRPr lang="es-ES" sz="2200" dirty="0"/>
          </a:p>
        </p:txBody>
      </p:sp>
      <p:sp>
        <p:nvSpPr>
          <p:cNvPr id="4" name="object 2"/>
          <p:cNvSpPr txBox="1">
            <a:spLocks noGrp="1"/>
          </p:cNvSpPr>
          <p:nvPr>
            <p:ph type="title"/>
          </p:nvPr>
        </p:nvSpPr>
        <p:spPr>
          <a:xfrm>
            <a:off x="370549" y="809625"/>
            <a:ext cx="9999472" cy="412934"/>
          </a:xfrm>
          <a:prstGeom prst="rect">
            <a:avLst/>
          </a:prstGeom>
        </p:spPr>
        <p:txBody>
          <a:bodyPr vert="horz" wrap="square" lIns="0" tIns="12700" rIns="0" bIns="0" rtlCol="0">
            <a:spAutoFit/>
          </a:bodyPr>
          <a:lstStyle/>
          <a:p>
            <a:pPr marL="12700">
              <a:lnSpc>
                <a:spcPct val="100000"/>
              </a:lnSpc>
              <a:spcBef>
                <a:spcPts val="100"/>
              </a:spcBef>
            </a:pPr>
            <a:r>
              <a:rPr lang="es-ES" sz="2600" b="1" spc="-5" dirty="0" smtClean="0">
                <a:solidFill>
                  <a:srgbClr val="538DD3"/>
                </a:solidFill>
                <a:latin typeface="Times New Roman"/>
                <a:cs typeface="Times New Roman"/>
              </a:rPr>
              <a:t>Estructuras de conexión</a:t>
            </a:r>
            <a:endParaRPr sz="2600" dirty="0">
              <a:latin typeface="Times New Roman"/>
              <a:cs typeface="Times New Roman"/>
            </a:endParaRPr>
          </a:p>
        </p:txBody>
      </p:sp>
    </p:spTree>
    <p:extLst>
      <p:ext uri="{BB962C8B-B14F-4D97-AF65-F5344CB8AC3E}">
        <p14:creationId xmlns:p14="http://schemas.microsoft.com/office/powerpoint/2010/main" val="235354896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100" y="225637"/>
            <a:ext cx="9118535" cy="412934"/>
          </a:xfrm>
          <a:prstGeom prst="rect">
            <a:avLst/>
          </a:prstGeom>
        </p:spPr>
        <p:txBody>
          <a:bodyPr vert="horz" wrap="square" lIns="0" tIns="12700" rIns="0" bIns="0" rtlCol="0">
            <a:spAutoFit/>
          </a:bodyPr>
          <a:lstStyle/>
          <a:p>
            <a:pPr marL="12700">
              <a:lnSpc>
                <a:spcPct val="100000"/>
              </a:lnSpc>
              <a:spcBef>
                <a:spcPts val="100"/>
              </a:spcBef>
            </a:pPr>
            <a:r>
              <a:rPr sz="2600" b="1" spc="-5" dirty="0">
                <a:solidFill>
                  <a:srgbClr val="538DD3"/>
                </a:solidFill>
                <a:latin typeface="Times New Roman"/>
                <a:cs typeface="Times New Roman"/>
              </a:rPr>
              <a:t>Construcción</a:t>
            </a:r>
            <a:r>
              <a:rPr sz="2600" b="1" spc="-30" dirty="0">
                <a:solidFill>
                  <a:srgbClr val="538DD3"/>
                </a:solidFill>
                <a:latin typeface="Times New Roman"/>
                <a:cs typeface="Times New Roman"/>
              </a:rPr>
              <a:t> </a:t>
            </a:r>
            <a:r>
              <a:rPr sz="2600" b="1" spc="-5" dirty="0">
                <a:solidFill>
                  <a:srgbClr val="538DD3"/>
                </a:solidFill>
                <a:latin typeface="Times New Roman"/>
                <a:cs typeface="Times New Roman"/>
              </a:rPr>
              <a:t>del</a:t>
            </a:r>
            <a:r>
              <a:rPr sz="2600" b="1" spc="-45" dirty="0">
                <a:solidFill>
                  <a:srgbClr val="538DD3"/>
                </a:solidFill>
                <a:latin typeface="Times New Roman"/>
                <a:cs typeface="Times New Roman"/>
              </a:rPr>
              <a:t> </a:t>
            </a:r>
            <a:r>
              <a:rPr sz="2600" b="1" spc="-5" dirty="0" err="1" smtClean="0">
                <a:solidFill>
                  <a:srgbClr val="538DD3"/>
                </a:solidFill>
                <a:latin typeface="Times New Roman"/>
                <a:cs typeface="Times New Roman"/>
              </a:rPr>
              <a:t>modelo</a:t>
            </a:r>
            <a:r>
              <a:rPr lang="es-ES" sz="2600" b="1" spc="-5" dirty="0" smtClean="0">
                <a:solidFill>
                  <a:srgbClr val="538DD3"/>
                </a:solidFill>
                <a:latin typeface="Times New Roman"/>
                <a:cs typeface="Times New Roman"/>
              </a:rPr>
              <a:t>: MLP hacia adelante, </a:t>
            </a:r>
            <a:r>
              <a:rPr lang="es-ES" sz="2600" b="1" spc="-5" dirty="0" err="1" smtClean="0">
                <a:solidFill>
                  <a:srgbClr val="538DD3"/>
                </a:solidFill>
                <a:latin typeface="Times New Roman"/>
                <a:cs typeface="Times New Roman"/>
              </a:rPr>
              <a:t>backpropagation</a:t>
            </a:r>
            <a:endParaRPr sz="2600" dirty="0">
              <a:latin typeface="Times New Roman"/>
              <a:cs typeface="Times New Roman"/>
            </a:endParaRPr>
          </a:p>
        </p:txBody>
      </p:sp>
      <p:sp>
        <p:nvSpPr>
          <p:cNvPr id="3" name="object 3"/>
          <p:cNvSpPr txBox="1"/>
          <p:nvPr/>
        </p:nvSpPr>
        <p:spPr>
          <a:xfrm>
            <a:off x="346963" y="1052829"/>
            <a:ext cx="9948545" cy="2004651"/>
          </a:xfrm>
          <a:prstGeom prst="rect">
            <a:avLst/>
          </a:prstGeom>
        </p:spPr>
        <p:txBody>
          <a:bodyPr vert="horz" wrap="square" lIns="0" tIns="28575" rIns="0" bIns="0" rtlCol="0">
            <a:spAutoFit/>
          </a:bodyPr>
          <a:lstStyle/>
          <a:p>
            <a:pPr marL="12700" marR="5080">
              <a:lnSpc>
                <a:spcPct val="95600"/>
              </a:lnSpc>
              <a:spcBef>
                <a:spcPts val="225"/>
              </a:spcBef>
            </a:pPr>
            <a:r>
              <a:rPr sz="2400" dirty="0">
                <a:latin typeface="Times New Roman"/>
                <a:cs typeface="Times New Roman"/>
              </a:rPr>
              <a:t>La </a:t>
            </a:r>
            <a:r>
              <a:rPr sz="2400" b="1" dirty="0" err="1">
                <a:latin typeface="Times New Roman"/>
                <a:cs typeface="Times New Roman"/>
              </a:rPr>
              <a:t>capa</a:t>
            </a:r>
            <a:r>
              <a:rPr sz="2400" b="1" dirty="0">
                <a:latin typeface="Times New Roman"/>
                <a:cs typeface="Times New Roman"/>
              </a:rPr>
              <a:t> </a:t>
            </a:r>
            <a:r>
              <a:rPr sz="2400" b="1" dirty="0" smtClean="0">
                <a:latin typeface="Times New Roman"/>
                <a:cs typeface="Times New Roman"/>
              </a:rPr>
              <a:t>input</a:t>
            </a:r>
            <a:r>
              <a:rPr lang="es-ES" sz="2400" b="1" dirty="0" smtClean="0">
                <a:latin typeface="Times New Roman"/>
                <a:cs typeface="Times New Roman"/>
              </a:rPr>
              <a:t> o de entrada </a:t>
            </a:r>
            <a:r>
              <a:rPr lang="es-ES" sz="2400" dirty="0" smtClean="0">
                <a:latin typeface="Times New Roman"/>
                <a:cs typeface="Times New Roman"/>
              </a:rPr>
              <a:t>(cuyos nodos son las variables del modelo) </a:t>
            </a:r>
            <a:r>
              <a:rPr sz="2400" b="1" spc="-5" dirty="0" smtClean="0">
                <a:latin typeface="Times New Roman"/>
                <a:cs typeface="Times New Roman"/>
              </a:rPr>
              <a:t> </a:t>
            </a:r>
            <a:r>
              <a:rPr sz="2400" spc="-5" dirty="0">
                <a:latin typeface="Times New Roman"/>
                <a:cs typeface="Times New Roman"/>
              </a:rPr>
              <a:t>se conecta</a:t>
            </a:r>
            <a:r>
              <a:rPr sz="2400" spc="5" dirty="0">
                <a:latin typeface="Times New Roman"/>
                <a:cs typeface="Times New Roman"/>
              </a:rPr>
              <a:t> </a:t>
            </a:r>
            <a:r>
              <a:rPr sz="2400" dirty="0">
                <a:latin typeface="Times New Roman"/>
                <a:cs typeface="Times New Roman"/>
              </a:rPr>
              <a:t>a la</a:t>
            </a:r>
            <a:r>
              <a:rPr sz="2400" spc="10" dirty="0">
                <a:latin typeface="Times New Roman"/>
                <a:cs typeface="Times New Roman"/>
              </a:rPr>
              <a:t> </a:t>
            </a:r>
            <a:r>
              <a:rPr sz="2400" b="1" dirty="0" err="1">
                <a:latin typeface="Times New Roman"/>
                <a:cs typeface="Times New Roman"/>
              </a:rPr>
              <a:t>capa</a:t>
            </a:r>
            <a:r>
              <a:rPr sz="2400" b="1" dirty="0">
                <a:latin typeface="Times New Roman"/>
                <a:cs typeface="Times New Roman"/>
              </a:rPr>
              <a:t> </a:t>
            </a:r>
            <a:r>
              <a:rPr sz="2400" b="1" spc="-5" dirty="0" err="1" smtClean="0">
                <a:latin typeface="Times New Roman"/>
                <a:cs typeface="Times New Roman"/>
              </a:rPr>
              <a:t>oculta</a:t>
            </a:r>
            <a:r>
              <a:rPr lang="es-ES" sz="2400" b="1" spc="-5" dirty="0" smtClean="0">
                <a:latin typeface="Times New Roman"/>
                <a:cs typeface="Times New Roman"/>
              </a:rPr>
              <a:t> </a:t>
            </a:r>
            <a:r>
              <a:rPr lang="es-ES" sz="2400" spc="-5" dirty="0" smtClean="0">
                <a:latin typeface="Times New Roman"/>
                <a:cs typeface="Times New Roman"/>
              </a:rPr>
              <a:t>(cuando se construye el modelo hay que determinar cuántos nodos hay en la capa oculta)</a:t>
            </a:r>
            <a:r>
              <a:rPr sz="2400" b="1" spc="5" dirty="0" smtClean="0">
                <a:latin typeface="Times New Roman"/>
                <a:cs typeface="Times New Roman"/>
              </a:rPr>
              <a:t> </a:t>
            </a:r>
            <a:r>
              <a:rPr sz="2400" spc="-5" dirty="0">
                <a:latin typeface="Times New Roman"/>
                <a:cs typeface="Times New Roman"/>
              </a:rPr>
              <a:t>mediante</a:t>
            </a:r>
            <a:r>
              <a:rPr sz="2400" dirty="0">
                <a:latin typeface="Times New Roman"/>
                <a:cs typeface="Times New Roman"/>
              </a:rPr>
              <a:t> la</a:t>
            </a:r>
            <a:r>
              <a:rPr sz="2400" spc="-5" dirty="0">
                <a:latin typeface="Times New Roman"/>
                <a:cs typeface="Times New Roman"/>
              </a:rPr>
              <a:t> </a:t>
            </a:r>
            <a:r>
              <a:rPr sz="2400" b="1" spc="-5" dirty="0">
                <a:latin typeface="Times New Roman"/>
                <a:cs typeface="Times New Roman"/>
              </a:rPr>
              <a:t>función de </a:t>
            </a:r>
            <a:r>
              <a:rPr sz="2400" b="1" dirty="0">
                <a:latin typeface="Times New Roman"/>
                <a:cs typeface="Times New Roman"/>
              </a:rPr>
              <a:t>combinación</a:t>
            </a:r>
            <a:r>
              <a:rPr sz="2400" dirty="0">
                <a:latin typeface="Times New Roman"/>
                <a:cs typeface="Times New Roman"/>
              </a:rPr>
              <a:t>, </a:t>
            </a:r>
            <a:r>
              <a:rPr sz="2400" spc="-585" dirty="0">
                <a:latin typeface="Times New Roman"/>
                <a:cs typeface="Times New Roman"/>
              </a:rPr>
              <a:t> </a:t>
            </a:r>
            <a:r>
              <a:rPr sz="2400" spc="-5" dirty="0">
                <a:latin typeface="Times New Roman"/>
                <a:cs typeface="Times New Roman"/>
              </a:rPr>
              <a:t>representada</a:t>
            </a:r>
            <a:r>
              <a:rPr sz="2400" dirty="0">
                <a:latin typeface="Times New Roman"/>
                <a:cs typeface="Times New Roman"/>
              </a:rPr>
              <a:t> por</a:t>
            </a:r>
            <a:r>
              <a:rPr sz="2400" spc="5" dirty="0">
                <a:latin typeface="Times New Roman"/>
                <a:cs typeface="Times New Roman"/>
              </a:rPr>
              <a:t> </a:t>
            </a:r>
            <a:r>
              <a:rPr sz="3600" b="1" spc="-5" dirty="0">
                <a:latin typeface="Times New Roman"/>
                <a:cs typeface="Times New Roman"/>
              </a:rPr>
              <a:t>Σ</a:t>
            </a:r>
            <a:r>
              <a:rPr sz="2400" spc="-5" dirty="0">
                <a:latin typeface="Times New Roman"/>
                <a:cs typeface="Times New Roman"/>
              </a:rPr>
              <a:t>,</a:t>
            </a:r>
            <a:r>
              <a:rPr sz="2400" dirty="0">
                <a:latin typeface="Times New Roman"/>
                <a:cs typeface="Times New Roman"/>
              </a:rPr>
              <a:t> donde</a:t>
            </a:r>
            <a:r>
              <a:rPr sz="2400" spc="5" dirty="0">
                <a:latin typeface="Times New Roman"/>
                <a:cs typeface="Times New Roman"/>
              </a:rPr>
              <a:t> </a:t>
            </a:r>
            <a:r>
              <a:rPr sz="2400" dirty="0">
                <a:latin typeface="Times New Roman"/>
                <a:cs typeface="Times New Roman"/>
              </a:rPr>
              <a:t>los</a:t>
            </a:r>
            <a:r>
              <a:rPr sz="2400" spc="5" dirty="0">
                <a:latin typeface="Times New Roman"/>
                <a:cs typeface="Times New Roman"/>
              </a:rPr>
              <a:t> </a:t>
            </a:r>
            <a:r>
              <a:rPr sz="2400" dirty="0">
                <a:latin typeface="Times New Roman"/>
                <a:cs typeface="Times New Roman"/>
              </a:rPr>
              <a:t>pesos</a:t>
            </a:r>
            <a:r>
              <a:rPr sz="2400" b="1" spc="-10" dirty="0">
                <a:latin typeface="Times New Roman"/>
                <a:cs typeface="Times New Roman"/>
              </a:rPr>
              <a:t> </a:t>
            </a:r>
            <a:r>
              <a:rPr sz="2400" b="1" dirty="0">
                <a:latin typeface="Times New Roman"/>
                <a:cs typeface="Times New Roman"/>
              </a:rPr>
              <a:t>w</a:t>
            </a:r>
            <a:r>
              <a:rPr sz="1400" b="1" dirty="0">
                <a:latin typeface="Times New Roman"/>
                <a:cs typeface="Times New Roman"/>
              </a:rPr>
              <a:t>ij</a:t>
            </a:r>
            <a:r>
              <a:rPr sz="1400" b="1" spc="250" dirty="0">
                <a:latin typeface="Times New Roman"/>
                <a:cs typeface="Times New Roman"/>
              </a:rPr>
              <a:t> </a:t>
            </a:r>
            <a:r>
              <a:rPr sz="2400" dirty="0">
                <a:latin typeface="Times New Roman"/>
                <a:cs typeface="Times New Roman"/>
              </a:rPr>
              <a:t>hacen el</a:t>
            </a:r>
            <a:r>
              <a:rPr sz="2400" spc="-10" dirty="0">
                <a:latin typeface="Times New Roman"/>
                <a:cs typeface="Times New Roman"/>
              </a:rPr>
              <a:t> </a:t>
            </a:r>
            <a:r>
              <a:rPr sz="2400" dirty="0">
                <a:latin typeface="Times New Roman"/>
                <a:cs typeface="Times New Roman"/>
              </a:rPr>
              <a:t>papel</a:t>
            </a:r>
            <a:r>
              <a:rPr sz="2400" spc="5" dirty="0">
                <a:latin typeface="Times New Roman"/>
                <a:cs typeface="Times New Roman"/>
              </a:rPr>
              <a:t> </a:t>
            </a:r>
            <a:r>
              <a:rPr sz="2400" dirty="0">
                <a:latin typeface="Times New Roman"/>
                <a:cs typeface="Times New Roman"/>
              </a:rPr>
              <a:t>de</a:t>
            </a:r>
            <a:r>
              <a:rPr sz="2400" spc="5" dirty="0">
                <a:latin typeface="Times New Roman"/>
                <a:cs typeface="Times New Roman"/>
              </a:rPr>
              <a:t> </a:t>
            </a:r>
            <a:r>
              <a:rPr sz="2400" spc="-5" dirty="0">
                <a:latin typeface="Times New Roman"/>
                <a:cs typeface="Times New Roman"/>
              </a:rPr>
              <a:t>parámetros</a:t>
            </a:r>
            <a:r>
              <a:rPr sz="2400" dirty="0">
                <a:latin typeface="Times New Roman"/>
                <a:cs typeface="Times New Roman"/>
              </a:rPr>
              <a:t> a </a:t>
            </a:r>
            <a:r>
              <a:rPr sz="2400" spc="-5" dirty="0" err="1">
                <a:latin typeface="Times New Roman"/>
                <a:cs typeface="Times New Roman"/>
              </a:rPr>
              <a:t>estimar</a:t>
            </a:r>
            <a:r>
              <a:rPr sz="2400" spc="-5" dirty="0" smtClean="0">
                <a:latin typeface="Times New Roman"/>
                <a:cs typeface="Times New Roman"/>
              </a:rPr>
              <a:t>.</a:t>
            </a:r>
            <a:endParaRPr lang="es-ES" sz="2400" spc="-5" dirty="0" smtClean="0">
              <a:latin typeface="Times New Roman"/>
              <a:cs typeface="Times New Roman"/>
            </a:endParaRPr>
          </a:p>
          <a:p>
            <a:pPr marL="12700" marR="5080">
              <a:lnSpc>
                <a:spcPct val="95600"/>
              </a:lnSpc>
              <a:spcBef>
                <a:spcPts val="225"/>
              </a:spcBef>
            </a:pPr>
            <a:r>
              <a:rPr lang="es-ES" sz="2400" spc="-5" dirty="0" smtClean="0">
                <a:latin typeface="Times New Roman"/>
                <a:cs typeface="Times New Roman"/>
              </a:rPr>
              <a:t>En la </a:t>
            </a:r>
            <a:r>
              <a:rPr lang="es-ES" sz="2400" b="1" spc="-5" dirty="0" smtClean="0">
                <a:latin typeface="Times New Roman"/>
                <a:cs typeface="Times New Roman"/>
              </a:rPr>
              <a:t>capa de salida </a:t>
            </a:r>
            <a:r>
              <a:rPr lang="es-ES" sz="2400" spc="-5" dirty="0" smtClean="0">
                <a:latin typeface="Times New Roman"/>
                <a:cs typeface="Times New Roman"/>
              </a:rPr>
              <a:t> tenemos tantos nodos como </a:t>
            </a:r>
            <a:r>
              <a:rPr lang="es-ES" sz="2400" b="1" spc="-5" dirty="0" smtClean="0">
                <a:latin typeface="Times New Roman"/>
                <a:cs typeface="Times New Roman"/>
              </a:rPr>
              <a:t>variables de salida</a:t>
            </a:r>
            <a:r>
              <a:rPr lang="es-ES" sz="2400" spc="-5" dirty="0" smtClean="0">
                <a:latin typeface="Times New Roman"/>
                <a:cs typeface="Times New Roman"/>
              </a:rPr>
              <a:t> haya.</a:t>
            </a:r>
            <a:endParaRPr sz="2400" b="1" dirty="0">
              <a:latin typeface="Times New Roman"/>
              <a:cs typeface="Times New Roman"/>
            </a:endParaRPr>
          </a:p>
        </p:txBody>
      </p:sp>
      <p:sp>
        <p:nvSpPr>
          <p:cNvPr id="4" name="object 4"/>
          <p:cNvSpPr txBox="1"/>
          <p:nvPr/>
        </p:nvSpPr>
        <p:spPr>
          <a:xfrm>
            <a:off x="346963" y="7026045"/>
            <a:ext cx="9948545" cy="299441"/>
          </a:xfrm>
          <a:prstGeom prst="rect">
            <a:avLst/>
          </a:prstGeom>
        </p:spPr>
        <p:txBody>
          <a:bodyPr vert="horz" wrap="square" lIns="0" tIns="29845" rIns="0" bIns="0" rtlCol="0">
            <a:spAutoFit/>
          </a:bodyPr>
          <a:lstStyle/>
          <a:p>
            <a:pPr marL="12700" marR="5080">
              <a:lnSpc>
                <a:spcPts val="2080"/>
              </a:lnSpc>
              <a:spcBef>
                <a:spcPts val="235"/>
              </a:spcBef>
            </a:pPr>
            <a:r>
              <a:rPr sz="1800" spc="-5" dirty="0">
                <a:solidFill>
                  <a:srgbClr val="FF0000"/>
                </a:solidFill>
                <a:latin typeface="Times New Roman"/>
                <a:cs typeface="Times New Roman"/>
              </a:rPr>
              <a:t>Red neuronal</a:t>
            </a:r>
            <a:r>
              <a:rPr sz="1800" dirty="0">
                <a:solidFill>
                  <a:srgbClr val="FF0000"/>
                </a:solidFill>
                <a:latin typeface="Times New Roman"/>
                <a:cs typeface="Times New Roman"/>
              </a:rPr>
              <a:t> </a:t>
            </a:r>
            <a:r>
              <a:rPr sz="1800" spc="-5" dirty="0">
                <a:solidFill>
                  <a:srgbClr val="FF0000"/>
                </a:solidFill>
                <a:latin typeface="Times New Roman"/>
                <a:cs typeface="Times New Roman"/>
              </a:rPr>
              <a:t>con</a:t>
            </a:r>
            <a:r>
              <a:rPr sz="1800" dirty="0">
                <a:solidFill>
                  <a:srgbClr val="FF0000"/>
                </a:solidFill>
                <a:latin typeface="Times New Roman"/>
                <a:cs typeface="Times New Roman"/>
              </a:rPr>
              <a:t> 4</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inputs</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X1,…,X4,</a:t>
            </a:r>
            <a:r>
              <a:rPr sz="1800" spc="30" dirty="0">
                <a:solidFill>
                  <a:srgbClr val="FF0000"/>
                </a:solidFill>
                <a:latin typeface="Times New Roman"/>
                <a:cs typeface="Times New Roman"/>
              </a:rPr>
              <a:t> </a:t>
            </a:r>
            <a:r>
              <a:rPr sz="1800" spc="-5" dirty="0">
                <a:solidFill>
                  <a:srgbClr val="FF0000"/>
                </a:solidFill>
                <a:latin typeface="Times New Roman"/>
                <a:cs typeface="Times New Roman"/>
              </a:rPr>
              <a:t>un</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output</a:t>
            </a:r>
            <a:r>
              <a:rPr sz="1800" dirty="0">
                <a:solidFill>
                  <a:srgbClr val="FF0000"/>
                </a:solidFill>
                <a:latin typeface="Times New Roman"/>
                <a:cs typeface="Times New Roman"/>
              </a:rPr>
              <a:t> </a:t>
            </a:r>
            <a:r>
              <a:rPr sz="1800" spc="-5" dirty="0">
                <a:solidFill>
                  <a:srgbClr val="FF0000"/>
                </a:solidFill>
                <a:latin typeface="Times New Roman"/>
                <a:cs typeface="Times New Roman"/>
              </a:rPr>
              <a:t>Y,</a:t>
            </a:r>
            <a:r>
              <a:rPr sz="1800" spc="10" dirty="0">
                <a:solidFill>
                  <a:srgbClr val="FF0000"/>
                </a:solidFill>
                <a:latin typeface="Times New Roman"/>
                <a:cs typeface="Times New Roman"/>
              </a:rPr>
              <a:t> </a:t>
            </a:r>
            <a:r>
              <a:rPr sz="1800" dirty="0">
                <a:solidFill>
                  <a:srgbClr val="FF0000"/>
                </a:solidFill>
                <a:latin typeface="Times New Roman"/>
                <a:cs typeface="Times New Roman"/>
              </a:rPr>
              <a:t>con </a:t>
            </a:r>
            <a:r>
              <a:rPr sz="1800" spc="-5" dirty="0">
                <a:solidFill>
                  <a:srgbClr val="FF0000"/>
                </a:solidFill>
                <a:latin typeface="Times New Roman"/>
                <a:cs typeface="Times New Roman"/>
              </a:rPr>
              <a:t>una</a:t>
            </a:r>
            <a:r>
              <a:rPr sz="1800" dirty="0">
                <a:solidFill>
                  <a:srgbClr val="FF0000"/>
                </a:solidFill>
                <a:latin typeface="Times New Roman"/>
                <a:cs typeface="Times New Roman"/>
              </a:rPr>
              <a:t> </a:t>
            </a:r>
            <a:r>
              <a:rPr sz="1800" spc="-5" dirty="0">
                <a:solidFill>
                  <a:srgbClr val="FF0000"/>
                </a:solidFill>
                <a:latin typeface="Times New Roman"/>
                <a:cs typeface="Times New Roman"/>
              </a:rPr>
              <a:t>capa</a:t>
            </a:r>
            <a:r>
              <a:rPr sz="1800" spc="5" dirty="0">
                <a:solidFill>
                  <a:srgbClr val="FF0000"/>
                </a:solidFill>
                <a:latin typeface="Times New Roman"/>
                <a:cs typeface="Times New Roman"/>
              </a:rPr>
              <a:t> </a:t>
            </a:r>
            <a:r>
              <a:rPr sz="1800" spc="-5" dirty="0">
                <a:solidFill>
                  <a:srgbClr val="FF0000"/>
                </a:solidFill>
                <a:latin typeface="Times New Roman"/>
                <a:cs typeface="Times New Roman"/>
              </a:rPr>
              <a:t>oculta </a:t>
            </a:r>
            <a:r>
              <a:rPr sz="1800" dirty="0">
                <a:solidFill>
                  <a:srgbClr val="FF0000"/>
                </a:solidFill>
                <a:latin typeface="Times New Roman"/>
                <a:cs typeface="Times New Roman"/>
              </a:rPr>
              <a:t>con</a:t>
            </a:r>
            <a:r>
              <a:rPr sz="1800" spc="-15" dirty="0">
                <a:solidFill>
                  <a:srgbClr val="FF0000"/>
                </a:solidFill>
                <a:latin typeface="Times New Roman"/>
                <a:cs typeface="Times New Roman"/>
              </a:rPr>
              <a:t> </a:t>
            </a:r>
            <a:r>
              <a:rPr sz="1800" dirty="0">
                <a:solidFill>
                  <a:srgbClr val="FF0000"/>
                </a:solidFill>
                <a:latin typeface="Times New Roman"/>
                <a:cs typeface="Times New Roman"/>
              </a:rPr>
              <a:t>4</a:t>
            </a:r>
            <a:r>
              <a:rPr sz="1800" spc="5" dirty="0">
                <a:solidFill>
                  <a:srgbClr val="FF0000"/>
                </a:solidFill>
                <a:latin typeface="Times New Roman"/>
                <a:cs typeface="Times New Roman"/>
              </a:rPr>
              <a:t> </a:t>
            </a:r>
            <a:r>
              <a:rPr sz="1800" spc="-5" dirty="0">
                <a:solidFill>
                  <a:srgbClr val="FF0000"/>
                </a:solidFill>
                <a:latin typeface="Times New Roman"/>
                <a:cs typeface="Times New Roman"/>
              </a:rPr>
              <a:t>nodos</a:t>
            </a:r>
            <a:r>
              <a:rPr sz="1800" dirty="0">
                <a:solidFill>
                  <a:srgbClr val="FF0000"/>
                </a:solidFill>
                <a:latin typeface="Times New Roman"/>
                <a:cs typeface="Times New Roman"/>
              </a:rPr>
              <a:t> </a:t>
            </a:r>
            <a:r>
              <a:rPr sz="1800" spc="-5" dirty="0">
                <a:solidFill>
                  <a:srgbClr val="FF0000"/>
                </a:solidFill>
                <a:latin typeface="Times New Roman"/>
                <a:cs typeface="Times New Roman"/>
              </a:rPr>
              <a:t>ocultos </a:t>
            </a:r>
            <a:r>
              <a:rPr sz="1800" dirty="0">
                <a:solidFill>
                  <a:srgbClr val="FF0000"/>
                </a:solidFill>
                <a:latin typeface="Times New Roman"/>
                <a:cs typeface="Times New Roman"/>
              </a:rPr>
              <a:t>H1, H2, </a:t>
            </a:r>
            <a:r>
              <a:rPr sz="1800" spc="-434" dirty="0">
                <a:solidFill>
                  <a:srgbClr val="FF0000"/>
                </a:solidFill>
                <a:latin typeface="Times New Roman"/>
                <a:cs typeface="Times New Roman"/>
              </a:rPr>
              <a:t> </a:t>
            </a:r>
            <a:r>
              <a:rPr sz="1800" dirty="0">
                <a:solidFill>
                  <a:srgbClr val="FF0000"/>
                </a:solidFill>
                <a:latin typeface="Times New Roman"/>
                <a:cs typeface="Times New Roman"/>
              </a:rPr>
              <a:t>H3,</a:t>
            </a:r>
            <a:r>
              <a:rPr sz="1800" spc="-5" dirty="0">
                <a:solidFill>
                  <a:srgbClr val="FF0000"/>
                </a:solidFill>
                <a:latin typeface="Times New Roman"/>
                <a:cs typeface="Times New Roman"/>
              </a:rPr>
              <a:t> </a:t>
            </a:r>
            <a:r>
              <a:rPr sz="1800" dirty="0">
                <a:solidFill>
                  <a:srgbClr val="FF0000"/>
                </a:solidFill>
                <a:latin typeface="Times New Roman"/>
                <a:cs typeface="Times New Roman"/>
              </a:rPr>
              <a:t>H4.</a:t>
            </a:r>
            <a:endParaRPr sz="1800" dirty="0">
              <a:latin typeface="Times New Roman"/>
              <a:cs typeface="Times New Roman"/>
            </a:endParaRPr>
          </a:p>
        </p:txBody>
      </p:sp>
      <p:pic>
        <p:nvPicPr>
          <p:cNvPr id="5" name="object 5"/>
          <p:cNvPicPr/>
          <p:nvPr/>
        </p:nvPicPr>
        <p:blipFill>
          <a:blip r:embed="rId2" cstate="print"/>
          <a:stretch>
            <a:fillRect/>
          </a:stretch>
        </p:blipFill>
        <p:spPr>
          <a:xfrm>
            <a:off x="88900" y="3810037"/>
            <a:ext cx="4495800" cy="3215786"/>
          </a:xfrm>
          <a:prstGeom prst="rect">
            <a:avLst/>
          </a:prstGeom>
        </p:spPr>
      </p:pic>
      <p:sp>
        <p:nvSpPr>
          <p:cNvPr id="7" name="CuadroTexto 6"/>
          <p:cNvSpPr txBox="1"/>
          <p:nvPr/>
        </p:nvSpPr>
        <p:spPr>
          <a:xfrm>
            <a:off x="4813300" y="3095625"/>
            <a:ext cx="5634609" cy="3785652"/>
          </a:xfrm>
          <a:prstGeom prst="rect">
            <a:avLst/>
          </a:prstGeom>
          <a:noFill/>
        </p:spPr>
        <p:txBody>
          <a:bodyPr wrap="square" rtlCol="0">
            <a:spAutoFit/>
          </a:bodyPr>
          <a:lstStyle/>
          <a:p>
            <a:r>
              <a:rPr lang="es-ES" sz="2400" b="1" dirty="0">
                <a:solidFill>
                  <a:srgbClr val="4F6128"/>
                </a:solidFill>
                <a:latin typeface="Times New Roman"/>
                <a:cs typeface="Times New Roman"/>
              </a:rPr>
              <a:t>Modelo de caja negra</a:t>
            </a:r>
            <a:r>
              <a:rPr lang="es-ES" sz="2400" dirty="0">
                <a:solidFill>
                  <a:srgbClr val="4F6128"/>
                </a:solidFill>
                <a:latin typeface="Times New Roman"/>
                <a:cs typeface="Times New Roman"/>
              </a:rPr>
              <a:t>: </a:t>
            </a:r>
            <a:r>
              <a:rPr lang="es-ES" sz="2400" dirty="0">
                <a:latin typeface="Times New Roman"/>
                <a:cs typeface="Times New Roman"/>
              </a:rPr>
              <a:t>el número de nodos de la capa oculta se determina mediante </a:t>
            </a:r>
            <a:r>
              <a:rPr lang="es-ES" sz="2400" dirty="0" smtClean="0">
                <a:solidFill>
                  <a:srgbClr val="C00000"/>
                </a:solidFill>
                <a:latin typeface="Times New Roman"/>
                <a:cs typeface="Times New Roman"/>
              </a:rPr>
              <a:t>prueba/error. </a:t>
            </a:r>
            <a:r>
              <a:rPr lang="es-ES" sz="2400" b="1" dirty="0" smtClean="0">
                <a:latin typeface="Times New Roman"/>
                <a:cs typeface="Times New Roman"/>
              </a:rPr>
              <a:t>No hay un número de nodos óptimo establecido.</a:t>
            </a:r>
          </a:p>
          <a:p>
            <a:r>
              <a:rPr lang="es-ES" sz="2400" dirty="0" smtClean="0">
                <a:latin typeface="Times New Roman"/>
                <a:cs typeface="Times New Roman"/>
              </a:rPr>
              <a:t>Lo primero es conectar cada nodo de la capa de entrada con cada nodo de la capa oculta (sinapsis).</a:t>
            </a:r>
          </a:p>
          <a:p>
            <a:r>
              <a:rPr lang="es-ES" sz="2400" dirty="0" smtClean="0">
                <a:latin typeface="Times New Roman"/>
                <a:cs typeface="Times New Roman"/>
              </a:rPr>
              <a:t>Desde cada nodo de la capa de entrada saldrán tantas conexiones como neuronas haya en la capa oculta.</a:t>
            </a:r>
            <a:endParaRPr lang="es-ES" sz="2400" dirty="0">
              <a:latin typeface="Times New Roman"/>
              <a:cs typeface="Times New Roman"/>
            </a:endParaRPr>
          </a:p>
        </p:txBody>
      </p:sp>
      <p:sp>
        <p:nvSpPr>
          <p:cNvPr id="8" name="Elipse 7"/>
          <p:cNvSpPr/>
          <p:nvPr/>
        </p:nvSpPr>
        <p:spPr>
          <a:xfrm>
            <a:off x="1231900" y="3818156"/>
            <a:ext cx="304800" cy="247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p:cNvSpPr txBox="1"/>
          <p:nvPr/>
        </p:nvSpPr>
        <p:spPr>
          <a:xfrm>
            <a:off x="269950" y="3148572"/>
            <a:ext cx="3247950" cy="461665"/>
          </a:xfrm>
          <a:prstGeom prst="rect">
            <a:avLst/>
          </a:prstGeom>
          <a:noFill/>
          <a:ln>
            <a:solidFill>
              <a:srgbClr val="0070C0"/>
            </a:solidFill>
          </a:ln>
        </p:spPr>
        <p:txBody>
          <a:bodyPr wrap="square" rtlCol="0">
            <a:spAutoFit/>
          </a:bodyPr>
          <a:lstStyle/>
          <a:p>
            <a:r>
              <a:rPr lang="es-ES" sz="1200" dirty="0" smtClean="0">
                <a:solidFill>
                  <a:srgbClr val="0070C0"/>
                </a:solidFill>
              </a:rPr>
              <a:t>Peso asignado a la conexión entre el nodo X1 de la capa de entrada y el nodo H1 de la capa oculta</a:t>
            </a:r>
            <a:endParaRPr lang="es-ES" sz="1200" dirty="0">
              <a:solidFill>
                <a:srgbClr val="0070C0"/>
              </a:solidFill>
            </a:endParaRPr>
          </a:p>
        </p:txBody>
      </p:sp>
      <p:cxnSp>
        <p:nvCxnSpPr>
          <p:cNvPr id="11" name="Conector recto de flecha 10"/>
          <p:cNvCxnSpPr>
            <a:endCxn id="8" idx="1"/>
          </p:cNvCxnSpPr>
          <p:nvPr/>
        </p:nvCxnSpPr>
        <p:spPr>
          <a:xfrm>
            <a:off x="927099" y="3610237"/>
            <a:ext cx="349438" cy="244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700" y="1190625"/>
            <a:ext cx="5437505" cy="624205"/>
          </a:xfrm>
          <a:prstGeom prst="rect">
            <a:avLst/>
          </a:prstGeom>
        </p:spPr>
        <p:txBody>
          <a:bodyPr vert="horz" wrap="square" lIns="0" tIns="32384" rIns="0" bIns="0" rtlCol="0">
            <a:spAutoFit/>
          </a:bodyPr>
          <a:lstStyle/>
          <a:p>
            <a:pPr marL="12700" marR="5080">
              <a:lnSpc>
                <a:spcPts val="2310"/>
              </a:lnSpc>
              <a:spcBef>
                <a:spcPts val="254"/>
              </a:spcBef>
            </a:pPr>
            <a:r>
              <a:rPr sz="2000" dirty="0">
                <a:solidFill>
                  <a:srgbClr val="000000"/>
                </a:solidFill>
              </a:rPr>
              <a:t>La </a:t>
            </a:r>
            <a:r>
              <a:rPr sz="2000" spc="-5" dirty="0">
                <a:solidFill>
                  <a:srgbClr val="000000"/>
                </a:solidFill>
              </a:rPr>
              <a:t>función</a:t>
            </a:r>
            <a:r>
              <a:rPr sz="2000" dirty="0">
                <a:solidFill>
                  <a:srgbClr val="000000"/>
                </a:solidFill>
              </a:rPr>
              <a:t> de</a:t>
            </a:r>
            <a:r>
              <a:rPr sz="2000" spc="-20" dirty="0">
                <a:solidFill>
                  <a:srgbClr val="000000"/>
                </a:solidFill>
              </a:rPr>
              <a:t> </a:t>
            </a:r>
            <a:r>
              <a:rPr sz="2000" spc="-5" dirty="0">
                <a:solidFill>
                  <a:srgbClr val="C00000"/>
                </a:solidFill>
              </a:rPr>
              <a:t>combinación</a:t>
            </a:r>
            <a:r>
              <a:rPr sz="2000" dirty="0">
                <a:solidFill>
                  <a:srgbClr val="000000"/>
                </a:solidFill>
              </a:rPr>
              <a:t> </a:t>
            </a:r>
            <a:r>
              <a:rPr sz="2000" spc="-5" dirty="0">
                <a:solidFill>
                  <a:srgbClr val="000000"/>
                </a:solidFill>
              </a:rPr>
              <a:t>más</a:t>
            </a:r>
            <a:r>
              <a:rPr sz="2000" dirty="0">
                <a:solidFill>
                  <a:srgbClr val="000000"/>
                </a:solidFill>
              </a:rPr>
              <a:t> habitual </a:t>
            </a:r>
            <a:r>
              <a:rPr sz="2000" spc="-5" dirty="0">
                <a:solidFill>
                  <a:srgbClr val="000000"/>
                </a:solidFill>
              </a:rPr>
              <a:t>es</a:t>
            </a:r>
            <a:r>
              <a:rPr sz="2000" dirty="0">
                <a:solidFill>
                  <a:srgbClr val="000000"/>
                </a:solidFill>
              </a:rPr>
              <a:t> la </a:t>
            </a:r>
            <a:r>
              <a:rPr sz="2000" b="1" dirty="0">
                <a:solidFill>
                  <a:srgbClr val="C00000"/>
                </a:solidFill>
              </a:rPr>
              <a:t>lineal</a:t>
            </a:r>
            <a:r>
              <a:rPr sz="2000" dirty="0">
                <a:solidFill>
                  <a:srgbClr val="000000"/>
                </a:solidFill>
              </a:rPr>
              <a:t>. </a:t>
            </a:r>
            <a:r>
              <a:rPr sz="2000" spc="5" dirty="0">
                <a:solidFill>
                  <a:srgbClr val="000000"/>
                </a:solidFill>
              </a:rPr>
              <a:t> </a:t>
            </a:r>
            <a:r>
              <a:rPr sz="2000" u="sng" spc="-5" dirty="0">
                <a:solidFill>
                  <a:srgbClr val="000000"/>
                </a:solidFill>
              </a:rPr>
              <a:t>Previamente</a:t>
            </a:r>
            <a:r>
              <a:rPr sz="2000" u="sng" spc="10" dirty="0">
                <a:solidFill>
                  <a:srgbClr val="000000"/>
                </a:solidFill>
              </a:rPr>
              <a:t> </a:t>
            </a:r>
            <a:r>
              <a:rPr sz="2000" u="sng" spc="-5" dirty="0">
                <a:solidFill>
                  <a:srgbClr val="000000"/>
                </a:solidFill>
              </a:rPr>
              <a:t>se</a:t>
            </a:r>
            <a:r>
              <a:rPr sz="2000" u="sng" spc="10" dirty="0">
                <a:solidFill>
                  <a:srgbClr val="000000"/>
                </a:solidFill>
              </a:rPr>
              <a:t> </a:t>
            </a:r>
            <a:r>
              <a:rPr sz="2000" u="sng" spc="-5" dirty="0">
                <a:solidFill>
                  <a:srgbClr val="000000"/>
                </a:solidFill>
              </a:rPr>
              <a:t>han</a:t>
            </a:r>
            <a:r>
              <a:rPr sz="2000" u="sng" spc="20" dirty="0">
                <a:solidFill>
                  <a:srgbClr val="000000"/>
                </a:solidFill>
              </a:rPr>
              <a:t> </a:t>
            </a:r>
            <a:r>
              <a:rPr sz="2000" u="sng" spc="-5" dirty="0">
                <a:solidFill>
                  <a:srgbClr val="000000"/>
                </a:solidFill>
              </a:rPr>
              <a:t>estandarizado</a:t>
            </a:r>
            <a:r>
              <a:rPr sz="2000" u="sng" spc="10" dirty="0">
                <a:solidFill>
                  <a:srgbClr val="000000"/>
                </a:solidFill>
              </a:rPr>
              <a:t> </a:t>
            </a:r>
            <a:r>
              <a:rPr sz="2000" u="sng" spc="-5" dirty="0">
                <a:solidFill>
                  <a:srgbClr val="000000"/>
                </a:solidFill>
              </a:rPr>
              <a:t>las</a:t>
            </a:r>
            <a:r>
              <a:rPr sz="2000" u="sng" spc="5" dirty="0">
                <a:solidFill>
                  <a:srgbClr val="000000"/>
                </a:solidFill>
              </a:rPr>
              <a:t> </a:t>
            </a:r>
            <a:r>
              <a:rPr sz="2000" u="sng" spc="-5" dirty="0">
                <a:solidFill>
                  <a:srgbClr val="000000"/>
                </a:solidFill>
              </a:rPr>
              <a:t>variables</a:t>
            </a:r>
            <a:r>
              <a:rPr sz="2000" u="sng" spc="10" dirty="0">
                <a:solidFill>
                  <a:srgbClr val="000000"/>
                </a:solidFill>
              </a:rPr>
              <a:t> </a:t>
            </a:r>
            <a:r>
              <a:rPr sz="2000" u="sng" dirty="0">
                <a:solidFill>
                  <a:srgbClr val="000000"/>
                </a:solidFill>
              </a:rPr>
              <a:t>input.</a:t>
            </a:r>
            <a:endParaRPr sz="2000" u="sng" dirty="0"/>
          </a:p>
        </p:txBody>
      </p:sp>
      <p:pic>
        <p:nvPicPr>
          <p:cNvPr id="4" name="object 4"/>
          <p:cNvPicPr/>
          <p:nvPr/>
        </p:nvPicPr>
        <p:blipFill>
          <a:blip r:embed="rId2" cstate="print"/>
          <a:stretch>
            <a:fillRect/>
          </a:stretch>
        </p:blipFill>
        <p:spPr>
          <a:xfrm>
            <a:off x="5270500" y="2028825"/>
            <a:ext cx="4876800" cy="3486150"/>
          </a:xfrm>
          <a:prstGeom prst="rect">
            <a:avLst/>
          </a:prstGeom>
        </p:spPr>
      </p:pic>
      <mc:AlternateContent xmlns:mc="http://schemas.openxmlformats.org/markup-compatibility/2006" xmlns:a14="http://schemas.microsoft.com/office/drawing/2010/main">
        <mc:Choice Requires="a14">
          <p:sp>
            <p:nvSpPr>
              <p:cNvPr id="3" name="object 3"/>
              <p:cNvSpPr txBox="1"/>
              <p:nvPr/>
            </p:nvSpPr>
            <p:spPr>
              <a:xfrm>
                <a:off x="393700" y="1876425"/>
                <a:ext cx="5257800" cy="4748416"/>
              </a:xfrm>
              <a:prstGeom prst="rect">
                <a:avLst/>
              </a:prstGeom>
            </p:spPr>
            <p:txBody>
              <a:bodyPr vert="horz" wrap="square" lIns="0" tIns="13335" rIns="0" bIns="0" rtlCol="0">
                <a:spAutoFit/>
              </a:bodyPr>
              <a:lstStyle/>
              <a:p>
                <a:pPr marL="12700">
                  <a:lnSpc>
                    <a:spcPct val="100000"/>
                  </a:lnSpc>
                  <a:spcBef>
                    <a:spcPts val="105"/>
                  </a:spcBef>
                </a:pPr>
                <a:r>
                  <a:rPr lang="es-ES" sz="2000" spc="-5" dirty="0" smtClean="0">
                    <a:latin typeface="Times New Roman"/>
                    <a:cs typeface="Times New Roman"/>
                  </a:rPr>
                  <a:t>Una función de combinación para cada nodo de la capa oculta:</a:t>
                </a:r>
                <a:endParaRPr lang="pl-PL" sz="2000" dirty="0">
                  <a:latin typeface="Times New Roman"/>
                  <a:cs typeface="Times New Roman"/>
                </a:endParaRPr>
              </a:p>
              <a:p>
                <a:pPr>
                  <a:lnSpc>
                    <a:spcPct val="100000"/>
                  </a:lnSpc>
                </a:pPr>
                <a:endParaRPr lang="pl-PL" sz="2000" dirty="0">
                  <a:latin typeface="Times New Roman"/>
                  <a:cs typeface="Times New Roman"/>
                </a:endParaRPr>
              </a:p>
              <a:p>
                <a:pPr marL="12700" marR="742315" algn="just">
                  <a:lnSpc>
                    <a:spcPct val="95700"/>
                  </a:lnSpc>
                </a:pPr>
                <a:r>
                  <a:rPr lang="pl-PL" sz="2000" spc="-5" dirty="0">
                    <a:latin typeface="Times New Roman"/>
                    <a:cs typeface="Times New Roman"/>
                  </a:rPr>
                  <a:t>H1=</a:t>
                </a:r>
                <a:r>
                  <a:rPr lang="pl-PL" sz="2400" spc="-5" dirty="0">
                    <a:latin typeface="Times New Roman"/>
                    <a:cs typeface="Times New Roman"/>
                  </a:rPr>
                  <a:t>w</a:t>
                </a:r>
                <a:r>
                  <a:rPr lang="pl-PL" sz="1400" spc="-5" dirty="0">
                    <a:latin typeface="Times New Roman"/>
                    <a:cs typeface="Times New Roman"/>
                  </a:rPr>
                  <a:t>11</a:t>
                </a:r>
                <a:r>
                  <a:rPr lang="pl-PL" sz="2000" spc="-5" dirty="0">
                    <a:latin typeface="Times New Roman"/>
                    <a:cs typeface="Times New Roman"/>
                  </a:rPr>
                  <a:t>X1</a:t>
                </a:r>
                <a:r>
                  <a:rPr lang="pl-PL" sz="2400" spc="-5" dirty="0">
                    <a:latin typeface="Times New Roman"/>
                    <a:cs typeface="Times New Roman"/>
                  </a:rPr>
                  <a:t>+w</a:t>
                </a:r>
                <a:r>
                  <a:rPr lang="pl-PL" sz="1400" spc="-5" dirty="0">
                    <a:latin typeface="Times New Roman"/>
                    <a:cs typeface="Times New Roman"/>
                  </a:rPr>
                  <a:t>21</a:t>
                </a:r>
                <a:r>
                  <a:rPr lang="pl-PL" sz="2000" spc="-5" dirty="0">
                    <a:latin typeface="Times New Roman"/>
                    <a:cs typeface="Times New Roman"/>
                  </a:rPr>
                  <a:t>X2+</a:t>
                </a:r>
                <a:r>
                  <a:rPr lang="pl-PL" sz="2400" spc="-5" dirty="0">
                    <a:latin typeface="Times New Roman"/>
                    <a:cs typeface="Times New Roman"/>
                  </a:rPr>
                  <a:t>w</a:t>
                </a:r>
                <a:r>
                  <a:rPr lang="pl-PL" sz="1400" spc="-5" dirty="0">
                    <a:latin typeface="Times New Roman"/>
                    <a:cs typeface="Times New Roman"/>
                  </a:rPr>
                  <a:t>31</a:t>
                </a:r>
                <a:r>
                  <a:rPr lang="pl-PL" sz="2000" spc="-5" dirty="0">
                    <a:latin typeface="Times New Roman"/>
                    <a:cs typeface="Times New Roman"/>
                  </a:rPr>
                  <a:t>X3+</a:t>
                </a:r>
                <a:r>
                  <a:rPr lang="pl-PL" sz="2400" spc="-5" dirty="0">
                    <a:latin typeface="Times New Roman"/>
                    <a:cs typeface="Times New Roman"/>
                  </a:rPr>
                  <a:t>w</a:t>
                </a:r>
                <a:r>
                  <a:rPr lang="pl-PL" sz="1400" spc="-5" dirty="0">
                    <a:latin typeface="Times New Roman"/>
                    <a:cs typeface="Times New Roman"/>
                  </a:rPr>
                  <a:t>41</a:t>
                </a:r>
                <a:r>
                  <a:rPr lang="pl-PL" sz="2000" spc="-5" dirty="0">
                    <a:latin typeface="Times New Roman"/>
                    <a:cs typeface="Times New Roman"/>
                  </a:rPr>
                  <a:t>X4+</a:t>
                </a:r>
                <a:r>
                  <a:rPr lang="pl-PL" sz="2400" spc="-5" dirty="0">
                    <a:solidFill>
                      <a:srgbClr val="1F487C"/>
                    </a:solidFill>
                    <a:latin typeface="Times New Roman"/>
                    <a:cs typeface="Times New Roman"/>
                  </a:rPr>
                  <a:t>b</a:t>
                </a:r>
                <a:r>
                  <a:rPr lang="pl-PL" sz="1400" spc="-5" dirty="0">
                    <a:solidFill>
                      <a:srgbClr val="1F487C"/>
                    </a:solidFill>
                    <a:latin typeface="Times New Roman"/>
                    <a:cs typeface="Times New Roman"/>
                  </a:rPr>
                  <a:t>1 </a:t>
                </a:r>
                <a:r>
                  <a:rPr lang="pl-PL" sz="1400" spc="-340" dirty="0">
                    <a:solidFill>
                      <a:srgbClr val="1F487C"/>
                    </a:solidFill>
                    <a:latin typeface="Times New Roman"/>
                    <a:cs typeface="Times New Roman"/>
                  </a:rPr>
                  <a:t> </a:t>
                </a:r>
                <a:r>
                  <a:rPr lang="pl-PL" sz="2000" spc="-5" dirty="0">
                    <a:latin typeface="Times New Roman"/>
                    <a:cs typeface="Times New Roman"/>
                  </a:rPr>
                  <a:t>H2=</a:t>
                </a:r>
                <a:r>
                  <a:rPr lang="pl-PL" sz="2400" spc="-5" dirty="0">
                    <a:latin typeface="Times New Roman"/>
                    <a:cs typeface="Times New Roman"/>
                  </a:rPr>
                  <a:t>w</a:t>
                </a:r>
                <a:r>
                  <a:rPr lang="pl-PL" sz="1400" spc="-5" dirty="0">
                    <a:latin typeface="Times New Roman"/>
                    <a:cs typeface="Times New Roman"/>
                  </a:rPr>
                  <a:t>12</a:t>
                </a:r>
                <a:r>
                  <a:rPr lang="pl-PL" sz="2000" spc="-5" dirty="0">
                    <a:latin typeface="Times New Roman"/>
                    <a:cs typeface="Times New Roman"/>
                  </a:rPr>
                  <a:t>X1</a:t>
                </a:r>
                <a:r>
                  <a:rPr lang="pl-PL" sz="2400" spc="-5" dirty="0">
                    <a:latin typeface="Times New Roman"/>
                    <a:cs typeface="Times New Roman"/>
                  </a:rPr>
                  <a:t>+w</a:t>
                </a:r>
                <a:r>
                  <a:rPr lang="pl-PL" sz="1400" spc="-5" dirty="0">
                    <a:latin typeface="Times New Roman"/>
                    <a:cs typeface="Times New Roman"/>
                  </a:rPr>
                  <a:t>22</a:t>
                </a:r>
                <a:r>
                  <a:rPr lang="pl-PL" sz="2000" spc="-5" dirty="0">
                    <a:latin typeface="Times New Roman"/>
                    <a:cs typeface="Times New Roman"/>
                  </a:rPr>
                  <a:t>X2+</a:t>
                </a:r>
                <a:r>
                  <a:rPr lang="pl-PL" sz="2400" spc="-5" dirty="0">
                    <a:latin typeface="Times New Roman"/>
                    <a:cs typeface="Times New Roman"/>
                  </a:rPr>
                  <a:t>w</a:t>
                </a:r>
                <a:r>
                  <a:rPr lang="pl-PL" sz="1400" spc="-5" dirty="0">
                    <a:latin typeface="Times New Roman"/>
                    <a:cs typeface="Times New Roman"/>
                  </a:rPr>
                  <a:t>32</a:t>
                </a:r>
                <a:r>
                  <a:rPr lang="pl-PL" sz="2000" spc="-5" dirty="0">
                    <a:latin typeface="Times New Roman"/>
                    <a:cs typeface="Times New Roman"/>
                  </a:rPr>
                  <a:t>X3+</a:t>
                </a:r>
                <a:r>
                  <a:rPr lang="pl-PL" sz="2400" spc="-5" dirty="0">
                    <a:latin typeface="Times New Roman"/>
                    <a:cs typeface="Times New Roman"/>
                  </a:rPr>
                  <a:t>w</a:t>
                </a:r>
                <a:r>
                  <a:rPr lang="pl-PL" sz="1400" spc="-5" dirty="0">
                    <a:latin typeface="Times New Roman"/>
                    <a:cs typeface="Times New Roman"/>
                  </a:rPr>
                  <a:t>42</a:t>
                </a:r>
                <a:r>
                  <a:rPr lang="pl-PL" sz="2000" spc="-5" dirty="0">
                    <a:latin typeface="Times New Roman"/>
                    <a:cs typeface="Times New Roman"/>
                  </a:rPr>
                  <a:t>X4+</a:t>
                </a:r>
                <a:r>
                  <a:rPr lang="pl-PL" sz="2400" spc="-5" dirty="0">
                    <a:solidFill>
                      <a:srgbClr val="1F487C"/>
                    </a:solidFill>
                    <a:latin typeface="Times New Roman"/>
                    <a:cs typeface="Times New Roman"/>
                  </a:rPr>
                  <a:t>b</a:t>
                </a:r>
                <a:r>
                  <a:rPr lang="pl-PL" sz="1400" spc="-5" dirty="0">
                    <a:solidFill>
                      <a:srgbClr val="1F487C"/>
                    </a:solidFill>
                    <a:latin typeface="Times New Roman"/>
                    <a:cs typeface="Times New Roman"/>
                  </a:rPr>
                  <a:t>2 </a:t>
                </a:r>
                <a:r>
                  <a:rPr lang="pl-PL" sz="1400" spc="-340" dirty="0">
                    <a:solidFill>
                      <a:srgbClr val="1F487C"/>
                    </a:solidFill>
                    <a:latin typeface="Times New Roman"/>
                    <a:cs typeface="Times New Roman"/>
                  </a:rPr>
                  <a:t> </a:t>
                </a:r>
                <a:r>
                  <a:rPr lang="pl-PL" sz="2000" spc="-5" dirty="0">
                    <a:latin typeface="Times New Roman"/>
                    <a:cs typeface="Times New Roman"/>
                  </a:rPr>
                  <a:t>H3=</a:t>
                </a:r>
                <a:r>
                  <a:rPr lang="pl-PL" sz="2400" spc="-5" dirty="0">
                    <a:latin typeface="Times New Roman"/>
                    <a:cs typeface="Times New Roman"/>
                  </a:rPr>
                  <a:t>w</a:t>
                </a:r>
                <a:r>
                  <a:rPr lang="pl-PL" sz="1400" spc="-5" dirty="0">
                    <a:latin typeface="Times New Roman"/>
                    <a:cs typeface="Times New Roman"/>
                  </a:rPr>
                  <a:t>13</a:t>
                </a:r>
                <a:r>
                  <a:rPr lang="pl-PL" sz="2000" spc="-5" dirty="0">
                    <a:latin typeface="Times New Roman"/>
                    <a:cs typeface="Times New Roman"/>
                  </a:rPr>
                  <a:t>X1</a:t>
                </a:r>
                <a:r>
                  <a:rPr lang="pl-PL" sz="2400" spc="-5" dirty="0">
                    <a:latin typeface="Times New Roman"/>
                    <a:cs typeface="Times New Roman"/>
                  </a:rPr>
                  <a:t>+w</a:t>
                </a:r>
                <a:r>
                  <a:rPr lang="pl-PL" sz="1400" spc="-5" dirty="0">
                    <a:latin typeface="Times New Roman"/>
                    <a:cs typeface="Times New Roman"/>
                  </a:rPr>
                  <a:t>23</a:t>
                </a:r>
                <a:r>
                  <a:rPr lang="pl-PL" sz="2000" spc="-5" dirty="0">
                    <a:latin typeface="Times New Roman"/>
                    <a:cs typeface="Times New Roman"/>
                  </a:rPr>
                  <a:t>X2+</a:t>
                </a:r>
                <a:r>
                  <a:rPr lang="pl-PL" sz="2400" spc="-5" dirty="0">
                    <a:latin typeface="Times New Roman"/>
                    <a:cs typeface="Times New Roman"/>
                  </a:rPr>
                  <a:t>w</a:t>
                </a:r>
                <a:r>
                  <a:rPr lang="pl-PL" sz="1400" spc="-5" dirty="0">
                    <a:latin typeface="Times New Roman"/>
                    <a:cs typeface="Times New Roman"/>
                  </a:rPr>
                  <a:t>33</a:t>
                </a:r>
                <a:r>
                  <a:rPr lang="pl-PL" sz="2000" spc="-5" dirty="0">
                    <a:latin typeface="Times New Roman"/>
                    <a:cs typeface="Times New Roman"/>
                  </a:rPr>
                  <a:t>X3+</a:t>
                </a:r>
                <a:r>
                  <a:rPr lang="pl-PL" sz="2400" spc="-5" dirty="0">
                    <a:latin typeface="Times New Roman"/>
                    <a:cs typeface="Times New Roman"/>
                  </a:rPr>
                  <a:t>w</a:t>
                </a:r>
                <a:r>
                  <a:rPr lang="pl-PL" sz="1400" spc="-5" dirty="0">
                    <a:latin typeface="Times New Roman"/>
                    <a:cs typeface="Times New Roman"/>
                  </a:rPr>
                  <a:t>43</a:t>
                </a:r>
                <a:r>
                  <a:rPr lang="pl-PL" sz="2000" spc="-5" dirty="0">
                    <a:latin typeface="Times New Roman"/>
                    <a:cs typeface="Times New Roman"/>
                  </a:rPr>
                  <a:t>X4+</a:t>
                </a:r>
                <a:r>
                  <a:rPr lang="pl-PL" sz="2400" spc="-5" dirty="0">
                    <a:solidFill>
                      <a:srgbClr val="1F487C"/>
                    </a:solidFill>
                    <a:latin typeface="Times New Roman"/>
                    <a:cs typeface="Times New Roman"/>
                  </a:rPr>
                  <a:t>b</a:t>
                </a:r>
                <a:r>
                  <a:rPr lang="pl-PL" sz="1400" spc="-5" dirty="0">
                    <a:solidFill>
                      <a:srgbClr val="1F487C"/>
                    </a:solidFill>
                    <a:latin typeface="Times New Roman"/>
                    <a:cs typeface="Times New Roman"/>
                  </a:rPr>
                  <a:t>3 </a:t>
                </a:r>
                <a:r>
                  <a:rPr lang="pl-PL" sz="1400" spc="-340" dirty="0">
                    <a:solidFill>
                      <a:srgbClr val="1F487C"/>
                    </a:solidFill>
                    <a:latin typeface="Times New Roman"/>
                    <a:cs typeface="Times New Roman"/>
                  </a:rPr>
                  <a:t> </a:t>
                </a:r>
                <a:r>
                  <a:rPr lang="pl-PL" sz="2000" spc="-5" dirty="0" smtClean="0">
                    <a:latin typeface="Times New Roman"/>
                    <a:cs typeface="Times New Roman"/>
                  </a:rPr>
                  <a:t>H4=</a:t>
                </a:r>
                <a:r>
                  <a:rPr lang="pl-PL" sz="2400" spc="-5" dirty="0" smtClean="0">
                    <a:latin typeface="Times New Roman"/>
                    <a:cs typeface="Times New Roman"/>
                  </a:rPr>
                  <a:t>w</a:t>
                </a:r>
                <a:r>
                  <a:rPr lang="pl-PL" sz="1400" spc="-5" dirty="0" smtClean="0">
                    <a:latin typeface="Times New Roman"/>
                    <a:cs typeface="Times New Roman"/>
                  </a:rPr>
                  <a:t>14</a:t>
                </a:r>
                <a:r>
                  <a:rPr lang="pl-PL" sz="2000" spc="-5" dirty="0" smtClean="0">
                    <a:latin typeface="Times New Roman"/>
                    <a:cs typeface="Times New Roman"/>
                  </a:rPr>
                  <a:t>X1</a:t>
                </a:r>
                <a:r>
                  <a:rPr lang="pl-PL" sz="2400" spc="-5" dirty="0" smtClean="0">
                    <a:latin typeface="Times New Roman"/>
                    <a:cs typeface="Times New Roman"/>
                  </a:rPr>
                  <a:t>+w</a:t>
                </a:r>
                <a:r>
                  <a:rPr lang="pl-PL" sz="1400" spc="-5" dirty="0" smtClean="0">
                    <a:latin typeface="Times New Roman"/>
                    <a:cs typeface="Times New Roman"/>
                  </a:rPr>
                  <a:t>24</a:t>
                </a:r>
                <a:r>
                  <a:rPr lang="pl-PL" sz="2000" spc="-5" dirty="0" smtClean="0">
                    <a:latin typeface="Times New Roman"/>
                    <a:cs typeface="Times New Roman"/>
                  </a:rPr>
                  <a:t>X2+</a:t>
                </a:r>
                <a:r>
                  <a:rPr lang="pl-PL" sz="2400" spc="-5" dirty="0" smtClean="0">
                    <a:latin typeface="Times New Roman"/>
                    <a:cs typeface="Times New Roman"/>
                  </a:rPr>
                  <a:t>w</a:t>
                </a:r>
                <a:r>
                  <a:rPr lang="pl-PL" sz="1400" spc="-5" dirty="0" smtClean="0">
                    <a:latin typeface="Times New Roman"/>
                    <a:cs typeface="Times New Roman"/>
                  </a:rPr>
                  <a:t>34</a:t>
                </a:r>
                <a:r>
                  <a:rPr lang="pl-PL" sz="2000" spc="-5" dirty="0" smtClean="0">
                    <a:latin typeface="Times New Roman"/>
                    <a:cs typeface="Times New Roman"/>
                  </a:rPr>
                  <a:t>X3+</a:t>
                </a:r>
                <a:r>
                  <a:rPr lang="pl-PL" sz="2400" spc="-5" dirty="0" smtClean="0">
                    <a:latin typeface="Times New Roman"/>
                    <a:cs typeface="Times New Roman"/>
                  </a:rPr>
                  <a:t>w</a:t>
                </a:r>
                <a:r>
                  <a:rPr lang="pl-PL" sz="1400" spc="-5" dirty="0" smtClean="0">
                    <a:latin typeface="Times New Roman"/>
                    <a:cs typeface="Times New Roman"/>
                  </a:rPr>
                  <a:t>44</a:t>
                </a:r>
                <a:r>
                  <a:rPr lang="pl-PL" sz="2000" spc="-5" dirty="0" smtClean="0">
                    <a:latin typeface="Times New Roman"/>
                    <a:cs typeface="Times New Roman"/>
                  </a:rPr>
                  <a:t>X4+</a:t>
                </a:r>
                <a:r>
                  <a:rPr lang="pl-PL" sz="2400" spc="-5" dirty="0" smtClean="0">
                    <a:solidFill>
                      <a:srgbClr val="1F487C"/>
                    </a:solidFill>
                    <a:latin typeface="Times New Roman"/>
                    <a:cs typeface="Times New Roman"/>
                  </a:rPr>
                  <a:t>b</a:t>
                </a:r>
                <a:r>
                  <a:rPr lang="pl-PL" sz="1400" spc="-5" dirty="0" smtClean="0">
                    <a:solidFill>
                      <a:srgbClr val="1F487C"/>
                    </a:solidFill>
                    <a:latin typeface="Times New Roman"/>
                    <a:cs typeface="Times New Roman"/>
                  </a:rPr>
                  <a:t>4</a:t>
                </a:r>
                <a:endParaRPr lang="es-ES" sz="1400" spc="-5" dirty="0" smtClean="0">
                  <a:solidFill>
                    <a:srgbClr val="1F487C"/>
                  </a:solidFill>
                  <a:latin typeface="Times New Roman"/>
                  <a:cs typeface="Times New Roman"/>
                </a:endParaRPr>
              </a:p>
              <a:p>
                <a:pPr marL="12700" marR="742315" algn="just">
                  <a:lnSpc>
                    <a:spcPct val="95700"/>
                  </a:lnSpc>
                </a:pPr>
                <a:endParaRPr lang="pl-PL" sz="3700" dirty="0">
                  <a:latin typeface="Times New Roman"/>
                  <a:cs typeface="Times New Roman"/>
                </a:endParaRPr>
              </a:p>
              <a:p>
                <a:pPr marL="12700" marR="5080">
                  <a:lnSpc>
                    <a:spcPts val="2390"/>
                  </a:lnSpc>
                </a:pPr>
                <a:r>
                  <a:rPr lang="es-ES" sz="2000" b="1" dirty="0" smtClean="0">
                    <a:latin typeface="Times New Roman"/>
                    <a:cs typeface="Times New Roman"/>
                  </a:rPr>
                  <a:t>Para cada nodo de la capa oculta hay un peso asociado que lo conecta con la capa de salida.</a:t>
                </a:r>
              </a:p>
              <a:p>
                <a:pPr marL="12700" marR="5080">
                  <a:lnSpc>
                    <a:spcPts val="2390"/>
                  </a:lnSpc>
                </a:pPr>
                <a:r>
                  <a:rPr lang="pl-PL" sz="2000" dirty="0" smtClean="0">
                    <a:latin typeface="Times New Roman"/>
                    <a:cs typeface="Times New Roman"/>
                  </a:rPr>
                  <a:t>El </a:t>
                </a:r>
                <a:r>
                  <a:rPr lang="pl-PL" sz="2000" spc="-5" dirty="0">
                    <a:latin typeface="Times New Roman"/>
                    <a:cs typeface="Times New Roman"/>
                  </a:rPr>
                  <a:t>parámetro</a:t>
                </a:r>
                <a:r>
                  <a:rPr lang="pl-PL" sz="2000" spc="5" dirty="0">
                    <a:latin typeface="Times New Roman"/>
                    <a:cs typeface="Times New Roman"/>
                  </a:rPr>
                  <a:t> </a:t>
                </a:r>
                <a:r>
                  <a:rPr lang="pl-PL" sz="2000" spc="-5" dirty="0" smtClean="0">
                    <a:latin typeface="Times New Roman"/>
                    <a:cs typeface="Times New Roman"/>
                  </a:rPr>
                  <a:t>constante</a:t>
                </a:r>
                <a:r>
                  <a:rPr lang="es-ES" sz="2000" spc="-5" dirty="0" smtClean="0">
                    <a:latin typeface="Times New Roman"/>
                    <a:cs typeface="Times New Roman"/>
                  </a:rPr>
                  <a:t> asociado a cada nodo,</a:t>
                </a:r>
                <a:r>
                  <a:rPr lang="pl-PL" sz="2000" spc="15" dirty="0" smtClean="0">
                    <a:latin typeface="Times New Roman"/>
                    <a:cs typeface="Times New Roman"/>
                  </a:rPr>
                  <a:t> </a:t>
                </a:r>
                <a14:m>
                  <m:oMath xmlns:m="http://schemas.openxmlformats.org/officeDocument/2006/math">
                    <m:sSub>
                      <m:sSubPr>
                        <m:ctrlPr>
                          <a:rPr lang="pl-PL" sz="2000" i="1" spc="15" smtClean="0">
                            <a:latin typeface="Cambria Math" panose="02040503050406030204" pitchFamily="18" charset="0"/>
                            <a:cs typeface="Times New Roman"/>
                          </a:rPr>
                        </m:ctrlPr>
                      </m:sSubPr>
                      <m:e>
                        <m:r>
                          <a:rPr lang="es-ES" sz="2000" b="0" i="1" spc="15" smtClean="0">
                            <a:latin typeface="Cambria Math" panose="02040503050406030204" pitchFamily="18" charset="0"/>
                            <a:cs typeface="Times New Roman"/>
                          </a:rPr>
                          <m:t>𝑏</m:t>
                        </m:r>
                      </m:e>
                      <m:sub>
                        <m:r>
                          <a:rPr lang="es-ES" sz="2000" b="0" i="1" spc="15" smtClean="0">
                            <a:latin typeface="Cambria Math" panose="02040503050406030204" pitchFamily="18" charset="0"/>
                            <a:cs typeface="Times New Roman"/>
                          </a:rPr>
                          <m:t>𝑗</m:t>
                        </m:r>
                      </m:sub>
                    </m:sSub>
                  </m:oMath>
                </a14:m>
                <a:r>
                  <a:rPr lang="pl-PL" sz="1400" spc="-10" dirty="0" smtClean="0">
                    <a:solidFill>
                      <a:srgbClr val="1F487C"/>
                    </a:solidFill>
                    <a:latin typeface="Times New Roman"/>
                    <a:cs typeface="Times New Roman"/>
                  </a:rPr>
                  <a:t> </a:t>
                </a:r>
                <a:r>
                  <a:rPr lang="pl-PL" sz="2000" spc="-5" dirty="0">
                    <a:latin typeface="Times New Roman"/>
                    <a:cs typeface="Times New Roman"/>
                  </a:rPr>
                  <a:t>se</a:t>
                </a:r>
                <a:r>
                  <a:rPr lang="pl-PL" sz="2000" dirty="0">
                    <a:latin typeface="Times New Roman"/>
                    <a:cs typeface="Times New Roman"/>
                  </a:rPr>
                  <a:t> </a:t>
                </a:r>
                <a:r>
                  <a:rPr lang="pl-PL" sz="2000" spc="-5" dirty="0">
                    <a:latin typeface="Times New Roman"/>
                    <a:cs typeface="Times New Roman"/>
                  </a:rPr>
                  <a:t>denomina,</a:t>
                </a:r>
                <a:r>
                  <a:rPr lang="pl-PL" sz="2000" spc="5" dirty="0">
                    <a:latin typeface="Times New Roman"/>
                    <a:cs typeface="Times New Roman"/>
                  </a:rPr>
                  <a:t> </a:t>
                </a:r>
                <a:r>
                  <a:rPr lang="pl-PL" sz="2000" dirty="0">
                    <a:latin typeface="Times New Roman"/>
                    <a:cs typeface="Times New Roman"/>
                  </a:rPr>
                  <a:t>en jerga </a:t>
                </a:r>
                <a:r>
                  <a:rPr lang="pl-PL" sz="2000" spc="-484" dirty="0">
                    <a:latin typeface="Times New Roman"/>
                    <a:cs typeface="Times New Roman"/>
                  </a:rPr>
                  <a:t> </a:t>
                </a:r>
                <a:r>
                  <a:rPr lang="pl-PL" sz="2000" dirty="0">
                    <a:latin typeface="Times New Roman"/>
                    <a:cs typeface="Times New Roman"/>
                  </a:rPr>
                  <a:t>neuronal,</a:t>
                </a:r>
                <a:r>
                  <a:rPr lang="pl-PL" sz="2000" spc="-20" dirty="0">
                    <a:latin typeface="Times New Roman"/>
                    <a:cs typeface="Times New Roman"/>
                  </a:rPr>
                  <a:t> </a:t>
                </a:r>
                <a:r>
                  <a:rPr lang="es-ES" sz="2000" b="1" spc="-20" dirty="0" err="1" smtClean="0">
                    <a:latin typeface="Times New Roman"/>
                    <a:cs typeface="Times New Roman"/>
                  </a:rPr>
                  <a:t>bias</a:t>
                </a:r>
                <a:r>
                  <a:rPr lang="es-ES" sz="2000" spc="-20" dirty="0" smtClean="0">
                    <a:latin typeface="Times New Roman"/>
                    <a:cs typeface="Times New Roman"/>
                  </a:rPr>
                  <a:t> </a:t>
                </a:r>
                <a:r>
                  <a:rPr lang="pl-PL" sz="2000" dirty="0" smtClean="0">
                    <a:latin typeface="Times New Roman"/>
                    <a:cs typeface="Times New Roman"/>
                  </a:rPr>
                  <a:t>(sesgo)</a:t>
                </a:r>
                <a:r>
                  <a:rPr lang="es-ES" sz="2000" dirty="0" smtClean="0">
                    <a:latin typeface="Times New Roman"/>
                    <a:cs typeface="Times New Roman"/>
                  </a:rPr>
                  <a:t>. Es el parámetro que controla “</a:t>
                </a:r>
                <a:r>
                  <a:rPr lang="es-ES" sz="2000" b="1" dirty="0" smtClean="0">
                    <a:latin typeface="Times New Roman"/>
                    <a:cs typeface="Times New Roman"/>
                  </a:rPr>
                  <a:t>lo que no puede explicar el modelo con los pesos</a:t>
                </a:r>
                <a:r>
                  <a:rPr lang="es-ES" sz="2000" dirty="0" smtClean="0">
                    <a:latin typeface="Times New Roman"/>
                    <a:cs typeface="Times New Roman"/>
                  </a:rPr>
                  <a:t>”. Hay que estimarlos.</a:t>
                </a:r>
                <a:endParaRPr sz="2000" dirty="0">
                  <a:latin typeface="Times New Roman"/>
                  <a:cs typeface="Times New Roman"/>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93700" y="1876425"/>
                <a:ext cx="5257800" cy="4748416"/>
              </a:xfrm>
              <a:prstGeom prst="rect">
                <a:avLst/>
              </a:prstGeom>
              <a:blipFill rotWithShape="0">
                <a:blip r:embed="rId3"/>
                <a:stretch>
                  <a:fillRect l="-2784" t="-1412" r="-2552" b="-218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322514" y="399404"/>
                <a:ext cx="8376985" cy="1009572"/>
              </a:xfrm>
              <a:prstGeom prst="rect">
                <a:avLst/>
              </a:prstGeom>
              <a:noFill/>
            </p:spPr>
            <p:txBody>
              <a:bodyPr wrap="square" rtlCol="0">
                <a:spAutoFit/>
              </a:bodyPr>
              <a:lstStyle/>
              <a:p>
                <a:r>
                  <a:rPr lang="es-ES" sz="2000" dirty="0" smtClean="0">
                    <a:latin typeface="Times New Roman" panose="02020603050405020304" pitchFamily="18" charset="0"/>
                    <a:cs typeface="Times New Roman" panose="02020603050405020304" pitchFamily="18" charset="0"/>
                  </a:rPr>
                  <a:t>Los nodos de la capa de entrada se conectan con los nodos de la capa oculta mediante una </a:t>
                </a:r>
                <a:r>
                  <a:rPr lang="es-ES" sz="2000" b="1" dirty="0" smtClean="0">
                    <a:latin typeface="Times New Roman" panose="02020603050405020304" pitchFamily="18" charset="0"/>
                    <a:cs typeface="Times New Roman" panose="02020603050405020304" pitchFamily="18" charset="0"/>
                  </a:rPr>
                  <a:t>función de combinación </a:t>
                </a:r>
                <a:r>
                  <a:rPr lang="es-ES" sz="2000" dirty="0" smtClean="0">
                    <a:latin typeface="Times New Roman" panose="02020603050405020304" pitchFamily="18" charset="0"/>
                    <a:cs typeface="Times New Roman" panose="02020603050405020304" pitchFamily="18" charset="0"/>
                  </a:rPr>
                  <a:t>∑ cuyos parámetros son los pesos </a:t>
                </a:r>
                <a14:m>
                  <m:oMath xmlns:m="http://schemas.openxmlformats.org/officeDocument/2006/math">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𝑤</m:t>
                        </m:r>
                      </m:e>
                      <m:sub>
                        <m:r>
                          <a:rPr lang="es-ES" sz="2000" b="0" i="1" smtClean="0">
                            <a:latin typeface="Cambria Math" panose="02040503050406030204" pitchFamily="18" charset="0"/>
                          </a:rPr>
                          <m:t>𝑖𝑗</m:t>
                        </m:r>
                      </m:sub>
                    </m:sSub>
                  </m:oMath>
                </a14:m>
                <a:r>
                  <a:rPr lang="es-ES" dirty="0" smtClean="0">
                    <a:latin typeface="Times New Roman" panose="02020603050405020304" pitchFamily="18" charset="0"/>
                    <a:cs typeface="Times New Roman" panose="02020603050405020304" pitchFamily="18" charset="0"/>
                  </a:rPr>
                  <a:t>.</a:t>
                </a:r>
              </a:p>
              <a:p>
                <a:endParaRPr lang="es-ES" dirty="0">
                  <a:latin typeface="Times New Roman" panose="02020603050405020304" pitchFamily="18" charset="0"/>
                  <a:cs typeface="Times New Roman" panose="02020603050405020304" pitchFamily="18" charset="0"/>
                </a:endParaRPr>
              </a:p>
            </p:txBody>
          </p:sp>
        </mc:Choice>
        <mc:Fallback xmlns="">
          <p:sp>
            <p:nvSpPr>
              <p:cNvPr id="5" name="CuadroTexto 4"/>
              <p:cNvSpPr txBox="1">
                <a:spLocks noRot="1" noChangeAspect="1" noMove="1" noResize="1" noEditPoints="1" noAdjustHandles="1" noChangeArrowheads="1" noChangeShapeType="1" noTextEdit="1"/>
              </p:cNvSpPr>
              <p:nvPr/>
            </p:nvSpPr>
            <p:spPr>
              <a:xfrm>
                <a:off x="322514" y="399404"/>
                <a:ext cx="8376985" cy="1009572"/>
              </a:xfrm>
              <a:prstGeom prst="rect">
                <a:avLst/>
              </a:prstGeom>
              <a:blipFill rotWithShape="0">
                <a:blip r:embed="rId4"/>
                <a:stretch>
                  <a:fillRect l="-801" t="-3636"/>
                </a:stretch>
              </a:blipFill>
            </p:spPr>
            <p:txBody>
              <a:bodyPr/>
              <a:lstStyle/>
              <a:p>
                <a:r>
                  <a:rPr lang="es-ES">
                    <a:noFill/>
                  </a:rPr>
                  <a:t> </a:t>
                </a:r>
              </a:p>
            </p:txBody>
          </p:sp>
        </mc:Fallback>
      </mc:AlternateContent>
      <p:sp>
        <p:nvSpPr>
          <p:cNvPr id="6" name="CuadroTexto 5"/>
          <p:cNvSpPr txBox="1"/>
          <p:nvPr/>
        </p:nvSpPr>
        <p:spPr>
          <a:xfrm>
            <a:off x="317500" y="6654939"/>
            <a:ext cx="9431086" cy="707886"/>
          </a:xfrm>
          <a:prstGeom prst="rect">
            <a:avLst/>
          </a:prstGeom>
          <a:noFill/>
        </p:spPr>
        <p:txBody>
          <a:bodyPr wrap="square" rtlCol="0">
            <a:spAutoFit/>
          </a:bodyPr>
          <a:lstStyle/>
          <a:p>
            <a:r>
              <a:rPr lang="es-ES" sz="2000" dirty="0" smtClean="0">
                <a:latin typeface="Times New Roman" panose="02020603050405020304" pitchFamily="18" charset="0"/>
                <a:cs typeface="Times New Roman" panose="02020603050405020304" pitchFamily="18" charset="0"/>
              </a:rPr>
              <a:t>La activación externa de las neuronas de entrada junto con la función de combinación que las conecta con los nodos de la capa oculta, se </a:t>
            </a:r>
            <a:r>
              <a:rPr lang="es-ES" sz="2000" b="1" dirty="0" smtClean="0">
                <a:latin typeface="Times New Roman" panose="02020603050405020304" pitchFamily="18" charset="0"/>
                <a:cs typeface="Times New Roman" panose="02020603050405020304" pitchFamily="18" charset="0"/>
              </a:rPr>
              <a:t>activan</a:t>
            </a:r>
            <a:r>
              <a:rPr lang="es-ES" sz="2000" dirty="0" smtClean="0">
                <a:latin typeface="Times New Roman" panose="02020603050405020304" pitchFamily="18" charset="0"/>
                <a:cs typeface="Times New Roman" panose="02020603050405020304" pitchFamily="18" charset="0"/>
              </a:rPr>
              <a:t> y pasan a la capa de salida.</a:t>
            </a:r>
            <a:endParaRPr lang="es-E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14959"/>
            <a:ext cx="9999472" cy="615297"/>
          </a:xfrm>
          <a:prstGeom prst="rect">
            <a:avLst/>
          </a:prstGeom>
        </p:spPr>
        <p:txBody>
          <a:bodyPr vert="horz" wrap="square" lIns="0" tIns="24130" rIns="0" bIns="0" rtlCol="0">
            <a:spAutoFit/>
          </a:bodyPr>
          <a:lstStyle/>
          <a:p>
            <a:pPr marL="12700" marR="5080">
              <a:lnSpc>
                <a:spcPct val="96400"/>
              </a:lnSpc>
              <a:spcBef>
                <a:spcPts val="190"/>
              </a:spcBef>
            </a:pPr>
            <a:r>
              <a:rPr sz="2000" spc="-5" dirty="0">
                <a:solidFill>
                  <a:schemeClr val="tx1"/>
                </a:solidFill>
              </a:rPr>
              <a:t>Tras</a:t>
            </a:r>
            <a:r>
              <a:rPr sz="2000" dirty="0">
                <a:solidFill>
                  <a:schemeClr val="tx1"/>
                </a:solidFill>
              </a:rPr>
              <a:t> </a:t>
            </a:r>
            <a:r>
              <a:rPr sz="2000" spc="-5" dirty="0">
                <a:solidFill>
                  <a:schemeClr val="tx1"/>
                </a:solidFill>
              </a:rPr>
              <a:t>aplicar</a:t>
            </a:r>
            <a:r>
              <a:rPr sz="2000" dirty="0">
                <a:solidFill>
                  <a:schemeClr val="tx1"/>
                </a:solidFill>
              </a:rPr>
              <a:t> la </a:t>
            </a:r>
            <a:r>
              <a:rPr sz="2000" spc="-5" dirty="0">
                <a:solidFill>
                  <a:schemeClr val="tx1"/>
                </a:solidFill>
              </a:rPr>
              <a:t>función</a:t>
            </a:r>
            <a:r>
              <a:rPr sz="2000" spc="10" dirty="0">
                <a:solidFill>
                  <a:schemeClr val="tx1"/>
                </a:solidFill>
              </a:rPr>
              <a:t> </a:t>
            </a:r>
            <a:r>
              <a:rPr sz="2000" spc="-5" dirty="0">
                <a:solidFill>
                  <a:schemeClr val="tx1"/>
                </a:solidFill>
              </a:rPr>
              <a:t>de</a:t>
            </a:r>
            <a:r>
              <a:rPr sz="2000" dirty="0">
                <a:solidFill>
                  <a:schemeClr val="tx1"/>
                </a:solidFill>
              </a:rPr>
              <a:t> </a:t>
            </a:r>
            <a:r>
              <a:rPr sz="2000" spc="-5" dirty="0">
                <a:solidFill>
                  <a:schemeClr val="tx1"/>
                </a:solidFill>
              </a:rPr>
              <a:t>combinación,</a:t>
            </a:r>
            <a:r>
              <a:rPr sz="2000" spc="10" dirty="0">
                <a:solidFill>
                  <a:schemeClr val="tx1"/>
                </a:solidFill>
              </a:rPr>
              <a:t> </a:t>
            </a:r>
            <a:r>
              <a:rPr sz="2000" b="1" spc="-5" dirty="0">
                <a:solidFill>
                  <a:schemeClr val="tx1"/>
                </a:solidFill>
              </a:rPr>
              <a:t>aplicamos</a:t>
            </a:r>
            <a:r>
              <a:rPr sz="2000" b="1" spc="5" dirty="0">
                <a:solidFill>
                  <a:schemeClr val="tx1"/>
                </a:solidFill>
              </a:rPr>
              <a:t> </a:t>
            </a:r>
            <a:r>
              <a:rPr sz="2000" b="1" spc="-5" dirty="0">
                <a:solidFill>
                  <a:schemeClr val="tx1"/>
                </a:solidFill>
              </a:rPr>
              <a:t>a</a:t>
            </a:r>
            <a:r>
              <a:rPr sz="2000" b="1" spc="10" dirty="0">
                <a:solidFill>
                  <a:schemeClr val="tx1"/>
                </a:solidFill>
              </a:rPr>
              <a:t> </a:t>
            </a:r>
            <a:r>
              <a:rPr sz="2000" b="1" spc="-5" dirty="0">
                <a:solidFill>
                  <a:schemeClr val="tx1"/>
                </a:solidFill>
              </a:rPr>
              <a:t>cada</a:t>
            </a:r>
            <a:r>
              <a:rPr sz="2000" b="1" dirty="0">
                <a:solidFill>
                  <a:schemeClr val="tx1"/>
                </a:solidFill>
              </a:rPr>
              <a:t> </a:t>
            </a:r>
            <a:r>
              <a:rPr sz="2000" b="1" spc="-5" dirty="0">
                <a:solidFill>
                  <a:schemeClr val="tx1"/>
                </a:solidFill>
              </a:rPr>
              <a:t>nodo</a:t>
            </a:r>
            <a:r>
              <a:rPr sz="2000" b="1" spc="10" dirty="0">
                <a:solidFill>
                  <a:schemeClr val="tx1"/>
                </a:solidFill>
              </a:rPr>
              <a:t> </a:t>
            </a:r>
            <a:r>
              <a:rPr sz="2000" b="1" spc="-5" dirty="0">
                <a:solidFill>
                  <a:schemeClr val="tx1"/>
                </a:solidFill>
              </a:rPr>
              <a:t>oculto</a:t>
            </a:r>
            <a:r>
              <a:rPr sz="2000" b="1" spc="5" dirty="0">
                <a:solidFill>
                  <a:schemeClr val="tx1"/>
                </a:solidFill>
              </a:rPr>
              <a:t> </a:t>
            </a:r>
            <a:r>
              <a:rPr sz="2000" b="1" spc="-5" dirty="0">
                <a:solidFill>
                  <a:schemeClr val="tx1"/>
                </a:solidFill>
              </a:rPr>
              <a:t>la</a:t>
            </a:r>
            <a:r>
              <a:rPr sz="2000" b="1" spc="65" dirty="0">
                <a:solidFill>
                  <a:schemeClr val="tx1"/>
                </a:solidFill>
              </a:rPr>
              <a:t> </a:t>
            </a:r>
            <a:r>
              <a:rPr sz="2000" b="1" spc="-5" dirty="0">
                <a:solidFill>
                  <a:schemeClr val="tx1"/>
                </a:solidFill>
              </a:rPr>
              <a:t>función</a:t>
            </a:r>
            <a:r>
              <a:rPr sz="2000" b="1" dirty="0">
                <a:solidFill>
                  <a:schemeClr val="tx1"/>
                </a:solidFill>
              </a:rPr>
              <a:t> de </a:t>
            </a:r>
            <a:r>
              <a:rPr sz="2000" b="1" spc="-535" dirty="0">
                <a:solidFill>
                  <a:schemeClr val="tx1"/>
                </a:solidFill>
              </a:rPr>
              <a:t> </a:t>
            </a:r>
            <a:r>
              <a:rPr sz="2000" b="1" spc="-5" dirty="0">
                <a:solidFill>
                  <a:schemeClr val="tx1"/>
                </a:solidFill>
              </a:rPr>
              <a:t>activación</a:t>
            </a:r>
            <a:r>
              <a:rPr sz="2000" b="1" spc="5" dirty="0">
                <a:solidFill>
                  <a:schemeClr val="tx1"/>
                </a:solidFill>
              </a:rPr>
              <a:t> </a:t>
            </a:r>
            <a:r>
              <a:rPr sz="2000" b="1" spc="-5" dirty="0">
                <a:solidFill>
                  <a:schemeClr val="tx1"/>
                </a:solidFill>
              </a:rPr>
              <a:t>, representada </a:t>
            </a:r>
            <a:r>
              <a:rPr sz="2000" b="1" dirty="0">
                <a:solidFill>
                  <a:schemeClr val="tx1"/>
                </a:solidFill>
              </a:rPr>
              <a:t>por</a:t>
            </a:r>
            <a:r>
              <a:rPr sz="2000" b="1" spc="15" dirty="0">
                <a:solidFill>
                  <a:schemeClr val="tx1"/>
                </a:solidFill>
              </a:rPr>
              <a:t> </a:t>
            </a:r>
            <a:r>
              <a:rPr sz="2000" b="1" i="1" spc="-5" dirty="0">
                <a:solidFill>
                  <a:schemeClr val="tx1"/>
                </a:solidFill>
              </a:rPr>
              <a:t>f</a:t>
            </a:r>
            <a:r>
              <a:rPr sz="2000" b="1" i="1" spc="-145" dirty="0">
                <a:solidFill>
                  <a:schemeClr val="tx1"/>
                </a:solidFill>
              </a:rPr>
              <a:t> </a:t>
            </a:r>
            <a:r>
              <a:rPr sz="2000" spc="-5" dirty="0">
                <a:solidFill>
                  <a:schemeClr val="tx1"/>
                </a:solidFill>
              </a:rPr>
              <a:t>.</a:t>
            </a:r>
            <a:endParaRPr sz="2000" dirty="0">
              <a:solidFill>
                <a:schemeClr val="tx1"/>
              </a:solidFill>
            </a:endParaRPr>
          </a:p>
        </p:txBody>
      </p:sp>
      <p:sp>
        <p:nvSpPr>
          <p:cNvPr id="3" name="object 3"/>
          <p:cNvSpPr txBox="1"/>
          <p:nvPr/>
        </p:nvSpPr>
        <p:spPr>
          <a:xfrm>
            <a:off x="346963" y="1114425"/>
            <a:ext cx="4864100" cy="681990"/>
          </a:xfrm>
          <a:prstGeom prst="rect">
            <a:avLst/>
          </a:prstGeom>
        </p:spPr>
        <p:txBody>
          <a:bodyPr vert="horz" wrap="square" lIns="0" tIns="34290" rIns="0" bIns="0" rtlCol="0">
            <a:spAutoFit/>
          </a:bodyPr>
          <a:lstStyle/>
          <a:p>
            <a:pPr marL="12700" marR="5080">
              <a:lnSpc>
                <a:spcPts val="2530"/>
              </a:lnSpc>
              <a:spcBef>
                <a:spcPts val="270"/>
              </a:spcBef>
            </a:pPr>
            <a:r>
              <a:rPr sz="2200" spc="-10" dirty="0">
                <a:latin typeface="Times New Roman"/>
                <a:cs typeface="Times New Roman"/>
              </a:rPr>
              <a:t>Una</a:t>
            </a:r>
            <a:r>
              <a:rPr sz="2200" dirty="0">
                <a:latin typeface="Times New Roman"/>
                <a:cs typeface="Times New Roman"/>
              </a:rPr>
              <a:t> </a:t>
            </a:r>
            <a:r>
              <a:rPr sz="2200" spc="-5" dirty="0">
                <a:latin typeface="Times New Roman"/>
                <a:cs typeface="Times New Roman"/>
              </a:rPr>
              <a:t>función</a:t>
            </a:r>
            <a:r>
              <a:rPr sz="2200" dirty="0">
                <a:latin typeface="Times New Roman"/>
                <a:cs typeface="Times New Roman"/>
              </a:rPr>
              <a:t> </a:t>
            </a:r>
            <a:r>
              <a:rPr sz="2200" spc="-5" dirty="0">
                <a:latin typeface="Times New Roman"/>
                <a:cs typeface="Times New Roman"/>
              </a:rPr>
              <a:t>de</a:t>
            </a:r>
            <a:r>
              <a:rPr sz="2200" dirty="0">
                <a:latin typeface="Times New Roman"/>
                <a:cs typeface="Times New Roman"/>
              </a:rPr>
              <a:t> </a:t>
            </a:r>
            <a:r>
              <a:rPr sz="2200" spc="-5" dirty="0">
                <a:solidFill>
                  <a:srgbClr val="C00000"/>
                </a:solidFill>
                <a:latin typeface="Times New Roman"/>
                <a:cs typeface="Times New Roman"/>
              </a:rPr>
              <a:t>activación</a:t>
            </a:r>
            <a:r>
              <a:rPr sz="2200" spc="10" dirty="0">
                <a:solidFill>
                  <a:srgbClr val="C00000"/>
                </a:solidFill>
                <a:latin typeface="Times New Roman"/>
                <a:cs typeface="Times New Roman"/>
              </a:rPr>
              <a:t> </a:t>
            </a:r>
            <a:r>
              <a:rPr sz="2200" spc="-10" dirty="0">
                <a:latin typeface="Times New Roman"/>
                <a:cs typeface="Times New Roman"/>
              </a:rPr>
              <a:t>muy</a:t>
            </a:r>
            <a:r>
              <a:rPr sz="2200" spc="25" dirty="0">
                <a:latin typeface="Times New Roman"/>
                <a:cs typeface="Times New Roman"/>
              </a:rPr>
              <a:t> </a:t>
            </a:r>
            <a:r>
              <a:rPr sz="2200" spc="-5" dirty="0">
                <a:latin typeface="Times New Roman"/>
                <a:cs typeface="Times New Roman"/>
              </a:rPr>
              <a:t>utilizada</a:t>
            </a:r>
            <a:r>
              <a:rPr sz="2200" dirty="0">
                <a:latin typeface="Times New Roman"/>
                <a:cs typeface="Times New Roman"/>
              </a:rPr>
              <a:t> </a:t>
            </a:r>
            <a:r>
              <a:rPr sz="2200" spc="-5" dirty="0">
                <a:latin typeface="Times New Roman"/>
                <a:cs typeface="Times New Roman"/>
              </a:rPr>
              <a:t>es </a:t>
            </a:r>
            <a:r>
              <a:rPr sz="2200" spc="-535" dirty="0">
                <a:latin typeface="Times New Roman"/>
                <a:cs typeface="Times New Roman"/>
              </a:rPr>
              <a:t> </a:t>
            </a:r>
            <a:r>
              <a:rPr sz="2200" spc="-5" dirty="0">
                <a:latin typeface="Times New Roman"/>
                <a:cs typeface="Times New Roman"/>
              </a:rPr>
              <a:t>la</a:t>
            </a:r>
            <a:r>
              <a:rPr sz="2200" spc="-10" dirty="0">
                <a:latin typeface="Times New Roman"/>
                <a:cs typeface="Times New Roman"/>
              </a:rPr>
              <a:t> </a:t>
            </a:r>
            <a:r>
              <a:rPr sz="2200" b="1" spc="-5" dirty="0">
                <a:solidFill>
                  <a:srgbClr val="C00000"/>
                </a:solidFill>
                <a:latin typeface="Times New Roman"/>
                <a:cs typeface="Times New Roman"/>
              </a:rPr>
              <a:t>tangente hiperbólica</a:t>
            </a:r>
            <a:r>
              <a:rPr sz="2200" b="1" spc="-5" dirty="0">
                <a:latin typeface="Times New Roman"/>
                <a:cs typeface="Times New Roman"/>
              </a:rPr>
              <a:t>,</a:t>
            </a:r>
            <a:endParaRPr sz="2200" b="1" dirty="0">
              <a:latin typeface="Times New Roman"/>
              <a:cs typeface="Times New Roman"/>
            </a:endParaRPr>
          </a:p>
        </p:txBody>
      </p:sp>
      <p:sp>
        <p:nvSpPr>
          <p:cNvPr id="4" name="object 4"/>
          <p:cNvSpPr txBox="1"/>
          <p:nvPr/>
        </p:nvSpPr>
        <p:spPr>
          <a:xfrm>
            <a:off x="393700" y="3171825"/>
            <a:ext cx="5273039" cy="2574422"/>
          </a:xfrm>
          <a:prstGeom prst="rect">
            <a:avLst/>
          </a:prstGeom>
        </p:spPr>
        <p:txBody>
          <a:bodyPr vert="horz" wrap="square" lIns="0" tIns="32384" rIns="0" bIns="0" rtlCol="0">
            <a:spAutoFit/>
          </a:bodyPr>
          <a:lstStyle/>
          <a:p>
            <a:pPr marL="12700" marR="5080">
              <a:lnSpc>
                <a:spcPts val="2310"/>
              </a:lnSpc>
              <a:spcBef>
                <a:spcPts val="254"/>
              </a:spcBef>
            </a:pPr>
            <a:r>
              <a:rPr sz="2000" spc="-5" dirty="0">
                <a:latin typeface="Times New Roman"/>
                <a:cs typeface="Times New Roman"/>
              </a:rPr>
              <a:t>Aplicando</a:t>
            </a:r>
            <a:r>
              <a:rPr sz="2000" dirty="0">
                <a:latin typeface="Times New Roman"/>
                <a:cs typeface="Times New Roman"/>
              </a:rPr>
              <a:t> la</a:t>
            </a:r>
            <a:r>
              <a:rPr sz="2000" spc="-10" dirty="0">
                <a:latin typeface="Times New Roman"/>
                <a:cs typeface="Times New Roman"/>
              </a:rPr>
              <a:t> </a:t>
            </a:r>
            <a:r>
              <a:rPr sz="2000" spc="-5" dirty="0">
                <a:latin typeface="Times New Roman"/>
                <a:cs typeface="Times New Roman"/>
              </a:rPr>
              <a:t>función</a:t>
            </a:r>
            <a:r>
              <a:rPr sz="2000" dirty="0">
                <a:latin typeface="Times New Roman"/>
                <a:cs typeface="Times New Roman"/>
              </a:rPr>
              <a:t> de</a:t>
            </a:r>
            <a:r>
              <a:rPr sz="2000" spc="-5" dirty="0">
                <a:latin typeface="Times New Roman"/>
                <a:cs typeface="Times New Roman"/>
              </a:rPr>
              <a:t> activación</a:t>
            </a:r>
            <a:r>
              <a:rPr sz="2000" spc="1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cada</a:t>
            </a:r>
            <a:r>
              <a:rPr sz="2000" spc="-5" dirty="0">
                <a:latin typeface="Times New Roman"/>
                <a:cs typeface="Times New Roman"/>
              </a:rPr>
              <a:t> </a:t>
            </a:r>
            <a:r>
              <a:rPr sz="2000" dirty="0" err="1">
                <a:latin typeface="Times New Roman"/>
                <a:cs typeface="Times New Roman"/>
              </a:rPr>
              <a:t>nodo</a:t>
            </a:r>
            <a:r>
              <a:rPr sz="2000" dirty="0">
                <a:latin typeface="Times New Roman"/>
                <a:cs typeface="Times New Roman"/>
              </a:rPr>
              <a:t> </a:t>
            </a:r>
            <a:r>
              <a:rPr sz="2000" spc="-484" dirty="0">
                <a:latin typeface="Times New Roman"/>
                <a:cs typeface="Times New Roman"/>
              </a:rPr>
              <a:t> </a:t>
            </a:r>
            <a:r>
              <a:rPr sz="2000" dirty="0" err="1" smtClean="0">
                <a:latin typeface="Times New Roman"/>
                <a:cs typeface="Times New Roman"/>
              </a:rPr>
              <a:t>oculto</a:t>
            </a:r>
            <a:r>
              <a:rPr lang="es-ES" sz="2000" dirty="0" smtClean="0">
                <a:latin typeface="Times New Roman"/>
                <a:cs typeface="Times New Roman"/>
              </a:rPr>
              <a:t> (que ya ha recibido la combinación con los nodos de la capa de entrada)</a:t>
            </a:r>
            <a:r>
              <a:rPr sz="2000" dirty="0" smtClean="0">
                <a:latin typeface="Times New Roman"/>
                <a:cs typeface="Times New Roman"/>
              </a:rPr>
              <a:t>:</a:t>
            </a:r>
            <a:endParaRPr sz="2000" dirty="0">
              <a:latin typeface="Times New Roman"/>
              <a:cs typeface="Times New Roman"/>
            </a:endParaRPr>
          </a:p>
          <a:p>
            <a:pPr>
              <a:lnSpc>
                <a:spcPct val="100000"/>
              </a:lnSpc>
            </a:pPr>
            <a:endParaRPr sz="1850" dirty="0">
              <a:latin typeface="Times New Roman"/>
              <a:cs typeface="Times New Roman"/>
            </a:endParaRPr>
          </a:p>
          <a:p>
            <a:pPr marL="12700">
              <a:lnSpc>
                <a:spcPts val="2340"/>
              </a:lnSpc>
            </a:pPr>
            <a:r>
              <a:rPr sz="2000" spc="-5" dirty="0" smtClean="0">
                <a:latin typeface="Times New Roman"/>
                <a:cs typeface="Times New Roman"/>
              </a:rPr>
              <a:t>H1=</a:t>
            </a:r>
            <a:r>
              <a:rPr sz="2000" spc="-5" dirty="0" err="1" smtClean="0">
                <a:latin typeface="Times New Roman"/>
                <a:cs typeface="Times New Roman"/>
              </a:rPr>
              <a:t>tanh</a:t>
            </a:r>
            <a:r>
              <a:rPr sz="2000" spc="-5" dirty="0" smtClean="0">
                <a:latin typeface="Times New Roman"/>
                <a:cs typeface="Times New Roman"/>
              </a:rPr>
              <a:t>(</a:t>
            </a:r>
            <a:r>
              <a:rPr sz="2400" spc="-5" dirty="0" smtClean="0">
                <a:latin typeface="Times New Roman"/>
                <a:cs typeface="Times New Roman"/>
              </a:rPr>
              <a:t>w</a:t>
            </a:r>
            <a:r>
              <a:rPr sz="1400" spc="-5" dirty="0" smtClean="0">
                <a:latin typeface="Times New Roman"/>
                <a:cs typeface="Times New Roman"/>
              </a:rPr>
              <a:t>11</a:t>
            </a:r>
            <a:r>
              <a:rPr sz="2000" spc="-5" dirty="0" smtClean="0">
                <a:latin typeface="Times New Roman"/>
                <a:cs typeface="Times New Roman"/>
              </a:rPr>
              <a:t>X1</a:t>
            </a:r>
            <a:r>
              <a:rPr sz="2400" spc="-5" dirty="0" smtClean="0">
                <a:latin typeface="Times New Roman"/>
                <a:cs typeface="Times New Roman"/>
              </a:rPr>
              <a:t>+w</a:t>
            </a:r>
            <a:r>
              <a:rPr sz="1400" spc="-5" dirty="0" smtClean="0">
                <a:latin typeface="Times New Roman"/>
                <a:cs typeface="Times New Roman"/>
              </a:rPr>
              <a:t>21</a:t>
            </a:r>
            <a:r>
              <a:rPr sz="2000" spc="-5" dirty="0" smtClean="0">
                <a:latin typeface="Times New Roman"/>
                <a:cs typeface="Times New Roman"/>
              </a:rPr>
              <a:t>X</a:t>
            </a:r>
            <a:r>
              <a:rPr lang="es-ES" sz="2000" spc="-5" dirty="0" smtClean="0">
                <a:latin typeface="Times New Roman"/>
                <a:cs typeface="Times New Roman"/>
              </a:rPr>
              <a:t>2+</a:t>
            </a:r>
            <a:r>
              <a:rPr sz="2400" spc="-5" dirty="0" smtClean="0">
                <a:latin typeface="Times New Roman"/>
                <a:cs typeface="Times New Roman"/>
              </a:rPr>
              <a:t>w</a:t>
            </a:r>
            <a:r>
              <a:rPr sz="1400" spc="-5" dirty="0" smtClean="0">
                <a:latin typeface="Times New Roman"/>
                <a:cs typeface="Times New Roman"/>
              </a:rPr>
              <a:t>31</a:t>
            </a:r>
            <a:r>
              <a:rPr sz="2000" spc="-5" dirty="0" smtClean="0">
                <a:latin typeface="Times New Roman"/>
                <a:cs typeface="Times New Roman"/>
              </a:rPr>
              <a:t>X3+</a:t>
            </a:r>
            <a:r>
              <a:rPr sz="2400" spc="-5" dirty="0" smtClean="0">
                <a:latin typeface="Times New Roman"/>
                <a:cs typeface="Times New Roman"/>
              </a:rPr>
              <a:t>w</a:t>
            </a:r>
            <a:r>
              <a:rPr sz="1400" spc="-5" dirty="0" smtClean="0">
                <a:latin typeface="Times New Roman"/>
                <a:cs typeface="Times New Roman"/>
              </a:rPr>
              <a:t>41</a:t>
            </a:r>
            <a:r>
              <a:rPr sz="2000" spc="-5" dirty="0" smtClean="0">
                <a:latin typeface="Times New Roman"/>
                <a:cs typeface="Times New Roman"/>
              </a:rPr>
              <a:t>X4+</a:t>
            </a:r>
            <a:r>
              <a:rPr sz="2400" spc="-5" dirty="0" smtClean="0">
                <a:solidFill>
                  <a:srgbClr val="1F487C"/>
                </a:solidFill>
                <a:latin typeface="Times New Roman"/>
                <a:cs typeface="Times New Roman"/>
              </a:rPr>
              <a:t>b</a:t>
            </a:r>
            <a:r>
              <a:rPr sz="1400" spc="-5" dirty="0" smtClean="0">
                <a:solidFill>
                  <a:srgbClr val="1F487C"/>
                </a:solidFill>
                <a:latin typeface="Times New Roman"/>
                <a:cs typeface="Times New Roman"/>
              </a:rPr>
              <a:t>1</a:t>
            </a:r>
            <a:r>
              <a:rPr sz="2000" spc="-5" dirty="0" smtClean="0">
                <a:latin typeface="Times New Roman"/>
                <a:cs typeface="Times New Roman"/>
              </a:rPr>
              <a:t>)</a:t>
            </a:r>
            <a:endParaRPr sz="2050" dirty="0">
              <a:latin typeface="Times New Roman"/>
              <a:cs typeface="Times New Roman"/>
            </a:endParaRPr>
          </a:p>
          <a:p>
            <a:pPr marL="12700" marR="99060" algn="just">
              <a:lnSpc>
                <a:spcPts val="2760"/>
              </a:lnSpc>
            </a:pPr>
            <a:r>
              <a:rPr sz="2000" spc="-5" dirty="0">
                <a:latin typeface="Times New Roman"/>
                <a:cs typeface="Times New Roman"/>
              </a:rPr>
              <a:t>H2=tanh(</a:t>
            </a:r>
            <a:r>
              <a:rPr sz="2400" spc="-5" dirty="0">
                <a:latin typeface="Times New Roman"/>
                <a:cs typeface="Times New Roman"/>
              </a:rPr>
              <a:t>w</a:t>
            </a:r>
            <a:r>
              <a:rPr sz="1400" spc="-5" dirty="0">
                <a:latin typeface="Times New Roman"/>
                <a:cs typeface="Times New Roman"/>
              </a:rPr>
              <a:t>12</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22</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32</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42</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2</a:t>
            </a:r>
            <a:r>
              <a:rPr sz="2000" spc="-5" dirty="0">
                <a:latin typeface="Times New Roman"/>
                <a:cs typeface="Times New Roman"/>
              </a:rPr>
              <a:t>) </a:t>
            </a:r>
            <a:r>
              <a:rPr sz="2000" spc="-490" dirty="0">
                <a:latin typeface="Times New Roman"/>
                <a:cs typeface="Times New Roman"/>
              </a:rPr>
              <a:t> </a:t>
            </a:r>
            <a:r>
              <a:rPr sz="2000" spc="-5" dirty="0">
                <a:latin typeface="Times New Roman"/>
                <a:cs typeface="Times New Roman"/>
              </a:rPr>
              <a:t>H3=tanh(</a:t>
            </a:r>
            <a:r>
              <a:rPr sz="2400" spc="-5" dirty="0">
                <a:latin typeface="Times New Roman"/>
                <a:cs typeface="Times New Roman"/>
              </a:rPr>
              <a:t>w</a:t>
            </a:r>
            <a:r>
              <a:rPr sz="1400" spc="-5" dirty="0">
                <a:latin typeface="Times New Roman"/>
                <a:cs typeface="Times New Roman"/>
              </a:rPr>
              <a:t>13</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23</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33</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43</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3</a:t>
            </a:r>
            <a:r>
              <a:rPr sz="2000" spc="-5" dirty="0">
                <a:latin typeface="Times New Roman"/>
                <a:cs typeface="Times New Roman"/>
              </a:rPr>
              <a:t>) </a:t>
            </a:r>
            <a:r>
              <a:rPr sz="2000" spc="-490" dirty="0">
                <a:latin typeface="Times New Roman"/>
                <a:cs typeface="Times New Roman"/>
              </a:rPr>
              <a:t> </a:t>
            </a:r>
            <a:r>
              <a:rPr sz="2000" spc="-5" dirty="0">
                <a:latin typeface="Times New Roman"/>
                <a:cs typeface="Times New Roman"/>
              </a:rPr>
              <a:t>H4=tanh(</a:t>
            </a:r>
            <a:r>
              <a:rPr sz="2400" spc="-5" dirty="0">
                <a:latin typeface="Times New Roman"/>
                <a:cs typeface="Times New Roman"/>
              </a:rPr>
              <a:t>w</a:t>
            </a:r>
            <a:r>
              <a:rPr sz="1400" spc="-5" dirty="0">
                <a:latin typeface="Times New Roman"/>
                <a:cs typeface="Times New Roman"/>
              </a:rPr>
              <a:t>14</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24</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34</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44</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4</a:t>
            </a:r>
            <a:r>
              <a:rPr sz="2000" spc="-5" dirty="0">
                <a:latin typeface="Times New Roman"/>
                <a:cs typeface="Times New Roman"/>
              </a:rPr>
              <a:t>)</a:t>
            </a:r>
            <a:endParaRPr sz="2000" dirty="0">
              <a:latin typeface="Times New Roman"/>
              <a:cs typeface="Times New Roman"/>
            </a:endParaRPr>
          </a:p>
        </p:txBody>
      </p:sp>
      <p:grpSp>
        <p:nvGrpSpPr>
          <p:cNvPr id="5" name="object 5"/>
          <p:cNvGrpSpPr/>
          <p:nvPr/>
        </p:nvGrpSpPr>
        <p:grpSpPr>
          <a:xfrm>
            <a:off x="3670300" y="1343025"/>
            <a:ext cx="6579234" cy="3386454"/>
            <a:chOff x="3649979" y="1652905"/>
            <a:chExt cx="6579234" cy="3386454"/>
          </a:xfrm>
        </p:grpSpPr>
        <p:pic>
          <p:nvPicPr>
            <p:cNvPr id="6" name="object 6"/>
            <p:cNvPicPr/>
            <p:nvPr/>
          </p:nvPicPr>
          <p:blipFill>
            <a:blip r:embed="rId2" cstate="print"/>
            <a:stretch>
              <a:fillRect/>
            </a:stretch>
          </p:blipFill>
          <p:spPr>
            <a:xfrm>
              <a:off x="5379719" y="1652905"/>
              <a:ext cx="4849198" cy="3386454"/>
            </a:xfrm>
            <a:prstGeom prst="rect">
              <a:avLst/>
            </a:prstGeom>
          </p:spPr>
        </p:pic>
        <p:pic>
          <p:nvPicPr>
            <p:cNvPr id="7" name="object 7"/>
            <p:cNvPicPr/>
            <p:nvPr/>
          </p:nvPicPr>
          <p:blipFill>
            <a:blip r:embed="rId3" cstate="print"/>
            <a:stretch>
              <a:fillRect/>
            </a:stretch>
          </p:blipFill>
          <p:spPr>
            <a:xfrm>
              <a:off x="3649979" y="1877695"/>
              <a:ext cx="1996439" cy="1666875"/>
            </a:xfrm>
            <a:prstGeom prst="rect">
              <a:avLst/>
            </a:prstGeom>
          </p:spPr>
        </p:pic>
      </p:grpSp>
      <p:pic>
        <p:nvPicPr>
          <p:cNvPr id="8" name="object 8"/>
          <p:cNvPicPr/>
          <p:nvPr/>
        </p:nvPicPr>
        <p:blipFill>
          <a:blip r:embed="rId4" cstate="print"/>
          <a:stretch>
            <a:fillRect/>
          </a:stretch>
        </p:blipFill>
        <p:spPr>
          <a:xfrm>
            <a:off x="467617" y="2105025"/>
            <a:ext cx="2768473" cy="376925"/>
          </a:xfrm>
          <a:prstGeom prst="rect">
            <a:avLst/>
          </a:prstGeom>
        </p:spPr>
      </p:pic>
      <p:sp>
        <p:nvSpPr>
          <p:cNvPr id="9" name="CuadroTexto 8"/>
          <p:cNvSpPr txBox="1"/>
          <p:nvPr/>
        </p:nvSpPr>
        <p:spPr>
          <a:xfrm>
            <a:off x="346963" y="5825657"/>
            <a:ext cx="9451083" cy="1015663"/>
          </a:xfrm>
          <a:prstGeom prst="rect">
            <a:avLst/>
          </a:prstGeom>
          <a:noFill/>
        </p:spPr>
        <p:txBody>
          <a:bodyPr wrap="square" rtlCol="0">
            <a:spAutoFit/>
          </a:bodyPr>
          <a:lstStyle/>
          <a:p>
            <a:r>
              <a:rPr lang="es-ES" sz="2000" b="1" dirty="0" smtClean="0">
                <a:solidFill>
                  <a:srgbClr val="FF0000"/>
                </a:solidFill>
                <a:latin typeface="Times New Roman" panose="02020603050405020304" pitchFamily="18" charset="0"/>
                <a:cs typeface="Times New Roman" panose="02020603050405020304" pitchFamily="18" charset="0"/>
              </a:rPr>
              <a:t>Las funciones de activación son la “entrada” a la siguiente capa; bien sea otra capa oculta, si es que hay más, o la capa de salida.</a:t>
            </a:r>
          </a:p>
          <a:p>
            <a:r>
              <a:rPr lang="es-ES" sz="2000" dirty="0" smtClean="0">
                <a:latin typeface="Times New Roman" panose="02020603050405020304" pitchFamily="18" charset="0"/>
                <a:cs typeface="Times New Roman" panose="02020603050405020304" pitchFamily="18" charset="0"/>
              </a:rPr>
              <a:t>En general, dentro de la misma capa se suele usar la misma función de activación.</a:t>
            </a:r>
            <a:endParaRPr lang="es-ES" sz="2000" dirty="0">
              <a:latin typeface="Times New Roman" panose="02020603050405020304" pitchFamily="18" charset="0"/>
              <a:cs typeface="Times New Roman" panose="02020603050405020304" pitchFamily="18" charset="0"/>
            </a:endParaRPr>
          </a:p>
        </p:txBody>
      </p:sp>
      <p:sp>
        <p:nvSpPr>
          <p:cNvPr id="10" name="Elipse 9"/>
          <p:cNvSpPr/>
          <p:nvPr/>
        </p:nvSpPr>
        <p:spPr>
          <a:xfrm>
            <a:off x="8394700" y="1792649"/>
            <a:ext cx="457200" cy="3086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p:cNvSpPr txBox="1"/>
          <p:nvPr/>
        </p:nvSpPr>
        <p:spPr>
          <a:xfrm>
            <a:off x="8370062" y="1173431"/>
            <a:ext cx="2025654" cy="461665"/>
          </a:xfrm>
          <a:prstGeom prst="rect">
            <a:avLst/>
          </a:prstGeom>
          <a:noFill/>
          <a:ln>
            <a:solidFill>
              <a:srgbClr val="002060"/>
            </a:solidFill>
          </a:ln>
        </p:spPr>
        <p:txBody>
          <a:bodyPr wrap="square" rtlCol="0">
            <a:spAutoFit/>
          </a:bodyPr>
          <a:lstStyle/>
          <a:p>
            <a:r>
              <a:rPr lang="es-ES" sz="1200" dirty="0" smtClean="0">
                <a:solidFill>
                  <a:srgbClr val="002060"/>
                </a:solidFill>
              </a:rPr>
              <a:t>Peso que conecta cada nodo oculto con el nodo de salida</a:t>
            </a:r>
            <a:endParaRPr lang="es-ES" sz="1200" dirty="0">
              <a:solidFill>
                <a:srgbClr val="002060"/>
              </a:solidFill>
            </a:endParaRPr>
          </a:p>
        </p:txBody>
      </p:sp>
      <p:cxnSp>
        <p:nvCxnSpPr>
          <p:cNvPr id="13" name="Conector recto de flecha 12"/>
          <p:cNvCxnSpPr/>
          <p:nvPr/>
        </p:nvCxnSpPr>
        <p:spPr>
          <a:xfrm flipH="1">
            <a:off x="8851901" y="1673353"/>
            <a:ext cx="530988" cy="232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14959"/>
            <a:ext cx="9999472" cy="335156"/>
          </a:xfrm>
          <a:prstGeom prst="rect">
            <a:avLst/>
          </a:prstGeom>
        </p:spPr>
        <p:txBody>
          <a:bodyPr vert="horz" wrap="square" lIns="0" tIns="34290" rIns="0" bIns="0" rtlCol="0">
            <a:spAutoFit/>
          </a:bodyPr>
          <a:lstStyle/>
          <a:p>
            <a:pPr marL="12700" marR="5080">
              <a:lnSpc>
                <a:spcPts val="2530"/>
              </a:lnSpc>
              <a:spcBef>
                <a:spcPts val="270"/>
              </a:spcBef>
            </a:pPr>
            <a:r>
              <a:rPr sz="2000" spc="-5" dirty="0">
                <a:solidFill>
                  <a:schemeClr val="tx1"/>
                </a:solidFill>
              </a:rPr>
              <a:t>Finalmente</a:t>
            </a:r>
            <a:r>
              <a:rPr sz="2000" dirty="0">
                <a:solidFill>
                  <a:schemeClr val="tx1"/>
                </a:solidFill>
              </a:rPr>
              <a:t> </a:t>
            </a:r>
            <a:r>
              <a:rPr sz="2000" spc="-5" dirty="0">
                <a:solidFill>
                  <a:schemeClr val="tx1"/>
                </a:solidFill>
              </a:rPr>
              <a:t>aplicamos</a:t>
            </a:r>
            <a:r>
              <a:rPr sz="2000" spc="10" dirty="0">
                <a:solidFill>
                  <a:schemeClr val="tx1"/>
                </a:solidFill>
              </a:rPr>
              <a:t> </a:t>
            </a:r>
            <a:r>
              <a:rPr sz="2000" spc="-5" dirty="0">
                <a:solidFill>
                  <a:schemeClr val="tx1"/>
                </a:solidFill>
              </a:rPr>
              <a:t>combinación</a:t>
            </a:r>
            <a:r>
              <a:rPr sz="2000" dirty="0">
                <a:solidFill>
                  <a:schemeClr val="tx1"/>
                </a:solidFill>
              </a:rPr>
              <a:t> </a:t>
            </a:r>
            <a:r>
              <a:rPr sz="2000" spc="-5" dirty="0">
                <a:solidFill>
                  <a:schemeClr val="tx1"/>
                </a:solidFill>
              </a:rPr>
              <a:t>y</a:t>
            </a:r>
            <a:r>
              <a:rPr sz="2000" spc="15" dirty="0">
                <a:solidFill>
                  <a:schemeClr val="tx1"/>
                </a:solidFill>
              </a:rPr>
              <a:t> </a:t>
            </a:r>
            <a:r>
              <a:rPr sz="2000" spc="-5" dirty="0">
                <a:solidFill>
                  <a:schemeClr val="tx1"/>
                </a:solidFill>
              </a:rPr>
              <a:t>después</a:t>
            </a:r>
            <a:r>
              <a:rPr sz="2000" dirty="0">
                <a:solidFill>
                  <a:schemeClr val="tx1"/>
                </a:solidFill>
              </a:rPr>
              <a:t> </a:t>
            </a:r>
            <a:r>
              <a:rPr sz="2000" spc="-5" dirty="0">
                <a:solidFill>
                  <a:schemeClr val="tx1"/>
                </a:solidFill>
              </a:rPr>
              <a:t>activación</a:t>
            </a:r>
            <a:r>
              <a:rPr sz="2000" spc="15" dirty="0">
                <a:solidFill>
                  <a:schemeClr val="tx1"/>
                </a:solidFill>
              </a:rPr>
              <a:t> </a:t>
            </a:r>
            <a:r>
              <a:rPr sz="2000" dirty="0">
                <a:solidFill>
                  <a:schemeClr val="tx1"/>
                </a:solidFill>
              </a:rPr>
              <a:t>de</a:t>
            </a:r>
            <a:r>
              <a:rPr sz="2000" spc="5" dirty="0">
                <a:solidFill>
                  <a:schemeClr val="tx1"/>
                </a:solidFill>
              </a:rPr>
              <a:t> </a:t>
            </a:r>
            <a:r>
              <a:rPr sz="2000" spc="-5" dirty="0">
                <a:solidFill>
                  <a:schemeClr val="tx1"/>
                </a:solidFill>
              </a:rPr>
              <a:t>la</a:t>
            </a:r>
            <a:r>
              <a:rPr sz="2000" spc="5" dirty="0">
                <a:solidFill>
                  <a:schemeClr val="tx1"/>
                </a:solidFill>
              </a:rPr>
              <a:t> </a:t>
            </a:r>
            <a:r>
              <a:rPr sz="2000" spc="-5" dirty="0">
                <a:solidFill>
                  <a:schemeClr val="tx1"/>
                </a:solidFill>
              </a:rPr>
              <a:t>capa</a:t>
            </a:r>
            <a:r>
              <a:rPr sz="2000" dirty="0">
                <a:solidFill>
                  <a:schemeClr val="tx1"/>
                </a:solidFill>
              </a:rPr>
              <a:t> </a:t>
            </a:r>
            <a:r>
              <a:rPr sz="2000" spc="-5" dirty="0">
                <a:solidFill>
                  <a:schemeClr val="tx1"/>
                </a:solidFill>
              </a:rPr>
              <a:t>oculta</a:t>
            </a:r>
            <a:r>
              <a:rPr sz="2000" spc="5" dirty="0">
                <a:solidFill>
                  <a:schemeClr val="tx1"/>
                </a:solidFill>
              </a:rPr>
              <a:t> </a:t>
            </a:r>
            <a:r>
              <a:rPr sz="2000" spc="-5" dirty="0">
                <a:solidFill>
                  <a:schemeClr val="tx1"/>
                </a:solidFill>
              </a:rPr>
              <a:t>a</a:t>
            </a:r>
            <a:r>
              <a:rPr sz="2000" spc="5" dirty="0">
                <a:solidFill>
                  <a:schemeClr val="tx1"/>
                </a:solidFill>
              </a:rPr>
              <a:t> </a:t>
            </a:r>
            <a:r>
              <a:rPr sz="2000" spc="-5" dirty="0">
                <a:solidFill>
                  <a:schemeClr val="tx1"/>
                </a:solidFill>
              </a:rPr>
              <a:t>la</a:t>
            </a:r>
            <a:r>
              <a:rPr sz="2000" spc="5" dirty="0">
                <a:solidFill>
                  <a:schemeClr val="tx1"/>
                </a:solidFill>
              </a:rPr>
              <a:t> </a:t>
            </a:r>
            <a:r>
              <a:rPr sz="2000" spc="-5" dirty="0">
                <a:solidFill>
                  <a:schemeClr val="tx1"/>
                </a:solidFill>
              </a:rPr>
              <a:t>capa </a:t>
            </a:r>
            <a:r>
              <a:rPr sz="2000" spc="-535" dirty="0">
                <a:solidFill>
                  <a:schemeClr val="tx1"/>
                </a:solidFill>
              </a:rPr>
              <a:t> </a:t>
            </a:r>
            <a:r>
              <a:rPr sz="2000" spc="-5" dirty="0">
                <a:solidFill>
                  <a:schemeClr val="tx1"/>
                </a:solidFill>
              </a:rPr>
              <a:t>output</a:t>
            </a:r>
            <a:endParaRPr sz="2000" dirty="0">
              <a:solidFill>
                <a:schemeClr val="tx1"/>
              </a:solidFill>
            </a:endParaRPr>
          </a:p>
        </p:txBody>
      </p:sp>
      <p:sp>
        <p:nvSpPr>
          <p:cNvPr id="3" name="object 3"/>
          <p:cNvSpPr txBox="1"/>
          <p:nvPr/>
        </p:nvSpPr>
        <p:spPr>
          <a:xfrm>
            <a:off x="346963" y="4182236"/>
            <a:ext cx="9419337" cy="3264355"/>
          </a:xfrm>
          <a:prstGeom prst="rect">
            <a:avLst/>
          </a:prstGeom>
        </p:spPr>
        <p:txBody>
          <a:bodyPr vert="horz" wrap="square" lIns="0" tIns="12065" rIns="0" bIns="0" rtlCol="0">
            <a:spAutoFit/>
          </a:bodyPr>
          <a:lstStyle/>
          <a:p>
            <a:pPr marL="12700">
              <a:lnSpc>
                <a:spcPts val="2575"/>
              </a:lnSpc>
              <a:spcBef>
                <a:spcPts val="95"/>
              </a:spcBef>
            </a:pPr>
            <a:r>
              <a:rPr sz="2000" spc="-5" dirty="0">
                <a:latin typeface="Times New Roman"/>
                <a:cs typeface="Times New Roman"/>
              </a:rPr>
              <a:t>Combinación</a:t>
            </a:r>
            <a:r>
              <a:rPr sz="2000" spc="5" dirty="0">
                <a:latin typeface="Times New Roman"/>
                <a:cs typeface="Times New Roman"/>
              </a:rPr>
              <a:t> </a:t>
            </a:r>
            <a:r>
              <a:rPr sz="2000" spc="-5" dirty="0">
                <a:latin typeface="Times New Roman"/>
                <a:cs typeface="Times New Roman"/>
              </a:rPr>
              <a:t>de</a:t>
            </a:r>
            <a:r>
              <a:rPr sz="2000" dirty="0">
                <a:latin typeface="Times New Roman"/>
                <a:cs typeface="Times New Roman"/>
              </a:rPr>
              <a:t> </a:t>
            </a:r>
            <a:r>
              <a:rPr sz="2000" spc="-5" dirty="0">
                <a:latin typeface="Times New Roman"/>
                <a:cs typeface="Times New Roman"/>
              </a:rPr>
              <a:t>los</a:t>
            </a:r>
            <a:r>
              <a:rPr sz="2000" dirty="0">
                <a:latin typeface="Times New Roman"/>
                <a:cs typeface="Times New Roman"/>
              </a:rPr>
              <a:t> </a:t>
            </a:r>
            <a:r>
              <a:rPr sz="2000" spc="-5" dirty="0">
                <a:latin typeface="Times New Roman"/>
                <a:cs typeface="Times New Roman"/>
              </a:rPr>
              <a:t>nodos</a:t>
            </a:r>
            <a:r>
              <a:rPr sz="2000" spc="-10" dirty="0">
                <a:latin typeface="Times New Roman"/>
                <a:cs typeface="Times New Roman"/>
              </a:rPr>
              <a:t> </a:t>
            </a:r>
            <a:r>
              <a:rPr sz="2000" spc="-5" dirty="0">
                <a:latin typeface="Times New Roman"/>
                <a:cs typeface="Times New Roman"/>
              </a:rPr>
              <a:t>de</a:t>
            </a:r>
            <a:r>
              <a:rPr sz="2000" dirty="0">
                <a:latin typeface="Times New Roman"/>
                <a:cs typeface="Times New Roman"/>
              </a:rPr>
              <a:t> </a:t>
            </a:r>
            <a:r>
              <a:rPr sz="2000" spc="-5" dirty="0">
                <a:latin typeface="Times New Roman"/>
                <a:cs typeface="Times New Roman"/>
              </a:rPr>
              <a:t>la capa</a:t>
            </a:r>
            <a:r>
              <a:rPr sz="2000" dirty="0">
                <a:latin typeface="Times New Roman"/>
                <a:cs typeface="Times New Roman"/>
              </a:rPr>
              <a:t> </a:t>
            </a:r>
            <a:r>
              <a:rPr sz="2000" spc="-5" dirty="0">
                <a:latin typeface="Times New Roman"/>
                <a:cs typeface="Times New Roman"/>
              </a:rPr>
              <a:t>oculta:</a:t>
            </a:r>
            <a:endParaRPr sz="2000" dirty="0">
              <a:latin typeface="Times New Roman"/>
              <a:cs typeface="Times New Roman"/>
            </a:endParaRPr>
          </a:p>
          <a:p>
            <a:pPr marL="12700">
              <a:lnSpc>
                <a:spcPts val="2815"/>
              </a:lnSpc>
            </a:pPr>
            <a:r>
              <a:rPr sz="2000" spc="-5" dirty="0" smtClean="0">
                <a:latin typeface="Times New Roman"/>
                <a:cs typeface="Times New Roman"/>
              </a:rPr>
              <a:t>Y=w</a:t>
            </a:r>
            <a:r>
              <a:rPr sz="2000" spc="-5" baseline="-25000" dirty="0" smtClean="0">
                <a:latin typeface="Times New Roman"/>
                <a:cs typeface="Times New Roman"/>
              </a:rPr>
              <a:t>1,out</a:t>
            </a:r>
            <a:r>
              <a:rPr sz="2000" spc="-5" dirty="0" smtClean="0">
                <a:latin typeface="Times New Roman"/>
                <a:cs typeface="Times New Roman"/>
              </a:rPr>
              <a:t>H1+w</a:t>
            </a:r>
            <a:r>
              <a:rPr sz="2000" spc="-5" baseline="-25000" dirty="0" smtClean="0">
                <a:latin typeface="Times New Roman"/>
                <a:cs typeface="Times New Roman"/>
              </a:rPr>
              <a:t>2</a:t>
            </a:r>
            <a:r>
              <a:rPr lang="es-ES" sz="2000" spc="-5" baseline="-25000" dirty="0" smtClean="0">
                <a:latin typeface="Times New Roman"/>
                <a:cs typeface="Times New Roman"/>
              </a:rPr>
              <a:t>,</a:t>
            </a:r>
            <a:r>
              <a:rPr sz="2000" spc="-5" baseline="-25000" dirty="0" smtClean="0">
                <a:latin typeface="Times New Roman"/>
                <a:cs typeface="Times New Roman"/>
              </a:rPr>
              <a:t>out</a:t>
            </a:r>
            <a:r>
              <a:rPr sz="2000" spc="-5" dirty="0" smtClean="0">
                <a:latin typeface="Times New Roman"/>
                <a:cs typeface="Times New Roman"/>
              </a:rPr>
              <a:t>H2+w</a:t>
            </a:r>
            <a:r>
              <a:rPr sz="2000" spc="-5" baseline="-25000" dirty="0" smtClean="0">
                <a:latin typeface="Times New Roman"/>
                <a:cs typeface="Times New Roman"/>
              </a:rPr>
              <a:t>3,out</a:t>
            </a:r>
            <a:r>
              <a:rPr sz="2000" spc="-5" dirty="0" smtClean="0">
                <a:latin typeface="Times New Roman"/>
                <a:cs typeface="Times New Roman"/>
              </a:rPr>
              <a:t>H3+w4</a:t>
            </a:r>
            <a:r>
              <a:rPr sz="2000" spc="-5" baseline="-25000" dirty="0" smtClean="0">
                <a:latin typeface="Times New Roman"/>
                <a:cs typeface="Times New Roman"/>
              </a:rPr>
              <a:t>,out</a:t>
            </a:r>
            <a:r>
              <a:rPr sz="2000" spc="-5" dirty="0" smtClean="0">
                <a:latin typeface="Times New Roman"/>
                <a:cs typeface="Times New Roman"/>
              </a:rPr>
              <a:t>H4+</a:t>
            </a:r>
            <a:r>
              <a:rPr sz="2000" spc="-5" dirty="0" smtClean="0">
                <a:solidFill>
                  <a:srgbClr val="1F487C"/>
                </a:solidFill>
                <a:latin typeface="Times New Roman"/>
                <a:cs typeface="Times New Roman"/>
              </a:rPr>
              <a:t>bout</a:t>
            </a:r>
            <a:endParaRPr sz="2000" dirty="0">
              <a:latin typeface="Times New Roman"/>
              <a:cs typeface="Times New Roman"/>
            </a:endParaRPr>
          </a:p>
          <a:p>
            <a:pPr>
              <a:lnSpc>
                <a:spcPct val="100000"/>
              </a:lnSpc>
              <a:spcBef>
                <a:spcPts val="15"/>
              </a:spcBef>
            </a:pPr>
            <a:endParaRPr sz="2000" dirty="0">
              <a:latin typeface="Times New Roman"/>
              <a:cs typeface="Times New Roman"/>
            </a:endParaRPr>
          </a:p>
          <a:p>
            <a:pPr marL="12700">
              <a:lnSpc>
                <a:spcPct val="100000"/>
              </a:lnSpc>
            </a:pPr>
            <a:r>
              <a:rPr sz="2000" b="1" spc="-10" dirty="0">
                <a:solidFill>
                  <a:srgbClr val="FF0000"/>
                </a:solidFill>
                <a:latin typeface="Times New Roman"/>
                <a:cs typeface="Times New Roman"/>
              </a:rPr>
              <a:t>Activación</a:t>
            </a:r>
            <a:r>
              <a:rPr sz="2000" b="1" spc="25" dirty="0">
                <a:solidFill>
                  <a:srgbClr val="FF0000"/>
                </a:solidFill>
                <a:latin typeface="Times New Roman"/>
                <a:cs typeface="Times New Roman"/>
              </a:rPr>
              <a:t> </a:t>
            </a:r>
            <a:r>
              <a:rPr sz="2000" b="1" spc="-5" dirty="0">
                <a:solidFill>
                  <a:srgbClr val="FF0000"/>
                </a:solidFill>
                <a:latin typeface="Times New Roman"/>
                <a:cs typeface="Times New Roman"/>
              </a:rPr>
              <a:t>final</a:t>
            </a:r>
            <a:r>
              <a:rPr sz="2000" b="1" spc="10" dirty="0">
                <a:solidFill>
                  <a:srgbClr val="FF0000"/>
                </a:solidFill>
                <a:latin typeface="Times New Roman"/>
                <a:cs typeface="Times New Roman"/>
              </a:rPr>
              <a:t> </a:t>
            </a:r>
            <a:r>
              <a:rPr sz="2000" b="1" spc="-5" dirty="0">
                <a:solidFill>
                  <a:srgbClr val="FF0000"/>
                </a:solidFill>
                <a:latin typeface="Times New Roman"/>
                <a:cs typeface="Times New Roman"/>
              </a:rPr>
              <a:t>(nota:</a:t>
            </a:r>
            <a:r>
              <a:rPr sz="2000" b="1" spc="5" dirty="0">
                <a:solidFill>
                  <a:srgbClr val="FF0000"/>
                </a:solidFill>
                <a:latin typeface="Times New Roman"/>
                <a:cs typeface="Times New Roman"/>
              </a:rPr>
              <a:t> </a:t>
            </a:r>
            <a:r>
              <a:rPr sz="2000" b="1" spc="-5" dirty="0">
                <a:solidFill>
                  <a:srgbClr val="FF0000"/>
                </a:solidFill>
                <a:latin typeface="Times New Roman"/>
                <a:cs typeface="Times New Roman"/>
              </a:rPr>
              <a:t>cuando</a:t>
            </a:r>
            <a:r>
              <a:rPr sz="2000" b="1" spc="15" dirty="0">
                <a:solidFill>
                  <a:srgbClr val="FF0000"/>
                </a:solidFill>
                <a:latin typeface="Times New Roman"/>
                <a:cs typeface="Times New Roman"/>
              </a:rPr>
              <a:t> </a:t>
            </a:r>
            <a:r>
              <a:rPr sz="2000" b="1" spc="-5" dirty="0">
                <a:solidFill>
                  <a:srgbClr val="FF0000"/>
                </a:solidFill>
                <a:latin typeface="Times New Roman"/>
                <a:cs typeface="Times New Roman"/>
              </a:rPr>
              <a:t>la</a:t>
            </a:r>
            <a:r>
              <a:rPr sz="2000" b="1" spc="5" dirty="0">
                <a:solidFill>
                  <a:srgbClr val="FF0000"/>
                </a:solidFill>
                <a:latin typeface="Times New Roman"/>
                <a:cs typeface="Times New Roman"/>
              </a:rPr>
              <a:t> </a:t>
            </a:r>
            <a:r>
              <a:rPr sz="2000" b="1" spc="-5" dirty="0">
                <a:solidFill>
                  <a:srgbClr val="FF0000"/>
                </a:solidFill>
                <a:latin typeface="Times New Roman"/>
                <a:cs typeface="Times New Roman"/>
              </a:rPr>
              <a:t>variable</a:t>
            </a:r>
            <a:r>
              <a:rPr sz="2000" b="1" dirty="0">
                <a:solidFill>
                  <a:srgbClr val="FF0000"/>
                </a:solidFill>
                <a:latin typeface="Times New Roman"/>
                <a:cs typeface="Times New Roman"/>
              </a:rPr>
              <a:t> </a:t>
            </a:r>
            <a:r>
              <a:rPr sz="2000" b="1" spc="-5" dirty="0">
                <a:solidFill>
                  <a:srgbClr val="FF0000"/>
                </a:solidFill>
                <a:latin typeface="Times New Roman"/>
                <a:cs typeface="Times New Roman"/>
              </a:rPr>
              <a:t>output</a:t>
            </a:r>
            <a:r>
              <a:rPr sz="2000" b="1" spc="10" dirty="0">
                <a:solidFill>
                  <a:srgbClr val="FF0000"/>
                </a:solidFill>
                <a:latin typeface="Times New Roman"/>
                <a:cs typeface="Times New Roman"/>
              </a:rPr>
              <a:t> </a:t>
            </a:r>
            <a:r>
              <a:rPr sz="2000" b="1" spc="-5" dirty="0">
                <a:solidFill>
                  <a:srgbClr val="FF0000"/>
                </a:solidFill>
                <a:latin typeface="Times New Roman"/>
                <a:cs typeface="Times New Roman"/>
              </a:rPr>
              <a:t>es</a:t>
            </a:r>
            <a:r>
              <a:rPr sz="2000" b="1" spc="25" dirty="0">
                <a:solidFill>
                  <a:srgbClr val="FF0000"/>
                </a:solidFill>
                <a:latin typeface="Times New Roman"/>
                <a:cs typeface="Times New Roman"/>
              </a:rPr>
              <a:t> </a:t>
            </a:r>
            <a:r>
              <a:rPr sz="2000" b="1" spc="-5" dirty="0">
                <a:solidFill>
                  <a:srgbClr val="FF0000"/>
                </a:solidFill>
                <a:latin typeface="Times New Roman"/>
                <a:cs typeface="Times New Roman"/>
              </a:rPr>
              <a:t>continua</a:t>
            </a:r>
            <a:r>
              <a:rPr sz="2000" b="1" spc="15" dirty="0">
                <a:solidFill>
                  <a:srgbClr val="FF0000"/>
                </a:solidFill>
                <a:latin typeface="Times New Roman"/>
                <a:cs typeface="Times New Roman"/>
              </a:rPr>
              <a:t> </a:t>
            </a:r>
            <a:r>
              <a:rPr sz="2000" b="1" spc="-5" dirty="0">
                <a:solidFill>
                  <a:srgbClr val="FF0000"/>
                </a:solidFill>
                <a:latin typeface="Times New Roman"/>
                <a:cs typeface="Times New Roman"/>
              </a:rPr>
              <a:t>no</a:t>
            </a:r>
            <a:r>
              <a:rPr sz="2000" b="1" spc="15" dirty="0">
                <a:solidFill>
                  <a:srgbClr val="FF0000"/>
                </a:solidFill>
                <a:latin typeface="Times New Roman"/>
                <a:cs typeface="Times New Roman"/>
              </a:rPr>
              <a:t> </a:t>
            </a:r>
            <a:r>
              <a:rPr sz="2000" b="1" spc="-5" dirty="0">
                <a:solidFill>
                  <a:srgbClr val="FF0000"/>
                </a:solidFill>
                <a:latin typeface="Times New Roman"/>
                <a:cs typeface="Times New Roman"/>
              </a:rPr>
              <a:t>se</a:t>
            </a:r>
            <a:r>
              <a:rPr sz="2000" b="1" spc="5" dirty="0">
                <a:solidFill>
                  <a:srgbClr val="FF0000"/>
                </a:solidFill>
                <a:latin typeface="Times New Roman"/>
                <a:cs typeface="Times New Roman"/>
              </a:rPr>
              <a:t> </a:t>
            </a:r>
            <a:r>
              <a:rPr sz="2000" b="1" spc="-5" dirty="0" err="1">
                <a:solidFill>
                  <a:srgbClr val="FF0000"/>
                </a:solidFill>
                <a:latin typeface="Times New Roman"/>
                <a:cs typeface="Times New Roman"/>
              </a:rPr>
              <a:t>realiza</a:t>
            </a:r>
            <a:r>
              <a:rPr sz="2000" b="1" spc="10" dirty="0">
                <a:solidFill>
                  <a:srgbClr val="FF0000"/>
                </a:solidFill>
                <a:latin typeface="Times New Roman"/>
                <a:cs typeface="Times New Roman"/>
              </a:rPr>
              <a:t> </a:t>
            </a:r>
            <a:r>
              <a:rPr sz="2000" b="1" dirty="0" err="1" smtClean="0">
                <a:solidFill>
                  <a:srgbClr val="FF0000"/>
                </a:solidFill>
                <a:latin typeface="Times New Roman"/>
                <a:cs typeface="Times New Roman"/>
              </a:rPr>
              <a:t>activació</a:t>
            </a:r>
            <a:r>
              <a:rPr lang="es-ES" sz="2000" b="1" dirty="0" smtClean="0">
                <a:solidFill>
                  <a:srgbClr val="FF0000"/>
                </a:solidFill>
                <a:latin typeface="Times New Roman"/>
                <a:cs typeface="Times New Roman"/>
              </a:rPr>
              <a:t>n en el nodo de salida</a:t>
            </a:r>
            <a:r>
              <a:rPr sz="2000" b="1" dirty="0" smtClean="0">
                <a:solidFill>
                  <a:srgbClr val="FF0000"/>
                </a:solidFill>
                <a:latin typeface="Times New Roman"/>
                <a:cs typeface="Times New Roman"/>
              </a:rPr>
              <a:t>)</a:t>
            </a:r>
            <a:endParaRPr sz="2000" b="1" dirty="0">
              <a:solidFill>
                <a:srgbClr val="FF0000"/>
              </a:solidFill>
              <a:latin typeface="Times New Roman"/>
              <a:cs typeface="Times New Roman"/>
            </a:endParaRPr>
          </a:p>
          <a:p>
            <a:pPr>
              <a:lnSpc>
                <a:spcPct val="100000"/>
              </a:lnSpc>
              <a:spcBef>
                <a:spcPts val="10"/>
              </a:spcBef>
            </a:pPr>
            <a:endParaRPr sz="2000" dirty="0">
              <a:latin typeface="Times New Roman"/>
              <a:cs typeface="Times New Roman"/>
            </a:endParaRPr>
          </a:p>
          <a:p>
            <a:pPr marL="355600" marR="5080" indent="-342900">
              <a:lnSpc>
                <a:spcPts val="2390"/>
              </a:lnSpc>
              <a:buFont typeface="Arial" panose="020B0604020202020204" pitchFamily="34" charset="0"/>
              <a:buChar char="•"/>
            </a:pPr>
            <a:r>
              <a:rPr sz="2000" spc="-5" dirty="0">
                <a:latin typeface="Times New Roman"/>
                <a:cs typeface="Times New Roman"/>
              </a:rPr>
              <a:t>Y=tanh(Y)=tanh(w</a:t>
            </a:r>
            <a:r>
              <a:rPr sz="2000" spc="-5" baseline="-25000" dirty="0">
                <a:latin typeface="Times New Roman"/>
                <a:cs typeface="Times New Roman"/>
              </a:rPr>
              <a:t>1,out</a:t>
            </a:r>
            <a:r>
              <a:rPr sz="2000" spc="-5" dirty="0">
                <a:latin typeface="Times New Roman"/>
                <a:cs typeface="Times New Roman"/>
              </a:rPr>
              <a:t>H1+w</a:t>
            </a:r>
            <a:r>
              <a:rPr sz="2000" spc="-5" baseline="-25000" dirty="0">
                <a:latin typeface="Times New Roman"/>
                <a:cs typeface="Times New Roman"/>
              </a:rPr>
              <a:t>2,out</a:t>
            </a:r>
            <a:r>
              <a:rPr sz="2000" spc="-5" dirty="0">
                <a:latin typeface="Times New Roman"/>
                <a:cs typeface="Times New Roman"/>
              </a:rPr>
              <a:t>H2+w</a:t>
            </a:r>
            <a:r>
              <a:rPr sz="2000" spc="-5" baseline="-25000" dirty="0">
                <a:latin typeface="Times New Roman"/>
                <a:cs typeface="Times New Roman"/>
              </a:rPr>
              <a:t>3,out</a:t>
            </a:r>
            <a:r>
              <a:rPr sz="2000" spc="-5" dirty="0">
                <a:latin typeface="Times New Roman"/>
                <a:cs typeface="Times New Roman"/>
              </a:rPr>
              <a:t>H3+w</a:t>
            </a:r>
            <a:r>
              <a:rPr sz="2000" spc="-5" baseline="-25000" dirty="0">
                <a:latin typeface="Times New Roman"/>
                <a:cs typeface="Times New Roman"/>
              </a:rPr>
              <a:t>4,out</a:t>
            </a:r>
            <a:r>
              <a:rPr sz="2000" spc="-5" dirty="0">
                <a:latin typeface="Times New Roman"/>
                <a:cs typeface="Times New Roman"/>
              </a:rPr>
              <a:t>H4+</a:t>
            </a:r>
            <a:r>
              <a:rPr sz="2000" spc="-5" dirty="0">
                <a:solidFill>
                  <a:srgbClr val="1F487C"/>
                </a:solidFill>
                <a:latin typeface="Times New Roman"/>
                <a:cs typeface="Times New Roman"/>
              </a:rPr>
              <a:t>bout</a:t>
            </a:r>
            <a:r>
              <a:rPr sz="2000" spc="-5" dirty="0">
                <a:latin typeface="Times New Roman"/>
                <a:cs typeface="Times New Roman"/>
              </a:rPr>
              <a:t>)</a:t>
            </a:r>
            <a:r>
              <a:rPr sz="2000" spc="15" dirty="0">
                <a:latin typeface="Times New Roman"/>
                <a:cs typeface="Times New Roman"/>
              </a:rPr>
              <a:t> </a:t>
            </a:r>
            <a:r>
              <a:rPr sz="2000" spc="-5" dirty="0">
                <a:solidFill>
                  <a:srgbClr val="FF0000"/>
                </a:solidFill>
                <a:latin typeface="Times New Roman"/>
                <a:cs typeface="Times New Roman"/>
              </a:rPr>
              <a:t>si</a:t>
            </a:r>
            <a:r>
              <a:rPr sz="2000" spc="20" dirty="0">
                <a:solidFill>
                  <a:srgbClr val="FF0000"/>
                </a:solidFill>
                <a:latin typeface="Times New Roman"/>
                <a:cs typeface="Times New Roman"/>
              </a:rPr>
              <a:t> </a:t>
            </a:r>
            <a:r>
              <a:rPr sz="2000" spc="-5" dirty="0">
                <a:solidFill>
                  <a:srgbClr val="FF0000"/>
                </a:solidFill>
                <a:latin typeface="Times New Roman"/>
                <a:cs typeface="Times New Roman"/>
              </a:rPr>
              <a:t>la</a:t>
            </a:r>
            <a:r>
              <a:rPr sz="2000" spc="10" dirty="0">
                <a:solidFill>
                  <a:srgbClr val="FF0000"/>
                </a:solidFill>
                <a:latin typeface="Times New Roman"/>
                <a:cs typeface="Times New Roman"/>
              </a:rPr>
              <a:t> </a:t>
            </a:r>
            <a:r>
              <a:rPr sz="2000" spc="-5" dirty="0">
                <a:solidFill>
                  <a:srgbClr val="FF0000"/>
                </a:solidFill>
                <a:latin typeface="Times New Roman"/>
                <a:cs typeface="Times New Roman"/>
              </a:rPr>
              <a:t>variable</a:t>
            </a:r>
            <a:r>
              <a:rPr sz="2000" spc="20" dirty="0">
                <a:solidFill>
                  <a:srgbClr val="FF0000"/>
                </a:solidFill>
                <a:latin typeface="Times New Roman"/>
                <a:cs typeface="Times New Roman"/>
              </a:rPr>
              <a:t> </a:t>
            </a:r>
            <a:r>
              <a:rPr sz="2000" dirty="0">
                <a:solidFill>
                  <a:srgbClr val="FF0000"/>
                </a:solidFill>
                <a:latin typeface="Times New Roman"/>
                <a:cs typeface="Times New Roman"/>
              </a:rPr>
              <a:t>output</a:t>
            </a:r>
            <a:r>
              <a:rPr sz="2000" spc="20" dirty="0">
                <a:solidFill>
                  <a:srgbClr val="FF0000"/>
                </a:solidFill>
                <a:latin typeface="Times New Roman"/>
                <a:cs typeface="Times New Roman"/>
              </a:rPr>
              <a:t> </a:t>
            </a:r>
            <a:r>
              <a:rPr sz="2000" dirty="0">
                <a:solidFill>
                  <a:srgbClr val="FF0000"/>
                </a:solidFill>
                <a:latin typeface="Times New Roman"/>
                <a:cs typeface="Times New Roman"/>
              </a:rPr>
              <a:t>es</a:t>
            </a:r>
            <a:r>
              <a:rPr sz="2000" spc="5" dirty="0">
                <a:solidFill>
                  <a:srgbClr val="FF0000"/>
                </a:solidFill>
                <a:latin typeface="Times New Roman"/>
                <a:cs typeface="Times New Roman"/>
              </a:rPr>
              <a:t> </a:t>
            </a:r>
            <a:r>
              <a:rPr sz="2000" spc="-5" dirty="0">
                <a:solidFill>
                  <a:srgbClr val="FF0000"/>
                </a:solidFill>
                <a:latin typeface="Times New Roman"/>
                <a:cs typeface="Times New Roman"/>
              </a:rPr>
              <a:t>binaria, </a:t>
            </a:r>
            <a:r>
              <a:rPr sz="2000" spc="-484" dirty="0">
                <a:solidFill>
                  <a:srgbClr val="FF0000"/>
                </a:solidFill>
                <a:latin typeface="Times New Roman"/>
                <a:cs typeface="Times New Roman"/>
              </a:rPr>
              <a:t> </a:t>
            </a:r>
            <a:r>
              <a:rPr sz="2000" dirty="0">
                <a:solidFill>
                  <a:srgbClr val="FF0000"/>
                </a:solidFill>
                <a:latin typeface="Times New Roman"/>
                <a:cs typeface="Times New Roman"/>
              </a:rPr>
              <a:t>codificada</a:t>
            </a:r>
            <a:r>
              <a:rPr sz="2000" spc="-15" dirty="0">
                <a:solidFill>
                  <a:srgbClr val="FF0000"/>
                </a:solidFill>
                <a:latin typeface="Times New Roman"/>
                <a:cs typeface="Times New Roman"/>
              </a:rPr>
              <a:t> </a:t>
            </a:r>
            <a:r>
              <a:rPr sz="2000" dirty="0">
                <a:solidFill>
                  <a:srgbClr val="FF0000"/>
                </a:solidFill>
                <a:latin typeface="Times New Roman"/>
                <a:cs typeface="Times New Roman"/>
              </a:rPr>
              <a:t>0,1 o</a:t>
            </a:r>
            <a:r>
              <a:rPr sz="2000" spc="5" dirty="0">
                <a:solidFill>
                  <a:srgbClr val="FF0000"/>
                </a:solidFill>
                <a:latin typeface="Times New Roman"/>
                <a:cs typeface="Times New Roman"/>
              </a:rPr>
              <a:t> </a:t>
            </a:r>
            <a:r>
              <a:rPr sz="2000" spc="-5" dirty="0">
                <a:solidFill>
                  <a:srgbClr val="FF0000"/>
                </a:solidFill>
                <a:latin typeface="Times New Roman"/>
                <a:cs typeface="Times New Roman"/>
              </a:rPr>
              <a:t>-</a:t>
            </a:r>
            <a:r>
              <a:rPr sz="2000" spc="-5" dirty="0" smtClean="0">
                <a:solidFill>
                  <a:srgbClr val="FF0000"/>
                </a:solidFill>
                <a:latin typeface="Times New Roman"/>
                <a:cs typeface="Times New Roman"/>
              </a:rPr>
              <a:t>1,1</a:t>
            </a:r>
            <a:endParaRPr lang="es-ES" sz="2000" spc="-5" dirty="0" smtClean="0">
              <a:solidFill>
                <a:srgbClr val="FF0000"/>
              </a:solidFill>
              <a:latin typeface="Times New Roman"/>
              <a:cs typeface="Times New Roman"/>
            </a:endParaRPr>
          </a:p>
          <a:p>
            <a:pPr marL="355600" marR="5080" indent="-342900">
              <a:lnSpc>
                <a:spcPts val="2390"/>
              </a:lnSpc>
              <a:buFont typeface="Arial" panose="020B0604020202020204" pitchFamily="34" charset="0"/>
              <a:buChar char="•"/>
            </a:pPr>
            <a:endParaRPr sz="2000" dirty="0">
              <a:latin typeface="Times New Roman"/>
              <a:cs typeface="Times New Roman"/>
            </a:endParaRPr>
          </a:p>
          <a:p>
            <a:pPr marL="355600" indent="-342900">
              <a:lnSpc>
                <a:spcPts val="2225"/>
              </a:lnSpc>
              <a:buFont typeface="Arial" panose="020B0604020202020204" pitchFamily="34" charset="0"/>
              <a:buChar char="•"/>
            </a:pPr>
            <a:r>
              <a:rPr sz="2000" dirty="0">
                <a:latin typeface="Times New Roman"/>
                <a:cs typeface="Times New Roman"/>
              </a:rPr>
              <a:t>Y=</a:t>
            </a:r>
            <a:r>
              <a:rPr sz="2000" spc="-15" dirty="0">
                <a:latin typeface="Times New Roman"/>
                <a:cs typeface="Times New Roman"/>
              </a:rPr>
              <a:t> </a:t>
            </a:r>
            <a:r>
              <a:rPr sz="2000" dirty="0">
                <a:latin typeface="Times New Roman"/>
                <a:cs typeface="Times New Roman"/>
              </a:rPr>
              <a:t>Y </a:t>
            </a:r>
            <a:r>
              <a:rPr sz="2000" spc="-5" dirty="0">
                <a:solidFill>
                  <a:srgbClr val="FF0000"/>
                </a:solidFill>
                <a:latin typeface="Times New Roman"/>
                <a:cs typeface="Times New Roman"/>
              </a:rPr>
              <a:t>si la</a:t>
            </a:r>
            <a:r>
              <a:rPr sz="2000" spc="-15" dirty="0">
                <a:solidFill>
                  <a:srgbClr val="FF0000"/>
                </a:solidFill>
                <a:latin typeface="Times New Roman"/>
                <a:cs typeface="Times New Roman"/>
              </a:rPr>
              <a:t> </a:t>
            </a:r>
            <a:r>
              <a:rPr sz="2000" spc="-5" dirty="0">
                <a:solidFill>
                  <a:srgbClr val="FF0000"/>
                </a:solidFill>
                <a:latin typeface="Times New Roman"/>
                <a:cs typeface="Times New Roman"/>
              </a:rPr>
              <a:t>variable </a:t>
            </a:r>
            <a:r>
              <a:rPr sz="2000" dirty="0">
                <a:solidFill>
                  <a:srgbClr val="FF0000"/>
                </a:solidFill>
                <a:latin typeface="Times New Roman"/>
                <a:cs typeface="Times New Roman"/>
              </a:rPr>
              <a:t>output</a:t>
            </a:r>
            <a:r>
              <a:rPr sz="2000" spc="-5" dirty="0">
                <a:solidFill>
                  <a:srgbClr val="FF0000"/>
                </a:solidFill>
                <a:latin typeface="Times New Roman"/>
                <a:cs typeface="Times New Roman"/>
              </a:rPr>
              <a:t> </a:t>
            </a:r>
            <a:r>
              <a:rPr sz="2000" dirty="0">
                <a:solidFill>
                  <a:srgbClr val="FF0000"/>
                </a:solidFill>
                <a:latin typeface="Times New Roman"/>
                <a:cs typeface="Times New Roman"/>
              </a:rPr>
              <a:t>es</a:t>
            </a:r>
            <a:r>
              <a:rPr sz="2000" spc="-20" dirty="0">
                <a:solidFill>
                  <a:srgbClr val="FF0000"/>
                </a:solidFill>
                <a:latin typeface="Times New Roman"/>
                <a:cs typeface="Times New Roman"/>
              </a:rPr>
              <a:t> </a:t>
            </a:r>
            <a:r>
              <a:rPr sz="2000" dirty="0">
                <a:solidFill>
                  <a:srgbClr val="FF0000"/>
                </a:solidFill>
                <a:latin typeface="Times New Roman"/>
                <a:cs typeface="Times New Roman"/>
              </a:rPr>
              <a:t>continua</a:t>
            </a:r>
            <a:endParaRPr sz="2000" dirty="0">
              <a:latin typeface="Times New Roman"/>
              <a:cs typeface="Times New Roman"/>
            </a:endParaRPr>
          </a:p>
        </p:txBody>
      </p:sp>
      <p:pic>
        <p:nvPicPr>
          <p:cNvPr id="4" name="object 4"/>
          <p:cNvPicPr/>
          <p:nvPr/>
        </p:nvPicPr>
        <p:blipFill>
          <a:blip r:embed="rId2" cstate="print"/>
          <a:stretch>
            <a:fillRect/>
          </a:stretch>
        </p:blipFill>
        <p:spPr>
          <a:xfrm>
            <a:off x="346963" y="795782"/>
            <a:ext cx="4849198" cy="3386454"/>
          </a:xfrm>
          <a:prstGeom prst="rect">
            <a:avLst/>
          </a:prstGeom>
        </p:spPr>
      </p:pic>
      <p:sp>
        <p:nvSpPr>
          <p:cNvPr id="5" name="Rectángulo 4"/>
          <p:cNvSpPr/>
          <p:nvPr/>
        </p:nvSpPr>
        <p:spPr>
          <a:xfrm>
            <a:off x="5727700" y="3171825"/>
            <a:ext cx="3048000" cy="1759456"/>
          </a:xfrm>
          <a:prstGeom prst="rect">
            <a:avLst/>
          </a:prstGeom>
          <a:ln>
            <a:solidFill>
              <a:schemeClr val="tx1"/>
            </a:solidFill>
          </a:ln>
        </p:spPr>
        <p:txBody>
          <a:bodyPr wrap="square">
            <a:spAutoFit/>
          </a:bodyPr>
          <a:lstStyle/>
          <a:p>
            <a:pPr marL="12700">
              <a:lnSpc>
                <a:spcPts val="2340"/>
              </a:lnSpc>
            </a:pPr>
            <a:r>
              <a:rPr lang="es-ES" sz="1100" b="1" spc="-5" dirty="0" smtClean="0">
                <a:latin typeface="Times New Roman"/>
                <a:cs typeface="Times New Roman"/>
              </a:rPr>
              <a:t>RECORDATORIO:</a:t>
            </a:r>
          </a:p>
          <a:p>
            <a:pPr marL="12700">
              <a:lnSpc>
                <a:spcPts val="2340"/>
              </a:lnSpc>
            </a:pPr>
            <a:r>
              <a:rPr lang="es-ES" sz="1100" spc="-5" dirty="0" smtClean="0">
                <a:latin typeface="Times New Roman"/>
                <a:cs typeface="Times New Roman"/>
              </a:rPr>
              <a:t>H1=</a:t>
            </a:r>
            <a:r>
              <a:rPr lang="es-ES" sz="1100" spc="-5" dirty="0" err="1" smtClean="0">
                <a:latin typeface="Times New Roman"/>
                <a:cs typeface="Times New Roman"/>
              </a:rPr>
              <a:t>tanh</a:t>
            </a:r>
            <a:r>
              <a:rPr lang="es-ES" sz="1100" spc="-5" dirty="0" smtClean="0">
                <a:latin typeface="Times New Roman"/>
                <a:cs typeface="Times New Roman"/>
              </a:rPr>
              <a:t>(</a:t>
            </a:r>
            <a:r>
              <a:rPr lang="es-ES" sz="1200" spc="-5" dirty="0" smtClean="0">
                <a:latin typeface="Times New Roman"/>
                <a:cs typeface="Times New Roman"/>
              </a:rPr>
              <a:t>w</a:t>
            </a:r>
            <a:r>
              <a:rPr lang="es-ES" sz="900" spc="-5" dirty="0" smtClean="0">
                <a:latin typeface="Times New Roman"/>
                <a:cs typeface="Times New Roman"/>
              </a:rPr>
              <a:t>11</a:t>
            </a:r>
            <a:r>
              <a:rPr lang="es-ES" sz="1100" spc="-5" dirty="0" smtClean="0">
                <a:latin typeface="Times New Roman"/>
                <a:cs typeface="Times New Roman"/>
              </a:rPr>
              <a:t>X1</a:t>
            </a:r>
            <a:r>
              <a:rPr lang="es-ES" sz="1200" spc="-5" dirty="0" smtClean="0">
                <a:latin typeface="Times New Roman"/>
                <a:cs typeface="Times New Roman"/>
              </a:rPr>
              <a:t>+w</a:t>
            </a:r>
            <a:r>
              <a:rPr lang="es-ES" sz="900" spc="-5" dirty="0" smtClean="0">
                <a:latin typeface="Times New Roman"/>
                <a:cs typeface="Times New Roman"/>
              </a:rPr>
              <a:t>21</a:t>
            </a:r>
            <a:r>
              <a:rPr lang="es-ES" sz="1100" spc="-5" dirty="0" smtClean="0">
                <a:latin typeface="Times New Roman"/>
                <a:cs typeface="Times New Roman"/>
              </a:rPr>
              <a:t>X2+</a:t>
            </a:r>
            <a:r>
              <a:rPr lang="es-ES" sz="1200" spc="-5" dirty="0" smtClean="0">
                <a:latin typeface="Times New Roman"/>
                <a:cs typeface="Times New Roman"/>
              </a:rPr>
              <a:t>w</a:t>
            </a:r>
            <a:r>
              <a:rPr lang="es-ES" sz="900" spc="-5" dirty="0" smtClean="0">
                <a:latin typeface="Times New Roman"/>
                <a:cs typeface="Times New Roman"/>
              </a:rPr>
              <a:t>31</a:t>
            </a:r>
            <a:r>
              <a:rPr lang="es-ES" sz="1100" spc="-5" dirty="0" smtClean="0">
                <a:latin typeface="Times New Roman"/>
                <a:cs typeface="Times New Roman"/>
              </a:rPr>
              <a:t>X3+</a:t>
            </a:r>
            <a:r>
              <a:rPr lang="es-ES" sz="1200" spc="-5" dirty="0" smtClean="0">
                <a:latin typeface="Times New Roman"/>
                <a:cs typeface="Times New Roman"/>
              </a:rPr>
              <a:t>w</a:t>
            </a:r>
            <a:r>
              <a:rPr lang="es-ES" sz="900" spc="-5" dirty="0" smtClean="0">
                <a:latin typeface="Times New Roman"/>
                <a:cs typeface="Times New Roman"/>
              </a:rPr>
              <a:t>41</a:t>
            </a:r>
            <a:r>
              <a:rPr lang="es-ES" sz="1100" spc="-5" dirty="0" smtClean="0">
                <a:latin typeface="Times New Roman"/>
                <a:cs typeface="Times New Roman"/>
              </a:rPr>
              <a:t>X4+</a:t>
            </a:r>
            <a:r>
              <a:rPr lang="es-ES" sz="1200" spc="-5" dirty="0" smtClean="0">
                <a:solidFill>
                  <a:srgbClr val="1F487C"/>
                </a:solidFill>
                <a:latin typeface="Times New Roman"/>
                <a:cs typeface="Times New Roman"/>
              </a:rPr>
              <a:t>b</a:t>
            </a:r>
            <a:r>
              <a:rPr lang="es-ES" sz="900" spc="-5" dirty="0" smtClean="0">
                <a:solidFill>
                  <a:srgbClr val="1F487C"/>
                </a:solidFill>
                <a:latin typeface="Times New Roman"/>
                <a:cs typeface="Times New Roman"/>
              </a:rPr>
              <a:t>1</a:t>
            </a:r>
            <a:r>
              <a:rPr lang="es-ES" sz="1100" spc="-5" dirty="0">
                <a:latin typeface="Times New Roman"/>
                <a:cs typeface="Times New Roman"/>
              </a:rPr>
              <a:t>)</a:t>
            </a:r>
            <a:endParaRPr lang="es-ES" sz="1200" dirty="0">
              <a:latin typeface="Times New Roman"/>
              <a:cs typeface="Times New Roman"/>
            </a:endParaRPr>
          </a:p>
          <a:p>
            <a:pPr marL="12700" marR="99060" algn="just">
              <a:lnSpc>
                <a:spcPts val="2760"/>
              </a:lnSpc>
            </a:pPr>
            <a:r>
              <a:rPr lang="es-ES" sz="1100" spc="-5" dirty="0">
                <a:latin typeface="Times New Roman"/>
                <a:cs typeface="Times New Roman"/>
              </a:rPr>
              <a:t>H2=</a:t>
            </a:r>
            <a:r>
              <a:rPr lang="es-ES" sz="1100" spc="-5" dirty="0" err="1">
                <a:latin typeface="Times New Roman"/>
                <a:cs typeface="Times New Roman"/>
              </a:rPr>
              <a:t>tanh</a:t>
            </a:r>
            <a:r>
              <a:rPr lang="es-ES" sz="1100" spc="-5" dirty="0">
                <a:latin typeface="Times New Roman"/>
                <a:cs typeface="Times New Roman"/>
              </a:rPr>
              <a:t>(</a:t>
            </a:r>
            <a:r>
              <a:rPr lang="es-ES" sz="1200" spc="-5" dirty="0">
                <a:latin typeface="Times New Roman"/>
                <a:cs typeface="Times New Roman"/>
              </a:rPr>
              <a:t>w</a:t>
            </a:r>
            <a:r>
              <a:rPr lang="es-ES" sz="900" spc="-5" dirty="0">
                <a:latin typeface="Times New Roman"/>
                <a:cs typeface="Times New Roman"/>
              </a:rPr>
              <a:t>12</a:t>
            </a:r>
            <a:r>
              <a:rPr lang="es-ES" sz="1100" spc="-5" dirty="0">
                <a:latin typeface="Times New Roman"/>
                <a:cs typeface="Times New Roman"/>
              </a:rPr>
              <a:t>X1</a:t>
            </a:r>
            <a:r>
              <a:rPr lang="es-ES" sz="1200" spc="-5" dirty="0">
                <a:latin typeface="Times New Roman"/>
                <a:cs typeface="Times New Roman"/>
              </a:rPr>
              <a:t>+w</a:t>
            </a:r>
            <a:r>
              <a:rPr lang="es-ES" sz="900" spc="-5" dirty="0">
                <a:latin typeface="Times New Roman"/>
                <a:cs typeface="Times New Roman"/>
              </a:rPr>
              <a:t>22</a:t>
            </a:r>
            <a:r>
              <a:rPr lang="es-ES" sz="1100" spc="-5" dirty="0">
                <a:latin typeface="Times New Roman"/>
                <a:cs typeface="Times New Roman"/>
              </a:rPr>
              <a:t>X2+</a:t>
            </a:r>
            <a:r>
              <a:rPr lang="es-ES" sz="1200" spc="-5" dirty="0">
                <a:latin typeface="Times New Roman"/>
                <a:cs typeface="Times New Roman"/>
              </a:rPr>
              <a:t>w</a:t>
            </a:r>
            <a:r>
              <a:rPr lang="es-ES" sz="900" spc="-5" dirty="0">
                <a:latin typeface="Times New Roman"/>
                <a:cs typeface="Times New Roman"/>
              </a:rPr>
              <a:t>32</a:t>
            </a:r>
            <a:r>
              <a:rPr lang="es-ES" sz="1100" spc="-5" dirty="0">
                <a:latin typeface="Times New Roman"/>
                <a:cs typeface="Times New Roman"/>
              </a:rPr>
              <a:t>X3+</a:t>
            </a:r>
            <a:r>
              <a:rPr lang="es-ES" sz="1200" spc="-5" dirty="0">
                <a:latin typeface="Times New Roman"/>
                <a:cs typeface="Times New Roman"/>
              </a:rPr>
              <a:t>w</a:t>
            </a:r>
            <a:r>
              <a:rPr lang="es-ES" sz="900" spc="-5" dirty="0">
                <a:latin typeface="Times New Roman"/>
                <a:cs typeface="Times New Roman"/>
              </a:rPr>
              <a:t>42</a:t>
            </a:r>
            <a:r>
              <a:rPr lang="es-ES" sz="1100" spc="-5" dirty="0">
                <a:latin typeface="Times New Roman"/>
                <a:cs typeface="Times New Roman"/>
              </a:rPr>
              <a:t>X4+</a:t>
            </a:r>
            <a:r>
              <a:rPr lang="es-ES" sz="1200" spc="-5" dirty="0">
                <a:solidFill>
                  <a:srgbClr val="1F487C"/>
                </a:solidFill>
                <a:latin typeface="Times New Roman"/>
                <a:cs typeface="Times New Roman"/>
              </a:rPr>
              <a:t>b</a:t>
            </a:r>
            <a:r>
              <a:rPr lang="es-ES" sz="900" spc="-5" dirty="0">
                <a:solidFill>
                  <a:srgbClr val="1F487C"/>
                </a:solidFill>
                <a:latin typeface="Times New Roman"/>
                <a:cs typeface="Times New Roman"/>
              </a:rPr>
              <a:t>2</a:t>
            </a:r>
            <a:r>
              <a:rPr lang="es-ES" sz="1100" spc="-5" dirty="0">
                <a:latin typeface="Times New Roman"/>
                <a:cs typeface="Times New Roman"/>
              </a:rPr>
              <a:t>) </a:t>
            </a:r>
            <a:r>
              <a:rPr lang="es-ES" sz="1100" spc="-490" dirty="0">
                <a:latin typeface="Times New Roman"/>
                <a:cs typeface="Times New Roman"/>
              </a:rPr>
              <a:t> </a:t>
            </a:r>
            <a:r>
              <a:rPr lang="es-ES" sz="1100" spc="-5" dirty="0">
                <a:latin typeface="Times New Roman"/>
                <a:cs typeface="Times New Roman"/>
              </a:rPr>
              <a:t>H3=</a:t>
            </a:r>
            <a:r>
              <a:rPr lang="es-ES" sz="1100" spc="-5" dirty="0" err="1">
                <a:latin typeface="Times New Roman"/>
                <a:cs typeface="Times New Roman"/>
              </a:rPr>
              <a:t>tanh</a:t>
            </a:r>
            <a:r>
              <a:rPr lang="es-ES" sz="1100" spc="-5" dirty="0">
                <a:latin typeface="Times New Roman"/>
                <a:cs typeface="Times New Roman"/>
              </a:rPr>
              <a:t>(</a:t>
            </a:r>
            <a:r>
              <a:rPr lang="es-ES" sz="1200" spc="-5" dirty="0">
                <a:latin typeface="Times New Roman"/>
                <a:cs typeface="Times New Roman"/>
              </a:rPr>
              <a:t>w</a:t>
            </a:r>
            <a:r>
              <a:rPr lang="es-ES" sz="900" spc="-5" dirty="0">
                <a:latin typeface="Times New Roman"/>
                <a:cs typeface="Times New Roman"/>
              </a:rPr>
              <a:t>13</a:t>
            </a:r>
            <a:r>
              <a:rPr lang="es-ES" sz="1100" spc="-5" dirty="0">
                <a:latin typeface="Times New Roman"/>
                <a:cs typeface="Times New Roman"/>
              </a:rPr>
              <a:t>X1</a:t>
            </a:r>
            <a:r>
              <a:rPr lang="es-ES" sz="1200" spc="-5" dirty="0">
                <a:latin typeface="Times New Roman"/>
                <a:cs typeface="Times New Roman"/>
              </a:rPr>
              <a:t>+w</a:t>
            </a:r>
            <a:r>
              <a:rPr lang="es-ES" sz="900" spc="-5" dirty="0">
                <a:latin typeface="Times New Roman"/>
                <a:cs typeface="Times New Roman"/>
              </a:rPr>
              <a:t>23</a:t>
            </a:r>
            <a:r>
              <a:rPr lang="es-ES" sz="1100" spc="-5" dirty="0">
                <a:latin typeface="Times New Roman"/>
                <a:cs typeface="Times New Roman"/>
              </a:rPr>
              <a:t>X2+</a:t>
            </a:r>
            <a:r>
              <a:rPr lang="es-ES" sz="1200" spc="-5" dirty="0">
                <a:latin typeface="Times New Roman"/>
                <a:cs typeface="Times New Roman"/>
              </a:rPr>
              <a:t>w</a:t>
            </a:r>
            <a:r>
              <a:rPr lang="es-ES" sz="900" spc="-5" dirty="0">
                <a:latin typeface="Times New Roman"/>
                <a:cs typeface="Times New Roman"/>
              </a:rPr>
              <a:t>33</a:t>
            </a:r>
            <a:r>
              <a:rPr lang="es-ES" sz="1100" spc="-5" dirty="0">
                <a:latin typeface="Times New Roman"/>
                <a:cs typeface="Times New Roman"/>
              </a:rPr>
              <a:t>X3+</a:t>
            </a:r>
            <a:r>
              <a:rPr lang="es-ES" sz="1200" spc="-5" dirty="0">
                <a:latin typeface="Times New Roman"/>
                <a:cs typeface="Times New Roman"/>
              </a:rPr>
              <a:t>w</a:t>
            </a:r>
            <a:r>
              <a:rPr lang="es-ES" sz="900" spc="-5" dirty="0">
                <a:latin typeface="Times New Roman"/>
                <a:cs typeface="Times New Roman"/>
              </a:rPr>
              <a:t>43</a:t>
            </a:r>
            <a:r>
              <a:rPr lang="es-ES" sz="1100" spc="-5" dirty="0">
                <a:latin typeface="Times New Roman"/>
                <a:cs typeface="Times New Roman"/>
              </a:rPr>
              <a:t>X4+</a:t>
            </a:r>
            <a:r>
              <a:rPr lang="es-ES" sz="1200" spc="-5" dirty="0">
                <a:solidFill>
                  <a:srgbClr val="1F487C"/>
                </a:solidFill>
                <a:latin typeface="Times New Roman"/>
                <a:cs typeface="Times New Roman"/>
              </a:rPr>
              <a:t>b</a:t>
            </a:r>
            <a:r>
              <a:rPr lang="es-ES" sz="900" spc="-5" dirty="0">
                <a:solidFill>
                  <a:srgbClr val="1F487C"/>
                </a:solidFill>
                <a:latin typeface="Times New Roman"/>
                <a:cs typeface="Times New Roman"/>
              </a:rPr>
              <a:t>3</a:t>
            </a:r>
            <a:r>
              <a:rPr lang="es-ES" sz="1100" spc="-5" dirty="0">
                <a:latin typeface="Times New Roman"/>
                <a:cs typeface="Times New Roman"/>
              </a:rPr>
              <a:t>) </a:t>
            </a:r>
            <a:r>
              <a:rPr lang="es-ES" sz="1100" spc="-490" dirty="0">
                <a:latin typeface="Times New Roman"/>
                <a:cs typeface="Times New Roman"/>
              </a:rPr>
              <a:t> </a:t>
            </a:r>
            <a:r>
              <a:rPr lang="es-ES" sz="1100" spc="-5" dirty="0">
                <a:latin typeface="Times New Roman"/>
                <a:cs typeface="Times New Roman"/>
              </a:rPr>
              <a:t>H4=</a:t>
            </a:r>
            <a:r>
              <a:rPr lang="es-ES" sz="1100" spc="-5" dirty="0" err="1">
                <a:latin typeface="Times New Roman"/>
                <a:cs typeface="Times New Roman"/>
              </a:rPr>
              <a:t>tanh</a:t>
            </a:r>
            <a:r>
              <a:rPr lang="es-ES" sz="1100" spc="-5" dirty="0">
                <a:latin typeface="Times New Roman"/>
                <a:cs typeface="Times New Roman"/>
              </a:rPr>
              <a:t>(</a:t>
            </a:r>
            <a:r>
              <a:rPr lang="es-ES" sz="1200" spc="-5" dirty="0">
                <a:latin typeface="Times New Roman"/>
                <a:cs typeface="Times New Roman"/>
              </a:rPr>
              <a:t>w</a:t>
            </a:r>
            <a:r>
              <a:rPr lang="es-ES" sz="900" spc="-5" dirty="0">
                <a:latin typeface="Times New Roman"/>
                <a:cs typeface="Times New Roman"/>
              </a:rPr>
              <a:t>14</a:t>
            </a:r>
            <a:r>
              <a:rPr lang="es-ES" sz="1100" spc="-5" dirty="0">
                <a:latin typeface="Times New Roman"/>
                <a:cs typeface="Times New Roman"/>
              </a:rPr>
              <a:t>X1</a:t>
            </a:r>
            <a:r>
              <a:rPr lang="es-ES" sz="1200" spc="-5" dirty="0">
                <a:latin typeface="Times New Roman"/>
                <a:cs typeface="Times New Roman"/>
              </a:rPr>
              <a:t>+w</a:t>
            </a:r>
            <a:r>
              <a:rPr lang="es-ES" sz="900" spc="-5" dirty="0">
                <a:latin typeface="Times New Roman"/>
                <a:cs typeface="Times New Roman"/>
              </a:rPr>
              <a:t>24</a:t>
            </a:r>
            <a:r>
              <a:rPr lang="es-ES" sz="1100" spc="-5" dirty="0">
                <a:latin typeface="Times New Roman"/>
                <a:cs typeface="Times New Roman"/>
              </a:rPr>
              <a:t>X2+</a:t>
            </a:r>
            <a:r>
              <a:rPr lang="es-ES" sz="1200" spc="-5" dirty="0">
                <a:latin typeface="Times New Roman"/>
                <a:cs typeface="Times New Roman"/>
              </a:rPr>
              <a:t>w</a:t>
            </a:r>
            <a:r>
              <a:rPr lang="es-ES" sz="900" spc="-5" dirty="0">
                <a:latin typeface="Times New Roman"/>
                <a:cs typeface="Times New Roman"/>
              </a:rPr>
              <a:t>34</a:t>
            </a:r>
            <a:r>
              <a:rPr lang="es-ES" sz="1100" spc="-5" dirty="0">
                <a:latin typeface="Times New Roman"/>
                <a:cs typeface="Times New Roman"/>
              </a:rPr>
              <a:t>X3+</a:t>
            </a:r>
            <a:r>
              <a:rPr lang="es-ES" sz="1200" spc="-5" dirty="0">
                <a:latin typeface="Times New Roman"/>
                <a:cs typeface="Times New Roman"/>
              </a:rPr>
              <a:t>w</a:t>
            </a:r>
            <a:r>
              <a:rPr lang="es-ES" sz="900" spc="-5" dirty="0">
                <a:latin typeface="Times New Roman"/>
                <a:cs typeface="Times New Roman"/>
              </a:rPr>
              <a:t>44</a:t>
            </a:r>
            <a:r>
              <a:rPr lang="es-ES" sz="1100" spc="-5" dirty="0">
                <a:latin typeface="Times New Roman"/>
                <a:cs typeface="Times New Roman"/>
              </a:rPr>
              <a:t>X4+</a:t>
            </a:r>
            <a:r>
              <a:rPr lang="es-ES" sz="1200" spc="-5" dirty="0">
                <a:solidFill>
                  <a:srgbClr val="1F487C"/>
                </a:solidFill>
                <a:latin typeface="Times New Roman"/>
                <a:cs typeface="Times New Roman"/>
              </a:rPr>
              <a:t>b</a:t>
            </a:r>
            <a:r>
              <a:rPr lang="es-ES" sz="900" spc="-5" dirty="0">
                <a:solidFill>
                  <a:srgbClr val="1F487C"/>
                </a:solidFill>
                <a:latin typeface="Times New Roman"/>
                <a:cs typeface="Times New Roman"/>
              </a:rPr>
              <a:t>4</a:t>
            </a:r>
            <a:r>
              <a:rPr lang="es-ES" sz="1100" spc="-5" dirty="0">
                <a:latin typeface="Times New Roman"/>
                <a:cs typeface="Times New Roman"/>
              </a:rPr>
              <a:t>)</a:t>
            </a:r>
            <a:endParaRPr lang="es-ES" sz="1100" dirty="0">
              <a:latin typeface="Times New Roman"/>
              <a:cs typeface="Times New Roman"/>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6962" y="315688"/>
            <a:ext cx="9800337" cy="628377"/>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4F6128"/>
                </a:solidFill>
                <a:latin typeface="Times New Roman"/>
                <a:cs typeface="Times New Roman"/>
              </a:rPr>
              <a:t>Desarrollando</a:t>
            </a:r>
            <a:r>
              <a:rPr sz="2000" spc="-10" dirty="0">
                <a:solidFill>
                  <a:srgbClr val="4F6128"/>
                </a:solidFill>
                <a:latin typeface="Times New Roman"/>
                <a:cs typeface="Times New Roman"/>
              </a:rPr>
              <a:t> </a:t>
            </a:r>
            <a:r>
              <a:rPr sz="2000" spc="-5" dirty="0">
                <a:solidFill>
                  <a:srgbClr val="4F6128"/>
                </a:solidFill>
                <a:latin typeface="Times New Roman"/>
                <a:cs typeface="Times New Roman"/>
              </a:rPr>
              <a:t>los</a:t>
            </a:r>
            <a:r>
              <a:rPr sz="2000" dirty="0">
                <a:solidFill>
                  <a:srgbClr val="4F6128"/>
                </a:solidFill>
                <a:latin typeface="Times New Roman"/>
                <a:cs typeface="Times New Roman"/>
              </a:rPr>
              <a:t> valores</a:t>
            </a:r>
            <a:r>
              <a:rPr sz="2000" spc="-20" dirty="0">
                <a:solidFill>
                  <a:srgbClr val="4F6128"/>
                </a:solidFill>
                <a:latin typeface="Times New Roman"/>
                <a:cs typeface="Times New Roman"/>
              </a:rPr>
              <a:t> </a:t>
            </a:r>
            <a:r>
              <a:rPr sz="2000" dirty="0">
                <a:solidFill>
                  <a:srgbClr val="4F6128"/>
                </a:solidFill>
                <a:latin typeface="Times New Roman"/>
                <a:cs typeface="Times New Roman"/>
              </a:rPr>
              <a:t>de</a:t>
            </a:r>
            <a:r>
              <a:rPr sz="2000" spc="-5" dirty="0">
                <a:solidFill>
                  <a:srgbClr val="4F6128"/>
                </a:solidFill>
                <a:latin typeface="Times New Roman"/>
                <a:cs typeface="Times New Roman"/>
              </a:rPr>
              <a:t> </a:t>
            </a:r>
            <a:r>
              <a:rPr sz="2000" spc="-10" dirty="0">
                <a:solidFill>
                  <a:srgbClr val="4F6128"/>
                </a:solidFill>
                <a:latin typeface="Times New Roman"/>
                <a:cs typeface="Times New Roman"/>
              </a:rPr>
              <a:t>los </a:t>
            </a:r>
            <a:r>
              <a:rPr sz="2000" dirty="0" err="1">
                <a:solidFill>
                  <a:srgbClr val="4F6128"/>
                </a:solidFill>
                <a:latin typeface="Times New Roman"/>
                <a:cs typeface="Times New Roman"/>
              </a:rPr>
              <a:t>nodos</a:t>
            </a:r>
            <a:r>
              <a:rPr sz="2000" spc="-15" dirty="0">
                <a:solidFill>
                  <a:srgbClr val="4F6128"/>
                </a:solidFill>
                <a:latin typeface="Times New Roman"/>
                <a:cs typeface="Times New Roman"/>
              </a:rPr>
              <a:t> </a:t>
            </a:r>
            <a:r>
              <a:rPr sz="2000" dirty="0" err="1" smtClean="0">
                <a:solidFill>
                  <a:srgbClr val="4F6128"/>
                </a:solidFill>
                <a:latin typeface="Times New Roman"/>
                <a:cs typeface="Times New Roman"/>
              </a:rPr>
              <a:t>ocultos</a:t>
            </a:r>
            <a:r>
              <a:rPr lang="es-ES" sz="2000" dirty="0" smtClean="0">
                <a:solidFill>
                  <a:srgbClr val="4F6128"/>
                </a:solidFill>
                <a:latin typeface="Times New Roman"/>
                <a:cs typeface="Times New Roman"/>
              </a:rPr>
              <a:t> (</a:t>
            </a:r>
            <a:r>
              <a:rPr lang="es-ES" sz="2000" b="1" dirty="0" smtClean="0">
                <a:solidFill>
                  <a:srgbClr val="4F6128"/>
                </a:solidFill>
                <a:latin typeface="Times New Roman"/>
                <a:cs typeface="Times New Roman"/>
              </a:rPr>
              <a:t>si la variable dependiente fuera binaria; </a:t>
            </a:r>
            <a:r>
              <a:rPr lang="es-ES" sz="2000" b="1" u="sng" dirty="0" smtClean="0">
                <a:solidFill>
                  <a:srgbClr val="4F6128"/>
                </a:solidFill>
                <a:latin typeface="Times New Roman"/>
                <a:cs typeface="Times New Roman"/>
              </a:rPr>
              <a:t>si es continua no hay que aplicar la primera </a:t>
            </a:r>
            <a:r>
              <a:rPr lang="es-ES" sz="2000" b="1" i="1" u="sng" dirty="0" err="1" smtClean="0">
                <a:solidFill>
                  <a:srgbClr val="4F6128"/>
                </a:solidFill>
                <a:latin typeface="Times New Roman"/>
                <a:cs typeface="Times New Roman"/>
              </a:rPr>
              <a:t>tanh</a:t>
            </a:r>
            <a:r>
              <a:rPr lang="es-ES" sz="2000" b="1" i="1" u="sng" dirty="0" smtClean="0">
                <a:solidFill>
                  <a:srgbClr val="4F6128"/>
                </a:solidFill>
                <a:latin typeface="Times New Roman"/>
                <a:cs typeface="Times New Roman"/>
              </a:rPr>
              <a:t>, </a:t>
            </a:r>
            <a:r>
              <a:rPr lang="es-ES" sz="2000" dirty="0" smtClean="0">
                <a:solidFill>
                  <a:srgbClr val="4F6128"/>
                </a:solidFill>
                <a:latin typeface="Times New Roman"/>
                <a:cs typeface="Times New Roman"/>
              </a:rPr>
              <a:t>correspondiente a la capa output)</a:t>
            </a:r>
            <a:r>
              <a:rPr sz="2000" dirty="0" smtClean="0">
                <a:solidFill>
                  <a:srgbClr val="4F6128"/>
                </a:solidFill>
                <a:latin typeface="Times New Roman"/>
                <a:cs typeface="Times New Roman"/>
              </a:rPr>
              <a:t>:</a:t>
            </a:r>
            <a:r>
              <a:rPr lang="es-ES" sz="2000" dirty="0" smtClean="0">
                <a:solidFill>
                  <a:srgbClr val="4F6128"/>
                </a:solidFill>
                <a:latin typeface="Times New Roman"/>
                <a:cs typeface="Times New Roman"/>
              </a:rPr>
              <a:t> </a:t>
            </a:r>
            <a:endParaRPr sz="2000" dirty="0">
              <a:latin typeface="Times New Roman"/>
              <a:cs typeface="Times New Roman"/>
            </a:endParaRPr>
          </a:p>
        </p:txBody>
      </p:sp>
      <p:sp>
        <p:nvSpPr>
          <p:cNvPr id="3" name="object 3"/>
          <p:cNvSpPr txBox="1">
            <a:spLocks noGrp="1"/>
          </p:cNvSpPr>
          <p:nvPr>
            <p:ph type="title"/>
          </p:nvPr>
        </p:nvSpPr>
        <p:spPr>
          <a:xfrm>
            <a:off x="346963" y="1180465"/>
            <a:ext cx="5622290" cy="689932"/>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000000"/>
                </a:solidFill>
              </a:rPr>
              <a:t>Y=</a:t>
            </a:r>
            <a:r>
              <a:rPr sz="2000" b="1" u="sng" spc="-5" dirty="0">
                <a:solidFill>
                  <a:srgbClr val="000000"/>
                </a:solidFill>
              </a:rPr>
              <a:t>tanh</a:t>
            </a:r>
            <a:r>
              <a:rPr sz="2000" spc="-5" dirty="0">
                <a:solidFill>
                  <a:srgbClr val="000000"/>
                </a:solidFill>
              </a:rPr>
              <a:t>(</a:t>
            </a:r>
            <a:r>
              <a:rPr spc="-5" dirty="0">
                <a:solidFill>
                  <a:srgbClr val="000000"/>
                </a:solidFill>
              </a:rPr>
              <a:t>w</a:t>
            </a:r>
            <a:r>
              <a:rPr sz="1400" spc="-5" dirty="0">
                <a:solidFill>
                  <a:srgbClr val="000000"/>
                </a:solidFill>
              </a:rPr>
              <a:t>1,out</a:t>
            </a:r>
            <a:r>
              <a:rPr sz="2000" spc="-5" dirty="0">
                <a:solidFill>
                  <a:srgbClr val="000000"/>
                </a:solidFill>
              </a:rPr>
              <a:t>H1+</a:t>
            </a:r>
            <a:r>
              <a:rPr spc="-5" dirty="0">
                <a:solidFill>
                  <a:srgbClr val="000000"/>
                </a:solidFill>
              </a:rPr>
              <a:t>w</a:t>
            </a:r>
            <a:r>
              <a:rPr sz="1400" spc="-5" dirty="0">
                <a:solidFill>
                  <a:srgbClr val="000000"/>
                </a:solidFill>
              </a:rPr>
              <a:t>2,out</a:t>
            </a:r>
            <a:r>
              <a:rPr sz="2000" spc="-5" dirty="0">
                <a:solidFill>
                  <a:srgbClr val="000000"/>
                </a:solidFill>
              </a:rPr>
              <a:t>H2+</a:t>
            </a:r>
            <a:r>
              <a:rPr spc="-5" dirty="0">
                <a:solidFill>
                  <a:srgbClr val="000000"/>
                </a:solidFill>
              </a:rPr>
              <a:t>w</a:t>
            </a:r>
            <a:r>
              <a:rPr sz="1400" spc="-5" dirty="0">
                <a:solidFill>
                  <a:srgbClr val="000000"/>
                </a:solidFill>
              </a:rPr>
              <a:t>3,out</a:t>
            </a:r>
            <a:r>
              <a:rPr sz="2000" spc="-5" dirty="0">
                <a:solidFill>
                  <a:srgbClr val="000000"/>
                </a:solidFill>
              </a:rPr>
              <a:t>H3+</a:t>
            </a:r>
            <a:r>
              <a:rPr spc="-5" dirty="0">
                <a:solidFill>
                  <a:srgbClr val="000000"/>
                </a:solidFill>
              </a:rPr>
              <a:t>w</a:t>
            </a:r>
            <a:r>
              <a:rPr sz="1400" spc="-5" dirty="0">
                <a:solidFill>
                  <a:srgbClr val="000000"/>
                </a:solidFill>
              </a:rPr>
              <a:t>4,out</a:t>
            </a:r>
            <a:r>
              <a:rPr sz="2000" spc="-5" dirty="0">
                <a:solidFill>
                  <a:srgbClr val="000000"/>
                </a:solidFill>
              </a:rPr>
              <a:t>H4+</a:t>
            </a:r>
            <a:r>
              <a:rPr spc="-5" dirty="0">
                <a:solidFill>
                  <a:srgbClr val="1F487C"/>
                </a:solidFill>
              </a:rPr>
              <a:t>b</a:t>
            </a:r>
            <a:r>
              <a:rPr sz="1400" spc="-5" dirty="0">
                <a:solidFill>
                  <a:srgbClr val="1F487C"/>
                </a:solidFill>
              </a:rPr>
              <a:t>out</a:t>
            </a:r>
            <a:r>
              <a:rPr sz="2000" spc="-5" dirty="0">
                <a:solidFill>
                  <a:srgbClr val="000000"/>
                </a:solidFill>
              </a:rPr>
              <a:t>)=</a:t>
            </a:r>
            <a:endParaRPr sz="2000" dirty="0"/>
          </a:p>
        </p:txBody>
      </p:sp>
      <p:sp>
        <p:nvSpPr>
          <p:cNvPr id="4" name="object 4"/>
          <p:cNvSpPr txBox="1"/>
          <p:nvPr/>
        </p:nvSpPr>
        <p:spPr>
          <a:xfrm>
            <a:off x="346963" y="1549654"/>
            <a:ext cx="9734550" cy="5153660"/>
          </a:xfrm>
          <a:prstGeom prst="rect">
            <a:avLst/>
          </a:prstGeom>
        </p:spPr>
        <p:txBody>
          <a:bodyPr vert="horz" wrap="square" lIns="0" tIns="12700" rIns="0" bIns="0" rtlCol="0">
            <a:spAutoFit/>
          </a:bodyPr>
          <a:lstStyle/>
          <a:p>
            <a:pPr marL="12700">
              <a:lnSpc>
                <a:spcPts val="2820"/>
              </a:lnSpc>
              <a:spcBef>
                <a:spcPts val="100"/>
              </a:spcBef>
            </a:pPr>
            <a:r>
              <a:rPr sz="2000" spc="-5" dirty="0">
                <a:latin typeface="Times New Roman"/>
                <a:cs typeface="Times New Roman"/>
              </a:rPr>
              <a:t>=tanh(</a:t>
            </a:r>
            <a:r>
              <a:rPr sz="2400" spc="-5" dirty="0">
                <a:latin typeface="Times New Roman"/>
                <a:cs typeface="Times New Roman"/>
              </a:rPr>
              <a:t>w</a:t>
            </a:r>
            <a:r>
              <a:rPr sz="1400" spc="-5" dirty="0">
                <a:latin typeface="Times New Roman"/>
                <a:cs typeface="Times New Roman"/>
              </a:rPr>
              <a:t>1,out</a:t>
            </a:r>
            <a:r>
              <a:rPr sz="2000" spc="-5" dirty="0">
                <a:latin typeface="Times New Roman"/>
                <a:cs typeface="Times New Roman"/>
              </a:rPr>
              <a:t>(tanh(</a:t>
            </a:r>
            <a:r>
              <a:rPr sz="2400" spc="-5" dirty="0">
                <a:latin typeface="Times New Roman"/>
                <a:cs typeface="Times New Roman"/>
              </a:rPr>
              <a:t>w</a:t>
            </a:r>
            <a:r>
              <a:rPr sz="1400" spc="-5" dirty="0">
                <a:latin typeface="Times New Roman"/>
                <a:cs typeface="Times New Roman"/>
              </a:rPr>
              <a:t>11</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21</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31</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41</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1</a:t>
            </a:r>
            <a:r>
              <a:rPr sz="2000" spc="-5" dirty="0">
                <a:latin typeface="Times New Roman"/>
                <a:cs typeface="Times New Roman"/>
              </a:rPr>
              <a:t>))</a:t>
            </a:r>
            <a:endParaRPr sz="2000" dirty="0">
              <a:latin typeface="Times New Roman"/>
              <a:cs typeface="Times New Roman"/>
            </a:endParaRPr>
          </a:p>
          <a:p>
            <a:pPr marL="12700">
              <a:lnSpc>
                <a:spcPts val="2760"/>
              </a:lnSpc>
            </a:pPr>
            <a:r>
              <a:rPr sz="2000" spc="-5" dirty="0">
                <a:latin typeface="Times New Roman"/>
                <a:cs typeface="Times New Roman"/>
              </a:rPr>
              <a:t>+</a:t>
            </a:r>
            <a:r>
              <a:rPr sz="2400" spc="-5" dirty="0">
                <a:latin typeface="Times New Roman"/>
                <a:cs typeface="Times New Roman"/>
              </a:rPr>
              <a:t>w</a:t>
            </a:r>
            <a:r>
              <a:rPr sz="1400" spc="-5" dirty="0">
                <a:latin typeface="Times New Roman"/>
                <a:cs typeface="Times New Roman"/>
              </a:rPr>
              <a:t>2,out</a:t>
            </a:r>
            <a:r>
              <a:rPr sz="2000" spc="-5" dirty="0">
                <a:latin typeface="Times New Roman"/>
                <a:cs typeface="Times New Roman"/>
              </a:rPr>
              <a:t>(tanh(</a:t>
            </a:r>
            <a:r>
              <a:rPr sz="2400" spc="-5" dirty="0">
                <a:latin typeface="Times New Roman"/>
                <a:cs typeface="Times New Roman"/>
              </a:rPr>
              <a:t>w</a:t>
            </a:r>
            <a:r>
              <a:rPr sz="1400" spc="-5" dirty="0">
                <a:latin typeface="Times New Roman"/>
                <a:cs typeface="Times New Roman"/>
              </a:rPr>
              <a:t>12</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22</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32</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42</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2</a:t>
            </a:r>
            <a:r>
              <a:rPr sz="2000" spc="-5" dirty="0">
                <a:latin typeface="Times New Roman"/>
                <a:cs typeface="Times New Roman"/>
              </a:rPr>
              <a:t>))+</a:t>
            </a:r>
            <a:endParaRPr sz="2000" dirty="0">
              <a:latin typeface="Times New Roman"/>
              <a:cs typeface="Times New Roman"/>
            </a:endParaRPr>
          </a:p>
          <a:p>
            <a:pPr marL="12700">
              <a:lnSpc>
                <a:spcPts val="2760"/>
              </a:lnSpc>
            </a:pPr>
            <a:r>
              <a:rPr sz="1400" spc="-5" dirty="0">
                <a:latin typeface="Times New Roman"/>
                <a:cs typeface="Times New Roman"/>
              </a:rPr>
              <a:t>+</a:t>
            </a:r>
            <a:r>
              <a:rPr sz="2400" spc="-5" dirty="0">
                <a:latin typeface="Times New Roman"/>
                <a:cs typeface="Times New Roman"/>
              </a:rPr>
              <a:t>w</a:t>
            </a:r>
            <a:r>
              <a:rPr sz="1400" spc="-5" dirty="0">
                <a:latin typeface="Times New Roman"/>
                <a:cs typeface="Times New Roman"/>
              </a:rPr>
              <a:t>3,out</a:t>
            </a:r>
            <a:r>
              <a:rPr sz="2000" spc="-5" dirty="0">
                <a:latin typeface="Times New Roman"/>
                <a:cs typeface="Times New Roman"/>
              </a:rPr>
              <a:t>(tanh(</a:t>
            </a:r>
            <a:r>
              <a:rPr sz="2400" spc="-5" dirty="0">
                <a:latin typeface="Times New Roman"/>
                <a:cs typeface="Times New Roman"/>
              </a:rPr>
              <a:t>w</a:t>
            </a:r>
            <a:r>
              <a:rPr sz="1400" spc="-5" dirty="0">
                <a:latin typeface="Times New Roman"/>
                <a:cs typeface="Times New Roman"/>
              </a:rPr>
              <a:t>13</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23</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33</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43</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3</a:t>
            </a:r>
            <a:r>
              <a:rPr sz="2000" spc="-5" dirty="0">
                <a:latin typeface="Times New Roman"/>
                <a:cs typeface="Times New Roman"/>
              </a:rPr>
              <a:t>))+</a:t>
            </a:r>
            <a:endParaRPr sz="2000" dirty="0">
              <a:latin typeface="Times New Roman"/>
              <a:cs typeface="Times New Roman"/>
            </a:endParaRPr>
          </a:p>
          <a:p>
            <a:pPr marL="12700">
              <a:lnSpc>
                <a:spcPts val="2760"/>
              </a:lnSpc>
            </a:pPr>
            <a:r>
              <a:rPr sz="1400" spc="-5" dirty="0">
                <a:latin typeface="Times New Roman"/>
                <a:cs typeface="Times New Roman"/>
              </a:rPr>
              <a:t>+</a:t>
            </a:r>
            <a:r>
              <a:rPr sz="2400" spc="-5" dirty="0">
                <a:latin typeface="Times New Roman"/>
                <a:cs typeface="Times New Roman"/>
              </a:rPr>
              <a:t>w</a:t>
            </a:r>
            <a:r>
              <a:rPr sz="1400" spc="-5" dirty="0">
                <a:latin typeface="Times New Roman"/>
                <a:cs typeface="Times New Roman"/>
              </a:rPr>
              <a:t>4,out</a:t>
            </a:r>
            <a:r>
              <a:rPr sz="2000" spc="-5" dirty="0">
                <a:latin typeface="Times New Roman"/>
                <a:cs typeface="Times New Roman"/>
              </a:rPr>
              <a:t>(tanh(</a:t>
            </a:r>
            <a:r>
              <a:rPr sz="2400" spc="-5" dirty="0">
                <a:latin typeface="Times New Roman"/>
                <a:cs typeface="Times New Roman"/>
              </a:rPr>
              <a:t>w</a:t>
            </a:r>
            <a:r>
              <a:rPr sz="1400" spc="-5" dirty="0">
                <a:latin typeface="Times New Roman"/>
                <a:cs typeface="Times New Roman"/>
              </a:rPr>
              <a:t>14</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24</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34</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44</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4</a:t>
            </a:r>
            <a:r>
              <a:rPr sz="2000" spc="-5" dirty="0">
                <a:latin typeface="Times New Roman"/>
                <a:cs typeface="Times New Roman"/>
              </a:rPr>
              <a:t>))+</a:t>
            </a:r>
            <a:endParaRPr sz="2000" dirty="0">
              <a:latin typeface="Times New Roman"/>
              <a:cs typeface="Times New Roman"/>
            </a:endParaRPr>
          </a:p>
          <a:p>
            <a:pPr marL="12700">
              <a:lnSpc>
                <a:spcPts val="2820"/>
              </a:lnSpc>
            </a:pPr>
            <a:r>
              <a:rPr sz="2000" spc="-5" dirty="0">
                <a:latin typeface="Times New Roman"/>
                <a:cs typeface="Times New Roman"/>
              </a:rPr>
              <a:t>+</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out</a:t>
            </a:r>
            <a:r>
              <a:rPr sz="2000" spc="-5" dirty="0">
                <a:latin typeface="Times New Roman"/>
                <a:cs typeface="Times New Roman"/>
              </a:rPr>
              <a:t>)</a:t>
            </a:r>
            <a:endParaRPr sz="2000" dirty="0">
              <a:latin typeface="Times New Roman"/>
              <a:cs typeface="Times New Roman"/>
            </a:endParaRPr>
          </a:p>
          <a:p>
            <a:pPr>
              <a:lnSpc>
                <a:spcPct val="100000"/>
              </a:lnSpc>
              <a:spcBef>
                <a:spcPts val="30"/>
              </a:spcBef>
            </a:pPr>
            <a:endParaRPr sz="2250" dirty="0">
              <a:latin typeface="Times New Roman"/>
              <a:cs typeface="Times New Roman"/>
            </a:endParaRPr>
          </a:p>
          <a:p>
            <a:pPr marL="12700" marR="5080" algn="just">
              <a:lnSpc>
                <a:spcPts val="2530"/>
              </a:lnSpc>
            </a:pPr>
            <a:r>
              <a:rPr sz="2200" b="1" spc="-5" dirty="0">
                <a:solidFill>
                  <a:srgbClr val="FF0000"/>
                </a:solidFill>
                <a:latin typeface="Times New Roman"/>
                <a:cs typeface="Times New Roman"/>
              </a:rPr>
              <a:t>En una red con 4 variables inputs , </a:t>
            </a:r>
            <a:r>
              <a:rPr sz="2200" b="1" spc="-10" dirty="0">
                <a:solidFill>
                  <a:srgbClr val="FF0000"/>
                </a:solidFill>
                <a:latin typeface="Times New Roman"/>
                <a:cs typeface="Times New Roman"/>
              </a:rPr>
              <a:t>una </a:t>
            </a:r>
            <a:r>
              <a:rPr sz="2200" b="1" spc="-5" dirty="0">
                <a:solidFill>
                  <a:srgbClr val="FF0000"/>
                </a:solidFill>
                <a:latin typeface="Times New Roman"/>
                <a:cs typeface="Times New Roman"/>
              </a:rPr>
              <a:t>output, </a:t>
            </a:r>
            <a:r>
              <a:rPr sz="2200" b="1" spc="-10" dirty="0">
                <a:solidFill>
                  <a:srgbClr val="FF0000"/>
                </a:solidFill>
                <a:latin typeface="Times New Roman"/>
                <a:cs typeface="Times New Roman"/>
              </a:rPr>
              <a:t>una </a:t>
            </a:r>
            <a:r>
              <a:rPr sz="2200" b="1" spc="-5" dirty="0">
                <a:solidFill>
                  <a:srgbClr val="FF0000"/>
                </a:solidFill>
                <a:latin typeface="Times New Roman"/>
                <a:cs typeface="Times New Roman"/>
              </a:rPr>
              <a:t>capa oculta con cuatro nodos </a:t>
            </a:r>
            <a:r>
              <a:rPr sz="2200" b="1" dirty="0">
                <a:solidFill>
                  <a:srgbClr val="FF0000"/>
                </a:solidFill>
                <a:latin typeface="Times New Roman"/>
                <a:cs typeface="Times New Roman"/>
              </a:rPr>
              <a:t> </a:t>
            </a:r>
            <a:r>
              <a:rPr sz="2200" b="1" spc="-5" dirty="0">
                <a:solidFill>
                  <a:srgbClr val="FF0000"/>
                </a:solidFill>
                <a:latin typeface="Times New Roman"/>
                <a:cs typeface="Times New Roman"/>
              </a:rPr>
              <a:t>ocultos, funciones de combinación lineal y funciones de activación tanh, el modelo </a:t>
            </a:r>
            <a:r>
              <a:rPr sz="2200" b="1" spc="-535" dirty="0">
                <a:solidFill>
                  <a:srgbClr val="FF0000"/>
                </a:solidFill>
                <a:latin typeface="Times New Roman"/>
                <a:cs typeface="Times New Roman"/>
              </a:rPr>
              <a:t> </a:t>
            </a:r>
            <a:r>
              <a:rPr sz="2200" b="1" spc="-5" dirty="0">
                <a:solidFill>
                  <a:srgbClr val="FF0000"/>
                </a:solidFill>
                <a:latin typeface="Times New Roman"/>
                <a:cs typeface="Times New Roman"/>
              </a:rPr>
              <a:t>planteado</a:t>
            </a:r>
            <a:r>
              <a:rPr sz="2200" b="1" dirty="0">
                <a:solidFill>
                  <a:srgbClr val="FF0000"/>
                </a:solidFill>
                <a:latin typeface="Times New Roman"/>
                <a:cs typeface="Times New Roman"/>
              </a:rPr>
              <a:t> </a:t>
            </a:r>
            <a:r>
              <a:rPr sz="2200" b="1" spc="-5" dirty="0">
                <a:solidFill>
                  <a:srgbClr val="FF0000"/>
                </a:solidFill>
                <a:latin typeface="Times New Roman"/>
                <a:cs typeface="Times New Roman"/>
              </a:rPr>
              <a:t>es:</a:t>
            </a:r>
            <a:endParaRPr sz="2200" dirty="0">
              <a:latin typeface="Times New Roman"/>
              <a:cs typeface="Times New Roman"/>
            </a:endParaRPr>
          </a:p>
          <a:p>
            <a:pPr>
              <a:lnSpc>
                <a:spcPct val="100000"/>
              </a:lnSpc>
              <a:spcBef>
                <a:spcPts val="20"/>
              </a:spcBef>
            </a:pPr>
            <a:endParaRPr sz="2000" dirty="0">
              <a:latin typeface="Times New Roman"/>
              <a:cs typeface="Times New Roman"/>
            </a:endParaRPr>
          </a:p>
          <a:p>
            <a:pPr marL="12700">
              <a:lnSpc>
                <a:spcPts val="2820"/>
              </a:lnSpc>
            </a:pPr>
            <a:r>
              <a:rPr sz="2000" spc="-5" dirty="0">
                <a:latin typeface="Times New Roman"/>
                <a:cs typeface="Times New Roman"/>
              </a:rPr>
              <a:t>Y=tanh(</a:t>
            </a:r>
            <a:r>
              <a:rPr sz="2400" spc="-5" dirty="0">
                <a:latin typeface="Times New Roman"/>
                <a:cs typeface="Times New Roman"/>
              </a:rPr>
              <a:t>w</a:t>
            </a:r>
            <a:r>
              <a:rPr sz="1400" spc="-5" dirty="0">
                <a:latin typeface="Times New Roman"/>
                <a:cs typeface="Times New Roman"/>
              </a:rPr>
              <a:t>1,out</a:t>
            </a:r>
            <a:r>
              <a:rPr sz="2000" spc="-5" dirty="0">
                <a:latin typeface="Times New Roman"/>
                <a:cs typeface="Times New Roman"/>
              </a:rPr>
              <a:t>(tanh(</a:t>
            </a:r>
            <a:r>
              <a:rPr sz="2400" spc="-5" dirty="0">
                <a:latin typeface="Times New Roman"/>
                <a:cs typeface="Times New Roman"/>
              </a:rPr>
              <a:t>w</a:t>
            </a:r>
            <a:r>
              <a:rPr sz="1400" spc="-5" dirty="0">
                <a:latin typeface="Times New Roman"/>
                <a:cs typeface="Times New Roman"/>
              </a:rPr>
              <a:t>11</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21</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31</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41</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1</a:t>
            </a:r>
            <a:r>
              <a:rPr sz="2000" spc="-5" dirty="0">
                <a:latin typeface="Times New Roman"/>
                <a:cs typeface="Times New Roman"/>
              </a:rPr>
              <a:t>))</a:t>
            </a:r>
            <a:endParaRPr sz="2000" dirty="0">
              <a:latin typeface="Times New Roman"/>
              <a:cs typeface="Times New Roman"/>
            </a:endParaRPr>
          </a:p>
          <a:p>
            <a:pPr marL="12700">
              <a:lnSpc>
                <a:spcPts val="2760"/>
              </a:lnSpc>
            </a:pPr>
            <a:r>
              <a:rPr sz="2000" spc="-5" dirty="0">
                <a:latin typeface="Times New Roman"/>
                <a:cs typeface="Times New Roman"/>
              </a:rPr>
              <a:t>+</a:t>
            </a:r>
            <a:r>
              <a:rPr sz="2400" spc="-5" dirty="0">
                <a:latin typeface="Times New Roman"/>
                <a:cs typeface="Times New Roman"/>
              </a:rPr>
              <a:t>w</a:t>
            </a:r>
            <a:r>
              <a:rPr sz="1400" spc="-5" dirty="0">
                <a:latin typeface="Times New Roman"/>
                <a:cs typeface="Times New Roman"/>
              </a:rPr>
              <a:t>2,out</a:t>
            </a:r>
            <a:r>
              <a:rPr sz="2000" spc="-5" dirty="0">
                <a:latin typeface="Times New Roman"/>
                <a:cs typeface="Times New Roman"/>
              </a:rPr>
              <a:t>(tanh(</a:t>
            </a:r>
            <a:r>
              <a:rPr sz="2400" spc="-5" dirty="0">
                <a:latin typeface="Times New Roman"/>
                <a:cs typeface="Times New Roman"/>
              </a:rPr>
              <a:t>w</a:t>
            </a:r>
            <a:r>
              <a:rPr sz="1400" spc="-5" dirty="0">
                <a:latin typeface="Times New Roman"/>
                <a:cs typeface="Times New Roman"/>
              </a:rPr>
              <a:t>12</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22</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32</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42</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2</a:t>
            </a:r>
            <a:r>
              <a:rPr sz="2000" spc="-5" dirty="0">
                <a:latin typeface="Times New Roman"/>
                <a:cs typeface="Times New Roman"/>
              </a:rPr>
              <a:t>))+</a:t>
            </a:r>
            <a:endParaRPr sz="2000" dirty="0">
              <a:latin typeface="Times New Roman"/>
              <a:cs typeface="Times New Roman"/>
            </a:endParaRPr>
          </a:p>
          <a:p>
            <a:pPr marL="12700">
              <a:lnSpc>
                <a:spcPts val="2760"/>
              </a:lnSpc>
            </a:pPr>
            <a:r>
              <a:rPr sz="1400" spc="-5" dirty="0">
                <a:latin typeface="Times New Roman"/>
                <a:cs typeface="Times New Roman"/>
              </a:rPr>
              <a:t>+</a:t>
            </a:r>
            <a:r>
              <a:rPr sz="2400" spc="-5" dirty="0">
                <a:latin typeface="Times New Roman"/>
                <a:cs typeface="Times New Roman"/>
              </a:rPr>
              <a:t>w</a:t>
            </a:r>
            <a:r>
              <a:rPr sz="1400" spc="-5" dirty="0">
                <a:latin typeface="Times New Roman"/>
                <a:cs typeface="Times New Roman"/>
              </a:rPr>
              <a:t>3,out</a:t>
            </a:r>
            <a:r>
              <a:rPr sz="2000" spc="-5" dirty="0">
                <a:latin typeface="Times New Roman"/>
                <a:cs typeface="Times New Roman"/>
              </a:rPr>
              <a:t>(tanh(</a:t>
            </a:r>
            <a:r>
              <a:rPr sz="2400" spc="-5" dirty="0">
                <a:latin typeface="Times New Roman"/>
                <a:cs typeface="Times New Roman"/>
              </a:rPr>
              <a:t>w</a:t>
            </a:r>
            <a:r>
              <a:rPr sz="1400" spc="-5" dirty="0">
                <a:latin typeface="Times New Roman"/>
                <a:cs typeface="Times New Roman"/>
              </a:rPr>
              <a:t>13</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23</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33</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43</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3</a:t>
            </a:r>
            <a:r>
              <a:rPr sz="2000" spc="-5" dirty="0">
                <a:latin typeface="Times New Roman"/>
                <a:cs typeface="Times New Roman"/>
              </a:rPr>
              <a:t>))+</a:t>
            </a:r>
            <a:endParaRPr sz="2000" dirty="0">
              <a:latin typeface="Times New Roman"/>
              <a:cs typeface="Times New Roman"/>
            </a:endParaRPr>
          </a:p>
          <a:p>
            <a:pPr marL="12700">
              <a:lnSpc>
                <a:spcPts val="2760"/>
              </a:lnSpc>
            </a:pPr>
            <a:r>
              <a:rPr sz="1400" spc="-5" dirty="0">
                <a:latin typeface="Times New Roman"/>
                <a:cs typeface="Times New Roman"/>
              </a:rPr>
              <a:t>+</a:t>
            </a:r>
            <a:r>
              <a:rPr sz="2400" spc="-5" dirty="0">
                <a:latin typeface="Times New Roman"/>
                <a:cs typeface="Times New Roman"/>
              </a:rPr>
              <a:t>w</a:t>
            </a:r>
            <a:r>
              <a:rPr sz="1400" spc="-5" dirty="0">
                <a:latin typeface="Times New Roman"/>
                <a:cs typeface="Times New Roman"/>
              </a:rPr>
              <a:t>4,out</a:t>
            </a:r>
            <a:r>
              <a:rPr sz="2000" spc="-5" dirty="0">
                <a:latin typeface="Times New Roman"/>
                <a:cs typeface="Times New Roman"/>
              </a:rPr>
              <a:t>(tanh(</a:t>
            </a:r>
            <a:r>
              <a:rPr sz="2400" spc="-5" dirty="0">
                <a:latin typeface="Times New Roman"/>
                <a:cs typeface="Times New Roman"/>
              </a:rPr>
              <a:t>w</a:t>
            </a:r>
            <a:r>
              <a:rPr sz="1400" spc="-5" dirty="0">
                <a:latin typeface="Times New Roman"/>
                <a:cs typeface="Times New Roman"/>
              </a:rPr>
              <a:t>14</a:t>
            </a:r>
            <a:r>
              <a:rPr sz="2000" spc="-5" dirty="0">
                <a:latin typeface="Times New Roman"/>
                <a:cs typeface="Times New Roman"/>
              </a:rPr>
              <a:t>X1</a:t>
            </a:r>
            <a:r>
              <a:rPr sz="2400" spc="-5" dirty="0">
                <a:latin typeface="Times New Roman"/>
                <a:cs typeface="Times New Roman"/>
              </a:rPr>
              <a:t>+w</a:t>
            </a:r>
            <a:r>
              <a:rPr sz="1400" spc="-5" dirty="0">
                <a:latin typeface="Times New Roman"/>
                <a:cs typeface="Times New Roman"/>
              </a:rPr>
              <a:t>24</a:t>
            </a:r>
            <a:r>
              <a:rPr sz="2000" spc="-5" dirty="0">
                <a:latin typeface="Times New Roman"/>
                <a:cs typeface="Times New Roman"/>
              </a:rPr>
              <a:t>X2+</a:t>
            </a:r>
            <a:r>
              <a:rPr sz="2400" spc="-5" dirty="0">
                <a:latin typeface="Times New Roman"/>
                <a:cs typeface="Times New Roman"/>
              </a:rPr>
              <a:t>w</a:t>
            </a:r>
            <a:r>
              <a:rPr sz="1400" spc="-5" dirty="0">
                <a:latin typeface="Times New Roman"/>
                <a:cs typeface="Times New Roman"/>
              </a:rPr>
              <a:t>34</a:t>
            </a:r>
            <a:r>
              <a:rPr sz="2000" spc="-5" dirty="0">
                <a:latin typeface="Times New Roman"/>
                <a:cs typeface="Times New Roman"/>
              </a:rPr>
              <a:t>X3+</a:t>
            </a:r>
            <a:r>
              <a:rPr sz="2400" spc="-5" dirty="0">
                <a:latin typeface="Times New Roman"/>
                <a:cs typeface="Times New Roman"/>
              </a:rPr>
              <a:t>w</a:t>
            </a:r>
            <a:r>
              <a:rPr sz="1400" spc="-5" dirty="0">
                <a:latin typeface="Times New Roman"/>
                <a:cs typeface="Times New Roman"/>
              </a:rPr>
              <a:t>44</a:t>
            </a:r>
            <a:r>
              <a:rPr sz="2000" spc="-5" dirty="0">
                <a:latin typeface="Times New Roman"/>
                <a:cs typeface="Times New Roman"/>
              </a:rPr>
              <a:t>X4+</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4</a:t>
            </a:r>
            <a:r>
              <a:rPr sz="2000" spc="-5" dirty="0">
                <a:latin typeface="Times New Roman"/>
                <a:cs typeface="Times New Roman"/>
              </a:rPr>
              <a:t>))+</a:t>
            </a:r>
            <a:endParaRPr sz="2000" dirty="0">
              <a:latin typeface="Times New Roman"/>
              <a:cs typeface="Times New Roman"/>
            </a:endParaRPr>
          </a:p>
          <a:p>
            <a:pPr marL="12700">
              <a:lnSpc>
                <a:spcPts val="2820"/>
              </a:lnSpc>
            </a:pPr>
            <a:r>
              <a:rPr sz="2000" spc="-5" dirty="0">
                <a:latin typeface="Times New Roman"/>
                <a:cs typeface="Times New Roman"/>
              </a:rPr>
              <a:t>+</a:t>
            </a:r>
            <a:r>
              <a:rPr sz="2400" spc="-5" dirty="0">
                <a:solidFill>
                  <a:srgbClr val="1F487C"/>
                </a:solidFill>
                <a:latin typeface="Times New Roman"/>
                <a:cs typeface="Times New Roman"/>
              </a:rPr>
              <a:t>b</a:t>
            </a:r>
            <a:r>
              <a:rPr sz="1400" spc="-5" dirty="0">
                <a:solidFill>
                  <a:srgbClr val="1F487C"/>
                </a:solidFill>
                <a:latin typeface="Times New Roman"/>
                <a:cs typeface="Times New Roman"/>
              </a:rPr>
              <a:t>out</a:t>
            </a:r>
            <a:r>
              <a:rPr sz="2000" spc="-5" dirty="0">
                <a:latin typeface="Times New Roman"/>
                <a:cs typeface="Times New Roman"/>
              </a:rPr>
              <a:t>)</a:t>
            </a:r>
            <a:endParaRPr sz="2000" dirty="0">
              <a:latin typeface="Times New Roman"/>
              <a:cs typeface="Times New Roman"/>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texto 2"/>
              <p:cNvSpPr>
                <a:spLocks noGrp="1"/>
              </p:cNvSpPr>
              <p:nvPr>
                <p:ph type="body" idx="1"/>
              </p:nvPr>
            </p:nvSpPr>
            <p:spPr>
              <a:xfrm>
                <a:off x="698500" y="1495425"/>
                <a:ext cx="9448800" cy="3447098"/>
              </a:xfrm>
            </p:spPr>
            <p:txBody>
              <a:bodyPr/>
              <a:lstStyle/>
              <a:p>
                <a:r>
                  <a:rPr lang="es-ES" sz="2800" dirty="0" smtClean="0">
                    <a:solidFill>
                      <a:srgbClr val="002060"/>
                    </a:solidFill>
                  </a:rPr>
                  <a:t>Para cada individuo </a:t>
                </a:r>
                <a:r>
                  <a:rPr lang="es-ES" sz="2800" i="1" dirty="0" smtClean="0">
                    <a:solidFill>
                      <a:srgbClr val="002060"/>
                    </a:solidFill>
                  </a:rPr>
                  <a:t>i,</a:t>
                </a:r>
                <a:r>
                  <a:rPr lang="es-ES" sz="2800" dirty="0" smtClean="0">
                    <a:solidFill>
                      <a:srgbClr val="002060"/>
                    </a:solidFill>
                  </a:rPr>
                  <a:t> el su valor en la variable </a:t>
                </a:r>
                <a14:m>
                  <m:oMath xmlns:m="http://schemas.openxmlformats.org/officeDocument/2006/math">
                    <m:r>
                      <a:rPr lang="es-ES" sz="2800" b="0" i="1" smtClean="0">
                        <a:solidFill>
                          <a:srgbClr val="002060"/>
                        </a:solidFill>
                        <a:latin typeface="Cambria Math" panose="02040503050406030204" pitchFamily="18" charset="0"/>
                      </a:rPr>
                      <m:t>𝑌</m:t>
                    </m:r>
                    <m:r>
                      <a:rPr lang="es-ES" sz="2800" b="0" i="1" smtClean="0">
                        <a:solidFill>
                          <a:srgbClr val="002060"/>
                        </a:solidFill>
                        <a:latin typeface="Cambria Math" panose="02040503050406030204" pitchFamily="18" charset="0"/>
                      </a:rPr>
                      <m:t>, </m:t>
                    </m:r>
                    <m:sSub>
                      <m:sSubPr>
                        <m:ctrlPr>
                          <a:rPr lang="es-ES" sz="2800" b="0" i="1" smtClean="0">
                            <a:solidFill>
                              <a:srgbClr val="002060"/>
                            </a:solidFill>
                            <a:latin typeface="Cambria Math" panose="02040503050406030204" pitchFamily="18" charset="0"/>
                          </a:rPr>
                        </m:ctrlPr>
                      </m:sSubPr>
                      <m:e>
                        <m:r>
                          <a:rPr lang="es-ES" sz="2800" b="0" i="1" smtClean="0">
                            <a:solidFill>
                              <a:srgbClr val="002060"/>
                            </a:solidFill>
                            <a:latin typeface="Cambria Math" panose="02040503050406030204" pitchFamily="18" charset="0"/>
                          </a:rPr>
                          <m:t>𝑌</m:t>
                        </m:r>
                      </m:e>
                      <m:sub>
                        <m:r>
                          <a:rPr lang="es-ES" sz="2800" b="0" i="1" smtClean="0">
                            <a:solidFill>
                              <a:srgbClr val="002060"/>
                            </a:solidFill>
                            <a:latin typeface="Cambria Math" panose="02040503050406030204" pitchFamily="18" charset="0"/>
                          </a:rPr>
                          <m:t>𝑖</m:t>
                        </m:r>
                      </m:sub>
                    </m:sSub>
                    <m:r>
                      <a:rPr lang="es-ES" sz="2800" b="0" i="1" smtClean="0">
                        <a:solidFill>
                          <a:srgbClr val="002060"/>
                        </a:solidFill>
                        <a:latin typeface="Cambria Math" panose="02040503050406030204" pitchFamily="18" charset="0"/>
                      </a:rPr>
                      <m:t>,</m:t>
                    </m:r>
                  </m:oMath>
                </a14:m>
                <a:r>
                  <a:rPr lang="es-ES" sz="2800" dirty="0" smtClean="0">
                    <a:solidFill>
                      <a:srgbClr val="002060"/>
                    </a:solidFill>
                  </a:rPr>
                  <a:t> dependerá de su valor en las otras variables, </a:t>
                </a:r>
                <a14:m>
                  <m:oMath xmlns:m="http://schemas.openxmlformats.org/officeDocument/2006/math">
                    <m:sSub>
                      <m:sSubPr>
                        <m:ctrlPr>
                          <a:rPr lang="es-ES" sz="2800" i="1" smtClean="0">
                            <a:solidFill>
                              <a:srgbClr val="002060"/>
                            </a:solidFill>
                            <a:latin typeface="Cambria Math" panose="02040503050406030204" pitchFamily="18" charset="0"/>
                          </a:rPr>
                        </m:ctrlPr>
                      </m:sSubPr>
                      <m:e>
                        <m:r>
                          <a:rPr lang="es-ES" sz="2800" b="0" i="1" smtClean="0">
                            <a:solidFill>
                              <a:srgbClr val="002060"/>
                            </a:solidFill>
                            <a:latin typeface="Cambria Math" panose="02040503050406030204" pitchFamily="18" charset="0"/>
                          </a:rPr>
                          <m:t>𝑋</m:t>
                        </m:r>
                        <m:r>
                          <a:rPr lang="es-ES" sz="2800" b="0" i="1" smtClean="0">
                            <a:solidFill>
                              <a:srgbClr val="002060"/>
                            </a:solidFill>
                            <a:latin typeface="Cambria Math" panose="02040503050406030204" pitchFamily="18" charset="0"/>
                          </a:rPr>
                          <m:t>1</m:t>
                        </m:r>
                      </m:e>
                      <m:sub>
                        <m:r>
                          <a:rPr lang="es-ES" sz="2800" b="0" i="1" smtClean="0">
                            <a:solidFill>
                              <a:srgbClr val="002060"/>
                            </a:solidFill>
                            <a:latin typeface="Cambria Math" panose="02040503050406030204" pitchFamily="18" charset="0"/>
                          </a:rPr>
                          <m:t>𝑖</m:t>
                        </m:r>
                      </m:sub>
                    </m:sSub>
                  </m:oMath>
                </a14:m>
                <a:r>
                  <a:rPr lang="es-ES" sz="2800" dirty="0" smtClean="0">
                    <a:solidFill>
                      <a:srgbClr val="002060"/>
                    </a:solidFill>
                  </a:rPr>
                  <a:t>,</a:t>
                </a:r>
                <a:r>
                  <a:rPr lang="es-ES" sz="2800" dirty="0">
                    <a:solidFill>
                      <a:srgbClr val="002060"/>
                    </a:solidFill>
                  </a:rPr>
                  <a:t> </a:t>
                </a:r>
                <a14:m>
                  <m:oMath xmlns:m="http://schemas.openxmlformats.org/officeDocument/2006/math">
                    <m:sSub>
                      <m:sSubPr>
                        <m:ctrlPr>
                          <a:rPr lang="es-ES" sz="2800" i="1" smtClean="0">
                            <a:solidFill>
                              <a:srgbClr val="002060"/>
                            </a:solidFill>
                            <a:latin typeface="Cambria Math" panose="02040503050406030204" pitchFamily="18" charset="0"/>
                          </a:rPr>
                        </m:ctrlPr>
                      </m:sSubPr>
                      <m:e>
                        <m:r>
                          <a:rPr lang="es-ES" sz="2800" i="1">
                            <a:solidFill>
                              <a:srgbClr val="002060"/>
                            </a:solidFill>
                            <a:latin typeface="Cambria Math" panose="02040503050406030204" pitchFamily="18" charset="0"/>
                          </a:rPr>
                          <m:t>𝑋</m:t>
                        </m:r>
                        <m:r>
                          <a:rPr lang="es-ES" sz="2800" b="0" i="1" smtClean="0">
                            <a:solidFill>
                              <a:srgbClr val="002060"/>
                            </a:solidFill>
                            <a:latin typeface="Cambria Math" panose="02040503050406030204" pitchFamily="18" charset="0"/>
                          </a:rPr>
                          <m:t>2</m:t>
                        </m:r>
                      </m:e>
                      <m:sub>
                        <m:r>
                          <a:rPr lang="es-ES" sz="2800" i="1">
                            <a:solidFill>
                              <a:srgbClr val="002060"/>
                            </a:solidFill>
                            <a:latin typeface="Cambria Math" panose="02040503050406030204" pitchFamily="18" charset="0"/>
                          </a:rPr>
                          <m:t>𝑖</m:t>
                        </m:r>
                      </m:sub>
                    </m:sSub>
                    <m:r>
                      <a:rPr lang="es-ES" sz="2800" b="0" i="1" smtClean="0">
                        <a:solidFill>
                          <a:srgbClr val="002060"/>
                        </a:solidFill>
                        <a:latin typeface="Cambria Math" panose="02040503050406030204" pitchFamily="18" charset="0"/>
                      </a:rPr>
                      <m:t>,</m:t>
                    </m:r>
                    <m:sSub>
                      <m:sSubPr>
                        <m:ctrlPr>
                          <a:rPr lang="es-ES" sz="2800" i="1">
                            <a:solidFill>
                              <a:srgbClr val="002060"/>
                            </a:solidFill>
                            <a:latin typeface="Cambria Math" panose="02040503050406030204" pitchFamily="18" charset="0"/>
                          </a:rPr>
                        </m:ctrlPr>
                      </m:sSubPr>
                      <m:e>
                        <m:r>
                          <a:rPr lang="es-ES" sz="2800" i="1">
                            <a:solidFill>
                              <a:srgbClr val="002060"/>
                            </a:solidFill>
                            <a:latin typeface="Cambria Math" panose="02040503050406030204" pitchFamily="18" charset="0"/>
                          </a:rPr>
                          <m:t>𝑋</m:t>
                        </m:r>
                        <m:r>
                          <a:rPr lang="es-ES" sz="2800" b="0" i="1" smtClean="0">
                            <a:solidFill>
                              <a:srgbClr val="002060"/>
                            </a:solidFill>
                            <a:latin typeface="Cambria Math" panose="02040503050406030204" pitchFamily="18" charset="0"/>
                          </a:rPr>
                          <m:t>3</m:t>
                        </m:r>
                      </m:e>
                      <m:sub>
                        <m:r>
                          <a:rPr lang="es-ES" sz="2800" i="1">
                            <a:solidFill>
                              <a:srgbClr val="002060"/>
                            </a:solidFill>
                            <a:latin typeface="Cambria Math" panose="02040503050406030204" pitchFamily="18" charset="0"/>
                          </a:rPr>
                          <m:t>𝑖</m:t>
                        </m:r>
                      </m:sub>
                    </m:sSub>
                    <m:r>
                      <a:rPr lang="es-ES" sz="2800" b="0" i="1" smtClean="0">
                        <a:solidFill>
                          <a:srgbClr val="002060"/>
                        </a:solidFill>
                        <a:latin typeface="Cambria Math" panose="02040503050406030204" pitchFamily="18" charset="0"/>
                      </a:rPr>
                      <m:t>,</m:t>
                    </m:r>
                    <m:sSub>
                      <m:sSubPr>
                        <m:ctrlPr>
                          <a:rPr lang="es-ES" sz="2800" i="1">
                            <a:solidFill>
                              <a:srgbClr val="002060"/>
                            </a:solidFill>
                            <a:latin typeface="Cambria Math" panose="02040503050406030204" pitchFamily="18" charset="0"/>
                          </a:rPr>
                        </m:ctrlPr>
                      </m:sSubPr>
                      <m:e>
                        <m:r>
                          <a:rPr lang="es-ES" sz="2800" i="1">
                            <a:solidFill>
                              <a:srgbClr val="002060"/>
                            </a:solidFill>
                            <a:latin typeface="Cambria Math" panose="02040503050406030204" pitchFamily="18" charset="0"/>
                          </a:rPr>
                          <m:t>𝑋</m:t>
                        </m:r>
                        <m:r>
                          <a:rPr lang="es-ES" sz="2800" b="0" i="1" smtClean="0">
                            <a:solidFill>
                              <a:srgbClr val="002060"/>
                            </a:solidFill>
                            <a:latin typeface="Cambria Math" panose="02040503050406030204" pitchFamily="18" charset="0"/>
                          </a:rPr>
                          <m:t>4</m:t>
                        </m:r>
                      </m:e>
                      <m:sub>
                        <m:r>
                          <a:rPr lang="es-ES" sz="2800" i="1">
                            <a:solidFill>
                              <a:srgbClr val="002060"/>
                            </a:solidFill>
                            <a:latin typeface="Cambria Math" panose="02040503050406030204" pitchFamily="18" charset="0"/>
                          </a:rPr>
                          <m:t>𝑖</m:t>
                        </m:r>
                      </m:sub>
                    </m:sSub>
                  </m:oMath>
                </a14:m>
                <a:r>
                  <a:rPr lang="es-ES" sz="2800" dirty="0" smtClean="0">
                    <a:solidFill>
                      <a:srgbClr val="002060"/>
                    </a:solidFill>
                  </a:rPr>
                  <a:t>, de los pesos </a:t>
                </a:r>
                <a14:m>
                  <m:oMath xmlns:m="http://schemas.openxmlformats.org/officeDocument/2006/math">
                    <m:sSub>
                      <m:sSubPr>
                        <m:ctrlPr>
                          <a:rPr lang="es-ES" sz="2800" i="1" smtClean="0">
                            <a:solidFill>
                              <a:srgbClr val="002060"/>
                            </a:solidFill>
                            <a:latin typeface="Cambria Math" panose="02040503050406030204" pitchFamily="18" charset="0"/>
                          </a:rPr>
                        </m:ctrlPr>
                      </m:sSubPr>
                      <m:e>
                        <m:r>
                          <a:rPr lang="es-ES" sz="2800" b="0" i="1" smtClean="0">
                            <a:solidFill>
                              <a:srgbClr val="002060"/>
                            </a:solidFill>
                            <a:latin typeface="Cambria Math" panose="02040503050406030204" pitchFamily="18" charset="0"/>
                          </a:rPr>
                          <m:t>𝑤</m:t>
                        </m:r>
                      </m:e>
                      <m:sub>
                        <m:r>
                          <a:rPr lang="es-ES" sz="2800" b="0" i="1" smtClean="0">
                            <a:solidFill>
                              <a:srgbClr val="002060"/>
                            </a:solidFill>
                            <a:latin typeface="Cambria Math" panose="02040503050406030204" pitchFamily="18" charset="0"/>
                          </a:rPr>
                          <m:t>11</m:t>
                        </m:r>
                      </m:sub>
                    </m:sSub>
                    <m:r>
                      <a:rPr lang="es-ES" sz="2800" b="0" i="1" smtClean="0">
                        <a:solidFill>
                          <a:srgbClr val="002060"/>
                        </a:solidFill>
                        <a:latin typeface="Cambria Math" panose="02040503050406030204" pitchFamily="18" charset="0"/>
                      </a:rPr>
                      <m:t>, </m:t>
                    </m:r>
                    <m:sSub>
                      <m:sSubPr>
                        <m:ctrlPr>
                          <a:rPr lang="es-ES" sz="2800" b="0" i="1" smtClean="0">
                            <a:solidFill>
                              <a:srgbClr val="002060"/>
                            </a:solidFill>
                            <a:latin typeface="Cambria Math" panose="02040503050406030204" pitchFamily="18" charset="0"/>
                          </a:rPr>
                        </m:ctrlPr>
                      </m:sSubPr>
                      <m:e>
                        <m:r>
                          <a:rPr lang="es-ES" sz="2800" b="0" i="1" smtClean="0">
                            <a:solidFill>
                              <a:srgbClr val="002060"/>
                            </a:solidFill>
                            <a:latin typeface="Cambria Math" panose="02040503050406030204" pitchFamily="18" charset="0"/>
                          </a:rPr>
                          <m:t>𝑤</m:t>
                        </m:r>
                      </m:e>
                      <m:sub>
                        <m:r>
                          <a:rPr lang="es-ES" sz="2800" b="0" i="1" smtClean="0">
                            <a:solidFill>
                              <a:srgbClr val="002060"/>
                            </a:solidFill>
                            <a:latin typeface="Cambria Math" panose="02040503050406030204" pitchFamily="18" charset="0"/>
                          </a:rPr>
                          <m:t>12</m:t>
                        </m:r>
                      </m:sub>
                    </m:sSub>
                    <m:r>
                      <a:rPr lang="es-ES" sz="2800" b="0" i="1" smtClean="0">
                        <a:solidFill>
                          <a:srgbClr val="002060"/>
                        </a:solidFill>
                        <a:latin typeface="Cambria Math" panose="02040503050406030204" pitchFamily="18" charset="0"/>
                      </a:rPr>
                      <m:t>…</m:t>
                    </m:r>
                    <m:sSub>
                      <m:sSubPr>
                        <m:ctrlPr>
                          <a:rPr lang="es-ES" sz="2800" b="0" i="1" smtClean="0">
                            <a:solidFill>
                              <a:srgbClr val="002060"/>
                            </a:solidFill>
                            <a:latin typeface="Cambria Math" panose="02040503050406030204" pitchFamily="18" charset="0"/>
                          </a:rPr>
                        </m:ctrlPr>
                      </m:sSubPr>
                      <m:e>
                        <m:r>
                          <a:rPr lang="es-ES" sz="2800" b="0" i="1" smtClean="0">
                            <a:solidFill>
                              <a:srgbClr val="002060"/>
                            </a:solidFill>
                            <a:latin typeface="Cambria Math" panose="02040503050406030204" pitchFamily="18" charset="0"/>
                          </a:rPr>
                          <m:t>𝑤</m:t>
                        </m:r>
                      </m:e>
                      <m:sub>
                        <m:r>
                          <a:rPr lang="es-ES" sz="2800" b="0" i="1" smtClean="0">
                            <a:solidFill>
                              <a:srgbClr val="002060"/>
                            </a:solidFill>
                            <a:latin typeface="Cambria Math" panose="02040503050406030204" pitchFamily="18" charset="0"/>
                          </a:rPr>
                          <m:t>44</m:t>
                        </m:r>
                      </m:sub>
                    </m:sSub>
                    <m:r>
                      <a:rPr lang="es-ES" sz="2800" b="0" i="1" smtClean="0">
                        <a:solidFill>
                          <a:srgbClr val="002060"/>
                        </a:solidFill>
                        <a:latin typeface="Cambria Math" panose="02040503050406030204" pitchFamily="18" charset="0"/>
                      </a:rPr>
                      <m:t>,</m:t>
                    </m:r>
                    <m:sSub>
                      <m:sSubPr>
                        <m:ctrlPr>
                          <a:rPr lang="es-ES" sz="2800" i="1">
                            <a:solidFill>
                              <a:srgbClr val="002060"/>
                            </a:solidFill>
                            <a:latin typeface="Cambria Math" panose="02040503050406030204" pitchFamily="18" charset="0"/>
                          </a:rPr>
                        </m:ctrlPr>
                      </m:sSubPr>
                      <m:e>
                        <m:r>
                          <a:rPr lang="es-ES" sz="2800" i="1">
                            <a:solidFill>
                              <a:srgbClr val="002060"/>
                            </a:solidFill>
                            <a:latin typeface="Cambria Math" panose="02040503050406030204" pitchFamily="18" charset="0"/>
                          </a:rPr>
                          <m:t>𝑤</m:t>
                        </m:r>
                      </m:e>
                      <m:sub>
                        <m:r>
                          <a:rPr lang="es-ES" sz="2800" i="1">
                            <a:solidFill>
                              <a:srgbClr val="002060"/>
                            </a:solidFill>
                            <a:latin typeface="Cambria Math" panose="02040503050406030204" pitchFamily="18" charset="0"/>
                          </a:rPr>
                          <m:t>1</m:t>
                        </m:r>
                        <m:r>
                          <a:rPr lang="es-ES" sz="2800" b="0" i="1" smtClean="0">
                            <a:solidFill>
                              <a:srgbClr val="002060"/>
                            </a:solidFill>
                            <a:latin typeface="Cambria Math" panose="02040503050406030204" pitchFamily="18" charset="0"/>
                          </a:rPr>
                          <m:t>𝑜𝑢𝑡</m:t>
                        </m:r>
                      </m:sub>
                    </m:sSub>
                    <m:r>
                      <a:rPr lang="es-ES" sz="2800" i="1">
                        <a:solidFill>
                          <a:srgbClr val="002060"/>
                        </a:solidFill>
                        <a:latin typeface="Cambria Math" panose="02040503050406030204" pitchFamily="18" charset="0"/>
                      </a:rPr>
                      <m:t>, </m:t>
                    </m:r>
                    <m:sSub>
                      <m:sSubPr>
                        <m:ctrlPr>
                          <a:rPr lang="es-ES" sz="2800" i="1">
                            <a:solidFill>
                              <a:srgbClr val="002060"/>
                            </a:solidFill>
                            <a:latin typeface="Cambria Math" panose="02040503050406030204" pitchFamily="18" charset="0"/>
                          </a:rPr>
                        </m:ctrlPr>
                      </m:sSubPr>
                      <m:e>
                        <m:r>
                          <a:rPr lang="es-ES" sz="2800" i="1">
                            <a:solidFill>
                              <a:srgbClr val="002060"/>
                            </a:solidFill>
                            <a:latin typeface="Cambria Math" panose="02040503050406030204" pitchFamily="18" charset="0"/>
                          </a:rPr>
                          <m:t>𝑤</m:t>
                        </m:r>
                      </m:e>
                      <m:sub>
                        <m:r>
                          <a:rPr lang="es-ES" sz="2800" i="1">
                            <a:solidFill>
                              <a:srgbClr val="002060"/>
                            </a:solidFill>
                            <a:latin typeface="Cambria Math" panose="02040503050406030204" pitchFamily="18" charset="0"/>
                          </a:rPr>
                          <m:t>1</m:t>
                        </m:r>
                        <m:r>
                          <a:rPr lang="es-ES" sz="2800" b="0" i="1" smtClean="0">
                            <a:solidFill>
                              <a:srgbClr val="002060"/>
                            </a:solidFill>
                            <a:latin typeface="Cambria Math" panose="02040503050406030204" pitchFamily="18" charset="0"/>
                          </a:rPr>
                          <m:t>𝑜𝑢𝑡</m:t>
                        </m:r>
                      </m:sub>
                    </m:sSub>
                    <m:r>
                      <a:rPr lang="es-ES" sz="2800" i="1">
                        <a:solidFill>
                          <a:srgbClr val="002060"/>
                        </a:solidFill>
                        <a:latin typeface="Cambria Math" panose="02040503050406030204" pitchFamily="18" charset="0"/>
                      </a:rPr>
                      <m:t>…</m:t>
                    </m:r>
                    <m:sSub>
                      <m:sSubPr>
                        <m:ctrlPr>
                          <a:rPr lang="es-ES" sz="2800" i="1">
                            <a:solidFill>
                              <a:srgbClr val="002060"/>
                            </a:solidFill>
                            <a:latin typeface="Cambria Math" panose="02040503050406030204" pitchFamily="18" charset="0"/>
                          </a:rPr>
                        </m:ctrlPr>
                      </m:sSubPr>
                      <m:e>
                        <m:r>
                          <a:rPr lang="es-ES" sz="2800" i="1">
                            <a:solidFill>
                              <a:srgbClr val="002060"/>
                            </a:solidFill>
                            <a:latin typeface="Cambria Math" panose="02040503050406030204" pitchFamily="18" charset="0"/>
                          </a:rPr>
                          <m:t>𝑤</m:t>
                        </m:r>
                      </m:e>
                      <m:sub>
                        <m:r>
                          <a:rPr lang="es-ES" sz="2800" i="1">
                            <a:solidFill>
                              <a:srgbClr val="002060"/>
                            </a:solidFill>
                            <a:latin typeface="Cambria Math" panose="02040503050406030204" pitchFamily="18" charset="0"/>
                          </a:rPr>
                          <m:t>4</m:t>
                        </m:r>
                        <m:r>
                          <a:rPr lang="es-ES" sz="2800" b="0" i="1" smtClean="0">
                            <a:solidFill>
                              <a:srgbClr val="002060"/>
                            </a:solidFill>
                            <a:latin typeface="Cambria Math" panose="02040503050406030204" pitchFamily="18" charset="0"/>
                          </a:rPr>
                          <m:t>𝑜𝑢𝑡</m:t>
                        </m:r>
                      </m:sub>
                    </m:sSub>
                  </m:oMath>
                </a14:m>
                <a:r>
                  <a:rPr lang="es-ES" sz="2800" dirty="0" smtClean="0">
                    <a:solidFill>
                      <a:srgbClr val="002060"/>
                    </a:solidFill>
                  </a:rPr>
                  <a:t>, de los sesgos </a:t>
                </a:r>
                <a14:m>
                  <m:oMath xmlns:m="http://schemas.openxmlformats.org/officeDocument/2006/math">
                    <m:sSub>
                      <m:sSubPr>
                        <m:ctrlPr>
                          <a:rPr lang="es-ES" sz="2800" i="1" smtClean="0">
                            <a:solidFill>
                              <a:srgbClr val="002060"/>
                            </a:solidFill>
                            <a:latin typeface="Cambria Math" panose="02040503050406030204" pitchFamily="18" charset="0"/>
                          </a:rPr>
                        </m:ctrlPr>
                      </m:sSubPr>
                      <m:e>
                        <m:r>
                          <a:rPr lang="es-ES" sz="2800" b="0" i="1" smtClean="0">
                            <a:solidFill>
                              <a:srgbClr val="002060"/>
                            </a:solidFill>
                            <a:latin typeface="Cambria Math" panose="02040503050406030204" pitchFamily="18" charset="0"/>
                          </a:rPr>
                          <m:t>𝑏</m:t>
                        </m:r>
                      </m:e>
                      <m:sub>
                        <m:r>
                          <a:rPr lang="es-ES" sz="2800" b="0" i="1" smtClean="0">
                            <a:solidFill>
                              <a:srgbClr val="002060"/>
                            </a:solidFill>
                            <a:latin typeface="Cambria Math" panose="02040503050406030204" pitchFamily="18" charset="0"/>
                          </a:rPr>
                          <m:t>1</m:t>
                        </m:r>
                      </m:sub>
                    </m:sSub>
                    <m:r>
                      <a:rPr lang="es-ES" sz="2800" b="0" i="1" smtClean="0">
                        <a:solidFill>
                          <a:srgbClr val="002060"/>
                        </a:solidFill>
                        <a:latin typeface="Cambria Math" panose="02040503050406030204" pitchFamily="18" charset="0"/>
                      </a:rPr>
                      <m:t>,…,</m:t>
                    </m:r>
                    <m:sSub>
                      <m:sSubPr>
                        <m:ctrlPr>
                          <a:rPr lang="es-ES" sz="2800" b="0" i="1" smtClean="0">
                            <a:solidFill>
                              <a:srgbClr val="002060"/>
                            </a:solidFill>
                            <a:latin typeface="Cambria Math" panose="02040503050406030204" pitchFamily="18" charset="0"/>
                          </a:rPr>
                        </m:ctrlPr>
                      </m:sSubPr>
                      <m:e>
                        <m:r>
                          <a:rPr lang="es-ES" sz="2800" b="0" i="1" smtClean="0">
                            <a:solidFill>
                              <a:srgbClr val="002060"/>
                            </a:solidFill>
                            <a:latin typeface="Cambria Math" panose="02040503050406030204" pitchFamily="18" charset="0"/>
                          </a:rPr>
                          <m:t>𝑏</m:t>
                        </m:r>
                      </m:e>
                      <m:sub>
                        <m:r>
                          <a:rPr lang="es-ES" sz="2800" b="0" i="1" smtClean="0">
                            <a:solidFill>
                              <a:srgbClr val="002060"/>
                            </a:solidFill>
                            <a:latin typeface="Cambria Math" panose="02040503050406030204" pitchFamily="18" charset="0"/>
                          </a:rPr>
                          <m:t>4</m:t>
                        </m:r>
                      </m:sub>
                    </m:sSub>
                  </m:oMath>
                </a14:m>
                <a:r>
                  <a:rPr lang="es-ES" sz="2800" dirty="0" smtClean="0">
                    <a:solidFill>
                      <a:srgbClr val="002060"/>
                    </a:solidFill>
                  </a:rPr>
                  <a:t>, y los resultados de las funciones de activación y combinación.</a:t>
                </a:r>
              </a:p>
              <a:p>
                <a:endParaRPr lang="es-ES" sz="2800" dirty="0">
                  <a:solidFill>
                    <a:srgbClr val="002060"/>
                  </a:solidFill>
                </a:endParaRPr>
              </a:p>
              <a:p>
                <a:r>
                  <a:rPr lang="es-ES" sz="2800" dirty="0" smtClean="0">
                    <a:solidFill>
                      <a:srgbClr val="002060"/>
                    </a:solidFill>
                  </a:rPr>
                  <a:t>El algoritmo </a:t>
                </a:r>
                <a:r>
                  <a:rPr lang="es-ES" sz="2800" i="1" dirty="0" err="1" smtClean="0">
                    <a:solidFill>
                      <a:srgbClr val="002060"/>
                    </a:solidFill>
                  </a:rPr>
                  <a:t>backpropagation</a:t>
                </a:r>
                <a:r>
                  <a:rPr lang="es-ES" sz="2800" i="1" dirty="0" smtClean="0">
                    <a:solidFill>
                      <a:srgbClr val="002060"/>
                    </a:solidFill>
                  </a:rPr>
                  <a:t> </a:t>
                </a:r>
                <a:r>
                  <a:rPr lang="es-ES" sz="2800" dirty="0" smtClean="0">
                    <a:solidFill>
                      <a:srgbClr val="002060"/>
                    </a:solidFill>
                  </a:rPr>
                  <a:t>es una etapa donde se presenta, ante la red entrenada, un patrón de entrada que se transmite a través de las capas para obtener una salida.</a:t>
                </a:r>
                <a:endParaRPr lang="es-ES" sz="2800" dirty="0">
                  <a:solidFill>
                    <a:srgbClr val="002060"/>
                  </a:solidFill>
                </a:endParaRPr>
              </a:p>
            </p:txBody>
          </p:sp>
        </mc:Choice>
        <mc:Fallback xmlns="">
          <p:sp>
            <p:nvSpPr>
              <p:cNvPr id="3" name="Marcador de texto 2"/>
              <p:cNvSpPr>
                <a:spLocks noGrp="1" noRot="1" noChangeAspect="1" noMove="1" noResize="1" noEditPoints="1" noAdjustHandles="1" noChangeArrowheads="1" noChangeShapeType="1" noTextEdit="1"/>
              </p:cNvSpPr>
              <p:nvPr>
                <p:ph type="body" idx="1"/>
              </p:nvPr>
            </p:nvSpPr>
            <p:spPr>
              <a:xfrm>
                <a:off x="698500" y="1495425"/>
                <a:ext cx="9448800" cy="3447098"/>
              </a:xfrm>
              <a:blipFill rotWithShape="0">
                <a:blip r:embed="rId2"/>
                <a:stretch>
                  <a:fillRect l="-2323" t="-3180" r="-2968" b="-5300"/>
                </a:stretch>
              </a:blipFill>
            </p:spPr>
            <p:txBody>
              <a:bodyPr/>
              <a:lstStyle/>
              <a:p>
                <a:r>
                  <a:rPr lang="es-ES">
                    <a:noFill/>
                  </a:rPr>
                  <a:t> </a:t>
                </a:r>
              </a:p>
            </p:txBody>
          </p:sp>
        </mc:Fallback>
      </mc:AlternateContent>
    </p:spTree>
    <p:extLst>
      <p:ext uri="{BB962C8B-B14F-4D97-AF65-F5344CB8AC3E}">
        <p14:creationId xmlns:p14="http://schemas.microsoft.com/office/powerpoint/2010/main" val="367597221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93700" y="428625"/>
            <a:ext cx="9906000" cy="1200329"/>
          </a:xfrm>
          <a:prstGeom prst="rect">
            <a:avLst/>
          </a:prstGeom>
        </p:spPr>
        <p:txBody>
          <a:bodyPr wrap="square">
            <a:spAutoFit/>
          </a:bodyPr>
          <a:lstStyle/>
          <a:p>
            <a:r>
              <a:rPr lang="es-ES" sz="3200" b="1" dirty="0" smtClean="0">
                <a:solidFill>
                  <a:schemeClr val="tx2"/>
                </a:solidFill>
              </a:rPr>
              <a:t>Algoritmo de aprendizaje: </a:t>
            </a:r>
            <a:r>
              <a:rPr lang="es-ES" sz="2000" dirty="0" smtClean="0">
                <a:solidFill>
                  <a:schemeClr val="tx2"/>
                </a:solidFill>
              </a:rPr>
              <a:t>método utilizado </a:t>
            </a:r>
            <a:r>
              <a:rPr lang="es-ES" sz="2000" dirty="0">
                <a:solidFill>
                  <a:schemeClr val="tx2"/>
                </a:solidFill>
              </a:rPr>
              <a:t>para ajustar los parámetros del modelo con el objetivo de minimizar la función de </a:t>
            </a:r>
            <a:r>
              <a:rPr lang="es-ES" sz="2000" dirty="0" smtClean="0">
                <a:solidFill>
                  <a:schemeClr val="tx2"/>
                </a:solidFill>
              </a:rPr>
              <a:t>pérdida. El </a:t>
            </a:r>
            <a:r>
              <a:rPr lang="es-ES" sz="2000" dirty="0">
                <a:solidFill>
                  <a:schemeClr val="tx2"/>
                </a:solidFill>
              </a:rPr>
              <a:t>algoritmo de aprendizaje guía la optimización de la función de pérdida a lo largo del proceso de entrenamiento</a:t>
            </a:r>
            <a:r>
              <a:rPr lang="es-ES" sz="2000" dirty="0" smtClean="0">
                <a:solidFill>
                  <a:schemeClr val="tx2"/>
                </a:solidFill>
              </a:rPr>
              <a:t>.</a:t>
            </a:r>
            <a:endParaRPr lang="es-ES" sz="2000" dirty="0"/>
          </a:p>
        </p:txBody>
      </p:sp>
      <p:sp>
        <p:nvSpPr>
          <p:cNvPr id="2" name="Rectángulo 1"/>
          <p:cNvSpPr/>
          <p:nvPr/>
        </p:nvSpPr>
        <p:spPr>
          <a:xfrm>
            <a:off x="546100" y="1628954"/>
            <a:ext cx="10058400" cy="5509200"/>
          </a:xfrm>
          <a:prstGeom prst="rect">
            <a:avLst/>
          </a:prstGeom>
        </p:spPr>
        <p:txBody>
          <a:bodyPr wrap="square">
            <a:spAutoFit/>
          </a:bodyPr>
          <a:lstStyle/>
          <a:p>
            <a:pPr>
              <a:buFont typeface="+mj-lt"/>
              <a:buAutoNum type="arabicPeriod"/>
            </a:pPr>
            <a:r>
              <a:rPr lang="es-ES" sz="1600" b="1" dirty="0" err="1" smtClean="0">
                <a:solidFill>
                  <a:srgbClr val="FF0000"/>
                </a:solidFill>
                <a:latin typeface="+mj-lt"/>
              </a:rPr>
              <a:t>Backpropagation</a:t>
            </a:r>
            <a:r>
              <a:rPr lang="es-ES" sz="1600" b="1" dirty="0" smtClean="0">
                <a:solidFill>
                  <a:srgbClr val="FF0000"/>
                </a:solidFill>
                <a:latin typeface="+mj-lt"/>
              </a:rPr>
              <a:t>/</a:t>
            </a:r>
            <a:r>
              <a:rPr lang="es-ES" sz="1600" b="1" dirty="0" err="1" smtClean="0">
                <a:solidFill>
                  <a:srgbClr val="FF0000"/>
                </a:solidFill>
                <a:latin typeface="+mj-lt"/>
              </a:rPr>
              <a:t>Retropropagación</a:t>
            </a:r>
            <a:r>
              <a:rPr lang="es-ES" sz="1600" b="1" dirty="0" smtClean="0">
                <a:solidFill>
                  <a:srgbClr val="FF0000"/>
                </a:solidFill>
                <a:latin typeface="+mj-lt"/>
              </a:rPr>
              <a:t> </a:t>
            </a:r>
            <a:r>
              <a:rPr lang="es-ES" sz="1600" b="1" dirty="0">
                <a:solidFill>
                  <a:srgbClr val="FF0000"/>
                </a:solidFill>
                <a:latin typeface="+mj-lt"/>
              </a:rPr>
              <a:t>del Error</a:t>
            </a:r>
            <a:r>
              <a:rPr lang="es-ES" sz="1600" b="1" dirty="0">
                <a:solidFill>
                  <a:srgbClr val="374151"/>
                </a:solidFill>
                <a:latin typeface="+mj-lt"/>
              </a:rPr>
              <a:t>:</a:t>
            </a:r>
            <a:r>
              <a:rPr lang="es-ES" sz="1600" dirty="0">
                <a:solidFill>
                  <a:srgbClr val="374151"/>
                </a:solidFill>
                <a:latin typeface="+mj-lt"/>
              </a:rPr>
              <a:t> </a:t>
            </a:r>
            <a:r>
              <a:rPr lang="es-ES" sz="1600" dirty="0" smtClean="0">
                <a:solidFill>
                  <a:srgbClr val="374151"/>
                </a:solidFill>
                <a:latin typeface="+mj-lt"/>
              </a:rPr>
              <a:t>utiliza </a:t>
            </a:r>
            <a:r>
              <a:rPr lang="es-ES" sz="1600" dirty="0">
                <a:solidFill>
                  <a:srgbClr val="374151"/>
                </a:solidFill>
                <a:latin typeface="+mj-lt"/>
              </a:rPr>
              <a:t>el descenso del gradiente para ajustar los </a:t>
            </a:r>
            <a:r>
              <a:rPr lang="es-ES" sz="1600" dirty="0" smtClean="0">
                <a:solidFill>
                  <a:srgbClr val="374151"/>
                </a:solidFill>
                <a:latin typeface="+mj-lt"/>
              </a:rPr>
              <a:t>pesos, </a:t>
            </a:r>
            <a:r>
              <a:rPr lang="es-ES" sz="1600" dirty="0">
                <a:solidFill>
                  <a:srgbClr val="374151"/>
                </a:solidFill>
                <a:latin typeface="+mj-lt"/>
              </a:rPr>
              <a:t>minimizando la diferencia entre las predicciones y las etiquetas </a:t>
            </a:r>
            <a:r>
              <a:rPr lang="es-ES" sz="1600" dirty="0" smtClean="0">
                <a:solidFill>
                  <a:srgbClr val="374151"/>
                </a:solidFill>
                <a:latin typeface="+mj-lt"/>
              </a:rPr>
              <a:t>reales</a:t>
            </a:r>
            <a:r>
              <a:rPr lang="es-ES" sz="1600" dirty="0">
                <a:solidFill>
                  <a:srgbClr val="374151"/>
                </a:solidFill>
                <a:latin typeface="+mj-lt"/>
              </a:rPr>
              <a:t>. Es uno de los algoritmos más comunes para el entrenamiento de redes neuronales supervisadas.</a:t>
            </a:r>
          </a:p>
          <a:p>
            <a:pPr>
              <a:buFont typeface="+mj-lt"/>
              <a:buAutoNum type="arabicPeriod"/>
            </a:pPr>
            <a:r>
              <a:rPr lang="es-ES" sz="1600" b="1" dirty="0" err="1">
                <a:solidFill>
                  <a:srgbClr val="374151"/>
                </a:solidFill>
                <a:latin typeface="+mj-lt"/>
              </a:rPr>
              <a:t>Boltzmann</a:t>
            </a:r>
            <a:r>
              <a:rPr lang="es-ES" sz="1600" b="1" dirty="0">
                <a:solidFill>
                  <a:srgbClr val="374151"/>
                </a:solidFill>
                <a:latin typeface="+mj-lt"/>
              </a:rPr>
              <a:t> Machines:</a:t>
            </a:r>
            <a:r>
              <a:rPr lang="es-ES" sz="1600" dirty="0">
                <a:solidFill>
                  <a:srgbClr val="374151"/>
                </a:solidFill>
                <a:latin typeface="+mj-lt"/>
              </a:rPr>
              <a:t> </a:t>
            </a:r>
            <a:r>
              <a:rPr lang="es-ES" sz="1600" dirty="0" smtClean="0">
                <a:solidFill>
                  <a:srgbClr val="374151"/>
                </a:solidFill>
                <a:latin typeface="+mj-lt"/>
              </a:rPr>
              <a:t>son </a:t>
            </a:r>
            <a:r>
              <a:rPr lang="es-ES" sz="1600" dirty="0">
                <a:solidFill>
                  <a:srgbClr val="374151"/>
                </a:solidFill>
                <a:latin typeface="+mj-lt"/>
              </a:rPr>
              <a:t>redes neuronales estocásticas basadas en máquinas de </a:t>
            </a:r>
            <a:r>
              <a:rPr lang="es-ES" sz="1600" dirty="0" err="1">
                <a:solidFill>
                  <a:srgbClr val="374151"/>
                </a:solidFill>
                <a:latin typeface="+mj-lt"/>
              </a:rPr>
              <a:t>Boltzmann</a:t>
            </a:r>
            <a:r>
              <a:rPr lang="es-ES" sz="1600" dirty="0">
                <a:solidFill>
                  <a:srgbClr val="374151"/>
                </a:solidFill>
                <a:latin typeface="+mj-lt"/>
              </a:rPr>
              <a:t>. </a:t>
            </a:r>
            <a:r>
              <a:rPr lang="es-ES" sz="1600" dirty="0" smtClean="0">
                <a:solidFill>
                  <a:srgbClr val="374151"/>
                </a:solidFill>
                <a:latin typeface="+mj-lt"/>
              </a:rPr>
              <a:t>Aplican </a:t>
            </a:r>
            <a:r>
              <a:rPr lang="es-ES" sz="1600" dirty="0">
                <a:solidFill>
                  <a:srgbClr val="374151"/>
                </a:solidFill>
                <a:latin typeface="+mj-lt"/>
              </a:rPr>
              <a:t>muestreo estocástico para aprender patrones en datos y pueden utilizarse para modelar distribuciones probabilísticas.</a:t>
            </a:r>
          </a:p>
          <a:p>
            <a:pPr>
              <a:buFont typeface="+mj-lt"/>
              <a:buAutoNum type="arabicPeriod"/>
            </a:pPr>
            <a:r>
              <a:rPr lang="es-ES" sz="1600" b="1" dirty="0">
                <a:solidFill>
                  <a:srgbClr val="374151"/>
                </a:solidFill>
                <a:latin typeface="+mj-lt"/>
              </a:rPr>
              <a:t>LVQ (Vector </a:t>
            </a:r>
            <a:r>
              <a:rPr lang="es-ES" sz="1600" b="1" dirty="0" err="1">
                <a:solidFill>
                  <a:srgbClr val="374151"/>
                </a:solidFill>
                <a:latin typeface="+mj-lt"/>
              </a:rPr>
              <a:t>Cuantizador</a:t>
            </a:r>
            <a:r>
              <a:rPr lang="es-ES" sz="1600" b="1" dirty="0">
                <a:solidFill>
                  <a:srgbClr val="374151"/>
                </a:solidFill>
                <a:latin typeface="+mj-lt"/>
              </a:rPr>
              <a:t> Competitivo):</a:t>
            </a:r>
            <a:r>
              <a:rPr lang="es-ES" sz="1600" dirty="0">
                <a:solidFill>
                  <a:srgbClr val="374151"/>
                </a:solidFill>
                <a:latin typeface="+mj-lt"/>
              </a:rPr>
              <a:t> </a:t>
            </a:r>
            <a:r>
              <a:rPr lang="es-ES" sz="1600" dirty="0" smtClean="0">
                <a:solidFill>
                  <a:srgbClr val="374151"/>
                </a:solidFill>
                <a:latin typeface="+mj-lt"/>
              </a:rPr>
              <a:t>algoritmo </a:t>
            </a:r>
            <a:r>
              <a:rPr lang="es-ES" sz="1600" dirty="0">
                <a:solidFill>
                  <a:srgbClr val="374151"/>
                </a:solidFill>
                <a:latin typeface="+mj-lt"/>
              </a:rPr>
              <a:t>de aprendizaje no supervisado que agrupa los datos de entrada en clases o categorías. Cada neurona compite por activarse según la entrada, y la neurona ganadora actualiza sus pesos para asemejarse más a la entrada.</a:t>
            </a:r>
          </a:p>
          <a:p>
            <a:pPr>
              <a:buFont typeface="+mj-lt"/>
              <a:buAutoNum type="arabicPeriod"/>
            </a:pPr>
            <a:r>
              <a:rPr lang="es-ES" sz="1600" b="1" dirty="0">
                <a:solidFill>
                  <a:srgbClr val="374151"/>
                </a:solidFill>
                <a:latin typeface="+mj-lt"/>
              </a:rPr>
              <a:t>Memoria Asociativa:</a:t>
            </a:r>
            <a:r>
              <a:rPr lang="es-ES" sz="1600" dirty="0">
                <a:solidFill>
                  <a:srgbClr val="374151"/>
                </a:solidFill>
                <a:latin typeface="+mj-lt"/>
              </a:rPr>
              <a:t> </a:t>
            </a:r>
            <a:r>
              <a:rPr lang="es-ES" sz="1600" dirty="0" smtClean="0">
                <a:solidFill>
                  <a:srgbClr val="374151"/>
                </a:solidFill>
                <a:latin typeface="+mj-lt"/>
              </a:rPr>
              <a:t>redes </a:t>
            </a:r>
            <a:r>
              <a:rPr lang="es-ES" sz="1600" dirty="0">
                <a:solidFill>
                  <a:srgbClr val="374151"/>
                </a:solidFill>
                <a:latin typeface="+mj-lt"/>
              </a:rPr>
              <a:t>diseñadas para recordar y recuperar patrones específicos de entrada asociados con patrones de salida correspondientes.</a:t>
            </a:r>
          </a:p>
          <a:p>
            <a:pPr>
              <a:buFont typeface="+mj-lt"/>
              <a:buAutoNum type="arabicPeriod"/>
            </a:pPr>
            <a:r>
              <a:rPr lang="es-ES" sz="1600" b="1" dirty="0" err="1">
                <a:solidFill>
                  <a:srgbClr val="374151"/>
                </a:solidFill>
                <a:latin typeface="+mj-lt"/>
              </a:rPr>
              <a:t>ARTMap</a:t>
            </a:r>
            <a:r>
              <a:rPr lang="es-ES" sz="1600" b="1" dirty="0">
                <a:solidFill>
                  <a:srgbClr val="374151"/>
                </a:solidFill>
                <a:latin typeface="+mj-lt"/>
              </a:rPr>
              <a:t> (</a:t>
            </a:r>
            <a:r>
              <a:rPr lang="es-ES" sz="1600" b="1" dirty="0" err="1">
                <a:solidFill>
                  <a:srgbClr val="374151"/>
                </a:solidFill>
                <a:latin typeface="+mj-lt"/>
              </a:rPr>
              <a:t>Adaptive</a:t>
            </a:r>
            <a:r>
              <a:rPr lang="es-ES" sz="1600" b="1" dirty="0">
                <a:solidFill>
                  <a:srgbClr val="374151"/>
                </a:solidFill>
                <a:latin typeface="+mj-lt"/>
              </a:rPr>
              <a:t> </a:t>
            </a:r>
            <a:r>
              <a:rPr lang="es-ES" sz="1600" b="1" dirty="0" err="1">
                <a:solidFill>
                  <a:srgbClr val="374151"/>
                </a:solidFill>
                <a:latin typeface="+mj-lt"/>
              </a:rPr>
              <a:t>Resonance</a:t>
            </a:r>
            <a:r>
              <a:rPr lang="es-ES" sz="1600" b="1" dirty="0">
                <a:solidFill>
                  <a:srgbClr val="374151"/>
                </a:solidFill>
                <a:latin typeface="+mj-lt"/>
              </a:rPr>
              <a:t> </a:t>
            </a:r>
            <a:r>
              <a:rPr lang="es-ES" sz="1600" b="1" dirty="0" err="1">
                <a:solidFill>
                  <a:srgbClr val="374151"/>
                </a:solidFill>
                <a:latin typeface="+mj-lt"/>
              </a:rPr>
              <a:t>Theory</a:t>
            </a:r>
            <a:r>
              <a:rPr lang="es-ES" sz="1600" b="1" dirty="0">
                <a:solidFill>
                  <a:srgbClr val="374151"/>
                </a:solidFill>
                <a:latin typeface="+mj-lt"/>
              </a:rPr>
              <a:t> </a:t>
            </a:r>
            <a:r>
              <a:rPr lang="es-ES" sz="1600" b="1" dirty="0" err="1">
                <a:solidFill>
                  <a:srgbClr val="374151"/>
                </a:solidFill>
                <a:latin typeface="+mj-lt"/>
              </a:rPr>
              <a:t>Map</a:t>
            </a:r>
            <a:r>
              <a:rPr lang="es-ES" sz="1600" b="1" dirty="0">
                <a:solidFill>
                  <a:srgbClr val="374151"/>
                </a:solidFill>
                <a:latin typeface="+mj-lt"/>
              </a:rPr>
              <a:t>):</a:t>
            </a:r>
            <a:r>
              <a:rPr lang="es-ES" sz="1600" dirty="0">
                <a:solidFill>
                  <a:srgbClr val="374151"/>
                </a:solidFill>
                <a:latin typeface="+mj-lt"/>
              </a:rPr>
              <a:t> </a:t>
            </a:r>
            <a:r>
              <a:rPr lang="es-ES" sz="1600" dirty="0" smtClean="0">
                <a:solidFill>
                  <a:srgbClr val="374151"/>
                </a:solidFill>
                <a:latin typeface="+mj-lt"/>
              </a:rPr>
              <a:t>utiliza </a:t>
            </a:r>
            <a:r>
              <a:rPr lang="es-ES" sz="1600" dirty="0">
                <a:solidFill>
                  <a:srgbClr val="374151"/>
                </a:solidFill>
                <a:latin typeface="+mj-lt"/>
              </a:rPr>
              <a:t>reglas de aprendizaje adaptativas y resonancia para clasificar patrones de entrada en categorías específicas.</a:t>
            </a:r>
          </a:p>
          <a:p>
            <a:pPr>
              <a:buFont typeface="+mj-lt"/>
              <a:buAutoNum type="arabicPeriod"/>
            </a:pPr>
            <a:r>
              <a:rPr lang="es-ES" sz="1600" b="1" dirty="0">
                <a:solidFill>
                  <a:srgbClr val="374151"/>
                </a:solidFill>
                <a:latin typeface="+mj-lt"/>
              </a:rPr>
              <a:t>Proyección de Shannon:</a:t>
            </a:r>
            <a:r>
              <a:rPr lang="es-ES" sz="1600" dirty="0">
                <a:solidFill>
                  <a:srgbClr val="374151"/>
                </a:solidFill>
                <a:latin typeface="+mj-lt"/>
              </a:rPr>
              <a:t> </a:t>
            </a:r>
            <a:r>
              <a:rPr lang="es-ES" sz="1600" dirty="0" smtClean="0">
                <a:solidFill>
                  <a:srgbClr val="374151"/>
                </a:solidFill>
                <a:latin typeface="+mj-lt"/>
              </a:rPr>
              <a:t>técnicas </a:t>
            </a:r>
            <a:r>
              <a:rPr lang="es-ES" sz="1600" dirty="0">
                <a:solidFill>
                  <a:srgbClr val="374151"/>
                </a:solidFill>
                <a:latin typeface="+mj-lt"/>
              </a:rPr>
              <a:t>basadas en la teoría de la información de Shannon para proyectar datos en un espacio más compacto o para reducir la </a:t>
            </a:r>
            <a:r>
              <a:rPr lang="es-ES" sz="1600" dirty="0" err="1">
                <a:solidFill>
                  <a:srgbClr val="374151"/>
                </a:solidFill>
                <a:latin typeface="+mj-lt"/>
              </a:rPr>
              <a:t>dimensionalidad</a:t>
            </a:r>
            <a:r>
              <a:rPr lang="es-ES" sz="1600" dirty="0">
                <a:solidFill>
                  <a:srgbClr val="374151"/>
                </a:solidFill>
                <a:latin typeface="+mj-lt"/>
              </a:rPr>
              <a:t>.</a:t>
            </a:r>
          </a:p>
          <a:p>
            <a:pPr>
              <a:buFont typeface="+mj-lt"/>
              <a:buAutoNum type="arabicPeriod"/>
            </a:pPr>
            <a:r>
              <a:rPr lang="es-ES" sz="1600" b="1" dirty="0" err="1">
                <a:solidFill>
                  <a:srgbClr val="374151"/>
                </a:solidFill>
                <a:latin typeface="+mj-lt"/>
              </a:rPr>
              <a:t>Kohonen</a:t>
            </a:r>
            <a:r>
              <a:rPr lang="es-ES" sz="1600" b="1" dirty="0">
                <a:solidFill>
                  <a:srgbClr val="374151"/>
                </a:solidFill>
                <a:latin typeface="+mj-lt"/>
              </a:rPr>
              <a:t> SOM (Mapa </a:t>
            </a:r>
            <a:r>
              <a:rPr lang="es-ES" sz="1600" b="1" dirty="0" err="1">
                <a:solidFill>
                  <a:srgbClr val="374151"/>
                </a:solidFill>
                <a:latin typeface="+mj-lt"/>
              </a:rPr>
              <a:t>Autoorganizado</a:t>
            </a:r>
            <a:r>
              <a:rPr lang="es-ES" sz="1600" b="1" dirty="0">
                <a:solidFill>
                  <a:srgbClr val="374151"/>
                </a:solidFill>
                <a:latin typeface="+mj-lt"/>
              </a:rPr>
              <a:t> de </a:t>
            </a:r>
            <a:r>
              <a:rPr lang="es-ES" sz="1600" b="1" dirty="0" err="1">
                <a:solidFill>
                  <a:srgbClr val="374151"/>
                </a:solidFill>
                <a:latin typeface="+mj-lt"/>
              </a:rPr>
              <a:t>Kohonen</a:t>
            </a:r>
            <a:r>
              <a:rPr lang="es-ES" sz="1600" b="1" dirty="0">
                <a:solidFill>
                  <a:srgbClr val="374151"/>
                </a:solidFill>
                <a:latin typeface="+mj-lt"/>
              </a:rPr>
              <a:t>):</a:t>
            </a:r>
            <a:r>
              <a:rPr lang="es-ES" sz="1600" dirty="0">
                <a:solidFill>
                  <a:srgbClr val="374151"/>
                </a:solidFill>
                <a:latin typeface="+mj-lt"/>
              </a:rPr>
              <a:t> </a:t>
            </a:r>
            <a:r>
              <a:rPr lang="es-ES" sz="1600" dirty="0" smtClean="0">
                <a:solidFill>
                  <a:srgbClr val="374151"/>
                </a:solidFill>
                <a:latin typeface="+mj-lt"/>
              </a:rPr>
              <a:t>algoritmo </a:t>
            </a:r>
            <a:r>
              <a:rPr lang="es-ES" sz="1600" dirty="0">
                <a:solidFill>
                  <a:srgbClr val="374151"/>
                </a:solidFill>
                <a:latin typeface="+mj-lt"/>
              </a:rPr>
              <a:t>de aprendizaje no supervisado que organiza datos en un mapa topológico bidimensional, </a:t>
            </a:r>
            <a:r>
              <a:rPr lang="es-ES" sz="1600" dirty="0" smtClean="0">
                <a:solidFill>
                  <a:srgbClr val="374151"/>
                </a:solidFill>
                <a:latin typeface="+mj-lt"/>
              </a:rPr>
              <a:t>manteniendo </a:t>
            </a:r>
            <a:r>
              <a:rPr lang="es-ES" sz="1600" dirty="0">
                <a:solidFill>
                  <a:srgbClr val="374151"/>
                </a:solidFill>
                <a:latin typeface="+mj-lt"/>
              </a:rPr>
              <a:t>las relaciones entre los datos </a:t>
            </a:r>
            <a:r>
              <a:rPr lang="es-ES" sz="1600" dirty="0" smtClean="0">
                <a:solidFill>
                  <a:srgbClr val="374151"/>
                </a:solidFill>
                <a:latin typeface="+mj-lt"/>
              </a:rPr>
              <a:t>input.</a:t>
            </a:r>
            <a:endParaRPr lang="es-ES" sz="1600" dirty="0">
              <a:solidFill>
                <a:srgbClr val="374151"/>
              </a:solidFill>
              <a:latin typeface="+mj-lt"/>
            </a:endParaRPr>
          </a:p>
          <a:p>
            <a:pPr>
              <a:buFont typeface="+mj-lt"/>
              <a:buAutoNum type="arabicPeriod"/>
            </a:pPr>
            <a:r>
              <a:rPr lang="es-ES" sz="1600" b="1" dirty="0">
                <a:solidFill>
                  <a:srgbClr val="374151"/>
                </a:solidFill>
                <a:latin typeface="+mj-lt"/>
              </a:rPr>
              <a:t>ART (</a:t>
            </a:r>
            <a:r>
              <a:rPr lang="es-ES" sz="1600" b="1" dirty="0" err="1">
                <a:solidFill>
                  <a:srgbClr val="374151"/>
                </a:solidFill>
                <a:latin typeface="+mj-lt"/>
              </a:rPr>
              <a:t>Adaptive</a:t>
            </a:r>
            <a:r>
              <a:rPr lang="es-ES" sz="1600" b="1" dirty="0">
                <a:solidFill>
                  <a:srgbClr val="374151"/>
                </a:solidFill>
                <a:latin typeface="+mj-lt"/>
              </a:rPr>
              <a:t> </a:t>
            </a:r>
            <a:r>
              <a:rPr lang="es-ES" sz="1600" b="1" dirty="0" err="1">
                <a:solidFill>
                  <a:srgbClr val="374151"/>
                </a:solidFill>
                <a:latin typeface="+mj-lt"/>
              </a:rPr>
              <a:t>Resonance</a:t>
            </a:r>
            <a:r>
              <a:rPr lang="es-ES" sz="1600" b="1" dirty="0">
                <a:solidFill>
                  <a:srgbClr val="374151"/>
                </a:solidFill>
                <a:latin typeface="+mj-lt"/>
              </a:rPr>
              <a:t> </a:t>
            </a:r>
            <a:r>
              <a:rPr lang="es-ES" sz="1600" b="1" dirty="0" err="1">
                <a:solidFill>
                  <a:srgbClr val="374151"/>
                </a:solidFill>
                <a:latin typeface="+mj-lt"/>
              </a:rPr>
              <a:t>Theory</a:t>
            </a:r>
            <a:r>
              <a:rPr lang="es-ES" sz="1600" b="1" dirty="0">
                <a:solidFill>
                  <a:srgbClr val="374151"/>
                </a:solidFill>
                <a:latin typeface="+mj-lt"/>
              </a:rPr>
              <a:t>):</a:t>
            </a:r>
            <a:r>
              <a:rPr lang="es-ES" sz="1600" dirty="0">
                <a:solidFill>
                  <a:srgbClr val="374151"/>
                </a:solidFill>
                <a:latin typeface="+mj-lt"/>
              </a:rPr>
              <a:t> Es un conjunto de algoritmos diseñados para aprendizaje no supervisado y supervisado, permitiendo a la red adaptarse a nuevos patrones sin olvidar los antiguos.</a:t>
            </a:r>
          </a:p>
          <a:p>
            <a:pPr>
              <a:buFont typeface="+mj-lt"/>
              <a:buAutoNum type="arabicPeriod"/>
            </a:pPr>
            <a:r>
              <a:rPr lang="es-ES" sz="1600" b="1" dirty="0">
                <a:solidFill>
                  <a:srgbClr val="374151"/>
                </a:solidFill>
                <a:latin typeface="+mj-lt"/>
              </a:rPr>
              <a:t>Análisis Lineal de Discriminante (LDA):</a:t>
            </a:r>
            <a:r>
              <a:rPr lang="es-ES" sz="1600" dirty="0">
                <a:solidFill>
                  <a:srgbClr val="374151"/>
                </a:solidFill>
                <a:latin typeface="+mj-lt"/>
              </a:rPr>
              <a:t> </a:t>
            </a:r>
            <a:r>
              <a:rPr lang="es-ES" sz="1600" dirty="0" smtClean="0">
                <a:solidFill>
                  <a:srgbClr val="374151"/>
                </a:solidFill>
                <a:latin typeface="+mj-lt"/>
              </a:rPr>
              <a:t>técnica </a:t>
            </a:r>
            <a:r>
              <a:rPr lang="es-ES" sz="1600" dirty="0">
                <a:solidFill>
                  <a:srgbClr val="374151"/>
                </a:solidFill>
                <a:latin typeface="+mj-lt"/>
              </a:rPr>
              <a:t>de reducción de </a:t>
            </a:r>
            <a:r>
              <a:rPr lang="es-ES" sz="1600" dirty="0" err="1">
                <a:solidFill>
                  <a:srgbClr val="374151"/>
                </a:solidFill>
                <a:latin typeface="+mj-lt"/>
              </a:rPr>
              <a:t>dimensionalidad</a:t>
            </a:r>
            <a:r>
              <a:rPr lang="es-ES" sz="1600" dirty="0">
                <a:solidFill>
                  <a:srgbClr val="374151"/>
                </a:solidFill>
                <a:latin typeface="+mj-lt"/>
              </a:rPr>
              <a:t> que maximiza la separación entre clases en los datos.</a:t>
            </a:r>
          </a:p>
          <a:p>
            <a:pPr>
              <a:buFont typeface="+mj-lt"/>
              <a:buAutoNum type="arabicPeriod"/>
            </a:pPr>
            <a:r>
              <a:rPr lang="es-ES" sz="1600" b="1" dirty="0">
                <a:solidFill>
                  <a:srgbClr val="374151"/>
                </a:solidFill>
                <a:latin typeface="+mj-lt"/>
              </a:rPr>
              <a:t>Análisis de Componentes Principales (PCA):</a:t>
            </a:r>
            <a:r>
              <a:rPr lang="es-ES" sz="1600" dirty="0">
                <a:solidFill>
                  <a:srgbClr val="374151"/>
                </a:solidFill>
                <a:latin typeface="+mj-lt"/>
              </a:rPr>
              <a:t> </a:t>
            </a:r>
            <a:r>
              <a:rPr lang="es-ES" sz="1600" dirty="0" smtClean="0">
                <a:solidFill>
                  <a:srgbClr val="374151"/>
                </a:solidFill>
                <a:latin typeface="+mj-lt"/>
              </a:rPr>
              <a:t>técnica </a:t>
            </a:r>
            <a:r>
              <a:rPr lang="es-ES" sz="1600" dirty="0">
                <a:solidFill>
                  <a:srgbClr val="374151"/>
                </a:solidFill>
                <a:latin typeface="+mj-lt"/>
              </a:rPr>
              <a:t>de reducción de </a:t>
            </a:r>
            <a:r>
              <a:rPr lang="es-ES" sz="1600" dirty="0" err="1">
                <a:solidFill>
                  <a:srgbClr val="374151"/>
                </a:solidFill>
                <a:latin typeface="+mj-lt"/>
              </a:rPr>
              <a:t>dimensionalidad</a:t>
            </a:r>
            <a:r>
              <a:rPr lang="es-ES" sz="1600" dirty="0">
                <a:solidFill>
                  <a:srgbClr val="374151"/>
                </a:solidFill>
                <a:latin typeface="+mj-lt"/>
              </a:rPr>
              <a:t> que busca proyectar los datos en un nuevo espacio donde las variables están </a:t>
            </a:r>
            <a:r>
              <a:rPr lang="es-ES" sz="1600" dirty="0" err="1">
                <a:solidFill>
                  <a:srgbClr val="374151"/>
                </a:solidFill>
                <a:latin typeface="+mj-lt"/>
              </a:rPr>
              <a:t>descorrelacionadas</a:t>
            </a:r>
            <a:r>
              <a:rPr lang="es-ES" sz="1600" dirty="0">
                <a:solidFill>
                  <a:srgbClr val="374151"/>
                </a:solidFill>
                <a:latin typeface="+mj-lt"/>
              </a:rPr>
              <a:t>.</a:t>
            </a:r>
            <a:endParaRPr lang="es-ES" sz="1600" b="0" i="0" dirty="0">
              <a:solidFill>
                <a:srgbClr val="374151"/>
              </a:solidFill>
              <a:effectLst/>
              <a:latin typeface="+mj-lt"/>
            </a:endParaRPr>
          </a:p>
        </p:txBody>
      </p:sp>
    </p:spTree>
    <p:extLst>
      <p:ext uri="{BB962C8B-B14F-4D97-AF65-F5344CB8AC3E}">
        <p14:creationId xmlns:p14="http://schemas.microsoft.com/office/powerpoint/2010/main" val="81553142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93700" y="428625"/>
            <a:ext cx="9448799" cy="892552"/>
          </a:xfrm>
          <a:prstGeom prst="rect">
            <a:avLst/>
          </a:prstGeom>
        </p:spPr>
        <p:txBody>
          <a:bodyPr wrap="square">
            <a:spAutoFit/>
          </a:bodyPr>
          <a:lstStyle/>
          <a:p>
            <a:pPr algn="just"/>
            <a:r>
              <a:rPr lang="es-ES" sz="3200" b="1" dirty="0" smtClean="0">
                <a:solidFill>
                  <a:schemeClr val="tx2"/>
                </a:solidFill>
              </a:rPr>
              <a:t>Función de activación: </a:t>
            </a:r>
            <a:r>
              <a:rPr lang="es-ES" sz="2000" dirty="0" smtClean="0">
                <a:solidFill>
                  <a:schemeClr val="tx2"/>
                </a:solidFill>
              </a:rPr>
              <a:t>sirve para devolver una salida a partir de un valor de entrada, normalmente en un rango de salida determinado como [0,1</a:t>
            </a:r>
            <a:r>
              <a:rPr lang="es-ES" sz="2000" dirty="0">
                <a:solidFill>
                  <a:schemeClr val="tx2"/>
                </a:solidFill>
              </a:rPr>
              <a:t>]</a:t>
            </a:r>
            <a:r>
              <a:rPr lang="es-ES" sz="2000" dirty="0" smtClean="0">
                <a:solidFill>
                  <a:schemeClr val="tx2"/>
                </a:solidFill>
              </a:rPr>
              <a:t> o [-1,1]</a:t>
            </a:r>
            <a:endParaRPr lang="es-ES" sz="2000" dirty="0"/>
          </a:p>
        </p:txBody>
      </p:sp>
      <mc:AlternateContent xmlns:mc="http://schemas.openxmlformats.org/markup-compatibility/2006" xmlns:a14="http://schemas.microsoft.com/office/drawing/2010/main">
        <mc:Choice Requires="a14">
          <p:sp>
            <p:nvSpPr>
              <p:cNvPr id="5" name="Rectángulo 4"/>
              <p:cNvSpPr/>
              <p:nvPr/>
            </p:nvSpPr>
            <p:spPr>
              <a:xfrm>
                <a:off x="651763" y="1647825"/>
                <a:ext cx="9694672" cy="5062989"/>
              </a:xfrm>
              <a:prstGeom prst="rect">
                <a:avLst/>
              </a:prstGeom>
            </p:spPr>
            <p:txBody>
              <a:bodyPr wrap="square">
                <a:spAutoFit/>
              </a:bodyPr>
              <a:lstStyle/>
              <a:p>
                <a:pPr/>
                <a:r>
                  <a:rPr lang="es-ES" b="1" dirty="0">
                    <a:latin typeface="+mj-lt"/>
                  </a:rPr>
                  <a:t>Tangente hiperbólica</a:t>
                </a:r>
                <a:r>
                  <a:rPr lang="es-ES" dirty="0">
                    <a:latin typeface="+mj-lt"/>
                  </a:rPr>
                  <a:t>: la función tangente hiperbólica transforma los valores introducidos a una escala [-1,1], donde los valores altos tienen de manera asintótica a 1 y los valores muy bajos tienden de manera asintótica a -1. Se suele aplicar en clasificación </a:t>
                </a:r>
                <a:r>
                  <a:rPr lang="es-ES" dirty="0" err="1">
                    <a:latin typeface="+mj-lt"/>
                  </a:rPr>
                  <a:t>multiclase</a:t>
                </a:r>
                <a:r>
                  <a:rPr lang="es-ES" dirty="0">
                    <a:latin typeface="+mj-lt"/>
                  </a:rPr>
                  <a:t> y regresión.</a:t>
                </a:r>
                <a:br>
                  <a:rPr lang="es-ES" dirty="0">
                    <a:latin typeface="+mj-lt"/>
                  </a:rPr>
                </a:br>
                <a14:m>
                  <m:oMathPara xmlns:m="http://schemas.openxmlformats.org/officeDocument/2006/math">
                    <m:oMathParaPr>
                      <m:jc m:val="centerGroup"/>
                    </m:oMathParaPr>
                    <m:oMath xmlns:m="http://schemas.openxmlformats.org/officeDocument/2006/math">
                      <m:r>
                        <a:rPr lang="es-ES" sz="1600" i="1">
                          <a:latin typeface="Cambria Math" panose="02040503050406030204" pitchFamily="18" charset="0"/>
                        </a:rPr>
                        <m:t>𝑓</m:t>
                      </m:r>
                      <m:d>
                        <m:dPr>
                          <m:ctrlPr>
                            <a:rPr lang="es-ES" sz="1600" i="1">
                              <a:latin typeface="Cambria Math" panose="02040503050406030204" pitchFamily="18" charset="0"/>
                            </a:rPr>
                          </m:ctrlPr>
                        </m:dPr>
                        <m:e>
                          <m:r>
                            <a:rPr lang="es-ES" sz="1600" i="1">
                              <a:latin typeface="Cambria Math" panose="02040503050406030204" pitchFamily="18" charset="0"/>
                            </a:rPr>
                            <m:t>𝑥</m:t>
                          </m:r>
                        </m:e>
                      </m:d>
                      <m:r>
                        <a:rPr lang="es-ES" sz="1600" i="1">
                          <a:latin typeface="Cambria Math" panose="02040503050406030204" pitchFamily="18" charset="0"/>
                        </a:rPr>
                        <m:t>=</m:t>
                      </m:r>
                      <m:f>
                        <m:fPr>
                          <m:ctrlPr>
                            <a:rPr lang="es-ES" sz="1600" i="1">
                              <a:latin typeface="Cambria Math" panose="02040503050406030204" pitchFamily="18" charset="0"/>
                            </a:rPr>
                          </m:ctrlPr>
                        </m:fPr>
                        <m:num>
                          <m:r>
                            <a:rPr lang="es-ES" sz="1600" i="1">
                              <a:latin typeface="Cambria Math" panose="02040503050406030204" pitchFamily="18" charset="0"/>
                            </a:rPr>
                            <m:t>2</m:t>
                          </m:r>
                        </m:num>
                        <m:den>
                          <m:r>
                            <a:rPr lang="es-ES" sz="1600" i="1">
                              <a:latin typeface="Cambria Math" panose="02040503050406030204" pitchFamily="18" charset="0"/>
                            </a:rPr>
                            <m:t>1+</m:t>
                          </m:r>
                          <m:sSup>
                            <m:sSupPr>
                              <m:ctrlPr>
                                <a:rPr lang="es-ES" sz="1600" i="1">
                                  <a:latin typeface="Cambria Math" panose="02040503050406030204" pitchFamily="18" charset="0"/>
                                </a:rPr>
                              </m:ctrlPr>
                            </m:sSupPr>
                            <m:e>
                              <m:r>
                                <a:rPr lang="es-ES" sz="1600" i="1">
                                  <a:latin typeface="Cambria Math" panose="02040503050406030204" pitchFamily="18" charset="0"/>
                                </a:rPr>
                                <m:t>𝑒</m:t>
                              </m:r>
                            </m:e>
                            <m:sup>
                              <m:r>
                                <a:rPr lang="es-ES" sz="1600" i="1">
                                  <a:latin typeface="Cambria Math" panose="02040503050406030204" pitchFamily="18" charset="0"/>
                                </a:rPr>
                                <m:t>−2</m:t>
                              </m:r>
                              <m:r>
                                <a:rPr lang="es-ES" sz="1600" i="1">
                                  <a:latin typeface="Cambria Math" panose="02040503050406030204" pitchFamily="18" charset="0"/>
                                </a:rPr>
                                <m:t>𝑥</m:t>
                              </m:r>
                            </m:sup>
                          </m:sSup>
                        </m:den>
                      </m:f>
                      <m:r>
                        <a:rPr lang="es-ES" sz="1600" i="1">
                          <a:latin typeface="Cambria Math" panose="02040503050406030204" pitchFamily="18" charset="0"/>
                        </a:rPr>
                        <m:t>−1</m:t>
                      </m:r>
                    </m:oMath>
                  </m:oMathPara>
                </a14:m>
                <a:r>
                  <a:rPr lang="es-ES" dirty="0">
                    <a:latin typeface="+mj-lt"/>
                  </a:rPr>
                  <a:t/>
                </a:r>
                <a:br>
                  <a:rPr lang="es-ES" dirty="0">
                    <a:latin typeface="+mj-lt"/>
                  </a:rPr>
                </a:br>
                <a:r>
                  <a:rPr lang="es-ES" dirty="0">
                    <a:latin typeface="+mj-lt"/>
                  </a:rPr>
                  <a:t/>
                </a:r>
                <a:br>
                  <a:rPr lang="es-ES" dirty="0">
                    <a:latin typeface="+mj-lt"/>
                  </a:rPr>
                </a:br>
                <a:r>
                  <a:rPr lang="es-ES" b="1" dirty="0" err="1">
                    <a:latin typeface="+mj-lt"/>
                  </a:rPr>
                  <a:t>Sigmoide</a:t>
                </a:r>
                <a:r>
                  <a:rPr lang="es-ES" b="1" dirty="0">
                    <a:latin typeface="+mj-lt"/>
                  </a:rPr>
                  <a:t>: </a:t>
                </a:r>
                <a:r>
                  <a:rPr lang="es-ES" dirty="0">
                    <a:latin typeface="+mj-lt"/>
                  </a:rPr>
                  <a:t>transforma los valores introducidos a una escala [0,1], donde los valores altos tienen de manera asintótica a 1 y los valores muy bajos tienden de manera asintótica a 0.  S suele aplicar en clasificación binaria. Se puede </a:t>
                </a:r>
                <a:r>
                  <a:rPr lang="es-ES" dirty="0" err="1">
                    <a:latin typeface="+mj-lt"/>
                  </a:rPr>
                  <a:t>intepretar</a:t>
                </a:r>
                <a:r>
                  <a:rPr lang="es-ES" dirty="0">
                    <a:latin typeface="+mj-lt"/>
                  </a:rPr>
                  <a:t> como probabilidad de pertenencia a la clase positiva.</a:t>
                </a:r>
                <a:br>
                  <a:rPr lang="es-ES" dirty="0">
                    <a:latin typeface="+mj-lt"/>
                  </a:rPr>
                </a:br>
                <a:r>
                  <a:rPr lang="es-ES" dirty="0">
                    <a:latin typeface="+mj-lt"/>
                  </a:rPr>
                  <a:t/>
                </a:r>
                <a:br>
                  <a:rPr lang="es-ES" dirty="0">
                    <a:latin typeface="+mj-lt"/>
                  </a:rPr>
                </a:br>
                <a:r>
                  <a:rPr lang="es-ES" dirty="0">
                    <a:latin typeface="+mj-lt"/>
                  </a:rPr>
                  <a:t>                                                                 </a:t>
                </a:r>
                <a14:m>
                  <m:oMath xmlns:m="http://schemas.openxmlformats.org/officeDocument/2006/math">
                    <m:r>
                      <a:rPr lang="es-ES" sz="1600">
                        <a:latin typeface="Cambria Math" panose="02040503050406030204" pitchFamily="18" charset="0"/>
                      </a:rPr>
                      <m:t>                       </m:t>
                    </m:r>
                    <m:r>
                      <a:rPr lang="es-ES" sz="1600" i="1">
                        <a:latin typeface="Cambria Math" panose="02040503050406030204" pitchFamily="18" charset="0"/>
                      </a:rPr>
                      <m:t>𝑓</m:t>
                    </m:r>
                    <m:d>
                      <m:dPr>
                        <m:ctrlPr>
                          <a:rPr lang="es-ES" sz="1600" i="1">
                            <a:latin typeface="Cambria Math" panose="02040503050406030204" pitchFamily="18" charset="0"/>
                          </a:rPr>
                        </m:ctrlPr>
                      </m:dPr>
                      <m:e>
                        <m:r>
                          <a:rPr lang="es-ES" sz="1600" i="1">
                            <a:latin typeface="Cambria Math" panose="02040503050406030204" pitchFamily="18" charset="0"/>
                          </a:rPr>
                          <m:t>𝑥</m:t>
                        </m:r>
                      </m:e>
                    </m:d>
                    <m:r>
                      <a:rPr lang="es-ES" sz="1600" i="1">
                        <a:latin typeface="Cambria Math" panose="02040503050406030204" pitchFamily="18" charset="0"/>
                      </a:rPr>
                      <m:t>=</m:t>
                    </m:r>
                    <m:f>
                      <m:fPr>
                        <m:ctrlPr>
                          <a:rPr lang="es-ES" sz="1600" i="1">
                            <a:latin typeface="Cambria Math" panose="02040503050406030204" pitchFamily="18" charset="0"/>
                          </a:rPr>
                        </m:ctrlPr>
                      </m:fPr>
                      <m:num>
                        <m:r>
                          <a:rPr lang="es-ES" sz="1600" i="1">
                            <a:latin typeface="Cambria Math" panose="02040503050406030204" pitchFamily="18" charset="0"/>
                          </a:rPr>
                          <m:t>1</m:t>
                        </m:r>
                      </m:num>
                      <m:den>
                        <m:r>
                          <a:rPr lang="es-ES" sz="1600" i="1">
                            <a:latin typeface="Cambria Math" panose="02040503050406030204" pitchFamily="18" charset="0"/>
                          </a:rPr>
                          <m:t>1−</m:t>
                        </m:r>
                        <m:sSup>
                          <m:sSupPr>
                            <m:ctrlPr>
                              <a:rPr lang="es-ES" sz="1600" i="1">
                                <a:latin typeface="Cambria Math" panose="02040503050406030204" pitchFamily="18" charset="0"/>
                              </a:rPr>
                            </m:ctrlPr>
                          </m:sSupPr>
                          <m:e>
                            <m:r>
                              <a:rPr lang="es-ES" sz="1600" i="1">
                                <a:latin typeface="Cambria Math" panose="02040503050406030204" pitchFamily="18" charset="0"/>
                              </a:rPr>
                              <m:t>𝑒</m:t>
                            </m:r>
                          </m:e>
                          <m:sup>
                            <m:r>
                              <a:rPr lang="es-ES" sz="1600" i="1">
                                <a:latin typeface="Cambria Math" panose="02040503050406030204" pitchFamily="18" charset="0"/>
                              </a:rPr>
                              <m:t>−</m:t>
                            </m:r>
                            <m:r>
                              <a:rPr lang="es-ES" sz="1600" i="1">
                                <a:latin typeface="Cambria Math" panose="02040503050406030204" pitchFamily="18" charset="0"/>
                              </a:rPr>
                              <m:t>𝑥</m:t>
                            </m:r>
                          </m:sup>
                        </m:sSup>
                      </m:den>
                    </m:f>
                  </m:oMath>
                </a14:m>
                <a:r>
                  <a:rPr lang="es-ES" dirty="0">
                    <a:latin typeface="+mj-lt"/>
                  </a:rPr>
                  <a:t/>
                </a:r>
                <a:br>
                  <a:rPr lang="es-ES" dirty="0">
                    <a:latin typeface="+mj-lt"/>
                  </a:rPr>
                </a:br>
                <a:r>
                  <a:rPr lang="es-ES" dirty="0">
                    <a:latin typeface="+mj-lt"/>
                  </a:rPr>
                  <a:t/>
                </a:r>
                <a:br>
                  <a:rPr lang="es-ES" dirty="0">
                    <a:latin typeface="+mj-lt"/>
                  </a:rPr>
                </a:br>
                <a:r>
                  <a:rPr lang="es-ES" b="1" dirty="0" err="1">
                    <a:latin typeface="+mj-lt"/>
                  </a:rPr>
                  <a:t>ReLU</a:t>
                </a:r>
                <a:r>
                  <a:rPr lang="es-ES" b="1" dirty="0">
                    <a:latin typeface="+mj-lt"/>
                  </a:rPr>
                  <a:t>: </a:t>
                </a:r>
                <a:r>
                  <a:rPr lang="es-ES" dirty="0">
                    <a:latin typeface="+mj-lt"/>
                  </a:rPr>
                  <a:t>transforma los valores introducidos anulando los valores negativos y dejando los positivos tal y como entran. Con respecto a otras funciones, tiene una ventaja significativa en términos de velocidad de entrenamiento y puede ayudar a prevenir el problema de gradiente que se encuentra en otras funciones de activación</a:t>
                </a:r>
                <a:br>
                  <a:rPr lang="es-ES" dirty="0">
                    <a:latin typeface="+mj-lt"/>
                  </a:rPr>
                </a:br>
                <a:r>
                  <a:rPr lang="es-ES" dirty="0">
                    <a:latin typeface="+mj-lt"/>
                  </a:rPr>
                  <a:t/>
                </a:r>
                <a:br>
                  <a:rPr lang="es-ES" dirty="0">
                    <a:latin typeface="+mj-lt"/>
                  </a:rPr>
                </a:br>
                <a:r>
                  <a:rPr lang="es-ES" dirty="0">
                    <a:latin typeface="+mj-lt"/>
                  </a:rPr>
                  <a:t>                                                                                   </a:t>
                </a:r>
                <a:r>
                  <a:rPr lang="es-ES" sz="1600" dirty="0">
                    <a:latin typeface="+mj-lt"/>
                  </a:rPr>
                  <a:t>  </a:t>
                </a:r>
                <a14:m>
                  <m:oMath xmlns:m="http://schemas.openxmlformats.org/officeDocument/2006/math">
                    <m:r>
                      <a:rPr lang="es-ES" sz="1600" i="1">
                        <a:latin typeface="Cambria Math" panose="02040503050406030204" pitchFamily="18" charset="0"/>
                      </a:rPr>
                      <m:t>𝑓</m:t>
                    </m:r>
                    <m:d>
                      <m:dPr>
                        <m:ctrlPr>
                          <a:rPr lang="es-ES" sz="1600" i="1">
                            <a:latin typeface="Cambria Math" panose="02040503050406030204" pitchFamily="18" charset="0"/>
                          </a:rPr>
                        </m:ctrlPr>
                      </m:dPr>
                      <m:e>
                        <m:r>
                          <a:rPr lang="es-ES" sz="1600" i="1">
                            <a:latin typeface="Cambria Math" panose="02040503050406030204" pitchFamily="18" charset="0"/>
                          </a:rPr>
                          <m:t>𝑥</m:t>
                        </m:r>
                      </m:e>
                    </m:d>
                    <m:r>
                      <a:rPr lang="es-ES" sz="1600" i="1">
                        <a:latin typeface="Cambria Math" panose="02040503050406030204" pitchFamily="18" charset="0"/>
                      </a:rPr>
                      <m:t>=</m:t>
                    </m:r>
                    <m:r>
                      <m:rPr>
                        <m:sty m:val="p"/>
                      </m:rPr>
                      <a:rPr lang="es-ES" sz="1600">
                        <a:latin typeface="Cambria Math" panose="02040503050406030204" pitchFamily="18" charset="0"/>
                      </a:rPr>
                      <m:t>max</m:t>
                    </m:r>
                    <m:r>
                      <a:rPr lang="es-ES" sz="1600" i="1">
                        <a:latin typeface="Cambria Math" panose="02040503050406030204" pitchFamily="18" charset="0"/>
                      </a:rPr>
                      <m:t>⁡(0,</m:t>
                    </m:r>
                    <m:r>
                      <a:rPr lang="es-ES" sz="1600" i="1">
                        <a:latin typeface="Cambria Math" panose="02040503050406030204" pitchFamily="18" charset="0"/>
                      </a:rPr>
                      <m:t>𝑥</m:t>
                    </m:r>
                    <m:r>
                      <a:rPr lang="es-ES" sz="1600" i="1">
                        <a:latin typeface="Cambria Math" panose="02040503050406030204" pitchFamily="18" charset="0"/>
                      </a:rPr>
                      <m:t>)</m:t>
                    </m:r>
                  </m:oMath>
                </a14:m>
                <a:endParaRPr lang="es-ES" dirty="0"/>
              </a:p>
            </p:txBody>
          </p:sp>
        </mc:Choice>
        <mc:Fallback xmlns="">
          <p:sp>
            <p:nvSpPr>
              <p:cNvPr id="5" name="Rectángulo 4"/>
              <p:cNvSpPr>
                <a:spLocks noRot="1" noChangeAspect="1" noMove="1" noResize="1" noEditPoints="1" noAdjustHandles="1" noChangeArrowheads="1" noChangeShapeType="1" noTextEdit="1"/>
              </p:cNvSpPr>
              <p:nvPr/>
            </p:nvSpPr>
            <p:spPr>
              <a:xfrm>
                <a:off x="651763" y="1647825"/>
                <a:ext cx="9694672" cy="5062989"/>
              </a:xfrm>
              <a:prstGeom prst="rect">
                <a:avLst/>
              </a:prstGeom>
              <a:blipFill rotWithShape="0">
                <a:blip r:embed="rId2"/>
                <a:stretch>
                  <a:fillRect l="-566" t="-602" r="-755"/>
                </a:stretch>
              </a:blipFill>
            </p:spPr>
            <p:txBody>
              <a:bodyPr/>
              <a:lstStyle/>
              <a:p>
                <a:r>
                  <a:rPr lang="es-ES">
                    <a:noFill/>
                  </a:rPr>
                  <a:t> </a:t>
                </a:r>
              </a:p>
            </p:txBody>
          </p:sp>
        </mc:Fallback>
      </mc:AlternateContent>
    </p:spTree>
    <p:extLst>
      <p:ext uri="{BB962C8B-B14F-4D97-AF65-F5344CB8AC3E}">
        <p14:creationId xmlns:p14="http://schemas.microsoft.com/office/powerpoint/2010/main" val="183288792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p:cNvSpPr>
                <a:spLocks noGrp="1"/>
              </p:cNvSpPr>
              <p:nvPr>
                <p:ph type="title"/>
              </p:nvPr>
            </p:nvSpPr>
            <p:spPr>
              <a:xfrm>
                <a:off x="469900" y="1495425"/>
                <a:ext cx="9906000" cy="5083058"/>
              </a:xfrm>
            </p:spPr>
            <p:txBody>
              <a:bodyPr/>
              <a:lstStyle/>
              <a:p>
                <a:pPr algn="l"/>
                <a:r>
                  <a:rPr lang="es-ES" sz="1600" dirty="0">
                    <a:solidFill>
                      <a:schemeClr val="tx1"/>
                    </a:solidFill>
                  </a:rPr>
                  <a:t/>
                </a:r>
                <a:br>
                  <a:rPr lang="es-ES" sz="1600" dirty="0">
                    <a:solidFill>
                      <a:schemeClr val="tx1"/>
                    </a:solidFill>
                  </a:rPr>
                </a:br>
                <a:r>
                  <a:rPr lang="es-ES" sz="1600" dirty="0">
                    <a:solidFill>
                      <a:schemeClr val="tx1"/>
                    </a:solidFill>
                  </a:rPr>
                  <a:t/>
                </a:r>
                <a:br>
                  <a:rPr lang="es-ES" sz="1600" dirty="0">
                    <a:solidFill>
                      <a:schemeClr val="tx1"/>
                    </a:solidFill>
                  </a:rPr>
                </a:br>
                <a:r>
                  <a:rPr lang="es-ES" sz="1800" b="1" dirty="0" err="1" smtClean="0">
                    <a:solidFill>
                      <a:schemeClr val="tx1"/>
                    </a:solidFill>
                    <a:latin typeface="+mj-lt"/>
                  </a:rPr>
                  <a:t>Leaky</a:t>
                </a:r>
                <a:r>
                  <a:rPr lang="es-ES" sz="1800" dirty="0" smtClean="0">
                    <a:solidFill>
                      <a:schemeClr val="tx1"/>
                    </a:solidFill>
                    <a:latin typeface="+mj-lt"/>
                  </a:rPr>
                  <a:t> </a:t>
                </a:r>
                <a:r>
                  <a:rPr lang="es-ES" sz="1800" b="1" dirty="0" err="1" smtClean="0">
                    <a:solidFill>
                      <a:schemeClr val="tx1"/>
                    </a:solidFill>
                    <a:latin typeface="+mj-lt"/>
                  </a:rPr>
                  <a:t>ReLU</a:t>
                </a:r>
                <a:r>
                  <a:rPr lang="es-ES" sz="1800" b="1" dirty="0">
                    <a:solidFill>
                      <a:schemeClr val="tx1"/>
                    </a:solidFill>
                    <a:latin typeface="+mj-lt"/>
                  </a:rPr>
                  <a:t>: </a:t>
                </a:r>
                <a:r>
                  <a:rPr lang="es-ES" sz="1800" dirty="0">
                    <a:solidFill>
                      <a:schemeClr val="tx1"/>
                    </a:solidFill>
                    <a:latin typeface="+mj-lt"/>
                  </a:rPr>
                  <a:t>transforma los valores introducidos multiplicando los negativos por un coeficiente rectificativo y dejando los positivos según entran</a:t>
                </a:r>
                <a:r>
                  <a:rPr lang="es-ES" sz="1800" dirty="0" smtClean="0">
                    <a:solidFill>
                      <a:schemeClr val="tx1"/>
                    </a:solidFill>
                    <a:latin typeface="+mj-lt"/>
                  </a:rPr>
                  <a:t>.</a:t>
                </a:r>
                <a:r>
                  <a:rPr lang="es-ES" sz="1800" dirty="0">
                    <a:solidFill>
                      <a:schemeClr val="tx1"/>
                    </a:solidFill>
                    <a:latin typeface="+mj-lt"/>
                  </a:rPr>
                  <a:t/>
                </a:r>
                <a:br>
                  <a:rPr lang="es-ES" sz="1800" dirty="0">
                    <a:solidFill>
                      <a:schemeClr val="tx1"/>
                    </a:solidFill>
                    <a:latin typeface="+mj-lt"/>
                  </a:rPr>
                </a:br>
                <a:r>
                  <a:rPr lang="es-ES" sz="1800" dirty="0">
                    <a:solidFill>
                      <a:schemeClr val="tx1"/>
                    </a:solidFill>
                    <a:latin typeface="+mj-lt"/>
                  </a:rPr>
                  <a:t>                                                               </a:t>
                </a:r>
                <a:r>
                  <a:rPr lang="es-ES" sz="1800" dirty="0" smtClean="0">
                    <a:solidFill>
                      <a:schemeClr val="tx1"/>
                    </a:solidFill>
                    <a:latin typeface="+mj-lt"/>
                  </a:rPr>
                  <a:t>           </a:t>
                </a:r>
                <a14:m>
                  <m:oMath xmlns:m="http://schemas.openxmlformats.org/officeDocument/2006/math">
                    <m:r>
                      <a:rPr lang="es-ES" sz="1600" i="1">
                        <a:solidFill>
                          <a:schemeClr val="tx1"/>
                        </a:solidFill>
                        <a:latin typeface="Cambria Math" panose="02040503050406030204" pitchFamily="18" charset="0"/>
                      </a:rPr>
                      <m:t>𝑓</m:t>
                    </m:r>
                    <m:d>
                      <m:dPr>
                        <m:ctrlPr>
                          <a:rPr lang="es-ES" sz="1600" i="1">
                            <a:solidFill>
                              <a:schemeClr val="tx1"/>
                            </a:solidFill>
                            <a:latin typeface="Cambria Math" panose="02040503050406030204" pitchFamily="18" charset="0"/>
                          </a:rPr>
                        </m:ctrlPr>
                      </m:dPr>
                      <m:e>
                        <m:r>
                          <a:rPr lang="es-ES" sz="1600" i="1">
                            <a:solidFill>
                              <a:schemeClr val="tx1"/>
                            </a:solidFill>
                            <a:latin typeface="Cambria Math" panose="02040503050406030204" pitchFamily="18" charset="0"/>
                          </a:rPr>
                          <m:t>𝑥</m:t>
                        </m:r>
                      </m:e>
                    </m:d>
                    <m:r>
                      <a:rPr lang="es-ES" sz="1600" i="1">
                        <a:solidFill>
                          <a:schemeClr val="tx1"/>
                        </a:solidFill>
                        <a:latin typeface="Cambria Math" panose="02040503050406030204" pitchFamily="18" charset="0"/>
                      </a:rPr>
                      <m:t>=</m:t>
                    </m:r>
                    <m:r>
                      <m:rPr>
                        <m:sty m:val="p"/>
                      </m:rPr>
                      <a:rPr lang="es-ES" sz="1600">
                        <a:solidFill>
                          <a:schemeClr val="tx1"/>
                        </a:solidFill>
                        <a:latin typeface="Cambria Math" panose="02040503050406030204" pitchFamily="18" charset="0"/>
                      </a:rPr>
                      <m:t>max</m:t>
                    </m:r>
                    <m:r>
                      <a:rPr lang="es-ES" sz="1600" i="1">
                        <a:solidFill>
                          <a:schemeClr val="tx1"/>
                        </a:solidFill>
                        <a:latin typeface="Cambria Math" panose="02040503050406030204" pitchFamily="18" charset="0"/>
                      </a:rPr>
                      <m:t>⁡</m:t>
                    </m:r>
                    <m:d>
                      <m:dPr>
                        <m:begChr m:val="{"/>
                        <m:endChr m:val=""/>
                        <m:ctrlPr>
                          <a:rPr lang="es-ES" sz="1600" i="1" smtClean="0">
                            <a:solidFill>
                              <a:schemeClr val="tx1"/>
                            </a:solidFill>
                            <a:latin typeface="Cambria Math" panose="02040503050406030204" pitchFamily="18" charset="0"/>
                          </a:rPr>
                        </m:ctrlPr>
                      </m:dPr>
                      <m:e>
                        <m:eqArr>
                          <m:eqArrPr>
                            <m:ctrlPr>
                              <a:rPr lang="es-ES" sz="1600" b="0" i="1" smtClean="0">
                                <a:solidFill>
                                  <a:schemeClr val="tx1"/>
                                </a:solidFill>
                                <a:latin typeface="Cambria Math" panose="02040503050406030204" pitchFamily="18" charset="0"/>
                              </a:rPr>
                            </m:ctrlPr>
                          </m:eqArrPr>
                          <m:e>
                            <m:r>
                              <a:rPr lang="es-ES" sz="1600" b="0" i="1" smtClean="0">
                                <a:solidFill>
                                  <a:schemeClr val="tx1"/>
                                </a:solidFill>
                                <a:latin typeface="Cambria Math" panose="02040503050406030204" pitchFamily="18" charset="0"/>
                              </a:rPr>
                              <m:t>0, </m:t>
                            </m:r>
                            <m:r>
                              <a:rPr lang="es-ES" sz="1600" b="0" i="1" smtClean="0">
                                <a:solidFill>
                                  <a:schemeClr val="tx1"/>
                                </a:solidFill>
                                <a:latin typeface="Cambria Math" panose="02040503050406030204" pitchFamily="18" charset="0"/>
                              </a:rPr>
                              <m:t>𝑥</m:t>
                            </m:r>
                            <m:r>
                              <a:rPr lang="es-ES" sz="1600" b="0" i="1" smtClean="0">
                                <a:solidFill>
                                  <a:schemeClr val="tx1"/>
                                </a:solidFill>
                                <a:latin typeface="Cambria Math" panose="02040503050406030204" pitchFamily="18" charset="0"/>
                              </a:rPr>
                              <m:t>&lt;0</m:t>
                            </m:r>
                          </m:e>
                          <m:e>
                            <m:r>
                              <a:rPr lang="es-ES" sz="1600" b="0" i="1" smtClean="0">
                                <a:solidFill>
                                  <a:schemeClr val="tx1"/>
                                </a:solidFill>
                                <a:latin typeface="Cambria Math" panose="02040503050406030204" pitchFamily="18" charset="0"/>
                              </a:rPr>
                              <m:t>𝑎</m:t>
                            </m:r>
                            <m:r>
                              <a:rPr lang="es-ES" sz="1600" b="0" i="1" smtClean="0">
                                <a:solidFill>
                                  <a:schemeClr val="tx1"/>
                                </a:solidFill>
                                <a:latin typeface="Cambria Math" panose="02040503050406030204" pitchFamily="18" charset="0"/>
                              </a:rPr>
                              <m:t>∗</m:t>
                            </m:r>
                            <m:r>
                              <a:rPr lang="es-ES" sz="1600" b="0" i="1" smtClean="0">
                                <a:solidFill>
                                  <a:schemeClr val="tx1"/>
                                </a:solidFill>
                                <a:latin typeface="Cambria Math" panose="02040503050406030204" pitchFamily="18" charset="0"/>
                              </a:rPr>
                              <m:t>𝑥</m:t>
                            </m:r>
                            <m:r>
                              <a:rPr lang="es-ES" sz="1600" b="0" i="1" smtClean="0">
                                <a:solidFill>
                                  <a:schemeClr val="tx1"/>
                                </a:solidFill>
                                <a:latin typeface="Cambria Math" panose="02040503050406030204" pitchFamily="18" charset="0"/>
                              </a:rPr>
                              <m:t>, </m:t>
                            </m:r>
                            <m:r>
                              <a:rPr lang="es-ES" sz="1600" b="0" i="1" smtClean="0">
                                <a:solidFill>
                                  <a:schemeClr val="tx1"/>
                                </a:solidFill>
                                <a:latin typeface="Cambria Math" panose="02040503050406030204" pitchFamily="18" charset="0"/>
                              </a:rPr>
                              <m:t>𝑥</m:t>
                            </m:r>
                            <m:r>
                              <a:rPr lang="es-ES" sz="1600" b="0" i="1" smtClean="0">
                                <a:solidFill>
                                  <a:schemeClr val="tx1"/>
                                </a:solidFill>
                                <a:latin typeface="Cambria Math" panose="02040503050406030204" pitchFamily="18" charset="0"/>
                                <a:ea typeface="Cambria Math" panose="02040503050406030204" pitchFamily="18" charset="0"/>
                              </a:rPr>
                              <m:t>≥0</m:t>
                            </m:r>
                          </m:e>
                        </m:eqArr>
                      </m:e>
                    </m:d>
                  </m:oMath>
                </a14:m>
                <a:r>
                  <a:rPr lang="es-ES" sz="2000" dirty="0" smtClean="0">
                    <a:solidFill>
                      <a:schemeClr val="tx1"/>
                    </a:solidFill>
                    <a:latin typeface="+mj-lt"/>
                  </a:rPr>
                  <a:t/>
                </a:r>
                <a:br>
                  <a:rPr lang="es-ES" sz="2000" dirty="0" smtClean="0">
                    <a:solidFill>
                      <a:schemeClr val="tx1"/>
                    </a:solidFill>
                    <a:latin typeface="+mj-lt"/>
                  </a:rPr>
                </a:br>
                <a:r>
                  <a:rPr lang="es-ES" dirty="0" smtClean="0">
                    <a:solidFill>
                      <a:schemeClr val="tx1"/>
                    </a:solidFill>
                    <a:latin typeface="+mj-lt"/>
                  </a:rPr>
                  <a:t/>
                </a:r>
                <a:br>
                  <a:rPr lang="es-ES" dirty="0" smtClean="0">
                    <a:solidFill>
                      <a:schemeClr val="tx1"/>
                    </a:solidFill>
                    <a:latin typeface="+mj-lt"/>
                  </a:rPr>
                </a:br>
                <a:r>
                  <a:rPr lang="es-ES" sz="1800" b="1" dirty="0" err="1" smtClean="0">
                    <a:solidFill>
                      <a:schemeClr val="tx1"/>
                    </a:solidFill>
                    <a:latin typeface="+mj-lt"/>
                  </a:rPr>
                  <a:t>Softmax</a:t>
                </a:r>
                <a:r>
                  <a:rPr lang="es-ES" sz="1800" dirty="0" smtClean="0">
                    <a:solidFill>
                      <a:schemeClr val="tx1"/>
                    </a:solidFill>
                    <a:latin typeface="+mj-lt"/>
                  </a:rPr>
                  <a:t>: </a:t>
                </a:r>
                <a:r>
                  <a:rPr lang="es-ES" sz="1800" dirty="0">
                    <a:solidFill>
                      <a:schemeClr val="tx1"/>
                    </a:solidFill>
                    <a:latin typeface="+mj-lt"/>
                  </a:rPr>
                  <a:t>transforma las salidas a una representación en forma de probabilidades, de tal manera que el sumatorio de todas las probabilidades de las salidas de 1</a:t>
                </a:r>
                <a:r>
                  <a:rPr lang="es-ES" sz="1800" dirty="0" smtClean="0">
                    <a:solidFill>
                      <a:schemeClr val="tx1"/>
                    </a:solidFill>
                    <a:latin typeface="+mj-lt"/>
                  </a:rPr>
                  <a:t>. Se suele utilizar en la capa de salida en problemas de clasificación </a:t>
                </a:r>
                <a:r>
                  <a:rPr lang="es-ES" sz="1800" dirty="0" err="1" smtClean="0">
                    <a:solidFill>
                      <a:schemeClr val="tx1"/>
                    </a:solidFill>
                    <a:latin typeface="+mj-lt"/>
                  </a:rPr>
                  <a:t>multiclase</a:t>
                </a:r>
                <a:r>
                  <a:rPr lang="es-ES" sz="1800" dirty="0" smtClean="0">
                    <a:solidFill>
                      <a:schemeClr val="tx1"/>
                    </a:solidFill>
                    <a:latin typeface="+mj-lt"/>
                  </a:rPr>
                  <a:t>.</a:t>
                </a:r>
                <a:br>
                  <a:rPr lang="es-ES" sz="1800" dirty="0" smtClean="0">
                    <a:solidFill>
                      <a:schemeClr val="tx1"/>
                    </a:solidFill>
                    <a:latin typeface="+mj-lt"/>
                  </a:rPr>
                </a:br>
                <a:r>
                  <a:rPr lang="es-ES" sz="1800" dirty="0" smtClean="0">
                    <a:solidFill>
                      <a:schemeClr val="tx1"/>
                    </a:solidFill>
                    <a:latin typeface="+mj-lt"/>
                  </a:rPr>
                  <a:t>                                                                                     </a:t>
                </a:r>
                <a14:m>
                  <m:oMath xmlns:m="http://schemas.openxmlformats.org/officeDocument/2006/math">
                    <m:r>
                      <a:rPr lang="es-ES" sz="1600" b="0" i="1" smtClean="0">
                        <a:solidFill>
                          <a:schemeClr val="tx1"/>
                        </a:solidFill>
                        <a:latin typeface="Cambria Math" panose="02040503050406030204" pitchFamily="18" charset="0"/>
                      </a:rPr>
                      <m:t>𝑓</m:t>
                    </m:r>
                    <m:r>
                      <a:rPr lang="es-ES" sz="1600" b="0" i="1" smtClean="0">
                        <a:solidFill>
                          <a:schemeClr val="tx1"/>
                        </a:solidFill>
                        <a:latin typeface="Cambria Math" panose="02040503050406030204" pitchFamily="18" charset="0"/>
                      </a:rPr>
                      <m:t>(</m:t>
                    </m:r>
                    <m:r>
                      <a:rPr lang="es-ES" sz="1600" b="0" i="1" smtClean="0">
                        <a:solidFill>
                          <a:schemeClr val="tx1"/>
                        </a:solidFill>
                        <a:latin typeface="Cambria Math" panose="02040503050406030204" pitchFamily="18" charset="0"/>
                      </a:rPr>
                      <m:t>𝑍</m:t>
                    </m:r>
                    <m:sSub>
                      <m:sSubPr>
                        <m:ctrlPr>
                          <a:rPr lang="es-ES" sz="1600" b="0" i="1" smtClean="0">
                            <a:solidFill>
                              <a:schemeClr val="tx1"/>
                            </a:solidFill>
                            <a:latin typeface="Cambria Math" panose="02040503050406030204" pitchFamily="18" charset="0"/>
                          </a:rPr>
                        </m:ctrlPr>
                      </m:sSubPr>
                      <m:e>
                        <m:r>
                          <a:rPr lang="es-ES" sz="1600" b="0" i="1" smtClean="0">
                            <a:solidFill>
                              <a:schemeClr val="tx1"/>
                            </a:solidFill>
                            <a:latin typeface="Cambria Math" panose="02040503050406030204" pitchFamily="18" charset="0"/>
                          </a:rPr>
                          <m:t>)</m:t>
                        </m:r>
                      </m:e>
                      <m:sub>
                        <m:r>
                          <a:rPr lang="es-ES" sz="1600" b="0" i="1" smtClean="0">
                            <a:solidFill>
                              <a:schemeClr val="tx1"/>
                            </a:solidFill>
                            <a:latin typeface="Cambria Math" panose="02040503050406030204" pitchFamily="18" charset="0"/>
                          </a:rPr>
                          <m:t>𝑗</m:t>
                        </m:r>
                      </m:sub>
                    </m:sSub>
                    <m:r>
                      <a:rPr lang="es-ES" sz="1600" b="0" i="1" smtClean="0">
                        <a:solidFill>
                          <a:schemeClr val="tx1"/>
                        </a:solidFill>
                        <a:latin typeface="Cambria Math" panose="02040503050406030204" pitchFamily="18" charset="0"/>
                      </a:rPr>
                      <m:t>=</m:t>
                    </m:r>
                    <m:f>
                      <m:fPr>
                        <m:ctrlPr>
                          <a:rPr lang="es-ES" sz="1600" b="0" i="1" smtClean="0">
                            <a:solidFill>
                              <a:schemeClr val="tx1"/>
                            </a:solidFill>
                            <a:latin typeface="Cambria Math" panose="02040503050406030204" pitchFamily="18" charset="0"/>
                          </a:rPr>
                        </m:ctrlPr>
                      </m:fPr>
                      <m:num>
                        <m:sSup>
                          <m:sSupPr>
                            <m:ctrlPr>
                              <a:rPr lang="es-ES" sz="1600" b="0" i="1" smtClean="0">
                                <a:solidFill>
                                  <a:schemeClr val="tx1"/>
                                </a:solidFill>
                                <a:latin typeface="Cambria Math" panose="02040503050406030204" pitchFamily="18" charset="0"/>
                              </a:rPr>
                            </m:ctrlPr>
                          </m:sSupPr>
                          <m:e>
                            <m:r>
                              <a:rPr lang="es-ES" sz="1600" b="0" i="1" smtClean="0">
                                <a:solidFill>
                                  <a:schemeClr val="tx1"/>
                                </a:solidFill>
                                <a:latin typeface="Cambria Math" panose="02040503050406030204" pitchFamily="18" charset="0"/>
                              </a:rPr>
                              <m:t>𝑒</m:t>
                            </m:r>
                          </m:e>
                          <m:sup>
                            <m:r>
                              <a:rPr lang="es-ES" sz="1600" b="0" i="1" smtClean="0">
                                <a:solidFill>
                                  <a:schemeClr val="tx1"/>
                                </a:solidFill>
                                <a:latin typeface="Cambria Math" panose="02040503050406030204" pitchFamily="18" charset="0"/>
                              </a:rPr>
                              <m:t>𝑍</m:t>
                            </m:r>
                            <m:r>
                              <a:rPr lang="es-ES" sz="1600" b="0" i="1" baseline="-25000" smtClean="0">
                                <a:solidFill>
                                  <a:schemeClr val="tx1"/>
                                </a:solidFill>
                                <a:latin typeface="Cambria Math" panose="02040503050406030204" pitchFamily="18" charset="0"/>
                              </a:rPr>
                              <m:t>𝑗</m:t>
                            </m:r>
                          </m:sup>
                        </m:sSup>
                      </m:num>
                      <m:den>
                        <m:nary>
                          <m:naryPr>
                            <m:chr m:val="∑"/>
                            <m:ctrlPr>
                              <a:rPr lang="es-ES" sz="1600" b="0" i="1" smtClean="0">
                                <a:solidFill>
                                  <a:schemeClr val="tx1"/>
                                </a:solidFill>
                                <a:latin typeface="Cambria Math" panose="02040503050406030204" pitchFamily="18" charset="0"/>
                              </a:rPr>
                            </m:ctrlPr>
                          </m:naryPr>
                          <m:sub>
                            <m:r>
                              <m:rPr>
                                <m:brk m:alnAt="23"/>
                              </m:rPr>
                              <a:rPr lang="es-ES" sz="1600" b="0" i="1" smtClean="0">
                                <a:solidFill>
                                  <a:schemeClr val="tx1"/>
                                </a:solidFill>
                                <a:latin typeface="Cambria Math" panose="02040503050406030204" pitchFamily="18" charset="0"/>
                              </a:rPr>
                              <m:t>𝑘</m:t>
                            </m:r>
                            <m:r>
                              <a:rPr lang="es-ES" sz="1600" b="0" i="1" smtClean="0">
                                <a:solidFill>
                                  <a:schemeClr val="tx1"/>
                                </a:solidFill>
                                <a:latin typeface="Cambria Math" panose="02040503050406030204" pitchFamily="18" charset="0"/>
                              </a:rPr>
                              <m:t>=</m:t>
                            </m:r>
                            <m:r>
                              <m:rPr>
                                <m:brk m:alnAt="23"/>
                              </m:rPr>
                              <a:rPr lang="es-ES" sz="1600" b="0" i="1" smtClean="0">
                                <a:solidFill>
                                  <a:schemeClr val="tx1"/>
                                </a:solidFill>
                                <a:latin typeface="Cambria Math" panose="02040503050406030204" pitchFamily="18" charset="0"/>
                              </a:rPr>
                              <m:t>1</m:t>
                            </m:r>
                          </m:sub>
                          <m:sup>
                            <m:r>
                              <a:rPr lang="es-ES" sz="1600" b="0" i="1" smtClean="0">
                                <a:solidFill>
                                  <a:schemeClr val="tx1"/>
                                </a:solidFill>
                                <a:latin typeface="Cambria Math" panose="02040503050406030204" pitchFamily="18" charset="0"/>
                              </a:rPr>
                              <m:t>𝐾</m:t>
                            </m:r>
                          </m:sup>
                          <m:e>
                            <m:sSup>
                              <m:sSupPr>
                                <m:ctrlPr>
                                  <a:rPr lang="es-ES" sz="1600" i="1">
                                    <a:solidFill>
                                      <a:schemeClr val="tx1"/>
                                    </a:solidFill>
                                    <a:latin typeface="Cambria Math" panose="02040503050406030204" pitchFamily="18" charset="0"/>
                                  </a:rPr>
                                </m:ctrlPr>
                              </m:sSupPr>
                              <m:e>
                                <m:r>
                                  <a:rPr lang="es-ES" sz="1600" i="1">
                                    <a:solidFill>
                                      <a:schemeClr val="tx1"/>
                                    </a:solidFill>
                                    <a:latin typeface="Cambria Math" panose="02040503050406030204" pitchFamily="18" charset="0"/>
                                  </a:rPr>
                                  <m:t>𝑒</m:t>
                                </m:r>
                              </m:e>
                              <m:sup>
                                <m:r>
                                  <a:rPr lang="es-ES" sz="1600" i="1">
                                    <a:solidFill>
                                      <a:schemeClr val="tx1"/>
                                    </a:solidFill>
                                    <a:latin typeface="Cambria Math" panose="02040503050406030204" pitchFamily="18" charset="0"/>
                                  </a:rPr>
                                  <m:t>𝑍</m:t>
                                </m:r>
                                <m:r>
                                  <a:rPr lang="es-ES" sz="1600" b="0" i="1" baseline="-25000" smtClean="0">
                                    <a:solidFill>
                                      <a:schemeClr val="tx1"/>
                                    </a:solidFill>
                                    <a:latin typeface="Cambria Math" panose="02040503050406030204" pitchFamily="18" charset="0"/>
                                  </a:rPr>
                                  <m:t>𝑘</m:t>
                                </m:r>
                              </m:sup>
                            </m:sSup>
                          </m:e>
                        </m:nary>
                      </m:den>
                    </m:f>
                  </m:oMath>
                </a14:m>
                <a:r>
                  <a:rPr lang="es-ES" sz="1600" dirty="0" smtClean="0">
                    <a:solidFill>
                      <a:schemeClr val="tx1"/>
                    </a:solidFill>
                    <a:latin typeface="+mj-lt"/>
                  </a:rPr>
                  <a:t/>
                </a:r>
                <a:br>
                  <a:rPr lang="es-ES" sz="1600" dirty="0" smtClean="0">
                    <a:solidFill>
                      <a:schemeClr val="tx1"/>
                    </a:solidFill>
                    <a:latin typeface="+mj-lt"/>
                  </a:rPr>
                </a:br>
                <a:r>
                  <a:rPr lang="es-ES" sz="1600" dirty="0">
                    <a:solidFill>
                      <a:schemeClr val="tx1"/>
                    </a:solidFill>
                    <a:latin typeface="+mj-lt"/>
                  </a:rPr>
                  <a:t/>
                </a:r>
                <a:br>
                  <a:rPr lang="es-ES" sz="1600" dirty="0">
                    <a:solidFill>
                      <a:schemeClr val="tx1"/>
                    </a:solidFill>
                    <a:latin typeface="+mj-lt"/>
                  </a:rPr>
                </a:br>
                <a:r>
                  <a:rPr lang="es-ES" sz="1800" dirty="0">
                    <a:solidFill>
                      <a:schemeClr val="tx1"/>
                    </a:solidFill>
                    <a:latin typeface="+mj-lt"/>
                  </a:rPr>
                  <a:t/>
                </a:r>
                <a:br>
                  <a:rPr lang="es-ES" sz="1800" dirty="0">
                    <a:solidFill>
                      <a:schemeClr val="tx1"/>
                    </a:solidFill>
                    <a:latin typeface="+mj-lt"/>
                  </a:rPr>
                </a:br>
                <a:r>
                  <a:rPr lang="es-ES" sz="1800" dirty="0">
                    <a:solidFill>
                      <a:schemeClr val="tx1"/>
                    </a:solidFill>
                    <a:latin typeface="+mj-lt"/>
                  </a:rPr>
                  <a:t>La elección de la función de activación es un aspecto importante en el diseño de una red neuronal y puede tener un impacto significativo en el rendimiento de la red. En la práctica real, se recomienda experimentar con diferentes funciones de activación y ajustar los parámetros de la red para encontrar la combinación que funcione mejor para </a:t>
                </a:r>
                <a:r>
                  <a:rPr lang="es-ES" sz="1800" dirty="0" smtClean="0">
                    <a:solidFill>
                      <a:schemeClr val="tx1"/>
                    </a:solidFill>
                    <a:latin typeface="+mj-lt"/>
                  </a:rPr>
                  <a:t>tu problema.</a:t>
                </a:r>
                <a:r>
                  <a:rPr lang="es-ES" sz="1400" dirty="0">
                    <a:solidFill>
                      <a:schemeClr val="tx1"/>
                    </a:solidFill>
                  </a:rPr>
                  <a:t/>
                </a:r>
                <a:br>
                  <a:rPr lang="es-ES" sz="1400" dirty="0">
                    <a:solidFill>
                      <a:schemeClr val="tx1"/>
                    </a:solidFill>
                  </a:rPr>
                </a:br>
                <a:endParaRPr lang="es-ES" sz="1400" dirty="0">
                  <a:solidFill>
                    <a:schemeClr val="tx1"/>
                  </a:solidFill>
                </a:endParaRPr>
              </a:p>
            </p:txBody>
          </p:sp>
        </mc:Choice>
        <mc:Fallback xmlns="">
          <p:sp>
            <p:nvSpPr>
              <p:cNvPr id="2" name="Título 1"/>
              <p:cNvSpPr>
                <a:spLocks noGrp="1" noRot="1" noChangeAspect="1" noMove="1" noResize="1" noEditPoints="1" noAdjustHandles="1" noChangeArrowheads="1" noChangeShapeType="1" noTextEdit="1"/>
              </p:cNvSpPr>
              <p:nvPr>
                <p:ph type="title"/>
              </p:nvPr>
            </p:nvSpPr>
            <p:spPr>
              <a:xfrm>
                <a:off x="469900" y="1495425"/>
                <a:ext cx="9906000" cy="5083058"/>
              </a:xfrm>
              <a:blipFill rotWithShape="0">
                <a:blip r:embed="rId2"/>
                <a:stretch>
                  <a:fillRect l="-1415"/>
                </a:stretch>
              </a:blipFill>
            </p:spPr>
            <p:txBody>
              <a:bodyPr/>
              <a:lstStyle/>
              <a:p>
                <a:r>
                  <a:rPr lang="es-ES">
                    <a:noFill/>
                  </a:rPr>
                  <a:t> </a:t>
                </a:r>
              </a:p>
            </p:txBody>
          </p:sp>
        </mc:Fallback>
      </mc:AlternateContent>
      <p:sp>
        <p:nvSpPr>
          <p:cNvPr id="3" name="Rectángulo 2"/>
          <p:cNvSpPr/>
          <p:nvPr/>
        </p:nvSpPr>
        <p:spPr>
          <a:xfrm>
            <a:off x="393700" y="428625"/>
            <a:ext cx="9448799" cy="584775"/>
          </a:xfrm>
          <a:prstGeom prst="rect">
            <a:avLst/>
          </a:prstGeom>
        </p:spPr>
        <p:txBody>
          <a:bodyPr wrap="square">
            <a:spAutoFit/>
          </a:bodyPr>
          <a:lstStyle/>
          <a:p>
            <a:pPr algn="just"/>
            <a:r>
              <a:rPr lang="es-ES" sz="3200" b="1" dirty="0" smtClean="0">
                <a:solidFill>
                  <a:schemeClr val="tx2"/>
                </a:solidFill>
              </a:rPr>
              <a:t>Función de activación:</a:t>
            </a:r>
            <a:endParaRPr lang="es-ES" sz="2000" dirty="0"/>
          </a:p>
        </p:txBody>
      </p:sp>
    </p:spTree>
    <p:extLst>
      <p:ext uri="{BB962C8B-B14F-4D97-AF65-F5344CB8AC3E}">
        <p14:creationId xmlns:p14="http://schemas.microsoft.com/office/powerpoint/2010/main" val="65398347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9900" y="1495425"/>
            <a:ext cx="9906000" cy="707886"/>
          </a:xfrm>
        </p:spPr>
        <p:txBody>
          <a:bodyPr/>
          <a:lstStyle/>
          <a:p>
            <a:pPr algn="l"/>
            <a:r>
              <a:rPr lang="es-ES" sz="1600" dirty="0">
                <a:solidFill>
                  <a:schemeClr val="tx1"/>
                </a:solidFill>
              </a:rPr>
              <a:t/>
            </a:r>
            <a:br>
              <a:rPr lang="es-ES" sz="1600" dirty="0">
                <a:solidFill>
                  <a:schemeClr val="tx1"/>
                </a:solidFill>
              </a:rPr>
            </a:br>
            <a:r>
              <a:rPr lang="es-ES" sz="1600" dirty="0">
                <a:solidFill>
                  <a:schemeClr val="tx1"/>
                </a:solidFill>
              </a:rPr>
              <a:t/>
            </a:r>
            <a:br>
              <a:rPr lang="es-ES" sz="1600" dirty="0">
                <a:solidFill>
                  <a:schemeClr val="tx1"/>
                </a:solidFill>
              </a:rPr>
            </a:br>
            <a:endParaRPr lang="es-ES" sz="1400" dirty="0">
              <a:solidFill>
                <a:schemeClr val="tx1"/>
              </a:solidFill>
            </a:endParaRPr>
          </a:p>
        </p:txBody>
      </p:sp>
      <p:sp>
        <p:nvSpPr>
          <p:cNvPr id="3" name="Rectángulo 2"/>
          <p:cNvSpPr/>
          <p:nvPr/>
        </p:nvSpPr>
        <p:spPr>
          <a:xfrm>
            <a:off x="393700" y="428625"/>
            <a:ext cx="9448799" cy="892552"/>
          </a:xfrm>
          <a:prstGeom prst="rect">
            <a:avLst/>
          </a:prstGeom>
        </p:spPr>
        <p:txBody>
          <a:bodyPr wrap="square">
            <a:spAutoFit/>
          </a:bodyPr>
          <a:lstStyle/>
          <a:p>
            <a:pPr algn="just"/>
            <a:r>
              <a:rPr lang="es-ES" sz="3200" b="1" dirty="0" smtClean="0">
                <a:solidFill>
                  <a:schemeClr val="tx2"/>
                </a:solidFill>
              </a:rPr>
              <a:t>Función de combinación/base: </a:t>
            </a:r>
            <a:r>
              <a:rPr lang="es-ES" sz="2000" dirty="0" smtClean="0">
                <a:solidFill>
                  <a:schemeClr val="tx2"/>
                </a:solidFill>
              </a:rPr>
              <a:t>se </a:t>
            </a:r>
            <a:r>
              <a:rPr lang="es-ES" sz="2000" dirty="0">
                <a:solidFill>
                  <a:schemeClr val="tx2"/>
                </a:solidFill>
              </a:rPr>
              <a:t>refiere al cálculo realizado para obtener la entrada ponderada a una neurona antes de aplicar la función de activación.</a:t>
            </a:r>
          </a:p>
        </p:txBody>
      </p:sp>
      <p:pic>
        <p:nvPicPr>
          <p:cNvPr id="4" name="Imagen 3"/>
          <p:cNvPicPr>
            <a:picLocks noChangeAspect="1"/>
          </p:cNvPicPr>
          <p:nvPr/>
        </p:nvPicPr>
        <p:blipFill>
          <a:blip r:embed="rId2"/>
          <a:stretch>
            <a:fillRect/>
          </a:stretch>
        </p:blipFill>
        <p:spPr>
          <a:xfrm>
            <a:off x="2146300" y="1523883"/>
            <a:ext cx="6724463" cy="5961462"/>
          </a:xfrm>
          <a:prstGeom prst="rect">
            <a:avLst/>
          </a:prstGeom>
        </p:spPr>
      </p:pic>
    </p:spTree>
    <p:extLst>
      <p:ext uri="{BB962C8B-B14F-4D97-AF65-F5344CB8AC3E}">
        <p14:creationId xmlns:p14="http://schemas.microsoft.com/office/powerpoint/2010/main" val="7851994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17500" y="276225"/>
            <a:ext cx="10134600" cy="1815882"/>
          </a:xfrm>
          <a:prstGeom prst="rect">
            <a:avLst/>
          </a:prstGeom>
        </p:spPr>
        <p:txBody>
          <a:bodyPr wrap="square">
            <a:spAutoFit/>
          </a:bodyPr>
          <a:lstStyle/>
          <a:p>
            <a:r>
              <a:rPr lang="es-ES" sz="3200" b="1" dirty="0" smtClean="0">
                <a:solidFill>
                  <a:schemeClr val="tx2"/>
                </a:solidFill>
              </a:rPr>
              <a:t>Función de pérdida o coste: </a:t>
            </a:r>
            <a:r>
              <a:rPr lang="es-ES" sz="1600" dirty="0" smtClean="0">
                <a:solidFill>
                  <a:schemeClr val="tx2">
                    <a:lumMod val="75000"/>
                  </a:schemeClr>
                </a:solidFill>
              </a:rPr>
              <a:t>es </a:t>
            </a:r>
            <a:r>
              <a:rPr lang="es-ES" sz="1600" dirty="0">
                <a:solidFill>
                  <a:schemeClr val="tx2">
                    <a:lumMod val="75000"/>
                  </a:schemeClr>
                </a:solidFill>
              </a:rPr>
              <a:t>una medida que cuantifica cuán bien el modelo </a:t>
            </a:r>
            <a:r>
              <a:rPr lang="es-ES" sz="1600" dirty="0" smtClean="0">
                <a:solidFill>
                  <a:schemeClr val="tx2">
                    <a:lumMod val="75000"/>
                  </a:schemeClr>
                </a:solidFill>
              </a:rPr>
              <a:t>hace predicciones </a:t>
            </a:r>
            <a:r>
              <a:rPr lang="es-ES" sz="1600" dirty="0">
                <a:solidFill>
                  <a:schemeClr val="tx2">
                    <a:lumMod val="75000"/>
                  </a:schemeClr>
                </a:solidFill>
              </a:rPr>
              <a:t>en comparación con las etiquetas reales del conjunto de datos</a:t>
            </a:r>
            <a:r>
              <a:rPr lang="es-ES" sz="1600" dirty="0" smtClean="0">
                <a:solidFill>
                  <a:schemeClr val="tx2">
                    <a:lumMod val="75000"/>
                  </a:schemeClr>
                </a:solidFill>
              </a:rPr>
              <a:t>. Evalúa </a:t>
            </a:r>
            <a:r>
              <a:rPr lang="es-ES" sz="1600" dirty="0">
                <a:solidFill>
                  <a:schemeClr val="tx2">
                    <a:lumMod val="75000"/>
                  </a:schemeClr>
                </a:solidFill>
              </a:rPr>
              <a:t>la discrepancia entre las predicciones del modelo y los valores reales, proporcionando una medida de </a:t>
            </a:r>
            <a:r>
              <a:rPr lang="es-ES" sz="1600" dirty="0" smtClean="0">
                <a:solidFill>
                  <a:schemeClr val="tx2">
                    <a:lumMod val="75000"/>
                  </a:schemeClr>
                </a:solidFill>
              </a:rPr>
              <a:t>error. El </a:t>
            </a:r>
            <a:r>
              <a:rPr lang="es-ES" sz="1600" dirty="0">
                <a:solidFill>
                  <a:schemeClr val="tx2">
                    <a:lumMod val="75000"/>
                  </a:schemeClr>
                </a:solidFill>
              </a:rPr>
              <a:t>objetivo durante el entrenamiento es minimizar esta función, ya que un valor más bajo indica que el modelo está haciendo predicciones más precisas.</a:t>
            </a:r>
          </a:p>
          <a:p>
            <a:pPr algn="just"/>
            <a:r>
              <a:rPr lang="es-ES" sz="3200" b="1" dirty="0" smtClean="0">
                <a:solidFill>
                  <a:schemeClr val="tx2"/>
                </a:solidFill>
              </a:rPr>
              <a:t>Regresión</a:t>
            </a:r>
            <a:endParaRPr lang="es-ES" sz="2000" dirty="0"/>
          </a:p>
        </p:txBody>
      </p:sp>
      <p:pic>
        <p:nvPicPr>
          <p:cNvPr id="6" name="Imagen 5"/>
          <p:cNvPicPr>
            <a:picLocks noChangeAspect="1"/>
          </p:cNvPicPr>
          <p:nvPr/>
        </p:nvPicPr>
        <p:blipFill>
          <a:blip r:embed="rId2"/>
          <a:stretch>
            <a:fillRect/>
          </a:stretch>
        </p:blipFill>
        <p:spPr>
          <a:xfrm>
            <a:off x="2527300" y="1800225"/>
            <a:ext cx="7162800" cy="5163224"/>
          </a:xfrm>
          <a:prstGeom prst="rect">
            <a:avLst/>
          </a:prstGeom>
        </p:spPr>
      </p:pic>
    </p:spTree>
    <p:extLst>
      <p:ext uri="{BB962C8B-B14F-4D97-AF65-F5344CB8AC3E}">
        <p14:creationId xmlns:p14="http://schemas.microsoft.com/office/powerpoint/2010/main" val="343727178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93700" y="276225"/>
            <a:ext cx="9448799" cy="584775"/>
          </a:xfrm>
          <a:prstGeom prst="rect">
            <a:avLst/>
          </a:prstGeom>
        </p:spPr>
        <p:txBody>
          <a:bodyPr wrap="square">
            <a:spAutoFit/>
          </a:bodyPr>
          <a:lstStyle/>
          <a:p>
            <a:pPr algn="just"/>
            <a:r>
              <a:rPr lang="es-ES" sz="3200" b="1" dirty="0" smtClean="0">
                <a:solidFill>
                  <a:schemeClr val="tx2"/>
                </a:solidFill>
              </a:rPr>
              <a:t>Función de pérdida o coste. Clasificación</a:t>
            </a:r>
            <a:endParaRPr lang="es-ES" sz="2000" dirty="0"/>
          </a:p>
        </p:txBody>
      </p:sp>
      <p:grpSp>
        <p:nvGrpSpPr>
          <p:cNvPr id="5" name="Grupo 4"/>
          <p:cNvGrpSpPr/>
          <p:nvPr/>
        </p:nvGrpSpPr>
        <p:grpSpPr>
          <a:xfrm>
            <a:off x="1574799" y="885825"/>
            <a:ext cx="7200901" cy="6346466"/>
            <a:chOff x="1574799" y="975965"/>
            <a:chExt cx="7200901" cy="6346466"/>
          </a:xfrm>
        </p:grpSpPr>
        <p:pic>
          <p:nvPicPr>
            <p:cNvPr id="2" name="Imagen 1"/>
            <p:cNvPicPr>
              <a:picLocks noChangeAspect="1"/>
            </p:cNvPicPr>
            <p:nvPr/>
          </p:nvPicPr>
          <p:blipFill>
            <a:blip r:embed="rId2"/>
            <a:stretch>
              <a:fillRect/>
            </a:stretch>
          </p:blipFill>
          <p:spPr>
            <a:xfrm>
              <a:off x="1574799" y="975965"/>
              <a:ext cx="7086600" cy="6120246"/>
            </a:xfrm>
            <a:prstGeom prst="rect">
              <a:avLst/>
            </a:prstGeom>
          </p:spPr>
        </p:pic>
        <p:pic>
          <p:nvPicPr>
            <p:cNvPr id="3" name="Imagen 2"/>
            <p:cNvPicPr>
              <a:picLocks noChangeAspect="1"/>
            </p:cNvPicPr>
            <p:nvPr/>
          </p:nvPicPr>
          <p:blipFill>
            <a:blip r:embed="rId3"/>
            <a:stretch>
              <a:fillRect/>
            </a:stretch>
          </p:blipFill>
          <p:spPr>
            <a:xfrm>
              <a:off x="1689100" y="6753225"/>
              <a:ext cx="7086600" cy="569206"/>
            </a:xfrm>
            <a:prstGeom prst="rect">
              <a:avLst/>
            </a:prstGeom>
          </p:spPr>
        </p:pic>
      </p:grpSp>
    </p:spTree>
    <p:extLst>
      <p:ext uri="{BB962C8B-B14F-4D97-AF65-F5344CB8AC3E}">
        <p14:creationId xmlns:p14="http://schemas.microsoft.com/office/powerpoint/2010/main" val="117727380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93700" y="428625"/>
            <a:ext cx="9448799" cy="584775"/>
          </a:xfrm>
          <a:prstGeom prst="rect">
            <a:avLst/>
          </a:prstGeom>
        </p:spPr>
        <p:txBody>
          <a:bodyPr wrap="square">
            <a:spAutoFit/>
          </a:bodyPr>
          <a:lstStyle/>
          <a:p>
            <a:pPr algn="just"/>
            <a:r>
              <a:rPr lang="es-ES" sz="3200" b="1" dirty="0" smtClean="0">
                <a:solidFill>
                  <a:schemeClr val="tx2"/>
                </a:solidFill>
              </a:rPr>
              <a:t>Función de pérdida o coste. Clasificación</a:t>
            </a:r>
            <a:endParaRPr lang="es-ES" sz="2000" dirty="0"/>
          </a:p>
        </p:txBody>
      </p:sp>
      <p:pic>
        <p:nvPicPr>
          <p:cNvPr id="5" name="Imagen 4"/>
          <p:cNvPicPr>
            <a:picLocks noChangeAspect="1"/>
          </p:cNvPicPr>
          <p:nvPr/>
        </p:nvPicPr>
        <p:blipFill>
          <a:blip r:embed="rId2"/>
          <a:stretch>
            <a:fillRect/>
          </a:stretch>
        </p:blipFill>
        <p:spPr>
          <a:xfrm>
            <a:off x="1283578" y="2028825"/>
            <a:ext cx="7669042" cy="3886200"/>
          </a:xfrm>
          <a:prstGeom prst="rect">
            <a:avLst/>
          </a:prstGeom>
        </p:spPr>
      </p:pic>
    </p:spTree>
    <p:extLst>
      <p:ext uri="{BB962C8B-B14F-4D97-AF65-F5344CB8AC3E}">
        <p14:creationId xmlns:p14="http://schemas.microsoft.com/office/powerpoint/2010/main" val="40906763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46963" y="4086225"/>
            <a:ext cx="11400537" cy="3057888"/>
          </a:xfrm>
          <a:prstGeom prst="rect">
            <a:avLst/>
          </a:prstGeom>
        </p:spPr>
        <p:txBody>
          <a:bodyPr vert="horz" wrap="square" lIns="0" tIns="13335" rIns="0" bIns="0" rtlCol="0">
            <a:spAutoFit/>
          </a:bodyPr>
          <a:lstStyle/>
          <a:p>
            <a:pPr marL="12700" algn="just">
              <a:lnSpc>
                <a:spcPct val="100000"/>
              </a:lnSpc>
              <a:spcBef>
                <a:spcPts val="105"/>
              </a:spcBef>
            </a:pPr>
            <a:r>
              <a:rPr sz="1800" dirty="0">
                <a:solidFill>
                  <a:srgbClr val="FF0000"/>
                </a:solidFill>
                <a:latin typeface="Times New Roman"/>
                <a:cs typeface="Times New Roman"/>
              </a:rPr>
              <a:t>4*4 pesos</a:t>
            </a:r>
            <a:r>
              <a:rPr sz="1800" spc="5" dirty="0">
                <a:solidFill>
                  <a:srgbClr val="FF0000"/>
                </a:solidFill>
                <a:latin typeface="Times New Roman"/>
                <a:cs typeface="Times New Roman"/>
              </a:rPr>
              <a:t> </a:t>
            </a:r>
            <a:r>
              <a:rPr sz="1800" spc="-5" dirty="0">
                <a:solidFill>
                  <a:srgbClr val="FF0000"/>
                </a:solidFill>
                <a:latin typeface="Times New Roman"/>
                <a:cs typeface="Times New Roman"/>
              </a:rPr>
              <a:t>capa</a:t>
            </a:r>
            <a:r>
              <a:rPr sz="1800" spc="5" dirty="0">
                <a:solidFill>
                  <a:srgbClr val="FF0000"/>
                </a:solidFill>
                <a:latin typeface="Times New Roman"/>
                <a:cs typeface="Times New Roman"/>
              </a:rPr>
              <a:t> </a:t>
            </a:r>
            <a:r>
              <a:rPr sz="1800" spc="-5" dirty="0">
                <a:solidFill>
                  <a:srgbClr val="FF0000"/>
                </a:solidFill>
                <a:latin typeface="Times New Roman"/>
                <a:cs typeface="Times New Roman"/>
              </a:rPr>
              <a:t>input-capa</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oculta+4</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bias</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capa</a:t>
            </a:r>
            <a:r>
              <a:rPr sz="1800" spc="15" dirty="0">
                <a:solidFill>
                  <a:srgbClr val="FF0000"/>
                </a:solidFill>
                <a:latin typeface="Times New Roman"/>
                <a:cs typeface="Times New Roman"/>
              </a:rPr>
              <a:t> </a:t>
            </a:r>
            <a:r>
              <a:rPr sz="1800" spc="-5" dirty="0">
                <a:solidFill>
                  <a:srgbClr val="FF0000"/>
                </a:solidFill>
                <a:latin typeface="Times New Roman"/>
                <a:cs typeface="Times New Roman"/>
              </a:rPr>
              <a:t>oculta+4 </a:t>
            </a:r>
            <a:r>
              <a:rPr sz="1800" dirty="0">
                <a:solidFill>
                  <a:srgbClr val="FF0000"/>
                </a:solidFill>
                <a:latin typeface="Times New Roman"/>
                <a:cs typeface="Times New Roman"/>
              </a:rPr>
              <a:t>pesos</a:t>
            </a:r>
            <a:r>
              <a:rPr sz="1800" spc="-10" dirty="0">
                <a:solidFill>
                  <a:srgbClr val="FF0000"/>
                </a:solidFill>
                <a:latin typeface="Times New Roman"/>
                <a:cs typeface="Times New Roman"/>
              </a:rPr>
              <a:t> </a:t>
            </a:r>
            <a:r>
              <a:rPr sz="1800" dirty="0">
                <a:solidFill>
                  <a:srgbClr val="FF0000"/>
                </a:solidFill>
                <a:latin typeface="Times New Roman"/>
                <a:cs typeface="Times New Roman"/>
              </a:rPr>
              <a:t>capa oculta-capa</a:t>
            </a:r>
            <a:r>
              <a:rPr sz="1800" spc="5" dirty="0">
                <a:solidFill>
                  <a:srgbClr val="FF0000"/>
                </a:solidFill>
                <a:latin typeface="Times New Roman"/>
                <a:cs typeface="Times New Roman"/>
              </a:rPr>
              <a:t> </a:t>
            </a:r>
            <a:r>
              <a:rPr sz="1800" dirty="0">
                <a:solidFill>
                  <a:srgbClr val="FF0000"/>
                </a:solidFill>
                <a:latin typeface="Times New Roman"/>
                <a:cs typeface="Times New Roman"/>
              </a:rPr>
              <a:t>output+bias</a:t>
            </a:r>
            <a:r>
              <a:rPr sz="1800" spc="-5" dirty="0">
                <a:solidFill>
                  <a:srgbClr val="FF0000"/>
                </a:solidFill>
                <a:latin typeface="Times New Roman"/>
                <a:cs typeface="Times New Roman"/>
              </a:rPr>
              <a:t> capa</a:t>
            </a:r>
            <a:r>
              <a:rPr sz="1800" spc="10" dirty="0">
                <a:solidFill>
                  <a:srgbClr val="FF0000"/>
                </a:solidFill>
                <a:latin typeface="Times New Roman"/>
                <a:cs typeface="Times New Roman"/>
              </a:rPr>
              <a:t> </a:t>
            </a:r>
            <a:r>
              <a:rPr sz="1800" dirty="0">
                <a:solidFill>
                  <a:srgbClr val="FF0000"/>
                </a:solidFill>
                <a:latin typeface="Times New Roman"/>
                <a:cs typeface="Times New Roman"/>
              </a:rPr>
              <a:t>output=</a:t>
            </a:r>
            <a:r>
              <a:rPr sz="2600" dirty="0">
                <a:solidFill>
                  <a:srgbClr val="FF0000"/>
                </a:solidFill>
                <a:latin typeface="Times New Roman"/>
                <a:cs typeface="Times New Roman"/>
              </a:rPr>
              <a:t>25</a:t>
            </a:r>
            <a:endParaRPr sz="2600" dirty="0">
              <a:latin typeface="Times New Roman"/>
              <a:cs typeface="Times New Roman"/>
            </a:endParaRPr>
          </a:p>
          <a:p>
            <a:pPr marL="12700" algn="just">
              <a:lnSpc>
                <a:spcPct val="100000"/>
              </a:lnSpc>
              <a:spcBef>
                <a:spcPts val="1755"/>
              </a:spcBef>
            </a:pPr>
            <a:r>
              <a:rPr sz="1600" spc="-5" dirty="0">
                <a:solidFill>
                  <a:srgbClr val="FF0000"/>
                </a:solidFill>
                <a:latin typeface="Times New Roman"/>
                <a:cs typeface="Times New Roman"/>
              </a:rPr>
              <a:t>(¡Más</a:t>
            </a:r>
            <a:r>
              <a:rPr sz="1600" spc="-15" dirty="0">
                <a:solidFill>
                  <a:srgbClr val="FF0000"/>
                </a:solidFill>
                <a:latin typeface="Times New Roman"/>
                <a:cs typeface="Times New Roman"/>
              </a:rPr>
              <a:t> </a:t>
            </a:r>
            <a:r>
              <a:rPr sz="1600" spc="-5" dirty="0">
                <a:solidFill>
                  <a:srgbClr val="FF0000"/>
                </a:solidFill>
                <a:latin typeface="Times New Roman"/>
                <a:cs typeface="Times New Roman"/>
              </a:rPr>
              <a:t>vale</a:t>
            </a:r>
            <a:r>
              <a:rPr sz="1600" spc="-15" dirty="0">
                <a:solidFill>
                  <a:srgbClr val="FF0000"/>
                </a:solidFill>
                <a:latin typeface="Times New Roman"/>
                <a:cs typeface="Times New Roman"/>
              </a:rPr>
              <a:t> </a:t>
            </a:r>
            <a:r>
              <a:rPr sz="1600" dirty="0">
                <a:solidFill>
                  <a:srgbClr val="FF0000"/>
                </a:solidFill>
                <a:latin typeface="Times New Roman"/>
                <a:cs typeface="Times New Roman"/>
              </a:rPr>
              <a:t>tener</a:t>
            </a:r>
            <a:r>
              <a:rPr sz="1600" spc="5" dirty="0">
                <a:solidFill>
                  <a:srgbClr val="FF0000"/>
                </a:solidFill>
                <a:latin typeface="Times New Roman"/>
                <a:cs typeface="Times New Roman"/>
              </a:rPr>
              <a:t> </a:t>
            </a:r>
            <a:r>
              <a:rPr sz="1600" spc="-5" dirty="0">
                <a:solidFill>
                  <a:srgbClr val="FF0000"/>
                </a:solidFill>
                <a:latin typeface="Times New Roman"/>
                <a:cs typeface="Times New Roman"/>
              </a:rPr>
              <a:t>muchas</a:t>
            </a:r>
            <a:r>
              <a:rPr sz="1600" spc="-15" dirty="0">
                <a:solidFill>
                  <a:srgbClr val="FF0000"/>
                </a:solidFill>
                <a:latin typeface="Times New Roman"/>
                <a:cs typeface="Times New Roman"/>
              </a:rPr>
              <a:t> </a:t>
            </a:r>
            <a:r>
              <a:rPr sz="1600" spc="-5" dirty="0">
                <a:solidFill>
                  <a:srgbClr val="FF0000"/>
                </a:solidFill>
                <a:latin typeface="Times New Roman"/>
                <a:cs typeface="Times New Roman"/>
              </a:rPr>
              <a:t>observaciones!)</a:t>
            </a:r>
            <a:endParaRPr sz="1600" dirty="0">
              <a:latin typeface="Times New Roman"/>
              <a:cs typeface="Times New Roman"/>
            </a:endParaRPr>
          </a:p>
          <a:p>
            <a:pPr algn="just">
              <a:lnSpc>
                <a:spcPct val="100000"/>
              </a:lnSpc>
              <a:spcBef>
                <a:spcPts val="15"/>
              </a:spcBef>
            </a:pPr>
            <a:endParaRPr sz="1500" dirty="0">
              <a:latin typeface="Times New Roman"/>
              <a:cs typeface="Times New Roman"/>
            </a:endParaRPr>
          </a:p>
          <a:p>
            <a:pPr marL="12700" algn="just">
              <a:lnSpc>
                <a:spcPts val="2100"/>
              </a:lnSpc>
              <a:spcBef>
                <a:spcPts val="5"/>
              </a:spcBef>
            </a:pPr>
            <a:r>
              <a:rPr sz="1800" dirty="0">
                <a:latin typeface="Times New Roman"/>
                <a:cs typeface="Times New Roman"/>
              </a:rPr>
              <a:t>En</a:t>
            </a:r>
            <a:r>
              <a:rPr sz="1800" spc="5" dirty="0">
                <a:latin typeface="Times New Roman"/>
                <a:cs typeface="Times New Roman"/>
              </a:rPr>
              <a:t> </a:t>
            </a:r>
            <a:r>
              <a:rPr sz="1800" spc="-5" dirty="0">
                <a:latin typeface="Times New Roman"/>
                <a:cs typeface="Times New Roman"/>
              </a:rPr>
              <a:t>general,</a:t>
            </a:r>
            <a:r>
              <a:rPr sz="1800" spc="10" dirty="0">
                <a:latin typeface="Times New Roman"/>
                <a:cs typeface="Times New Roman"/>
              </a:rPr>
              <a:t> </a:t>
            </a:r>
            <a:r>
              <a:rPr sz="1800" spc="-5" dirty="0">
                <a:latin typeface="Times New Roman"/>
                <a:cs typeface="Times New Roman"/>
              </a:rPr>
              <a:t>Número</a:t>
            </a:r>
            <a:r>
              <a:rPr sz="1800" spc="5" dirty="0">
                <a:latin typeface="Times New Roman"/>
                <a:cs typeface="Times New Roman"/>
              </a:rPr>
              <a:t> </a:t>
            </a:r>
            <a:r>
              <a:rPr sz="1800" dirty="0">
                <a:latin typeface="Times New Roman"/>
                <a:cs typeface="Times New Roman"/>
              </a:rPr>
              <a:t>de </a:t>
            </a:r>
            <a:r>
              <a:rPr sz="1800" spc="-5" dirty="0">
                <a:latin typeface="Times New Roman"/>
                <a:cs typeface="Times New Roman"/>
              </a:rPr>
              <a:t>parámetros </a:t>
            </a:r>
            <a:r>
              <a:rPr sz="1800" dirty="0">
                <a:latin typeface="Times New Roman"/>
                <a:cs typeface="Times New Roman"/>
              </a:rPr>
              <a:t>Red</a:t>
            </a:r>
            <a:r>
              <a:rPr sz="1800" spc="5" dirty="0">
                <a:latin typeface="Times New Roman"/>
                <a:cs typeface="Times New Roman"/>
              </a:rPr>
              <a:t> </a:t>
            </a:r>
            <a:r>
              <a:rPr sz="1800" spc="-5" dirty="0">
                <a:latin typeface="Times New Roman"/>
                <a:cs typeface="Times New Roman"/>
              </a:rPr>
              <a:t>neuronal</a:t>
            </a:r>
            <a:r>
              <a:rPr sz="1800" spc="30" dirty="0">
                <a:latin typeface="Times New Roman"/>
                <a:cs typeface="Times New Roman"/>
              </a:rPr>
              <a:t> </a:t>
            </a:r>
            <a:r>
              <a:rPr sz="1800" spc="-5" dirty="0">
                <a:latin typeface="Times New Roman"/>
                <a:cs typeface="Times New Roman"/>
              </a:rPr>
              <a:t>con</a:t>
            </a:r>
            <a:r>
              <a:rPr sz="1800" spc="5" dirty="0">
                <a:latin typeface="Times New Roman"/>
                <a:cs typeface="Times New Roman"/>
              </a:rPr>
              <a:t> </a:t>
            </a:r>
            <a:r>
              <a:rPr sz="1800" dirty="0">
                <a:latin typeface="Times New Roman"/>
                <a:cs typeface="Times New Roman"/>
              </a:rPr>
              <a:t>una</a:t>
            </a:r>
            <a:r>
              <a:rPr sz="1800" spc="5" dirty="0">
                <a:latin typeface="Times New Roman"/>
                <a:cs typeface="Times New Roman"/>
              </a:rPr>
              <a:t> </a:t>
            </a:r>
            <a:r>
              <a:rPr sz="1800" spc="-5" dirty="0">
                <a:latin typeface="Times New Roman"/>
                <a:cs typeface="Times New Roman"/>
              </a:rPr>
              <a:t>capa</a:t>
            </a:r>
            <a:r>
              <a:rPr sz="1800" dirty="0">
                <a:latin typeface="Times New Roman"/>
                <a:cs typeface="Times New Roman"/>
              </a:rPr>
              <a:t> y</a:t>
            </a:r>
            <a:r>
              <a:rPr sz="1800" spc="5" dirty="0">
                <a:latin typeface="Times New Roman"/>
                <a:cs typeface="Times New Roman"/>
              </a:rPr>
              <a:t> </a:t>
            </a:r>
            <a:r>
              <a:rPr sz="1800" spc="-5" dirty="0">
                <a:latin typeface="Times New Roman"/>
                <a:cs typeface="Times New Roman"/>
              </a:rPr>
              <a:t>una</a:t>
            </a:r>
            <a:r>
              <a:rPr sz="1800" spc="5" dirty="0">
                <a:latin typeface="Times New Roman"/>
                <a:cs typeface="Times New Roman"/>
              </a:rPr>
              <a:t> </a:t>
            </a:r>
            <a:r>
              <a:rPr sz="1800" spc="-5" dirty="0">
                <a:latin typeface="Times New Roman"/>
                <a:cs typeface="Times New Roman"/>
              </a:rPr>
              <a:t>variable</a:t>
            </a:r>
            <a:r>
              <a:rPr sz="1800" spc="10" dirty="0">
                <a:latin typeface="Times New Roman"/>
                <a:cs typeface="Times New Roman"/>
              </a:rPr>
              <a:t> </a:t>
            </a:r>
            <a:r>
              <a:rPr sz="1800" spc="-5" dirty="0" smtClean="0">
                <a:latin typeface="Times New Roman"/>
                <a:cs typeface="Times New Roman"/>
              </a:rPr>
              <a:t>output:</a:t>
            </a:r>
            <a:endParaRPr lang="es-ES" dirty="0">
              <a:latin typeface="Times New Roman"/>
              <a:cs typeface="Times New Roman"/>
            </a:endParaRPr>
          </a:p>
          <a:p>
            <a:pPr marL="12700" algn="just">
              <a:lnSpc>
                <a:spcPts val="2100"/>
              </a:lnSpc>
              <a:spcBef>
                <a:spcPts val="5"/>
              </a:spcBef>
            </a:pPr>
            <a:endParaRPr lang="es-ES" sz="2400" b="1" i="1" dirty="0">
              <a:latin typeface="Times New Roman"/>
              <a:cs typeface="Times New Roman"/>
            </a:endParaRPr>
          </a:p>
          <a:p>
            <a:pPr marL="12700" algn="just">
              <a:lnSpc>
                <a:spcPts val="2100"/>
              </a:lnSpc>
              <a:spcBef>
                <a:spcPts val="5"/>
              </a:spcBef>
            </a:pPr>
            <a:r>
              <a:rPr lang="es-ES" sz="2400" b="1" i="1" dirty="0">
                <a:latin typeface="Times New Roman"/>
                <a:cs typeface="Times New Roman"/>
              </a:rPr>
              <a:t> </a:t>
            </a:r>
            <a:r>
              <a:rPr lang="es-ES" sz="2400" b="1" i="1" dirty="0" smtClean="0">
                <a:latin typeface="Times New Roman"/>
                <a:cs typeface="Times New Roman"/>
              </a:rPr>
              <a:t>                                                   </a:t>
            </a:r>
            <a:r>
              <a:rPr sz="2400" b="1" i="1" dirty="0" smtClean="0">
                <a:latin typeface="Times New Roman"/>
                <a:cs typeface="Times New Roman"/>
              </a:rPr>
              <a:t>h(k+1</a:t>
            </a:r>
            <a:r>
              <a:rPr sz="2400" b="1" i="1" dirty="0">
                <a:latin typeface="Times New Roman"/>
                <a:cs typeface="Times New Roman"/>
              </a:rPr>
              <a:t>)+h+1</a:t>
            </a:r>
          </a:p>
          <a:p>
            <a:pPr marL="12700" marR="4235450" algn="just">
              <a:lnSpc>
                <a:spcPts val="4140"/>
              </a:lnSpc>
              <a:spcBef>
                <a:spcPts val="265"/>
              </a:spcBef>
            </a:pPr>
            <a:r>
              <a:rPr sz="1800" dirty="0">
                <a:latin typeface="Times New Roman"/>
                <a:cs typeface="Times New Roman"/>
              </a:rPr>
              <a:t>donde</a:t>
            </a:r>
            <a:r>
              <a:rPr sz="1800" spc="-5" dirty="0">
                <a:latin typeface="Times New Roman"/>
                <a:cs typeface="Times New Roman"/>
              </a:rPr>
              <a:t> </a:t>
            </a:r>
            <a:r>
              <a:rPr sz="1800" i="1" dirty="0">
                <a:latin typeface="Times New Roman"/>
                <a:cs typeface="Times New Roman"/>
              </a:rPr>
              <a:t>h</a:t>
            </a:r>
            <a:r>
              <a:rPr sz="1800" dirty="0">
                <a:latin typeface="Times New Roman"/>
                <a:cs typeface="Times New Roman"/>
              </a:rPr>
              <a:t>=</a:t>
            </a:r>
            <a:r>
              <a:rPr sz="1800" spc="-15" dirty="0">
                <a:latin typeface="Times New Roman"/>
                <a:cs typeface="Times New Roman"/>
              </a:rPr>
              <a:t> </a:t>
            </a:r>
            <a:r>
              <a:rPr sz="1800" spc="-5" dirty="0">
                <a:latin typeface="Times New Roman"/>
                <a:cs typeface="Times New Roman"/>
              </a:rPr>
              <a:t>número </a:t>
            </a:r>
            <a:r>
              <a:rPr sz="1800" dirty="0">
                <a:latin typeface="Times New Roman"/>
                <a:cs typeface="Times New Roman"/>
              </a:rPr>
              <a:t>de</a:t>
            </a:r>
            <a:r>
              <a:rPr sz="1800" spc="-5" dirty="0">
                <a:latin typeface="Times New Roman"/>
                <a:cs typeface="Times New Roman"/>
              </a:rPr>
              <a:t> </a:t>
            </a:r>
            <a:r>
              <a:rPr sz="1800" dirty="0">
                <a:latin typeface="Times New Roman"/>
                <a:cs typeface="Times New Roman"/>
              </a:rPr>
              <a:t>nodos</a:t>
            </a:r>
            <a:r>
              <a:rPr sz="1800" spc="-10" dirty="0">
                <a:latin typeface="Times New Roman"/>
                <a:cs typeface="Times New Roman"/>
              </a:rPr>
              <a:t> </a:t>
            </a:r>
            <a:r>
              <a:rPr sz="1800" spc="-5" dirty="0">
                <a:latin typeface="Times New Roman"/>
                <a:cs typeface="Times New Roman"/>
              </a:rPr>
              <a:t>ocultos,</a:t>
            </a:r>
            <a:r>
              <a:rPr sz="1800" dirty="0">
                <a:latin typeface="Times New Roman"/>
                <a:cs typeface="Times New Roman"/>
              </a:rPr>
              <a:t> </a:t>
            </a:r>
            <a:r>
              <a:rPr sz="1800" i="1" dirty="0">
                <a:latin typeface="Times New Roman"/>
                <a:cs typeface="Times New Roman"/>
              </a:rPr>
              <a:t>k</a:t>
            </a:r>
            <a:r>
              <a:rPr sz="1800" dirty="0">
                <a:latin typeface="Times New Roman"/>
                <a:cs typeface="Times New Roman"/>
              </a:rPr>
              <a:t>=número</a:t>
            </a:r>
            <a:r>
              <a:rPr sz="1800" spc="-5" dirty="0">
                <a:latin typeface="Times New Roman"/>
                <a:cs typeface="Times New Roman"/>
              </a:rPr>
              <a:t> </a:t>
            </a:r>
            <a:r>
              <a:rPr sz="1800" spc="-10" dirty="0">
                <a:latin typeface="Times New Roman"/>
                <a:cs typeface="Times New Roman"/>
              </a:rPr>
              <a:t>de</a:t>
            </a:r>
            <a:r>
              <a:rPr sz="1800" spc="-15" dirty="0">
                <a:latin typeface="Times New Roman"/>
                <a:cs typeface="Times New Roman"/>
              </a:rPr>
              <a:t> </a:t>
            </a:r>
            <a:r>
              <a:rPr sz="1800" dirty="0">
                <a:latin typeface="Times New Roman"/>
                <a:cs typeface="Times New Roman"/>
              </a:rPr>
              <a:t>nodos</a:t>
            </a:r>
            <a:r>
              <a:rPr sz="1800" spc="-5" dirty="0">
                <a:latin typeface="Times New Roman"/>
                <a:cs typeface="Times New Roman"/>
              </a:rPr>
              <a:t> </a:t>
            </a:r>
            <a:r>
              <a:rPr sz="1800" dirty="0">
                <a:latin typeface="Times New Roman"/>
                <a:cs typeface="Times New Roman"/>
              </a:rPr>
              <a:t>input </a:t>
            </a:r>
            <a:r>
              <a:rPr sz="1800" spc="-434" dirty="0">
                <a:latin typeface="Times New Roman"/>
                <a:cs typeface="Times New Roman"/>
              </a:rPr>
              <a:t> </a:t>
            </a:r>
            <a:endParaRPr lang="es-ES" sz="1800" spc="-434" dirty="0" smtClean="0">
              <a:latin typeface="Times New Roman"/>
              <a:cs typeface="Times New Roman"/>
            </a:endParaRPr>
          </a:p>
          <a:p>
            <a:pPr marL="12700" marR="4235450" algn="just">
              <a:lnSpc>
                <a:spcPts val="4140"/>
              </a:lnSpc>
              <a:spcBef>
                <a:spcPts val="265"/>
              </a:spcBef>
            </a:pPr>
            <a:r>
              <a:rPr lang="es-ES" sz="1800" dirty="0" smtClean="0">
                <a:latin typeface="Times New Roman"/>
                <a:cs typeface="Times New Roman"/>
              </a:rPr>
              <a:t>E</a:t>
            </a:r>
            <a:r>
              <a:rPr sz="1800" dirty="0" smtClean="0">
                <a:latin typeface="Times New Roman"/>
                <a:cs typeface="Times New Roman"/>
              </a:rPr>
              <a:t>n</a:t>
            </a:r>
            <a:r>
              <a:rPr sz="1800" spc="5" dirty="0" smtClean="0">
                <a:latin typeface="Times New Roman"/>
                <a:cs typeface="Times New Roman"/>
              </a:rPr>
              <a:t> </a:t>
            </a:r>
            <a:r>
              <a:rPr sz="1800" spc="-5" dirty="0">
                <a:latin typeface="Times New Roman"/>
                <a:cs typeface="Times New Roman"/>
              </a:rPr>
              <a:t>regresión </a:t>
            </a:r>
            <a:r>
              <a:rPr sz="1800" dirty="0">
                <a:latin typeface="Times New Roman"/>
                <a:cs typeface="Times New Roman"/>
              </a:rPr>
              <a:t>clásica</a:t>
            </a:r>
            <a:r>
              <a:rPr sz="1800" spc="-5" dirty="0">
                <a:latin typeface="Times New Roman"/>
                <a:cs typeface="Times New Roman"/>
              </a:rPr>
              <a:t> serían</a:t>
            </a:r>
            <a:r>
              <a:rPr sz="1800" spc="-10" dirty="0">
                <a:latin typeface="Times New Roman"/>
                <a:cs typeface="Times New Roman"/>
              </a:rPr>
              <a:t> </a:t>
            </a:r>
            <a:r>
              <a:rPr sz="1800" i="1" dirty="0">
                <a:latin typeface="Times New Roman"/>
                <a:cs typeface="Times New Roman"/>
              </a:rPr>
              <a:t>k+1=5</a:t>
            </a:r>
            <a:r>
              <a:rPr sz="1800" spc="-10" dirty="0">
                <a:latin typeface="Times New Roman"/>
                <a:cs typeface="Times New Roman"/>
              </a:rPr>
              <a:t> </a:t>
            </a:r>
            <a:r>
              <a:rPr sz="1800" dirty="0">
                <a:latin typeface="Times New Roman"/>
                <a:cs typeface="Times New Roman"/>
              </a:rPr>
              <a:t>en</a:t>
            </a:r>
            <a:r>
              <a:rPr sz="1800" spc="-5" dirty="0">
                <a:latin typeface="Times New Roman"/>
                <a:cs typeface="Times New Roman"/>
              </a:rPr>
              <a:t> </a:t>
            </a:r>
            <a:r>
              <a:rPr sz="1800" spc="-5" dirty="0" err="1">
                <a:latin typeface="Times New Roman"/>
                <a:cs typeface="Times New Roman"/>
              </a:rPr>
              <a:t>nuestro</a:t>
            </a:r>
            <a:r>
              <a:rPr sz="1800" spc="-5" dirty="0">
                <a:latin typeface="Times New Roman"/>
                <a:cs typeface="Times New Roman"/>
              </a:rPr>
              <a:t> </a:t>
            </a:r>
            <a:r>
              <a:rPr sz="1800" spc="-5" dirty="0" err="1" smtClean="0">
                <a:latin typeface="Times New Roman"/>
                <a:cs typeface="Times New Roman"/>
              </a:rPr>
              <a:t>caso</a:t>
            </a:r>
            <a:r>
              <a:rPr lang="es-ES" sz="1800" spc="-5" dirty="0" smtClean="0">
                <a:latin typeface="Times New Roman"/>
                <a:cs typeface="Times New Roman"/>
              </a:rPr>
              <a:t> con 4 variables de entrada</a:t>
            </a:r>
            <a:r>
              <a:rPr sz="1800" spc="-5" dirty="0" smtClean="0">
                <a:latin typeface="Times New Roman"/>
                <a:cs typeface="Times New Roman"/>
              </a:rPr>
              <a:t>.</a:t>
            </a:r>
            <a:endParaRPr sz="1800" dirty="0">
              <a:latin typeface="Times New Roman"/>
              <a:cs typeface="Times New Roman"/>
            </a:endParaRPr>
          </a:p>
        </p:txBody>
      </p:sp>
      <p:pic>
        <p:nvPicPr>
          <p:cNvPr id="4" name="object 4"/>
          <p:cNvPicPr/>
          <p:nvPr/>
        </p:nvPicPr>
        <p:blipFill>
          <a:blip r:embed="rId2" cstate="print"/>
          <a:stretch>
            <a:fillRect/>
          </a:stretch>
        </p:blipFill>
        <p:spPr>
          <a:xfrm>
            <a:off x="2603500" y="811466"/>
            <a:ext cx="4849198" cy="3386455"/>
          </a:xfrm>
          <a:prstGeom prst="rect">
            <a:avLst/>
          </a:prstGeom>
        </p:spPr>
      </p:pic>
      <p:sp>
        <p:nvSpPr>
          <p:cNvPr id="6" name="Rectángulo 5"/>
          <p:cNvSpPr/>
          <p:nvPr/>
        </p:nvSpPr>
        <p:spPr>
          <a:xfrm>
            <a:off x="346963" y="226691"/>
            <a:ext cx="9448799" cy="584775"/>
          </a:xfrm>
          <a:prstGeom prst="rect">
            <a:avLst/>
          </a:prstGeom>
        </p:spPr>
        <p:txBody>
          <a:bodyPr wrap="square">
            <a:spAutoFit/>
          </a:bodyPr>
          <a:lstStyle/>
          <a:p>
            <a:pPr algn="just"/>
            <a:r>
              <a:rPr lang="es-ES" sz="3200" b="1" dirty="0" smtClean="0">
                <a:solidFill>
                  <a:schemeClr val="tx2"/>
                </a:solidFill>
              </a:rPr>
              <a:t>Parámetros de una red neuronal</a:t>
            </a:r>
            <a:endParaRPr lang="es-ES" sz="2000"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texto 2"/>
              <p:cNvSpPr>
                <a:spLocks noGrp="1"/>
              </p:cNvSpPr>
              <p:nvPr>
                <p:ph type="body" idx="1"/>
              </p:nvPr>
            </p:nvSpPr>
            <p:spPr>
              <a:xfrm>
                <a:off x="1079500" y="1038225"/>
                <a:ext cx="8153400" cy="3939540"/>
              </a:xfrm>
            </p:spPr>
            <p:txBody>
              <a:bodyPr/>
              <a:lstStyle/>
              <a:p>
                <a:r>
                  <a:rPr lang="es-ES" sz="3200" dirty="0" smtClean="0"/>
                  <a:t>OJO</a:t>
                </a:r>
                <a:r>
                  <a:rPr lang="es-ES" sz="3200" dirty="0" smtClean="0">
                    <a:solidFill>
                      <a:srgbClr val="002060"/>
                    </a:solidFill>
                  </a:rPr>
                  <a:t>: no tiene por qué haber el mismo número de nodos en la capa oculta que en la capa de entrada</a:t>
                </a:r>
              </a:p>
              <a:p>
                <a:endParaRPr lang="es-ES" sz="3200" dirty="0">
                  <a:solidFill>
                    <a:srgbClr val="002060"/>
                  </a:solidFill>
                </a:endParaRPr>
              </a:p>
              <a:p>
                <a:pPr algn="l"/>
                <a:r>
                  <a:rPr lang="es-ES" sz="3200" dirty="0" smtClean="0"/>
                  <a:t>NOTA</a:t>
                </a:r>
                <a:r>
                  <a:rPr lang="es-ES" sz="3200" dirty="0" smtClean="0">
                    <a:solidFill>
                      <a:srgbClr val="002060"/>
                    </a:solidFill>
                  </a:rPr>
                  <a:t>: si tengo una red neuronal con </a:t>
                </a:r>
                <a:r>
                  <a:rPr lang="es-ES" sz="3200" i="1" dirty="0" smtClean="0">
                    <a:solidFill>
                      <a:srgbClr val="002060"/>
                    </a:solidFill>
                  </a:rPr>
                  <a:t>o </a:t>
                </a:r>
                <a:r>
                  <a:rPr lang="es-ES" sz="3200" dirty="0" smtClean="0">
                    <a:solidFill>
                      <a:srgbClr val="002060"/>
                    </a:solidFill>
                  </a:rPr>
                  <a:t>nodos en la capa de salida, la fórmula del número de parámetros vendría dada por:</a:t>
                </a:r>
              </a:p>
              <a:p>
                <a:pPr algn="l"/>
                <a:endParaRPr lang="es-ES" sz="3200" dirty="0">
                  <a:solidFill>
                    <a:srgbClr val="002060"/>
                  </a:solidFill>
                </a:endParaRPr>
              </a:p>
              <a:p>
                <a:pPr algn="l"/>
                <a14:m>
                  <m:oMathPara xmlns:m="http://schemas.openxmlformats.org/officeDocument/2006/math">
                    <m:oMathParaPr>
                      <m:jc m:val="centerGroup"/>
                    </m:oMathParaPr>
                    <m:oMath xmlns:m="http://schemas.openxmlformats.org/officeDocument/2006/math">
                      <m:d>
                        <m:dPr>
                          <m:ctrlPr>
                            <a:rPr lang="es-ES" sz="3200" b="0" i="1" smtClean="0">
                              <a:solidFill>
                                <a:srgbClr val="002060"/>
                              </a:solidFill>
                              <a:latin typeface="Cambria Math" panose="02040503050406030204" pitchFamily="18" charset="0"/>
                            </a:rPr>
                          </m:ctrlPr>
                        </m:dPr>
                        <m:e>
                          <m:r>
                            <a:rPr lang="es-ES" sz="3200" b="0" i="1" smtClean="0">
                              <a:solidFill>
                                <a:srgbClr val="002060"/>
                              </a:solidFill>
                              <a:latin typeface="Cambria Math" panose="02040503050406030204" pitchFamily="18" charset="0"/>
                            </a:rPr>
                            <m:t>𝑘</m:t>
                          </m:r>
                          <m:r>
                            <a:rPr lang="es-ES" sz="3200" b="0" i="1" smtClean="0">
                              <a:solidFill>
                                <a:srgbClr val="002060"/>
                              </a:solidFill>
                              <a:latin typeface="Cambria Math" panose="02040503050406030204" pitchFamily="18" charset="0"/>
                            </a:rPr>
                            <m:t>∗</m:t>
                          </m:r>
                          <m:r>
                            <a:rPr lang="es-ES" sz="3200" b="0" i="1" smtClean="0">
                              <a:solidFill>
                                <a:srgbClr val="002060"/>
                              </a:solidFill>
                              <a:latin typeface="Cambria Math" panose="02040503050406030204" pitchFamily="18" charset="0"/>
                            </a:rPr>
                            <m:t>h</m:t>
                          </m:r>
                          <m:r>
                            <a:rPr lang="es-ES" sz="3200" b="0" i="1" smtClean="0">
                              <a:solidFill>
                                <a:srgbClr val="002060"/>
                              </a:solidFill>
                              <a:latin typeface="Cambria Math" panose="02040503050406030204" pitchFamily="18" charset="0"/>
                            </a:rPr>
                            <m:t>+</m:t>
                          </m:r>
                          <m:r>
                            <a:rPr lang="es-ES" sz="3200" b="0" i="1" smtClean="0">
                              <a:solidFill>
                                <a:srgbClr val="002060"/>
                              </a:solidFill>
                              <a:latin typeface="Cambria Math" panose="02040503050406030204" pitchFamily="18" charset="0"/>
                            </a:rPr>
                            <m:t>h</m:t>
                          </m:r>
                          <m:r>
                            <a:rPr lang="es-ES" sz="3200" b="0" i="1" smtClean="0">
                              <a:solidFill>
                                <a:srgbClr val="002060"/>
                              </a:solidFill>
                              <a:latin typeface="Cambria Math" panose="02040503050406030204" pitchFamily="18" charset="0"/>
                            </a:rPr>
                            <m:t>∗</m:t>
                          </m:r>
                          <m:r>
                            <a:rPr lang="es-ES" sz="3200" b="0" i="1" smtClean="0">
                              <a:solidFill>
                                <a:srgbClr val="002060"/>
                              </a:solidFill>
                              <a:latin typeface="Cambria Math" panose="02040503050406030204" pitchFamily="18" charset="0"/>
                            </a:rPr>
                            <m:t>𝑜</m:t>
                          </m:r>
                        </m:e>
                      </m:d>
                      <m:r>
                        <a:rPr lang="es-ES" sz="3200" b="0" i="1" smtClean="0">
                          <a:solidFill>
                            <a:srgbClr val="002060"/>
                          </a:solidFill>
                          <a:latin typeface="Cambria Math" panose="02040503050406030204" pitchFamily="18" charset="0"/>
                        </a:rPr>
                        <m:t>+</m:t>
                      </m:r>
                      <m:r>
                        <a:rPr lang="es-ES" sz="3200" b="0" i="1" smtClean="0">
                          <a:solidFill>
                            <a:srgbClr val="002060"/>
                          </a:solidFill>
                          <a:latin typeface="Cambria Math" panose="02040503050406030204" pitchFamily="18" charset="0"/>
                        </a:rPr>
                        <m:t>h</m:t>
                      </m:r>
                      <m:r>
                        <a:rPr lang="es-ES" sz="3200" b="0" i="1" smtClean="0">
                          <a:solidFill>
                            <a:srgbClr val="002060"/>
                          </a:solidFill>
                          <a:latin typeface="Cambria Math" panose="02040503050406030204" pitchFamily="18" charset="0"/>
                        </a:rPr>
                        <m:t>+</m:t>
                      </m:r>
                      <m:r>
                        <a:rPr lang="es-ES" sz="3200" b="0" i="1" smtClean="0">
                          <a:solidFill>
                            <a:srgbClr val="002060"/>
                          </a:solidFill>
                          <a:latin typeface="Cambria Math" panose="02040503050406030204" pitchFamily="18" charset="0"/>
                        </a:rPr>
                        <m:t>𝑜</m:t>
                      </m:r>
                    </m:oMath>
                  </m:oMathPara>
                </a14:m>
                <a:endParaRPr lang="es-ES" sz="3200" dirty="0">
                  <a:solidFill>
                    <a:srgbClr val="002060"/>
                  </a:solidFill>
                </a:endParaRPr>
              </a:p>
            </p:txBody>
          </p:sp>
        </mc:Choice>
        <mc:Fallback xmlns="">
          <p:sp>
            <p:nvSpPr>
              <p:cNvPr id="3" name="Marcador de texto 2"/>
              <p:cNvSpPr>
                <a:spLocks noGrp="1" noRot="1" noChangeAspect="1" noMove="1" noResize="1" noEditPoints="1" noAdjustHandles="1" noChangeArrowheads="1" noChangeShapeType="1" noTextEdit="1"/>
              </p:cNvSpPr>
              <p:nvPr>
                <p:ph type="body" idx="1"/>
              </p:nvPr>
            </p:nvSpPr>
            <p:spPr>
              <a:xfrm>
                <a:off x="1079500" y="1038225"/>
                <a:ext cx="8153400" cy="3939540"/>
              </a:xfrm>
              <a:blipFill rotWithShape="0">
                <a:blip r:embed="rId2"/>
                <a:stretch>
                  <a:fillRect l="-2990" t="-3246" r="-2765"/>
                </a:stretch>
              </a:blipFill>
            </p:spPr>
            <p:txBody>
              <a:bodyPr/>
              <a:lstStyle/>
              <a:p>
                <a:r>
                  <a:rPr lang="es-ES">
                    <a:noFill/>
                  </a:rPr>
                  <a:t> </a:t>
                </a:r>
              </a:p>
            </p:txBody>
          </p:sp>
        </mc:Fallback>
      </mc:AlternateContent>
      <p:sp>
        <p:nvSpPr>
          <p:cNvPr id="2" name="CuadroTexto 1"/>
          <p:cNvSpPr txBox="1"/>
          <p:nvPr/>
        </p:nvSpPr>
        <p:spPr>
          <a:xfrm>
            <a:off x="5034722" y="5090809"/>
            <a:ext cx="1066800" cy="430887"/>
          </a:xfrm>
          <a:prstGeom prst="rect">
            <a:avLst/>
          </a:prstGeom>
          <a:noFill/>
        </p:spPr>
        <p:txBody>
          <a:bodyPr wrap="square" rtlCol="0">
            <a:spAutoFit/>
          </a:bodyPr>
          <a:lstStyle/>
          <a:p>
            <a:r>
              <a:rPr lang="es-ES" sz="1100" i="1" dirty="0" smtClean="0"/>
              <a:t>Número de nodos ocultos</a:t>
            </a:r>
            <a:endParaRPr lang="es-ES" sz="1100" i="1" dirty="0"/>
          </a:p>
        </p:txBody>
      </p:sp>
      <p:sp>
        <p:nvSpPr>
          <p:cNvPr id="4" name="CuadroTexto 3"/>
          <p:cNvSpPr txBox="1"/>
          <p:nvPr/>
        </p:nvSpPr>
        <p:spPr>
          <a:xfrm>
            <a:off x="3213100" y="5305425"/>
            <a:ext cx="1066800" cy="430887"/>
          </a:xfrm>
          <a:prstGeom prst="rect">
            <a:avLst/>
          </a:prstGeom>
          <a:noFill/>
        </p:spPr>
        <p:txBody>
          <a:bodyPr wrap="square" rtlCol="0">
            <a:spAutoFit/>
          </a:bodyPr>
          <a:lstStyle/>
          <a:p>
            <a:r>
              <a:rPr lang="es-ES" sz="1100" i="1" dirty="0" smtClean="0"/>
              <a:t>Número de nodos input</a:t>
            </a:r>
            <a:endParaRPr lang="es-ES" sz="1100" i="1" dirty="0"/>
          </a:p>
        </p:txBody>
      </p:sp>
      <p:cxnSp>
        <p:nvCxnSpPr>
          <p:cNvPr id="6" name="Conector recto de flecha 5"/>
          <p:cNvCxnSpPr>
            <a:stCxn id="4" idx="0"/>
          </p:cNvCxnSpPr>
          <p:nvPr/>
        </p:nvCxnSpPr>
        <p:spPr>
          <a:xfrm flipH="1" flipV="1">
            <a:off x="3594100" y="4924425"/>
            <a:ext cx="1524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p:cNvCxnSpPr/>
          <p:nvPr/>
        </p:nvCxnSpPr>
        <p:spPr>
          <a:xfrm flipH="1" flipV="1">
            <a:off x="4279900" y="4924425"/>
            <a:ext cx="76200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p:cNvCxnSpPr/>
          <p:nvPr/>
        </p:nvCxnSpPr>
        <p:spPr>
          <a:xfrm flipH="1" flipV="1">
            <a:off x="4889500" y="4874539"/>
            <a:ext cx="381000" cy="215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p:cNvCxnSpPr>
            <a:stCxn id="2" idx="3"/>
          </p:cNvCxnSpPr>
          <p:nvPr/>
        </p:nvCxnSpPr>
        <p:spPr>
          <a:xfrm flipV="1">
            <a:off x="6101522" y="4874539"/>
            <a:ext cx="159578" cy="431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610652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549389"/>
            <a:ext cx="9266937" cy="414344"/>
          </a:xfrm>
          <a:prstGeom prst="rect">
            <a:avLst/>
          </a:prstGeom>
        </p:spPr>
        <p:txBody>
          <a:bodyPr vert="horz" wrap="square" lIns="0" tIns="10160" rIns="0" bIns="0" rtlCol="0">
            <a:spAutoFit/>
          </a:bodyPr>
          <a:lstStyle/>
          <a:p>
            <a:pPr marL="12700" marR="5080">
              <a:lnSpc>
                <a:spcPct val="100699"/>
              </a:lnSpc>
              <a:spcBef>
                <a:spcPts val="80"/>
              </a:spcBef>
              <a:tabLst>
                <a:tab pos="5795645" algn="l"/>
              </a:tabLst>
            </a:pPr>
            <a:r>
              <a:rPr sz="2200" spc="-5" dirty="0">
                <a:solidFill>
                  <a:schemeClr val="tx1"/>
                </a:solidFill>
              </a:rPr>
              <a:t>El</a:t>
            </a:r>
            <a:r>
              <a:rPr sz="2200" spc="10" dirty="0">
                <a:solidFill>
                  <a:schemeClr val="tx1"/>
                </a:solidFill>
              </a:rPr>
              <a:t> </a:t>
            </a:r>
            <a:r>
              <a:rPr sz="2200" spc="-5" dirty="0">
                <a:solidFill>
                  <a:schemeClr val="tx1"/>
                </a:solidFill>
              </a:rPr>
              <a:t>objetivo</a:t>
            </a:r>
            <a:r>
              <a:rPr sz="2200" spc="20" dirty="0">
                <a:solidFill>
                  <a:schemeClr val="tx1"/>
                </a:solidFill>
              </a:rPr>
              <a:t> </a:t>
            </a:r>
            <a:r>
              <a:rPr sz="2200" spc="-5" dirty="0">
                <a:solidFill>
                  <a:schemeClr val="tx1"/>
                </a:solidFill>
              </a:rPr>
              <a:t>computacional</a:t>
            </a:r>
            <a:r>
              <a:rPr sz="2200" spc="25" dirty="0">
                <a:solidFill>
                  <a:schemeClr val="tx1"/>
                </a:solidFill>
              </a:rPr>
              <a:t> </a:t>
            </a:r>
            <a:r>
              <a:rPr sz="2200" spc="-5" dirty="0">
                <a:solidFill>
                  <a:schemeClr val="tx1"/>
                </a:solidFill>
              </a:rPr>
              <a:t>concreto</a:t>
            </a:r>
            <a:r>
              <a:rPr sz="2200" spc="20" dirty="0">
                <a:solidFill>
                  <a:schemeClr val="tx1"/>
                </a:solidFill>
              </a:rPr>
              <a:t> </a:t>
            </a:r>
            <a:r>
              <a:rPr sz="2200" spc="-5" dirty="0">
                <a:solidFill>
                  <a:schemeClr val="tx1"/>
                </a:solidFill>
              </a:rPr>
              <a:t>es</a:t>
            </a:r>
            <a:r>
              <a:rPr sz="2200" spc="10" dirty="0">
                <a:solidFill>
                  <a:schemeClr val="tx1"/>
                </a:solidFill>
              </a:rPr>
              <a:t> </a:t>
            </a:r>
            <a:r>
              <a:rPr sz="2200" b="1" spc="-5" dirty="0">
                <a:solidFill>
                  <a:schemeClr val="tx1"/>
                </a:solidFill>
                <a:latin typeface="Times New Roman"/>
                <a:cs typeface="Times New Roman"/>
              </a:rPr>
              <a:t>estimar</a:t>
            </a:r>
            <a:r>
              <a:rPr sz="2200" b="1" spc="15" dirty="0">
                <a:solidFill>
                  <a:schemeClr val="tx1"/>
                </a:solidFill>
                <a:latin typeface="Times New Roman"/>
                <a:cs typeface="Times New Roman"/>
              </a:rPr>
              <a:t> </a:t>
            </a:r>
            <a:r>
              <a:rPr sz="2200" spc="-5" dirty="0">
                <a:solidFill>
                  <a:schemeClr val="tx1"/>
                </a:solidFill>
              </a:rPr>
              <a:t>los	parámetros </a:t>
            </a:r>
            <a:r>
              <a:rPr sz="2600" dirty="0">
                <a:solidFill>
                  <a:schemeClr val="tx1"/>
                </a:solidFill>
              </a:rPr>
              <a:t>w</a:t>
            </a:r>
            <a:r>
              <a:rPr sz="2600" spc="-10" dirty="0">
                <a:solidFill>
                  <a:schemeClr val="tx1"/>
                </a:solidFill>
              </a:rPr>
              <a:t> </a:t>
            </a:r>
            <a:r>
              <a:rPr sz="2600" dirty="0">
                <a:solidFill>
                  <a:schemeClr val="tx1"/>
                </a:solidFill>
              </a:rPr>
              <a:t>y</a:t>
            </a:r>
            <a:r>
              <a:rPr sz="2600" spc="-15" dirty="0">
                <a:solidFill>
                  <a:schemeClr val="tx1"/>
                </a:solidFill>
              </a:rPr>
              <a:t> </a:t>
            </a:r>
            <a:r>
              <a:rPr sz="2600" dirty="0">
                <a:solidFill>
                  <a:schemeClr val="tx1"/>
                </a:solidFill>
              </a:rPr>
              <a:t>b</a:t>
            </a:r>
            <a:r>
              <a:rPr sz="2600" spc="-10" dirty="0">
                <a:solidFill>
                  <a:schemeClr val="tx1"/>
                </a:solidFill>
              </a:rPr>
              <a:t> </a:t>
            </a:r>
            <a:r>
              <a:rPr sz="2200" spc="-5" dirty="0">
                <a:solidFill>
                  <a:schemeClr val="tx1"/>
                </a:solidFill>
              </a:rPr>
              <a:t>del </a:t>
            </a:r>
            <a:r>
              <a:rPr sz="2200" spc="-535" dirty="0">
                <a:solidFill>
                  <a:schemeClr val="tx1"/>
                </a:solidFill>
              </a:rPr>
              <a:t> </a:t>
            </a:r>
            <a:r>
              <a:rPr sz="2200" spc="-5" dirty="0">
                <a:solidFill>
                  <a:schemeClr val="tx1"/>
                </a:solidFill>
              </a:rPr>
              <a:t>modelo.</a:t>
            </a:r>
            <a:endParaRPr sz="2200" dirty="0">
              <a:solidFill>
                <a:schemeClr val="tx1"/>
              </a:solidFill>
            </a:endParaRPr>
          </a:p>
        </p:txBody>
      </p:sp>
      <mc:AlternateContent xmlns:mc="http://schemas.openxmlformats.org/markup-compatibility/2006" xmlns:a14="http://schemas.microsoft.com/office/drawing/2010/main">
        <mc:Choice Requires="a14">
          <p:sp>
            <p:nvSpPr>
              <p:cNvPr id="3" name="object 3"/>
              <p:cNvSpPr txBox="1"/>
              <p:nvPr/>
            </p:nvSpPr>
            <p:spPr>
              <a:xfrm>
                <a:off x="546100" y="1495425"/>
                <a:ext cx="9495537" cy="5470152"/>
              </a:xfrm>
              <a:prstGeom prst="rect">
                <a:avLst/>
              </a:prstGeom>
            </p:spPr>
            <p:txBody>
              <a:bodyPr vert="horz" wrap="square" lIns="0" tIns="12065" rIns="0" bIns="0" rtlCol="0">
                <a:spAutoFit/>
              </a:bodyPr>
              <a:lstStyle/>
              <a:p>
                <a:pPr marL="12700" algn="ctr">
                  <a:lnSpc>
                    <a:spcPts val="2585"/>
                  </a:lnSpc>
                  <a:spcBef>
                    <a:spcPts val="95"/>
                  </a:spcBef>
                </a:pPr>
                <a:r>
                  <a:rPr lang="es-ES" sz="1800" i="1" spc="-5" dirty="0" smtClean="0">
                    <a:latin typeface="Times New Roman"/>
                    <a:cs typeface="Times New Roman"/>
                  </a:rPr>
                  <a:t>Y=tanh(</a:t>
                </a:r>
                <a:r>
                  <a:rPr lang="es-ES" sz="2200" i="1" spc="-5" dirty="0">
                    <a:latin typeface="Times New Roman"/>
                    <a:cs typeface="Times New Roman"/>
                  </a:rPr>
                  <a:t>w</a:t>
                </a:r>
                <a:r>
                  <a:rPr lang="es-ES" sz="1200" i="1" spc="-5" dirty="0">
                    <a:latin typeface="Times New Roman"/>
                    <a:cs typeface="Times New Roman"/>
                  </a:rPr>
                  <a:t>1,out</a:t>
                </a:r>
                <a:r>
                  <a:rPr lang="es-ES" sz="1800" i="1" spc="-5" dirty="0">
                    <a:latin typeface="Times New Roman"/>
                    <a:cs typeface="Times New Roman"/>
                  </a:rPr>
                  <a:t>(tanh(</a:t>
                </a:r>
                <a:r>
                  <a:rPr lang="es-ES" sz="2200" i="1" spc="-5" dirty="0">
                    <a:latin typeface="Times New Roman"/>
                    <a:cs typeface="Times New Roman"/>
                  </a:rPr>
                  <a:t>w</a:t>
                </a:r>
                <a:r>
                  <a:rPr lang="es-ES" sz="1200" i="1" spc="-5" dirty="0">
                    <a:latin typeface="Times New Roman"/>
                    <a:cs typeface="Times New Roman"/>
                  </a:rPr>
                  <a:t>11</a:t>
                </a:r>
                <a:r>
                  <a:rPr lang="es-ES" sz="1800" i="1" spc="-5" dirty="0">
                    <a:latin typeface="Times New Roman"/>
                    <a:cs typeface="Times New Roman"/>
                  </a:rPr>
                  <a:t>X1</a:t>
                </a:r>
                <a:r>
                  <a:rPr lang="es-ES" sz="2200" i="1" spc="-5" dirty="0">
                    <a:latin typeface="Times New Roman"/>
                    <a:cs typeface="Times New Roman"/>
                  </a:rPr>
                  <a:t>+w</a:t>
                </a:r>
                <a:r>
                  <a:rPr lang="es-ES" sz="1200" i="1" spc="-5" dirty="0">
                    <a:latin typeface="Times New Roman"/>
                    <a:cs typeface="Times New Roman"/>
                  </a:rPr>
                  <a:t>21</a:t>
                </a:r>
                <a:r>
                  <a:rPr lang="es-ES" sz="1800" i="1" spc="-5" dirty="0">
                    <a:latin typeface="Times New Roman"/>
                    <a:cs typeface="Times New Roman"/>
                  </a:rPr>
                  <a:t>X2+</a:t>
                </a:r>
                <a:r>
                  <a:rPr lang="es-ES" sz="2200" i="1" spc="-5" dirty="0">
                    <a:latin typeface="Times New Roman"/>
                    <a:cs typeface="Times New Roman"/>
                  </a:rPr>
                  <a:t>w</a:t>
                </a:r>
                <a:r>
                  <a:rPr lang="es-ES" sz="1200" i="1" spc="-5" dirty="0">
                    <a:latin typeface="Times New Roman"/>
                    <a:cs typeface="Times New Roman"/>
                  </a:rPr>
                  <a:t>31</a:t>
                </a:r>
                <a:r>
                  <a:rPr lang="es-ES" sz="1800" i="1" spc="-5" dirty="0">
                    <a:latin typeface="Times New Roman"/>
                    <a:cs typeface="Times New Roman"/>
                  </a:rPr>
                  <a:t>X3+</a:t>
                </a:r>
                <a:r>
                  <a:rPr lang="es-ES" sz="2200" i="1" spc="-5" dirty="0">
                    <a:latin typeface="Times New Roman"/>
                    <a:cs typeface="Times New Roman"/>
                  </a:rPr>
                  <a:t>w</a:t>
                </a:r>
                <a:r>
                  <a:rPr lang="es-ES" sz="1200" i="1" spc="-5" dirty="0">
                    <a:latin typeface="Times New Roman"/>
                    <a:cs typeface="Times New Roman"/>
                  </a:rPr>
                  <a:t>41</a:t>
                </a:r>
                <a:r>
                  <a:rPr lang="es-ES" sz="1800" i="1" spc="-5" dirty="0">
                    <a:latin typeface="Times New Roman"/>
                    <a:cs typeface="Times New Roman"/>
                  </a:rPr>
                  <a:t>X4+</a:t>
                </a:r>
                <a:r>
                  <a:rPr lang="es-ES" sz="2200" i="1" spc="-5" dirty="0">
                    <a:solidFill>
                      <a:srgbClr val="1F487C"/>
                    </a:solidFill>
                    <a:latin typeface="Times New Roman"/>
                    <a:cs typeface="Times New Roman"/>
                  </a:rPr>
                  <a:t>b</a:t>
                </a:r>
                <a:r>
                  <a:rPr lang="es-ES" sz="1200" i="1" spc="-5" dirty="0">
                    <a:solidFill>
                      <a:srgbClr val="1F487C"/>
                    </a:solidFill>
                    <a:latin typeface="Times New Roman"/>
                    <a:cs typeface="Times New Roman"/>
                  </a:rPr>
                  <a:t>1</a:t>
                </a:r>
                <a:r>
                  <a:rPr lang="es-ES" sz="1800" i="1" spc="-5" dirty="0">
                    <a:latin typeface="Times New Roman"/>
                    <a:cs typeface="Times New Roman"/>
                  </a:rPr>
                  <a:t>))</a:t>
                </a:r>
                <a:endParaRPr lang="es-ES" sz="1800" i="1" dirty="0">
                  <a:latin typeface="Times New Roman"/>
                  <a:cs typeface="Times New Roman"/>
                </a:endParaRPr>
              </a:p>
              <a:p>
                <a:pPr marL="12700" algn="ctr">
                  <a:lnSpc>
                    <a:spcPts val="2535"/>
                  </a:lnSpc>
                </a:pPr>
                <a:r>
                  <a:rPr lang="es-ES" sz="1800" i="1" spc="-5" dirty="0">
                    <a:latin typeface="Times New Roman"/>
                    <a:cs typeface="Times New Roman"/>
                  </a:rPr>
                  <a:t>+</a:t>
                </a:r>
                <a:r>
                  <a:rPr lang="es-ES" sz="2200" i="1" spc="-5" dirty="0">
                    <a:latin typeface="Times New Roman"/>
                    <a:cs typeface="Times New Roman"/>
                  </a:rPr>
                  <a:t>w</a:t>
                </a:r>
                <a:r>
                  <a:rPr lang="es-ES" sz="1200" i="1" spc="-5" dirty="0">
                    <a:latin typeface="Times New Roman"/>
                    <a:cs typeface="Times New Roman"/>
                  </a:rPr>
                  <a:t>2,out</a:t>
                </a:r>
                <a:r>
                  <a:rPr lang="es-ES" sz="1800" i="1" spc="-5" dirty="0">
                    <a:latin typeface="Times New Roman"/>
                    <a:cs typeface="Times New Roman"/>
                  </a:rPr>
                  <a:t>(tanh(</a:t>
                </a:r>
                <a:r>
                  <a:rPr lang="es-ES" sz="2200" i="1" spc="-5" dirty="0">
                    <a:latin typeface="Times New Roman"/>
                    <a:cs typeface="Times New Roman"/>
                  </a:rPr>
                  <a:t>w</a:t>
                </a:r>
                <a:r>
                  <a:rPr lang="es-ES" sz="1200" i="1" spc="-5" dirty="0">
                    <a:latin typeface="Times New Roman"/>
                    <a:cs typeface="Times New Roman"/>
                  </a:rPr>
                  <a:t>12</a:t>
                </a:r>
                <a:r>
                  <a:rPr lang="es-ES" sz="1800" i="1" spc="-5" dirty="0">
                    <a:latin typeface="Times New Roman"/>
                    <a:cs typeface="Times New Roman"/>
                  </a:rPr>
                  <a:t>X1</a:t>
                </a:r>
                <a:r>
                  <a:rPr lang="es-ES" sz="2200" i="1" spc="-5" dirty="0">
                    <a:latin typeface="Times New Roman"/>
                    <a:cs typeface="Times New Roman"/>
                  </a:rPr>
                  <a:t>+w</a:t>
                </a:r>
                <a:r>
                  <a:rPr lang="es-ES" sz="1200" i="1" spc="-5" dirty="0">
                    <a:latin typeface="Times New Roman"/>
                    <a:cs typeface="Times New Roman"/>
                  </a:rPr>
                  <a:t>22</a:t>
                </a:r>
                <a:r>
                  <a:rPr lang="es-ES" sz="1800" i="1" spc="-5" dirty="0">
                    <a:latin typeface="Times New Roman"/>
                    <a:cs typeface="Times New Roman"/>
                  </a:rPr>
                  <a:t>X2+</a:t>
                </a:r>
                <a:r>
                  <a:rPr lang="es-ES" sz="2200" i="1" spc="-5" dirty="0">
                    <a:latin typeface="Times New Roman"/>
                    <a:cs typeface="Times New Roman"/>
                  </a:rPr>
                  <a:t>w</a:t>
                </a:r>
                <a:r>
                  <a:rPr lang="es-ES" sz="1200" i="1" spc="-5" dirty="0">
                    <a:latin typeface="Times New Roman"/>
                    <a:cs typeface="Times New Roman"/>
                  </a:rPr>
                  <a:t>32</a:t>
                </a:r>
                <a:r>
                  <a:rPr lang="es-ES" sz="1800" i="1" spc="-5" dirty="0">
                    <a:latin typeface="Times New Roman"/>
                    <a:cs typeface="Times New Roman"/>
                  </a:rPr>
                  <a:t>X3+</a:t>
                </a:r>
                <a:r>
                  <a:rPr lang="es-ES" sz="2200" i="1" spc="-5" dirty="0">
                    <a:latin typeface="Times New Roman"/>
                    <a:cs typeface="Times New Roman"/>
                  </a:rPr>
                  <a:t>w</a:t>
                </a:r>
                <a:r>
                  <a:rPr lang="es-ES" sz="1200" i="1" spc="-5" dirty="0">
                    <a:latin typeface="Times New Roman"/>
                    <a:cs typeface="Times New Roman"/>
                  </a:rPr>
                  <a:t>42</a:t>
                </a:r>
                <a:r>
                  <a:rPr lang="es-ES" sz="1800" i="1" spc="-5" dirty="0">
                    <a:latin typeface="Times New Roman"/>
                    <a:cs typeface="Times New Roman"/>
                  </a:rPr>
                  <a:t>X4+</a:t>
                </a:r>
                <a:r>
                  <a:rPr lang="es-ES" sz="2200" i="1" spc="-5" dirty="0">
                    <a:solidFill>
                      <a:srgbClr val="1F487C"/>
                    </a:solidFill>
                    <a:latin typeface="Times New Roman"/>
                    <a:cs typeface="Times New Roman"/>
                  </a:rPr>
                  <a:t>b</a:t>
                </a:r>
                <a:r>
                  <a:rPr lang="es-ES" sz="1200" i="1" spc="-5" dirty="0">
                    <a:solidFill>
                      <a:srgbClr val="1F487C"/>
                    </a:solidFill>
                    <a:latin typeface="Times New Roman"/>
                    <a:cs typeface="Times New Roman"/>
                  </a:rPr>
                  <a:t>2</a:t>
                </a:r>
                <a:r>
                  <a:rPr lang="es-ES" sz="1800" i="1" spc="-5" dirty="0">
                    <a:latin typeface="Times New Roman"/>
                    <a:cs typeface="Times New Roman"/>
                  </a:rPr>
                  <a:t>))+</a:t>
                </a:r>
                <a:endParaRPr lang="es-ES" sz="1800" i="1" dirty="0">
                  <a:latin typeface="Times New Roman"/>
                  <a:cs typeface="Times New Roman"/>
                </a:endParaRPr>
              </a:p>
              <a:p>
                <a:pPr marL="12700" algn="ctr">
                  <a:lnSpc>
                    <a:spcPts val="2535"/>
                  </a:lnSpc>
                </a:pPr>
                <a:r>
                  <a:rPr lang="es-ES" sz="1200" i="1" spc="-5" dirty="0">
                    <a:latin typeface="Times New Roman"/>
                    <a:cs typeface="Times New Roman"/>
                  </a:rPr>
                  <a:t>+</a:t>
                </a:r>
                <a:r>
                  <a:rPr lang="es-ES" sz="2200" i="1" spc="-5" dirty="0">
                    <a:latin typeface="Times New Roman"/>
                    <a:cs typeface="Times New Roman"/>
                  </a:rPr>
                  <a:t>w</a:t>
                </a:r>
                <a:r>
                  <a:rPr lang="es-ES" sz="1200" i="1" spc="-5" dirty="0">
                    <a:latin typeface="Times New Roman"/>
                    <a:cs typeface="Times New Roman"/>
                  </a:rPr>
                  <a:t>3,out</a:t>
                </a:r>
                <a:r>
                  <a:rPr lang="es-ES" sz="1800" i="1" spc="-5" dirty="0">
                    <a:latin typeface="Times New Roman"/>
                    <a:cs typeface="Times New Roman"/>
                  </a:rPr>
                  <a:t>(tanh(</a:t>
                </a:r>
                <a:r>
                  <a:rPr lang="es-ES" sz="2200" i="1" spc="-5" dirty="0">
                    <a:latin typeface="Times New Roman"/>
                    <a:cs typeface="Times New Roman"/>
                  </a:rPr>
                  <a:t>w</a:t>
                </a:r>
                <a:r>
                  <a:rPr lang="es-ES" sz="1200" i="1" spc="-5" dirty="0">
                    <a:latin typeface="Times New Roman"/>
                    <a:cs typeface="Times New Roman"/>
                  </a:rPr>
                  <a:t>13</a:t>
                </a:r>
                <a:r>
                  <a:rPr lang="es-ES" sz="1800" i="1" spc="-5" dirty="0">
                    <a:latin typeface="Times New Roman"/>
                    <a:cs typeface="Times New Roman"/>
                  </a:rPr>
                  <a:t>X1</a:t>
                </a:r>
                <a:r>
                  <a:rPr lang="es-ES" sz="2200" i="1" spc="-5" dirty="0">
                    <a:latin typeface="Times New Roman"/>
                    <a:cs typeface="Times New Roman"/>
                  </a:rPr>
                  <a:t>+w</a:t>
                </a:r>
                <a:r>
                  <a:rPr lang="es-ES" sz="1200" i="1" spc="-5" dirty="0">
                    <a:latin typeface="Times New Roman"/>
                    <a:cs typeface="Times New Roman"/>
                  </a:rPr>
                  <a:t>23</a:t>
                </a:r>
                <a:r>
                  <a:rPr lang="es-ES" sz="1800" i="1" spc="-5" dirty="0">
                    <a:latin typeface="Times New Roman"/>
                    <a:cs typeface="Times New Roman"/>
                  </a:rPr>
                  <a:t>X2+</a:t>
                </a:r>
                <a:r>
                  <a:rPr lang="es-ES" sz="2200" i="1" spc="-5" dirty="0">
                    <a:latin typeface="Times New Roman"/>
                    <a:cs typeface="Times New Roman"/>
                  </a:rPr>
                  <a:t>w</a:t>
                </a:r>
                <a:r>
                  <a:rPr lang="es-ES" sz="1200" i="1" spc="-5" dirty="0">
                    <a:latin typeface="Times New Roman"/>
                    <a:cs typeface="Times New Roman"/>
                  </a:rPr>
                  <a:t>33</a:t>
                </a:r>
                <a:r>
                  <a:rPr lang="es-ES" sz="1800" i="1" spc="-5" dirty="0">
                    <a:latin typeface="Times New Roman"/>
                    <a:cs typeface="Times New Roman"/>
                  </a:rPr>
                  <a:t>X3+</a:t>
                </a:r>
                <a:r>
                  <a:rPr lang="es-ES" sz="2200" i="1" spc="-5" dirty="0">
                    <a:latin typeface="Times New Roman"/>
                    <a:cs typeface="Times New Roman"/>
                  </a:rPr>
                  <a:t>w</a:t>
                </a:r>
                <a:r>
                  <a:rPr lang="es-ES" sz="1200" i="1" spc="-5" dirty="0">
                    <a:latin typeface="Times New Roman"/>
                    <a:cs typeface="Times New Roman"/>
                  </a:rPr>
                  <a:t>43</a:t>
                </a:r>
                <a:r>
                  <a:rPr lang="es-ES" sz="1800" i="1" spc="-5" dirty="0">
                    <a:latin typeface="Times New Roman"/>
                    <a:cs typeface="Times New Roman"/>
                  </a:rPr>
                  <a:t>X4+</a:t>
                </a:r>
                <a:r>
                  <a:rPr lang="es-ES" sz="2200" i="1" spc="-5" dirty="0">
                    <a:solidFill>
                      <a:srgbClr val="1F487C"/>
                    </a:solidFill>
                    <a:latin typeface="Times New Roman"/>
                    <a:cs typeface="Times New Roman"/>
                  </a:rPr>
                  <a:t>b</a:t>
                </a:r>
                <a:r>
                  <a:rPr lang="es-ES" sz="1200" i="1" spc="-5" dirty="0">
                    <a:solidFill>
                      <a:srgbClr val="1F487C"/>
                    </a:solidFill>
                    <a:latin typeface="Times New Roman"/>
                    <a:cs typeface="Times New Roman"/>
                  </a:rPr>
                  <a:t>3</a:t>
                </a:r>
                <a:r>
                  <a:rPr lang="es-ES" sz="1800" i="1" spc="-5" dirty="0">
                    <a:latin typeface="Times New Roman"/>
                    <a:cs typeface="Times New Roman"/>
                  </a:rPr>
                  <a:t>))+</a:t>
                </a:r>
                <a:endParaRPr lang="es-ES" sz="1800" i="1" dirty="0">
                  <a:latin typeface="Times New Roman"/>
                  <a:cs typeface="Times New Roman"/>
                </a:endParaRPr>
              </a:p>
              <a:p>
                <a:pPr marL="12700" algn="ctr">
                  <a:lnSpc>
                    <a:spcPts val="2525"/>
                  </a:lnSpc>
                </a:pPr>
                <a:r>
                  <a:rPr lang="es-ES" sz="1200" i="1" spc="-5" dirty="0">
                    <a:latin typeface="Times New Roman"/>
                    <a:cs typeface="Times New Roman"/>
                  </a:rPr>
                  <a:t>+</a:t>
                </a:r>
                <a:r>
                  <a:rPr lang="es-ES" sz="2200" i="1" spc="-5" dirty="0">
                    <a:latin typeface="Times New Roman"/>
                    <a:cs typeface="Times New Roman"/>
                  </a:rPr>
                  <a:t>w</a:t>
                </a:r>
                <a:r>
                  <a:rPr lang="es-ES" sz="1200" i="1" spc="-5" dirty="0">
                    <a:latin typeface="Times New Roman"/>
                    <a:cs typeface="Times New Roman"/>
                  </a:rPr>
                  <a:t>4,out</a:t>
                </a:r>
                <a:r>
                  <a:rPr lang="es-ES" sz="1800" i="1" spc="-5" dirty="0">
                    <a:latin typeface="Times New Roman"/>
                    <a:cs typeface="Times New Roman"/>
                  </a:rPr>
                  <a:t>(</a:t>
                </a:r>
                <a:r>
                  <a:rPr lang="es-ES" sz="1800" i="1" spc="-5" dirty="0" err="1">
                    <a:latin typeface="Times New Roman"/>
                    <a:cs typeface="Times New Roman"/>
                  </a:rPr>
                  <a:t>tanh</a:t>
                </a:r>
                <a:r>
                  <a:rPr lang="es-ES" sz="1800" i="1" spc="-5" dirty="0">
                    <a:latin typeface="Times New Roman"/>
                    <a:cs typeface="Times New Roman"/>
                  </a:rPr>
                  <a:t>(</a:t>
                </a:r>
                <a:r>
                  <a:rPr lang="es-ES" sz="2200" i="1" spc="-5" dirty="0">
                    <a:latin typeface="Times New Roman"/>
                    <a:cs typeface="Times New Roman"/>
                  </a:rPr>
                  <a:t>w</a:t>
                </a:r>
                <a:r>
                  <a:rPr lang="es-ES" sz="1200" i="1" spc="-5" dirty="0">
                    <a:latin typeface="Times New Roman"/>
                    <a:cs typeface="Times New Roman"/>
                  </a:rPr>
                  <a:t>14</a:t>
                </a:r>
                <a:r>
                  <a:rPr lang="es-ES" sz="1800" i="1" spc="-5" dirty="0">
                    <a:latin typeface="Times New Roman"/>
                    <a:cs typeface="Times New Roman"/>
                  </a:rPr>
                  <a:t>X1</a:t>
                </a:r>
                <a:r>
                  <a:rPr lang="es-ES" sz="2200" i="1" spc="-5" dirty="0">
                    <a:latin typeface="Times New Roman"/>
                    <a:cs typeface="Times New Roman"/>
                  </a:rPr>
                  <a:t>+w</a:t>
                </a:r>
                <a:r>
                  <a:rPr lang="es-ES" sz="1200" i="1" spc="-5" dirty="0">
                    <a:latin typeface="Times New Roman"/>
                    <a:cs typeface="Times New Roman"/>
                  </a:rPr>
                  <a:t>24</a:t>
                </a:r>
                <a:r>
                  <a:rPr lang="es-ES" sz="1800" i="1" spc="-5" dirty="0">
                    <a:latin typeface="Times New Roman"/>
                    <a:cs typeface="Times New Roman"/>
                  </a:rPr>
                  <a:t>X2+</a:t>
                </a:r>
                <a:r>
                  <a:rPr lang="es-ES" sz="2200" i="1" spc="-5" dirty="0">
                    <a:latin typeface="Times New Roman"/>
                    <a:cs typeface="Times New Roman"/>
                  </a:rPr>
                  <a:t>w</a:t>
                </a:r>
                <a:r>
                  <a:rPr lang="es-ES" sz="1200" i="1" spc="-5" dirty="0">
                    <a:latin typeface="Times New Roman"/>
                    <a:cs typeface="Times New Roman"/>
                  </a:rPr>
                  <a:t>34</a:t>
                </a:r>
                <a:r>
                  <a:rPr lang="es-ES" sz="1800" i="1" spc="-5" dirty="0">
                    <a:latin typeface="Times New Roman"/>
                    <a:cs typeface="Times New Roman"/>
                  </a:rPr>
                  <a:t>X3+</a:t>
                </a:r>
                <a:r>
                  <a:rPr lang="es-ES" sz="2200" i="1" spc="-5" dirty="0">
                    <a:latin typeface="Times New Roman"/>
                    <a:cs typeface="Times New Roman"/>
                  </a:rPr>
                  <a:t>w</a:t>
                </a:r>
                <a:r>
                  <a:rPr lang="es-ES" sz="1200" i="1" spc="-5" dirty="0">
                    <a:latin typeface="Times New Roman"/>
                    <a:cs typeface="Times New Roman"/>
                  </a:rPr>
                  <a:t>44</a:t>
                </a:r>
                <a:r>
                  <a:rPr lang="es-ES" sz="1800" i="1" spc="-5" dirty="0">
                    <a:latin typeface="Times New Roman"/>
                    <a:cs typeface="Times New Roman"/>
                  </a:rPr>
                  <a:t>X4+</a:t>
                </a:r>
                <a:r>
                  <a:rPr lang="es-ES" sz="2200" i="1" spc="-5" dirty="0">
                    <a:solidFill>
                      <a:srgbClr val="1F487C"/>
                    </a:solidFill>
                    <a:latin typeface="Times New Roman"/>
                    <a:cs typeface="Times New Roman"/>
                  </a:rPr>
                  <a:t>b</a:t>
                </a:r>
                <a:r>
                  <a:rPr lang="es-ES" sz="1200" i="1" spc="-5" dirty="0">
                    <a:solidFill>
                      <a:srgbClr val="1F487C"/>
                    </a:solidFill>
                    <a:latin typeface="Times New Roman"/>
                    <a:cs typeface="Times New Roman"/>
                  </a:rPr>
                  <a:t>4</a:t>
                </a:r>
                <a:r>
                  <a:rPr lang="es-ES" sz="1800" i="1" spc="-5" dirty="0" smtClean="0">
                    <a:latin typeface="Times New Roman"/>
                    <a:cs typeface="Times New Roman"/>
                  </a:rPr>
                  <a:t>))</a:t>
                </a:r>
                <a:r>
                  <a:rPr lang="es-ES" sz="1800" i="1" dirty="0" smtClean="0">
                    <a:latin typeface="Times New Roman"/>
                    <a:cs typeface="Times New Roman"/>
                  </a:rPr>
                  <a:t>+</a:t>
                </a:r>
                <a:r>
                  <a:rPr lang="es-ES" sz="2200" i="1" dirty="0">
                    <a:solidFill>
                      <a:srgbClr val="1F487C"/>
                    </a:solidFill>
                    <a:latin typeface="Times New Roman"/>
                    <a:cs typeface="Times New Roman"/>
                  </a:rPr>
                  <a:t>b</a:t>
                </a:r>
                <a:r>
                  <a:rPr lang="es-ES" sz="1200" i="1" dirty="0">
                    <a:solidFill>
                      <a:srgbClr val="1F487C"/>
                    </a:solidFill>
                    <a:latin typeface="Times New Roman"/>
                    <a:cs typeface="Times New Roman"/>
                  </a:rPr>
                  <a:t>out</a:t>
                </a:r>
                <a:r>
                  <a:rPr lang="es-ES" sz="1800" i="1" dirty="0">
                    <a:latin typeface="Times New Roman"/>
                    <a:cs typeface="Times New Roman"/>
                  </a:rPr>
                  <a:t>)</a:t>
                </a:r>
              </a:p>
              <a:p>
                <a:pPr>
                  <a:lnSpc>
                    <a:spcPct val="100000"/>
                  </a:lnSpc>
                  <a:spcBef>
                    <a:spcPts val="5"/>
                  </a:spcBef>
                </a:pPr>
                <a:endParaRPr lang="es-ES" sz="2050" dirty="0">
                  <a:latin typeface="Times New Roman"/>
                  <a:cs typeface="Times New Roman"/>
                </a:endParaRPr>
              </a:p>
              <a:p>
                <a:pPr marL="12700" marR="709930" algn="just">
                  <a:lnSpc>
                    <a:spcPts val="2300"/>
                  </a:lnSpc>
                  <a:tabLst>
                    <a:tab pos="4323080" algn="l"/>
                  </a:tabLst>
                </a:pPr>
                <a:r>
                  <a:rPr lang="es-ES" sz="2000" spc="-5" dirty="0" smtClean="0">
                    <a:solidFill>
                      <a:schemeClr val="tx1"/>
                    </a:solidFill>
                    <a:latin typeface="Times New Roman"/>
                    <a:cs typeface="Times New Roman"/>
                  </a:rPr>
                  <a:t>U</a:t>
                </a:r>
                <a:r>
                  <a:rPr lang="es-ES" sz="2000" spc="5" dirty="0">
                    <a:solidFill>
                      <a:schemeClr val="tx1"/>
                    </a:solidFill>
                    <a:latin typeface="Times New Roman"/>
                    <a:cs typeface="Times New Roman"/>
                  </a:rPr>
                  <a:t>n</a:t>
                </a:r>
                <a:r>
                  <a:rPr lang="es-ES" sz="2000" dirty="0">
                    <a:solidFill>
                      <a:schemeClr val="tx1"/>
                    </a:solidFill>
                    <a:latin typeface="Times New Roman"/>
                    <a:cs typeface="Times New Roman"/>
                  </a:rPr>
                  <a:t>a</a:t>
                </a:r>
                <a:r>
                  <a:rPr lang="es-ES" sz="2000" spc="-15" dirty="0">
                    <a:solidFill>
                      <a:schemeClr val="tx1"/>
                    </a:solidFill>
                    <a:latin typeface="Times New Roman"/>
                    <a:cs typeface="Times New Roman"/>
                  </a:rPr>
                  <a:t> </a:t>
                </a:r>
                <a:r>
                  <a:rPr lang="es-ES" sz="2000" spc="5" dirty="0">
                    <a:solidFill>
                      <a:schemeClr val="tx1"/>
                    </a:solidFill>
                    <a:latin typeface="Times New Roman"/>
                    <a:cs typeface="Times New Roman"/>
                  </a:rPr>
                  <a:t>v</a:t>
                </a:r>
                <a:r>
                  <a:rPr lang="es-ES" sz="2000" dirty="0">
                    <a:solidFill>
                      <a:schemeClr val="tx1"/>
                    </a:solidFill>
                    <a:latin typeface="Times New Roman"/>
                    <a:cs typeface="Times New Roman"/>
                  </a:rPr>
                  <a:t>ez</a:t>
                </a:r>
                <a:r>
                  <a:rPr lang="es-ES" sz="2000" spc="-15" dirty="0">
                    <a:solidFill>
                      <a:schemeClr val="tx1"/>
                    </a:solidFill>
                    <a:latin typeface="Times New Roman"/>
                    <a:cs typeface="Times New Roman"/>
                  </a:rPr>
                  <a:t> </a:t>
                </a:r>
                <a:r>
                  <a:rPr lang="es-ES" sz="2000" dirty="0">
                    <a:solidFill>
                      <a:schemeClr val="tx1"/>
                    </a:solidFill>
                    <a:latin typeface="Times New Roman"/>
                    <a:cs typeface="Times New Roman"/>
                  </a:rPr>
                  <a:t>est</a:t>
                </a:r>
                <a:r>
                  <a:rPr lang="es-ES" sz="2000" spc="-10" dirty="0">
                    <a:solidFill>
                      <a:schemeClr val="tx1"/>
                    </a:solidFill>
                    <a:latin typeface="Times New Roman"/>
                    <a:cs typeface="Times New Roman"/>
                  </a:rPr>
                  <a:t>i</a:t>
                </a:r>
                <a:r>
                  <a:rPr lang="es-ES" sz="2000" spc="-15" dirty="0">
                    <a:solidFill>
                      <a:schemeClr val="tx1"/>
                    </a:solidFill>
                    <a:latin typeface="Times New Roman"/>
                    <a:cs typeface="Times New Roman"/>
                  </a:rPr>
                  <a:t>m</a:t>
                </a:r>
                <a:r>
                  <a:rPr lang="es-ES" sz="2000" dirty="0">
                    <a:solidFill>
                      <a:schemeClr val="tx1"/>
                    </a:solidFill>
                    <a:latin typeface="Times New Roman"/>
                    <a:cs typeface="Times New Roman"/>
                  </a:rPr>
                  <a:t>ad</a:t>
                </a:r>
                <a:r>
                  <a:rPr lang="es-ES" sz="2000" spc="5" dirty="0">
                    <a:solidFill>
                      <a:schemeClr val="tx1"/>
                    </a:solidFill>
                    <a:latin typeface="Times New Roman"/>
                    <a:cs typeface="Times New Roman"/>
                  </a:rPr>
                  <a:t>o</a:t>
                </a:r>
                <a:r>
                  <a:rPr lang="es-ES" sz="2000" dirty="0">
                    <a:solidFill>
                      <a:schemeClr val="tx1"/>
                    </a:solidFill>
                    <a:latin typeface="Times New Roman"/>
                    <a:cs typeface="Times New Roman"/>
                  </a:rPr>
                  <a:t>s</a:t>
                </a:r>
                <a:r>
                  <a:rPr lang="es-ES" sz="2000" spc="-15" dirty="0">
                    <a:solidFill>
                      <a:schemeClr val="tx1"/>
                    </a:solidFill>
                    <a:latin typeface="Times New Roman"/>
                    <a:cs typeface="Times New Roman"/>
                  </a:rPr>
                  <a:t> </a:t>
                </a:r>
                <a:r>
                  <a:rPr lang="es-ES" sz="2000" dirty="0">
                    <a:solidFill>
                      <a:schemeClr val="tx1"/>
                    </a:solidFill>
                    <a:latin typeface="Times New Roman"/>
                    <a:cs typeface="Times New Roman"/>
                  </a:rPr>
                  <a:t>los</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p</a:t>
                </a:r>
                <a:r>
                  <a:rPr lang="es-ES" sz="2000" dirty="0">
                    <a:solidFill>
                      <a:schemeClr val="tx1"/>
                    </a:solidFill>
                    <a:latin typeface="Times New Roman"/>
                    <a:cs typeface="Times New Roman"/>
                  </a:rPr>
                  <a:t>e</a:t>
                </a:r>
                <a:r>
                  <a:rPr lang="es-ES" sz="2000" spc="-15" dirty="0">
                    <a:solidFill>
                      <a:schemeClr val="tx1"/>
                    </a:solidFill>
                    <a:latin typeface="Times New Roman"/>
                    <a:cs typeface="Times New Roman"/>
                  </a:rPr>
                  <a:t>s</a:t>
                </a:r>
                <a:r>
                  <a:rPr lang="es-ES" sz="2000" dirty="0">
                    <a:solidFill>
                      <a:schemeClr val="tx1"/>
                    </a:solidFill>
                    <a:latin typeface="Times New Roman"/>
                    <a:cs typeface="Times New Roman"/>
                  </a:rPr>
                  <a:t>os,</a:t>
                </a:r>
                <a:r>
                  <a:rPr lang="es-ES" sz="2000" spc="-15" dirty="0">
                    <a:solidFill>
                      <a:schemeClr val="tx1"/>
                    </a:solidFill>
                    <a:latin typeface="Times New Roman"/>
                    <a:cs typeface="Times New Roman"/>
                  </a:rPr>
                  <a:t> </a:t>
                </a:r>
                <a:r>
                  <a:rPr lang="es-ES" sz="2000" spc="-5" dirty="0">
                    <a:solidFill>
                      <a:schemeClr val="tx1"/>
                    </a:solidFill>
                    <a:latin typeface="Times New Roman"/>
                    <a:cs typeface="Times New Roman"/>
                  </a:rPr>
                  <a:t>s</a:t>
                </a:r>
                <a:r>
                  <a:rPr lang="es-ES" sz="2000" dirty="0">
                    <a:solidFill>
                      <a:schemeClr val="tx1"/>
                    </a:solidFill>
                    <a:latin typeface="Times New Roman"/>
                    <a:cs typeface="Times New Roman"/>
                  </a:rPr>
                  <a:t>e obti</a:t>
                </a:r>
                <a:r>
                  <a:rPr lang="es-ES" sz="2000" spc="-10" dirty="0">
                    <a:solidFill>
                      <a:schemeClr val="tx1"/>
                    </a:solidFill>
                    <a:latin typeface="Times New Roman"/>
                    <a:cs typeface="Times New Roman"/>
                  </a:rPr>
                  <a:t>e</a:t>
                </a:r>
                <a:r>
                  <a:rPr lang="es-ES" sz="2000" dirty="0">
                    <a:solidFill>
                      <a:schemeClr val="tx1"/>
                    </a:solidFill>
                    <a:latin typeface="Times New Roman"/>
                    <a:cs typeface="Times New Roman"/>
                  </a:rPr>
                  <a:t>n</a:t>
                </a:r>
                <a:r>
                  <a:rPr lang="es-ES" sz="2000" spc="-10" dirty="0">
                    <a:solidFill>
                      <a:schemeClr val="tx1"/>
                    </a:solidFill>
                    <a:latin typeface="Times New Roman"/>
                    <a:cs typeface="Times New Roman"/>
                  </a:rPr>
                  <a:t>e</a:t>
                </a:r>
                <a:r>
                  <a:rPr lang="es-ES" sz="2000" dirty="0">
                    <a:solidFill>
                      <a:schemeClr val="tx1"/>
                    </a:solidFill>
                    <a:latin typeface="Times New Roman"/>
                    <a:cs typeface="Times New Roman"/>
                  </a:rPr>
                  <a:t>n	l</a:t>
                </a:r>
                <a:r>
                  <a:rPr lang="es-ES" sz="2000" spc="-10" dirty="0">
                    <a:solidFill>
                      <a:schemeClr val="tx1"/>
                    </a:solidFill>
                    <a:latin typeface="Times New Roman"/>
                    <a:cs typeface="Times New Roman"/>
                  </a:rPr>
                  <a:t>a</a:t>
                </a:r>
                <a:r>
                  <a:rPr lang="es-ES" sz="2000" dirty="0">
                    <a:solidFill>
                      <a:schemeClr val="tx1"/>
                    </a:solidFill>
                    <a:latin typeface="Times New Roman"/>
                    <a:cs typeface="Times New Roman"/>
                  </a:rPr>
                  <a:t>s predi</a:t>
                </a:r>
                <a:r>
                  <a:rPr lang="es-ES" sz="2000" spc="-10" dirty="0">
                    <a:solidFill>
                      <a:schemeClr val="tx1"/>
                    </a:solidFill>
                    <a:latin typeface="Times New Roman"/>
                    <a:cs typeface="Times New Roman"/>
                  </a:rPr>
                  <a:t>c</a:t>
                </a:r>
                <a:r>
                  <a:rPr lang="es-ES" sz="2000" dirty="0">
                    <a:solidFill>
                      <a:schemeClr val="tx1"/>
                    </a:solidFill>
                    <a:latin typeface="Times New Roman"/>
                    <a:cs typeface="Times New Roman"/>
                  </a:rPr>
                  <a:t>c</a:t>
                </a:r>
                <a:r>
                  <a:rPr lang="es-ES" sz="2000" spc="-10" dirty="0">
                    <a:solidFill>
                      <a:schemeClr val="tx1"/>
                    </a:solidFill>
                    <a:latin typeface="Times New Roman"/>
                    <a:cs typeface="Times New Roman"/>
                  </a:rPr>
                  <a:t>i</a:t>
                </a:r>
                <a:r>
                  <a:rPr lang="es-ES" sz="2000" dirty="0">
                    <a:solidFill>
                      <a:schemeClr val="tx1"/>
                    </a:solidFill>
                    <a:latin typeface="Times New Roman"/>
                    <a:cs typeface="Times New Roman"/>
                  </a:rPr>
                  <a:t>ones</a:t>
                </a:r>
                <a:r>
                  <a:rPr lang="es-ES" sz="2000" spc="-25" dirty="0">
                    <a:solidFill>
                      <a:schemeClr val="tx1"/>
                    </a:solidFill>
                    <a:latin typeface="Times New Roman"/>
                    <a:cs typeface="Times New Roman"/>
                  </a:rPr>
                  <a:t> </a:t>
                </a:r>
                <a:r>
                  <a:rPr lang="es-ES" sz="2000" dirty="0">
                    <a:solidFill>
                      <a:schemeClr val="tx1"/>
                    </a:solidFill>
                    <a:latin typeface="Times New Roman"/>
                    <a:cs typeface="Times New Roman"/>
                  </a:rPr>
                  <a:t>(se de</a:t>
                </a:r>
                <a:r>
                  <a:rPr lang="es-ES" sz="2000" spc="-10" dirty="0">
                    <a:solidFill>
                      <a:schemeClr val="tx1"/>
                    </a:solidFill>
                    <a:latin typeface="Times New Roman"/>
                    <a:cs typeface="Times New Roman"/>
                  </a:rPr>
                  <a:t>n</a:t>
                </a:r>
                <a:r>
                  <a:rPr lang="es-ES" sz="2000" dirty="0">
                    <a:solidFill>
                      <a:schemeClr val="tx1"/>
                    </a:solidFill>
                    <a:latin typeface="Times New Roman"/>
                    <a:cs typeface="Times New Roman"/>
                  </a:rPr>
                  <a:t>otará</a:t>
                </a:r>
                <a:r>
                  <a:rPr lang="es-ES" sz="2000" spc="-10" dirty="0">
                    <a:solidFill>
                      <a:schemeClr val="tx1"/>
                    </a:solidFill>
                    <a:latin typeface="Times New Roman"/>
                    <a:cs typeface="Times New Roman"/>
                  </a:rPr>
                  <a:t> </a:t>
                </a:r>
                <a:r>
                  <a:rPr lang="es-ES" sz="2000" dirty="0">
                    <a:solidFill>
                      <a:schemeClr val="tx1"/>
                    </a:solidFill>
                    <a:latin typeface="Times New Roman"/>
                    <a:cs typeface="Times New Roman"/>
                  </a:rPr>
                  <a:t>p</a:t>
                </a:r>
                <a:r>
                  <a:rPr lang="es-ES" sz="2000" spc="-10" dirty="0">
                    <a:solidFill>
                      <a:schemeClr val="tx1"/>
                    </a:solidFill>
                    <a:latin typeface="Times New Roman"/>
                    <a:cs typeface="Times New Roman"/>
                  </a:rPr>
                  <a:t>o</a:t>
                </a:r>
                <a:r>
                  <a:rPr lang="es-ES" sz="2000" dirty="0">
                    <a:solidFill>
                      <a:schemeClr val="tx1"/>
                    </a:solidFill>
                    <a:latin typeface="Times New Roman"/>
                    <a:cs typeface="Times New Roman"/>
                  </a:rPr>
                  <a:t>r </a:t>
                </a:r>
                <a14:m>
                  <m:oMath xmlns:m="http://schemas.openxmlformats.org/officeDocument/2006/math">
                    <m:acc>
                      <m:accPr>
                        <m:chr m:val="̂"/>
                        <m:ctrlPr>
                          <a:rPr lang="es-ES" sz="2000" i="1" smtClean="0">
                            <a:solidFill>
                              <a:schemeClr val="tx1"/>
                            </a:solidFill>
                            <a:latin typeface="Cambria Math" panose="02040503050406030204" pitchFamily="18" charset="0"/>
                            <a:cs typeface="Times New Roman"/>
                          </a:rPr>
                        </m:ctrlPr>
                      </m:accPr>
                      <m:e>
                        <m:r>
                          <a:rPr lang="es-ES" sz="2000" b="0" i="1" smtClean="0">
                            <a:solidFill>
                              <a:schemeClr val="tx1"/>
                            </a:solidFill>
                            <a:latin typeface="Cambria Math" panose="02040503050406030204" pitchFamily="18" charset="0"/>
                            <a:cs typeface="Times New Roman"/>
                          </a:rPr>
                          <m:t>𝑌</m:t>
                        </m:r>
                      </m:e>
                    </m:acc>
                  </m:oMath>
                </a14:m>
                <a:r>
                  <a:rPr lang="es-ES" sz="1800" spc="170" dirty="0" smtClean="0">
                    <a:solidFill>
                      <a:schemeClr val="tx1"/>
                    </a:solidFill>
                    <a:latin typeface="Cambria Math"/>
                    <a:cs typeface="Cambria Math"/>
                  </a:rPr>
                  <a:t> </a:t>
                </a:r>
                <a:r>
                  <a:rPr lang="es-ES" sz="2000" dirty="0">
                    <a:solidFill>
                      <a:schemeClr val="tx1"/>
                    </a:solidFill>
                    <a:latin typeface="Times New Roman"/>
                    <a:cs typeface="Times New Roman"/>
                  </a:rPr>
                  <a:t>la</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p</a:t>
                </a:r>
                <a:r>
                  <a:rPr lang="es-ES" sz="2000" dirty="0">
                    <a:solidFill>
                      <a:schemeClr val="tx1"/>
                    </a:solidFill>
                    <a:latin typeface="Times New Roman"/>
                    <a:cs typeface="Times New Roman"/>
                  </a:rPr>
                  <a:t>r</a:t>
                </a:r>
                <a:r>
                  <a:rPr lang="es-ES" sz="2000" spc="-10" dirty="0">
                    <a:solidFill>
                      <a:schemeClr val="tx1"/>
                    </a:solidFill>
                    <a:latin typeface="Times New Roman"/>
                    <a:cs typeface="Times New Roman"/>
                  </a:rPr>
                  <a:t>e</a:t>
                </a:r>
                <a:r>
                  <a:rPr lang="es-ES" sz="2000" dirty="0">
                    <a:solidFill>
                      <a:schemeClr val="tx1"/>
                    </a:solidFill>
                    <a:latin typeface="Times New Roman"/>
                    <a:cs typeface="Times New Roman"/>
                  </a:rPr>
                  <a:t>dicc</a:t>
                </a:r>
                <a:r>
                  <a:rPr lang="es-ES" sz="2000" spc="-10" dirty="0">
                    <a:solidFill>
                      <a:schemeClr val="tx1"/>
                    </a:solidFill>
                    <a:latin typeface="Times New Roman"/>
                    <a:cs typeface="Times New Roman"/>
                  </a:rPr>
                  <a:t>i</a:t>
                </a:r>
                <a:r>
                  <a:rPr lang="es-ES" sz="2000" dirty="0">
                    <a:solidFill>
                      <a:schemeClr val="tx1"/>
                    </a:solidFill>
                    <a:latin typeface="Times New Roman"/>
                    <a:cs typeface="Times New Roman"/>
                  </a:rPr>
                  <a:t>ón  obtenida </a:t>
                </a:r>
                <a:r>
                  <a:rPr lang="es-ES" sz="2000" spc="-5" dirty="0">
                    <a:solidFill>
                      <a:schemeClr val="tx1"/>
                    </a:solidFill>
                    <a:latin typeface="Times New Roman"/>
                    <a:cs typeface="Times New Roman"/>
                  </a:rPr>
                  <a:t>con</a:t>
                </a:r>
                <a:r>
                  <a:rPr lang="es-ES" sz="2000" dirty="0">
                    <a:solidFill>
                      <a:schemeClr val="tx1"/>
                    </a:solidFill>
                    <a:latin typeface="Times New Roman"/>
                    <a:cs typeface="Times New Roman"/>
                  </a:rPr>
                  <a:t> el</a:t>
                </a:r>
                <a:r>
                  <a:rPr lang="es-ES" sz="2000" spc="-15" dirty="0">
                    <a:solidFill>
                      <a:schemeClr val="tx1"/>
                    </a:solidFill>
                    <a:latin typeface="Times New Roman"/>
                    <a:cs typeface="Times New Roman"/>
                  </a:rPr>
                  <a:t> </a:t>
                </a:r>
                <a:r>
                  <a:rPr lang="es-ES" sz="2000" spc="-5" dirty="0">
                    <a:solidFill>
                      <a:schemeClr val="tx1"/>
                    </a:solidFill>
                    <a:latin typeface="Times New Roman"/>
                    <a:cs typeface="Times New Roman"/>
                  </a:rPr>
                  <a:t>modelo,</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mientras</a:t>
                </a:r>
                <a:r>
                  <a:rPr lang="es-ES" sz="2000" dirty="0">
                    <a:solidFill>
                      <a:schemeClr val="tx1"/>
                    </a:solidFill>
                    <a:latin typeface="Times New Roman"/>
                    <a:cs typeface="Times New Roman"/>
                  </a:rPr>
                  <a:t> </a:t>
                </a:r>
                <a:r>
                  <a:rPr lang="es-ES" sz="2000" dirty="0" smtClean="0">
                    <a:solidFill>
                      <a:schemeClr val="tx1"/>
                    </a:solidFill>
                    <a:latin typeface="Times New Roman"/>
                    <a:cs typeface="Times New Roman"/>
                  </a:rPr>
                  <a:t>que</a:t>
                </a:r>
                <a:r>
                  <a:rPr lang="es-ES" sz="2000" spc="5" dirty="0">
                    <a:solidFill>
                      <a:schemeClr val="tx1"/>
                    </a:solidFill>
                    <a:latin typeface="Times New Roman"/>
                    <a:cs typeface="Times New Roman"/>
                  </a:rPr>
                  <a:t> </a:t>
                </a:r>
                <a:r>
                  <a:rPr lang="es-ES" sz="2000" i="1" spc="5" dirty="0" smtClean="0">
                    <a:solidFill>
                      <a:schemeClr val="tx1"/>
                    </a:solidFill>
                    <a:latin typeface="Times New Roman"/>
                    <a:cs typeface="Times New Roman"/>
                  </a:rPr>
                  <a:t>Y “</a:t>
                </a:r>
                <a:r>
                  <a:rPr lang="es-ES" sz="2000" spc="-5" dirty="0" smtClean="0">
                    <a:solidFill>
                      <a:schemeClr val="tx1"/>
                    </a:solidFill>
                    <a:latin typeface="Times New Roman"/>
                    <a:cs typeface="Times New Roman"/>
                  </a:rPr>
                  <a:t>sin</a:t>
                </a:r>
                <a:r>
                  <a:rPr lang="es-ES" sz="2000" spc="-10" dirty="0" smtClean="0">
                    <a:solidFill>
                      <a:schemeClr val="tx1"/>
                    </a:solidFill>
                    <a:latin typeface="Times New Roman"/>
                    <a:cs typeface="Times New Roman"/>
                  </a:rPr>
                  <a:t> </a:t>
                </a:r>
                <a:r>
                  <a:rPr lang="es-ES" sz="2000" dirty="0">
                    <a:solidFill>
                      <a:schemeClr val="tx1"/>
                    </a:solidFill>
                    <a:latin typeface="Times New Roman"/>
                    <a:cs typeface="Times New Roman"/>
                  </a:rPr>
                  <a:t>gorro” </a:t>
                </a:r>
                <a:r>
                  <a:rPr lang="es-ES" sz="2000" spc="-5" dirty="0">
                    <a:solidFill>
                      <a:schemeClr val="tx1"/>
                    </a:solidFill>
                    <a:latin typeface="Times New Roman"/>
                    <a:cs typeface="Times New Roman"/>
                  </a:rPr>
                  <a:t>son</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los</a:t>
                </a:r>
                <a:r>
                  <a:rPr lang="es-ES" sz="2000" spc="-10" dirty="0">
                    <a:solidFill>
                      <a:schemeClr val="tx1"/>
                    </a:solidFill>
                    <a:latin typeface="Times New Roman"/>
                    <a:cs typeface="Times New Roman"/>
                  </a:rPr>
                  <a:t> </a:t>
                </a:r>
                <a:r>
                  <a:rPr lang="es-ES" sz="2000" dirty="0">
                    <a:solidFill>
                      <a:schemeClr val="tx1"/>
                    </a:solidFill>
                    <a:latin typeface="Times New Roman"/>
                    <a:cs typeface="Times New Roman"/>
                  </a:rPr>
                  <a:t>valores reales).</a:t>
                </a:r>
              </a:p>
              <a:p>
                <a:pPr algn="just">
                  <a:lnSpc>
                    <a:spcPct val="100000"/>
                  </a:lnSpc>
                  <a:spcBef>
                    <a:spcPts val="5"/>
                  </a:spcBef>
                </a:pPr>
                <a:endParaRPr lang="es-ES" sz="1850" dirty="0">
                  <a:latin typeface="Times New Roman"/>
                  <a:cs typeface="Times New Roman"/>
                </a:endParaRPr>
              </a:p>
              <a:p>
                <a:pPr marL="12700" algn="just">
                  <a:lnSpc>
                    <a:spcPct val="100000"/>
                  </a:lnSpc>
                  <a:spcBef>
                    <a:spcPts val="5"/>
                  </a:spcBef>
                </a:pPr>
                <a14:m>
                  <m:oMathPara xmlns:m="http://schemas.openxmlformats.org/officeDocument/2006/math">
                    <m:oMathParaPr>
                      <m:jc m:val="centerGroup"/>
                    </m:oMathParaPr>
                    <m:oMath xmlns:m="http://schemas.openxmlformats.org/officeDocument/2006/math">
                      <m:acc>
                        <m:accPr>
                          <m:chr m:val="̂"/>
                          <m:ctrlPr>
                            <a:rPr lang="ar-AE" sz="1800" i="1" spc="-20" smtClean="0">
                              <a:latin typeface="Cambria Math" panose="02040503050406030204" pitchFamily="18" charset="0"/>
                              <a:cs typeface="Times New Roman"/>
                            </a:rPr>
                          </m:ctrlPr>
                        </m:accPr>
                        <m:e>
                          <m:r>
                            <a:rPr lang="es-ES" sz="1800" b="0" i="1" spc="-20" smtClean="0">
                              <a:latin typeface="Cambria Math" panose="02040503050406030204" pitchFamily="18" charset="0"/>
                              <a:cs typeface="Times New Roman"/>
                            </a:rPr>
                            <m:t>𝑌</m:t>
                          </m:r>
                        </m:e>
                      </m:acc>
                      <m:r>
                        <a:rPr lang="es-ES" sz="1800" b="0" i="1" spc="-20" smtClean="0">
                          <a:latin typeface="Cambria Math" panose="02040503050406030204" pitchFamily="18" charset="0"/>
                          <a:cs typeface="Times New Roman"/>
                        </a:rPr>
                        <m:t>=</m:t>
                      </m:r>
                      <m:r>
                        <m:rPr>
                          <m:sty m:val="p"/>
                        </m:rPr>
                        <a:rPr lang="es-ES" sz="1800" b="0" i="0" spc="-20" smtClean="0">
                          <a:latin typeface="Cambria Math" panose="02040503050406030204" pitchFamily="18" charset="0"/>
                          <a:cs typeface="Times New Roman"/>
                        </a:rPr>
                        <m:t>tanh</m:t>
                      </m:r>
                      <m:r>
                        <a:rPr lang="es-ES" sz="1800" b="0" i="1" spc="-20" smtClean="0">
                          <a:latin typeface="Cambria Math" panose="02040503050406030204" pitchFamily="18" charset="0"/>
                          <a:cs typeface="Times New Roman"/>
                        </a:rPr>
                        <m:t>⁡(</m:t>
                      </m:r>
                      <m:r>
                        <a:rPr lang="es-ES" sz="1800" b="0" i="1" spc="-20" smtClean="0">
                          <a:latin typeface="Cambria Math" panose="02040503050406030204" pitchFamily="18" charset="0"/>
                          <a:cs typeface="Times New Roman"/>
                        </a:rPr>
                        <m:t>0</m:t>
                      </m:r>
                      <m:r>
                        <a:rPr lang="es-ES" sz="1800" b="0" i="1" spc="-20" smtClean="0">
                          <a:latin typeface="Cambria Math" panose="02040503050406030204" pitchFamily="18" charset="0"/>
                          <a:cs typeface="Times New Roman"/>
                        </a:rPr>
                        <m:t>.</m:t>
                      </m:r>
                      <m:r>
                        <a:rPr lang="es-ES" sz="1800" b="0" i="1" spc="-20" smtClean="0">
                          <a:latin typeface="Cambria Math" panose="02040503050406030204" pitchFamily="18" charset="0"/>
                          <a:cs typeface="Times New Roman"/>
                        </a:rPr>
                        <m:t>21</m:t>
                      </m:r>
                      <m:d>
                        <m:dPr>
                          <m:ctrlPr>
                            <a:rPr lang="es-ES" sz="1800" b="0" i="1" spc="-20" smtClean="0">
                              <a:latin typeface="Cambria Math" panose="02040503050406030204" pitchFamily="18" charset="0"/>
                              <a:cs typeface="Times New Roman"/>
                            </a:rPr>
                          </m:ctrlPr>
                        </m:dPr>
                        <m:e>
                          <m:func>
                            <m:funcPr>
                              <m:ctrlPr>
                                <a:rPr lang="es-ES" sz="1800" b="0" i="1" spc="-20" smtClean="0">
                                  <a:latin typeface="Cambria Math" panose="02040503050406030204" pitchFamily="18" charset="0"/>
                                  <a:cs typeface="Times New Roman"/>
                                </a:rPr>
                              </m:ctrlPr>
                            </m:funcPr>
                            <m:fName>
                              <m:r>
                                <m:rPr>
                                  <m:sty m:val="p"/>
                                </m:rPr>
                                <a:rPr lang="es-ES" sz="1800" b="0" i="0" spc="-20" smtClean="0">
                                  <a:latin typeface="Cambria Math" panose="02040503050406030204" pitchFamily="18" charset="0"/>
                                  <a:cs typeface="Times New Roman"/>
                                </a:rPr>
                                <m:t>tanh</m:t>
                              </m:r>
                            </m:fName>
                            <m:e>
                              <m:d>
                                <m:dPr>
                                  <m:ctrlPr>
                                    <a:rPr lang="es-ES" sz="1800" b="0" i="1" spc="-20" smtClean="0">
                                      <a:latin typeface="Cambria Math" panose="02040503050406030204" pitchFamily="18" charset="0"/>
                                      <a:cs typeface="Times New Roman"/>
                                    </a:rPr>
                                  </m:ctrlPr>
                                </m:dPr>
                                <m:e>
                                  <m:r>
                                    <a:rPr lang="es-ES" sz="1800" b="0" i="1" spc="-20" smtClean="0">
                                      <a:latin typeface="Cambria Math" panose="02040503050406030204" pitchFamily="18" charset="0"/>
                                      <a:cs typeface="Times New Roman"/>
                                    </a:rPr>
                                    <m:t>0</m:t>
                                  </m:r>
                                  <m:r>
                                    <a:rPr lang="es-ES" sz="1800" b="0" i="1" spc="-20" smtClean="0">
                                      <a:latin typeface="Cambria Math" panose="02040503050406030204" pitchFamily="18" charset="0"/>
                                      <a:cs typeface="Times New Roman"/>
                                    </a:rPr>
                                    <m:t>.</m:t>
                                  </m:r>
                                  <m:r>
                                    <a:rPr lang="es-ES" sz="1800" b="0" i="1" spc="-20" smtClean="0">
                                      <a:latin typeface="Cambria Math" panose="02040503050406030204" pitchFamily="18" charset="0"/>
                                      <a:cs typeface="Times New Roman"/>
                                    </a:rPr>
                                    <m:t>15</m:t>
                                  </m:r>
                                  <m:r>
                                    <a:rPr lang="es-ES" sz="1800" b="0" i="1" spc="-20" smtClean="0">
                                      <a:latin typeface="Cambria Math" panose="02040503050406030204" pitchFamily="18" charset="0"/>
                                      <a:cs typeface="Times New Roman"/>
                                    </a:rPr>
                                    <m:t>𝑋</m:t>
                                  </m:r>
                                  <m:r>
                                    <a:rPr lang="es-ES" sz="1800" b="0" i="1" spc="-20" smtClean="0">
                                      <a:latin typeface="Cambria Math" panose="02040503050406030204" pitchFamily="18" charset="0"/>
                                      <a:cs typeface="Times New Roman"/>
                                    </a:rPr>
                                    <m:t>1</m:t>
                                  </m:r>
                                  <m:r>
                                    <a:rPr lang="es-ES" sz="1800" b="0" i="1" spc="-20" smtClean="0">
                                      <a:latin typeface="Cambria Math" panose="02040503050406030204" pitchFamily="18" charset="0"/>
                                      <a:cs typeface="Times New Roman"/>
                                    </a:rPr>
                                    <m:t>−</m:t>
                                  </m:r>
                                  <m:r>
                                    <a:rPr lang="es-ES" sz="1800" b="0" i="1" spc="-20" smtClean="0">
                                      <a:latin typeface="Cambria Math" panose="02040503050406030204" pitchFamily="18" charset="0"/>
                                      <a:cs typeface="Times New Roman"/>
                                    </a:rPr>
                                    <m:t>0</m:t>
                                  </m:r>
                                  <m:r>
                                    <a:rPr lang="es-ES" sz="1800" b="0" i="1" spc="-20" smtClean="0">
                                      <a:latin typeface="Cambria Math" panose="02040503050406030204" pitchFamily="18" charset="0"/>
                                      <a:cs typeface="Times New Roman"/>
                                    </a:rPr>
                                    <m:t>.</m:t>
                                  </m:r>
                                  <m:r>
                                    <a:rPr lang="es-ES" sz="1800" b="0" i="1" spc="-20" smtClean="0">
                                      <a:latin typeface="Cambria Math" panose="02040503050406030204" pitchFamily="18" charset="0"/>
                                      <a:cs typeface="Times New Roman"/>
                                    </a:rPr>
                                    <m:t>53</m:t>
                                  </m:r>
                                  <m:r>
                                    <a:rPr lang="es-ES" sz="1800" b="0" i="1" spc="-20" smtClean="0">
                                      <a:latin typeface="Cambria Math" panose="02040503050406030204" pitchFamily="18" charset="0"/>
                                      <a:cs typeface="Times New Roman"/>
                                    </a:rPr>
                                    <m:t>𝑋</m:t>
                                  </m:r>
                                  <m:r>
                                    <a:rPr lang="es-ES" sz="1800" b="0" i="1" spc="-20" smtClean="0">
                                      <a:latin typeface="Cambria Math" panose="02040503050406030204" pitchFamily="18" charset="0"/>
                                      <a:cs typeface="Times New Roman"/>
                                    </a:rPr>
                                    <m:t>2</m:t>
                                  </m:r>
                                  <m:r>
                                    <a:rPr lang="es-ES" sz="1800" b="0" i="1" spc="-20" smtClean="0">
                                      <a:latin typeface="Cambria Math" panose="02040503050406030204" pitchFamily="18" charset="0"/>
                                      <a:cs typeface="Times New Roman"/>
                                    </a:rPr>
                                    <m:t>+</m:t>
                                  </m:r>
                                  <m:r>
                                    <a:rPr lang="es-ES" sz="1800" b="0" i="1" spc="-20" smtClean="0">
                                      <a:latin typeface="Cambria Math" panose="02040503050406030204" pitchFamily="18" charset="0"/>
                                      <a:cs typeface="Times New Roman"/>
                                    </a:rPr>
                                    <m:t>2</m:t>
                                  </m:r>
                                  <m:r>
                                    <a:rPr lang="es-ES" sz="1800" b="0" i="1" spc="-20" smtClean="0">
                                      <a:latin typeface="Cambria Math" panose="02040503050406030204" pitchFamily="18" charset="0"/>
                                      <a:cs typeface="Times New Roman"/>
                                    </a:rPr>
                                    <m:t>.</m:t>
                                  </m:r>
                                  <m:r>
                                    <a:rPr lang="es-ES" sz="1800" b="0" i="1" spc="-20" smtClean="0">
                                      <a:latin typeface="Cambria Math" panose="02040503050406030204" pitchFamily="18" charset="0"/>
                                      <a:cs typeface="Times New Roman"/>
                                    </a:rPr>
                                    <m:t>1</m:t>
                                  </m:r>
                                  <m:r>
                                    <a:rPr lang="es-ES" sz="1800" b="0" i="1" spc="-20" smtClean="0">
                                      <a:latin typeface="Cambria Math" panose="02040503050406030204" pitchFamily="18" charset="0"/>
                                      <a:cs typeface="Times New Roman"/>
                                    </a:rPr>
                                    <m:t>𝑋</m:t>
                                  </m:r>
                                  <m:r>
                                    <a:rPr lang="es-ES" sz="1800" b="0" i="1" spc="-20" smtClean="0">
                                      <a:latin typeface="Cambria Math" panose="02040503050406030204" pitchFamily="18" charset="0"/>
                                      <a:cs typeface="Times New Roman"/>
                                    </a:rPr>
                                    <m:t>3</m:t>
                                  </m:r>
                                  <m:r>
                                    <a:rPr lang="es-ES" sz="1800" b="0" i="1" spc="-20" smtClean="0">
                                      <a:latin typeface="Cambria Math" panose="02040503050406030204" pitchFamily="18" charset="0"/>
                                      <a:cs typeface="Times New Roman"/>
                                    </a:rPr>
                                    <m:t>+</m:t>
                                  </m:r>
                                  <m:r>
                                    <a:rPr lang="es-ES" sz="1800" b="0" i="1" spc="-20" smtClean="0">
                                      <a:latin typeface="Cambria Math" panose="02040503050406030204" pitchFamily="18" charset="0"/>
                                      <a:cs typeface="Times New Roman"/>
                                    </a:rPr>
                                    <m:t>3</m:t>
                                  </m:r>
                                  <m:r>
                                    <a:rPr lang="es-ES" sz="1800" b="0" i="1" spc="-20" smtClean="0">
                                      <a:latin typeface="Cambria Math" panose="02040503050406030204" pitchFamily="18" charset="0"/>
                                      <a:cs typeface="Times New Roman"/>
                                    </a:rPr>
                                    <m:t>.</m:t>
                                  </m:r>
                                  <m:r>
                                    <a:rPr lang="es-ES" sz="1800" b="0" i="1" spc="-20" smtClean="0">
                                      <a:latin typeface="Cambria Math" panose="02040503050406030204" pitchFamily="18" charset="0"/>
                                      <a:cs typeface="Times New Roman"/>
                                    </a:rPr>
                                    <m:t>5</m:t>
                                  </m:r>
                                  <m:r>
                                    <a:rPr lang="es-ES" sz="1800" b="0" i="1" spc="-20" smtClean="0">
                                      <a:latin typeface="Cambria Math" panose="02040503050406030204" pitchFamily="18" charset="0"/>
                                      <a:cs typeface="Times New Roman"/>
                                    </a:rPr>
                                    <m:t>𝑋</m:t>
                                  </m:r>
                                  <m:r>
                                    <a:rPr lang="es-ES" sz="1800" b="0" i="1" spc="-20" smtClean="0">
                                      <a:latin typeface="Cambria Math" panose="02040503050406030204" pitchFamily="18" charset="0"/>
                                      <a:cs typeface="Times New Roman"/>
                                    </a:rPr>
                                    <m:t>4</m:t>
                                  </m:r>
                                  <m:r>
                                    <a:rPr lang="es-ES" sz="1800" b="0" i="1" spc="-20" smtClean="0">
                                      <a:latin typeface="Cambria Math" panose="02040503050406030204" pitchFamily="18" charset="0"/>
                                      <a:cs typeface="Times New Roman"/>
                                    </a:rPr>
                                    <m:t>+</m:t>
                                  </m:r>
                                  <m:r>
                                    <a:rPr lang="es-ES" sz="1800" b="0" i="1" spc="-20" smtClean="0">
                                      <a:latin typeface="Cambria Math" panose="02040503050406030204" pitchFamily="18" charset="0"/>
                                      <a:cs typeface="Times New Roman"/>
                                    </a:rPr>
                                    <m:t>6</m:t>
                                  </m:r>
                                </m:e>
                              </m:d>
                            </m:e>
                          </m:func>
                        </m:e>
                      </m:d>
                      <m:r>
                        <a:rPr lang="es-ES" sz="1800" b="0" i="1" spc="-20" smtClean="0">
                          <a:latin typeface="Cambria Math" panose="02040503050406030204" pitchFamily="18" charset="0"/>
                          <a:cs typeface="Times New Roman"/>
                        </a:rPr>
                        <m:t>+…+…+…)</m:t>
                      </m:r>
                    </m:oMath>
                  </m:oMathPara>
                </a14:m>
                <a:endParaRPr lang="es-ES" sz="1800" dirty="0">
                  <a:latin typeface="Times New Roman"/>
                  <a:cs typeface="Times New Roman"/>
                </a:endParaRPr>
              </a:p>
              <a:p>
                <a:pPr algn="just">
                  <a:lnSpc>
                    <a:spcPct val="100000"/>
                  </a:lnSpc>
                  <a:spcBef>
                    <a:spcPts val="5"/>
                  </a:spcBef>
                </a:pPr>
                <a:endParaRPr lang="es-ES" sz="1900" dirty="0">
                  <a:latin typeface="Times New Roman"/>
                  <a:cs typeface="Times New Roman"/>
                </a:endParaRPr>
              </a:p>
              <a:p>
                <a:pPr marL="12700" algn="just">
                  <a:lnSpc>
                    <a:spcPct val="100000"/>
                  </a:lnSpc>
                </a:pPr>
                <a:r>
                  <a:rPr lang="es-ES" sz="2000" dirty="0" smtClean="0">
                    <a:solidFill>
                      <a:schemeClr val="tx1"/>
                    </a:solidFill>
                    <a:latin typeface="Times New Roman"/>
                    <a:cs typeface="Times New Roman"/>
                  </a:rPr>
                  <a:t>La</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estimación</a:t>
                </a:r>
                <a:r>
                  <a:rPr lang="es-ES" sz="2000" spc="10" dirty="0">
                    <a:solidFill>
                      <a:schemeClr val="tx1"/>
                    </a:solidFill>
                    <a:latin typeface="Times New Roman"/>
                    <a:cs typeface="Times New Roman"/>
                  </a:rPr>
                  <a:t> </a:t>
                </a:r>
                <a:r>
                  <a:rPr lang="es-ES" sz="2000" dirty="0">
                    <a:solidFill>
                      <a:schemeClr val="tx1"/>
                    </a:solidFill>
                    <a:latin typeface="Times New Roman"/>
                    <a:cs typeface="Times New Roman"/>
                  </a:rPr>
                  <a:t>de</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parámetros</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se</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llama,</a:t>
                </a:r>
                <a:r>
                  <a:rPr lang="es-ES" sz="2000" spc="5" dirty="0">
                    <a:solidFill>
                      <a:schemeClr val="tx1"/>
                    </a:solidFill>
                    <a:latin typeface="Times New Roman"/>
                    <a:cs typeface="Times New Roman"/>
                  </a:rPr>
                  <a:t> </a:t>
                </a:r>
                <a:r>
                  <a:rPr lang="es-ES" sz="2000" dirty="0">
                    <a:solidFill>
                      <a:schemeClr val="tx1"/>
                    </a:solidFill>
                    <a:latin typeface="Times New Roman"/>
                    <a:cs typeface="Times New Roman"/>
                  </a:rPr>
                  <a:t>en</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jerga</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neuronal,</a:t>
                </a:r>
                <a:r>
                  <a:rPr lang="es-ES" sz="2000" spc="20" dirty="0">
                    <a:solidFill>
                      <a:schemeClr val="tx1"/>
                    </a:solidFill>
                    <a:latin typeface="Times New Roman"/>
                    <a:cs typeface="Times New Roman"/>
                  </a:rPr>
                  <a:t> </a:t>
                </a:r>
                <a:r>
                  <a:rPr lang="es-ES" sz="2000" b="1" spc="-5" dirty="0">
                    <a:solidFill>
                      <a:schemeClr val="tx1"/>
                    </a:solidFill>
                    <a:latin typeface="Times New Roman"/>
                    <a:cs typeface="Times New Roman"/>
                  </a:rPr>
                  <a:t>“</a:t>
                </a:r>
                <a:r>
                  <a:rPr lang="es-ES" sz="2000" b="1" spc="-5" dirty="0" smtClean="0">
                    <a:solidFill>
                      <a:schemeClr val="tx1"/>
                    </a:solidFill>
                    <a:latin typeface="Times New Roman"/>
                    <a:cs typeface="Times New Roman"/>
                  </a:rPr>
                  <a:t>entrenar</a:t>
                </a:r>
                <a:r>
                  <a:rPr lang="es-ES" sz="2000" b="1" spc="10" dirty="0" smtClean="0">
                    <a:solidFill>
                      <a:schemeClr val="tx1"/>
                    </a:solidFill>
                    <a:latin typeface="Times New Roman"/>
                    <a:cs typeface="Times New Roman"/>
                  </a:rPr>
                  <a:t>" </a:t>
                </a:r>
                <a:r>
                  <a:rPr lang="es-ES" sz="2000" b="1" spc="20" dirty="0" smtClean="0">
                    <a:solidFill>
                      <a:schemeClr val="tx1"/>
                    </a:solidFill>
                    <a:latin typeface="Times New Roman"/>
                    <a:cs typeface="Times New Roman"/>
                  </a:rPr>
                  <a:t> </a:t>
                </a:r>
                <a:r>
                  <a:rPr lang="es-ES" sz="2000" dirty="0">
                    <a:solidFill>
                      <a:schemeClr val="tx1"/>
                    </a:solidFill>
                    <a:latin typeface="Times New Roman"/>
                    <a:cs typeface="Times New Roman"/>
                  </a:rPr>
                  <a:t>la</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red.</a:t>
                </a:r>
                <a:endParaRPr lang="es-ES" sz="2000" dirty="0">
                  <a:solidFill>
                    <a:schemeClr val="tx1"/>
                  </a:solidFill>
                  <a:latin typeface="Times New Roman"/>
                  <a:cs typeface="Times New Roman"/>
                </a:endParaRPr>
              </a:p>
              <a:p>
                <a:pPr algn="just">
                  <a:lnSpc>
                    <a:spcPct val="100000"/>
                  </a:lnSpc>
                  <a:spcBef>
                    <a:spcPts val="15"/>
                  </a:spcBef>
                </a:pPr>
                <a:endParaRPr lang="es-ES" sz="2000" dirty="0">
                  <a:solidFill>
                    <a:schemeClr val="tx1"/>
                  </a:solidFill>
                  <a:latin typeface="Times New Roman"/>
                  <a:cs typeface="Times New Roman"/>
                </a:endParaRPr>
              </a:p>
              <a:p>
                <a:pPr marL="12700" marR="5080" algn="just">
                  <a:lnSpc>
                    <a:spcPct val="95700"/>
                  </a:lnSpc>
                </a:pPr>
                <a:r>
                  <a:rPr lang="es-ES" sz="2000" dirty="0">
                    <a:solidFill>
                      <a:schemeClr val="tx1"/>
                    </a:solidFill>
                    <a:latin typeface="Times New Roman"/>
                    <a:cs typeface="Times New Roman"/>
                  </a:rPr>
                  <a:t>Los</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métodos</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utilizados</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son</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técnicas </a:t>
                </a:r>
                <a:r>
                  <a:rPr lang="es-ES" sz="2000" dirty="0">
                    <a:solidFill>
                      <a:schemeClr val="tx1"/>
                    </a:solidFill>
                    <a:latin typeface="Times New Roman"/>
                    <a:cs typeface="Times New Roman"/>
                  </a:rPr>
                  <a:t>de</a:t>
                </a:r>
                <a:r>
                  <a:rPr lang="es-ES" sz="2000" spc="5" dirty="0">
                    <a:solidFill>
                      <a:schemeClr val="tx1"/>
                    </a:solidFill>
                    <a:latin typeface="Times New Roman"/>
                    <a:cs typeface="Times New Roman"/>
                  </a:rPr>
                  <a:t> </a:t>
                </a:r>
                <a:r>
                  <a:rPr lang="es-ES" sz="2000" b="1" spc="-5" dirty="0">
                    <a:solidFill>
                      <a:schemeClr val="tx1"/>
                    </a:solidFill>
                    <a:latin typeface="Times New Roman"/>
                    <a:cs typeface="Times New Roman"/>
                  </a:rPr>
                  <a:t>optimización</a:t>
                </a:r>
                <a:r>
                  <a:rPr lang="es-ES" sz="2000" b="1" spc="20" dirty="0">
                    <a:solidFill>
                      <a:schemeClr val="tx1"/>
                    </a:solidFill>
                    <a:latin typeface="Times New Roman"/>
                    <a:cs typeface="Times New Roman"/>
                  </a:rPr>
                  <a:t> </a:t>
                </a:r>
                <a:r>
                  <a:rPr lang="es-ES" sz="2000" b="1" dirty="0">
                    <a:solidFill>
                      <a:schemeClr val="tx1"/>
                    </a:solidFill>
                    <a:latin typeface="Times New Roman"/>
                    <a:cs typeface="Times New Roman"/>
                  </a:rPr>
                  <a:t>numérica,</a:t>
                </a:r>
                <a:r>
                  <a:rPr lang="es-ES" sz="2000" b="1" spc="-5" dirty="0">
                    <a:solidFill>
                      <a:schemeClr val="tx1"/>
                    </a:solidFill>
                    <a:latin typeface="Times New Roman"/>
                    <a:cs typeface="Times New Roman"/>
                  </a:rPr>
                  <a:t> </a:t>
                </a:r>
                <a:r>
                  <a:rPr lang="es-ES" sz="2000" spc="5" dirty="0">
                    <a:solidFill>
                      <a:schemeClr val="tx1"/>
                    </a:solidFill>
                    <a:latin typeface="Times New Roman"/>
                    <a:cs typeface="Times New Roman"/>
                  </a:rPr>
                  <a:t>que</a:t>
                </a:r>
                <a:r>
                  <a:rPr lang="es-ES" sz="2000" spc="-5" dirty="0">
                    <a:solidFill>
                      <a:schemeClr val="tx1"/>
                    </a:solidFill>
                    <a:latin typeface="Times New Roman"/>
                    <a:cs typeface="Times New Roman"/>
                  </a:rPr>
                  <a:t> van</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variando</a:t>
                </a:r>
                <a:r>
                  <a:rPr lang="es-ES" sz="2000" spc="5" dirty="0">
                    <a:solidFill>
                      <a:schemeClr val="tx1"/>
                    </a:solidFill>
                    <a:latin typeface="Times New Roman"/>
                    <a:cs typeface="Times New Roman"/>
                  </a:rPr>
                  <a:t> </a:t>
                </a:r>
                <a:r>
                  <a:rPr lang="es-ES" sz="2000" dirty="0">
                    <a:solidFill>
                      <a:schemeClr val="tx1"/>
                    </a:solidFill>
                    <a:latin typeface="Times New Roman"/>
                    <a:cs typeface="Times New Roman"/>
                  </a:rPr>
                  <a:t>los</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valores</a:t>
                </a:r>
                <a:r>
                  <a:rPr lang="es-ES" sz="2000" spc="-10" dirty="0">
                    <a:solidFill>
                      <a:schemeClr val="tx1"/>
                    </a:solidFill>
                    <a:latin typeface="Times New Roman"/>
                    <a:cs typeface="Times New Roman"/>
                  </a:rPr>
                  <a:t> </a:t>
                </a:r>
                <a:r>
                  <a:rPr lang="es-ES" sz="2000" dirty="0">
                    <a:solidFill>
                      <a:schemeClr val="tx1"/>
                    </a:solidFill>
                    <a:latin typeface="Times New Roman"/>
                    <a:cs typeface="Times New Roman"/>
                  </a:rPr>
                  <a:t>de </a:t>
                </a:r>
                <a:r>
                  <a:rPr lang="es-ES" sz="2000" spc="5" dirty="0">
                    <a:solidFill>
                      <a:schemeClr val="tx1"/>
                    </a:solidFill>
                    <a:latin typeface="Times New Roman"/>
                    <a:cs typeface="Times New Roman"/>
                  </a:rPr>
                  <a:t> </a:t>
                </a:r>
                <a:r>
                  <a:rPr lang="es-ES" sz="2000" dirty="0">
                    <a:solidFill>
                      <a:schemeClr val="tx1"/>
                    </a:solidFill>
                    <a:latin typeface="Times New Roman"/>
                    <a:cs typeface="Times New Roman"/>
                  </a:rPr>
                  <a:t>los</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parámetros</a:t>
                </a:r>
                <a:r>
                  <a:rPr lang="es-ES" sz="2000" spc="5" dirty="0">
                    <a:solidFill>
                      <a:schemeClr val="tx1"/>
                    </a:solidFill>
                    <a:latin typeface="Times New Roman"/>
                    <a:cs typeface="Times New Roman"/>
                  </a:rPr>
                  <a:t> </a:t>
                </a:r>
                <a:r>
                  <a:rPr lang="es-ES" sz="2000" dirty="0">
                    <a:solidFill>
                      <a:schemeClr val="tx1"/>
                    </a:solidFill>
                    <a:latin typeface="Times New Roman"/>
                    <a:cs typeface="Times New Roman"/>
                  </a:rPr>
                  <a:t>de</a:t>
                </a:r>
                <a:r>
                  <a:rPr lang="es-ES" sz="2000" spc="15" dirty="0">
                    <a:solidFill>
                      <a:schemeClr val="tx1"/>
                    </a:solidFill>
                    <a:latin typeface="Times New Roman"/>
                    <a:cs typeface="Times New Roman"/>
                  </a:rPr>
                  <a:t> </a:t>
                </a:r>
                <a:r>
                  <a:rPr lang="es-ES" sz="2000" spc="-5" dirty="0">
                    <a:solidFill>
                      <a:schemeClr val="tx1"/>
                    </a:solidFill>
                    <a:latin typeface="Times New Roman"/>
                    <a:cs typeface="Times New Roman"/>
                  </a:rPr>
                  <a:t>manera</a:t>
                </a:r>
                <a:r>
                  <a:rPr lang="es-ES" sz="2000" spc="15" dirty="0">
                    <a:solidFill>
                      <a:schemeClr val="tx1"/>
                    </a:solidFill>
                    <a:latin typeface="Times New Roman"/>
                    <a:cs typeface="Times New Roman"/>
                  </a:rPr>
                  <a:t> </a:t>
                </a:r>
                <a:r>
                  <a:rPr lang="es-ES" sz="2000" spc="-5" dirty="0">
                    <a:solidFill>
                      <a:schemeClr val="tx1"/>
                    </a:solidFill>
                    <a:latin typeface="Times New Roman"/>
                    <a:cs typeface="Times New Roman"/>
                  </a:rPr>
                  <a:t>iterativa,</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hasta</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cumplir</a:t>
                </a:r>
                <a:r>
                  <a:rPr lang="es-ES" sz="2000" spc="10" dirty="0">
                    <a:solidFill>
                      <a:schemeClr val="tx1"/>
                    </a:solidFill>
                    <a:latin typeface="Times New Roman"/>
                    <a:cs typeface="Times New Roman"/>
                  </a:rPr>
                  <a:t> </a:t>
                </a:r>
                <a:r>
                  <a:rPr lang="es-ES" sz="2000" dirty="0">
                    <a:solidFill>
                      <a:schemeClr val="tx1"/>
                    </a:solidFill>
                    <a:latin typeface="Times New Roman"/>
                    <a:cs typeface="Times New Roman"/>
                  </a:rPr>
                  <a:t>el</a:t>
                </a:r>
                <a:r>
                  <a:rPr lang="es-ES" sz="2000" spc="15" dirty="0">
                    <a:solidFill>
                      <a:schemeClr val="tx1"/>
                    </a:solidFill>
                    <a:latin typeface="Times New Roman"/>
                    <a:cs typeface="Times New Roman"/>
                  </a:rPr>
                  <a:t> </a:t>
                </a:r>
                <a:r>
                  <a:rPr lang="es-ES" sz="2000" spc="-5" dirty="0">
                    <a:solidFill>
                      <a:schemeClr val="tx1"/>
                    </a:solidFill>
                    <a:latin typeface="Times New Roman"/>
                    <a:cs typeface="Times New Roman"/>
                  </a:rPr>
                  <a:t>objetivo</a:t>
                </a:r>
                <a:r>
                  <a:rPr lang="es-ES" sz="2000" spc="15" dirty="0">
                    <a:solidFill>
                      <a:schemeClr val="tx1"/>
                    </a:solidFill>
                    <a:latin typeface="Times New Roman"/>
                    <a:cs typeface="Times New Roman"/>
                  </a:rPr>
                  <a:t> </a:t>
                </a:r>
                <a:r>
                  <a:rPr lang="es-ES" sz="2000" dirty="0">
                    <a:solidFill>
                      <a:schemeClr val="tx1"/>
                    </a:solidFill>
                    <a:latin typeface="Times New Roman"/>
                    <a:cs typeface="Times New Roman"/>
                  </a:rPr>
                  <a:t>de</a:t>
                </a:r>
                <a:r>
                  <a:rPr lang="es-ES" sz="2000" spc="-5" dirty="0">
                    <a:solidFill>
                      <a:schemeClr val="tx1"/>
                    </a:solidFill>
                    <a:latin typeface="Times New Roman"/>
                    <a:cs typeface="Times New Roman"/>
                  </a:rPr>
                  <a:t> optimización</a:t>
                </a:r>
                <a:r>
                  <a:rPr lang="es-ES" sz="2000" spc="15" dirty="0">
                    <a:solidFill>
                      <a:schemeClr val="tx1"/>
                    </a:solidFill>
                    <a:latin typeface="Times New Roman"/>
                    <a:cs typeface="Times New Roman"/>
                  </a:rPr>
                  <a:t> </a:t>
                </a:r>
                <a:r>
                  <a:rPr lang="es-ES" sz="2000" spc="-5" dirty="0">
                    <a:solidFill>
                      <a:schemeClr val="tx1"/>
                    </a:solidFill>
                    <a:latin typeface="Times New Roman"/>
                    <a:cs typeface="Times New Roman"/>
                  </a:rPr>
                  <a:t>(función</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de</a:t>
                </a:r>
                <a:r>
                  <a:rPr lang="es-ES" sz="2000" spc="15" dirty="0">
                    <a:solidFill>
                      <a:schemeClr val="tx1"/>
                    </a:solidFill>
                    <a:latin typeface="Times New Roman"/>
                    <a:cs typeface="Times New Roman"/>
                  </a:rPr>
                  <a:t> </a:t>
                </a:r>
                <a:r>
                  <a:rPr lang="es-ES" sz="2000" spc="-5" dirty="0">
                    <a:solidFill>
                      <a:schemeClr val="tx1"/>
                    </a:solidFill>
                    <a:latin typeface="Times New Roman"/>
                    <a:cs typeface="Times New Roman"/>
                  </a:rPr>
                  <a:t>error</a:t>
                </a:r>
                <a:r>
                  <a:rPr lang="es-ES" sz="2000" spc="15" dirty="0">
                    <a:solidFill>
                      <a:schemeClr val="tx1"/>
                    </a:solidFill>
                    <a:latin typeface="Times New Roman"/>
                    <a:cs typeface="Times New Roman"/>
                  </a:rPr>
                  <a:t> </a:t>
                </a:r>
                <a:r>
                  <a:rPr lang="es-ES" sz="2000" spc="-10" dirty="0">
                    <a:solidFill>
                      <a:schemeClr val="tx1"/>
                    </a:solidFill>
                    <a:latin typeface="Times New Roman"/>
                    <a:cs typeface="Times New Roman"/>
                  </a:rPr>
                  <a:t>en </a:t>
                </a:r>
                <a:r>
                  <a:rPr lang="es-ES" sz="2000" spc="-484" dirty="0">
                    <a:solidFill>
                      <a:schemeClr val="tx1"/>
                    </a:solidFill>
                    <a:latin typeface="Times New Roman"/>
                    <a:cs typeface="Times New Roman"/>
                  </a:rPr>
                  <a:t> </a:t>
                </a:r>
                <a:r>
                  <a:rPr lang="es-ES" sz="2000" dirty="0">
                    <a:solidFill>
                      <a:schemeClr val="tx1"/>
                    </a:solidFill>
                    <a:latin typeface="Times New Roman"/>
                    <a:cs typeface="Times New Roman"/>
                  </a:rPr>
                  <a:t>datos</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training</a:t>
                </a:r>
                <a:r>
                  <a:rPr lang="es-ES" sz="2000" dirty="0">
                    <a:solidFill>
                      <a:schemeClr val="tx1"/>
                    </a:solidFill>
                    <a:latin typeface="Times New Roman"/>
                    <a:cs typeface="Times New Roman"/>
                  </a:rPr>
                  <a:t> o </a:t>
                </a:r>
                <a:r>
                  <a:rPr lang="es-ES" sz="2000" spc="-5" dirty="0">
                    <a:solidFill>
                      <a:schemeClr val="tx1"/>
                    </a:solidFill>
                    <a:latin typeface="Times New Roman"/>
                    <a:cs typeface="Times New Roman"/>
                  </a:rPr>
                  <a:t>en</a:t>
                </a:r>
                <a:r>
                  <a:rPr lang="es-ES" sz="2000" dirty="0">
                    <a:solidFill>
                      <a:schemeClr val="tx1"/>
                    </a:solidFill>
                    <a:latin typeface="Times New Roman"/>
                    <a:cs typeface="Times New Roman"/>
                  </a:rPr>
                  <a:t> datos</a:t>
                </a:r>
                <a:r>
                  <a:rPr lang="es-ES" sz="2000" spc="-5" dirty="0">
                    <a:solidFill>
                      <a:schemeClr val="tx1"/>
                    </a:solidFill>
                    <a:latin typeface="Times New Roman"/>
                    <a:cs typeface="Times New Roman"/>
                  </a:rPr>
                  <a:t> </a:t>
                </a:r>
                <a:r>
                  <a:rPr lang="es-ES" sz="2000" dirty="0">
                    <a:solidFill>
                      <a:schemeClr val="tx1"/>
                    </a:solidFill>
                    <a:latin typeface="Times New Roman"/>
                    <a:cs typeface="Times New Roman"/>
                  </a:rPr>
                  <a:t>de</a:t>
                </a:r>
                <a:r>
                  <a:rPr lang="es-ES" sz="2000" spc="-10" dirty="0">
                    <a:solidFill>
                      <a:schemeClr val="tx1"/>
                    </a:solidFill>
                    <a:latin typeface="Times New Roman"/>
                    <a:cs typeface="Times New Roman"/>
                  </a:rPr>
                  <a:t> </a:t>
                </a:r>
                <a:r>
                  <a:rPr lang="es-ES" sz="2000" dirty="0">
                    <a:solidFill>
                      <a:schemeClr val="tx1"/>
                    </a:solidFill>
                    <a:latin typeface="Times New Roman"/>
                    <a:cs typeface="Times New Roman"/>
                  </a:rPr>
                  <a:t>validación,</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coste,</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etc</a:t>
                </a:r>
                <a:r>
                  <a:rPr lang="es-ES" sz="2000" spc="-5" dirty="0" smtClean="0">
                    <a:solidFill>
                      <a:schemeClr val="tx1"/>
                    </a:solidFill>
                    <a:latin typeface="Times New Roman"/>
                    <a:cs typeface="Times New Roman"/>
                  </a:rPr>
                  <a:t>.).</a:t>
                </a:r>
              </a:p>
              <a:p>
                <a:pPr marL="12700" marR="5080" algn="just">
                  <a:lnSpc>
                    <a:spcPct val="95700"/>
                  </a:lnSpc>
                </a:pPr>
                <a:endParaRPr lang="es-ES" sz="2000" spc="-5" dirty="0">
                  <a:solidFill>
                    <a:schemeClr val="tx1"/>
                  </a:solidFill>
                  <a:latin typeface="Times New Roman"/>
                  <a:cs typeface="Times New Roman"/>
                </a:endParaRPr>
              </a:p>
              <a:p>
                <a:pPr marL="12700" marR="5080" algn="just">
                  <a:lnSpc>
                    <a:spcPct val="95700"/>
                  </a:lnSpc>
                </a:pPr>
                <a:r>
                  <a:rPr lang="es-ES" sz="2000" spc="-5" dirty="0" smtClean="0">
                    <a:solidFill>
                      <a:schemeClr val="tx1"/>
                    </a:solidFill>
                    <a:latin typeface="Times New Roman"/>
                    <a:cs typeface="Times New Roman"/>
                  </a:rPr>
                  <a:t>La idea es que la diferencia entre </a:t>
                </a:r>
                <a14:m>
                  <m:oMath xmlns:m="http://schemas.openxmlformats.org/officeDocument/2006/math">
                    <m:acc>
                      <m:accPr>
                        <m:chr m:val="̂"/>
                        <m:ctrlPr>
                          <a:rPr lang="ar-AE" sz="2000" i="1" spc="-5">
                            <a:solidFill>
                              <a:schemeClr val="tx1"/>
                            </a:solidFill>
                            <a:latin typeface="Cambria Math" panose="02040503050406030204" pitchFamily="18" charset="0"/>
                            <a:cs typeface="Times New Roman"/>
                          </a:rPr>
                        </m:ctrlPr>
                      </m:accPr>
                      <m:e>
                        <m:r>
                          <a:rPr lang="ar-AE" sz="2000" spc="-5">
                            <a:solidFill>
                              <a:schemeClr val="tx1"/>
                            </a:solidFill>
                            <a:latin typeface="Cambria Math" panose="02040503050406030204" pitchFamily="18" charset="0"/>
                            <a:cs typeface="Times New Roman"/>
                          </a:rPr>
                          <m:t>𝑌</m:t>
                        </m:r>
                      </m:e>
                    </m:acc>
                  </m:oMath>
                </a14:m>
                <a:r>
                  <a:rPr lang="ar-AE" sz="2000" spc="-5" dirty="0">
                    <a:solidFill>
                      <a:schemeClr val="tx1"/>
                    </a:solidFill>
                    <a:latin typeface="Times New Roman"/>
                    <a:cs typeface="Times New Roman"/>
                  </a:rPr>
                  <a:t> </a:t>
                </a:r>
                <a:r>
                  <a:rPr lang="es-ES" sz="2000" spc="-5" dirty="0">
                    <a:solidFill>
                      <a:schemeClr val="tx1"/>
                    </a:solidFill>
                    <a:latin typeface="Times New Roman"/>
                    <a:cs typeface="Times New Roman"/>
                  </a:rPr>
                  <a:t>e </a:t>
                </a:r>
                <a:r>
                  <a:rPr lang="es-ES" sz="2000" i="1" spc="-5" dirty="0">
                    <a:solidFill>
                      <a:schemeClr val="tx1"/>
                    </a:solidFill>
                    <a:latin typeface="Times New Roman"/>
                    <a:cs typeface="Times New Roman"/>
                  </a:rPr>
                  <a:t>Y</a:t>
                </a:r>
                <a:r>
                  <a:rPr lang="es-ES" sz="2000" spc="-5" dirty="0">
                    <a:solidFill>
                      <a:schemeClr val="tx1"/>
                    </a:solidFill>
                    <a:latin typeface="Times New Roman"/>
                    <a:cs typeface="Times New Roman"/>
                  </a:rPr>
                  <a:t> sea lo más pequeña posible.</a:t>
                </a:r>
              </a:p>
            </p:txBody>
          </p:sp>
        </mc:Choice>
        <mc:Fallback xmlns="">
          <p:sp>
            <p:nvSpPr>
              <p:cNvPr id="3" name="object 3"/>
              <p:cNvSpPr txBox="1">
                <a:spLocks noRot="1" noChangeAspect="1" noMove="1" noResize="1" noEditPoints="1" noAdjustHandles="1" noChangeArrowheads="1" noChangeShapeType="1" noTextEdit="1"/>
              </p:cNvSpPr>
              <p:nvPr/>
            </p:nvSpPr>
            <p:spPr>
              <a:xfrm>
                <a:off x="546100" y="1495425"/>
                <a:ext cx="9495537" cy="5470152"/>
              </a:xfrm>
              <a:prstGeom prst="rect">
                <a:avLst/>
              </a:prstGeom>
              <a:blipFill rotWithShape="0">
                <a:blip r:embed="rId2"/>
                <a:stretch>
                  <a:fillRect l="-1541" t="-1448" r="-1606" b="-1893"/>
                </a:stretch>
              </a:blipFill>
            </p:spPr>
            <p:txBody>
              <a:bodyPr/>
              <a:lstStyle/>
              <a:p>
                <a:r>
                  <a:rPr lang="es-ES">
                    <a:noFill/>
                  </a:rPr>
                  <a:t> </a:t>
                </a:r>
              </a:p>
            </p:txBody>
          </p:sp>
        </mc:Fallback>
      </mc:AlternateContent>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833" y="0"/>
            <a:ext cx="11307233" cy="756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hape 49">
            <a:extLst>
              <a:ext uri="{FF2B5EF4-FFF2-40B4-BE49-F238E27FC236}">
                <a16:creationId xmlns="" xmlns:a16="http://schemas.microsoft.com/office/drawing/2014/main" id="{24A6ABCE-206C-4C33-940C-027B2CD6E148}"/>
              </a:ext>
            </a:extLst>
          </p:cNvPr>
          <p:cNvSpPr txBox="1">
            <a:spLocks/>
          </p:cNvSpPr>
          <p:nvPr/>
        </p:nvSpPr>
        <p:spPr bwMode="auto">
          <a:xfrm>
            <a:off x="1814638" y="3295487"/>
            <a:ext cx="5455812"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3508" kern="0" dirty="0">
                <a:solidFill>
                  <a:srgbClr val="0972CB"/>
                </a:solidFill>
                <a:latin typeface="Oxygen"/>
                <a:ea typeface="Oxygen"/>
                <a:cs typeface="Oxygen"/>
                <a:sym typeface="Oxygen"/>
              </a:rPr>
              <a:t>Machine </a:t>
            </a:r>
            <a:r>
              <a:rPr lang="es-ES" altLang="es-ES" sz="3508" kern="0" dirty="0" err="1">
                <a:solidFill>
                  <a:srgbClr val="0972CB"/>
                </a:solidFill>
                <a:latin typeface="Oxygen"/>
                <a:ea typeface="Oxygen"/>
                <a:cs typeface="Oxygen"/>
                <a:sym typeface="Oxygen"/>
              </a:rPr>
              <a:t>Learning</a:t>
            </a:r>
            <a:endParaRPr lang="es-ES" altLang="es-ES" sz="3508" kern="0" dirty="0">
              <a:solidFill>
                <a:srgbClr val="0972CB"/>
              </a:solidFill>
              <a:latin typeface="Oxygen"/>
              <a:ea typeface="Oxygen"/>
              <a:cs typeface="Oxygen"/>
              <a:sym typeface="Oxygen"/>
            </a:endParaRPr>
          </a:p>
          <a:p>
            <a:pPr marL="300758" indent="-133670" eaLnBrk="1" hangingPunct="1">
              <a:spcBef>
                <a:spcPct val="0"/>
              </a:spcBef>
              <a:buClr>
                <a:srgbClr val="000000"/>
              </a:buClr>
              <a:defRPr/>
            </a:pPr>
            <a:r>
              <a:rPr lang="es-ES" altLang="es-ES" sz="3508" kern="0" dirty="0" smtClean="0">
                <a:solidFill>
                  <a:srgbClr val="0972CB"/>
                </a:solidFill>
                <a:latin typeface="Oxygen"/>
                <a:ea typeface="Oxygen"/>
                <a:cs typeface="Oxygen"/>
                <a:sym typeface="Oxygen"/>
              </a:rPr>
              <a:t>Redes Neuronales</a:t>
            </a:r>
            <a:endParaRPr lang="es-ES" altLang="es-ES" sz="3508" kern="0" dirty="0">
              <a:solidFill>
                <a:srgbClr val="0972CB"/>
              </a:solidFill>
              <a:latin typeface="Oxygen"/>
              <a:ea typeface="Oxygen"/>
              <a:cs typeface="Oxygen"/>
              <a:sym typeface="Oxygen"/>
            </a:endParaRPr>
          </a:p>
        </p:txBody>
      </p:sp>
      <p:sp>
        <p:nvSpPr>
          <p:cNvPr id="6" name="Shape 49">
            <a:extLst>
              <a:ext uri="{FF2B5EF4-FFF2-40B4-BE49-F238E27FC236}">
                <a16:creationId xmlns="" xmlns:a16="http://schemas.microsoft.com/office/drawing/2014/main" id="{3B39229B-4789-4E5F-A863-803DF35813F8}"/>
              </a:ext>
            </a:extLst>
          </p:cNvPr>
          <p:cNvSpPr txBox="1">
            <a:spLocks/>
          </p:cNvSpPr>
          <p:nvPr/>
        </p:nvSpPr>
        <p:spPr bwMode="auto">
          <a:xfrm>
            <a:off x="3027140" y="5126330"/>
            <a:ext cx="3327866"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1403" kern="0" dirty="0">
                <a:solidFill>
                  <a:srgbClr val="0972CB"/>
                </a:solidFill>
                <a:latin typeface="Oxygen"/>
                <a:ea typeface="Oxygen"/>
                <a:cs typeface="Oxygen"/>
                <a:sym typeface="Oxygen"/>
              </a:rPr>
              <a:t>Inmaculada Gutiérrez García-Pardo</a:t>
            </a:r>
          </a:p>
        </p:txBody>
      </p:sp>
      <p:pic>
        <p:nvPicPr>
          <p:cNvPr id="7"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4645" y="1246805"/>
            <a:ext cx="2884990" cy="10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741" y="1134024"/>
            <a:ext cx="1294904" cy="129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453900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2300" y="1038225"/>
            <a:ext cx="9525000" cy="566822"/>
          </a:xfrm>
          <a:prstGeom prst="rect">
            <a:avLst/>
          </a:prstGeom>
        </p:spPr>
        <p:txBody>
          <a:bodyPr vert="horz" wrap="square" lIns="0" tIns="12700" rIns="0" bIns="0" rtlCol="0">
            <a:spAutoFit/>
          </a:bodyPr>
          <a:lstStyle/>
          <a:p>
            <a:pPr marL="12700">
              <a:lnSpc>
                <a:spcPct val="100000"/>
              </a:lnSpc>
              <a:spcBef>
                <a:spcPts val="100"/>
              </a:spcBef>
            </a:pPr>
            <a:r>
              <a:rPr lang="es-ES" sz="3600" b="1" spc="-5" dirty="0">
                <a:solidFill>
                  <a:srgbClr val="538DD3"/>
                </a:solidFill>
              </a:rPr>
              <a:t>4</a:t>
            </a:r>
            <a:r>
              <a:rPr lang="es-ES" sz="3600" b="1" spc="-5" dirty="0" smtClean="0">
                <a:solidFill>
                  <a:srgbClr val="538DD3"/>
                </a:solidFill>
                <a:latin typeface="Times New Roman"/>
                <a:cs typeface="Times New Roman"/>
              </a:rPr>
              <a:t>. ¿Por qué funcionan bien las redes neuronales?</a:t>
            </a:r>
            <a:endParaRPr sz="3600" dirty="0">
              <a:latin typeface="Times New Roman"/>
              <a:cs typeface="Times New Roman"/>
            </a:endParaRPr>
          </a:p>
        </p:txBody>
      </p:sp>
      <p:sp>
        <p:nvSpPr>
          <p:cNvPr id="3" name="Rectángulo 2"/>
          <p:cNvSpPr/>
          <p:nvPr/>
        </p:nvSpPr>
        <p:spPr>
          <a:xfrm>
            <a:off x="1288142" y="2105025"/>
            <a:ext cx="8630557" cy="1295868"/>
          </a:xfrm>
          <a:prstGeom prst="rect">
            <a:avLst/>
          </a:prstGeom>
        </p:spPr>
        <p:txBody>
          <a:bodyPr wrap="square">
            <a:spAutoFit/>
          </a:bodyPr>
          <a:lstStyle/>
          <a:p>
            <a:pPr>
              <a:lnSpc>
                <a:spcPct val="150000"/>
              </a:lnSpc>
            </a:pPr>
            <a:r>
              <a:rPr lang="es-ES" dirty="0" smtClean="0">
                <a:solidFill>
                  <a:srgbClr val="374151"/>
                </a:solidFill>
                <a:latin typeface="+mj-lt"/>
              </a:rPr>
              <a:t>En esta sección se presentan los conceptos matemáticos que sustentan y garantizan el buen funcionamiento de las redes neuronales</a:t>
            </a:r>
          </a:p>
          <a:p>
            <a:pPr marL="285750" indent="-285750">
              <a:lnSpc>
                <a:spcPct val="150000"/>
              </a:lnSpc>
              <a:buFont typeface="Arial" panose="020B0604020202020204" pitchFamily="34" charset="0"/>
              <a:buChar char="•"/>
            </a:pPr>
            <a:endParaRPr lang="es-ES" dirty="0" smtClean="0">
              <a:solidFill>
                <a:srgbClr val="374151"/>
              </a:solidFill>
              <a:latin typeface="+mj-lt"/>
            </a:endParaRPr>
          </a:p>
        </p:txBody>
      </p:sp>
    </p:spTree>
    <p:extLst>
      <p:ext uri="{BB962C8B-B14F-4D97-AF65-F5344CB8AC3E}">
        <p14:creationId xmlns:p14="http://schemas.microsoft.com/office/powerpoint/2010/main" val="353877261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6963" y="135493"/>
            <a:ext cx="9999472" cy="369332"/>
          </a:xfrm>
        </p:spPr>
        <p:txBody>
          <a:bodyPr/>
          <a:lstStyle/>
          <a:p>
            <a:r>
              <a:rPr lang="es-ES" dirty="0" smtClean="0">
                <a:solidFill>
                  <a:schemeClr val="tx2">
                    <a:lumMod val="60000"/>
                    <a:lumOff val="40000"/>
                  </a:schemeClr>
                </a:solidFill>
              </a:rPr>
              <a:t>Resumen conceptual</a:t>
            </a:r>
            <a:endParaRPr lang="es-ES" dirty="0">
              <a:solidFill>
                <a:schemeClr val="tx2">
                  <a:lumMod val="60000"/>
                  <a:lumOff val="40000"/>
                </a:schemeClr>
              </a:solidFill>
            </a:endParaRPr>
          </a:p>
        </p:txBody>
      </p:sp>
      <p:sp>
        <p:nvSpPr>
          <p:cNvPr id="3" name="Marcador de texto 2"/>
          <p:cNvSpPr>
            <a:spLocks noGrp="1"/>
          </p:cNvSpPr>
          <p:nvPr>
            <p:ph type="body" idx="1"/>
          </p:nvPr>
        </p:nvSpPr>
        <p:spPr>
          <a:xfrm>
            <a:off x="346963" y="657225"/>
            <a:ext cx="10105138" cy="7078861"/>
          </a:xfrm>
        </p:spPr>
        <p:txBody>
          <a:bodyPr/>
          <a:lstStyle/>
          <a:p>
            <a:pPr marL="342900" indent="-342900" algn="just">
              <a:buFont typeface="Arial" panose="020B0604020202020204" pitchFamily="34" charset="0"/>
              <a:buChar char="•"/>
            </a:pPr>
            <a:r>
              <a:rPr lang="es-ES" sz="2200" b="1" dirty="0">
                <a:solidFill>
                  <a:schemeClr val="tx1"/>
                </a:solidFill>
                <a:latin typeface="+mj-lt"/>
              </a:rPr>
              <a:t>Neuronas</a:t>
            </a:r>
            <a:r>
              <a:rPr lang="es-ES" sz="2200" dirty="0">
                <a:solidFill>
                  <a:schemeClr val="tx1"/>
                </a:solidFill>
                <a:latin typeface="+mj-lt"/>
              </a:rPr>
              <a:t>: </a:t>
            </a:r>
            <a:r>
              <a:rPr lang="es-ES" sz="2200" dirty="0" smtClean="0">
                <a:solidFill>
                  <a:schemeClr val="tx1"/>
                </a:solidFill>
                <a:latin typeface="+mj-lt"/>
              </a:rPr>
              <a:t>unidades </a:t>
            </a:r>
            <a:r>
              <a:rPr lang="es-ES" sz="2200" dirty="0">
                <a:solidFill>
                  <a:schemeClr val="tx1"/>
                </a:solidFill>
                <a:latin typeface="+mj-lt"/>
              </a:rPr>
              <a:t>básicas de procesamiento de información en las redes neuronales. Cada neurona tiene </a:t>
            </a:r>
            <a:r>
              <a:rPr lang="es-ES" sz="2200" b="1" dirty="0">
                <a:solidFill>
                  <a:schemeClr val="tx1"/>
                </a:solidFill>
                <a:latin typeface="+mj-lt"/>
              </a:rPr>
              <a:t>una entrada</a:t>
            </a:r>
            <a:r>
              <a:rPr lang="es-ES" sz="2200" dirty="0">
                <a:solidFill>
                  <a:schemeClr val="tx1"/>
                </a:solidFill>
                <a:latin typeface="+mj-lt"/>
              </a:rPr>
              <a:t>, que recibe señales de otras neuronas o del entorno, y </a:t>
            </a:r>
            <a:r>
              <a:rPr lang="es-ES" sz="2200" b="1" dirty="0">
                <a:solidFill>
                  <a:schemeClr val="tx1"/>
                </a:solidFill>
                <a:latin typeface="+mj-lt"/>
              </a:rPr>
              <a:t>una salida</a:t>
            </a:r>
            <a:r>
              <a:rPr lang="es-ES" sz="2200" dirty="0">
                <a:solidFill>
                  <a:schemeClr val="tx1"/>
                </a:solidFill>
                <a:latin typeface="+mj-lt"/>
              </a:rPr>
              <a:t>, que produce una respuesta. </a:t>
            </a:r>
            <a:r>
              <a:rPr lang="es-ES" sz="2200" dirty="0" smtClean="0">
                <a:solidFill>
                  <a:schemeClr val="tx1"/>
                </a:solidFill>
                <a:latin typeface="+mj-lt"/>
              </a:rPr>
              <a:t>Pueden </a:t>
            </a:r>
            <a:r>
              <a:rPr lang="es-ES" sz="2200" dirty="0">
                <a:solidFill>
                  <a:schemeClr val="tx1"/>
                </a:solidFill>
                <a:latin typeface="+mj-lt"/>
              </a:rPr>
              <a:t>estar conectadas entre sí para formar una red compleja.</a:t>
            </a:r>
          </a:p>
          <a:p>
            <a:pPr marL="342900" indent="-342900" algn="just">
              <a:buFont typeface="Arial" panose="020B0604020202020204" pitchFamily="34" charset="0"/>
              <a:buChar char="•"/>
            </a:pPr>
            <a:r>
              <a:rPr lang="es-ES" sz="2200" b="1" dirty="0">
                <a:solidFill>
                  <a:schemeClr val="tx1"/>
                </a:solidFill>
                <a:latin typeface="+mj-lt"/>
              </a:rPr>
              <a:t>Sinapsis</a:t>
            </a:r>
            <a:r>
              <a:rPr lang="es-ES" sz="2200" dirty="0">
                <a:solidFill>
                  <a:schemeClr val="tx1"/>
                </a:solidFill>
                <a:latin typeface="+mj-lt"/>
              </a:rPr>
              <a:t>: </a:t>
            </a:r>
            <a:r>
              <a:rPr lang="es-ES" sz="2200" dirty="0" smtClean="0">
                <a:solidFill>
                  <a:schemeClr val="tx1"/>
                </a:solidFill>
                <a:latin typeface="+mj-lt"/>
              </a:rPr>
              <a:t>son </a:t>
            </a:r>
            <a:r>
              <a:rPr lang="es-ES" sz="2200" dirty="0">
                <a:solidFill>
                  <a:schemeClr val="tx1"/>
                </a:solidFill>
                <a:latin typeface="+mj-lt"/>
              </a:rPr>
              <a:t>las conexiones entre las neuronas en una red neuronal. Cada sinapsis tiene un peso asociado que determina la importancia relativa de la entrada de la neurona </a:t>
            </a:r>
            <a:r>
              <a:rPr lang="es-ES" sz="2200" dirty="0" err="1">
                <a:solidFill>
                  <a:schemeClr val="tx1"/>
                </a:solidFill>
                <a:latin typeface="+mj-lt"/>
              </a:rPr>
              <a:t>presináptica</a:t>
            </a:r>
            <a:r>
              <a:rPr lang="es-ES" sz="2200" dirty="0">
                <a:solidFill>
                  <a:schemeClr val="tx1"/>
                </a:solidFill>
                <a:latin typeface="+mj-lt"/>
              </a:rPr>
              <a:t> en la salida de la neurona </a:t>
            </a:r>
            <a:r>
              <a:rPr lang="es-ES" sz="2200" dirty="0" err="1">
                <a:solidFill>
                  <a:schemeClr val="tx1"/>
                </a:solidFill>
                <a:latin typeface="+mj-lt"/>
              </a:rPr>
              <a:t>postsináptica</a:t>
            </a:r>
            <a:r>
              <a:rPr lang="es-ES" sz="2200" dirty="0">
                <a:solidFill>
                  <a:schemeClr val="tx1"/>
                </a:solidFill>
                <a:latin typeface="+mj-lt"/>
              </a:rPr>
              <a:t>.</a:t>
            </a:r>
          </a:p>
          <a:p>
            <a:pPr marL="342900" indent="-342900" algn="just">
              <a:buFont typeface="Arial" panose="020B0604020202020204" pitchFamily="34" charset="0"/>
              <a:buChar char="•"/>
            </a:pPr>
            <a:r>
              <a:rPr lang="es-ES" sz="2200" b="1" dirty="0">
                <a:solidFill>
                  <a:schemeClr val="tx1"/>
                </a:solidFill>
                <a:latin typeface="+mj-lt"/>
              </a:rPr>
              <a:t>Funciones de activación</a:t>
            </a:r>
            <a:r>
              <a:rPr lang="es-ES" sz="2200" dirty="0">
                <a:solidFill>
                  <a:schemeClr val="tx1"/>
                </a:solidFill>
                <a:latin typeface="+mj-lt"/>
              </a:rPr>
              <a:t>: </a:t>
            </a:r>
            <a:r>
              <a:rPr lang="es-ES" sz="2200" dirty="0" smtClean="0">
                <a:solidFill>
                  <a:schemeClr val="tx1"/>
                </a:solidFill>
                <a:latin typeface="+mj-lt"/>
              </a:rPr>
              <a:t>funciones </a:t>
            </a:r>
            <a:r>
              <a:rPr lang="es-ES" sz="2200" dirty="0">
                <a:solidFill>
                  <a:schemeClr val="tx1"/>
                </a:solidFill>
                <a:latin typeface="+mj-lt"/>
              </a:rPr>
              <a:t>no lineales que se aplican a la salida de cada neurona para determinar su activación. Las funciones de activación más comunes incluyen la función sigmoidea, la función </a:t>
            </a:r>
            <a:r>
              <a:rPr lang="es-ES" sz="2200" dirty="0" err="1">
                <a:solidFill>
                  <a:schemeClr val="tx1"/>
                </a:solidFill>
                <a:latin typeface="+mj-lt"/>
              </a:rPr>
              <a:t>ReLU</a:t>
            </a:r>
            <a:r>
              <a:rPr lang="es-ES" sz="2200" dirty="0">
                <a:solidFill>
                  <a:schemeClr val="tx1"/>
                </a:solidFill>
                <a:latin typeface="+mj-lt"/>
              </a:rPr>
              <a:t> y la función </a:t>
            </a:r>
            <a:r>
              <a:rPr lang="es-ES" sz="2200" dirty="0" err="1">
                <a:solidFill>
                  <a:schemeClr val="tx1"/>
                </a:solidFill>
                <a:latin typeface="+mj-lt"/>
              </a:rPr>
              <a:t>tanh</a:t>
            </a:r>
            <a:r>
              <a:rPr lang="es-ES" sz="2200" dirty="0">
                <a:solidFill>
                  <a:schemeClr val="tx1"/>
                </a:solidFill>
                <a:latin typeface="+mj-lt"/>
              </a:rPr>
              <a:t>.</a:t>
            </a:r>
          </a:p>
          <a:p>
            <a:pPr marL="342900" indent="-342900" algn="just">
              <a:buFont typeface="Arial" panose="020B0604020202020204" pitchFamily="34" charset="0"/>
              <a:buChar char="•"/>
            </a:pPr>
            <a:r>
              <a:rPr lang="es-ES" sz="2200" b="1" dirty="0">
                <a:solidFill>
                  <a:schemeClr val="tx1"/>
                </a:solidFill>
                <a:latin typeface="+mj-lt"/>
              </a:rPr>
              <a:t>Capas</a:t>
            </a:r>
            <a:r>
              <a:rPr lang="es-ES" sz="2200" dirty="0">
                <a:solidFill>
                  <a:schemeClr val="tx1"/>
                </a:solidFill>
                <a:latin typeface="+mj-lt"/>
              </a:rPr>
              <a:t>: </a:t>
            </a:r>
            <a:r>
              <a:rPr lang="es-ES" sz="2200" dirty="0" smtClean="0">
                <a:solidFill>
                  <a:schemeClr val="tx1"/>
                </a:solidFill>
                <a:latin typeface="+mj-lt"/>
              </a:rPr>
              <a:t>las </a:t>
            </a:r>
            <a:r>
              <a:rPr lang="es-ES" sz="2200" dirty="0">
                <a:solidFill>
                  <a:schemeClr val="tx1"/>
                </a:solidFill>
                <a:latin typeface="+mj-lt"/>
              </a:rPr>
              <a:t>redes neuronales están organizadas en capas, que pueden ser de entrada, ocultas o de salida. La capa de entrada recibe los datos de entrada, la capa de salida produce la salida final y las capas ocultas realizan el procesamiento intermedio.</a:t>
            </a:r>
          </a:p>
          <a:p>
            <a:pPr marL="342900" indent="-342900" algn="just">
              <a:buFont typeface="Arial" panose="020B0604020202020204" pitchFamily="34" charset="0"/>
              <a:buChar char="•"/>
            </a:pPr>
            <a:r>
              <a:rPr lang="es-ES" sz="2200" b="1" dirty="0">
                <a:solidFill>
                  <a:schemeClr val="tx1"/>
                </a:solidFill>
                <a:latin typeface="+mj-lt"/>
              </a:rPr>
              <a:t>Aprendizaje</a:t>
            </a:r>
            <a:r>
              <a:rPr lang="es-ES" sz="2200" dirty="0">
                <a:solidFill>
                  <a:schemeClr val="tx1"/>
                </a:solidFill>
                <a:latin typeface="+mj-lt"/>
              </a:rPr>
              <a:t>: </a:t>
            </a:r>
            <a:r>
              <a:rPr lang="es-ES" sz="2200" dirty="0" smtClean="0">
                <a:solidFill>
                  <a:schemeClr val="tx1"/>
                </a:solidFill>
                <a:latin typeface="+mj-lt"/>
              </a:rPr>
              <a:t>se </a:t>
            </a:r>
            <a:r>
              <a:rPr lang="es-ES" sz="2200" dirty="0">
                <a:solidFill>
                  <a:schemeClr val="tx1"/>
                </a:solidFill>
                <a:latin typeface="+mj-lt"/>
              </a:rPr>
              <a:t>produce mediante el ajuste de los pesos de las sinapsis en función del error en la salida de la red. El objetivo es minimizar el error en la salida de la red mediante el ajuste de los pesos de las sinapsis a través del proceso de </a:t>
            </a:r>
            <a:r>
              <a:rPr lang="es-ES" sz="2200" dirty="0" err="1">
                <a:solidFill>
                  <a:schemeClr val="tx1"/>
                </a:solidFill>
                <a:latin typeface="+mj-lt"/>
              </a:rPr>
              <a:t>retropropagación</a:t>
            </a:r>
            <a:r>
              <a:rPr lang="es-ES" sz="2200" dirty="0">
                <a:solidFill>
                  <a:schemeClr val="tx1"/>
                </a:solidFill>
                <a:latin typeface="+mj-lt"/>
              </a:rPr>
              <a:t> del error.</a:t>
            </a:r>
          </a:p>
          <a:p>
            <a:pPr marL="342900" indent="-342900" algn="just">
              <a:buFont typeface="Arial" panose="020B0604020202020204" pitchFamily="34" charset="0"/>
              <a:buChar char="•"/>
            </a:pPr>
            <a:r>
              <a:rPr lang="es-ES" sz="2200" b="1" dirty="0">
                <a:solidFill>
                  <a:schemeClr val="tx1"/>
                </a:solidFill>
                <a:latin typeface="+mj-lt"/>
              </a:rPr>
              <a:t>Algoritmos de aprendizaje</a:t>
            </a:r>
            <a:r>
              <a:rPr lang="es-ES" sz="2200" dirty="0" smtClean="0">
                <a:solidFill>
                  <a:schemeClr val="tx1"/>
                </a:solidFill>
                <a:latin typeface="+mj-lt"/>
              </a:rPr>
              <a:t>: se </a:t>
            </a:r>
            <a:r>
              <a:rPr lang="es-ES" sz="2200" dirty="0">
                <a:solidFill>
                  <a:schemeClr val="tx1"/>
                </a:solidFill>
                <a:latin typeface="+mj-lt"/>
              </a:rPr>
              <a:t>utilizan para entrenar las </a:t>
            </a:r>
            <a:r>
              <a:rPr lang="es-ES" sz="2200" dirty="0" smtClean="0">
                <a:solidFill>
                  <a:schemeClr val="tx1"/>
                </a:solidFill>
                <a:latin typeface="+mj-lt"/>
              </a:rPr>
              <a:t>redes. </a:t>
            </a:r>
            <a:r>
              <a:rPr lang="es-ES" sz="2200" dirty="0">
                <a:solidFill>
                  <a:schemeClr val="tx1"/>
                </a:solidFill>
                <a:latin typeface="+mj-lt"/>
              </a:rPr>
              <a:t>Los algoritmos más comunes incluyen el descenso de gradiente estocástico, la </a:t>
            </a:r>
            <a:r>
              <a:rPr lang="es-ES" sz="2200" dirty="0" err="1">
                <a:solidFill>
                  <a:schemeClr val="tx1"/>
                </a:solidFill>
                <a:latin typeface="+mj-lt"/>
              </a:rPr>
              <a:t>retropropagación</a:t>
            </a:r>
            <a:r>
              <a:rPr lang="es-ES" sz="2200" dirty="0">
                <a:solidFill>
                  <a:schemeClr val="tx1"/>
                </a:solidFill>
                <a:latin typeface="+mj-lt"/>
              </a:rPr>
              <a:t> del error y el algoritmo de propagación hacia atrás </a:t>
            </a:r>
            <a:r>
              <a:rPr lang="es-ES" sz="2200" dirty="0" err="1">
                <a:solidFill>
                  <a:schemeClr val="tx1"/>
                </a:solidFill>
                <a:latin typeface="+mj-lt"/>
              </a:rPr>
              <a:t>resiliente</a:t>
            </a:r>
            <a:r>
              <a:rPr lang="es-ES" sz="2200" dirty="0">
                <a:solidFill>
                  <a:schemeClr val="tx1"/>
                </a:solidFill>
                <a:latin typeface="+mj-lt"/>
              </a:rPr>
              <a:t> (RPROP).</a:t>
            </a:r>
          </a:p>
          <a:p>
            <a:endParaRPr lang="es-ES" dirty="0">
              <a:latin typeface="+mj-lt"/>
            </a:endParaRPr>
          </a:p>
        </p:txBody>
      </p:sp>
    </p:spTree>
    <p:extLst>
      <p:ext uri="{BB962C8B-B14F-4D97-AF65-F5344CB8AC3E}">
        <p14:creationId xmlns:p14="http://schemas.microsoft.com/office/powerpoint/2010/main" val="196026320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774699" y="2486025"/>
            <a:ext cx="8915401" cy="2893100"/>
          </a:xfrm>
        </p:spPr>
        <p:txBody>
          <a:bodyPr/>
          <a:lstStyle/>
          <a:p>
            <a:pPr algn="just"/>
            <a:r>
              <a:rPr lang="es-ES" sz="2800" dirty="0">
                <a:solidFill>
                  <a:schemeClr val="tx1"/>
                </a:solidFill>
                <a:latin typeface="+mj-lt"/>
              </a:rPr>
              <a:t>En resumen, las redes neuronales son un </a:t>
            </a:r>
            <a:r>
              <a:rPr lang="es-ES" sz="2800" b="1" dirty="0">
                <a:solidFill>
                  <a:schemeClr val="tx1"/>
                </a:solidFill>
                <a:latin typeface="+mj-lt"/>
              </a:rPr>
              <a:t>modelo computacional</a:t>
            </a:r>
            <a:r>
              <a:rPr lang="es-ES" sz="2800" dirty="0">
                <a:solidFill>
                  <a:schemeClr val="tx1"/>
                </a:solidFill>
                <a:latin typeface="+mj-lt"/>
              </a:rPr>
              <a:t> poderoso que se basa en la </a:t>
            </a:r>
            <a:r>
              <a:rPr lang="es-ES" sz="2800" b="1" dirty="0">
                <a:solidFill>
                  <a:schemeClr val="tx1"/>
                </a:solidFill>
                <a:latin typeface="+mj-lt"/>
              </a:rPr>
              <a:t>estructura</a:t>
            </a:r>
            <a:r>
              <a:rPr lang="es-ES" sz="2800" dirty="0">
                <a:solidFill>
                  <a:schemeClr val="tx1"/>
                </a:solidFill>
                <a:latin typeface="+mj-lt"/>
              </a:rPr>
              <a:t> y el </a:t>
            </a:r>
            <a:r>
              <a:rPr lang="es-ES" sz="2800" b="1" dirty="0">
                <a:solidFill>
                  <a:schemeClr val="tx1"/>
                </a:solidFill>
                <a:latin typeface="+mj-lt"/>
              </a:rPr>
              <a:t>funcionamiento</a:t>
            </a:r>
            <a:r>
              <a:rPr lang="es-ES" sz="2800" dirty="0">
                <a:solidFill>
                  <a:schemeClr val="tx1"/>
                </a:solidFill>
                <a:latin typeface="+mj-lt"/>
              </a:rPr>
              <a:t> del sistema nervioso humano. El </a:t>
            </a:r>
            <a:r>
              <a:rPr lang="es-ES" sz="2800" b="1" dirty="0">
                <a:solidFill>
                  <a:schemeClr val="tx1"/>
                </a:solidFill>
                <a:latin typeface="+mj-lt"/>
              </a:rPr>
              <a:t>aprendizaje</a:t>
            </a:r>
            <a:r>
              <a:rPr lang="es-ES" sz="2800" dirty="0">
                <a:solidFill>
                  <a:schemeClr val="tx1"/>
                </a:solidFill>
                <a:latin typeface="+mj-lt"/>
              </a:rPr>
              <a:t> en una red neuronal se produce mediante el </a:t>
            </a:r>
            <a:r>
              <a:rPr lang="es-ES" sz="2800" b="1" dirty="0">
                <a:solidFill>
                  <a:schemeClr val="tx1"/>
                </a:solidFill>
                <a:latin typeface="+mj-lt"/>
              </a:rPr>
              <a:t>ajuste de los pesos </a:t>
            </a:r>
            <a:r>
              <a:rPr lang="es-ES" sz="2800" dirty="0">
                <a:solidFill>
                  <a:schemeClr val="tx1"/>
                </a:solidFill>
                <a:latin typeface="+mj-lt"/>
              </a:rPr>
              <a:t>de las sinapsis, lo que permite a la red aprender a realizar tareas complejas de manera autónoma.</a:t>
            </a:r>
          </a:p>
          <a:p>
            <a:pPr algn="just"/>
            <a:endParaRPr lang="es-ES" dirty="0"/>
          </a:p>
        </p:txBody>
      </p:sp>
    </p:spTree>
    <p:extLst>
      <p:ext uri="{BB962C8B-B14F-4D97-AF65-F5344CB8AC3E}">
        <p14:creationId xmlns:p14="http://schemas.microsoft.com/office/powerpoint/2010/main" val="310440665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14959"/>
            <a:ext cx="1982470" cy="574040"/>
          </a:xfrm>
          <a:prstGeom prst="rect">
            <a:avLst/>
          </a:prstGeom>
        </p:spPr>
        <p:txBody>
          <a:bodyPr vert="horz" wrap="square" lIns="0" tIns="12700" rIns="0" bIns="0" rtlCol="0">
            <a:spAutoFit/>
          </a:bodyPr>
          <a:lstStyle/>
          <a:p>
            <a:pPr marL="12700">
              <a:lnSpc>
                <a:spcPct val="100000"/>
              </a:lnSpc>
              <a:spcBef>
                <a:spcPts val="100"/>
              </a:spcBef>
            </a:pPr>
            <a:r>
              <a:rPr sz="3600" b="1" dirty="0">
                <a:solidFill>
                  <a:schemeClr val="tx2">
                    <a:lumMod val="60000"/>
                    <a:lumOff val="40000"/>
                  </a:schemeClr>
                </a:solidFill>
                <a:latin typeface="Times New Roman"/>
                <a:cs typeface="Times New Roman"/>
              </a:rPr>
              <a:t>Pregunta:</a:t>
            </a:r>
            <a:endParaRPr sz="3600" dirty="0">
              <a:solidFill>
                <a:schemeClr val="tx2">
                  <a:lumMod val="60000"/>
                  <a:lumOff val="40000"/>
                </a:schemeClr>
              </a:solidFill>
              <a:latin typeface="Times New Roman"/>
              <a:cs typeface="Times New Roman"/>
            </a:endParaRPr>
          </a:p>
        </p:txBody>
      </p:sp>
      <p:sp>
        <p:nvSpPr>
          <p:cNvPr id="3" name="object 3"/>
          <p:cNvSpPr txBox="1"/>
          <p:nvPr/>
        </p:nvSpPr>
        <p:spPr>
          <a:xfrm>
            <a:off x="546100" y="1474433"/>
            <a:ext cx="9571738" cy="3176652"/>
          </a:xfrm>
          <a:prstGeom prst="rect">
            <a:avLst/>
          </a:prstGeom>
        </p:spPr>
        <p:txBody>
          <a:bodyPr vert="horz" wrap="square" lIns="0" tIns="48895" rIns="0" bIns="0" rtlCol="0">
            <a:spAutoFit/>
          </a:bodyPr>
          <a:lstStyle/>
          <a:p>
            <a:pPr marL="12700" marR="5080">
              <a:lnSpc>
                <a:spcPts val="4140"/>
              </a:lnSpc>
              <a:spcBef>
                <a:spcPts val="385"/>
              </a:spcBef>
            </a:pPr>
            <a:r>
              <a:rPr lang="es-ES" sz="2000" dirty="0" smtClean="0">
                <a:solidFill>
                  <a:srgbClr val="FF0000"/>
                </a:solidFill>
                <a:latin typeface="Times New Roman"/>
                <a:cs typeface="Times New Roman"/>
              </a:rPr>
              <a:t>¿¿¿</a:t>
            </a:r>
            <a:r>
              <a:rPr sz="2000" dirty="0" err="1" smtClean="0">
                <a:solidFill>
                  <a:srgbClr val="FF0000"/>
                </a:solidFill>
                <a:latin typeface="Times New Roman"/>
                <a:cs typeface="Times New Roman"/>
              </a:rPr>
              <a:t>Por</a:t>
            </a:r>
            <a:r>
              <a:rPr sz="2000" spc="10" dirty="0" smtClean="0">
                <a:solidFill>
                  <a:srgbClr val="FF0000"/>
                </a:solidFill>
                <a:latin typeface="Times New Roman"/>
                <a:cs typeface="Times New Roman"/>
              </a:rPr>
              <a:t> </a:t>
            </a:r>
            <a:r>
              <a:rPr sz="2000" dirty="0">
                <a:solidFill>
                  <a:srgbClr val="FF0000"/>
                </a:solidFill>
                <a:latin typeface="Times New Roman"/>
                <a:cs typeface="Times New Roman"/>
              </a:rPr>
              <a:t>qué</a:t>
            </a:r>
            <a:r>
              <a:rPr sz="2000" spc="10" dirty="0">
                <a:solidFill>
                  <a:srgbClr val="FF0000"/>
                </a:solidFill>
                <a:latin typeface="Times New Roman"/>
                <a:cs typeface="Times New Roman"/>
              </a:rPr>
              <a:t> </a:t>
            </a:r>
            <a:r>
              <a:rPr sz="2000" dirty="0">
                <a:solidFill>
                  <a:srgbClr val="FF0000"/>
                </a:solidFill>
                <a:latin typeface="Times New Roman"/>
                <a:cs typeface="Times New Roman"/>
              </a:rPr>
              <a:t>el</a:t>
            </a:r>
            <a:r>
              <a:rPr sz="2000" spc="-10" dirty="0">
                <a:solidFill>
                  <a:srgbClr val="FF0000"/>
                </a:solidFill>
                <a:latin typeface="Times New Roman"/>
                <a:cs typeface="Times New Roman"/>
              </a:rPr>
              <a:t> </a:t>
            </a:r>
            <a:r>
              <a:rPr sz="2000" spc="-5" dirty="0">
                <a:solidFill>
                  <a:srgbClr val="FF0000"/>
                </a:solidFill>
                <a:latin typeface="Times New Roman"/>
                <a:cs typeface="Times New Roman"/>
              </a:rPr>
              <a:t>(</a:t>
            </a:r>
            <a:r>
              <a:rPr sz="2000" b="1" spc="-5" dirty="0">
                <a:solidFill>
                  <a:srgbClr val="FF0000"/>
                </a:solidFill>
                <a:latin typeface="Times New Roman"/>
                <a:cs typeface="Times New Roman"/>
              </a:rPr>
              <a:t>exagerado,</a:t>
            </a:r>
            <a:r>
              <a:rPr sz="2000" b="1" spc="10" dirty="0">
                <a:solidFill>
                  <a:srgbClr val="FF0000"/>
                </a:solidFill>
                <a:latin typeface="Times New Roman"/>
                <a:cs typeface="Times New Roman"/>
              </a:rPr>
              <a:t> </a:t>
            </a:r>
            <a:r>
              <a:rPr sz="2000" b="1" spc="-5" dirty="0">
                <a:solidFill>
                  <a:srgbClr val="FF0000"/>
                </a:solidFill>
                <a:latin typeface="Times New Roman"/>
                <a:cs typeface="Times New Roman"/>
              </a:rPr>
              <a:t>sobreparametrizado,</a:t>
            </a:r>
            <a:r>
              <a:rPr sz="2000" b="1" spc="5" dirty="0">
                <a:solidFill>
                  <a:srgbClr val="FF0000"/>
                </a:solidFill>
                <a:latin typeface="Times New Roman"/>
                <a:cs typeface="Times New Roman"/>
              </a:rPr>
              <a:t> </a:t>
            </a:r>
            <a:r>
              <a:rPr sz="2000" b="1" spc="-5" dirty="0">
                <a:solidFill>
                  <a:srgbClr val="FF0000"/>
                </a:solidFill>
                <a:latin typeface="Times New Roman"/>
                <a:cs typeface="Times New Roman"/>
              </a:rPr>
              <a:t>monstruoso</a:t>
            </a:r>
            <a:r>
              <a:rPr sz="2000" spc="-5" dirty="0">
                <a:solidFill>
                  <a:srgbClr val="FF0000"/>
                </a:solidFill>
                <a:latin typeface="Times New Roman"/>
                <a:cs typeface="Times New Roman"/>
              </a:rPr>
              <a:t>)</a:t>
            </a:r>
            <a:r>
              <a:rPr sz="2000" spc="5" dirty="0">
                <a:solidFill>
                  <a:srgbClr val="FF0000"/>
                </a:solidFill>
                <a:latin typeface="Times New Roman"/>
                <a:cs typeface="Times New Roman"/>
              </a:rPr>
              <a:t> </a:t>
            </a:r>
            <a:r>
              <a:rPr sz="2000" spc="-5" dirty="0">
                <a:solidFill>
                  <a:srgbClr val="FF0000"/>
                </a:solidFill>
                <a:latin typeface="Times New Roman"/>
                <a:cs typeface="Times New Roman"/>
              </a:rPr>
              <a:t>modelo</a:t>
            </a:r>
            <a:r>
              <a:rPr sz="2000" spc="10" dirty="0">
                <a:solidFill>
                  <a:srgbClr val="FF0000"/>
                </a:solidFill>
                <a:latin typeface="Times New Roman"/>
                <a:cs typeface="Times New Roman"/>
              </a:rPr>
              <a:t> </a:t>
            </a:r>
            <a:r>
              <a:rPr sz="2000" dirty="0">
                <a:solidFill>
                  <a:srgbClr val="FF0000"/>
                </a:solidFill>
                <a:latin typeface="Times New Roman"/>
                <a:cs typeface="Times New Roman"/>
              </a:rPr>
              <a:t>de</a:t>
            </a:r>
            <a:r>
              <a:rPr sz="2000" spc="10" dirty="0">
                <a:solidFill>
                  <a:srgbClr val="FF0000"/>
                </a:solidFill>
                <a:latin typeface="Times New Roman"/>
                <a:cs typeface="Times New Roman"/>
              </a:rPr>
              <a:t> </a:t>
            </a:r>
            <a:r>
              <a:rPr sz="2000" dirty="0">
                <a:solidFill>
                  <a:srgbClr val="FF0000"/>
                </a:solidFill>
                <a:latin typeface="Times New Roman"/>
                <a:cs typeface="Times New Roman"/>
              </a:rPr>
              <a:t>red </a:t>
            </a:r>
            <a:r>
              <a:rPr sz="2000" spc="-885" dirty="0">
                <a:solidFill>
                  <a:srgbClr val="FF0000"/>
                </a:solidFill>
                <a:latin typeface="Times New Roman"/>
                <a:cs typeface="Times New Roman"/>
              </a:rPr>
              <a:t> </a:t>
            </a:r>
            <a:r>
              <a:rPr sz="2000" dirty="0">
                <a:solidFill>
                  <a:srgbClr val="FF0000"/>
                </a:solidFill>
                <a:latin typeface="Times New Roman"/>
                <a:cs typeface="Times New Roman"/>
              </a:rPr>
              <a:t>neuronal</a:t>
            </a:r>
            <a:endParaRPr sz="2000" dirty="0">
              <a:latin typeface="Times New Roman"/>
              <a:cs typeface="Times New Roman"/>
            </a:endParaRPr>
          </a:p>
          <a:p>
            <a:pPr marL="12700" algn="ctr">
              <a:lnSpc>
                <a:spcPts val="2820"/>
              </a:lnSpc>
              <a:spcBef>
                <a:spcPts val="2080"/>
              </a:spcBef>
            </a:pPr>
            <a:r>
              <a:rPr sz="2000" i="1" spc="-5" dirty="0">
                <a:latin typeface="Times New Roman"/>
                <a:cs typeface="Times New Roman"/>
              </a:rPr>
              <a:t>Y=tanh(</a:t>
            </a:r>
            <a:r>
              <a:rPr sz="2400" i="1" spc="-5" dirty="0">
                <a:latin typeface="Times New Roman"/>
                <a:cs typeface="Times New Roman"/>
              </a:rPr>
              <a:t>w</a:t>
            </a:r>
            <a:r>
              <a:rPr sz="1400" i="1" spc="-5" dirty="0">
                <a:latin typeface="Times New Roman"/>
                <a:cs typeface="Times New Roman"/>
              </a:rPr>
              <a:t>1,out</a:t>
            </a:r>
            <a:r>
              <a:rPr sz="2000" i="1" spc="-5" dirty="0">
                <a:latin typeface="Times New Roman"/>
                <a:cs typeface="Times New Roman"/>
              </a:rPr>
              <a:t>(tanh(</a:t>
            </a:r>
            <a:r>
              <a:rPr sz="2400" i="1" spc="-5" dirty="0">
                <a:latin typeface="Times New Roman"/>
                <a:cs typeface="Times New Roman"/>
              </a:rPr>
              <a:t>w</a:t>
            </a:r>
            <a:r>
              <a:rPr sz="1400" i="1" spc="-5" dirty="0">
                <a:latin typeface="Times New Roman"/>
                <a:cs typeface="Times New Roman"/>
              </a:rPr>
              <a:t>11</a:t>
            </a:r>
            <a:r>
              <a:rPr sz="2000" i="1" spc="-5" dirty="0">
                <a:latin typeface="Times New Roman"/>
                <a:cs typeface="Times New Roman"/>
              </a:rPr>
              <a:t>X1</a:t>
            </a:r>
            <a:r>
              <a:rPr sz="2400" i="1" spc="-5" dirty="0">
                <a:latin typeface="Times New Roman"/>
                <a:cs typeface="Times New Roman"/>
              </a:rPr>
              <a:t>+w</a:t>
            </a:r>
            <a:r>
              <a:rPr sz="1400" i="1" spc="-5" dirty="0">
                <a:latin typeface="Times New Roman"/>
                <a:cs typeface="Times New Roman"/>
              </a:rPr>
              <a:t>21</a:t>
            </a:r>
            <a:r>
              <a:rPr sz="2000" i="1" spc="-5" dirty="0">
                <a:latin typeface="Times New Roman"/>
                <a:cs typeface="Times New Roman"/>
              </a:rPr>
              <a:t>X2+</a:t>
            </a:r>
            <a:r>
              <a:rPr sz="2400" i="1" spc="-5" dirty="0">
                <a:latin typeface="Times New Roman"/>
                <a:cs typeface="Times New Roman"/>
              </a:rPr>
              <a:t>w</a:t>
            </a:r>
            <a:r>
              <a:rPr sz="1400" i="1" spc="-5" dirty="0">
                <a:latin typeface="Times New Roman"/>
                <a:cs typeface="Times New Roman"/>
              </a:rPr>
              <a:t>31</a:t>
            </a:r>
            <a:r>
              <a:rPr sz="2000" i="1" spc="-5" dirty="0">
                <a:latin typeface="Times New Roman"/>
                <a:cs typeface="Times New Roman"/>
              </a:rPr>
              <a:t>X3+</a:t>
            </a:r>
            <a:r>
              <a:rPr sz="2400" i="1" spc="-5" dirty="0">
                <a:latin typeface="Times New Roman"/>
                <a:cs typeface="Times New Roman"/>
              </a:rPr>
              <a:t>w</a:t>
            </a:r>
            <a:r>
              <a:rPr sz="1400" i="1" spc="-5" dirty="0">
                <a:latin typeface="Times New Roman"/>
                <a:cs typeface="Times New Roman"/>
              </a:rPr>
              <a:t>41</a:t>
            </a:r>
            <a:r>
              <a:rPr sz="2000" i="1" spc="-5" dirty="0">
                <a:latin typeface="Times New Roman"/>
                <a:cs typeface="Times New Roman"/>
              </a:rPr>
              <a:t>X4+</a:t>
            </a:r>
            <a:r>
              <a:rPr sz="2400" i="1" spc="-5" dirty="0">
                <a:solidFill>
                  <a:srgbClr val="1F487C"/>
                </a:solidFill>
                <a:latin typeface="Times New Roman"/>
                <a:cs typeface="Times New Roman"/>
              </a:rPr>
              <a:t>b</a:t>
            </a:r>
            <a:r>
              <a:rPr sz="1400" i="1" spc="-5" dirty="0">
                <a:solidFill>
                  <a:srgbClr val="1F487C"/>
                </a:solidFill>
                <a:latin typeface="Times New Roman"/>
                <a:cs typeface="Times New Roman"/>
              </a:rPr>
              <a:t>1</a:t>
            </a:r>
            <a:r>
              <a:rPr sz="2000" i="1" spc="-5" dirty="0">
                <a:latin typeface="Times New Roman"/>
                <a:cs typeface="Times New Roman"/>
              </a:rPr>
              <a:t>))</a:t>
            </a:r>
            <a:endParaRPr sz="2000" i="1" dirty="0">
              <a:latin typeface="Times New Roman"/>
              <a:cs typeface="Times New Roman"/>
            </a:endParaRPr>
          </a:p>
          <a:p>
            <a:pPr marL="12700" algn="ctr">
              <a:lnSpc>
                <a:spcPts val="2760"/>
              </a:lnSpc>
            </a:pPr>
            <a:r>
              <a:rPr sz="2000" i="1" spc="-5" dirty="0">
                <a:latin typeface="Times New Roman"/>
                <a:cs typeface="Times New Roman"/>
              </a:rPr>
              <a:t>+</a:t>
            </a:r>
            <a:r>
              <a:rPr sz="2400" i="1" spc="-5" dirty="0">
                <a:latin typeface="Times New Roman"/>
                <a:cs typeface="Times New Roman"/>
              </a:rPr>
              <a:t>w</a:t>
            </a:r>
            <a:r>
              <a:rPr sz="1400" i="1" spc="-5" dirty="0">
                <a:latin typeface="Times New Roman"/>
                <a:cs typeface="Times New Roman"/>
              </a:rPr>
              <a:t>2,out</a:t>
            </a:r>
            <a:r>
              <a:rPr sz="2000" i="1" spc="-5" dirty="0">
                <a:latin typeface="Times New Roman"/>
                <a:cs typeface="Times New Roman"/>
              </a:rPr>
              <a:t>(tanh(</a:t>
            </a:r>
            <a:r>
              <a:rPr sz="2400" i="1" spc="-5" dirty="0">
                <a:latin typeface="Times New Roman"/>
                <a:cs typeface="Times New Roman"/>
              </a:rPr>
              <a:t>w</a:t>
            </a:r>
            <a:r>
              <a:rPr sz="1400" i="1" spc="-5" dirty="0">
                <a:latin typeface="Times New Roman"/>
                <a:cs typeface="Times New Roman"/>
              </a:rPr>
              <a:t>12</a:t>
            </a:r>
            <a:r>
              <a:rPr sz="2000" i="1" spc="-5" dirty="0">
                <a:latin typeface="Times New Roman"/>
                <a:cs typeface="Times New Roman"/>
              </a:rPr>
              <a:t>X1</a:t>
            </a:r>
            <a:r>
              <a:rPr sz="2400" i="1" spc="-5" dirty="0">
                <a:latin typeface="Times New Roman"/>
                <a:cs typeface="Times New Roman"/>
              </a:rPr>
              <a:t>+w</a:t>
            </a:r>
            <a:r>
              <a:rPr sz="1400" i="1" spc="-5" dirty="0">
                <a:latin typeface="Times New Roman"/>
                <a:cs typeface="Times New Roman"/>
              </a:rPr>
              <a:t>22</a:t>
            </a:r>
            <a:r>
              <a:rPr sz="2000" i="1" spc="-5" dirty="0">
                <a:latin typeface="Times New Roman"/>
                <a:cs typeface="Times New Roman"/>
              </a:rPr>
              <a:t>X2+</a:t>
            </a:r>
            <a:r>
              <a:rPr sz="2400" i="1" spc="-5" dirty="0">
                <a:latin typeface="Times New Roman"/>
                <a:cs typeface="Times New Roman"/>
              </a:rPr>
              <a:t>w</a:t>
            </a:r>
            <a:r>
              <a:rPr sz="1400" i="1" spc="-5" dirty="0">
                <a:latin typeface="Times New Roman"/>
                <a:cs typeface="Times New Roman"/>
              </a:rPr>
              <a:t>32</a:t>
            </a:r>
            <a:r>
              <a:rPr sz="2000" i="1" spc="-5" dirty="0">
                <a:latin typeface="Times New Roman"/>
                <a:cs typeface="Times New Roman"/>
              </a:rPr>
              <a:t>X3+</a:t>
            </a:r>
            <a:r>
              <a:rPr sz="2400" i="1" spc="-5" dirty="0">
                <a:latin typeface="Times New Roman"/>
                <a:cs typeface="Times New Roman"/>
              </a:rPr>
              <a:t>w</a:t>
            </a:r>
            <a:r>
              <a:rPr sz="1400" i="1" spc="-5" dirty="0">
                <a:latin typeface="Times New Roman"/>
                <a:cs typeface="Times New Roman"/>
              </a:rPr>
              <a:t>42</a:t>
            </a:r>
            <a:r>
              <a:rPr sz="2000" i="1" spc="-5" dirty="0">
                <a:latin typeface="Times New Roman"/>
                <a:cs typeface="Times New Roman"/>
              </a:rPr>
              <a:t>X4+</a:t>
            </a:r>
            <a:r>
              <a:rPr sz="2400" i="1" spc="-5" dirty="0">
                <a:solidFill>
                  <a:srgbClr val="1F487C"/>
                </a:solidFill>
                <a:latin typeface="Times New Roman"/>
                <a:cs typeface="Times New Roman"/>
              </a:rPr>
              <a:t>b</a:t>
            </a:r>
            <a:r>
              <a:rPr sz="1400" i="1" spc="-5" dirty="0">
                <a:solidFill>
                  <a:srgbClr val="1F487C"/>
                </a:solidFill>
                <a:latin typeface="Times New Roman"/>
                <a:cs typeface="Times New Roman"/>
              </a:rPr>
              <a:t>2</a:t>
            </a:r>
            <a:r>
              <a:rPr sz="2000" i="1" spc="-5" dirty="0">
                <a:latin typeface="Times New Roman"/>
                <a:cs typeface="Times New Roman"/>
              </a:rPr>
              <a:t>))+</a:t>
            </a:r>
            <a:endParaRPr sz="2000" i="1" dirty="0">
              <a:latin typeface="Times New Roman"/>
              <a:cs typeface="Times New Roman"/>
            </a:endParaRPr>
          </a:p>
          <a:p>
            <a:pPr marL="12700" algn="ctr">
              <a:lnSpc>
                <a:spcPts val="2760"/>
              </a:lnSpc>
            </a:pPr>
            <a:r>
              <a:rPr sz="1400" i="1" spc="-5" dirty="0">
                <a:latin typeface="Times New Roman"/>
                <a:cs typeface="Times New Roman"/>
              </a:rPr>
              <a:t>+</a:t>
            </a:r>
            <a:r>
              <a:rPr sz="2400" i="1" spc="-5" dirty="0">
                <a:latin typeface="Times New Roman"/>
                <a:cs typeface="Times New Roman"/>
              </a:rPr>
              <a:t>w</a:t>
            </a:r>
            <a:r>
              <a:rPr sz="1400" i="1" spc="-5" dirty="0">
                <a:latin typeface="Times New Roman"/>
                <a:cs typeface="Times New Roman"/>
              </a:rPr>
              <a:t>3,out</a:t>
            </a:r>
            <a:r>
              <a:rPr sz="2000" i="1" spc="-5" dirty="0">
                <a:latin typeface="Times New Roman"/>
                <a:cs typeface="Times New Roman"/>
              </a:rPr>
              <a:t>(tanh(</a:t>
            </a:r>
            <a:r>
              <a:rPr sz="2400" i="1" spc="-5" dirty="0">
                <a:latin typeface="Times New Roman"/>
                <a:cs typeface="Times New Roman"/>
              </a:rPr>
              <a:t>w</a:t>
            </a:r>
            <a:r>
              <a:rPr sz="1400" i="1" spc="-5" dirty="0">
                <a:latin typeface="Times New Roman"/>
                <a:cs typeface="Times New Roman"/>
              </a:rPr>
              <a:t>13</a:t>
            </a:r>
            <a:r>
              <a:rPr sz="2000" i="1" spc="-5" dirty="0">
                <a:latin typeface="Times New Roman"/>
                <a:cs typeface="Times New Roman"/>
              </a:rPr>
              <a:t>X1</a:t>
            </a:r>
            <a:r>
              <a:rPr sz="2400" i="1" spc="-5" dirty="0">
                <a:latin typeface="Times New Roman"/>
                <a:cs typeface="Times New Roman"/>
              </a:rPr>
              <a:t>+w</a:t>
            </a:r>
            <a:r>
              <a:rPr sz="1400" i="1" spc="-5" dirty="0">
                <a:latin typeface="Times New Roman"/>
                <a:cs typeface="Times New Roman"/>
              </a:rPr>
              <a:t>23</a:t>
            </a:r>
            <a:r>
              <a:rPr sz="2000" i="1" spc="-5" dirty="0">
                <a:latin typeface="Times New Roman"/>
                <a:cs typeface="Times New Roman"/>
              </a:rPr>
              <a:t>X2+</a:t>
            </a:r>
            <a:r>
              <a:rPr sz="2400" i="1" spc="-5" dirty="0">
                <a:latin typeface="Times New Roman"/>
                <a:cs typeface="Times New Roman"/>
              </a:rPr>
              <a:t>w</a:t>
            </a:r>
            <a:r>
              <a:rPr sz="1400" i="1" spc="-5" dirty="0">
                <a:latin typeface="Times New Roman"/>
                <a:cs typeface="Times New Roman"/>
              </a:rPr>
              <a:t>33</a:t>
            </a:r>
            <a:r>
              <a:rPr sz="2000" i="1" spc="-5" dirty="0">
                <a:latin typeface="Times New Roman"/>
                <a:cs typeface="Times New Roman"/>
              </a:rPr>
              <a:t>X3+</a:t>
            </a:r>
            <a:r>
              <a:rPr sz="2400" i="1" spc="-5" dirty="0">
                <a:latin typeface="Times New Roman"/>
                <a:cs typeface="Times New Roman"/>
              </a:rPr>
              <a:t>w</a:t>
            </a:r>
            <a:r>
              <a:rPr sz="1400" i="1" spc="-5" dirty="0">
                <a:latin typeface="Times New Roman"/>
                <a:cs typeface="Times New Roman"/>
              </a:rPr>
              <a:t>43</a:t>
            </a:r>
            <a:r>
              <a:rPr sz="2000" i="1" spc="-5" dirty="0">
                <a:latin typeface="Times New Roman"/>
                <a:cs typeface="Times New Roman"/>
              </a:rPr>
              <a:t>X4+</a:t>
            </a:r>
            <a:r>
              <a:rPr sz="2400" i="1" spc="-5" dirty="0">
                <a:solidFill>
                  <a:srgbClr val="1F487C"/>
                </a:solidFill>
                <a:latin typeface="Times New Roman"/>
                <a:cs typeface="Times New Roman"/>
              </a:rPr>
              <a:t>b</a:t>
            </a:r>
            <a:r>
              <a:rPr sz="1400" i="1" spc="-5" dirty="0">
                <a:solidFill>
                  <a:srgbClr val="1F487C"/>
                </a:solidFill>
                <a:latin typeface="Times New Roman"/>
                <a:cs typeface="Times New Roman"/>
              </a:rPr>
              <a:t>3</a:t>
            </a:r>
            <a:r>
              <a:rPr sz="2000" i="1" spc="-5" dirty="0">
                <a:latin typeface="Times New Roman"/>
                <a:cs typeface="Times New Roman"/>
              </a:rPr>
              <a:t>))+</a:t>
            </a:r>
            <a:endParaRPr sz="2000" i="1" dirty="0">
              <a:latin typeface="Times New Roman"/>
              <a:cs typeface="Times New Roman"/>
            </a:endParaRPr>
          </a:p>
          <a:p>
            <a:pPr marL="12700" algn="ctr">
              <a:lnSpc>
                <a:spcPts val="2760"/>
              </a:lnSpc>
            </a:pPr>
            <a:r>
              <a:rPr sz="1400" i="1" spc="-5" dirty="0">
                <a:latin typeface="Times New Roman"/>
                <a:cs typeface="Times New Roman"/>
              </a:rPr>
              <a:t>+</a:t>
            </a:r>
            <a:r>
              <a:rPr sz="2400" i="1" spc="-5" dirty="0">
                <a:latin typeface="Times New Roman"/>
                <a:cs typeface="Times New Roman"/>
              </a:rPr>
              <a:t>w</a:t>
            </a:r>
            <a:r>
              <a:rPr sz="1400" i="1" spc="-5" dirty="0">
                <a:latin typeface="Times New Roman"/>
                <a:cs typeface="Times New Roman"/>
              </a:rPr>
              <a:t>4,out</a:t>
            </a:r>
            <a:r>
              <a:rPr sz="2000" i="1" spc="-5" dirty="0">
                <a:latin typeface="Times New Roman"/>
                <a:cs typeface="Times New Roman"/>
              </a:rPr>
              <a:t>(</a:t>
            </a:r>
            <a:r>
              <a:rPr sz="2000" i="1" spc="-5" dirty="0" err="1">
                <a:latin typeface="Times New Roman"/>
                <a:cs typeface="Times New Roman"/>
              </a:rPr>
              <a:t>tanh</a:t>
            </a:r>
            <a:r>
              <a:rPr sz="2000" i="1" spc="-5" dirty="0">
                <a:latin typeface="Times New Roman"/>
                <a:cs typeface="Times New Roman"/>
              </a:rPr>
              <a:t>(</a:t>
            </a:r>
            <a:r>
              <a:rPr sz="2400" i="1" spc="-5" dirty="0">
                <a:latin typeface="Times New Roman"/>
                <a:cs typeface="Times New Roman"/>
              </a:rPr>
              <a:t>w</a:t>
            </a:r>
            <a:r>
              <a:rPr sz="1400" i="1" spc="-5" dirty="0">
                <a:latin typeface="Times New Roman"/>
                <a:cs typeface="Times New Roman"/>
              </a:rPr>
              <a:t>14</a:t>
            </a:r>
            <a:r>
              <a:rPr sz="2000" i="1" spc="-5" dirty="0">
                <a:latin typeface="Times New Roman"/>
                <a:cs typeface="Times New Roman"/>
              </a:rPr>
              <a:t>X1</a:t>
            </a:r>
            <a:r>
              <a:rPr sz="2400" i="1" spc="-5" dirty="0">
                <a:latin typeface="Times New Roman"/>
                <a:cs typeface="Times New Roman"/>
              </a:rPr>
              <a:t>+w</a:t>
            </a:r>
            <a:r>
              <a:rPr sz="1400" i="1" spc="-5" dirty="0">
                <a:latin typeface="Times New Roman"/>
                <a:cs typeface="Times New Roman"/>
              </a:rPr>
              <a:t>24</a:t>
            </a:r>
            <a:r>
              <a:rPr sz="2000" i="1" spc="-5" dirty="0">
                <a:latin typeface="Times New Roman"/>
                <a:cs typeface="Times New Roman"/>
              </a:rPr>
              <a:t>X2+</a:t>
            </a:r>
            <a:r>
              <a:rPr sz="2400" i="1" spc="-5" dirty="0">
                <a:latin typeface="Times New Roman"/>
                <a:cs typeface="Times New Roman"/>
              </a:rPr>
              <a:t>w</a:t>
            </a:r>
            <a:r>
              <a:rPr sz="1400" i="1" spc="-5" dirty="0">
                <a:latin typeface="Times New Roman"/>
                <a:cs typeface="Times New Roman"/>
              </a:rPr>
              <a:t>34</a:t>
            </a:r>
            <a:r>
              <a:rPr sz="2000" i="1" spc="-5" dirty="0">
                <a:latin typeface="Times New Roman"/>
                <a:cs typeface="Times New Roman"/>
              </a:rPr>
              <a:t>X3+</a:t>
            </a:r>
            <a:r>
              <a:rPr sz="2400" i="1" spc="-5" dirty="0">
                <a:latin typeface="Times New Roman"/>
                <a:cs typeface="Times New Roman"/>
              </a:rPr>
              <a:t>w</a:t>
            </a:r>
            <a:r>
              <a:rPr sz="1400" i="1" spc="-5" dirty="0">
                <a:latin typeface="Times New Roman"/>
                <a:cs typeface="Times New Roman"/>
              </a:rPr>
              <a:t>44</a:t>
            </a:r>
            <a:r>
              <a:rPr sz="2000" i="1" spc="-5" dirty="0">
                <a:latin typeface="Times New Roman"/>
                <a:cs typeface="Times New Roman"/>
              </a:rPr>
              <a:t>X4+</a:t>
            </a:r>
            <a:r>
              <a:rPr sz="2400" i="1" spc="-5" dirty="0">
                <a:solidFill>
                  <a:srgbClr val="1F487C"/>
                </a:solidFill>
                <a:latin typeface="Times New Roman"/>
                <a:cs typeface="Times New Roman"/>
              </a:rPr>
              <a:t>b</a:t>
            </a:r>
            <a:r>
              <a:rPr sz="1400" i="1" spc="-5" dirty="0">
                <a:solidFill>
                  <a:srgbClr val="1F487C"/>
                </a:solidFill>
                <a:latin typeface="Times New Roman"/>
                <a:cs typeface="Times New Roman"/>
              </a:rPr>
              <a:t>4</a:t>
            </a:r>
            <a:r>
              <a:rPr sz="2000" i="1" spc="-5" dirty="0" smtClean="0">
                <a:latin typeface="Times New Roman"/>
                <a:cs typeface="Times New Roman"/>
              </a:rPr>
              <a:t>))+</a:t>
            </a:r>
            <a:r>
              <a:rPr sz="2400" i="1" spc="-5" dirty="0" smtClean="0">
                <a:solidFill>
                  <a:srgbClr val="1F487C"/>
                </a:solidFill>
                <a:latin typeface="Times New Roman"/>
                <a:cs typeface="Times New Roman"/>
              </a:rPr>
              <a:t>b</a:t>
            </a:r>
            <a:r>
              <a:rPr sz="1400" i="1" spc="-5" dirty="0" smtClean="0">
                <a:solidFill>
                  <a:srgbClr val="1F487C"/>
                </a:solidFill>
                <a:latin typeface="Times New Roman"/>
                <a:cs typeface="Times New Roman"/>
              </a:rPr>
              <a:t>out</a:t>
            </a:r>
            <a:r>
              <a:rPr sz="2000" i="1" spc="-5" dirty="0" smtClean="0">
                <a:latin typeface="Times New Roman"/>
                <a:cs typeface="Times New Roman"/>
              </a:rPr>
              <a:t>)</a:t>
            </a:r>
            <a:endParaRPr lang="es-ES" sz="2000" i="1" spc="-5" dirty="0" smtClean="0">
              <a:latin typeface="Times New Roman"/>
              <a:cs typeface="Times New Roman"/>
            </a:endParaRPr>
          </a:p>
          <a:p>
            <a:pPr marL="12700" algn="ctr">
              <a:lnSpc>
                <a:spcPts val="2760"/>
              </a:lnSpc>
            </a:pPr>
            <a:endParaRPr sz="2000" i="1" dirty="0">
              <a:latin typeface="Times New Roman"/>
              <a:cs typeface="Times New Roman"/>
            </a:endParaRPr>
          </a:p>
          <a:p>
            <a:pPr marL="12700">
              <a:lnSpc>
                <a:spcPts val="4140"/>
              </a:lnSpc>
            </a:pPr>
            <a:r>
              <a:rPr dirty="0">
                <a:solidFill>
                  <a:srgbClr val="FF0000"/>
                </a:solidFill>
                <a:latin typeface="Times New Roman"/>
                <a:cs typeface="Times New Roman"/>
              </a:rPr>
              <a:t>podría funcionar mejor que el </a:t>
            </a:r>
            <a:r>
              <a:rPr b="1" dirty="0">
                <a:solidFill>
                  <a:srgbClr val="FF0000"/>
                </a:solidFill>
                <a:latin typeface="Times New Roman"/>
                <a:cs typeface="Times New Roman"/>
              </a:rPr>
              <a:t>(sencillo, bonito, clásico, </a:t>
            </a:r>
            <a:r>
              <a:rPr b="1" dirty="0" err="1" smtClean="0">
                <a:solidFill>
                  <a:srgbClr val="FF0000"/>
                </a:solidFill>
                <a:latin typeface="Times New Roman"/>
                <a:cs typeface="Times New Roman"/>
              </a:rPr>
              <a:t>conocido</a:t>
            </a:r>
            <a:r>
              <a:rPr b="1" dirty="0" smtClean="0">
                <a:solidFill>
                  <a:srgbClr val="FF0000"/>
                </a:solidFill>
                <a:latin typeface="Times New Roman"/>
                <a:cs typeface="Times New Roman"/>
              </a:rPr>
              <a:t>)</a:t>
            </a:r>
            <a:r>
              <a:rPr lang="es-ES" dirty="0" smtClean="0">
                <a:solidFill>
                  <a:srgbClr val="FF0000"/>
                </a:solidFill>
                <a:latin typeface="Times New Roman"/>
                <a:cs typeface="Times New Roman"/>
              </a:rPr>
              <a:t> </a:t>
            </a:r>
            <a:r>
              <a:rPr dirty="0" err="1" smtClean="0">
                <a:solidFill>
                  <a:srgbClr val="FF0000"/>
                </a:solidFill>
                <a:latin typeface="Times New Roman"/>
                <a:cs typeface="Times New Roman"/>
              </a:rPr>
              <a:t>modelo</a:t>
            </a:r>
            <a:r>
              <a:rPr dirty="0" smtClean="0">
                <a:solidFill>
                  <a:srgbClr val="FF0000"/>
                </a:solidFill>
                <a:latin typeface="Times New Roman"/>
                <a:cs typeface="Times New Roman"/>
              </a:rPr>
              <a:t> </a:t>
            </a:r>
            <a:r>
              <a:rPr dirty="0">
                <a:solidFill>
                  <a:srgbClr val="FF0000"/>
                </a:solidFill>
                <a:latin typeface="Times New Roman"/>
                <a:cs typeface="Times New Roman"/>
              </a:rPr>
              <a:t>básico de </a:t>
            </a:r>
            <a:r>
              <a:rPr dirty="0" err="1" smtClean="0">
                <a:solidFill>
                  <a:srgbClr val="FF0000"/>
                </a:solidFill>
                <a:latin typeface="Times New Roman"/>
                <a:cs typeface="Times New Roman"/>
              </a:rPr>
              <a:t>regresión</a:t>
            </a:r>
            <a:r>
              <a:rPr lang="es-ES" dirty="0" smtClean="0">
                <a:solidFill>
                  <a:srgbClr val="FF0000"/>
                </a:solidFill>
                <a:latin typeface="Times New Roman"/>
                <a:cs typeface="Times New Roman"/>
              </a:rPr>
              <a:t>???</a:t>
            </a:r>
            <a:endParaRPr dirty="0">
              <a:solidFill>
                <a:srgbClr val="FF0000"/>
              </a:solidFill>
              <a:latin typeface="Times New Roman"/>
              <a:cs typeface="Times New Roman"/>
            </a:endParaRPr>
          </a:p>
        </p:txBody>
      </p:sp>
      <p:sp>
        <p:nvSpPr>
          <p:cNvPr id="4" name="object 4"/>
          <p:cNvSpPr txBox="1"/>
          <p:nvPr/>
        </p:nvSpPr>
        <p:spPr>
          <a:xfrm>
            <a:off x="3616199" y="4845359"/>
            <a:ext cx="3431540" cy="391160"/>
          </a:xfrm>
          <a:prstGeom prst="rect">
            <a:avLst/>
          </a:prstGeom>
        </p:spPr>
        <p:txBody>
          <a:bodyPr vert="horz" wrap="square" lIns="0" tIns="12700" rIns="0" bIns="0" rtlCol="0">
            <a:spAutoFit/>
          </a:bodyPr>
          <a:lstStyle/>
          <a:p>
            <a:pPr marL="12700">
              <a:lnSpc>
                <a:spcPct val="100000"/>
              </a:lnSpc>
              <a:spcBef>
                <a:spcPts val="100"/>
              </a:spcBef>
            </a:pPr>
            <a:r>
              <a:rPr sz="2000" i="1" spc="-5" dirty="0">
                <a:latin typeface="Times New Roman"/>
                <a:cs typeface="Times New Roman"/>
              </a:rPr>
              <a:t>Y=</a:t>
            </a:r>
            <a:r>
              <a:rPr sz="2400" i="1" spc="-5" dirty="0">
                <a:solidFill>
                  <a:srgbClr val="1F487C"/>
                </a:solidFill>
                <a:latin typeface="Times New Roman"/>
                <a:cs typeface="Times New Roman"/>
              </a:rPr>
              <a:t>b</a:t>
            </a:r>
            <a:r>
              <a:rPr sz="1400" i="1" spc="-5" dirty="0">
                <a:solidFill>
                  <a:srgbClr val="1F487C"/>
                </a:solidFill>
                <a:latin typeface="Times New Roman"/>
                <a:cs typeface="Times New Roman"/>
              </a:rPr>
              <a:t>0</a:t>
            </a:r>
            <a:r>
              <a:rPr sz="2400" i="1" spc="-5" dirty="0">
                <a:latin typeface="Times New Roman"/>
                <a:cs typeface="Times New Roman"/>
              </a:rPr>
              <a:t>+</a:t>
            </a:r>
            <a:r>
              <a:rPr sz="2400" i="1" spc="-5" dirty="0">
                <a:solidFill>
                  <a:srgbClr val="1F487C"/>
                </a:solidFill>
                <a:latin typeface="Times New Roman"/>
                <a:cs typeface="Times New Roman"/>
              </a:rPr>
              <a:t>b</a:t>
            </a:r>
            <a:r>
              <a:rPr sz="1400" i="1" spc="-5" dirty="0">
                <a:solidFill>
                  <a:srgbClr val="1F487C"/>
                </a:solidFill>
                <a:latin typeface="Times New Roman"/>
                <a:cs typeface="Times New Roman"/>
              </a:rPr>
              <a:t>1</a:t>
            </a:r>
            <a:r>
              <a:rPr sz="2000" i="1" spc="-5" dirty="0">
                <a:latin typeface="Times New Roman"/>
                <a:cs typeface="Times New Roman"/>
              </a:rPr>
              <a:t>X1</a:t>
            </a:r>
            <a:r>
              <a:rPr sz="2400" i="1" spc="-5" dirty="0">
                <a:latin typeface="Times New Roman"/>
                <a:cs typeface="Times New Roman"/>
              </a:rPr>
              <a:t>+</a:t>
            </a:r>
            <a:r>
              <a:rPr sz="2400" i="1" spc="-5" dirty="0">
                <a:solidFill>
                  <a:srgbClr val="1F487C"/>
                </a:solidFill>
                <a:latin typeface="Times New Roman"/>
                <a:cs typeface="Times New Roman"/>
              </a:rPr>
              <a:t>b</a:t>
            </a:r>
            <a:r>
              <a:rPr sz="1400" i="1" spc="-5" dirty="0">
                <a:solidFill>
                  <a:srgbClr val="1F487C"/>
                </a:solidFill>
                <a:latin typeface="Times New Roman"/>
                <a:cs typeface="Times New Roman"/>
              </a:rPr>
              <a:t>2</a:t>
            </a:r>
            <a:r>
              <a:rPr sz="2000" i="1" spc="-5" dirty="0">
                <a:latin typeface="Times New Roman"/>
                <a:cs typeface="Times New Roman"/>
              </a:rPr>
              <a:t>X2+</a:t>
            </a:r>
            <a:r>
              <a:rPr sz="2400" i="1" spc="-5" dirty="0">
                <a:solidFill>
                  <a:srgbClr val="1F487C"/>
                </a:solidFill>
                <a:latin typeface="Times New Roman"/>
                <a:cs typeface="Times New Roman"/>
              </a:rPr>
              <a:t>b</a:t>
            </a:r>
            <a:r>
              <a:rPr sz="1400" i="1" spc="-5" dirty="0">
                <a:solidFill>
                  <a:srgbClr val="1F487C"/>
                </a:solidFill>
                <a:latin typeface="Times New Roman"/>
                <a:cs typeface="Times New Roman"/>
              </a:rPr>
              <a:t>3</a:t>
            </a:r>
            <a:r>
              <a:rPr sz="2000" i="1" spc="-5" dirty="0">
                <a:latin typeface="Times New Roman"/>
                <a:cs typeface="Times New Roman"/>
              </a:rPr>
              <a:t>X3+</a:t>
            </a:r>
            <a:r>
              <a:rPr sz="2400" i="1" spc="-5" dirty="0">
                <a:solidFill>
                  <a:srgbClr val="1F487C"/>
                </a:solidFill>
                <a:latin typeface="Times New Roman"/>
                <a:cs typeface="Times New Roman"/>
              </a:rPr>
              <a:t>b</a:t>
            </a:r>
            <a:r>
              <a:rPr sz="1400" i="1" spc="-5" dirty="0">
                <a:solidFill>
                  <a:srgbClr val="1F487C"/>
                </a:solidFill>
                <a:latin typeface="Times New Roman"/>
                <a:cs typeface="Times New Roman"/>
              </a:rPr>
              <a:t>4</a:t>
            </a:r>
            <a:r>
              <a:rPr sz="2000" i="1" spc="-5" dirty="0">
                <a:latin typeface="Times New Roman"/>
                <a:cs typeface="Times New Roman"/>
              </a:rPr>
              <a:t>X4</a:t>
            </a:r>
            <a:endParaRPr sz="2000" i="1" dirty="0">
              <a:latin typeface="Times New Roman"/>
              <a:cs typeface="Times New Roman"/>
            </a:endParaRPr>
          </a:p>
        </p:txBody>
      </p:sp>
      <p:sp>
        <p:nvSpPr>
          <p:cNvPr id="6" name="CuadroTexto 5"/>
          <p:cNvSpPr txBox="1"/>
          <p:nvPr/>
        </p:nvSpPr>
        <p:spPr>
          <a:xfrm>
            <a:off x="2527300" y="5610225"/>
            <a:ext cx="5543184" cy="461665"/>
          </a:xfrm>
          <a:prstGeom prst="rect">
            <a:avLst/>
          </a:prstGeom>
          <a:noFill/>
        </p:spPr>
        <p:txBody>
          <a:bodyPr wrap="none" rtlCol="0">
            <a:spAutoFit/>
          </a:bodyPr>
          <a:lstStyle/>
          <a:p>
            <a:r>
              <a:rPr lang="es-ES" sz="2400" b="1" dirty="0" smtClean="0">
                <a:solidFill>
                  <a:srgbClr val="FF0000"/>
                </a:solidFill>
              </a:rPr>
              <a:t>TEOREMA DE APROXIMACIÓN UNIVERSAL</a:t>
            </a:r>
            <a:endParaRPr lang="es-ES" b="1" dirty="0">
              <a:solidFill>
                <a:srgbClr val="FF0000"/>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4700" y="314959"/>
            <a:ext cx="9220200" cy="566822"/>
          </a:xfrm>
          <a:prstGeom prst="rect">
            <a:avLst/>
          </a:prstGeom>
        </p:spPr>
        <p:txBody>
          <a:bodyPr vert="horz" wrap="square" lIns="0" tIns="12700" rIns="0" bIns="0" rtlCol="0">
            <a:spAutoFit/>
          </a:bodyPr>
          <a:lstStyle/>
          <a:p>
            <a:pPr marL="12700" algn="ctr">
              <a:lnSpc>
                <a:spcPct val="100000"/>
              </a:lnSpc>
              <a:spcBef>
                <a:spcPts val="100"/>
              </a:spcBef>
            </a:pPr>
            <a:r>
              <a:rPr lang="es-ES" sz="3600" dirty="0" smtClean="0">
                <a:solidFill>
                  <a:schemeClr val="tx2">
                    <a:lumMod val="60000"/>
                    <a:lumOff val="40000"/>
                  </a:schemeClr>
                </a:solidFill>
              </a:rPr>
              <a:t>¿Por qué funcionan bien las redes neuronales?</a:t>
            </a:r>
            <a:endParaRPr sz="3600" dirty="0">
              <a:solidFill>
                <a:schemeClr val="tx2">
                  <a:lumMod val="60000"/>
                  <a:lumOff val="40000"/>
                </a:schemeClr>
              </a:solidFill>
            </a:endParaRPr>
          </a:p>
        </p:txBody>
      </p:sp>
      <p:sp>
        <p:nvSpPr>
          <p:cNvPr id="9" name="Rectángulo 8"/>
          <p:cNvSpPr/>
          <p:nvPr/>
        </p:nvSpPr>
        <p:spPr>
          <a:xfrm>
            <a:off x="463550" y="1288197"/>
            <a:ext cx="9842500" cy="5324535"/>
          </a:xfrm>
          <a:prstGeom prst="rect">
            <a:avLst/>
          </a:prstGeom>
        </p:spPr>
        <p:txBody>
          <a:bodyPr wrap="square">
            <a:spAutoFit/>
          </a:bodyPr>
          <a:lstStyle/>
          <a:p>
            <a:pPr marL="342900" indent="-342900" algn="just">
              <a:buFont typeface="Arial" panose="020B0604020202020204" pitchFamily="34" charset="0"/>
              <a:buChar char="•"/>
            </a:pPr>
            <a:r>
              <a:rPr lang="es-ES" sz="2000" dirty="0" smtClean="0">
                <a:solidFill>
                  <a:srgbClr val="374151"/>
                </a:solidFill>
                <a:latin typeface="+mj-lt"/>
              </a:rPr>
              <a:t>Alta capacidad </a:t>
            </a:r>
            <a:r>
              <a:rPr lang="es-ES" sz="2000" dirty="0">
                <a:solidFill>
                  <a:srgbClr val="374151"/>
                </a:solidFill>
                <a:latin typeface="+mj-lt"/>
              </a:rPr>
              <a:t>para </a:t>
            </a:r>
            <a:r>
              <a:rPr lang="es-ES" sz="2000" b="1" dirty="0">
                <a:solidFill>
                  <a:srgbClr val="374151"/>
                </a:solidFill>
                <a:latin typeface="+mj-lt"/>
              </a:rPr>
              <a:t>aprender</a:t>
            </a:r>
            <a:r>
              <a:rPr lang="es-ES" sz="2000" dirty="0">
                <a:solidFill>
                  <a:srgbClr val="374151"/>
                </a:solidFill>
                <a:latin typeface="+mj-lt"/>
              </a:rPr>
              <a:t> y </a:t>
            </a:r>
            <a:r>
              <a:rPr lang="es-ES" sz="2000" b="1" dirty="0">
                <a:solidFill>
                  <a:srgbClr val="374151"/>
                </a:solidFill>
                <a:latin typeface="+mj-lt"/>
              </a:rPr>
              <a:t>adaptarse </a:t>
            </a:r>
            <a:r>
              <a:rPr lang="es-ES" sz="2000" dirty="0">
                <a:solidFill>
                  <a:srgbClr val="374151"/>
                </a:solidFill>
                <a:latin typeface="+mj-lt"/>
              </a:rPr>
              <a:t>a partir de los datos de entrada que se les proporcionan. </a:t>
            </a:r>
            <a:r>
              <a:rPr lang="es-ES" sz="2000" dirty="0" smtClean="0">
                <a:solidFill>
                  <a:srgbClr val="374151"/>
                </a:solidFill>
                <a:latin typeface="+mj-lt"/>
              </a:rPr>
              <a:t>Su </a:t>
            </a:r>
            <a:r>
              <a:rPr lang="es-ES" sz="2000" b="1" dirty="0" smtClean="0">
                <a:solidFill>
                  <a:srgbClr val="374151"/>
                </a:solidFill>
                <a:latin typeface="+mj-lt"/>
              </a:rPr>
              <a:t>estructura</a:t>
            </a:r>
            <a:r>
              <a:rPr lang="es-ES" sz="2000" dirty="0" smtClean="0">
                <a:solidFill>
                  <a:srgbClr val="374151"/>
                </a:solidFill>
                <a:latin typeface="+mj-lt"/>
              </a:rPr>
              <a:t>, basada en la </a:t>
            </a:r>
            <a:r>
              <a:rPr lang="es-ES" sz="2000" dirty="0">
                <a:solidFill>
                  <a:srgbClr val="374151"/>
                </a:solidFill>
                <a:latin typeface="+mj-lt"/>
              </a:rPr>
              <a:t>organización en capas de neuronas interconectadas y la capacidad de </a:t>
            </a:r>
            <a:r>
              <a:rPr lang="es-ES" sz="2000" b="1" dirty="0">
                <a:solidFill>
                  <a:srgbClr val="374151"/>
                </a:solidFill>
                <a:latin typeface="+mj-lt"/>
              </a:rPr>
              <a:t>ajustar los pesos</a:t>
            </a:r>
            <a:r>
              <a:rPr lang="es-ES" sz="2000" dirty="0">
                <a:solidFill>
                  <a:srgbClr val="374151"/>
                </a:solidFill>
                <a:latin typeface="+mj-lt"/>
              </a:rPr>
              <a:t> de las conexiones entre ellas</a:t>
            </a:r>
            <a:r>
              <a:rPr lang="es-ES" sz="2000" dirty="0" smtClean="0">
                <a:solidFill>
                  <a:srgbClr val="374151"/>
                </a:solidFill>
                <a:latin typeface="+mj-lt"/>
              </a:rPr>
              <a:t>.</a:t>
            </a:r>
          </a:p>
          <a:p>
            <a:pPr marL="342900" indent="-342900" algn="just">
              <a:buFont typeface="Arial" panose="020B0604020202020204" pitchFamily="34" charset="0"/>
              <a:buChar char="•"/>
            </a:pPr>
            <a:endParaRPr lang="es-ES" sz="2000" dirty="0">
              <a:solidFill>
                <a:srgbClr val="374151"/>
              </a:solidFill>
              <a:latin typeface="+mj-lt"/>
            </a:endParaRPr>
          </a:p>
          <a:p>
            <a:pPr marL="342900" indent="-342900" algn="just">
              <a:buFont typeface="Arial" panose="020B0604020202020204" pitchFamily="34" charset="0"/>
              <a:buChar char="•"/>
            </a:pPr>
            <a:r>
              <a:rPr lang="es-ES" sz="2000" dirty="0">
                <a:solidFill>
                  <a:srgbClr val="374151"/>
                </a:solidFill>
                <a:latin typeface="+mj-lt"/>
              </a:rPr>
              <a:t>Cuando se </a:t>
            </a:r>
            <a:r>
              <a:rPr lang="es-ES" sz="2000" b="1" dirty="0">
                <a:solidFill>
                  <a:srgbClr val="374151"/>
                </a:solidFill>
                <a:latin typeface="+mj-lt"/>
              </a:rPr>
              <a:t>entrena</a:t>
            </a:r>
            <a:r>
              <a:rPr lang="es-ES" sz="2000" dirty="0">
                <a:solidFill>
                  <a:srgbClr val="374151"/>
                </a:solidFill>
                <a:latin typeface="+mj-lt"/>
              </a:rPr>
              <a:t> una red neuronal, se proporcionan </a:t>
            </a:r>
            <a:r>
              <a:rPr lang="es-ES" sz="2000" b="1" dirty="0">
                <a:solidFill>
                  <a:srgbClr val="374151"/>
                </a:solidFill>
                <a:latin typeface="+mj-lt"/>
              </a:rPr>
              <a:t>datos de entrada</a:t>
            </a:r>
            <a:r>
              <a:rPr lang="es-ES" sz="2000" dirty="0">
                <a:solidFill>
                  <a:srgbClr val="374151"/>
                </a:solidFill>
                <a:latin typeface="+mj-lt"/>
              </a:rPr>
              <a:t> y se comparan con los </a:t>
            </a:r>
            <a:r>
              <a:rPr lang="es-ES" sz="2000" b="1" dirty="0">
                <a:solidFill>
                  <a:srgbClr val="374151"/>
                </a:solidFill>
                <a:latin typeface="+mj-lt"/>
              </a:rPr>
              <a:t>resultados</a:t>
            </a:r>
            <a:r>
              <a:rPr lang="es-ES" sz="2000" dirty="0">
                <a:solidFill>
                  <a:srgbClr val="374151"/>
                </a:solidFill>
                <a:latin typeface="+mj-lt"/>
              </a:rPr>
              <a:t> de salida esperados. </a:t>
            </a:r>
            <a:endParaRPr lang="es-ES" sz="2000" dirty="0" smtClean="0">
              <a:solidFill>
                <a:srgbClr val="374151"/>
              </a:solidFill>
              <a:latin typeface="+mj-lt"/>
            </a:endParaRPr>
          </a:p>
          <a:p>
            <a:pPr algn="just"/>
            <a:endParaRPr lang="es-ES" sz="2000" dirty="0" smtClean="0">
              <a:solidFill>
                <a:srgbClr val="374151"/>
              </a:solidFill>
              <a:latin typeface="+mj-lt"/>
            </a:endParaRPr>
          </a:p>
          <a:p>
            <a:pPr marL="342900" indent="-342900" algn="just">
              <a:buFont typeface="Arial" panose="020B0604020202020204" pitchFamily="34" charset="0"/>
              <a:buChar char="•"/>
            </a:pPr>
            <a:r>
              <a:rPr lang="es-ES" sz="2000" dirty="0" smtClean="0">
                <a:solidFill>
                  <a:srgbClr val="374151"/>
                </a:solidFill>
                <a:latin typeface="+mj-lt"/>
              </a:rPr>
              <a:t>La </a:t>
            </a:r>
            <a:r>
              <a:rPr lang="es-ES" sz="2000" dirty="0">
                <a:solidFill>
                  <a:srgbClr val="374151"/>
                </a:solidFill>
                <a:latin typeface="+mj-lt"/>
              </a:rPr>
              <a:t>red </a:t>
            </a:r>
            <a:r>
              <a:rPr lang="es-ES" sz="2000" b="1" dirty="0">
                <a:solidFill>
                  <a:srgbClr val="374151"/>
                </a:solidFill>
                <a:latin typeface="+mj-lt"/>
              </a:rPr>
              <a:t>ajusta</a:t>
            </a:r>
            <a:r>
              <a:rPr lang="es-ES" sz="2000" dirty="0">
                <a:solidFill>
                  <a:srgbClr val="374151"/>
                </a:solidFill>
                <a:latin typeface="+mj-lt"/>
              </a:rPr>
              <a:t> continuamente los </a:t>
            </a:r>
            <a:r>
              <a:rPr lang="es-ES" sz="2000" b="1" dirty="0">
                <a:solidFill>
                  <a:srgbClr val="374151"/>
                </a:solidFill>
                <a:latin typeface="+mj-lt"/>
              </a:rPr>
              <a:t>pesos </a:t>
            </a:r>
            <a:r>
              <a:rPr lang="es-ES" sz="2000" dirty="0">
                <a:solidFill>
                  <a:srgbClr val="374151"/>
                </a:solidFill>
                <a:latin typeface="+mj-lt"/>
              </a:rPr>
              <a:t>de sus conexiones y el </a:t>
            </a:r>
            <a:r>
              <a:rPr lang="es-ES" sz="2000" b="1" dirty="0">
                <a:solidFill>
                  <a:srgbClr val="374151"/>
                </a:solidFill>
                <a:latin typeface="+mj-lt"/>
              </a:rPr>
              <a:t>sesgo</a:t>
            </a:r>
            <a:r>
              <a:rPr lang="es-ES" sz="2000" dirty="0">
                <a:solidFill>
                  <a:srgbClr val="374151"/>
                </a:solidFill>
                <a:latin typeface="+mj-lt"/>
              </a:rPr>
              <a:t> de cada neurona para minimizar el error en la salida y mejorar su capacidad para realizar tareas específicas. </a:t>
            </a:r>
            <a:endParaRPr lang="es-ES" sz="2000" dirty="0" smtClean="0">
              <a:solidFill>
                <a:srgbClr val="374151"/>
              </a:solidFill>
              <a:latin typeface="+mj-lt"/>
            </a:endParaRPr>
          </a:p>
          <a:p>
            <a:pPr algn="just"/>
            <a:endParaRPr lang="es-ES" sz="2000" dirty="0" smtClean="0">
              <a:solidFill>
                <a:srgbClr val="374151"/>
              </a:solidFill>
              <a:latin typeface="+mj-lt"/>
            </a:endParaRPr>
          </a:p>
          <a:p>
            <a:pPr marL="342900" indent="-342900" algn="just">
              <a:buFont typeface="Arial" panose="020B0604020202020204" pitchFamily="34" charset="0"/>
              <a:buChar char="•"/>
            </a:pPr>
            <a:r>
              <a:rPr lang="es-ES" sz="2000" dirty="0" smtClean="0">
                <a:solidFill>
                  <a:srgbClr val="374151"/>
                </a:solidFill>
                <a:latin typeface="+mj-lt"/>
              </a:rPr>
              <a:t>A </a:t>
            </a:r>
            <a:r>
              <a:rPr lang="es-ES" sz="2000" dirty="0">
                <a:solidFill>
                  <a:srgbClr val="374151"/>
                </a:solidFill>
                <a:latin typeface="+mj-lt"/>
              </a:rPr>
              <a:t>medida que se entrena la red con más datos y se ajustan los pesos de sus conexiones, la red puede aprender a reconocer patrones en los datos de entrada y realizar tareas complejas con mayor precisión</a:t>
            </a:r>
            <a:r>
              <a:rPr lang="es-ES" sz="2000" dirty="0" smtClean="0">
                <a:solidFill>
                  <a:srgbClr val="374151"/>
                </a:solidFill>
                <a:latin typeface="+mj-lt"/>
              </a:rPr>
              <a:t>.</a:t>
            </a:r>
          </a:p>
          <a:p>
            <a:pPr algn="just"/>
            <a:endParaRPr lang="es-ES" sz="2000" dirty="0">
              <a:solidFill>
                <a:srgbClr val="374151"/>
              </a:solidFill>
              <a:latin typeface="+mj-lt"/>
            </a:endParaRPr>
          </a:p>
          <a:p>
            <a:pPr marL="342900" indent="-342900" algn="just">
              <a:buFont typeface="Arial" panose="020B0604020202020204" pitchFamily="34" charset="0"/>
              <a:buChar char="•"/>
            </a:pPr>
            <a:r>
              <a:rPr lang="es-ES" sz="2000" b="1" dirty="0" smtClean="0">
                <a:solidFill>
                  <a:srgbClr val="374151"/>
                </a:solidFill>
                <a:latin typeface="+mj-lt"/>
              </a:rPr>
              <a:t>Alta </a:t>
            </a:r>
            <a:r>
              <a:rPr lang="es-ES" sz="2000" b="1" dirty="0">
                <a:solidFill>
                  <a:srgbClr val="374151"/>
                </a:solidFill>
                <a:latin typeface="+mj-lt"/>
              </a:rPr>
              <a:t>capacidad de </a:t>
            </a:r>
            <a:r>
              <a:rPr lang="es-ES" sz="2000" b="1" dirty="0" smtClean="0">
                <a:solidFill>
                  <a:srgbClr val="374151"/>
                </a:solidFill>
                <a:latin typeface="+mj-lt"/>
              </a:rPr>
              <a:t>generalización</a:t>
            </a:r>
            <a:r>
              <a:rPr lang="es-ES" sz="2000" dirty="0" smtClean="0">
                <a:solidFill>
                  <a:srgbClr val="374151"/>
                </a:solidFill>
                <a:latin typeface="+mj-lt"/>
              </a:rPr>
              <a:t> </a:t>
            </a:r>
            <a:r>
              <a:rPr lang="es-ES" sz="2000" dirty="0">
                <a:solidFill>
                  <a:srgbClr val="374151"/>
                </a:solidFill>
                <a:latin typeface="+mj-lt"/>
              </a:rPr>
              <a:t>a partir de los datos de entrenamiento para realizar predicciones o clasificar nuevos datos de </a:t>
            </a:r>
            <a:r>
              <a:rPr lang="es-ES" sz="2000" dirty="0" smtClean="0">
                <a:solidFill>
                  <a:srgbClr val="374151"/>
                </a:solidFill>
                <a:latin typeface="+mj-lt"/>
              </a:rPr>
              <a:t>entrada: puede </a:t>
            </a:r>
            <a:r>
              <a:rPr lang="es-ES" sz="2000" dirty="0">
                <a:solidFill>
                  <a:srgbClr val="374151"/>
                </a:solidFill>
                <a:latin typeface="+mj-lt"/>
              </a:rPr>
              <a:t>aplicar lo que ha aprendido a nuevos conjuntos de datos que nunca antes ha visto y producir resultados precisos</a:t>
            </a:r>
            <a:r>
              <a:rPr lang="es-ES" sz="2000" dirty="0" smtClean="0">
                <a:solidFill>
                  <a:srgbClr val="374151"/>
                </a:solidFill>
                <a:latin typeface="+mj-lt"/>
              </a:rPr>
              <a:t>.</a:t>
            </a:r>
            <a:endParaRPr lang="es-ES" sz="2000" dirty="0">
              <a:solidFill>
                <a:srgbClr val="374151"/>
              </a:solidFill>
              <a:latin typeface="+mj-lt"/>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4700" y="314959"/>
            <a:ext cx="9220200" cy="566822"/>
          </a:xfrm>
          <a:prstGeom prst="rect">
            <a:avLst/>
          </a:prstGeom>
        </p:spPr>
        <p:txBody>
          <a:bodyPr vert="horz" wrap="square" lIns="0" tIns="12700" rIns="0" bIns="0" rtlCol="0">
            <a:spAutoFit/>
          </a:bodyPr>
          <a:lstStyle/>
          <a:p>
            <a:pPr marL="12700" algn="ctr">
              <a:lnSpc>
                <a:spcPct val="100000"/>
              </a:lnSpc>
              <a:spcBef>
                <a:spcPts val="100"/>
              </a:spcBef>
            </a:pPr>
            <a:r>
              <a:rPr lang="es-ES" sz="3600" dirty="0" smtClean="0">
                <a:solidFill>
                  <a:schemeClr val="tx2">
                    <a:lumMod val="60000"/>
                    <a:lumOff val="40000"/>
                  </a:schemeClr>
                </a:solidFill>
              </a:rPr>
              <a:t>Explicación matemática</a:t>
            </a:r>
            <a:endParaRPr sz="3600" dirty="0">
              <a:solidFill>
                <a:schemeClr val="tx2">
                  <a:lumMod val="60000"/>
                  <a:lumOff val="40000"/>
                </a:schemeClr>
              </a:solidFill>
            </a:endParaRPr>
          </a:p>
        </p:txBody>
      </p:sp>
      <p:sp>
        <p:nvSpPr>
          <p:cNvPr id="8" name="Rectangle 5"/>
          <p:cNvSpPr>
            <a:spLocks noChangeArrowheads="1"/>
          </p:cNvSpPr>
          <p:nvPr/>
        </p:nvSpPr>
        <p:spPr bwMode="auto">
          <a:xfrm>
            <a:off x="204107" y="1071979"/>
            <a:ext cx="10019394"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b="0" i="0" u="none" strike="noStrike" cap="none" normalizeH="0" baseline="0" dirty="0" smtClean="0">
                <a:ln>
                  <a:noFill/>
                </a:ln>
                <a:solidFill>
                  <a:srgbClr val="000000"/>
                </a:solidFill>
                <a:effectLst/>
                <a:latin typeface="Söhne"/>
              </a:rPr>
              <a:t>Las redes neuronales se basan en el </a:t>
            </a:r>
            <a:r>
              <a:rPr kumimoji="0" lang="es-ES" altLang="es-ES" b="1" i="0" u="none" strike="noStrike" cap="none" normalizeH="0" baseline="0" dirty="0" smtClean="0">
                <a:ln>
                  <a:noFill/>
                </a:ln>
                <a:solidFill>
                  <a:schemeClr val="tx2">
                    <a:lumMod val="60000"/>
                    <a:lumOff val="40000"/>
                  </a:schemeClr>
                </a:solidFill>
                <a:effectLst/>
                <a:latin typeface="Söhne"/>
              </a:rPr>
              <a:t>cálculo</a:t>
            </a:r>
            <a:r>
              <a:rPr kumimoji="0" lang="es-ES" altLang="es-ES" b="0" i="0" u="none" strike="noStrike" cap="none" normalizeH="0" baseline="0" dirty="0" smtClean="0">
                <a:ln>
                  <a:noFill/>
                </a:ln>
                <a:solidFill>
                  <a:srgbClr val="000000"/>
                </a:solidFill>
                <a:effectLst/>
                <a:latin typeface="Söhne"/>
              </a:rPr>
              <a:t> y el </a:t>
            </a:r>
            <a:r>
              <a:rPr lang="es-ES" altLang="es-ES" b="1" dirty="0">
                <a:solidFill>
                  <a:schemeClr val="tx2">
                    <a:lumMod val="60000"/>
                    <a:lumOff val="40000"/>
                  </a:schemeClr>
                </a:solidFill>
                <a:latin typeface="Söhne"/>
              </a:rPr>
              <a:t>álgebra </a:t>
            </a:r>
            <a:r>
              <a:rPr lang="es-ES" altLang="es-ES" b="1" dirty="0" smtClean="0">
                <a:solidFill>
                  <a:schemeClr val="tx2">
                    <a:lumMod val="60000"/>
                    <a:lumOff val="40000"/>
                  </a:schemeClr>
                </a:solidFill>
                <a:latin typeface="Söhne"/>
              </a:rPr>
              <a:t>lineal</a:t>
            </a:r>
            <a:r>
              <a:rPr lang="es-ES" altLang="es-ES" dirty="0" smtClean="0">
                <a:solidFill>
                  <a:srgbClr val="000000"/>
                </a:solidFill>
                <a:latin typeface="Söhne"/>
              </a:rPr>
              <a:t>.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ES" altLang="es-ES" dirty="0" smtClean="0">
                <a:solidFill>
                  <a:srgbClr val="000000"/>
                </a:solidFill>
                <a:latin typeface="Söhne"/>
              </a:rPr>
              <a:t>S</a:t>
            </a:r>
            <a:r>
              <a:rPr kumimoji="0" lang="es-ES" altLang="es-ES" b="0" i="0" u="none" strike="noStrike" cap="none" normalizeH="0" baseline="0" dirty="0" smtClean="0">
                <a:ln>
                  <a:noFill/>
                </a:ln>
                <a:solidFill>
                  <a:srgbClr val="000000"/>
                </a:solidFill>
                <a:effectLst/>
                <a:latin typeface="Söhne"/>
              </a:rPr>
              <a:t>e puede representar una red neuronal como una función matemática que toma una serie de entradas y produce una salida. Esta función se construye a partir de múltiples capas de neuronas, cada una de las cuales realiza una operación matemática simple.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b="0" i="0" u="none" strike="noStrike" cap="none" normalizeH="0" baseline="0" dirty="0" smtClean="0">
                <a:ln>
                  <a:noFill/>
                </a:ln>
                <a:solidFill>
                  <a:srgbClr val="000000"/>
                </a:solidFill>
                <a:effectLst/>
                <a:latin typeface="Söhne"/>
              </a:rPr>
              <a:t>Cada neurona tiene un </a:t>
            </a:r>
            <a:r>
              <a:rPr lang="es-ES" altLang="es-ES" b="1" dirty="0">
                <a:solidFill>
                  <a:schemeClr val="tx2">
                    <a:lumMod val="60000"/>
                    <a:lumOff val="40000"/>
                  </a:schemeClr>
                </a:solidFill>
                <a:latin typeface="Söhne"/>
              </a:rPr>
              <a:t>vector de pesos </a:t>
            </a:r>
            <a:r>
              <a:rPr kumimoji="0" lang="es-ES" altLang="es-ES" b="0" i="0" u="none" strike="noStrike" cap="none" normalizeH="0" baseline="0" dirty="0" smtClean="0">
                <a:ln>
                  <a:noFill/>
                </a:ln>
                <a:solidFill>
                  <a:srgbClr val="000000"/>
                </a:solidFill>
                <a:effectLst/>
                <a:latin typeface="Söhne"/>
              </a:rPr>
              <a:t>y un </a:t>
            </a:r>
            <a:r>
              <a:rPr lang="es-ES" altLang="es-ES" b="1" dirty="0">
                <a:solidFill>
                  <a:schemeClr val="tx2">
                    <a:lumMod val="60000"/>
                    <a:lumOff val="40000"/>
                  </a:schemeClr>
                </a:solidFill>
                <a:latin typeface="Söhne"/>
              </a:rPr>
              <a:t>sesgo</a:t>
            </a:r>
            <a:r>
              <a:rPr kumimoji="0" lang="es-ES" altLang="es-ES" b="0" i="0" u="none" strike="noStrike" cap="none" normalizeH="0" baseline="0" dirty="0" smtClean="0">
                <a:ln>
                  <a:noFill/>
                </a:ln>
                <a:solidFill>
                  <a:srgbClr val="000000"/>
                </a:solidFill>
                <a:effectLst/>
                <a:latin typeface="Söhne"/>
              </a:rPr>
              <a:t>.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b="0" i="0" u="none" strike="noStrike" cap="none" normalizeH="0" baseline="0" dirty="0" smtClean="0">
                <a:ln>
                  <a:noFill/>
                </a:ln>
                <a:solidFill>
                  <a:srgbClr val="000000"/>
                </a:solidFill>
                <a:effectLst/>
                <a:latin typeface="Söhne"/>
              </a:rPr>
              <a:t>Los pesos se representan mediante una matriz y se utilizan para </a:t>
            </a:r>
            <a:r>
              <a:rPr lang="es-ES" altLang="es-ES" b="1" dirty="0">
                <a:solidFill>
                  <a:schemeClr val="tx2">
                    <a:lumMod val="60000"/>
                    <a:lumOff val="40000"/>
                  </a:schemeClr>
                </a:solidFill>
                <a:latin typeface="Söhne"/>
              </a:rPr>
              <a:t>ponderar las entradas </a:t>
            </a:r>
            <a:r>
              <a:rPr kumimoji="0" lang="es-ES" altLang="es-ES" b="0" i="0" u="none" strike="noStrike" cap="none" normalizeH="0" baseline="0" dirty="0" smtClean="0">
                <a:ln>
                  <a:noFill/>
                </a:ln>
                <a:solidFill>
                  <a:srgbClr val="000000"/>
                </a:solidFill>
                <a:effectLst/>
                <a:latin typeface="Söhne"/>
              </a:rPr>
              <a:t>de la neurona.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b="0" i="0" u="none" strike="noStrike" cap="none" normalizeH="0" baseline="0" dirty="0" smtClean="0">
                <a:ln>
                  <a:noFill/>
                </a:ln>
                <a:solidFill>
                  <a:srgbClr val="000000"/>
                </a:solidFill>
                <a:effectLst/>
                <a:latin typeface="Söhne"/>
              </a:rPr>
              <a:t>El sesgo se representa mediante un valor escalar y se utiliza para ajustar el </a:t>
            </a:r>
            <a:r>
              <a:rPr lang="es-ES" altLang="es-ES" b="1" dirty="0">
                <a:solidFill>
                  <a:schemeClr val="tx2">
                    <a:lumMod val="60000"/>
                    <a:lumOff val="40000"/>
                  </a:schemeClr>
                </a:solidFill>
                <a:latin typeface="Söhne"/>
              </a:rPr>
              <a:t>umbral de activación </a:t>
            </a:r>
            <a:r>
              <a:rPr kumimoji="0" lang="es-ES" altLang="es-ES" b="0" i="0" u="none" strike="noStrike" cap="none" normalizeH="0" baseline="0" dirty="0" smtClean="0">
                <a:ln>
                  <a:noFill/>
                </a:ln>
                <a:solidFill>
                  <a:srgbClr val="000000"/>
                </a:solidFill>
                <a:effectLst/>
                <a:latin typeface="Söhne"/>
              </a:rPr>
              <a:t>de la neurona.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b="0" i="0" u="none" strike="noStrike" cap="none" normalizeH="0" baseline="0" dirty="0" smtClean="0">
                <a:ln>
                  <a:noFill/>
                </a:ln>
                <a:solidFill>
                  <a:srgbClr val="000000"/>
                </a:solidFill>
                <a:effectLst/>
                <a:latin typeface="Söhne"/>
              </a:rPr>
              <a:t>La </a:t>
            </a:r>
            <a:r>
              <a:rPr lang="es-ES" altLang="es-ES" b="1" dirty="0">
                <a:solidFill>
                  <a:schemeClr val="tx2">
                    <a:lumMod val="60000"/>
                    <a:lumOff val="40000"/>
                  </a:schemeClr>
                </a:solidFill>
                <a:latin typeface="Söhne"/>
              </a:rPr>
              <a:t>salida</a:t>
            </a:r>
            <a:r>
              <a:rPr kumimoji="0" lang="es-ES" altLang="es-ES" b="0" i="0" u="none" strike="noStrike" cap="none" normalizeH="0" baseline="0" dirty="0" smtClean="0">
                <a:ln>
                  <a:noFill/>
                </a:ln>
                <a:solidFill>
                  <a:srgbClr val="000000"/>
                </a:solidFill>
                <a:effectLst/>
                <a:latin typeface="Söhne"/>
              </a:rPr>
              <a:t> de una neurona se calcula mediante una </a:t>
            </a:r>
            <a:r>
              <a:rPr lang="es-ES" altLang="es-ES" b="1" dirty="0">
                <a:solidFill>
                  <a:schemeClr val="tx2">
                    <a:lumMod val="60000"/>
                    <a:lumOff val="40000"/>
                  </a:schemeClr>
                </a:solidFill>
                <a:latin typeface="Söhne"/>
              </a:rPr>
              <a:t>función de activación no lineal </a:t>
            </a:r>
            <a:r>
              <a:rPr kumimoji="0" lang="es-ES" altLang="es-ES" b="0" i="0" u="none" strike="noStrike" cap="none" normalizeH="0" baseline="0" dirty="0" smtClean="0">
                <a:ln>
                  <a:noFill/>
                </a:ln>
                <a:solidFill>
                  <a:srgbClr val="000000"/>
                </a:solidFill>
                <a:effectLst/>
                <a:latin typeface="Söhne"/>
              </a:rPr>
              <a:t>que toma como entrada la </a:t>
            </a:r>
            <a:r>
              <a:rPr lang="es-ES" altLang="es-ES" b="1" dirty="0">
                <a:solidFill>
                  <a:schemeClr val="tx2">
                    <a:lumMod val="60000"/>
                    <a:lumOff val="40000"/>
                  </a:schemeClr>
                </a:solidFill>
                <a:latin typeface="Söhne"/>
              </a:rPr>
              <a:t>suma ponderada de las entradas y los pesos de la neurona más el sesgo</a:t>
            </a:r>
            <a:r>
              <a:rPr kumimoji="0" lang="es-ES" altLang="es-ES" b="0" i="0" u="none" strike="noStrike" cap="none" normalizeH="0" baseline="0" dirty="0" smtClean="0">
                <a:ln>
                  <a:noFill/>
                </a:ln>
                <a:solidFill>
                  <a:srgbClr val="000000"/>
                </a:solidFill>
                <a:effectLst/>
                <a:latin typeface="Söhne"/>
              </a:rPr>
              <a:t>. Las funciones de activación más comunes incluyen la función sigmoidea, la función </a:t>
            </a:r>
            <a:r>
              <a:rPr kumimoji="0" lang="es-ES" altLang="es-ES" b="0" i="0" u="none" strike="noStrike" cap="none" normalizeH="0" baseline="0" dirty="0" err="1" smtClean="0">
                <a:ln>
                  <a:noFill/>
                </a:ln>
                <a:solidFill>
                  <a:srgbClr val="000000"/>
                </a:solidFill>
                <a:effectLst/>
                <a:latin typeface="Söhne"/>
              </a:rPr>
              <a:t>ReLU</a:t>
            </a:r>
            <a:r>
              <a:rPr kumimoji="0" lang="es-ES" altLang="es-ES" b="0" i="0" u="none" strike="noStrike" cap="none" normalizeH="0" baseline="0" dirty="0" smtClean="0">
                <a:ln>
                  <a:noFill/>
                </a:ln>
                <a:solidFill>
                  <a:srgbClr val="000000"/>
                </a:solidFill>
                <a:effectLst/>
                <a:latin typeface="Söhne"/>
              </a:rPr>
              <a:t>, la función </a:t>
            </a:r>
            <a:r>
              <a:rPr kumimoji="0" lang="es-ES" altLang="es-ES" b="0" i="0" u="none" strike="noStrike" cap="none" normalizeH="0" baseline="0" dirty="0" err="1" smtClean="0">
                <a:ln>
                  <a:noFill/>
                </a:ln>
                <a:solidFill>
                  <a:srgbClr val="000000"/>
                </a:solidFill>
                <a:effectLst/>
                <a:latin typeface="Söhne"/>
              </a:rPr>
              <a:t>tanh</a:t>
            </a:r>
            <a:r>
              <a:rPr kumimoji="0" lang="es-ES" altLang="es-ES" b="0" i="0" u="none" strike="noStrike" cap="none" normalizeH="0" baseline="0" dirty="0" smtClean="0">
                <a:ln>
                  <a:noFill/>
                </a:ln>
                <a:solidFill>
                  <a:srgbClr val="000000"/>
                </a:solidFill>
                <a:effectLst/>
                <a:latin typeface="Söhne"/>
              </a:rPr>
              <a:t> y la función </a:t>
            </a:r>
            <a:r>
              <a:rPr kumimoji="0" lang="es-ES" altLang="es-ES" b="0" i="0" u="none" strike="noStrike" cap="none" normalizeH="0" baseline="0" dirty="0" err="1" smtClean="0">
                <a:ln>
                  <a:noFill/>
                </a:ln>
                <a:solidFill>
                  <a:srgbClr val="000000"/>
                </a:solidFill>
                <a:effectLst/>
                <a:latin typeface="Söhne"/>
              </a:rPr>
              <a:t>softmax</a:t>
            </a:r>
            <a:r>
              <a:rPr kumimoji="0" lang="es-ES" altLang="es-ES" b="0" i="0" u="none" strike="noStrike" cap="none" normalizeH="0" baseline="0" dirty="0" smtClean="0">
                <a:ln>
                  <a:noFill/>
                </a:ln>
                <a:solidFill>
                  <a:srgbClr val="000000"/>
                </a:solidFill>
                <a:effectLst/>
                <a:latin typeface="Söhne"/>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b="0" i="0" u="none" strike="noStrike" cap="none" normalizeH="0" baseline="0" dirty="0" smtClean="0">
                <a:ln>
                  <a:noFill/>
                </a:ln>
                <a:solidFill>
                  <a:srgbClr val="000000"/>
                </a:solidFill>
                <a:effectLst/>
                <a:latin typeface="Söhne"/>
              </a:rPr>
              <a:t>La salida de una capa de neuronas se utiliza como entrada para la siguiente capa. La red neuronal se </a:t>
            </a:r>
            <a:r>
              <a:rPr kumimoji="0" lang="es-ES" altLang="es-ES" b="1" i="0" u="none" strike="noStrike" cap="none" normalizeH="0" baseline="0" dirty="0" smtClean="0">
                <a:ln>
                  <a:noFill/>
                </a:ln>
                <a:solidFill>
                  <a:schemeClr val="tx2">
                    <a:lumMod val="60000"/>
                    <a:lumOff val="40000"/>
                  </a:schemeClr>
                </a:solidFill>
                <a:effectLst/>
                <a:latin typeface="Söhne"/>
              </a:rPr>
              <a:t>entrena ajustando los pesos </a:t>
            </a:r>
            <a:r>
              <a:rPr kumimoji="0" lang="es-ES" altLang="es-ES" b="0" i="0" u="none" strike="noStrike" cap="none" normalizeH="0" baseline="0" dirty="0" smtClean="0">
                <a:ln>
                  <a:noFill/>
                </a:ln>
                <a:solidFill>
                  <a:srgbClr val="000000"/>
                </a:solidFill>
                <a:effectLst/>
                <a:latin typeface="Söhne"/>
              </a:rPr>
              <a:t>de las conexiones entre las neuronas para </a:t>
            </a:r>
            <a:r>
              <a:rPr lang="es-ES" altLang="es-ES" b="1" dirty="0">
                <a:solidFill>
                  <a:schemeClr val="tx2">
                    <a:lumMod val="60000"/>
                    <a:lumOff val="40000"/>
                  </a:schemeClr>
                </a:solidFill>
                <a:latin typeface="Söhne"/>
              </a:rPr>
              <a:t>minimizar</a:t>
            </a:r>
            <a:r>
              <a:rPr kumimoji="0" lang="es-ES" altLang="es-ES" b="0" i="0" u="none" strike="noStrike" cap="none" normalizeH="0" baseline="0" dirty="0" smtClean="0">
                <a:ln>
                  <a:noFill/>
                </a:ln>
                <a:solidFill>
                  <a:srgbClr val="000000"/>
                </a:solidFill>
                <a:effectLst/>
                <a:latin typeface="Söhne"/>
              </a:rPr>
              <a:t> una </a:t>
            </a:r>
            <a:r>
              <a:rPr lang="es-ES" altLang="es-ES" b="1" dirty="0">
                <a:solidFill>
                  <a:schemeClr val="tx2">
                    <a:lumMod val="60000"/>
                    <a:lumOff val="40000"/>
                  </a:schemeClr>
                </a:solidFill>
                <a:latin typeface="Söhne"/>
              </a:rPr>
              <a:t>función</a:t>
            </a:r>
            <a:r>
              <a:rPr kumimoji="0" lang="es-ES" altLang="es-ES" b="0" i="0" u="none" strike="noStrike" cap="none" normalizeH="0" baseline="0" dirty="0" smtClean="0">
                <a:ln>
                  <a:noFill/>
                </a:ln>
                <a:solidFill>
                  <a:srgbClr val="000000"/>
                </a:solidFill>
                <a:effectLst/>
                <a:latin typeface="Söhne"/>
              </a:rPr>
              <a:t> de </a:t>
            </a:r>
            <a:r>
              <a:rPr lang="es-ES" altLang="es-ES" b="1" dirty="0">
                <a:solidFill>
                  <a:schemeClr val="tx2">
                    <a:lumMod val="60000"/>
                    <a:lumOff val="40000"/>
                  </a:schemeClr>
                </a:solidFill>
                <a:latin typeface="Söhne"/>
              </a:rPr>
              <a:t>pérdida</a:t>
            </a:r>
            <a:r>
              <a:rPr kumimoji="0" lang="es-ES" altLang="es-ES" b="0" i="0" u="none" strike="noStrike" cap="none" normalizeH="0" baseline="0" dirty="0" smtClean="0">
                <a:ln>
                  <a:noFill/>
                </a:ln>
                <a:solidFill>
                  <a:srgbClr val="000000"/>
                </a:solidFill>
                <a:effectLst/>
                <a:latin typeface="Söhne"/>
              </a:rPr>
              <a:t> que mide la discrepancia entre la </a:t>
            </a:r>
            <a:r>
              <a:rPr kumimoji="0" lang="es-ES" altLang="es-ES" b="0" i="0" u="sng" strike="noStrike" cap="none" normalizeH="0" baseline="0" dirty="0" smtClean="0">
                <a:ln>
                  <a:noFill/>
                </a:ln>
                <a:solidFill>
                  <a:srgbClr val="000000"/>
                </a:solidFill>
                <a:effectLst/>
                <a:latin typeface="Söhne"/>
              </a:rPr>
              <a:t>salida de la red </a:t>
            </a:r>
            <a:r>
              <a:rPr kumimoji="0" lang="es-ES" altLang="es-ES" b="0" i="0" u="none" strike="noStrike" cap="none" normalizeH="0" baseline="0" dirty="0" smtClean="0">
                <a:ln>
                  <a:noFill/>
                </a:ln>
                <a:solidFill>
                  <a:srgbClr val="000000"/>
                </a:solidFill>
                <a:effectLst/>
                <a:latin typeface="Söhne"/>
              </a:rPr>
              <a:t>y la </a:t>
            </a:r>
            <a:r>
              <a:rPr kumimoji="0" lang="es-ES" altLang="es-ES" b="0" i="0" u="sng" strike="noStrike" cap="none" normalizeH="0" baseline="0" dirty="0" smtClean="0">
                <a:ln>
                  <a:noFill/>
                </a:ln>
                <a:solidFill>
                  <a:srgbClr val="000000"/>
                </a:solidFill>
                <a:effectLst/>
                <a:latin typeface="Söhne"/>
              </a:rPr>
              <a:t>salida esperada</a:t>
            </a:r>
            <a:r>
              <a:rPr kumimoji="0" lang="es-ES" altLang="es-ES" b="0" i="0" u="none" strike="noStrike" cap="none" normalizeH="0" baseline="0" dirty="0" smtClean="0">
                <a:ln>
                  <a:noFill/>
                </a:ln>
                <a:solidFill>
                  <a:srgbClr val="000000"/>
                </a:solidFill>
                <a:effectLst/>
                <a:latin typeface="Söhne"/>
              </a:rPr>
              <a:t>.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b="0" i="0" u="none" strike="noStrike" cap="none" normalizeH="0" baseline="0" dirty="0" smtClean="0">
                <a:ln>
                  <a:noFill/>
                </a:ln>
                <a:solidFill>
                  <a:srgbClr val="000000"/>
                </a:solidFill>
                <a:effectLst/>
                <a:latin typeface="Söhne"/>
              </a:rPr>
              <a:t>El </a:t>
            </a:r>
            <a:r>
              <a:rPr kumimoji="0" lang="es-ES" altLang="es-ES" b="1" i="0" u="none" strike="noStrike" cap="none" normalizeH="0" baseline="0" dirty="0" smtClean="0">
                <a:ln>
                  <a:noFill/>
                </a:ln>
                <a:solidFill>
                  <a:schemeClr val="tx2">
                    <a:lumMod val="60000"/>
                    <a:lumOff val="40000"/>
                  </a:schemeClr>
                </a:solidFill>
                <a:effectLst/>
                <a:latin typeface="Söhne"/>
              </a:rPr>
              <a:t>ajuste de los pesos </a:t>
            </a:r>
            <a:r>
              <a:rPr kumimoji="0" lang="es-ES" altLang="es-ES" b="0" i="0" u="none" strike="noStrike" cap="none" normalizeH="0" baseline="0" dirty="0" smtClean="0">
                <a:ln>
                  <a:noFill/>
                </a:ln>
                <a:solidFill>
                  <a:srgbClr val="000000"/>
                </a:solidFill>
                <a:effectLst/>
                <a:latin typeface="Söhne"/>
              </a:rPr>
              <a:t>se realiza mediante el cálculo del </a:t>
            </a:r>
            <a:r>
              <a:rPr kumimoji="0" lang="es-ES" altLang="es-ES" b="1" i="0" u="none" strike="noStrike" cap="none" normalizeH="0" baseline="0" dirty="0" smtClean="0">
                <a:ln>
                  <a:noFill/>
                </a:ln>
                <a:solidFill>
                  <a:schemeClr val="tx2">
                    <a:lumMod val="60000"/>
                    <a:lumOff val="40000"/>
                  </a:schemeClr>
                </a:solidFill>
                <a:effectLst/>
                <a:latin typeface="Söhne"/>
              </a:rPr>
              <a:t>gradiente de la función </a:t>
            </a:r>
            <a:r>
              <a:rPr kumimoji="0" lang="es-ES" altLang="es-ES" b="0" i="0" u="none" strike="noStrike" cap="none" normalizeH="0" baseline="0" dirty="0" smtClean="0">
                <a:ln>
                  <a:noFill/>
                </a:ln>
                <a:solidFill>
                  <a:srgbClr val="000000"/>
                </a:solidFill>
                <a:effectLst/>
                <a:latin typeface="Söhne"/>
              </a:rPr>
              <a:t>de pérdida con respecto a los pesos de las conexiones y la actualización de los pesos en la dirección del gradiente descendente.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b="0" i="0" u="none" strike="noStrike" cap="none" normalizeH="0" baseline="0" dirty="0" smtClean="0">
                <a:ln>
                  <a:noFill/>
                </a:ln>
                <a:solidFill>
                  <a:srgbClr val="000000"/>
                </a:solidFill>
                <a:effectLst/>
                <a:latin typeface="Söhne"/>
              </a:rPr>
              <a:t>Esto les permite aprender a partir de los datos de entrenamiento y producir resultados precisos en nuevos conjuntos de datos.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312944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2195" y="314959"/>
            <a:ext cx="3505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chemeClr val="tx2">
                    <a:lumMod val="60000"/>
                    <a:lumOff val="40000"/>
                  </a:schemeClr>
                </a:solidFill>
              </a:rPr>
              <a:t>El</a:t>
            </a:r>
            <a:r>
              <a:rPr sz="3600" spc="-30" dirty="0">
                <a:solidFill>
                  <a:schemeClr val="tx2">
                    <a:lumMod val="60000"/>
                    <a:lumOff val="40000"/>
                  </a:schemeClr>
                </a:solidFill>
              </a:rPr>
              <a:t> </a:t>
            </a:r>
            <a:r>
              <a:rPr sz="3600" spc="-5" dirty="0">
                <a:solidFill>
                  <a:schemeClr val="tx2">
                    <a:lumMod val="60000"/>
                    <a:lumOff val="40000"/>
                  </a:schemeClr>
                </a:solidFill>
              </a:rPr>
              <a:t>Soporte</a:t>
            </a:r>
            <a:r>
              <a:rPr sz="3600" spc="-20" dirty="0">
                <a:solidFill>
                  <a:schemeClr val="tx2">
                    <a:lumMod val="60000"/>
                    <a:lumOff val="40000"/>
                  </a:schemeClr>
                </a:solidFill>
              </a:rPr>
              <a:t> </a:t>
            </a:r>
            <a:r>
              <a:rPr sz="3600" spc="-5" dirty="0">
                <a:solidFill>
                  <a:schemeClr val="tx2">
                    <a:lumMod val="60000"/>
                    <a:lumOff val="40000"/>
                  </a:schemeClr>
                </a:solidFill>
              </a:rPr>
              <a:t>Teórico</a:t>
            </a:r>
            <a:endParaRPr sz="3600" dirty="0">
              <a:solidFill>
                <a:schemeClr val="tx2">
                  <a:lumMod val="60000"/>
                  <a:lumOff val="40000"/>
                </a:schemeClr>
              </a:solidFill>
            </a:endParaRPr>
          </a:p>
        </p:txBody>
      </p:sp>
      <p:sp>
        <p:nvSpPr>
          <p:cNvPr id="3" name="object 3"/>
          <p:cNvSpPr txBox="1"/>
          <p:nvPr/>
        </p:nvSpPr>
        <p:spPr>
          <a:xfrm>
            <a:off x="616903" y="999764"/>
            <a:ext cx="9454198" cy="3890809"/>
          </a:xfrm>
          <a:prstGeom prst="rect">
            <a:avLst/>
          </a:prstGeom>
        </p:spPr>
        <p:txBody>
          <a:bodyPr vert="horz" wrap="square" lIns="0" tIns="29845" rIns="0" bIns="0" rtlCol="0">
            <a:spAutoFit/>
          </a:bodyPr>
          <a:lstStyle/>
          <a:p>
            <a:pPr marL="50800" marR="17780" algn="just">
              <a:lnSpc>
                <a:spcPct val="95800"/>
              </a:lnSpc>
              <a:spcBef>
                <a:spcPts val="235"/>
              </a:spcBef>
            </a:pPr>
            <a:r>
              <a:rPr sz="2400" spc="-5" dirty="0">
                <a:latin typeface="Times New Roman"/>
                <a:cs typeface="Times New Roman"/>
              </a:rPr>
              <a:t>La</a:t>
            </a:r>
            <a:r>
              <a:rPr sz="2400" spc="-10" dirty="0">
                <a:latin typeface="Times New Roman"/>
                <a:cs typeface="Times New Roman"/>
              </a:rPr>
              <a:t> </a:t>
            </a:r>
            <a:r>
              <a:rPr sz="2400" spc="-5" dirty="0">
                <a:latin typeface="Times New Roman"/>
                <a:cs typeface="Times New Roman"/>
              </a:rPr>
              <a:t>justificación</a:t>
            </a:r>
            <a:r>
              <a:rPr sz="2400" dirty="0">
                <a:latin typeface="Times New Roman"/>
                <a:cs typeface="Times New Roman"/>
              </a:rPr>
              <a:t> de</a:t>
            </a:r>
            <a:r>
              <a:rPr sz="2400" spc="-10" dirty="0">
                <a:latin typeface="Times New Roman"/>
                <a:cs typeface="Times New Roman"/>
              </a:rPr>
              <a:t> </a:t>
            </a:r>
            <a:r>
              <a:rPr sz="2400" dirty="0">
                <a:latin typeface="Times New Roman"/>
                <a:cs typeface="Times New Roman"/>
              </a:rPr>
              <a:t>la red </a:t>
            </a:r>
            <a:r>
              <a:rPr sz="2400" spc="-5" dirty="0">
                <a:latin typeface="Times New Roman"/>
                <a:cs typeface="Times New Roman"/>
              </a:rPr>
              <a:t>neuronal </a:t>
            </a:r>
            <a:r>
              <a:rPr sz="2400" spc="-10" dirty="0">
                <a:latin typeface="Times New Roman"/>
                <a:cs typeface="Times New Roman"/>
              </a:rPr>
              <a:t>como</a:t>
            </a:r>
            <a:r>
              <a:rPr sz="2400" spc="15" dirty="0">
                <a:latin typeface="Times New Roman"/>
                <a:cs typeface="Times New Roman"/>
              </a:rPr>
              <a:t> </a:t>
            </a:r>
            <a:r>
              <a:rPr sz="2400" spc="-5" dirty="0">
                <a:latin typeface="Times New Roman"/>
                <a:cs typeface="Times New Roman"/>
              </a:rPr>
              <a:t>modelo</a:t>
            </a:r>
            <a:r>
              <a:rPr sz="2400" spc="10" dirty="0">
                <a:latin typeface="Times New Roman"/>
                <a:cs typeface="Times New Roman"/>
              </a:rPr>
              <a:t> </a:t>
            </a:r>
            <a:r>
              <a:rPr sz="2400" spc="-5" dirty="0">
                <a:latin typeface="Times New Roman"/>
                <a:cs typeface="Times New Roman"/>
              </a:rPr>
              <a:t>está basada</a:t>
            </a:r>
            <a:r>
              <a:rPr sz="2400" dirty="0">
                <a:latin typeface="Times New Roman"/>
                <a:cs typeface="Times New Roman"/>
              </a:rPr>
              <a:t> en </a:t>
            </a:r>
            <a:r>
              <a:rPr sz="2400" spc="5" dirty="0">
                <a:latin typeface="Times New Roman"/>
                <a:cs typeface="Times New Roman"/>
              </a:rPr>
              <a:t> </a:t>
            </a:r>
            <a:r>
              <a:rPr sz="2400" b="1" spc="-5" dirty="0">
                <a:solidFill>
                  <a:srgbClr val="622322"/>
                </a:solidFill>
                <a:latin typeface="Times New Roman"/>
                <a:cs typeface="Times New Roman"/>
              </a:rPr>
              <a:t>Teoremas</a:t>
            </a:r>
            <a:r>
              <a:rPr sz="2400" b="1" spc="5" dirty="0">
                <a:solidFill>
                  <a:srgbClr val="622322"/>
                </a:solidFill>
                <a:latin typeface="Times New Roman"/>
                <a:cs typeface="Times New Roman"/>
              </a:rPr>
              <a:t> </a:t>
            </a:r>
            <a:r>
              <a:rPr sz="2400" b="1" spc="-5" dirty="0">
                <a:solidFill>
                  <a:srgbClr val="622322"/>
                </a:solidFill>
                <a:latin typeface="Times New Roman"/>
                <a:cs typeface="Times New Roman"/>
              </a:rPr>
              <a:t>de</a:t>
            </a:r>
            <a:r>
              <a:rPr sz="2400" b="1" dirty="0">
                <a:solidFill>
                  <a:srgbClr val="622322"/>
                </a:solidFill>
                <a:latin typeface="Times New Roman"/>
                <a:cs typeface="Times New Roman"/>
              </a:rPr>
              <a:t> </a:t>
            </a:r>
            <a:r>
              <a:rPr sz="2400" b="1" spc="-5" dirty="0">
                <a:solidFill>
                  <a:srgbClr val="622322"/>
                </a:solidFill>
                <a:latin typeface="Times New Roman"/>
                <a:cs typeface="Times New Roman"/>
              </a:rPr>
              <a:t>aproximación</a:t>
            </a:r>
            <a:r>
              <a:rPr sz="2400" b="1" spc="10" dirty="0">
                <a:solidFill>
                  <a:srgbClr val="622322"/>
                </a:solidFill>
                <a:latin typeface="Times New Roman"/>
                <a:cs typeface="Times New Roman"/>
              </a:rPr>
              <a:t> </a:t>
            </a:r>
            <a:r>
              <a:rPr sz="2400" b="1" dirty="0">
                <a:solidFill>
                  <a:srgbClr val="622322"/>
                </a:solidFill>
                <a:latin typeface="Times New Roman"/>
                <a:cs typeface="Times New Roman"/>
              </a:rPr>
              <a:t>universal</a:t>
            </a:r>
            <a:r>
              <a:rPr sz="2400" dirty="0">
                <a:latin typeface="Times New Roman"/>
                <a:cs typeface="Times New Roman"/>
              </a:rPr>
              <a:t>,</a:t>
            </a:r>
            <a:r>
              <a:rPr sz="2400" spc="-5" dirty="0">
                <a:latin typeface="Times New Roman"/>
                <a:cs typeface="Times New Roman"/>
              </a:rPr>
              <a:t> en varias </a:t>
            </a:r>
            <a:r>
              <a:rPr sz="2400" dirty="0">
                <a:latin typeface="Times New Roman"/>
                <a:cs typeface="Times New Roman"/>
              </a:rPr>
              <a:t>versiones </a:t>
            </a:r>
            <a:r>
              <a:rPr sz="2400" spc="5" dirty="0">
                <a:latin typeface="Times New Roman"/>
                <a:cs typeface="Times New Roman"/>
              </a:rPr>
              <a:t> </a:t>
            </a:r>
            <a:r>
              <a:rPr sz="2400" spc="-5" dirty="0">
                <a:latin typeface="Times New Roman"/>
                <a:cs typeface="Times New Roman"/>
              </a:rPr>
              <a:t>(Cybenko-Funahashi-Hornik),</a:t>
            </a:r>
            <a:r>
              <a:rPr sz="2400" spc="-15" dirty="0">
                <a:latin typeface="Times New Roman"/>
                <a:cs typeface="Times New Roman"/>
              </a:rPr>
              <a:t> </a:t>
            </a:r>
            <a:r>
              <a:rPr sz="2400" spc="-5" dirty="0">
                <a:latin typeface="Times New Roman"/>
                <a:cs typeface="Times New Roman"/>
              </a:rPr>
              <a:t>que</a:t>
            </a:r>
            <a:r>
              <a:rPr sz="2400" dirty="0">
                <a:latin typeface="Times New Roman"/>
                <a:cs typeface="Times New Roman"/>
              </a:rPr>
              <a:t> </a:t>
            </a:r>
            <a:r>
              <a:rPr sz="2400" spc="-5" dirty="0">
                <a:latin typeface="Times New Roman"/>
                <a:cs typeface="Times New Roman"/>
              </a:rPr>
              <a:t>enuncia que</a:t>
            </a:r>
            <a:r>
              <a:rPr sz="2400" dirty="0">
                <a:latin typeface="Times New Roman"/>
                <a:cs typeface="Times New Roman"/>
              </a:rPr>
              <a:t> cualquier</a:t>
            </a:r>
            <a:r>
              <a:rPr sz="2400" spc="10" dirty="0">
                <a:latin typeface="Times New Roman"/>
                <a:cs typeface="Times New Roman"/>
              </a:rPr>
              <a:t> </a:t>
            </a:r>
            <a:r>
              <a:rPr sz="2400" spc="-5" dirty="0">
                <a:latin typeface="Times New Roman"/>
                <a:cs typeface="Times New Roman"/>
              </a:rPr>
              <a:t>función </a:t>
            </a:r>
            <a:r>
              <a:rPr sz="2400" dirty="0">
                <a:latin typeface="Times New Roman"/>
                <a:cs typeface="Times New Roman"/>
              </a:rPr>
              <a:t> </a:t>
            </a:r>
            <a:r>
              <a:rPr sz="2400" spc="-5" dirty="0">
                <a:latin typeface="Times New Roman"/>
                <a:cs typeface="Times New Roman"/>
              </a:rPr>
              <a:t>continua</a:t>
            </a:r>
            <a:r>
              <a:rPr sz="2400" dirty="0">
                <a:latin typeface="Times New Roman"/>
                <a:cs typeface="Times New Roman"/>
              </a:rPr>
              <a:t> </a:t>
            </a:r>
            <a:r>
              <a:rPr sz="2400" spc="-5" dirty="0">
                <a:latin typeface="Times New Roman"/>
                <a:cs typeface="Times New Roman"/>
              </a:rPr>
              <a:t>puede</a:t>
            </a:r>
            <a:r>
              <a:rPr sz="2400" spc="5" dirty="0">
                <a:latin typeface="Times New Roman"/>
                <a:cs typeface="Times New Roman"/>
              </a:rPr>
              <a:t> </a:t>
            </a:r>
            <a:r>
              <a:rPr sz="2400" spc="-5" dirty="0">
                <a:latin typeface="Times New Roman"/>
                <a:cs typeface="Times New Roman"/>
              </a:rPr>
              <a:t>aproximarse</a:t>
            </a:r>
            <a:r>
              <a:rPr sz="2400" spc="10" dirty="0">
                <a:latin typeface="Times New Roman"/>
                <a:cs typeface="Times New Roman"/>
              </a:rPr>
              <a:t> </a:t>
            </a:r>
            <a:r>
              <a:rPr sz="2400" spc="-5" dirty="0">
                <a:latin typeface="Times New Roman"/>
                <a:cs typeface="Times New Roman"/>
              </a:rPr>
              <a:t>al</a:t>
            </a:r>
            <a:r>
              <a:rPr sz="2400" spc="5" dirty="0">
                <a:latin typeface="Times New Roman"/>
                <a:cs typeface="Times New Roman"/>
              </a:rPr>
              <a:t> </a:t>
            </a:r>
            <a:r>
              <a:rPr sz="2400" spc="-5" dirty="0">
                <a:latin typeface="Times New Roman"/>
                <a:cs typeface="Times New Roman"/>
              </a:rPr>
              <a:t>nivel</a:t>
            </a:r>
            <a:r>
              <a:rPr sz="2400" dirty="0">
                <a:latin typeface="Times New Roman"/>
                <a:cs typeface="Times New Roman"/>
              </a:rPr>
              <a:t> </a:t>
            </a:r>
            <a:r>
              <a:rPr sz="2400" spc="-5" dirty="0">
                <a:latin typeface="Times New Roman"/>
                <a:cs typeface="Times New Roman"/>
              </a:rPr>
              <a:t>requerido</a:t>
            </a:r>
            <a:r>
              <a:rPr sz="2400" spc="20" dirty="0">
                <a:latin typeface="Times New Roman"/>
                <a:cs typeface="Times New Roman"/>
              </a:rPr>
              <a:t> </a:t>
            </a:r>
            <a:r>
              <a:rPr sz="2400" spc="-10" dirty="0">
                <a:latin typeface="Times New Roman"/>
                <a:cs typeface="Times New Roman"/>
              </a:rPr>
              <a:t>con</a:t>
            </a:r>
            <a:r>
              <a:rPr sz="2400" spc="15" dirty="0">
                <a:latin typeface="Times New Roman"/>
                <a:cs typeface="Times New Roman"/>
              </a:rPr>
              <a:t> </a:t>
            </a:r>
            <a:r>
              <a:rPr sz="2400" spc="10" dirty="0">
                <a:latin typeface="Times New Roman"/>
                <a:cs typeface="Times New Roman"/>
              </a:rPr>
              <a:t>una</a:t>
            </a:r>
            <a:r>
              <a:rPr sz="2400" dirty="0">
                <a:latin typeface="Times New Roman"/>
                <a:cs typeface="Times New Roman"/>
              </a:rPr>
              <a:t> </a:t>
            </a:r>
            <a:r>
              <a:rPr sz="2400" spc="-5" dirty="0">
                <a:latin typeface="Times New Roman"/>
                <a:cs typeface="Times New Roman"/>
              </a:rPr>
              <a:t>red</a:t>
            </a:r>
            <a:r>
              <a:rPr sz="2400" dirty="0">
                <a:latin typeface="Times New Roman"/>
                <a:cs typeface="Times New Roman"/>
              </a:rPr>
              <a:t> neuronal </a:t>
            </a:r>
            <a:r>
              <a:rPr sz="2400" spc="-685" dirty="0">
                <a:latin typeface="Times New Roman"/>
                <a:cs typeface="Times New Roman"/>
              </a:rPr>
              <a:t> </a:t>
            </a:r>
            <a:r>
              <a:rPr sz="2400" spc="-5" dirty="0">
                <a:latin typeface="Times New Roman"/>
                <a:cs typeface="Times New Roman"/>
              </a:rPr>
              <a:t>con</a:t>
            </a:r>
            <a:r>
              <a:rPr sz="2400" dirty="0">
                <a:latin typeface="Times New Roman"/>
                <a:cs typeface="Times New Roman"/>
              </a:rPr>
              <a:t> </a:t>
            </a:r>
            <a:r>
              <a:rPr sz="2400" spc="-5" dirty="0">
                <a:latin typeface="Times New Roman"/>
                <a:cs typeface="Times New Roman"/>
              </a:rPr>
              <a:t>al</a:t>
            </a:r>
            <a:r>
              <a:rPr sz="2400" spc="10" dirty="0">
                <a:latin typeface="Times New Roman"/>
                <a:cs typeface="Times New Roman"/>
              </a:rPr>
              <a:t> </a:t>
            </a:r>
            <a:r>
              <a:rPr sz="2400" spc="-5" dirty="0">
                <a:latin typeface="Times New Roman"/>
                <a:cs typeface="Times New Roman"/>
              </a:rPr>
              <a:t>menos</a:t>
            </a:r>
            <a:r>
              <a:rPr sz="2400" spc="10" dirty="0">
                <a:latin typeface="Times New Roman"/>
                <a:cs typeface="Times New Roman"/>
              </a:rPr>
              <a:t> </a:t>
            </a:r>
            <a:r>
              <a:rPr sz="2400" spc="-5" dirty="0">
                <a:latin typeface="Times New Roman"/>
                <a:cs typeface="Times New Roman"/>
              </a:rPr>
              <a:t>una capa</a:t>
            </a:r>
            <a:r>
              <a:rPr sz="2400" dirty="0">
                <a:latin typeface="Times New Roman"/>
                <a:cs typeface="Times New Roman"/>
              </a:rPr>
              <a:t> </a:t>
            </a:r>
            <a:r>
              <a:rPr sz="2400" spc="-5" dirty="0">
                <a:latin typeface="Times New Roman"/>
                <a:cs typeface="Times New Roman"/>
              </a:rPr>
              <a:t>oculta</a:t>
            </a:r>
            <a:r>
              <a:rPr sz="2400" dirty="0">
                <a:latin typeface="Times New Roman"/>
                <a:cs typeface="Times New Roman"/>
              </a:rPr>
              <a:t> </a:t>
            </a:r>
            <a:r>
              <a:rPr sz="2400" spc="-5" dirty="0">
                <a:latin typeface="Times New Roman"/>
                <a:cs typeface="Times New Roman"/>
              </a:rPr>
              <a:t>y</a:t>
            </a:r>
            <a:r>
              <a:rPr sz="2400" spc="5" dirty="0">
                <a:latin typeface="Times New Roman"/>
                <a:cs typeface="Times New Roman"/>
              </a:rPr>
              <a:t> </a:t>
            </a:r>
            <a:r>
              <a:rPr sz="2400" spc="-5" dirty="0">
                <a:latin typeface="Times New Roman"/>
                <a:cs typeface="Times New Roman"/>
              </a:rPr>
              <a:t>un</a:t>
            </a:r>
            <a:r>
              <a:rPr sz="2400" spc="5" dirty="0">
                <a:latin typeface="Times New Roman"/>
                <a:cs typeface="Times New Roman"/>
              </a:rPr>
              <a:t> </a:t>
            </a:r>
            <a:r>
              <a:rPr sz="2400" spc="-5" dirty="0">
                <a:latin typeface="Times New Roman"/>
                <a:cs typeface="Times New Roman"/>
              </a:rPr>
              <a:t>número</a:t>
            </a:r>
            <a:r>
              <a:rPr sz="2400" spc="5" dirty="0">
                <a:latin typeface="Times New Roman"/>
                <a:cs typeface="Times New Roman"/>
              </a:rPr>
              <a:t> </a:t>
            </a:r>
            <a:r>
              <a:rPr sz="2400" dirty="0">
                <a:latin typeface="Times New Roman"/>
                <a:cs typeface="Times New Roman"/>
              </a:rPr>
              <a:t>de</a:t>
            </a:r>
            <a:r>
              <a:rPr sz="2400" spc="-5" dirty="0">
                <a:latin typeface="Times New Roman"/>
                <a:cs typeface="Times New Roman"/>
              </a:rPr>
              <a:t> nodos</a:t>
            </a:r>
            <a:r>
              <a:rPr sz="2400" dirty="0">
                <a:latin typeface="Times New Roman"/>
                <a:cs typeface="Times New Roman"/>
              </a:rPr>
              <a:t> </a:t>
            </a:r>
            <a:r>
              <a:rPr sz="2400" spc="-5" dirty="0">
                <a:latin typeface="Times New Roman"/>
                <a:cs typeface="Times New Roman"/>
              </a:rPr>
              <a:t>a</a:t>
            </a:r>
            <a:r>
              <a:rPr sz="2400" dirty="0">
                <a:latin typeface="Times New Roman"/>
                <a:cs typeface="Times New Roman"/>
              </a:rPr>
              <a:t> </a:t>
            </a:r>
            <a:r>
              <a:rPr sz="2400" spc="-5" dirty="0">
                <a:latin typeface="Times New Roman"/>
                <a:cs typeface="Times New Roman"/>
              </a:rPr>
              <a:t>determinar.</a:t>
            </a:r>
            <a:endParaRPr sz="2400" dirty="0">
              <a:latin typeface="Times New Roman"/>
              <a:cs typeface="Times New Roman"/>
            </a:endParaRPr>
          </a:p>
          <a:p>
            <a:pPr>
              <a:lnSpc>
                <a:spcPct val="100000"/>
              </a:lnSpc>
              <a:spcBef>
                <a:spcPts val="25"/>
              </a:spcBef>
            </a:pPr>
            <a:endParaRPr sz="2400" dirty="0">
              <a:latin typeface="Times New Roman"/>
              <a:cs typeface="Times New Roman"/>
            </a:endParaRPr>
          </a:p>
          <a:p>
            <a:pPr marL="50800">
              <a:lnSpc>
                <a:spcPts val="3295"/>
              </a:lnSpc>
            </a:pPr>
            <a:r>
              <a:rPr sz="2400" spc="-5" dirty="0">
                <a:solidFill>
                  <a:srgbClr val="FF0000"/>
                </a:solidFill>
                <a:latin typeface="Times New Roman"/>
                <a:cs typeface="Times New Roman"/>
              </a:rPr>
              <a:t>Teorema</a:t>
            </a:r>
            <a:r>
              <a:rPr sz="2400" dirty="0">
                <a:solidFill>
                  <a:srgbClr val="FF0000"/>
                </a:solidFill>
                <a:latin typeface="Times New Roman"/>
                <a:cs typeface="Times New Roman"/>
              </a:rPr>
              <a:t> de</a:t>
            </a:r>
            <a:r>
              <a:rPr sz="2400" spc="-5" dirty="0">
                <a:solidFill>
                  <a:srgbClr val="FF0000"/>
                </a:solidFill>
                <a:latin typeface="Times New Roman"/>
                <a:cs typeface="Times New Roman"/>
              </a:rPr>
              <a:t> aproximación:</a:t>
            </a:r>
            <a:r>
              <a:rPr sz="2400" spc="5" dirty="0">
                <a:solidFill>
                  <a:srgbClr val="FF0000"/>
                </a:solidFill>
                <a:latin typeface="Times New Roman"/>
                <a:cs typeface="Times New Roman"/>
              </a:rPr>
              <a:t> </a:t>
            </a:r>
            <a:r>
              <a:rPr sz="2400" spc="-5" dirty="0">
                <a:solidFill>
                  <a:srgbClr val="FF0000"/>
                </a:solidFill>
                <a:latin typeface="Times New Roman"/>
                <a:cs typeface="Times New Roman"/>
              </a:rPr>
              <a:t>versión</a:t>
            </a:r>
            <a:r>
              <a:rPr sz="2400" dirty="0">
                <a:solidFill>
                  <a:srgbClr val="FF0000"/>
                </a:solidFill>
                <a:latin typeface="Times New Roman"/>
                <a:cs typeface="Times New Roman"/>
              </a:rPr>
              <a:t> </a:t>
            </a:r>
            <a:r>
              <a:rPr sz="2400" spc="-5" dirty="0">
                <a:solidFill>
                  <a:srgbClr val="FF0000"/>
                </a:solidFill>
                <a:latin typeface="Times New Roman"/>
                <a:cs typeface="Times New Roman"/>
              </a:rPr>
              <a:t>simplificada</a:t>
            </a:r>
            <a:endParaRPr sz="2400" dirty="0">
              <a:latin typeface="Times New Roman"/>
              <a:cs typeface="Times New Roman"/>
            </a:endParaRPr>
          </a:p>
          <a:p>
            <a:pPr marL="50800" marR="148590" algn="just">
              <a:lnSpc>
                <a:spcPts val="3220"/>
              </a:lnSpc>
              <a:spcBef>
                <a:spcPts val="160"/>
              </a:spcBef>
              <a:tabLst>
                <a:tab pos="740410" algn="l"/>
              </a:tabLst>
            </a:pPr>
            <a:r>
              <a:rPr sz="2400" spc="-10" dirty="0">
                <a:latin typeface="Times New Roman"/>
                <a:cs typeface="Times New Roman"/>
              </a:rPr>
              <a:t>Sea	φ(·)</a:t>
            </a:r>
            <a:r>
              <a:rPr sz="2400" spc="10" dirty="0">
                <a:latin typeface="Times New Roman"/>
                <a:cs typeface="Times New Roman"/>
              </a:rPr>
              <a:t> </a:t>
            </a:r>
            <a:r>
              <a:rPr sz="2400" spc="-5" dirty="0">
                <a:latin typeface="Times New Roman"/>
                <a:cs typeface="Times New Roman"/>
              </a:rPr>
              <a:t>función</a:t>
            </a:r>
            <a:r>
              <a:rPr sz="2400" spc="10" dirty="0">
                <a:latin typeface="Times New Roman"/>
                <a:cs typeface="Times New Roman"/>
              </a:rPr>
              <a:t> </a:t>
            </a:r>
            <a:r>
              <a:rPr sz="2400" spc="-5" dirty="0">
                <a:latin typeface="Times New Roman"/>
                <a:cs typeface="Times New Roman"/>
              </a:rPr>
              <a:t>no constante,</a:t>
            </a:r>
            <a:r>
              <a:rPr sz="2400" spc="5" dirty="0">
                <a:latin typeface="Times New Roman"/>
                <a:cs typeface="Times New Roman"/>
              </a:rPr>
              <a:t> </a:t>
            </a:r>
            <a:r>
              <a:rPr sz="2400" spc="-5" dirty="0">
                <a:latin typeface="Times New Roman"/>
                <a:cs typeface="Times New Roman"/>
              </a:rPr>
              <a:t>acotada</a:t>
            </a:r>
            <a:r>
              <a:rPr sz="2400" spc="10" dirty="0">
                <a:latin typeface="Times New Roman"/>
                <a:cs typeface="Times New Roman"/>
              </a:rPr>
              <a:t> </a:t>
            </a:r>
            <a:r>
              <a:rPr sz="2400" spc="-5" dirty="0">
                <a:latin typeface="Times New Roman"/>
                <a:cs typeface="Times New Roman"/>
              </a:rPr>
              <a:t>,</a:t>
            </a:r>
            <a:r>
              <a:rPr sz="2400" dirty="0">
                <a:latin typeface="Times New Roman"/>
                <a:cs typeface="Times New Roman"/>
              </a:rPr>
              <a:t> </a:t>
            </a:r>
            <a:r>
              <a:rPr sz="2400" spc="-5" dirty="0">
                <a:latin typeface="Times New Roman"/>
                <a:cs typeface="Times New Roman"/>
              </a:rPr>
              <a:t>monótona</a:t>
            </a:r>
            <a:r>
              <a:rPr sz="2400" dirty="0">
                <a:latin typeface="Times New Roman"/>
                <a:cs typeface="Times New Roman"/>
              </a:rPr>
              <a:t> </a:t>
            </a:r>
            <a:r>
              <a:rPr sz="2400" spc="-5" dirty="0">
                <a:latin typeface="Times New Roman"/>
                <a:cs typeface="Times New Roman"/>
              </a:rPr>
              <a:t>creciente y </a:t>
            </a:r>
            <a:r>
              <a:rPr sz="2400" dirty="0">
                <a:latin typeface="Times New Roman"/>
                <a:cs typeface="Times New Roman"/>
              </a:rPr>
              <a:t> </a:t>
            </a:r>
            <a:r>
              <a:rPr sz="2400" spc="-5" dirty="0">
                <a:latin typeface="Times New Roman"/>
                <a:cs typeface="Times New Roman"/>
              </a:rPr>
              <a:t>continua.</a:t>
            </a:r>
            <a:r>
              <a:rPr sz="2400" dirty="0">
                <a:latin typeface="Times New Roman"/>
                <a:cs typeface="Times New Roman"/>
              </a:rPr>
              <a:t> </a:t>
            </a:r>
            <a:r>
              <a:rPr sz="2400" spc="-10" dirty="0">
                <a:latin typeface="Times New Roman"/>
                <a:cs typeface="Times New Roman"/>
              </a:rPr>
              <a:t>Dada</a:t>
            </a:r>
            <a:r>
              <a:rPr sz="2400" spc="15" dirty="0">
                <a:latin typeface="Times New Roman"/>
                <a:cs typeface="Times New Roman"/>
              </a:rPr>
              <a:t> </a:t>
            </a:r>
            <a:r>
              <a:rPr sz="2400" spc="-5" dirty="0">
                <a:latin typeface="Times New Roman"/>
                <a:cs typeface="Times New Roman"/>
              </a:rPr>
              <a:t>cualquier</a:t>
            </a:r>
            <a:r>
              <a:rPr sz="2400" spc="5" dirty="0">
                <a:latin typeface="Times New Roman"/>
                <a:cs typeface="Times New Roman"/>
              </a:rPr>
              <a:t> </a:t>
            </a:r>
            <a:r>
              <a:rPr sz="2400" spc="-5" dirty="0">
                <a:latin typeface="Times New Roman"/>
                <a:cs typeface="Times New Roman"/>
              </a:rPr>
              <a:t>función</a:t>
            </a:r>
            <a:r>
              <a:rPr sz="2400" spc="15" dirty="0">
                <a:latin typeface="Times New Roman"/>
                <a:cs typeface="Times New Roman"/>
              </a:rPr>
              <a:t> </a:t>
            </a:r>
            <a:r>
              <a:rPr sz="2400" spc="-5" dirty="0">
                <a:latin typeface="Times New Roman"/>
                <a:cs typeface="Times New Roman"/>
              </a:rPr>
              <a:t>f(x)</a:t>
            </a:r>
            <a:r>
              <a:rPr sz="2400" spc="5" dirty="0">
                <a:latin typeface="Times New Roman"/>
                <a:cs typeface="Times New Roman"/>
              </a:rPr>
              <a:t> </a:t>
            </a:r>
            <a:r>
              <a:rPr sz="2400" spc="-5" dirty="0">
                <a:latin typeface="Times New Roman"/>
                <a:cs typeface="Times New Roman"/>
              </a:rPr>
              <a:t>en</a:t>
            </a:r>
            <a:r>
              <a:rPr sz="2400" dirty="0">
                <a:latin typeface="Times New Roman"/>
                <a:cs typeface="Times New Roman"/>
              </a:rPr>
              <a:t> </a:t>
            </a:r>
            <a:r>
              <a:rPr sz="2400" spc="-5" dirty="0">
                <a:latin typeface="Times New Roman"/>
                <a:cs typeface="Times New Roman"/>
              </a:rPr>
              <a:t>el</a:t>
            </a:r>
            <a:r>
              <a:rPr sz="2400" spc="5" dirty="0">
                <a:latin typeface="Times New Roman"/>
                <a:cs typeface="Times New Roman"/>
              </a:rPr>
              <a:t> </a:t>
            </a:r>
            <a:r>
              <a:rPr sz="2400" spc="-5" dirty="0">
                <a:latin typeface="Times New Roman"/>
                <a:cs typeface="Times New Roman"/>
              </a:rPr>
              <a:t>hipercubo</a:t>
            </a:r>
            <a:r>
              <a:rPr sz="2400" spc="15" dirty="0">
                <a:latin typeface="Times New Roman"/>
                <a:cs typeface="Times New Roman"/>
              </a:rPr>
              <a:t> </a:t>
            </a:r>
            <a:r>
              <a:rPr sz="2400" spc="-5" dirty="0">
                <a:latin typeface="Times New Roman"/>
                <a:cs typeface="Times New Roman"/>
              </a:rPr>
              <a:t>[0,1]</a:t>
            </a:r>
            <a:r>
              <a:rPr sz="2400" spc="-20" dirty="0">
                <a:latin typeface="Times New Roman"/>
                <a:cs typeface="Times New Roman"/>
              </a:rPr>
              <a:t> </a:t>
            </a:r>
            <a:r>
              <a:rPr sz="2400" spc="-5" dirty="0">
                <a:latin typeface="Times New Roman"/>
                <a:cs typeface="Times New Roman"/>
              </a:rPr>
              <a:t>y</a:t>
            </a:r>
            <a:r>
              <a:rPr sz="2400" spc="15" dirty="0">
                <a:latin typeface="Times New Roman"/>
                <a:cs typeface="Times New Roman"/>
              </a:rPr>
              <a:t> </a:t>
            </a:r>
            <a:r>
              <a:rPr sz="2400" spc="-5" dirty="0">
                <a:latin typeface="Times New Roman"/>
                <a:cs typeface="Times New Roman"/>
              </a:rPr>
              <a:t>є</a:t>
            </a:r>
            <a:r>
              <a:rPr sz="2400" spc="5" dirty="0">
                <a:latin typeface="Times New Roman"/>
                <a:cs typeface="Times New Roman"/>
              </a:rPr>
              <a:t> </a:t>
            </a:r>
            <a:r>
              <a:rPr sz="2400" spc="-5" dirty="0">
                <a:latin typeface="Times New Roman"/>
                <a:cs typeface="Times New Roman"/>
              </a:rPr>
              <a:t>&gt;</a:t>
            </a:r>
            <a:r>
              <a:rPr sz="2400" spc="-10" dirty="0">
                <a:latin typeface="Times New Roman"/>
                <a:cs typeface="Times New Roman"/>
              </a:rPr>
              <a:t> </a:t>
            </a:r>
            <a:r>
              <a:rPr sz="2400" spc="-5" dirty="0">
                <a:latin typeface="Times New Roman"/>
                <a:cs typeface="Times New Roman"/>
              </a:rPr>
              <a:t>0, </a:t>
            </a:r>
            <a:r>
              <a:rPr sz="2400" spc="-685" dirty="0">
                <a:latin typeface="Times New Roman"/>
                <a:cs typeface="Times New Roman"/>
              </a:rPr>
              <a:t> </a:t>
            </a:r>
            <a:r>
              <a:rPr sz="2400" spc="-5" dirty="0">
                <a:latin typeface="Times New Roman"/>
                <a:cs typeface="Times New Roman"/>
              </a:rPr>
              <a:t>existe</a:t>
            </a:r>
            <a:r>
              <a:rPr sz="2400" spc="-10" dirty="0">
                <a:latin typeface="Times New Roman"/>
                <a:cs typeface="Times New Roman"/>
              </a:rPr>
              <a:t> </a:t>
            </a:r>
            <a:r>
              <a:rPr sz="2400" i="1" spc="-5" dirty="0">
                <a:latin typeface="Times New Roman"/>
                <a:cs typeface="Times New Roman"/>
              </a:rPr>
              <a:t>N</a:t>
            </a:r>
            <a:r>
              <a:rPr sz="2400" i="1" dirty="0">
                <a:latin typeface="Times New Roman"/>
                <a:cs typeface="Times New Roman"/>
              </a:rPr>
              <a:t> </a:t>
            </a:r>
            <a:r>
              <a:rPr sz="2400" spc="-5" dirty="0">
                <a:latin typeface="Times New Roman"/>
                <a:cs typeface="Times New Roman"/>
              </a:rPr>
              <a:t>y</a:t>
            </a:r>
            <a:r>
              <a:rPr sz="2400" spc="10" dirty="0">
                <a:latin typeface="Times New Roman"/>
                <a:cs typeface="Times New Roman"/>
              </a:rPr>
              <a:t> </a:t>
            </a:r>
            <a:r>
              <a:rPr sz="2400" spc="-5" dirty="0">
                <a:latin typeface="Times New Roman"/>
                <a:cs typeface="Times New Roman"/>
              </a:rPr>
              <a:t>constantes</a:t>
            </a:r>
            <a:r>
              <a:rPr sz="2400" spc="5" dirty="0">
                <a:latin typeface="Times New Roman"/>
                <a:cs typeface="Times New Roman"/>
              </a:rPr>
              <a:t> </a:t>
            </a:r>
            <a:r>
              <a:rPr sz="2400" i="1" spc="-5" dirty="0">
                <a:latin typeface="Times New Roman"/>
                <a:cs typeface="Times New Roman"/>
              </a:rPr>
              <a:t>α</a:t>
            </a:r>
            <a:r>
              <a:rPr sz="2400" i="1" spc="-7" baseline="-12345" dirty="0">
                <a:latin typeface="Times New Roman"/>
                <a:cs typeface="Times New Roman"/>
              </a:rPr>
              <a:t>i</a:t>
            </a:r>
            <a:r>
              <a:rPr sz="2400" spc="-5" dirty="0">
                <a:latin typeface="Times New Roman"/>
                <a:cs typeface="Times New Roman"/>
              </a:rPr>
              <a:t>,</a:t>
            </a:r>
            <a:r>
              <a:rPr sz="2400" spc="-10" dirty="0">
                <a:latin typeface="Times New Roman"/>
                <a:cs typeface="Times New Roman"/>
              </a:rPr>
              <a:t> </a:t>
            </a:r>
            <a:r>
              <a:rPr sz="2400" i="1" dirty="0">
                <a:latin typeface="Times New Roman"/>
                <a:cs typeface="Times New Roman"/>
              </a:rPr>
              <a:t>b</a:t>
            </a:r>
            <a:r>
              <a:rPr sz="2400" i="1" baseline="-12345" dirty="0">
                <a:latin typeface="Times New Roman"/>
                <a:cs typeface="Times New Roman"/>
              </a:rPr>
              <a:t>i</a:t>
            </a:r>
            <a:r>
              <a:rPr sz="2400" dirty="0">
                <a:latin typeface="Times New Roman"/>
                <a:cs typeface="Times New Roman"/>
              </a:rPr>
              <a:t>,</a:t>
            </a:r>
            <a:r>
              <a:rPr sz="2400" spc="5" dirty="0">
                <a:latin typeface="Times New Roman"/>
                <a:cs typeface="Times New Roman"/>
              </a:rPr>
              <a:t> </a:t>
            </a:r>
            <a:r>
              <a:rPr sz="2400" i="1" spc="-5" dirty="0">
                <a:latin typeface="Times New Roman"/>
                <a:cs typeface="Times New Roman"/>
              </a:rPr>
              <a:t>w</a:t>
            </a:r>
            <a:r>
              <a:rPr sz="2400" i="1" spc="-7" baseline="-12345" dirty="0">
                <a:latin typeface="Times New Roman"/>
                <a:cs typeface="Times New Roman"/>
              </a:rPr>
              <a:t>i</a:t>
            </a:r>
            <a:r>
              <a:rPr sz="2400" i="1" spc="367" baseline="-12345" dirty="0">
                <a:latin typeface="Times New Roman"/>
                <a:cs typeface="Times New Roman"/>
              </a:rPr>
              <a:t> </a:t>
            </a:r>
            <a:r>
              <a:rPr sz="2400" dirty="0">
                <a:latin typeface="Times New Roman"/>
                <a:cs typeface="Times New Roman"/>
              </a:rPr>
              <a:t>en </a:t>
            </a:r>
            <a:r>
              <a:rPr sz="2400" b="1" spc="-5" dirty="0">
                <a:latin typeface="Times New Roman"/>
                <a:cs typeface="Times New Roman"/>
              </a:rPr>
              <a:t>R</a:t>
            </a:r>
            <a:r>
              <a:rPr sz="2400" i="1" spc="-7" baseline="38580" dirty="0">
                <a:latin typeface="Times New Roman"/>
                <a:cs typeface="Times New Roman"/>
              </a:rPr>
              <a:t>m</a:t>
            </a:r>
            <a:r>
              <a:rPr sz="2400" spc="-5" dirty="0">
                <a:latin typeface="Times New Roman"/>
                <a:cs typeface="Times New Roman"/>
              </a:rPr>
              <a:t>,</a:t>
            </a:r>
            <a:r>
              <a:rPr sz="2400" dirty="0">
                <a:latin typeface="Times New Roman"/>
                <a:cs typeface="Times New Roman"/>
              </a:rPr>
              <a:t> </a:t>
            </a:r>
            <a:r>
              <a:rPr sz="2400" spc="-5" dirty="0">
                <a:latin typeface="Times New Roman"/>
                <a:cs typeface="Times New Roman"/>
              </a:rPr>
              <a:t>tales</a:t>
            </a:r>
            <a:r>
              <a:rPr sz="2400" spc="10" dirty="0">
                <a:latin typeface="Times New Roman"/>
                <a:cs typeface="Times New Roman"/>
              </a:rPr>
              <a:t> </a:t>
            </a:r>
            <a:r>
              <a:rPr sz="2400" spc="-5" dirty="0">
                <a:latin typeface="Times New Roman"/>
                <a:cs typeface="Times New Roman"/>
              </a:rPr>
              <a:t>que:</a:t>
            </a:r>
            <a:endParaRPr sz="2400" dirty="0">
              <a:latin typeface="Times New Roman"/>
              <a:cs typeface="Times New Roman"/>
            </a:endParaRPr>
          </a:p>
        </p:txBody>
      </p:sp>
      <p:grpSp>
        <p:nvGrpSpPr>
          <p:cNvPr id="4" name="object 4"/>
          <p:cNvGrpSpPr/>
          <p:nvPr/>
        </p:nvGrpSpPr>
        <p:grpSpPr>
          <a:xfrm>
            <a:off x="3441700" y="4901755"/>
            <a:ext cx="4419600" cy="1219200"/>
            <a:chOff x="817244" y="5384292"/>
            <a:chExt cx="4619625" cy="1638300"/>
          </a:xfrm>
        </p:grpSpPr>
        <p:pic>
          <p:nvPicPr>
            <p:cNvPr id="5" name="object 5"/>
            <p:cNvPicPr/>
            <p:nvPr/>
          </p:nvPicPr>
          <p:blipFill>
            <a:blip r:embed="rId2" cstate="print"/>
            <a:stretch>
              <a:fillRect/>
            </a:stretch>
          </p:blipFill>
          <p:spPr>
            <a:xfrm>
              <a:off x="817244" y="5384292"/>
              <a:ext cx="4619625" cy="1066241"/>
            </a:xfrm>
            <a:prstGeom prst="rect">
              <a:avLst/>
            </a:prstGeom>
          </p:spPr>
        </p:pic>
        <p:pic>
          <p:nvPicPr>
            <p:cNvPr id="6" name="object 6"/>
            <p:cNvPicPr/>
            <p:nvPr/>
          </p:nvPicPr>
          <p:blipFill>
            <a:blip r:embed="rId3" cstate="print"/>
            <a:stretch>
              <a:fillRect/>
            </a:stretch>
          </p:blipFill>
          <p:spPr>
            <a:xfrm>
              <a:off x="817244" y="6451092"/>
              <a:ext cx="4048125" cy="570941"/>
            </a:xfrm>
            <a:prstGeom prst="rect">
              <a:avLst/>
            </a:prstGeom>
          </p:spPr>
        </p:pic>
      </p:grpSp>
      <p:sp>
        <p:nvSpPr>
          <p:cNvPr id="7" name="Rectángulo 6"/>
          <p:cNvSpPr/>
          <p:nvPr/>
        </p:nvSpPr>
        <p:spPr>
          <a:xfrm>
            <a:off x="698500" y="6448425"/>
            <a:ext cx="8763000" cy="584775"/>
          </a:xfrm>
          <a:prstGeom prst="rect">
            <a:avLst/>
          </a:prstGeom>
          <a:ln>
            <a:solidFill>
              <a:schemeClr val="accent1"/>
            </a:solidFill>
          </a:ln>
        </p:spPr>
        <p:txBody>
          <a:bodyPr wrap="square">
            <a:spAutoFit/>
          </a:bodyPr>
          <a:lstStyle/>
          <a:p>
            <a:r>
              <a:rPr lang="es-ES" sz="1600" dirty="0" smtClean="0"/>
              <a:t>Script para entender de manera interactiva el Teorema de Aproximación Universal: https</a:t>
            </a:r>
            <a:r>
              <a:rPr lang="es-ES" sz="1600" dirty="0"/>
              <a:t>://ichi.pro/es/comprender-el-teorema-de-aproximacion-universal-con-codigo-131176068372273</a:t>
            </a:r>
          </a:p>
        </p:txBody>
      </p:sp>
    </p:spTree>
    <p:extLst>
      <p:ext uri="{BB962C8B-B14F-4D97-AF65-F5344CB8AC3E}">
        <p14:creationId xmlns:p14="http://schemas.microsoft.com/office/powerpoint/2010/main" val="357463539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2" y="321056"/>
            <a:ext cx="10028937" cy="1576714"/>
          </a:xfrm>
          <a:prstGeom prst="rect">
            <a:avLst/>
          </a:prstGeom>
        </p:spPr>
        <p:txBody>
          <a:bodyPr vert="horz" wrap="square" lIns="0" tIns="37465" rIns="0" bIns="0" rtlCol="0">
            <a:spAutoFit/>
          </a:bodyPr>
          <a:lstStyle/>
          <a:p>
            <a:pPr marL="12700" marR="5080">
              <a:lnSpc>
                <a:spcPts val="3010"/>
              </a:lnSpc>
              <a:spcBef>
                <a:spcPts val="295"/>
              </a:spcBef>
            </a:pPr>
            <a:r>
              <a:rPr lang="es-ES" b="1" spc="-5" dirty="0" smtClean="0">
                <a:solidFill>
                  <a:srgbClr val="538DD3"/>
                </a:solidFill>
              </a:rPr>
              <a:t>Si existe</a:t>
            </a:r>
            <a:r>
              <a:rPr b="1" spc="10" dirty="0" smtClean="0">
                <a:solidFill>
                  <a:srgbClr val="538DD3"/>
                </a:solidFill>
              </a:rPr>
              <a:t> </a:t>
            </a:r>
            <a:r>
              <a:rPr b="1" spc="-5" dirty="0">
                <a:solidFill>
                  <a:srgbClr val="538DD3"/>
                </a:solidFill>
              </a:rPr>
              <a:t>relación</a:t>
            </a:r>
            <a:r>
              <a:rPr b="1" spc="15" dirty="0">
                <a:solidFill>
                  <a:srgbClr val="538DD3"/>
                </a:solidFill>
              </a:rPr>
              <a:t> </a:t>
            </a:r>
            <a:r>
              <a:rPr b="1" spc="-5" dirty="0">
                <a:solidFill>
                  <a:srgbClr val="538DD3"/>
                </a:solidFill>
              </a:rPr>
              <a:t>entre</a:t>
            </a:r>
            <a:r>
              <a:rPr b="1" spc="10" dirty="0">
                <a:solidFill>
                  <a:srgbClr val="538DD3"/>
                </a:solidFill>
              </a:rPr>
              <a:t> </a:t>
            </a:r>
            <a:r>
              <a:rPr b="1" spc="-5" dirty="0">
                <a:solidFill>
                  <a:srgbClr val="538DD3"/>
                </a:solidFill>
              </a:rPr>
              <a:t>las</a:t>
            </a:r>
            <a:r>
              <a:rPr b="1" spc="15" dirty="0">
                <a:solidFill>
                  <a:srgbClr val="538DD3"/>
                </a:solidFill>
              </a:rPr>
              <a:t> </a:t>
            </a:r>
            <a:r>
              <a:rPr b="1" spc="-5" dirty="0">
                <a:solidFill>
                  <a:srgbClr val="538DD3"/>
                </a:solidFill>
              </a:rPr>
              <a:t>variables</a:t>
            </a:r>
            <a:r>
              <a:rPr b="1" dirty="0">
                <a:solidFill>
                  <a:srgbClr val="538DD3"/>
                </a:solidFill>
              </a:rPr>
              <a:t> input</a:t>
            </a:r>
            <a:r>
              <a:rPr b="1" spc="10" dirty="0">
                <a:solidFill>
                  <a:srgbClr val="538DD3"/>
                </a:solidFill>
              </a:rPr>
              <a:t> </a:t>
            </a:r>
            <a:r>
              <a:rPr b="1" dirty="0">
                <a:solidFill>
                  <a:srgbClr val="538DD3"/>
                </a:solidFill>
              </a:rPr>
              <a:t>y</a:t>
            </a:r>
            <a:r>
              <a:rPr b="1" spc="10" dirty="0">
                <a:solidFill>
                  <a:srgbClr val="538DD3"/>
                </a:solidFill>
              </a:rPr>
              <a:t> </a:t>
            </a:r>
            <a:r>
              <a:rPr b="1" spc="-10" dirty="0">
                <a:solidFill>
                  <a:srgbClr val="538DD3"/>
                </a:solidFill>
              </a:rPr>
              <a:t>la</a:t>
            </a:r>
            <a:r>
              <a:rPr b="1" spc="10" dirty="0">
                <a:solidFill>
                  <a:srgbClr val="538DD3"/>
                </a:solidFill>
              </a:rPr>
              <a:t> </a:t>
            </a:r>
            <a:r>
              <a:rPr b="1" spc="-5" dirty="0">
                <a:solidFill>
                  <a:srgbClr val="538DD3"/>
                </a:solidFill>
              </a:rPr>
              <a:t>variable</a:t>
            </a:r>
            <a:r>
              <a:rPr b="1" spc="10" dirty="0">
                <a:solidFill>
                  <a:srgbClr val="538DD3"/>
                </a:solidFill>
              </a:rPr>
              <a:t> </a:t>
            </a:r>
            <a:r>
              <a:rPr b="1" dirty="0">
                <a:solidFill>
                  <a:srgbClr val="538DD3"/>
                </a:solidFill>
              </a:rPr>
              <a:t>output </a:t>
            </a:r>
            <a:r>
              <a:rPr b="1" spc="-635" dirty="0">
                <a:solidFill>
                  <a:srgbClr val="538DD3"/>
                </a:solidFill>
              </a:rPr>
              <a:t> </a:t>
            </a:r>
            <a:r>
              <a:rPr b="1" dirty="0">
                <a:solidFill>
                  <a:srgbClr val="538DD3"/>
                </a:solidFill>
              </a:rPr>
              <a:t>y </a:t>
            </a:r>
            <a:r>
              <a:rPr b="1" spc="-5" dirty="0">
                <a:solidFill>
                  <a:srgbClr val="538DD3"/>
                </a:solidFill>
              </a:rPr>
              <a:t>esta</a:t>
            </a:r>
            <a:r>
              <a:rPr b="1" dirty="0">
                <a:solidFill>
                  <a:srgbClr val="538DD3"/>
                </a:solidFill>
              </a:rPr>
              <a:t> relación</a:t>
            </a:r>
            <a:r>
              <a:rPr b="1" spc="5" dirty="0">
                <a:solidFill>
                  <a:srgbClr val="538DD3"/>
                </a:solidFill>
              </a:rPr>
              <a:t> </a:t>
            </a:r>
            <a:r>
              <a:rPr b="1" dirty="0">
                <a:solidFill>
                  <a:srgbClr val="538DD3"/>
                </a:solidFill>
              </a:rPr>
              <a:t>es</a:t>
            </a:r>
            <a:r>
              <a:rPr b="1" spc="-15" dirty="0">
                <a:solidFill>
                  <a:srgbClr val="538DD3"/>
                </a:solidFill>
              </a:rPr>
              <a:t> </a:t>
            </a:r>
            <a:r>
              <a:rPr b="1" spc="-5" dirty="0">
                <a:solidFill>
                  <a:srgbClr val="538DD3"/>
                </a:solidFill>
              </a:rPr>
              <a:t>no</a:t>
            </a:r>
            <a:r>
              <a:rPr b="1" dirty="0">
                <a:solidFill>
                  <a:srgbClr val="538DD3"/>
                </a:solidFill>
              </a:rPr>
              <a:t> </a:t>
            </a:r>
            <a:r>
              <a:rPr b="1" spc="-5" dirty="0" smtClean="0">
                <a:solidFill>
                  <a:srgbClr val="538DD3"/>
                </a:solidFill>
              </a:rPr>
              <a:t>lineal</a:t>
            </a:r>
            <a:r>
              <a:rPr lang="es-ES" b="1" spc="-5" dirty="0" smtClean="0">
                <a:solidFill>
                  <a:srgbClr val="538DD3"/>
                </a:solidFill>
              </a:rPr>
              <a:t> o</a:t>
            </a:r>
            <a:r>
              <a:rPr b="1" spc="-10" dirty="0" smtClean="0">
                <a:solidFill>
                  <a:srgbClr val="538DD3"/>
                </a:solidFill>
              </a:rPr>
              <a:t> </a:t>
            </a:r>
            <a:r>
              <a:rPr b="1" spc="-5" dirty="0" err="1" smtClean="0">
                <a:solidFill>
                  <a:srgbClr val="538DD3"/>
                </a:solidFill>
              </a:rPr>
              <a:t>desconoci</a:t>
            </a:r>
            <a:r>
              <a:rPr lang="es-ES" b="1" spc="-5" dirty="0" smtClean="0">
                <a:solidFill>
                  <a:srgbClr val="538DD3"/>
                </a:solidFill>
              </a:rPr>
              <a:t>da</a:t>
            </a:r>
            <a:r>
              <a:rPr lang="es-ES" sz="2000" spc="-5" dirty="0" smtClean="0">
                <a:solidFill>
                  <a:schemeClr val="tx1"/>
                </a:solidFill>
              </a:rPr>
              <a:t>, e</a:t>
            </a:r>
            <a:r>
              <a:rPr sz="2000" spc="-5" dirty="0" smtClean="0">
                <a:solidFill>
                  <a:schemeClr val="tx1"/>
                </a:solidFill>
              </a:rPr>
              <a:t>l</a:t>
            </a:r>
            <a:r>
              <a:rPr sz="2000" spc="5" dirty="0" smtClean="0">
                <a:solidFill>
                  <a:schemeClr val="tx1"/>
                </a:solidFill>
              </a:rPr>
              <a:t> </a:t>
            </a:r>
            <a:r>
              <a:rPr lang="es-ES" sz="2000" spc="-5" dirty="0" smtClean="0">
                <a:solidFill>
                  <a:schemeClr val="tx1"/>
                </a:solidFill>
              </a:rPr>
              <a:t>Te</a:t>
            </a:r>
            <a:r>
              <a:rPr sz="2000" spc="-5" dirty="0" err="1" smtClean="0">
                <a:solidFill>
                  <a:schemeClr val="tx1"/>
                </a:solidFill>
              </a:rPr>
              <a:t>orema</a:t>
            </a:r>
            <a:r>
              <a:rPr sz="2000" spc="5" dirty="0" smtClean="0">
                <a:solidFill>
                  <a:schemeClr val="tx1"/>
                </a:solidFill>
              </a:rPr>
              <a:t> </a:t>
            </a:r>
            <a:r>
              <a:rPr sz="2000" dirty="0">
                <a:solidFill>
                  <a:schemeClr val="tx1"/>
                </a:solidFill>
              </a:rPr>
              <a:t>de</a:t>
            </a:r>
            <a:r>
              <a:rPr sz="2000" spc="5" dirty="0">
                <a:solidFill>
                  <a:schemeClr val="tx1"/>
                </a:solidFill>
              </a:rPr>
              <a:t> </a:t>
            </a:r>
            <a:r>
              <a:rPr lang="es-ES" sz="2000" spc="-5" dirty="0">
                <a:solidFill>
                  <a:schemeClr val="tx1"/>
                </a:solidFill>
              </a:rPr>
              <a:t>A</a:t>
            </a:r>
            <a:r>
              <a:rPr sz="2000" spc="-5" dirty="0" err="1" smtClean="0">
                <a:solidFill>
                  <a:schemeClr val="tx1"/>
                </a:solidFill>
              </a:rPr>
              <a:t>proximación</a:t>
            </a:r>
            <a:r>
              <a:rPr sz="2000" spc="10" dirty="0" smtClean="0">
                <a:solidFill>
                  <a:schemeClr val="tx1"/>
                </a:solidFill>
              </a:rPr>
              <a:t> </a:t>
            </a:r>
            <a:r>
              <a:rPr lang="es-ES" sz="2000" spc="-5" dirty="0">
                <a:solidFill>
                  <a:schemeClr val="tx1"/>
                </a:solidFill>
              </a:rPr>
              <a:t>U</a:t>
            </a:r>
            <a:r>
              <a:rPr sz="2000" spc="-5" dirty="0" err="1" smtClean="0">
                <a:solidFill>
                  <a:schemeClr val="tx1"/>
                </a:solidFill>
              </a:rPr>
              <a:t>niversal</a:t>
            </a:r>
            <a:r>
              <a:rPr sz="2000" spc="-5" dirty="0" smtClean="0">
                <a:solidFill>
                  <a:schemeClr val="tx1"/>
                </a:solidFill>
              </a:rPr>
              <a:t> </a:t>
            </a:r>
            <a:r>
              <a:rPr sz="2000" dirty="0" smtClean="0">
                <a:solidFill>
                  <a:schemeClr val="tx1"/>
                </a:solidFill>
              </a:rPr>
              <a:t>dice</a:t>
            </a:r>
            <a:r>
              <a:rPr sz="2000" spc="-5" dirty="0" smtClean="0">
                <a:solidFill>
                  <a:schemeClr val="tx1"/>
                </a:solidFill>
              </a:rPr>
              <a:t> </a:t>
            </a:r>
            <a:r>
              <a:rPr sz="2000" spc="5" dirty="0">
                <a:solidFill>
                  <a:schemeClr val="tx1"/>
                </a:solidFill>
              </a:rPr>
              <a:t>que </a:t>
            </a:r>
            <a:r>
              <a:rPr sz="2000" spc="-5" dirty="0">
                <a:solidFill>
                  <a:schemeClr val="tx1"/>
                </a:solidFill>
              </a:rPr>
              <a:t>esa </a:t>
            </a:r>
            <a:r>
              <a:rPr sz="2000" dirty="0">
                <a:solidFill>
                  <a:schemeClr val="tx1"/>
                </a:solidFill>
              </a:rPr>
              <a:t>función,</a:t>
            </a:r>
            <a:r>
              <a:rPr sz="2000" spc="5" dirty="0">
                <a:solidFill>
                  <a:schemeClr val="tx1"/>
                </a:solidFill>
              </a:rPr>
              <a:t> </a:t>
            </a:r>
            <a:r>
              <a:rPr sz="2000" spc="-5" dirty="0" err="1">
                <a:solidFill>
                  <a:schemeClr val="tx1"/>
                </a:solidFill>
              </a:rPr>
              <a:t>aunque</a:t>
            </a:r>
            <a:r>
              <a:rPr sz="2000" spc="5" dirty="0">
                <a:solidFill>
                  <a:schemeClr val="tx1"/>
                </a:solidFill>
              </a:rPr>
              <a:t> </a:t>
            </a:r>
            <a:r>
              <a:rPr lang="es-ES" sz="2000" spc="-5" dirty="0" smtClean="0">
                <a:solidFill>
                  <a:schemeClr val="tx1"/>
                </a:solidFill>
              </a:rPr>
              <a:t>sea desconocida,</a:t>
            </a:r>
            <a:r>
              <a:rPr lang="es-ES" sz="2000" spc="10" dirty="0" smtClean="0">
                <a:solidFill>
                  <a:schemeClr val="tx1"/>
                </a:solidFill>
              </a:rPr>
              <a:t> </a:t>
            </a:r>
            <a:r>
              <a:rPr lang="es-ES" sz="2000" spc="-5" dirty="0" smtClean="0">
                <a:solidFill>
                  <a:schemeClr val="tx1"/>
                </a:solidFill>
              </a:rPr>
              <a:t>se puede </a:t>
            </a:r>
            <a:r>
              <a:rPr lang="es-ES" sz="2000" dirty="0" smtClean="0">
                <a:solidFill>
                  <a:schemeClr val="tx1"/>
                </a:solidFill>
              </a:rPr>
              <a:t>aproximar </a:t>
            </a:r>
            <a:r>
              <a:rPr lang="es-ES" sz="2000" spc="5" dirty="0">
                <a:solidFill>
                  <a:schemeClr val="tx1"/>
                </a:solidFill>
              </a:rPr>
              <a:t>por</a:t>
            </a:r>
            <a:r>
              <a:rPr lang="es-ES" sz="2000" spc="15" dirty="0">
                <a:solidFill>
                  <a:schemeClr val="tx1"/>
                </a:solidFill>
              </a:rPr>
              <a:t> </a:t>
            </a:r>
            <a:r>
              <a:rPr lang="es-ES" sz="2000" spc="-5" dirty="0">
                <a:solidFill>
                  <a:schemeClr val="tx1"/>
                </a:solidFill>
              </a:rPr>
              <a:t>la</a:t>
            </a:r>
            <a:r>
              <a:rPr lang="es-ES" sz="2000" spc="10" dirty="0">
                <a:solidFill>
                  <a:schemeClr val="tx1"/>
                </a:solidFill>
              </a:rPr>
              <a:t> </a:t>
            </a:r>
            <a:r>
              <a:rPr lang="es-ES" sz="2000" spc="-5" dirty="0">
                <a:solidFill>
                  <a:schemeClr val="tx1"/>
                </a:solidFill>
              </a:rPr>
              <a:t>función</a:t>
            </a:r>
            <a:r>
              <a:rPr lang="es-ES" sz="2000" spc="10" dirty="0">
                <a:solidFill>
                  <a:schemeClr val="tx1"/>
                </a:solidFill>
              </a:rPr>
              <a:t> </a:t>
            </a:r>
            <a:r>
              <a:rPr lang="es-ES" sz="2000" spc="-5" dirty="0">
                <a:solidFill>
                  <a:schemeClr val="tx1"/>
                </a:solidFill>
              </a:rPr>
              <a:t>construida</a:t>
            </a:r>
            <a:r>
              <a:rPr lang="es-ES" sz="2000" spc="10" dirty="0">
                <a:solidFill>
                  <a:schemeClr val="tx1"/>
                </a:solidFill>
              </a:rPr>
              <a:t> </a:t>
            </a:r>
            <a:r>
              <a:rPr lang="es-ES" sz="2000" dirty="0">
                <a:solidFill>
                  <a:schemeClr val="tx1"/>
                </a:solidFill>
              </a:rPr>
              <a:t>con</a:t>
            </a:r>
            <a:r>
              <a:rPr lang="es-ES" sz="2000" spc="15" dirty="0">
                <a:solidFill>
                  <a:schemeClr val="tx1"/>
                </a:solidFill>
              </a:rPr>
              <a:t> </a:t>
            </a:r>
            <a:r>
              <a:rPr lang="es-ES" sz="2000" dirty="0">
                <a:solidFill>
                  <a:schemeClr val="tx1"/>
                </a:solidFill>
              </a:rPr>
              <a:t>la </a:t>
            </a:r>
            <a:r>
              <a:rPr lang="es-ES" sz="2000" spc="-635" dirty="0">
                <a:solidFill>
                  <a:schemeClr val="tx1"/>
                </a:solidFill>
              </a:rPr>
              <a:t> </a:t>
            </a:r>
            <a:r>
              <a:rPr lang="es-ES" sz="2000" dirty="0">
                <a:solidFill>
                  <a:schemeClr val="tx1"/>
                </a:solidFill>
              </a:rPr>
              <a:t>red</a:t>
            </a:r>
            <a:r>
              <a:rPr lang="es-ES" sz="2000" spc="-5" dirty="0">
                <a:solidFill>
                  <a:schemeClr val="tx1"/>
                </a:solidFill>
              </a:rPr>
              <a:t> neuronal</a:t>
            </a:r>
            <a:r>
              <a:rPr lang="es-ES" sz="2800" dirty="0"/>
              <a:t/>
            </a:r>
            <a:br>
              <a:rPr lang="es-ES" sz="2800" dirty="0"/>
            </a:br>
            <a:endParaRPr sz="2600" dirty="0"/>
          </a:p>
        </p:txBody>
      </p:sp>
      <p:sp>
        <p:nvSpPr>
          <p:cNvPr id="3" name="object 3"/>
          <p:cNvSpPr txBox="1"/>
          <p:nvPr/>
        </p:nvSpPr>
        <p:spPr>
          <a:xfrm>
            <a:off x="346963" y="1461262"/>
            <a:ext cx="9603105" cy="400431"/>
          </a:xfrm>
          <a:prstGeom prst="rect">
            <a:avLst/>
          </a:prstGeom>
        </p:spPr>
        <p:txBody>
          <a:bodyPr vert="horz" wrap="square" lIns="0" tIns="39370" rIns="0" bIns="0" rtlCol="0">
            <a:spAutoFit/>
          </a:bodyPr>
          <a:lstStyle/>
          <a:p>
            <a:pPr marL="12700" marR="5080">
              <a:lnSpc>
                <a:spcPts val="2990"/>
              </a:lnSpc>
              <a:spcBef>
                <a:spcPts val="310"/>
              </a:spcBef>
            </a:pPr>
            <a:endParaRPr sz="2400" dirty="0">
              <a:latin typeface="Times New Roman"/>
              <a:cs typeface="Times New Roman"/>
            </a:endParaRPr>
          </a:p>
        </p:txBody>
      </p:sp>
      <mc:AlternateContent xmlns:mc="http://schemas.openxmlformats.org/markup-compatibility/2006" xmlns:a14="http://schemas.microsoft.com/office/drawing/2010/main">
        <mc:Choice Requires="a14">
          <p:sp>
            <p:nvSpPr>
              <p:cNvPr id="4" name="object 4"/>
              <p:cNvSpPr txBox="1"/>
              <p:nvPr/>
            </p:nvSpPr>
            <p:spPr>
              <a:xfrm>
                <a:off x="2070100" y="3115006"/>
                <a:ext cx="8547188" cy="2460994"/>
              </a:xfrm>
              <a:prstGeom prst="rect">
                <a:avLst/>
              </a:prstGeom>
            </p:spPr>
            <p:txBody>
              <a:bodyPr vert="horz" wrap="square" lIns="0" tIns="26669" rIns="0" bIns="0" rtlCol="0">
                <a:spAutoFit/>
              </a:bodyPr>
              <a:lstStyle/>
              <a:p>
                <a:pPr marL="12700" marR="3716654" algn="ctr">
                  <a:lnSpc>
                    <a:spcPct val="95600"/>
                  </a:lnSpc>
                  <a:spcBef>
                    <a:spcPts val="209"/>
                  </a:spcBef>
                </a:pPr>
                <a:r>
                  <a:rPr lang="es-ES" sz="2000" dirty="0" smtClean="0">
                    <a:latin typeface="Times New Roman"/>
                    <a:cs typeface="Times New Roman"/>
                  </a:rPr>
                  <a:t>En</a:t>
                </a:r>
                <a:r>
                  <a:rPr lang="es-ES" sz="2000" spc="-5" dirty="0">
                    <a:latin typeface="Times New Roman"/>
                    <a:cs typeface="Times New Roman"/>
                  </a:rPr>
                  <a:t> </a:t>
                </a:r>
                <a:r>
                  <a:rPr lang="es-ES" sz="2000" dirty="0">
                    <a:latin typeface="Times New Roman"/>
                    <a:cs typeface="Times New Roman"/>
                  </a:rPr>
                  <a:t>nuestro </a:t>
                </a:r>
                <a:r>
                  <a:rPr lang="es-ES" sz="2000" spc="-5" dirty="0">
                    <a:latin typeface="Times New Roman"/>
                    <a:cs typeface="Times New Roman"/>
                  </a:rPr>
                  <a:t>caso,</a:t>
                </a:r>
                <a:r>
                  <a:rPr lang="es-ES" sz="2000" dirty="0">
                    <a:latin typeface="Times New Roman"/>
                    <a:cs typeface="Times New Roman"/>
                  </a:rPr>
                  <a:t> </a:t>
                </a:r>
                <a:r>
                  <a:rPr lang="es-ES" sz="2000" spc="-5" dirty="0">
                    <a:latin typeface="Times New Roman"/>
                    <a:cs typeface="Times New Roman"/>
                  </a:rPr>
                  <a:t>F(x)=Y: </a:t>
                </a:r>
                <a:endParaRPr lang="es-ES" sz="2000" spc="-5" dirty="0" smtClean="0">
                  <a:latin typeface="Times New Roman"/>
                  <a:cs typeface="Times New Roman"/>
                </a:endParaRPr>
              </a:p>
              <a:p>
                <a:pPr marL="12700" marR="3716654" algn="ctr">
                  <a:lnSpc>
                    <a:spcPct val="95600"/>
                  </a:lnSpc>
                  <a:spcBef>
                    <a:spcPts val="209"/>
                  </a:spcBef>
                </a:pPr>
                <a:r>
                  <a:rPr lang="es-ES" sz="2000" dirty="0" smtClean="0">
                    <a:latin typeface="Times New Roman"/>
                    <a:cs typeface="Times New Roman"/>
                  </a:rPr>
                  <a:t> </a:t>
                </a:r>
                <a14:m>
                  <m:oMath xmlns:m="http://schemas.openxmlformats.org/officeDocument/2006/math">
                    <m:r>
                      <a:rPr lang="es-ES" sz="2000" b="0" i="1" smtClean="0">
                        <a:latin typeface="Cambria Math" panose="02040503050406030204" pitchFamily="18" charset="0"/>
                        <a:cs typeface="Times New Roman"/>
                      </a:rPr>
                      <m:t>𝑌</m:t>
                    </m:r>
                    <m:r>
                      <a:rPr lang="es-ES" sz="2000" b="0" i="1" smtClean="0">
                        <a:latin typeface="Cambria Math" panose="02040503050406030204" pitchFamily="18" charset="0"/>
                        <a:cs typeface="Times New Roman"/>
                      </a:rPr>
                      <m:t>=</m:t>
                    </m:r>
                    <m:r>
                      <m:rPr>
                        <m:sty m:val="p"/>
                      </m:rPr>
                      <a:rPr lang="es-ES" sz="2000" b="0" i="0" smtClean="0">
                        <a:latin typeface="Cambria Math" panose="02040503050406030204" pitchFamily="18" charset="0"/>
                        <a:cs typeface="Times New Roman"/>
                      </a:rPr>
                      <m:t>tanh</m:t>
                    </m:r>
                    <m:r>
                      <a:rPr lang="es-ES" sz="2000" b="0" i="1" smtClean="0">
                        <a:latin typeface="Cambria Math" panose="02040503050406030204" pitchFamily="18" charset="0"/>
                        <a:cs typeface="Times New Roman"/>
                      </a:rPr>
                      <m:t>⁡(</m:t>
                    </m:r>
                    <m:sSub>
                      <m:sSubPr>
                        <m:ctrlPr>
                          <a:rPr lang="es-ES" sz="2000" b="0" i="1" smtClean="0">
                            <a:latin typeface="Cambria Math" panose="02040503050406030204" pitchFamily="18" charset="0"/>
                            <a:cs typeface="Times New Roman"/>
                          </a:rPr>
                        </m:ctrlPr>
                      </m:sSubPr>
                      <m:e>
                        <m:r>
                          <a:rPr lang="es-ES" sz="2000" b="0" i="1" smtClean="0">
                            <a:latin typeface="Cambria Math" panose="02040503050406030204" pitchFamily="18" charset="0"/>
                            <a:cs typeface="Times New Roman"/>
                          </a:rPr>
                          <m:t>𝑤</m:t>
                        </m:r>
                      </m:e>
                      <m:sub>
                        <m:r>
                          <a:rPr lang="es-ES" sz="2000" b="0" i="1" smtClean="0">
                            <a:latin typeface="Cambria Math" panose="02040503050406030204" pitchFamily="18" charset="0"/>
                            <a:cs typeface="Times New Roman"/>
                          </a:rPr>
                          <m:t>1,</m:t>
                        </m:r>
                        <m:r>
                          <a:rPr lang="es-ES" sz="2000" b="0" i="1" smtClean="0">
                            <a:latin typeface="Cambria Math" panose="02040503050406030204" pitchFamily="18" charset="0"/>
                            <a:cs typeface="Times New Roman"/>
                          </a:rPr>
                          <m:t>𝑜𝑢𝑡</m:t>
                        </m:r>
                      </m:sub>
                    </m:sSub>
                    <m:r>
                      <a:rPr lang="es-ES" sz="2000" b="0" i="1" smtClean="0">
                        <a:latin typeface="Cambria Math" panose="02040503050406030204" pitchFamily="18" charset="0"/>
                        <a:cs typeface="Times New Roman"/>
                      </a:rPr>
                      <m:t>(</m:t>
                    </m:r>
                    <m:r>
                      <m:rPr>
                        <m:sty m:val="p"/>
                      </m:rPr>
                      <a:rPr lang="es-ES" sz="2000" b="0" i="0" smtClean="0">
                        <a:latin typeface="Cambria Math" panose="02040503050406030204" pitchFamily="18" charset="0"/>
                        <a:cs typeface="Times New Roman"/>
                      </a:rPr>
                      <m:t>tanh</m:t>
                    </m:r>
                    <m:r>
                      <a:rPr lang="es-ES" sz="2000" b="0" i="1" smtClean="0">
                        <a:latin typeface="Cambria Math" panose="02040503050406030204" pitchFamily="18" charset="0"/>
                        <a:cs typeface="Times New Roman"/>
                      </a:rPr>
                      <m:t>⁡(</m:t>
                    </m:r>
                    <m:sSub>
                      <m:sSubPr>
                        <m:ctrlPr>
                          <a:rPr lang="es-ES" sz="2000" b="0" i="1" smtClean="0">
                            <a:latin typeface="Cambria Math" panose="02040503050406030204" pitchFamily="18" charset="0"/>
                            <a:cs typeface="Times New Roman"/>
                          </a:rPr>
                        </m:ctrlPr>
                      </m:sSubPr>
                      <m:e>
                        <m:r>
                          <a:rPr lang="es-ES" sz="2000" b="0" i="1" smtClean="0">
                            <a:latin typeface="Cambria Math" panose="02040503050406030204" pitchFamily="18" charset="0"/>
                            <a:cs typeface="Times New Roman"/>
                          </a:rPr>
                          <m:t>𝑤</m:t>
                        </m:r>
                      </m:e>
                      <m:sub>
                        <m:r>
                          <a:rPr lang="es-ES" sz="2000" b="0" i="1" smtClean="0">
                            <a:latin typeface="Cambria Math" panose="02040503050406030204" pitchFamily="18" charset="0"/>
                            <a:cs typeface="Times New Roman"/>
                          </a:rPr>
                          <m:t>11</m:t>
                        </m:r>
                      </m:sub>
                    </m:sSub>
                    <m:r>
                      <a:rPr lang="es-ES" sz="2000" b="0" i="1" smtClean="0">
                        <a:latin typeface="Cambria Math" panose="02040503050406030204" pitchFamily="18" charset="0"/>
                        <a:cs typeface="Times New Roman"/>
                      </a:rPr>
                      <m:t>𝑋</m:t>
                    </m:r>
                    <m:r>
                      <a:rPr lang="es-ES" sz="2000" b="0" i="1" smtClean="0">
                        <a:latin typeface="Cambria Math" panose="02040503050406030204" pitchFamily="18" charset="0"/>
                        <a:cs typeface="Times New Roman"/>
                      </a:rPr>
                      <m:t>1+</m:t>
                    </m:r>
                    <m:sSub>
                      <m:sSubPr>
                        <m:ctrlPr>
                          <a:rPr lang="es-ES" sz="2000" b="0" i="1" smtClean="0">
                            <a:latin typeface="Cambria Math" panose="02040503050406030204" pitchFamily="18" charset="0"/>
                            <a:cs typeface="Times New Roman"/>
                          </a:rPr>
                        </m:ctrlPr>
                      </m:sSubPr>
                      <m:e>
                        <m:r>
                          <a:rPr lang="es-ES" sz="2000" b="0" i="1" smtClean="0">
                            <a:latin typeface="Cambria Math" panose="02040503050406030204" pitchFamily="18" charset="0"/>
                            <a:cs typeface="Times New Roman"/>
                          </a:rPr>
                          <m:t>𝑤</m:t>
                        </m:r>
                      </m:e>
                      <m:sub>
                        <m:r>
                          <a:rPr lang="es-ES" sz="2000" b="0" i="1" smtClean="0">
                            <a:latin typeface="Cambria Math" panose="02040503050406030204" pitchFamily="18" charset="0"/>
                            <a:cs typeface="Times New Roman"/>
                          </a:rPr>
                          <m:t>21</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2+</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b="0" i="1" smtClean="0">
                            <a:latin typeface="Cambria Math" panose="02040503050406030204" pitchFamily="18" charset="0"/>
                            <a:cs typeface="Times New Roman"/>
                          </a:rPr>
                          <m:t>3</m:t>
                        </m:r>
                        <m:r>
                          <a:rPr lang="es-ES" sz="2000" i="1">
                            <a:latin typeface="Cambria Math" panose="02040503050406030204" pitchFamily="18" charset="0"/>
                            <a:cs typeface="Times New Roman"/>
                          </a:rPr>
                          <m:t>1</m:t>
                        </m:r>
                      </m:sub>
                    </m:sSub>
                    <m:r>
                      <a:rPr lang="es-ES" sz="2000" i="1">
                        <a:latin typeface="Cambria Math" panose="02040503050406030204" pitchFamily="18" charset="0"/>
                        <a:cs typeface="Times New Roman"/>
                      </a:rPr>
                      <m:t>𝑋</m:t>
                    </m:r>
                    <m:r>
                      <a:rPr lang="es-ES" sz="2000" b="0" i="1" smtClean="0">
                        <a:latin typeface="Cambria Math" panose="02040503050406030204" pitchFamily="18" charset="0"/>
                        <a:cs typeface="Times New Roman"/>
                      </a:rPr>
                      <m:t>3</m:t>
                    </m:r>
                  </m:oMath>
                </a14:m>
                <a:r>
                  <a:rPr lang="es-ES" sz="2000" dirty="0">
                    <a:cs typeface="Times New Roman"/>
                  </a:rPr>
                  <a:t> </a:t>
                </a:r>
                <a14:m>
                  <m:oMath xmlns:m="http://schemas.openxmlformats.org/officeDocument/2006/math">
                    <m:r>
                      <a:rPr lang="es-ES" sz="2000" i="1">
                        <a:latin typeface="Cambria Math" panose="02040503050406030204" pitchFamily="18" charset="0"/>
                        <a:cs typeface="Times New Roman"/>
                      </a:rPr>
                      <m:t>+</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b="0" i="1" smtClean="0">
                            <a:latin typeface="Cambria Math" panose="02040503050406030204" pitchFamily="18" charset="0"/>
                            <a:cs typeface="Times New Roman"/>
                          </a:rPr>
                          <m:t>4</m:t>
                        </m:r>
                        <m:r>
                          <a:rPr lang="es-ES" sz="2000" i="1">
                            <a:latin typeface="Cambria Math" panose="02040503050406030204" pitchFamily="18" charset="0"/>
                            <a:cs typeface="Times New Roman"/>
                          </a:rPr>
                          <m:t>1</m:t>
                        </m:r>
                      </m:sub>
                    </m:sSub>
                    <m:r>
                      <a:rPr lang="es-ES" sz="2000" i="1">
                        <a:latin typeface="Cambria Math" panose="02040503050406030204" pitchFamily="18" charset="0"/>
                        <a:cs typeface="Times New Roman"/>
                      </a:rPr>
                      <m:t>𝑋</m:t>
                    </m:r>
                    <m:r>
                      <a:rPr lang="es-ES" sz="2000" b="0" i="1" smtClean="0">
                        <a:latin typeface="Cambria Math" panose="02040503050406030204" pitchFamily="18" charset="0"/>
                        <a:cs typeface="Times New Roman"/>
                      </a:rPr>
                      <m:t>4+</m:t>
                    </m:r>
                    <m:sSub>
                      <m:sSubPr>
                        <m:ctrlPr>
                          <a:rPr lang="es-ES" sz="2000" b="0" i="1" smtClean="0">
                            <a:latin typeface="Cambria Math" panose="02040503050406030204" pitchFamily="18" charset="0"/>
                            <a:cs typeface="Times New Roman"/>
                          </a:rPr>
                        </m:ctrlPr>
                      </m:sSubPr>
                      <m:e>
                        <m:r>
                          <a:rPr lang="es-ES" sz="2000" b="0" i="1" smtClean="0">
                            <a:latin typeface="Cambria Math" panose="02040503050406030204" pitchFamily="18" charset="0"/>
                            <a:cs typeface="Times New Roman"/>
                          </a:rPr>
                          <m:t>𝑏</m:t>
                        </m:r>
                      </m:e>
                      <m:sub>
                        <m:r>
                          <a:rPr lang="es-ES" sz="2000" b="0" i="1" smtClean="0">
                            <a:latin typeface="Cambria Math" panose="02040503050406030204" pitchFamily="18" charset="0"/>
                            <a:cs typeface="Times New Roman"/>
                          </a:rPr>
                          <m:t>1</m:t>
                        </m:r>
                      </m:sub>
                    </m:sSub>
                    <m:r>
                      <a:rPr lang="es-ES" sz="2000" b="0" i="1" smtClean="0">
                        <a:latin typeface="Cambria Math" panose="02040503050406030204" pitchFamily="18" charset="0"/>
                        <a:cs typeface="Times New Roman"/>
                      </a:rPr>
                      <m:t>)+</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b="0" i="1" smtClean="0">
                            <a:latin typeface="Cambria Math" panose="02040503050406030204" pitchFamily="18" charset="0"/>
                            <a:cs typeface="Times New Roman"/>
                          </a:rPr>
                          <m:t>2</m:t>
                        </m:r>
                        <m:r>
                          <a:rPr lang="es-ES" sz="2000" i="1">
                            <a:latin typeface="Cambria Math" panose="02040503050406030204" pitchFamily="18" charset="0"/>
                            <a:cs typeface="Times New Roman"/>
                          </a:rPr>
                          <m:t>,</m:t>
                        </m:r>
                        <m:r>
                          <a:rPr lang="es-ES" sz="2000" i="1">
                            <a:latin typeface="Cambria Math" panose="02040503050406030204" pitchFamily="18" charset="0"/>
                            <a:cs typeface="Times New Roman"/>
                          </a:rPr>
                          <m:t>𝑜𝑢𝑡</m:t>
                        </m:r>
                      </m:sub>
                    </m:sSub>
                    <m:r>
                      <a:rPr lang="es-ES" sz="2000" i="1">
                        <a:latin typeface="Cambria Math" panose="02040503050406030204" pitchFamily="18" charset="0"/>
                        <a:cs typeface="Times New Roman"/>
                      </a:rPr>
                      <m:t>(</m:t>
                    </m:r>
                    <m:func>
                      <m:funcPr>
                        <m:ctrlPr>
                          <a:rPr lang="es-ES" sz="2000" i="1">
                            <a:latin typeface="Cambria Math" panose="02040503050406030204" pitchFamily="18" charset="0"/>
                            <a:cs typeface="Times New Roman"/>
                          </a:rPr>
                        </m:ctrlPr>
                      </m:funcPr>
                      <m:fName>
                        <m:r>
                          <m:rPr>
                            <m:sty m:val="p"/>
                          </m:rPr>
                          <a:rPr lang="es-ES" sz="2000">
                            <a:latin typeface="Cambria Math" panose="02040503050406030204" pitchFamily="18" charset="0"/>
                            <a:cs typeface="Times New Roman"/>
                          </a:rPr>
                          <m:t>tanh</m:t>
                        </m:r>
                      </m:fName>
                      <m:e>
                        <m:d>
                          <m:dPr>
                            <m:ctrlPr>
                              <a:rPr lang="es-ES" sz="2000" i="1">
                                <a:latin typeface="Cambria Math" panose="02040503050406030204" pitchFamily="18" charset="0"/>
                                <a:cs typeface="Times New Roman"/>
                              </a:rPr>
                            </m:ctrlPr>
                          </m:dPr>
                          <m:e>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1</m:t>
                                </m:r>
                                <m:r>
                                  <a:rPr lang="es-ES" sz="2000" b="0" i="1" smtClean="0">
                                    <a:latin typeface="Cambria Math" panose="02040503050406030204" pitchFamily="18" charset="0"/>
                                    <a:cs typeface="Times New Roman"/>
                                  </a:rPr>
                                  <m:t>2</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1+</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2</m:t>
                                </m:r>
                                <m:r>
                                  <a:rPr lang="es-ES" sz="2000" b="0" i="1" smtClean="0">
                                    <a:latin typeface="Cambria Math" panose="02040503050406030204" pitchFamily="18" charset="0"/>
                                    <a:cs typeface="Times New Roman"/>
                                  </a:rPr>
                                  <m:t>2</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2+</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3</m:t>
                                </m:r>
                                <m:r>
                                  <a:rPr lang="es-ES" sz="2000" b="0" i="1" smtClean="0">
                                    <a:latin typeface="Cambria Math" panose="02040503050406030204" pitchFamily="18" charset="0"/>
                                    <a:cs typeface="Times New Roman"/>
                                  </a:rPr>
                                  <m:t>2</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3</m:t>
                            </m:r>
                            <m:r>
                              <m:rPr>
                                <m:nor/>
                              </m:rPr>
                              <a:rPr lang="es-ES" sz="2000" dirty="0">
                                <a:cs typeface="Times New Roman"/>
                              </a:rPr>
                              <m:t> </m:t>
                            </m:r>
                            <m:r>
                              <a:rPr lang="es-ES" sz="2000" i="1">
                                <a:latin typeface="Cambria Math" panose="02040503050406030204" pitchFamily="18" charset="0"/>
                                <a:cs typeface="Times New Roman"/>
                              </a:rPr>
                              <m:t>+</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4</m:t>
                                </m:r>
                                <m:r>
                                  <a:rPr lang="es-ES" sz="2000" b="0" i="1" smtClean="0">
                                    <a:latin typeface="Cambria Math" panose="02040503050406030204" pitchFamily="18" charset="0"/>
                                    <a:cs typeface="Times New Roman"/>
                                  </a:rPr>
                                  <m:t>2</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4+</m:t>
                            </m:r>
                            <m:sSub>
                              <m:sSubPr>
                                <m:ctrlPr>
                                  <a:rPr lang="es-ES" sz="2000" i="1" smtClean="0">
                                    <a:latin typeface="Cambria Math" panose="02040503050406030204" pitchFamily="18" charset="0"/>
                                    <a:cs typeface="Times New Roman"/>
                                  </a:rPr>
                                </m:ctrlPr>
                              </m:sSubPr>
                              <m:e>
                                <m:r>
                                  <a:rPr lang="es-ES" sz="2000" i="1">
                                    <a:latin typeface="Cambria Math" panose="02040503050406030204" pitchFamily="18" charset="0"/>
                                    <a:cs typeface="Times New Roman"/>
                                  </a:rPr>
                                  <m:t>𝑏</m:t>
                                </m:r>
                              </m:e>
                              <m:sub>
                                <m:r>
                                  <a:rPr lang="es-ES" sz="2000" b="0" i="1" smtClean="0">
                                    <a:latin typeface="Cambria Math" panose="02040503050406030204" pitchFamily="18" charset="0"/>
                                    <a:cs typeface="Times New Roman"/>
                                  </a:rPr>
                                  <m:t>2</m:t>
                                </m:r>
                              </m:sub>
                            </m:sSub>
                          </m:e>
                        </m:d>
                      </m:e>
                    </m:func>
                    <m:r>
                      <a:rPr lang="es-ES" sz="2000" b="0" i="1" smtClean="0">
                        <a:latin typeface="Cambria Math" panose="02040503050406030204" pitchFamily="18" charset="0"/>
                        <a:cs typeface="Times New Roman"/>
                      </a:rPr>
                      <m:t>+</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b="0" i="1" smtClean="0">
                            <a:latin typeface="Cambria Math" panose="02040503050406030204" pitchFamily="18" charset="0"/>
                            <a:cs typeface="Times New Roman"/>
                          </a:rPr>
                          <m:t>3</m:t>
                        </m:r>
                        <m:r>
                          <a:rPr lang="es-ES" sz="2000" i="1">
                            <a:latin typeface="Cambria Math" panose="02040503050406030204" pitchFamily="18" charset="0"/>
                            <a:cs typeface="Times New Roman"/>
                          </a:rPr>
                          <m:t>,</m:t>
                        </m:r>
                        <m:r>
                          <a:rPr lang="es-ES" sz="2000" i="1">
                            <a:latin typeface="Cambria Math" panose="02040503050406030204" pitchFamily="18" charset="0"/>
                            <a:cs typeface="Times New Roman"/>
                          </a:rPr>
                          <m:t>𝑜𝑢𝑡</m:t>
                        </m:r>
                      </m:sub>
                    </m:sSub>
                    <m:r>
                      <a:rPr lang="es-ES" sz="2000" i="1">
                        <a:latin typeface="Cambria Math" panose="02040503050406030204" pitchFamily="18" charset="0"/>
                        <a:cs typeface="Times New Roman"/>
                      </a:rPr>
                      <m:t>(</m:t>
                    </m:r>
                    <m:func>
                      <m:funcPr>
                        <m:ctrlPr>
                          <a:rPr lang="es-ES" sz="2000" i="1">
                            <a:latin typeface="Cambria Math" panose="02040503050406030204" pitchFamily="18" charset="0"/>
                            <a:cs typeface="Times New Roman"/>
                          </a:rPr>
                        </m:ctrlPr>
                      </m:funcPr>
                      <m:fName>
                        <m:r>
                          <m:rPr>
                            <m:sty m:val="p"/>
                          </m:rPr>
                          <a:rPr lang="es-ES" sz="2000">
                            <a:latin typeface="Cambria Math" panose="02040503050406030204" pitchFamily="18" charset="0"/>
                            <a:cs typeface="Times New Roman"/>
                          </a:rPr>
                          <m:t>tanh</m:t>
                        </m:r>
                      </m:fName>
                      <m:e>
                        <m:d>
                          <m:dPr>
                            <m:ctrlPr>
                              <a:rPr lang="es-ES" sz="2000" i="1">
                                <a:latin typeface="Cambria Math" panose="02040503050406030204" pitchFamily="18" charset="0"/>
                                <a:cs typeface="Times New Roman"/>
                              </a:rPr>
                            </m:ctrlPr>
                          </m:dPr>
                          <m:e>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1</m:t>
                                </m:r>
                                <m:r>
                                  <a:rPr lang="es-ES" sz="2000" b="0" i="1" smtClean="0">
                                    <a:latin typeface="Cambria Math" panose="02040503050406030204" pitchFamily="18" charset="0"/>
                                    <a:cs typeface="Times New Roman"/>
                                  </a:rPr>
                                  <m:t>3</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1+</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b="0" i="1" smtClean="0">
                                    <a:latin typeface="Cambria Math" panose="02040503050406030204" pitchFamily="18" charset="0"/>
                                    <a:cs typeface="Times New Roman"/>
                                  </a:rPr>
                                  <m:t>23</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2</m:t>
                            </m:r>
                            <m:sSub>
                              <m:sSubPr>
                                <m:ctrlPr>
                                  <a:rPr lang="es-ES" sz="2000" i="1">
                                    <a:latin typeface="Cambria Math" panose="02040503050406030204" pitchFamily="18" charset="0"/>
                                    <a:cs typeface="Times New Roman"/>
                                  </a:rPr>
                                </m:ctrlPr>
                              </m:sSubPr>
                              <m:e>
                                <m:r>
                                  <a:rPr lang="es-ES" sz="2000" b="0" i="1" smtClean="0">
                                    <a:latin typeface="Cambria Math" panose="02040503050406030204" pitchFamily="18" charset="0"/>
                                    <a:cs typeface="Times New Roman"/>
                                  </a:rPr>
                                  <m:t>+</m:t>
                                </m:r>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3</m:t>
                                </m:r>
                                <m:r>
                                  <a:rPr lang="es-ES" sz="2000" b="0" i="1" smtClean="0">
                                    <a:latin typeface="Cambria Math" panose="02040503050406030204" pitchFamily="18" charset="0"/>
                                    <a:cs typeface="Times New Roman"/>
                                  </a:rPr>
                                  <m:t>3</m:t>
                                </m:r>
                              </m:sub>
                            </m:sSub>
                            <m:r>
                              <m:rPr>
                                <m:nor/>
                              </m:rPr>
                              <a:rPr lang="es-ES" sz="2000" dirty="0">
                                <a:cs typeface="Times New Roman"/>
                              </a:rPr>
                              <m:t> </m:t>
                            </m:r>
                            <m:r>
                              <m:rPr>
                                <m:nor/>
                              </m:rPr>
                              <a:rPr lang="es-ES" sz="2000" b="0" i="0" dirty="0" smtClean="0">
                                <a:cs typeface="Times New Roman"/>
                              </a:rPr>
                              <m:t>X</m:t>
                            </m:r>
                            <m:r>
                              <m:rPr>
                                <m:nor/>
                              </m:rPr>
                              <a:rPr lang="es-ES" sz="2000" b="0" i="0" dirty="0" smtClean="0">
                                <a:cs typeface="Times New Roman"/>
                              </a:rPr>
                              <m:t>3</m:t>
                            </m:r>
                            <m:r>
                              <a:rPr lang="es-ES" sz="2000" i="1">
                                <a:latin typeface="Cambria Math" panose="02040503050406030204" pitchFamily="18" charset="0"/>
                                <a:cs typeface="Times New Roman"/>
                              </a:rPr>
                              <m:t>+</m:t>
                            </m:r>
                            <m:sSub>
                              <m:sSubPr>
                                <m:ctrlPr>
                                  <a:rPr lang="es-ES" sz="2000" i="1" smtClean="0">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4</m:t>
                                </m:r>
                                <m:r>
                                  <a:rPr lang="es-ES" sz="2000" b="0" i="1" smtClean="0">
                                    <a:latin typeface="Cambria Math" panose="02040503050406030204" pitchFamily="18" charset="0"/>
                                    <a:cs typeface="Times New Roman"/>
                                  </a:rPr>
                                  <m:t>3</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4+</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𝑏</m:t>
                                </m:r>
                              </m:e>
                              <m:sub>
                                <m:r>
                                  <a:rPr lang="es-ES" sz="2000" b="0" i="1" smtClean="0">
                                    <a:latin typeface="Cambria Math" panose="02040503050406030204" pitchFamily="18" charset="0"/>
                                    <a:cs typeface="Times New Roman"/>
                                  </a:rPr>
                                  <m:t>3</m:t>
                                </m:r>
                              </m:sub>
                            </m:sSub>
                          </m:e>
                        </m:d>
                      </m:e>
                    </m:func>
                    <m:r>
                      <a:rPr lang="es-ES" sz="2000" b="0" i="1" smtClean="0">
                        <a:latin typeface="Cambria Math" panose="02040503050406030204" pitchFamily="18" charset="0"/>
                        <a:cs typeface="Times New Roman"/>
                      </a:rPr>
                      <m:t>+</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b="0" i="1" smtClean="0">
                            <a:latin typeface="Cambria Math" panose="02040503050406030204" pitchFamily="18" charset="0"/>
                            <a:cs typeface="Times New Roman"/>
                          </a:rPr>
                          <m:t>4</m:t>
                        </m:r>
                        <m:r>
                          <a:rPr lang="es-ES" sz="2000" i="1">
                            <a:latin typeface="Cambria Math" panose="02040503050406030204" pitchFamily="18" charset="0"/>
                            <a:cs typeface="Times New Roman"/>
                          </a:rPr>
                          <m:t>,</m:t>
                        </m:r>
                        <m:r>
                          <a:rPr lang="es-ES" sz="2000" i="1">
                            <a:latin typeface="Cambria Math" panose="02040503050406030204" pitchFamily="18" charset="0"/>
                            <a:cs typeface="Times New Roman"/>
                          </a:rPr>
                          <m:t>𝑜𝑢𝑡</m:t>
                        </m:r>
                      </m:sub>
                    </m:sSub>
                    <m:r>
                      <a:rPr lang="es-ES" sz="2000" i="1">
                        <a:latin typeface="Cambria Math" panose="02040503050406030204" pitchFamily="18" charset="0"/>
                        <a:cs typeface="Times New Roman"/>
                      </a:rPr>
                      <m:t>(</m:t>
                    </m:r>
                    <m:func>
                      <m:funcPr>
                        <m:ctrlPr>
                          <a:rPr lang="es-ES" sz="2000" i="1">
                            <a:latin typeface="Cambria Math" panose="02040503050406030204" pitchFamily="18" charset="0"/>
                            <a:cs typeface="Times New Roman"/>
                          </a:rPr>
                        </m:ctrlPr>
                      </m:funcPr>
                      <m:fName>
                        <m:r>
                          <m:rPr>
                            <m:sty m:val="p"/>
                          </m:rPr>
                          <a:rPr lang="es-ES" sz="2000">
                            <a:latin typeface="Cambria Math" panose="02040503050406030204" pitchFamily="18" charset="0"/>
                            <a:cs typeface="Times New Roman"/>
                          </a:rPr>
                          <m:t>tanh</m:t>
                        </m:r>
                      </m:fName>
                      <m:e>
                        <m:d>
                          <m:dPr>
                            <m:ctrlPr>
                              <a:rPr lang="es-ES" sz="2000" i="1">
                                <a:latin typeface="Cambria Math" panose="02040503050406030204" pitchFamily="18" charset="0"/>
                                <a:cs typeface="Times New Roman"/>
                              </a:rPr>
                            </m:ctrlPr>
                          </m:dPr>
                          <m:e>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1</m:t>
                                </m:r>
                                <m:r>
                                  <a:rPr lang="es-ES" sz="2000" b="0" i="1" smtClean="0">
                                    <a:latin typeface="Cambria Math" panose="02040503050406030204" pitchFamily="18" charset="0"/>
                                    <a:cs typeface="Times New Roman"/>
                                  </a:rPr>
                                  <m:t>4</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1+</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2</m:t>
                                </m:r>
                                <m:r>
                                  <a:rPr lang="es-ES" sz="2000" b="0" i="1" smtClean="0">
                                    <a:latin typeface="Cambria Math" panose="02040503050406030204" pitchFamily="18" charset="0"/>
                                    <a:cs typeface="Times New Roman"/>
                                  </a:rPr>
                                  <m:t>4</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2+</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3</m:t>
                                </m:r>
                                <m:r>
                                  <a:rPr lang="es-ES" sz="2000" b="0" i="1" smtClean="0">
                                    <a:latin typeface="Cambria Math" panose="02040503050406030204" pitchFamily="18" charset="0"/>
                                    <a:cs typeface="Times New Roman"/>
                                  </a:rPr>
                                  <m:t>4</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3</m:t>
                            </m:r>
                            <m:r>
                              <m:rPr>
                                <m:nor/>
                              </m:rPr>
                              <a:rPr lang="es-ES" sz="2000" dirty="0">
                                <a:cs typeface="Times New Roman"/>
                              </a:rPr>
                              <m:t> </m:t>
                            </m:r>
                            <m:r>
                              <a:rPr lang="es-ES" sz="2000" i="1">
                                <a:latin typeface="Cambria Math" panose="02040503050406030204" pitchFamily="18" charset="0"/>
                                <a:cs typeface="Times New Roman"/>
                              </a:rPr>
                              <m:t>+</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𝑤</m:t>
                                </m:r>
                              </m:e>
                              <m:sub>
                                <m:r>
                                  <a:rPr lang="es-ES" sz="2000" i="1">
                                    <a:latin typeface="Cambria Math" panose="02040503050406030204" pitchFamily="18" charset="0"/>
                                    <a:cs typeface="Times New Roman"/>
                                  </a:rPr>
                                  <m:t>4</m:t>
                                </m:r>
                                <m:r>
                                  <a:rPr lang="es-ES" sz="2000" b="0" i="1" smtClean="0">
                                    <a:latin typeface="Cambria Math" panose="02040503050406030204" pitchFamily="18" charset="0"/>
                                    <a:cs typeface="Times New Roman"/>
                                  </a:rPr>
                                  <m:t>4</m:t>
                                </m:r>
                              </m:sub>
                            </m:sSub>
                            <m:r>
                              <a:rPr lang="es-ES" sz="2000" i="1">
                                <a:latin typeface="Cambria Math" panose="02040503050406030204" pitchFamily="18" charset="0"/>
                                <a:cs typeface="Times New Roman"/>
                              </a:rPr>
                              <m:t>𝑋</m:t>
                            </m:r>
                            <m:r>
                              <a:rPr lang="es-ES" sz="2000" i="1">
                                <a:latin typeface="Cambria Math" panose="02040503050406030204" pitchFamily="18" charset="0"/>
                                <a:cs typeface="Times New Roman"/>
                              </a:rPr>
                              <m:t>4+</m:t>
                            </m:r>
                            <m:sSub>
                              <m:sSubPr>
                                <m:ctrlPr>
                                  <a:rPr lang="es-ES" sz="2000" i="1">
                                    <a:latin typeface="Cambria Math" panose="02040503050406030204" pitchFamily="18" charset="0"/>
                                    <a:cs typeface="Times New Roman"/>
                                  </a:rPr>
                                </m:ctrlPr>
                              </m:sSubPr>
                              <m:e>
                                <m:r>
                                  <a:rPr lang="es-ES" sz="2000" i="1">
                                    <a:latin typeface="Cambria Math" panose="02040503050406030204" pitchFamily="18" charset="0"/>
                                    <a:cs typeface="Times New Roman"/>
                                  </a:rPr>
                                  <m:t>𝑏</m:t>
                                </m:r>
                              </m:e>
                              <m:sub>
                                <m:r>
                                  <a:rPr lang="es-ES" sz="2000" b="0" i="1" smtClean="0">
                                    <a:latin typeface="Cambria Math" panose="02040503050406030204" pitchFamily="18" charset="0"/>
                                    <a:cs typeface="Times New Roman"/>
                                  </a:rPr>
                                  <m:t>4</m:t>
                                </m:r>
                              </m:sub>
                            </m:sSub>
                          </m:e>
                        </m:d>
                      </m:e>
                    </m:func>
                    <m:r>
                      <a:rPr lang="es-ES" sz="2000" b="0" i="1" smtClean="0">
                        <a:latin typeface="Cambria Math" panose="02040503050406030204" pitchFamily="18" charset="0"/>
                        <a:cs typeface="Times New Roman"/>
                      </a:rPr>
                      <m:t>+</m:t>
                    </m:r>
                    <m:sSub>
                      <m:sSubPr>
                        <m:ctrlPr>
                          <a:rPr lang="es-ES" sz="2000" b="0" i="1" smtClean="0">
                            <a:latin typeface="Cambria Math" panose="02040503050406030204" pitchFamily="18" charset="0"/>
                            <a:cs typeface="Times New Roman"/>
                          </a:rPr>
                        </m:ctrlPr>
                      </m:sSubPr>
                      <m:e>
                        <m:r>
                          <a:rPr lang="es-ES" sz="2000" b="0" i="1" smtClean="0">
                            <a:latin typeface="Cambria Math" panose="02040503050406030204" pitchFamily="18" charset="0"/>
                            <a:cs typeface="Times New Roman"/>
                          </a:rPr>
                          <m:t>𝑏</m:t>
                        </m:r>
                      </m:e>
                      <m:sub>
                        <m:r>
                          <a:rPr lang="es-ES" sz="2000" b="0" i="1" smtClean="0">
                            <a:latin typeface="Cambria Math" panose="02040503050406030204" pitchFamily="18" charset="0"/>
                            <a:cs typeface="Times New Roman"/>
                          </a:rPr>
                          <m:t>𝑜𝑢𝑡</m:t>
                        </m:r>
                      </m:sub>
                    </m:sSub>
                    <m:r>
                      <a:rPr lang="es-ES" sz="2000" b="0" i="1" smtClean="0">
                        <a:latin typeface="Cambria Math" panose="02040503050406030204" pitchFamily="18" charset="0"/>
                        <a:cs typeface="Times New Roman"/>
                      </a:rPr>
                      <m:t>)</m:t>
                    </m:r>
                  </m:oMath>
                </a14:m>
                <a:endParaRPr lang="es-ES" sz="2400" spc="-5" dirty="0" smtClean="0">
                  <a:solidFill>
                    <a:srgbClr val="FF0000"/>
                  </a:solidFill>
                  <a:latin typeface="Times New Roman"/>
                  <a:cs typeface="Times New Roman"/>
                </a:endParaRPr>
              </a:p>
            </p:txBody>
          </p:sp>
        </mc:Choice>
        <mc:Fallback xmlns="">
          <p:sp>
            <p:nvSpPr>
              <p:cNvPr id="4" name="object 4"/>
              <p:cNvSpPr txBox="1">
                <a:spLocks noRot="1" noChangeAspect="1" noMove="1" noResize="1" noEditPoints="1" noAdjustHandles="1" noChangeArrowheads="1" noChangeShapeType="1" noTextEdit="1"/>
              </p:cNvSpPr>
              <p:nvPr/>
            </p:nvSpPr>
            <p:spPr>
              <a:xfrm>
                <a:off x="2070100" y="3115006"/>
                <a:ext cx="8547188" cy="2460994"/>
              </a:xfrm>
              <a:prstGeom prst="rect">
                <a:avLst/>
              </a:prstGeom>
              <a:blipFill rotWithShape="0">
                <a:blip r:embed="rId2"/>
                <a:stretch>
                  <a:fillRect l="-856" t="-2723" b="-32426"/>
                </a:stretch>
              </a:blipFill>
            </p:spPr>
            <p:txBody>
              <a:bodyPr/>
              <a:lstStyle/>
              <a:p>
                <a:r>
                  <a:rPr lang="es-ES">
                    <a:noFill/>
                  </a:rPr>
                  <a:t> </a:t>
                </a:r>
              </a:p>
            </p:txBody>
          </p:sp>
        </mc:Fallback>
      </mc:AlternateContent>
      <p:pic>
        <p:nvPicPr>
          <p:cNvPr id="5" name="object 5"/>
          <p:cNvPicPr/>
          <p:nvPr/>
        </p:nvPicPr>
        <p:blipFill>
          <a:blip r:embed="rId3" cstate="print"/>
          <a:stretch>
            <a:fillRect/>
          </a:stretch>
        </p:blipFill>
        <p:spPr>
          <a:xfrm>
            <a:off x="2776084" y="2091845"/>
            <a:ext cx="3729529" cy="760337"/>
          </a:xfrm>
          <a:prstGeom prst="rect">
            <a:avLst/>
          </a:prstGeom>
        </p:spPr>
      </p:pic>
      <p:sp>
        <p:nvSpPr>
          <p:cNvPr id="6" name="CuadroTexto 5"/>
          <p:cNvSpPr txBox="1"/>
          <p:nvPr/>
        </p:nvSpPr>
        <p:spPr>
          <a:xfrm>
            <a:off x="368140" y="5838825"/>
            <a:ext cx="10160159" cy="1600438"/>
          </a:xfrm>
          <a:prstGeom prst="rect">
            <a:avLst/>
          </a:prstGeom>
          <a:noFill/>
        </p:spPr>
        <p:txBody>
          <a:bodyPr wrap="square" rtlCol="0">
            <a:spAutoFit/>
          </a:bodyPr>
          <a:lstStyle/>
          <a:p>
            <a:r>
              <a:rPr lang="es-ES" sz="2000" spc="-5" dirty="0">
                <a:latin typeface="Times New Roman"/>
                <a:cs typeface="Times New Roman"/>
              </a:rPr>
              <a:t>“</a:t>
            </a:r>
            <a:r>
              <a:rPr lang="es-ES" sz="2000" spc="-5" dirty="0" err="1" smtClean="0">
                <a:latin typeface="Times New Roman"/>
                <a:cs typeface="Times New Roman"/>
              </a:rPr>
              <a:t>Sólamente</a:t>
            </a:r>
            <a:r>
              <a:rPr lang="es-ES" sz="2000" spc="-5" dirty="0">
                <a:latin typeface="Times New Roman"/>
                <a:cs typeface="Times New Roman"/>
              </a:rPr>
              <a:t>” </a:t>
            </a:r>
            <a:r>
              <a:rPr lang="es-ES" sz="2000" dirty="0">
                <a:latin typeface="Times New Roman"/>
                <a:cs typeface="Times New Roman"/>
              </a:rPr>
              <a:t>hay que</a:t>
            </a:r>
            <a:r>
              <a:rPr lang="es-ES" sz="2000" spc="-5" dirty="0">
                <a:latin typeface="Times New Roman"/>
                <a:cs typeface="Times New Roman"/>
              </a:rPr>
              <a:t> </a:t>
            </a:r>
            <a:r>
              <a:rPr lang="es-ES" sz="2000" dirty="0">
                <a:latin typeface="Times New Roman"/>
                <a:cs typeface="Times New Roman"/>
              </a:rPr>
              <a:t>decidir</a:t>
            </a:r>
            <a:r>
              <a:rPr lang="es-ES" sz="2000" spc="5" dirty="0">
                <a:latin typeface="Times New Roman"/>
                <a:cs typeface="Times New Roman"/>
              </a:rPr>
              <a:t> </a:t>
            </a:r>
            <a:r>
              <a:rPr lang="es-ES" sz="2000" spc="-5" dirty="0">
                <a:latin typeface="Times New Roman"/>
                <a:cs typeface="Times New Roman"/>
              </a:rPr>
              <a:t>el</a:t>
            </a:r>
            <a:r>
              <a:rPr lang="es-ES" sz="2000" spc="15" dirty="0">
                <a:latin typeface="Times New Roman"/>
                <a:cs typeface="Times New Roman"/>
              </a:rPr>
              <a:t> </a:t>
            </a:r>
            <a:r>
              <a:rPr lang="es-ES" sz="2000" b="1" spc="-5" dirty="0">
                <a:latin typeface="Times New Roman"/>
                <a:cs typeface="Times New Roman"/>
              </a:rPr>
              <a:t>número</a:t>
            </a:r>
            <a:r>
              <a:rPr lang="es-ES" sz="2000" b="1" dirty="0">
                <a:latin typeface="Times New Roman"/>
                <a:cs typeface="Times New Roman"/>
              </a:rPr>
              <a:t> </a:t>
            </a:r>
            <a:r>
              <a:rPr lang="es-ES" sz="2000" b="1" spc="-5" dirty="0">
                <a:latin typeface="Times New Roman"/>
                <a:cs typeface="Times New Roman"/>
              </a:rPr>
              <a:t>de</a:t>
            </a:r>
            <a:r>
              <a:rPr lang="es-ES" sz="2000" b="1" spc="-10" dirty="0">
                <a:latin typeface="Times New Roman"/>
                <a:cs typeface="Times New Roman"/>
              </a:rPr>
              <a:t> </a:t>
            </a:r>
            <a:r>
              <a:rPr lang="es-ES" sz="2000" b="1" spc="-5" dirty="0">
                <a:latin typeface="Times New Roman"/>
                <a:cs typeface="Times New Roman"/>
              </a:rPr>
              <a:t>nodos </a:t>
            </a:r>
            <a:r>
              <a:rPr lang="es-ES" sz="2000" b="1" dirty="0" smtClean="0">
                <a:latin typeface="Times New Roman"/>
                <a:cs typeface="Times New Roman"/>
              </a:rPr>
              <a:t>ocultos</a:t>
            </a:r>
            <a:r>
              <a:rPr lang="es-ES" sz="2000" dirty="0" smtClean="0">
                <a:latin typeface="Times New Roman"/>
                <a:cs typeface="Times New Roman"/>
              </a:rPr>
              <a:t>, </a:t>
            </a:r>
            <a:r>
              <a:rPr lang="es-ES" sz="2000" b="1" dirty="0">
                <a:latin typeface="Times New Roman"/>
                <a:cs typeface="Times New Roman"/>
              </a:rPr>
              <a:t>la</a:t>
            </a:r>
            <a:r>
              <a:rPr lang="es-ES" sz="2000" b="1" spc="-15" dirty="0">
                <a:latin typeface="Times New Roman"/>
                <a:cs typeface="Times New Roman"/>
              </a:rPr>
              <a:t> </a:t>
            </a:r>
            <a:r>
              <a:rPr lang="es-ES" sz="2000" b="1" dirty="0">
                <a:latin typeface="Times New Roman"/>
                <a:cs typeface="Times New Roman"/>
              </a:rPr>
              <a:t>función </a:t>
            </a:r>
            <a:r>
              <a:rPr lang="es-ES" sz="2000" b="1" spc="-5" dirty="0">
                <a:latin typeface="Times New Roman"/>
                <a:cs typeface="Times New Roman"/>
              </a:rPr>
              <a:t>de </a:t>
            </a:r>
            <a:r>
              <a:rPr lang="es-ES" sz="2000" b="1" dirty="0">
                <a:latin typeface="Times New Roman"/>
                <a:cs typeface="Times New Roman"/>
              </a:rPr>
              <a:t> activación </a:t>
            </a:r>
            <a:r>
              <a:rPr lang="es-ES" sz="2000" b="1" dirty="0" smtClean="0">
                <a:latin typeface="Times New Roman"/>
                <a:cs typeface="Times New Roman"/>
              </a:rPr>
              <a:t>φ </a:t>
            </a:r>
            <a:r>
              <a:rPr lang="es-ES" sz="2000" dirty="0">
                <a:latin typeface="Times New Roman"/>
                <a:cs typeface="Times New Roman"/>
              </a:rPr>
              <a:t>(en el </a:t>
            </a:r>
            <a:r>
              <a:rPr lang="es-ES" sz="2000" spc="-5" dirty="0">
                <a:latin typeface="Times New Roman"/>
                <a:cs typeface="Times New Roman"/>
              </a:rPr>
              <a:t>ejemplo, N=4, </a:t>
            </a:r>
            <a:r>
              <a:rPr lang="es-ES" sz="2000" spc="-5" dirty="0" smtClean="0">
                <a:latin typeface="Times New Roman"/>
                <a:cs typeface="Times New Roman"/>
              </a:rPr>
              <a:t>φ=</a:t>
            </a:r>
            <a:r>
              <a:rPr lang="es-ES" sz="2000" spc="-5" dirty="0" err="1" smtClean="0">
                <a:latin typeface="Times New Roman"/>
                <a:cs typeface="Times New Roman"/>
              </a:rPr>
              <a:t>tanh</a:t>
            </a:r>
            <a:r>
              <a:rPr lang="es-ES" sz="2000" spc="-5" dirty="0">
                <a:latin typeface="Times New Roman"/>
                <a:cs typeface="Times New Roman"/>
              </a:rPr>
              <a:t>) </a:t>
            </a:r>
            <a:r>
              <a:rPr lang="es-ES" sz="2000" dirty="0">
                <a:latin typeface="Times New Roman"/>
                <a:cs typeface="Times New Roman"/>
              </a:rPr>
              <a:t>y </a:t>
            </a:r>
            <a:r>
              <a:rPr lang="es-ES" sz="2000" spc="-5" dirty="0">
                <a:latin typeface="Times New Roman"/>
                <a:cs typeface="Times New Roman"/>
              </a:rPr>
              <a:t>finalmente </a:t>
            </a:r>
            <a:r>
              <a:rPr lang="es-ES" sz="2000" dirty="0">
                <a:latin typeface="Times New Roman"/>
                <a:cs typeface="Times New Roman"/>
              </a:rPr>
              <a:t>el valor de los </a:t>
            </a:r>
            <a:r>
              <a:rPr lang="es-ES" sz="2000" spc="5" dirty="0">
                <a:latin typeface="Times New Roman"/>
                <a:cs typeface="Times New Roman"/>
              </a:rPr>
              <a:t> </a:t>
            </a:r>
            <a:r>
              <a:rPr lang="es-ES" sz="2000" spc="-5" dirty="0">
                <a:latin typeface="Times New Roman"/>
                <a:cs typeface="Times New Roman"/>
              </a:rPr>
              <a:t>parámetros.</a:t>
            </a:r>
            <a:r>
              <a:rPr lang="es-ES" sz="2000" spc="5" dirty="0">
                <a:latin typeface="Times New Roman"/>
                <a:cs typeface="Times New Roman"/>
              </a:rPr>
              <a:t> </a:t>
            </a:r>
            <a:r>
              <a:rPr lang="es-ES" sz="2000" dirty="0">
                <a:latin typeface="Times New Roman"/>
                <a:cs typeface="Times New Roman"/>
              </a:rPr>
              <a:t>Esta</a:t>
            </a:r>
            <a:r>
              <a:rPr lang="es-ES" sz="2000" spc="10" dirty="0">
                <a:latin typeface="Times New Roman"/>
                <a:cs typeface="Times New Roman"/>
              </a:rPr>
              <a:t> </a:t>
            </a:r>
            <a:r>
              <a:rPr lang="es-ES" sz="2000" spc="-5" dirty="0">
                <a:latin typeface="Times New Roman"/>
                <a:cs typeface="Times New Roman"/>
              </a:rPr>
              <a:t>elección</a:t>
            </a:r>
            <a:r>
              <a:rPr lang="es-ES" sz="2000" spc="10" dirty="0">
                <a:latin typeface="Times New Roman"/>
                <a:cs typeface="Times New Roman"/>
              </a:rPr>
              <a:t> </a:t>
            </a:r>
            <a:r>
              <a:rPr lang="es-ES" sz="2000" spc="-5" dirty="0">
                <a:latin typeface="Times New Roman"/>
                <a:cs typeface="Times New Roman"/>
              </a:rPr>
              <a:t>se</a:t>
            </a:r>
            <a:r>
              <a:rPr lang="es-ES" sz="2000" dirty="0">
                <a:latin typeface="Times New Roman"/>
                <a:cs typeface="Times New Roman"/>
              </a:rPr>
              <a:t> realiza</a:t>
            </a:r>
            <a:r>
              <a:rPr lang="es-ES" sz="2000" spc="-10" dirty="0">
                <a:latin typeface="Times New Roman"/>
                <a:cs typeface="Times New Roman"/>
              </a:rPr>
              <a:t> </a:t>
            </a:r>
            <a:r>
              <a:rPr lang="es-ES" sz="2000" dirty="0">
                <a:latin typeface="Times New Roman"/>
                <a:cs typeface="Times New Roman"/>
              </a:rPr>
              <a:t>a</a:t>
            </a:r>
            <a:r>
              <a:rPr lang="es-ES" sz="2000" spc="5" dirty="0">
                <a:latin typeface="Times New Roman"/>
                <a:cs typeface="Times New Roman"/>
              </a:rPr>
              <a:t> </a:t>
            </a:r>
            <a:r>
              <a:rPr lang="es-ES" sz="2000" spc="-5" dirty="0">
                <a:latin typeface="Times New Roman"/>
                <a:cs typeface="Times New Roman"/>
              </a:rPr>
              <a:t>través</a:t>
            </a:r>
            <a:r>
              <a:rPr lang="es-ES" sz="2000" spc="5" dirty="0">
                <a:latin typeface="Times New Roman"/>
                <a:cs typeface="Times New Roman"/>
              </a:rPr>
              <a:t> </a:t>
            </a:r>
            <a:r>
              <a:rPr lang="es-ES" sz="2000" dirty="0">
                <a:latin typeface="Times New Roman"/>
                <a:cs typeface="Times New Roman"/>
              </a:rPr>
              <a:t>de</a:t>
            </a:r>
            <a:r>
              <a:rPr lang="es-ES" sz="2000" spc="5" dirty="0">
                <a:latin typeface="Times New Roman"/>
                <a:cs typeface="Times New Roman"/>
              </a:rPr>
              <a:t> </a:t>
            </a:r>
            <a:r>
              <a:rPr lang="es-ES" sz="2000" spc="-5" dirty="0">
                <a:latin typeface="Times New Roman"/>
                <a:cs typeface="Times New Roman"/>
              </a:rPr>
              <a:t>métodos</a:t>
            </a:r>
            <a:r>
              <a:rPr lang="es-ES" sz="2000" spc="10" dirty="0">
                <a:latin typeface="Times New Roman"/>
                <a:cs typeface="Times New Roman"/>
              </a:rPr>
              <a:t> </a:t>
            </a:r>
            <a:r>
              <a:rPr lang="es-ES" sz="2000" dirty="0">
                <a:latin typeface="Times New Roman"/>
                <a:cs typeface="Times New Roman"/>
              </a:rPr>
              <a:t>iterativos,</a:t>
            </a:r>
            <a:r>
              <a:rPr lang="es-ES" sz="2000" spc="5" dirty="0">
                <a:latin typeface="Times New Roman"/>
                <a:cs typeface="Times New Roman"/>
              </a:rPr>
              <a:t> </a:t>
            </a:r>
            <a:r>
              <a:rPr lang="es-ES" sz="2000" spc="-5" dirty="0">
                <a:latin typeface="Times New Roman"/>
                <a:cs typeface="Times New Roman"/>
              </a:rPr>
              <a:t>observando </a:t>
            </a:r>
            <a:r>
              <a:rPr lang="es-ES" sz="2000" spc="-585" dirty="0">
                <a:latin typeface="Times New Roman"/>
                <a:cs typeface="Times New Roman"/>
              </a:rPr>
              <a:t> </a:t>
            </a:r>
            <a:r>
              <a:rPr lang="es-ES" sz="2000" dirty="0">
                <a:latin typeface="Times New Roman"/>
                <a:cs typeface="Times New Roman"/>
              </a:rPr>
              <a:t>los </a:t>
            </a:r>
            <a:r>
              <a:rPr lang="es-ES" sz="2000" spc="-5" dirty="0">
                <a:latin typeface="Times New Roman"/>
                <a:cs typeface="Times New Roman"/>
              </a:rPr>
              <a:t>valores que </a:t>
            </a:r>
            <a:r>
              <a:rPr lang="es-ES" sz="2000" dirty="0">
                <a:latin typeface="Times New Roman"/>
                <a:cs typeface="Times New Roman"/>
              </a:rPr>
              <a:t>hacen </a:t>
            </a:r>
            <a:r>
              <a:rPr lang="es-ES" sz="2000" spc="-5" dirty="0">
                <a:latin typeface="Times New Roman"/>
                <a:cs typeface="Times New Roman"/>
              </a:rPr>
              <a:t>óptimo </a:t>
            </a:r>
            <a:r>
              <a:rPr lang="es-ES" sz="2000" dirty="0">
                <a:latin typeface="Times New Roman"/>
                <a:cs typeface="Times New Roman"/>
              </a:rPr>
              <a:t>el valor de la </a:t>
            </a:r>
            <a:r>
              <a:rPr lang="es-ES" sz="2000" spc="-5" dirty="0">
                <a:latin typeface="Times New Roman"/>
                <a:cs typeface="Times New Roman"/>
              </a:rPr>
              <a:t>función </a:t>
            </a:r>
            <a:r>
              <a:rPr lang="es-ES" sz="2000" dirty="0">
                <a:latin typeface="Times New Roman"/>
                <a:cs typeface="Times New Roman"/>
              </a:rPr>
              <a:t>objetivo </a:t>
            </a:r>
            <a:r>
              <a:rPr lang="es-ES" sz="2000" spc="-5" dirty="0">
                <a:latin typeface="Times New Roman"/>
                <a:cs typeface="Times New Roman"/>
              </a:rPr>
              <a:t>sobre </a:t>
            </a:r>
            <a:r>
              <a:rPr lang="es-ES" sz="2000" dirty="0">
                <a:latin typeface="Times New Roman"/>
                <a:cs typeface="Times New Roman"/>
              </a:rPr>
              <a:t>datos </a:t>
            </a:r>
            <a:r>
              <a:rPr lang="es-ES" sz="2000" spc="-5" dirty="0">
                <a:latin typeface="Times New Roman"/>
                <a:cs typeface="Times New Roman"/>
              </a:rPr>
              <a:t>de </a:t>
            </a:r>
            <a:r>
              <a:rPr lang="es-ES" sz="2000" dirty="0">
                <a:latin typeface="Times New Roman"/>
                <a:cs typeface="Times New Roman"/>
              </a:rPr>
              <a:t> validación.</a:t>
            </a:r>
          </a:p>
          <a:p>
            <a:endParaRPr lang="es-ES" dirty="0"/>
          </a:p>
        </p:txBody>
      </p:sp>
      <p:sp>
        <p:nvSpPr>
          <p:cNvPr id="7" name="CuadroTexto 6"/>
          <p:cNvSpPr txBox="1"/>
          <p:nvPr/>
        </p:nvSpPr>
        <p:spPr>
          <a:xfrm>
            <a:off x="6505613" y="1569305"/>
            <a:ext cx="2584068" cy="584775"/>
          </a:xfrm>
          <a:prstGeom prst="rect">
            <a:avLst/>
          </a:prstGeom>
          <a:noFill/>
          <a:ln>
            <a:solidFill>
              <a:schemeClr val="accent1"/>
            </a:solidFill>
          </a:ln>
        </p:spPr>
        <p:txBody>
          <a:bodyPr wrap="square" rtlCol="0">
            <a:spAutoFit/>
          </a:bodyPr>
          <a:lstStyle/>
          <a:p>
            <a:r>
              <a:rPr lang="es-ES" sz="1600" dirty="0" smtClean="0">
                <a:solidFill>
                  <a:srgbClr val="FF0000"/>
                </a:solidFill>
              </a:rPr>
              <a:t>Función de activación, nosotros la denotamos por </a:t>
            </a:r>
            <a:r>
              <a:rPr lang="es-ES" sz="1600" i="1" dirty="0" smtClean="0">
                <a:solidFill>
                  <a:srgbClr val="FF0000"/>
                </a:solidFill>
              </a:rPr>
              <a:t>f</a:t>
            </a:r>
            <a:endParaRPr lang="es-ES" sz="1600" i="1" dirty="0">
              <a:solidFill>
                <a:srgbClr val="FF0000"/>
              </a:solidFill>
            </a:endParaRPr>
          </a:p>
        </p:txBody>
      </p:sp>
      <p:cxnSp>
        <p:nvCxnSpPr>
          <p:cNvPr id="9" name="Conector recto de flecha 8"/>
          <p:cNvCxnSpPr>
            <a:stCxn id="7" idx="1"/>
          </p:cNvCxnSpPr>
          <p:nvPr/>
        </p:nvCxnSpPr>
        <p:spPr>
          <a:xfrm flipH="1">
            <a:off x="4813300" y="1861693"/>
            <a:ext cx="1692313" cy="486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3760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2195" y="314959"/>
            <a:ext cx="3505200" cy="574040"/>
          </a:xfrm>
          <a:prstGeom prst="rect">
            <a:avLst/>
          </a:prstGeom>
        </p:spPr>
        <p:txBody>
          <a:bodyPr vert="horz" wrap="square" lIns="0" tIns="12700" rIns="0" bIns="0" rtlCol="0">
            <a:spAutoFit/>
          </a:bodyPr>
          <a:lstStyle/>
          <a:p>
            <a:pPr marL="12700">
              <a:lnSpc>
                <a:spcPct val="100000"/>
              </a:lnSpc>
              <a:spcBef>
                <a:spcPts val="100"/>
              </a:spcBef>
            </a:pPr>
            <a:r>
              <a:rPr lang="es-ES" sz="3600" dirty="0" smtClean="0">
                <a:solidFill>
                  <a:schemeClr val="tx2">
                    <a:lumMod val="60000"/>
                    <a:lumOff val="40000"/>
                  </a:schemeClr>
                </a:solidFill>
              </a:rPr>
              <a:t>En otras palabras</a:t>
            </a:r>
            <a:endParaRPr sz="3600" dirty="0">
              <a:solidFill>
                <a:schemeClr val="tx2">
                  <a:lumMod val="60000"/>
                  <a:lumOff val="40000"/>
                </a:schemeClr>
              </a:solidFill>
            </a:endParaRPr>
          </a:p>
        </p:txBody>
      </p:sp>
      <p:sp>
        <p:nvSpPr>
          <p:cNvPr id="8" name="Rectángulo 7"/>
          <p:cNvSpPr/>
          <p:nvPr/>
        </p:nvSpPr>
        <p:spPr>
          <a:xfrm>
            <a:off x="620395" y="888999"/>
            <a:ext cx="9448800" cy="6217087"/>
          </a:xfrm>
          <a:prstGeom prst="rect">
            <a:avLst/>
          </a:prstGeom>
        </p:spPr>
        <p:txBody>
          <a:bodyPr wrap="square">
            <a:spAutoFit/>
          </a:bodyPr>
          <a:lstStyle/>
          <a:p>
            <a:pPr algn="just"/>
            <a:r>
              <a:rPr lang="es-ES" sz="2200" dirty="0">
                <a:solidFill>
                  <a:srgbClr val="374151"/>
                </a:solidFill>
                <a:latin typeface="+mj-lt"/>
              </a:rPr>
              <a:t>El teorema de aproximación universal </a:t>
            </a:r>
            <a:r>
              <a:rPr lang="es-ES" sz="2200" dirty="0" smtClean="0">
                <a:solidFill>
                  <a:srgbClr val="374151"/>
                </a:solidFill>
                <a:latin typeface="+mj-lt"/>
              </a:rPr>
              <a:t>dice </a:t>
            </a:r>
            <a:r>
              <a:rPr lang="es-ES" sz="2200" dirty="0">
                <a:solidFill>
                  <a:srgbClr val="374151"/>
                </a:solidFill>
                <a:latin typeface="+mj-lt"/>
              </a:rPr>
              <a:t>que una red neuronal con una </a:t>
            </a:r>
            <a:r>
              <a:rPr lang="es-ES" sz="2200" dirty="0" smtClean="0">
                <a:solidFill>
                  <a:srgbClr val="374151"/>
                </a:solidFill>
                <a:latin typeface="+mj-lt"/>
              </a:rPr>
              <a:t>capa </a:t>
            </a:r>
            <a:r>
              <a:rPr lang="es-ES" sz="2200" dirty="0">
                <a:solidFill>
                  <a:srgbClr val="374151"/>
                </a:solidFill>
                <a:latin typeface="+mj-lt"/>
              </a:rPr>
              <a:t>oculta y un número suficientemente grande de neuronas puede aproximar cualquier función continua en un intervalo finito de forma arbitrariamente precisa</a:t>
            </a:r>
            <a:r>
              <a:rPr lang="es-ES" sz="2200" dirty="0" smtClean="0">
                <a:solidFill>
                  <a:srgbClr val="374151"/>
                </a:solidFill>
                <a:latin typeface="+mj-lt"/>
              </a:rPr>
              <a:t>.</a:t>
            </a:r>
          </a:p>
          <a:p>
            <a:pPr algn="just"/>
            <a:endParaRPr lang="es-ES" sz="2200" dirty="0">
              <a:solidFill>
                <a:srgbClr val="374151"/>
              </a:solidFill>
              <a:latin typeface="+mj-lt"/>
            </a:endParaRPr>
          </a:p>
          <a:p>
            <a:pPr algn="just"/>
            <a:r>
              <a:rPr lang="es-ES" sz="2200" dirty="0" smtClean="0">
                <a:solidFill>
                  <a:srgbClr val="374151"/>
                </a:solidFill>
                <a:latin typeface="+mj-lt"/>
              </a:rPr>
              <a:t>Por tanto, </a:t>
            </a:r>
            <a:r>
              <a:rPr lang="es-ES" sz="2200" dirty="0">
                <a:solidFill>
                  <a:srgbClr val="374151"/>
                </a:solidFill>
                <a:latin typeface="+mj-lt"/>
              </a:rPr>
              <a:t>una red neuronal con </a:t>
            </a:r>
            <a:r>
              <a:rPr lang="es-ES" sz="2200" b="1" dirty="0">
                <a:solidFill>
                  <a:srgbClr val="374151"/>
                </a:solidFill>
                <a:latin typeface="+mj-lt"/>
              </a:rPr>
              <a:t>una sola capa oculta</a:t>
            </a:r>
            <a:r>
              <a:rPr lang="es-ES" sz="2200" dirty="0">
                <a:solidFill>
                  <a:srgbClr val="374151"/>
                </a:solidFill>
                <a:latin typeface="+mj-lt"/>
              </a:rPr>
              <a:t> puede modelar </a:t>
            </a:r>
            <a:r>
              <a:rPr lang="es-ES" sz="2200" b="1" dirty="0">
                <a:solidFill>
                  <a:srgbClr val="374151"/>
                </a:solidFill>
                <a:latin typeface="+mj-lt"/>
              </a:rPr>
              <a:t>cualquier función matemática continua</a:t>
            </a:r>
            <a:r>
              <a:rPr lang="es-ES" sz="2200" dirty="0">
                <a:solidFill>
                  <a:srgbClr val="374151"/>
                </a:solidFill>
                <a:latin typeface="+mj-lt"/>
              </a:rPr>
              <a:t> si tiene suficientes neuronas en esa capa oculta. </a:t>
            </a:r>
            <a:endParaRPr lang="es-ES" sz="2200" dirty="0" smtClean="0">
              <a:solidFill>
                <a:srgbClr val="374151"/>
              </a:solidFill>
              <a:latin typeface="+mj-lt"/>
            </a:endParaRPr>
          </a:p>
          <a:p>
            <a:pPr algn="just"/>
            <a:endParaRPr lang="es-ES" sz="2200" dirty="0">
              <a:solidFill>
                <a:srgbClr val="374151"/>
              </a:solidFill>
              <a:latin typeface="+mj-lt"/>
            </a:endParaRPr>
          </a:p>
          <a:p>
            <a:pPr algn="just"/>
            <a:r>
              <a:rPr lang="es-ES" sz="2200" dirty="0" smtClean="0">
                <a:solidFill>
                  <a:srgbClr val="374151"/>
                </a:solidFill>
                <a:latin typeface="+mj-lt"/>
              </a:rPr>
              <a:t>En </a:t>
            </a:r>
            <a:r>
              <a:rPr lang="es-ES" sz="2200" dirty="0">
                <a:solidFill>
                  <a:srgbClr val="374151"/>
                </a:solidFill>
                <a:latin typeface="+mj-lt"/>
              </a:rPr>
              <a:t>otras </a:t>
            </a:r>
            <a:r>
              <a:rPr lang="es-ES" sz="2200" dirty="0" smtClean="0">
                <a:solidFill>
                  <a:srgbClr val="374151"/>
                </a:solidFill>
                <a:latin typeface="+mj-lt"/>
              </a:rPr>
              <a:t>palabras…si </a:t>
            </a:r>
            <a:r>
              <a:rPr lang="es-ES" sz="2200" dirty="0">
                <a:solidFill>
                  <a:srgbClr val="374151"/>
                </a:solidFill>
                <a:latin typeface="+mj-lt"/>
              </a:rPr>
              <a:t>se puede representar una función matemática en un gráfico, entonces una red neuronal de </a:t>
            </a:r>
            <a:r>
              <a:rPr lang="es-ES" sz="2200" dirty="0" smtClean="0">
                <a:solidFill>
                  <a:srgbClr val="374151"/>
                </a:solidFill>
                <a:latin typeface="+mj-lt"/>
              </a:rPr>
              <a:t>una capa </a:t>
            </a:r>
            <a:r>
              <a:rPr lang="es-ES" sz="2200" dirty="0">
                <a:solidFill>
                  <a:srgbClr val="374151"/>
                </a:solidFill>
                <a:latin typeface="+mj-lt"/>
              </a:rPr>
              <a:t>oculta con suficientes neuronas puede aproximar esa función </a:t>
            </a:r>
            <a:r>
              <a:rPr lang="es-ES" sz="2200" dirty="0" smtClean="0">
                <a:solidFill>
                  <a:srgbClr val="374151"/>
                </a:solidFill>
                <a:latin typeface="+mj-lt"/>
              </a:rPr>
              <a:t>con </a:t>
            </a:r>
            <a:r>
              <a:rPr lang="es-ES" sz="2200" dirty="0">
                <a:solidFill>
                  <a:srgbClr val="374151"/>
                </a:solidFill>
                <a:latin typeface="+mj-lt"/>
              </a:rPr>
              <a:t>una precisión arbitraria</a:t>
            </a:r>
            <a:r>
              <a:rPr lang="es-ES" sz="2200" dirty="0" smtClean="0">
                <a:solidFill>
                  <a:srgbClr val="374151"/>
                </a:solidFill>
                <a:latin typeface="+mj-lt"/>
              </a:rPr>
              <a:t>.</a:t>
            </a:r>
          </a:p>
          <a:p>
            <a:pPr algn="just"/>
            <a:endParaRPr lang="es-ES" sz="2200" dirty="0">
              <a:solidFill>
                <a:srgbClr val="374151"/>
              </a:solidFill>
              <a:latin typeface="+mj-lt"/>
            </a:endParaRPr>
          </a:p>
          <a:p>
            <a:pPr algn="just"/>
            <a:r>
              <a:rPr lang="es-ES" sz="2200" dirty="0">
                <a:solidFill>
                  <a:srgbClr val="C00000"/>
                </a:solidFill>
                <a:latin typeface="+mj-lt"/>
              </a:rPr>
              <a:t>Este teorema es importante porque muestra la capacidad de las redes neuronales para modelar cualquier tipo de función </a:t>
            </a:r>
            <a:r>
              <a:rPr lang="es-ES" sz="2200" dirty="0" smtClean="0">
                <a:solidFill>
                  <a:srgbClr val="C00000"/>
                </a:solidFill>
                <a:latin typeface="+mj-lt"/>
              </a:rPr>
              <a:t>matemática.</a:t>
            </a:r>
          </a:p>
          <a:p>
            <a:pPr algn="just"/>
            <a:endParaRPr lang="es-ES" sz="2200" dirty="0">
              <a:solidFill>
                <a:srgbClr val="374151"/>
              </a:solidFill>
              <a:latin typeface="+mj-lt"/>
            </a:endParaRPr>
          </a:p>
          <a:p>
            <a:pPr algn="just"/>
            <a:r>
              <a:rPr lang="es-ES" sz="2200" dirty="0" smtClean="0">
                <a:solidFill>
                  <a:srgbClr val="374151"/>
                </a:solidFill>
                <a:latin typeface="+mj-lt"/>
              </a:rPr>
              <a:t>Además</a:t>
            </a:r>
            <a:r>
              <a:rPr lang="es-ES" sz="2200" dirty="0">
                <a:solidFill>
                  <a:srgbClr val="374151"/>
                </a:solidFill>
                <a:latin typeface="+mj-lt"/>
              </a:rPr>
              <a:t>, el teorema también proporciona una guía para determinar el número adecuado de neuronas en la capa oculta de una red neuronal para aproximar una función dada con una precisión determinada</a:t>
            </a:r>
            <a:r>
              <a:rPr lang="es-ES" sz="2400" dirty="0">
                <a:solidFill>
                  <a:srgbClr val="374151"/>
                </a:solidFill>
                <a:latin typeface="+mj-lt"/>
              </a:rPr>
              <a:t>.</a:t>
            </a:r>
            <a:endParaRPr lang="es-ES" sz="2400" b="0" i="0" dirty="0">
              <a:solidFill>
                <a:srgbClr val="374151"/>
              </a:solidFill>
              <a:effectLst/>
              <a:latin typeface="+mj-lt"/>
            </a:endParaRPr>
          </a:p>
        </p:txBody>
      </p:sp>
    </p:spTree>
    <p:extLst>
      <p:ext uri="{BB962C8B-B14F-4D97-AF65-F5344CB8AC3E}">
        <p14:creationId xmlns:p14="http://schemas.microsoft.com/office/powerpoint/2010/main" val="386924258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6963" y="314959"/>
            <a:ext cx="9999472" cy="369332"/>
          </a:xfrm>
        </p:spPr>
        <p:txBody>
          <a:bodyPr/>
          <a:lstStyle/>
          <a:p>
            <a:r>
              <a:rPr lang="es-ES" b="1" spc="-5" dirty="0" smtClean="0">
                <a:solidFill>
                  <a:srgbClr val="538DD3"/>
                </a:solidFill>
              </a:rPr>
              <a:t>Teorema de aproximación universal. Explicación fácil</a:t>
            </a:r>
            <a:endParaRPr lang="es-ES" dirty="0"/>
          </a:p>
        </p:txBody>
      </p:sp>
      <p:sp>
        <p:nvSpPr>
          <p:cNvPr id="4" name="Rectángulo 3"/>
          <p:cNvSpPr/>
          <p:nvPr/>
        </p:nvSpPr>
        <p:spPr>
          <a:xfrm>
            <a:off x="1384300" y="1343025"/>
            <a:ext cx="8229600" cy="5324535"/>
          </a:xfrm>
          <a:prstGeom prst="rect">
            <a:avLst/>
          </a:prstGeom>
        </p:spPr>
        <p:txBody>
          <a:bodyPr wrap="square">
            <a:spAutoFit/>
          </a:bodyPr>
          <a:lstStyle/>
          <a:p>
            <a:r>
              <a:rPr lang="es-ES" sz="2000" dirty="0" smtClean="0">
                <a:solidFill>
                  <a:srgbClr val="374151"/>
                </a:solidFill>
                <a:latin typeface="+mj-lt"/>
              </a:rPr>
              <a:t>Se aborda un </a:t>
            </a:r>
            <a:r>
              <a:rPr lang="es-ES" sz="2000" dirty="0">
                <a:solidFill>
                  <a:srgbClr val="374151"/>
                </a:solidFill>
                <a:latin typeface="+mj-lt"/>
              </a:rPr>
              <a:t>problema </a:t>
            </a:r>
            <a:r>
              <a:rPr lang="es-ES" sz="2000" dirty="0" smtClean="0">
                <a:solidFill>
                  <a:srgbClr val="374151"/>
                </a:solidFill>
                <a:latin typeface="+mj-lt"/>
              </a:rPr>
              <a:t>complicado: predecir </a:t>
            </a:r>
            <a:r>
              <a:rPr lang="es-ES" sz="2000" dirty="0">
                <a:solidFill>
                  <a:srgbClr val="374151"/>
                </a:solidFill>
                <a:latin typeface="+mj-lt"/>
              </a:rPr>
              <a:t>el precio de una casa </a:t>
            </a:r>
            <a:r>
              <a:rPr lang="es-ES" sz="2000" dirty="0" smtClean="0">
                <a:solidFill>
                  <a:srgbClr val="374151"/>
                </a:solidFill>
                <a:latin typeface="+mj-lt"/>
              </a:rPr>
              <a:t>en base a </a:t>
            </a:r>
            <a:r>
              <a:rPr lang="es-ES" sz="2000" dirty="0">
                <a:solidFill>
                  <a:srgbClr val="374151"/>
                </a:solidFill>
                <a:latin typeface="+mj-lt"/>
              </a:rPr>
              <a:t>características como el tamaño, el número de habitaciones, etc. </a:t>
            </a:r>
            <a:r>
              <a:rPr lang="es-ES" sz="2000" dirty="0" smtClean="0">
                <a:solidFill>
                  <a:srgbClr val="374151"/>
                </a:solidFill>
                <a:latin typeface="+mj-lt"/>
              </a:rPr>
              <a:t>difícil </a:t>
            </a:r>
            <a:r>
              <a:rPr lang="es-ES" sz="2000" dirty="0">
                <a:solidFill>
                  <a:srgbClr val="374151"/>
                </a:solidFill>
                <a:latin typeface="+mj-lt"/>
              </a:rPr>
              <a:t>de resolver con reglas simples o fórmulas exactas.</a:t>
            </a:r>
          </a:p>
          <a:p>
            <a:endParaRPr lang="es-ES" sz="2000" dirty="0" smtClean="0">
              <a:solidFill>
                <a:srgbClr val="374151"/>
              </a:solidFill>
              <a:latin typeface="+mj-lt"/>
            </a:endParaRPr>
          </a:p>
          <a:p>
            <a:r>
              <a:rPr lang="es-ES" sz="2000" dirty="0" smtClean="0">
                <a:solidFill>
                  <a:srgbClr val="374151"/>
                </a:solidFill>
                <a:latin typeface="+mj-lt"/>
              </a:rPr>
              <a:t>Ahí </a:t>
            </a:r>
            <a:r>
              <a:rPr lang="es-ES" sz="2000" dirty="0">
                <a:solidFill>
                  <a:srgbClr val="374151"/>
                </a:solidFill>
                <a:latin typeface="+mj-lt"/>
              </a:rPr>
              <a:t>es donde entra en juego la "</a:t>
            </a:r>
            <a:r>
              <a:rPr lang="es-ES" sz="2000" b="1" dirty="0">
                <a:solidFill>
                  <a:srgbClr val="374151"/>
                </a:solidFill>
                <a:latin typeface="+mj-lt"/>
              </a:rPr>
              <a:t>aproximación universal</a:t>
            </a:r>
            <a:r>
              <a:rPr lang="es-ES" sz="2000" dirty="0">
                <a:solidFill>
                  <a:srgbClr val="374151"/>
                </a:solidFill>
                <a:latin typeface="+mj-lt"/>
              </a:rPr>
              <a:t>".</a:t>
            </a:r>
          </a:p>
          <a:p>
            <a:endParaRPr lang="es-ES" sz="2000" dirty="0" smtClean="0">
              <a:solidFill>
                <a:srgbClr val="374151"/>
              </a:solidFill>
              <a:latin typeface="+mj-lt"/>
            </a:endParaRPr>
          </a:p>
          <a:p>
            <a:r>
              <a:rPr lang="es-ES" sz="2000" dirty="0" smtClean="0">
                <a:solidFill>
                  <a:srgbClr val="374151"/>
                </a:solidFill>
                <a:latin typeface="+mj-lt"/>
              </a:rPr>
              <a:t>Se </a:t>
            </a:r>
            <a:r>
              <a:rPr lang="es-ES" sz="2000" dirty="0">
                <a:solidFill>
                  <a:srgbClr val="374151"/>
                </a:solidFill>
                <a:latin typeface="+mj-lt"/>
              </a:rPr>
              <a:t>refiere a la capacidad de una red neuronal para aprender y representar cualquier función matemática. Entonces, </a:t>
            </a:r>
            <a:r>
              <a:rPr lang="es-ES" sz="2000" dirty="0" smtClean="0">
                <a:solidFill>
                  <a:srgbClr val="374151"/>
                </a:solidFill>
                <a:latin typeface="+mj-lt"/>
              </a:rPr>
              <a:t>se podría usar </a:t>
            </a:r>
            <a:r>
              <a:rPr lang="es-ES" sz="2000" dirty="0">
                <a:solidFill>
                  <a:srgbClr val="374151"/>
                </a:solidFill>
                <a:latin typeface="+mj-lt"/>
              </a:rPr>
              <a:t>una red neuronal para aproximarse a la función que relaciona las características de una casa con su precio</a:t>
            </a:r>
            <a:r>
              <a:rPr lang="es-ES" sz="2000" dirty="0" smtClean="0">
                <a:solidFill>
                  <a:srgbClr val="374151"/>
                </a:solidFill>
                <a:latin typeface="+mj-lt"/>
              </a:rPr>
              <a:t>.</a:t>
            </a:r>
          </a:p>
          <a:p>
            <a:endParaRPr lang="es-ES" sz="2000" dirty="0">
              <a:solidFill>
                <a:srgbClr val="374151"/>
              </a:solidFill>
              <a:latin typeface="+mj-lt"/>
            </a:endParaRPr>
          </a:p>
          <a:p>
            <a:r>
              <a:rPr lang="es-ES" sz="2000" dirty="0">
                <a:solidFill>
                  <a:srgbClr val="374151"/>
                </a:solidFill>
                <a:latin typeface="+mj-lt"/>
              </a:rPr>
              <a:t>Piensa en la red neuronal como un "aprendiz inteligente". Durante el entrenamiento, le mostramos ejemplos de casas con sus características y precios correspondientes. La red neuronal ajusta sus "conexiones" (pesos y sesgos) de manera que, al final del entrenamiento, sea capaz de hacer predicciones precisas sobre el precio de una casa incluso si no ha visto exactamente la misma antes</a:t>
            </a:r>
            <a:r>
              <a:rPr lang="es-ES" sz="2000" dirty="0" smtClean="0">
                <a:solidFill>
                  <a:srgbClr val="374151"/>
                </a:solidFill>
                <a:latin typeface="+mj-lt"/>
              </a:rPr>
              <a:t>.</a:t>
            </a:r>
            <a:endParaRPr lang="es-ES" sz="2000" dirty="0">
              <a:solidFill>
                <a:srgbClr val="374151"/>
              </a:solidFill>
              <a:latin typeface="+mj-lt"/>
            </a:endParaRPr>
          </a:p>
        </p:txBody>
      </p:sp>
    </p:spTree>
    <p:extLst>
      <p:ext uri="{BB962C8B-B14F-4D97-AF65-F5344CB8AC3E}">
        <p14:creationId xmlns:p14="http://schemas.microsoft.com/office/powerpoint/2010/main" val="149634165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1155700" y="1190625"/>
            <a:ext cx="9296400" cy="4739759"/>
          </a:xfrm>
        </p:spPr>
        <p:txBody>
          <a:bodyPr/>
          <a:lstStyle/>
          <a:p>
            <a:pPr algn="just"/>
            <a:r>
              <a:rPr lang="es-ES" sz="2800" dirty="0" smtClean="0">
                <a:solidFill>
                  <a:schemeClr val="tx1"/>
                </a:solidFill>
              </a:rPr>
              <a:t>Cuantos más nodos haya en la capa oculta, mejor se ajustará el modelo a los datos de entrenamiento. Sin embargo, esto puede provocar el problema de </a:t>
            </a:r>
            <a:r>
              <a:rPr lang="es-ES" sz="2800" b="1" dirty="0" smtClean="0">
                <a:solidFill>
                  <a:schemeClr val="tx1"/>
                </a:solidFill>
              </a:rPr>
              <a:t>sobreajuste</a:t>
            </a:r>
            <a:r>
              <a:rPr lang="es-ES" sz="2800" dirty="0" smtClean="0">
                <a:solidFill>
                  <a:schemeClr val="tx1"/>
                </a:solidFill>
              </a:rPr>
              <a:t>, de manera que cuando se introduzcan datos nuevos el modelo no sepa ajustarse. Por eso, es importante llegar a un </a:t>
            </a:r>
            <a:r>
              <a:rPr lang="es-ES" sz="2800" b="1" dirty="0" smtClean="0">
                <a:solidFill>
                  <a:schemeClr val="tx1"/>
                </a:solidFill>
              </a:rPr>
              <a:t>equilibrio</a:t>
            </a:r>
            <a:r>
              <a:rPr lang="es-ES" sz="2800" dirty="0" smtClean="0">
                <a:solidFill>
                  <a:schemeClr val="tx1"/>
                </a:solidFill>
              </a:rPr>
              <a:t>.</a:t>
            </a:r>
          </a:p>
          <a:p>
            <a:pPr algn="just"/>
            <a:endParaRPr lang="es-ES" sz="2800" dirty="0">
              <a:solidFill>
                <a:schemeClr val="tx1"/>
              </a:solidFill>
            </a:endParaRPr>
          </a:p>
          <a:p>
            <a:pPr algn="just"/>
            <a:r>
              <a:rPr lang="es-ES" sz="2800" dirty="0" smtClean="0">
                <a:solidFill>
                  <a:schemeClr val="tx1"/>
                </a:solidFill>
              </a:rPr>
              <a:t>El número de nodos de la capa oculta se calcula mediante </a:t>
            </a:r>
            <a:r>
              <a:rPr lang="es-ES" sz="2800" b="1" dirty="0" smtClean="0">
                <a:solidFill>
                  <a:schemeClr val="tx1"/>
                </a:solidFill>
              </a:rPr>
              <a:t>prueba-error</a:t>
            </a:r>
            <a:r>
              <a:rPr lang="es-ES" sz="2800" dirty="0" smtClean="0">
                <a:solidFill>
                  <a:schemeClr val="tx1"/>
                </a:solidFill>
              </a:rPr>
              <a:t>, atendiendo al número de observaciones, su complejidad, cantidad de variables, relaciones entre ellas, etc. Lo que está claro es que si no hay muchas observaciones, hay que evitar cantidades grandes de nodos en la capa oculta.</a:t>
            </a:r>
            <a:endParaRPr lang="es-ES" dirty="0">
              <a:solidFill>
                <a:schemeClr val="tx1"/>
              </a:solidFill>
            </a:endParaRPr>
          </a:p>
        </p:txBody>
      </p:sp>
    </p:spTree>
    <p:extLst>
      <p:ext uri="{BB962C8B-B14F-4D97-AF65-F5344CB8AC3E}">
        <p14:creationId xmlns:p14="http://schemas.microsoft.com/office/powerpoint/2010/main" val="57440768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5314" y="614157"/>
            <a:ext cx="9197186" cy="1092607"/>
          </a:xfrm>
          <a:prstGeom prst="rect">
            <a:avLst/>
          </a:prstGeom>
        </p:spPr>
        <p:txBody>
          <a:bodyPr vert="horz" wrap="square" lIns="0" tIns="28575" rIns="0" bIns="0" rtlCol="0">
            <a:spAutoFit/>
          </a:bodyPr>
          <a:lstStyle/>
          <a:p>
            <a:pPr marL="12700" marR="5080" algn="just">
              <a:lnSpc>
                <a:spcPct val="96000"/>
              </a:lnSpc>
              <a:spcBef>
                <a:spcPts val="225"/>
              </a:spcBef>
            </a:pPr>
            <a:r>
              <a:rPr spc="-5" dirty="0" err="1">
                <a:solidFill>
                  <a:schemeClr val="tx1"/>
                </a:solidFill>
              </a:rPr>
              <a:t>Gráficamente</a:t>
            </a:r>
            <a:r>
              <a:rPr spc="-5" dirty="0" smtClean="0">
                <a:solidFill>
                  <a:schemeClr val="tx1"/>
                </a:solidFill>
              </a:rPr>
              <a:t>,</a:t>
            </a:r>
            <a:r>
              <a:rPr lang="es-ES" spc="-5" dirty="0" smtClean="0">
                <a:solidFill>
                  <a:schemeClr val="tx1"/>
                </a:solidFill>
              </a:rPr>
              <a:t> </a:t>
            </a:r>
            <a:r>
              <a:rPr spc="-5" dirty="0" err="1" smtClean="0">
                <a:solidFill>
                  <a:schemeClr val="tx1"/>
                </a:solidFill>
              </a:rPr>
              <a:t>mientras</a:t>
            </a:r>
            <a:r>
              <a:rPr spc="-5" dirty="0" smtClean="0">
                <a:solidFill>
                  <a:schemeClr val="tx1"/>
                </a:solidFill>
              </a:rPr>
              <a:t> </a:t>
            </a:r>
            <a:r>
              <a:rPr dirty="0">
                <a:solidFill>
                  <a:schemeClr val="tx1"/>
                </a:solidFill>
              </a:rPr>
              <a:t>la </a:t>
            </a:r>
            <a:r>
              <a:rPr b="1" spc="-5" dirty="0">
                <a:solidFill>
                  <a:schemeClr val="tx1"/>
                </a:solidFill>
              </a:rPr>
              <a:t>regresión </a:t>
            </a:r>
            <a:r>
              <a:rPr dirty="0">
                <a:solidFill>
                  <a:schemeClr val="tx1"/>
                </a:solidFill>
              </a:rPr>
              <a:t>es un </a:t>
            </a:r>
            <a:r>
              <a:rPr spc="-5" dirty="0">
                <a:solidFill>
                  <a:schemeClr val="tx1"/>
                </a:solidFill>
              </a:rPr>
              <a:t>modelo rígido </a:t>
            </a:r>
            <a:r>
              <a:rPr dirty="0">
                <a:solidFill>
                  <a:schemeClr val="tx1"/>
                </a:solidFill>
              </a:rPr>
              <a:t>exclusivamente </a:t>
            </a:r>
            <a:r>
              <a:rPr spc="5" dirty="0">
                <a:solidFill>
                  <a:schemeClr val="tx1"/>
                </a:solidFill>
              </a:rPr>
              <a:t> </a:t>
            </a:r>
            <a:r>
              <a:rPr dirty="0">
                <a:solidFill>
                  <a:schemeClr val="tx1"/>
                </a:solidFill>
              </a:rPr>
              <a:t>lineal, la </a:t>
            </a:r>
            <a:r>
              <a:rPr b="1" spc="5" dirty="0">
                <a:solidFill>
                  <a:schemeClr val="tx1"/>
                </a:solidFill>
              </a:rPr>
              <a:t>red </a:t>
            </a:r>
            <a:r>
              <a:rPr b="1" spc="-5" dirty="0">
                <a:solidFill>
                  <a:schemeClr val="tx1"/>
                </a:solidFill>
              </a:rPr>
              <a:t>neuronal </a:t>
            </a:r>
            <a:r>
              <a:rPr dirty="0">
                <a:solidFill>
                  <a:schemeClr val="tx1"/>
                </a:solidFill>
              </a:rPr>
              <a:t>podrá </a:t>
            </a:r>
            <a:r>
              <a:rPr spc="-5" dirty="0">
                <a:solidFill>
                  <a:schemeClr val="tx1"/>
                </a:solidFill>
              </a:rPr>
              <a:t>ajustarse </a:t>
            </a:r>
            <a:r>
              <a:rPr dirty="0">
                <a:solidFill>
                  <a:schemeClr val="tx1"/>
                </a:solidFill>
              </a:rPr>
              <a:t>a </a:t>
            </a:r>
            <a:r>
              <a:rPr spc="-5" dirty="0">
                <a:solidFill>
                  <a:schemeClr val="tx1"/>
                </a:solidFill>
              </a:rPr>
              <a:t>las </a:t>
            </a:r>
            <a:r>
              <a:rPr dirty="0">
                <a:solidFill>
                  <a:schemeClr val="tx1"/>
                </a:solidFill>
              </a:rPr>
              <a:t>diferentes </a:t>
            </a:r>
            <a:r>
              <a:rPr dirty="0" err="1">
                <a:solidFill>
                  <a:schemeClr val="tx1"/>
                </a:solidFill>
              </a:rPr>
              <a:t>relaciones</a:t>
            </a:r>
            <a:r>
              <a:rPr dirty="0">
                <a:solidFill>
                  <a:schemeClr val="tx1"/>
                </a:solidFill>
              </a:rPr>
              <a:t> </a:t>
            </a:r>
            <a:r>
              <a:rPr lang="es-ES" dirty="0" smtClean="0">
                <a:solidFill>
                  <a:schemeClr val="tx1"/>
                </a:solidFill>
              </a:rPr>
              <a:t>Y</a:t>
            </a:r>
            <a:r>
              <a:rPr dirty="0" smtClean="0">
                <a:solidFill>
                  <a:schemeClr val="tx1"/>
                </a:solidFill>
              </a:rPr>
              <a:t>/</a:t>
            </a:r>
            <a:r>
              <a:rPr lang="es-ES" dirty="0" smtClean="0">
                <a:solidFill>
                  <a:schemeClr val="tx1"/>
                </a:solidFill>
              </a:rPr>
              <a:t>X</a:t>
            </a:r>
            <a:r>
              <a:rPr dirty="0" smtClean="0">
                <a:solidFill>
                  <a:schemeClr val="tx1"/>
                </a:solidFill>
              </a:rPr>
              <a:t>, </a:t>
            </a:r>
            <a:r>
              <a:rPr spc="-5" dirty="0">
                <a:solidFill>
                  <a:schemeClr val="tx1"/>
                </a:solidFill>
              </a:rPr>
              <a:t>sea </a:t>
            </a:r>
            <a:r>
              <a:rPr spc="-635" dirty="0">
                <a:solidFill>
                  <a:schemeClr val="tx1"/>
                </a:solidFill>
              </a:rPr>
              <a:t> </a:t>
            </a:r>
            <a:r>
              <a:rPr dirty="0">
                <a:solidFill>
                  <a:schemeClr val="tx1"/>
                </a:solidFill>
              </a:rPr>
              <a:t>cual</a:t>
            </a:r>
            <a:r>
              <a:rPr spc="-15" dirty="0">
                <a:solidFill>
                  <a:schemeClr val="tx1"/>
                </a:solidFill>
              </a:rPr>
              <a:t> </a:t>
            </a:r>
            <a:r>
              <a:rPr spc="-5" dirty="0">
                <a:solidFill>
                  <a:schemeClr val="tx1"/>
                </a:solidFill>
              </a:rPr>
              <a:t>sea</a:t>
            </a:r>
            <a:r>
              <a:rPr dirty="0">
                <a:solidFill>
                  <a:schemeClr val="tx1"/>
                </a:solidFill>
              </a:rPr>
              <a:t> </a:t>
            </a:r>
            <a:r>
              <a:rPr spc="-5" dirty="0">
                <a:solidFill>
                  <a:schemeClr val="tx1"/>
                </a:solidFill>
              </a:rPr>
              <a:t>la</a:t>
            </a:r>
            <a:r>
              <a:rPr dirty="0">
                <a:solidFill>
                  <a:schemeClr val="tx1"/>
                </a:solidFill>
              </a:rPr>
              <a:t> </a:t>
            </a:r>
            <a:r>
              <a:rPr spc="-5" dirty="0">
                <a:solidFill>
                  <a:schemeClr val="tx1"/>
                </a:solidFill>
              </a:rPr>
              <a:t>relación, </a:t>
            </a:r>
            <a:r>
              <a:rPr dirty="0">
                <a:solidFill>
                  <a:schemeClr val="tx1"/>
                </a:solidFill>
              </a:rPr>
              <a:t>aunque </a:t>
            </a:r>
            <a:r>
              <a:rPr spc="-5" dirty="0">
                <a:solidFill>
                  <a:schemeClr val="tx1"/>
                </a:solidFill>
              </a:rPr>
              <a:t>sea</a:t>
            </a:r>
            <a:r>
              <a:rPr spc="-10" dirty="0">
                <a:solidFill>
                  <a:schemeClr val="tx1"/>
                </a:solidFill>
              </a:rPr>
              <a:t> </a:t>
            </a:r>
            <a:r>
              <a:rPr dirty="0">
                <a:solidFill>
                  <a:schemeClr val="tx1"/>
                </a:solidFill>
              </a:rPr>
              <a:t>desconocida</a:t>
            </a:r>
            <a:r>
              <a:rPr spc="5" dirty="0">
                <a:solidFill>
                  <a:schemeClr val="tx1"/>
                </a:solidFill>
              </a:rPr>
              <a:t> </a:t>
            </a:r>
            <a:r>
              <a:rPr dirty="0">
                <a:solidFill>
                  <a:schemeClr val="tx1"/>
                </a:solidFill>
              </a:rPr>
              <a:t>a priori.</a:t>
            </a:r>
          </a:p>
        </p:txBody>
      </p:sp>
      <p:pic>
        <p:nvPicPr>
          <p:cNvPr id="3" name="object 3"/>
          <p:cNvPicPr/>
          <p:nvPr/>
        </p:nvPicPr>
        <p:blipFill>
          <a:blip r:embed="rId2" cstate="print"/>
          <a:stretch>
            <a:fillRect/>
          </a:stretch>
        </p:blipFill>
        <p:spPr>
          <a:xfrm>
            <a:off x="645314" y="2432923"/>
            <a:ext cx="3758212" cy="2331824"/>
          </a:xfrm>
          <a:prstGeom prst="rect">
            <a:avLst/>
          </a:prstGeom>
        </p:spPr>
      </p:pic>
      <p:grpSp>
        <p:nvGrpSpPr>
          <p:cNvPr id="4" name="object 4"/>
          <p:cNvGrpSpPr/>
          <p:nvPr/>
        </p:nvGrpSpPr>
        <p:grpSpPr>
          <a:xfrm>
            <a:off x="5531941" y="2114550"/>
            <a:ext cx="3512185" cy="2835910"/>
            <a:chOff x="5531941" y="2114550"/>
            <a:chExt cx="3512185" cy="2835910"/>
          </a:xfrm>
        </p:grpSpPr>
        <p:pic>
          <p:nvPicPr>
            <p:cNvPr id="5" name="object 5"/>
            <p:cNvPicPr/>
            <p:nvPr/>
          </p:nvPicPr>
          <p:blipFill>
            <a:blip r:embed="rId3" cstate="print"/>
            <a:stretch>
              <a:fillRect/>
            </a:stretch>
          </p:blipFill>
          <p:spPr>
            <a:xfrm>
              <a:off x="5531941" y="2114550"/>
              <a:ext cx="3511748" cy="2835910"/>
            </a:xfrm>
            <a:prstGeom prst="rect">
              <a:avLst/>
            </a:prstGeom>
          </p:spPr>
        </p:pic>
        <p:sp>
          <p:nvSpPr>
            <p:cNvPr id="6" name="object 6"/>
            <p:cNvSpPr/>
            <p:nvPr/>
          </p:nvSpPr>
          <p:spPr>
            <a:xfrm>
              <a:off x="6038850" y="2705100"/>
              <a:ext cx="2952750" cy="1676400"/>
            </a:xfrm>
            <a:custGeom>
              <a:avLst/>
              <a:gdLst/>
              <a:ahLst/>
              <a:cxnLst/>
              <a:rect l="l" t="t" r="r" b="b"/>
              <a:pathLst>
                <a:path w="2952750" h="1676400">
                  <a:moveTo>
                    <a:pt x="0" y="1676400"/>
                  </a:moveTo>
                  <a:lnTo>
                    <a:pt x="2952750" y="0"/>
                  </a:lnTo>
                </a:path>
              </a:pathLst>
            </a:custGeom>
            <a:ln w="9525">
              <a:solidFill>
                <a:srgbClr val="000000"/>
              </a:solidFill>
            </a:ln>
          </p:spPr>
          <p:txBody>
            <a:bodyPr wrap="square" lIns="0" tIns="0" rIns="0" bIns="0" rtlCol="0"/>
            <a:lstStyle/>
            <a:p>
              <a:endParaRPr/>
            </a:p>
          </p:txBody>
        </p:sp>
      </p:grpSp>
      <p:sp>
        <p:nvSpPr>
          <p:cNvPr id="7" name="CuadroTexto 6"/>
          <p:cNvSpPr txBox="1"/>
          <p:nvPr/>
        </p:nvSpPr>
        <p:spPr>
          <a:xfrm>
            <a:off x="530872" y="5693609"/>
            <a:ext cx="8759079" cy="830997"/>
          </a:xfrm>
          <a:prstGeom prst="rect">
            <a:avLst/>
          </a:prstGeom>
          <a:noFill/>
        </p:spPr>
        <p:txBody>
          <a:bodyPr wrap="square" rtlCol="0">
            <a:spAutoFit/>
          </a:bodyPr>
          <a:lstStyle/>
          <a:p>
            <a:pPr algn="just"/>
            <a:r>
              <a:rPr lang="es-ES" sz="2400" dirty="0">
                <a:latin typeface="Times New Roman"/>
                <a:ea typeface="+mj-ea"/>
                <a:cs typeface="Times New Roman"/>
              </a:rPr>
              <a:t>En este ejemplo podemos ver cómo unos la regresión lineal no se ajusta nada bien a unos datos cuya relación es claramente no lineal.</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74701" y="581025"/>
            <a:ext cx="8763000" cy="6358023"/>
          </a:xfrm>
          <a:prstGeom prst="rect">
            <a:avLst/>
          </a:prstGeom>
        </p:spPr>
        <p:txBody>
          <a:bodyPr vert="horz" wrap="square" lIns="0" tIns="12065" rIns="0" bIns="0" rtlCol="0">
            <a:spAutoFit/>
          </a:bodyPr>
          <a:lstStyle/>
          <a:p>
            <a:pPr marL="12700">
              <a:lnSpc>
                <a:spcPct val="100000"/>
              </a:lnSpc>
              <a:spcBef>
                <a:spcPts val="95"/>
              </a:spcBef>
            </a:pPr>
            <a:r>
              <a:rPr sz="2800" spc="-5" dirty="0">
                <a:solidFill>
                  <a:schemeClr val="tx2">
                    <a:lumMod val="60000"/>
                    <a:lumOff val="40000"/>
                  </a:schemeClr>
                </a:solidFill>
                <a:latin typeface="Times New Roman"/>
                <a:cs typeface="Times New Roman"/>
              </a:rPr>
              <a:t>Recapitulemos</a:t>
            </a:r>
            <a:endParaRPr sz="2800" dirty="0">
              <a:solidFill>
                <a:schemeClr val="tx2">
                  <a:lumMod val="60000"/>
                  <a:lumOff val="40000"/>
                </a:schemeClr>
              </a:solidFill>
              <a:latin typeface="Times New Roman"/>
              <a:cs typeface="Times New Roman"/>
            </a:endParaRPr>
          </a:p>
          <a:p>
            <a:pPr>
              <a:lnSpc>
                <a:spcPct val="100000"/>
              </a:lnSpc>
              <a:spcBef>
                <a:spcPts val="20"/>
              </a:spcBef>
            </a:pPr>
            <a:endParaRPr sz="2950" dirty="0">
              <a:latin typeface="Times New Roman"/>
              <a:cs typeface="Times New Roman"/>
            </a:endParaRPr>
          </a:p>
          <a:p>
            <a:pPr marL="469900" marR="625475" indent="-228600" algn="just">
              <a:lnSpc>
                <a:spcPct val="95900"/>
              </a:lnSpc>
              <a:buFont typeface="Symbol"/>
              <a:buChar char=""/>
              <a:tabLst>
                <a:tab pos="470534" algn="l"/>
              </a:tabLst>
            </a:pPr>
            <a:r>
              <a:rPr sz="2800" spc="-5" dirty="0">
                <a:latin typeface="Times New Roman"/>
                <a:cs typeface="Times New Roman"/>
              </a:rPr>
              <a:t>La</a:t>
            </a:r>
            <a:r>
              <a:rPr sz="2800" spc="-10" dirty="0">
                <a:latin typeface="Times New Roman"/>
                <a:cs typeface="Times New Roman"/>
              </a:rPr>
              <a:t> </a:t>
            </a:r>
            <a:r>
              <a:rPr sz="2800" dirty="0">
                <a:latin typeface="Times New Roman"/>
                <a:cs typeface="Times New Roman"/>
              </a:rPr>
              <a:t>red neuronal </a:t>
            </a:r>
            <a:r>
              <a:rPr sz="2800" spc="-5" dirty="0">
                <a:latin typeface="Times New Roman"/>
                <a:cs typeface="Times New Roman"/>
              </a:rPr>
              <a:t>consiste en</a:t>
            </a:r>
            <a:r>
              <a:rPr sz="2800" dirty="0">
                <a:latin typeface="Times New Roman"/>
                <a:cs typeface="Times New Roman"/>
              </a:rPr>
              <a:t> </a:t>
            </a:r>
            <a:r>
              <a:rPr sz="2800" spc="-5" dirty="0">
                <a:latin typeface="Times New Roman"/>
                <a:cs typeface="Times New Roman"/>
              </a:rPr>
              <a:t>un</a:t>
            </a:r>
            <a:r>
              <a:rPr sz="2800" spc="35" dirty="0">
                <a:latin typeface="Times New Roman"/>
                <a:cs typeface="Times New Roman"/>
              </a:rPr>
              <a:t> </a:t>
            </a:r>
            <a:r>
              <a:rPr sz="2800" spc="-5" dirty="0">
                <a:latin typeface="Times New Roman"/>
                <a:cs typeface="Times New Roman"/>
              </a:rPr>
              <a:t>planteamiento</a:t>
            </a:r>
            <a:r>
              <a:rPr sz="2800" spc="5" dirty="0">
                <a:latin typeface="Times New Roman"/>
                <a:cs typeface="Times New Roman"/>
              </a:rPr>
              <a:t> </a:t>
            </a:r>
            <a:r>
              <a:rPr sz="2800" spc="-5" dirty="0">
                <a:latin typeface="Times New Roman"/>
                <a:cs typeface="Times New Roman"/>
              </a:rPr>
              <a:t>gráfico</a:t>
            </a:r>
            <a:r>
              <a:rPr sz="2800" spc="15" dirty="0">
                <a:latin typeface="Times New Roman"/>
                <a:cs typeface="Times New Roman"/>
              </a:rPr>
              <a:t> </a:t>
            </a:r>
            <a:r>
              <a:rPr sz="2800" spc="-5" dirty="0">
                <a:latin typeface="Times New Roman"/>
                <a:cs typeface="Times New Roman"/>
              </a:rPr>
              <a:t>que </a:t>
            </a:r>
            <a:r>
              <a:rPr sz="2800" dirty="0">
                <a:latin typeface="Times New Roman"/>
                <a:cs typeface="Times New Roman"/>
              </a:rPr>
              <a:t> </a:t>
            </a:r>
            <a:r>
              <a:rPr sz="2800" spc="-5" dirty="0">
                <a:latin typeface="Times New Roman"/>
                <a:cs typeface="Times New Roman"/>
              </a:rPr>
              <a:t>resulta</a:t>
            </a:r>
            <a:r>
              <a:rPr sz="2800" spc="5" dirty="0">
                <a:latin typeface="Times New Roman"/>
                <a:cs typeface="Times New Roman"/>
              </a:rPr>
              <a:t> </a:t>
            </a:r>
            <a:r>
              <a:rPr sz="2800" spc="-10" dirty="0">
                <a:latin typeface="Times New Roman"/>
                <a:cs typeface="Times New Roman"/>
              </a:rPr>
              <a:t>en</a:t>
            </a:r>
            <a:r>
              <a:rPr sz="2800" spc="20" dirty="0">
                <a:latin typeface="Times New Roman"/>
                <a:cs typeface="Times New Roman"/>
              </a:rPr>
              <a:t> </a:t>
            </a:r>
            <a:r>
              <a:rPr sz="2800" spc="-5" dirty="0">
                <a:latin typeface="Times New Roman"/>
                <a:cs typeface="Times New Roman"/>
              </a:rPr>
              <a:t>un</a:t>
            </a:r>
            <a:r>
              <a:rPr sz="2800" spc="15" dirty="0">
                <a:latin typeface="Times New Roman"/>
                <a:cs typeface="Times New Roman"/>
              </a:rPr>
              <a:t> </a:t>
            </a:r>
            <a:r>
              <a:rPr sz="2800" spc="-5" dirty="0">
                <a:latin typeface="Times New Roman"/>
                <a:cs typeface="Times New Roman"/>
              </a:rPr>
              <a:t>planteamiento</a:t>
            </a:r>
            <a:r>
              <a:rPr sz="2800" spc="15" dirty="0">
                <a:latin typeface="Times New Roman"/>
                <a:cs typeface="Times New Roman"/>
              </a:rPr>
              <a:t> </a:t>
            </a:r>
            <a:r>
              <a:rPr sz="2800" spc="-5" dirty="0">
                <a:latin typeface="Times New Roman"/>
                <a:cs typeface="Times New Roman"/>
              </a:rPr>
              <a:t>de</a:t>
            </a:r>
            <a:r>
              <a:rPr sz="2800" spc="35" dirty="0">
                <a:latin typeface="Times New Roman"/>
                <a:cs typeface="Times New Roman"/>
              </a:rPr>
              <a:t> </a:t>
            </a:r>
            <a:r>
              <a:rPr sz="2800" spc="-5" dirty="0">
                <a:solidFill>
                  <a:srgbClr val="FF0000"/>
                </a:solidFill>
                <a:latin typeface="Times New Roman"/>
                <a:cs typeface="Times New Roman"/>
              </a:rPr>
              <a:t>aproximación</a:t>
            </a:r>
            <a:r>
              <a:rPr sz="2800" dirty="0">
                <a:solidFill>
                  <a:srgbClr val="FF0000"/>
                </a:solidFill>
                <a:latin typeface="Times New Roman"/>
                <a:cs typeface="Times New Roman"/>
              </a:rPr>
              <a:t> </a:t>
            </a:r>
            <a:r>
              <a:rPr sz="2800" spc="-5" dirty="0">
                <a:solidFill>
                  <a:srgbClr val="FF0000"/>
                </a:solidFill>
                <a:latin typeface="Times New Roman"/>
                <a:cs typeface="Times New Roman"/>
              </a:rPr>
              <a:t>funcional</a:t>
            </a:r>
            <a:r>
              <a:rPr sz="2800" spc="20" dirty="0">
                <a:solidFill>
                  <a:srgbClr val="FF0000"/>
                </a:solidFill>
                <a:latin typeface="Times New Roman"/>
                <a:cs typeface="Times New Roman"/>
              </a:rPr>
              <a:t> </a:t>
            </a:r>
            <a:r>
              <a:rPr sz="2800" spc="-5" dirty="0">
                <a:latin typeface="Times New Roman"/>
                <a:cs typeface="Times New Roman"/>
              </a:rPr>
              <a:t>a</a:t>
            </a:r>
            <a:r>
              <a:rPr sz="2800" dirty="0">
                <a:latin typeface="Times New Roman"/>
                <a:cs typeface="Times New Roman"/>
              </a:rPr>
              <a:t> la </a:t>
            </a:r>
            <a:r>
              <a:rPr sz="2800" spc="-685" dirty="0">
                <a:latin typeface="Times New Roman"/>
                <a:cs typeface="Times New Roman"/>
              </a:rPr>
              <a:t> </a:t>
            </a:r>
            <a:r>
              <a:rPr sz="2800" spc="-5" dirty="0">
                <a:latin typeface="Times New Roman"/>
                <a:cs typeface="Times New Roman"/>
              </a:rPr>
              <a:t>relación</a:t>
            </a:r>
            <a:r>
              <a:rPr sz="2800" spc="-10" dirty="0">
                <a:latin typeface="Times New Roman"/>
                <a:cs typeface="Times New Roman"/>
              </a:rPr>
              <a:t> </a:t>
            </a:r>
            <a:r>
              <a:rPr sz="2800" dirty="0">
                <a:latin typeface="Times New Roman"/>
                <a:cs typeface="Times New Roman"/>
              </a:rPr>
              <a:t>entre</a:t>
            </a:r>
            <a:r>
              <a:rPr sz="2800" spc="-5" dirty="0">
                <a:latin typeface="Times New Roman"/>
                <a:cs typeface="Times New Roman"/>
              </a:rPr>
              <a:t> las</a:t>
            </a:r>
            <a:r>
              <a:rPr sz="2800" dirty="0">
                <a:latin typeface="Times New Roman"/>
                <a:cs typeface="Times New Roman"/>
              </a:rPr>
              <a:t> </a:t>
            </a:r>
            <a:r>
              <a:rPr sz="2800" spc="-5" dirty="0">
                <a:latin typeface="Times New Roman"/>
                <a:cs typeface="Times New Roman"/>
              </a:rPr>
              <a:t>variables</a:t>
            </a:r>
            <a:r>
              <a:rPr sz="2800" dirty="0">
                <a:latin typeface="Times New Roman"/>
                <a:cs typeface="Times New Roman"/>
              </a:rPr>
              <a:t> input </a:t>
            </a:r>
            <a:r>
              <a:rPr sz="2800" spc="-5" dirty="0">
                <a:latin typeface="Times New Roman"/>
                <a:cs typeface="Times New Roman"/>
              </a:rPr>
              <a:t>y las</a:t>
            </a:r>
            <a:r>
              <a:rPr sz="2800" dirty="0">
                <a:latin typeface="Times New Roman"/>
                <a:cs typeface="Times New Roman"/>
              </a:rPr>
              <a:t> variables</a:t>
            </a:r>
            <a:r>
              <a:rPr sz="2800" spc="-5" dirty="0">
                <a:latin typeface="Times New Roman"/>
                <a:cs typeface="Times New Roman"/>
              </a:rPr>
              <a:t> </a:t>
            </a:r>
            <a:r>
              <a:rPr sz="2800" dirty="0" smtClean="0">
                <a:latin typeface="Times New Roman"/>
                <a:cs typeface="Times New Roman"/>
              </a:rPr>
              <a:t>output</a:t>
            </a:r>
            <a:r>
              <a:rPr lang="es-ES" sz="2800" dirty="0" smtClean="0">
                <a:latin typeface="Times New Roman"/>
                <a:cs typeface="Times New Roman"/>
              </a:rPr>
              <a:t>.</a:t>
            </a:r>
            <a:endParaRPr sz="2800" dirty="0">
              <a:latin typeface="Times New Roman"/>
              <a:cs typeface="Times New Roman"/>
            </a:endParaRPr>
          </a:p>
          <a:p>
            <a:pPr algn="just">
              <a:lnSpc>
                <a:spcPct val="100000"/>
              </a:lnSpc>
              <a:spcBef>
                <a:spcPts val="50"/>
              </a:spcBef>
              <a:buClr>
                <a:srgbClr val="1F487C"/>
              </a:buClr>
              <a:buFont typeface="Symbol"/>
              <a:buChar char=""/>
            </a:pPr>
            <a:endParaRPr sz="3000" dirty="0">
              <a:latin typeface="Times New Roman"/>
              <a:cs typeface="Times New Roman"/>
            </a:endParaRPr>
          </a:p>
          <a:p>
            <a:pPr marL="469900" marR="5080" indent="-228600" algn="just">
              <a:lnSpc>
                <a:spcPts val="3220"/>
              </a:lnSpc>
              <a:buFont typeface="Symbol"/>
              <a:buChar char=""/>
              <a:tabLst>
                <a:tab pos="470534" algn="l"/>
              </a:tabLst>
            </a:pPr>
            <a:r>
              <a:rPr sz="2800" spc="-5" dirty="0">
                <a:latin typeface="Times New Roman"/>
                <a:cs typeface="Times New Roman"/>
              </a:rPr>
              <a:t>La </a:t>
            </a:r>
            <a:r>
              <a:rPr sz="2800" dirty="0">
                <a:latin typeface="Times New Roman"/>
                <a:cs typeface="Times New Roman"/>
              </a:rPr>
              <a:t>red neuronal </a:t>
            </a:r>
            <a:r>
              <a:rPr sz="2800" spc="-5" dirty="0">
                <a:latin typeface="Times New Roman"/>
                <a:cs typeface="Times New Roman"/>
              </a:rPr>
              <a:t>funcionará mejor que los modelos </a:t>
            </a:r>
            <a:r>
              <a:rPr sz="2800" dirty="0">
                <a:latin typeface="Times New Roman"/>
                <a:cs typeface="Times New Roman"/>
              </a:rPr>
              <a:t>habituales si </a:t>
            </a:r>
            <a:r>
              <a:rPr sz="2800" spc="-685" dirty="0">
                <a:latin typeface="Times New Roman"/>
                <a:cs typeface="Times New Roman"/>
              </a:rPr>
              <a:t> </a:t>
            </a:r>
            <a:r>
              <a:rPr sz="2800" spc="-5" dirty="0">
                <a:latin typeface="Times New Roman"/>
                <a:cs typeface="Times New Roman"/>
              </a:rPr>
              <a:t>las</a:t>
            </a:r>
            <a:r>
              <a:rPr sz="2800" spc="5" dirty="0">
                <a:latin typeface="Times New Roman"/>
                <a:cs typeface="Times New Roman"/>
              </a:rPr>
              <a:t> </a:t>
            </a:r>
            <a:r>
              <a:rPr sz="2800" spc="-5" dirty="0">
                <a:solidFill>
                  <a:srgbClr val="FF0000"/>
                </a:solidFill>
                <a:latin typeface="Times New Roman"/>
                <a:cs typeface="Times New Roman"/>
              </a:rPr>
              <a:t>relaciones</a:t>
            </a:r>
            <a:r>
              <a:rPr sz="2800" spc="10" dirty="0">
                <a:solidFill>
                  <a:srgbClr val="FF0000"/>
                </a:solidFill>
                <a:latin typeface="Times New Roman"/>
                <a:cs typeface="Times New Roman"/>
              </a:rPr>
              <a:t> </a:t>
            </a:r>
            <a:r>
              <a:rPr sz="2800" spc="-5" dirty="0">
                <a:latin typeface="Times New Roman"/>
                <a:cs typeface="Times New Roman"/>
              </a:rPr>
              <a:t>reales</a:t>
            </a:r>
            <a:r>
              <a:rPr sz="2800" dirty="0">
                <a:latin typeface="Times New Roman"/>
                <a:cs typeface="Times New Roman"/>
              </a:rPr>
              <a:t> </a:t>
            </a:r>
            <a:r>
              <a:rPr sz="2800" spc="-5" dirty="0">
                <a:latin typeface="Times New Roman"/>
                <a:cs typeface="Times New Roman"/>
              </a:rPr>
              <a:t>subyacentes</a:t>
            </a:r>
            <a:r>
              <a:rPr sz="2800" spc="15" dirty="0">
                <a:latin typeface="Times New Roman"/>
                <a:cs typeface="Times New Roman"/>
              </a:rPr>
              <a:t> </a:t>
            </a:r>
            <a:r>
              <a:rPr sz="2800" spc="-5" dirty="0">
                <a:latin typeface="Times New Roman"/>
                <a:cs typeface="Times New Roman"/>
              </a:rPr>
              <a:t>son</a:t>
            </a:r>
            <a:r>
              <a:rPr sz="2800" spc="10" dirty="0">
                <a:latin typeface="Times New Roman"/>
                <a:cs typeface="Times New Roman"/>
              </a:rPr>
              <a:t> </a:t>
            </a:r>
            <a:r>
              <a:rPr sz="2800" spc="-5" dirty="0">
                <a:solidFill>
                  <a:srgbClr val="FF0000"/>
                </a:solidFill>
                <a:latin typeface="Times New Roman"/>
                <a:cs typeface="Times New Roman"/>
              </a:rPr>
              <a:t>no</a:t>
            </a:r>
            <a:r>
              <a:rPr sz="2800" spc="10" dirty="0">
                <a:solidFill>
                  <a:srgbClr val="FF0000"/>
                </a:solidFill>
                <a:latin typeface="Times New Roman"/>
                <a:cs typeface="Times New Roman"/>
              </a:rPr>
              <a:t> </a:t>
            </a:r>
            <a:r>
              <a:rPr sz="2800" spc="-5" dirty="0">
                <a:solidFill>
                  <a:srgbClr val="FF0000"/>
                </a:solidFill>
                <a:latin typeface="Times New Roman"/>
                <a:cs typeface="Times New Roman"/>
              </a:rPr>
              <a:t>lineales</a:t>
            </a:r>
            <a:r>
              <a:rPr sz="2800" spc="10" dirty="0">
                <a:solidFill>
                  <a:srgbClr val="FF0000"/>
                </a:solidFill>
                <a:latin typeface="Times New Roman"/>
                <a:cs typeface="Times New Roman"/>
              </a:rPr>
              <a:t> </a:t>
            </a:r>
            <a:r>
              <a:rPr sz="2800" spc="-5" dirty="0">
                <a:solidFill>
                  <a:srgbClr val="FF0000"/>
                </a:solidFill>
                <a:latin typeface="Times New Roman"/>
                <a:cs typeface="Times New Roman"/>
              </a:rPr>
              <a:t>o</a:t>
            </a:r>
            <a:r>
              <a:rPr sz="2800" spc="15" dirty="0">
                <a:solidFill>
                  <a:srgbClr val="FF0000"/>
                </a:solidFill>
                <a:latin typeface="Times New Roman"/>
                <a:cs typeface="Times New Roman"/>
              </a:rPr>
              <a:t> </a:t>
            </a:r>
            <a:r>
              <a:rPr sz="2800" spc="-5" dirty="0" err="1" smtClean="0">
                <a:solidFill>
                  <a:srgbClr val="FF0000"/>
                </a:solidFill>
                <a:latin typeface="Times New Roman"/>
                <a:cs typeface="Times New Roman"/>
              </a:rPr>
              <a:t>complejas</a:t>
            </a:r>
            <a:r>
              <a:rPr lang="es-ES" sz="2800" spc="-5" dirty="0" smtClean="0">
                <a:latin typeface="Times New Roman"/>
                <a:cs typeface="Times New Roman"/>
              </a:rPr>
              <a:t> (o </a:t>
            </a:r>
            <a:r>
              <a:rPr lang="es-ES" sz="2800" spc="-5" dirty="0">
                <a:latin typeface="Times New Roman"/>
                <a:cs typeface="Times New Roman"/>
              </a:rPr>
              <a:t>desconocidas</a:t>
            </a:r>
            <a:r>
              <a:rPr lang="es-ES" sz="2800" spc="-5" dirty="0" smtClean="0">
                <a:latin typeface="Times New Roman"/>
                <a:cs typeface="Times New Roman"/>
              </a:rPr>
              <a:t>).</a:t>
            </a:r>
            <a:endParaRPr sz="2800" dirty="0">
              <a:latin typeface="Times New Roman"/>
              <a:cs typeface="Times New Roman"/>
            </a:endParaRPr>
          </a:p>
          <a:p>
            <a:pPr algn="just">
              <a:lnSpc>
                <a:spcPct val="100000"/>
              </a:lnSpc>
              <a:spcBef>
                <a:spcPts val="5"/>
              </a:spcBef>
              <a:buClr>
                <a:srgbClr val="1F487C"/>
              </a:buClr>
              <a:buFont typeface="Symbol"/>
              <a:buChar char=""/>
            </a:pPr>
            <a:endParaRPr sz="2900" dirty="0">
              <a:latin typeface="Times New Roman"/>
              <a:cs typeface="Times New Roman"/>
            </a:endParaRPr>
          </a:p>
          <a:p>
            <a:pPr marL="469900" marR="407034" indent="-228600" algn="just">
              <a:lnSpc>
                <a:spcPct val="95900"/>
              </a:lnSpc>
              <a:buFont typeface="Symbol"/>
              <a:buChar char=""/>
              <a:tabLst>
                <a:tab pos="470534" algn="l"/>
              </a:tabLst>
            </a:pPr>
            <a:r>
              <a:rPr sz="2800" spc="-5" dirty="0">
                <a:latin typeface="Times New Roman"/>
                <a:cs typeface="Times New Roman"/>
              </a:rPr>
              <a:t>Al no</a:t>
            </a:r>
            <a:r>
              <a:rPr sz="2800" spc="5" dirty="0">
                <a:latin typeface="Times New Roman"/>
                <a:cs typeface="Times New Roman"/>
              </a:rPr>
              <a:t> </a:t>
            </a:r>
            <a:r>
              <a:rPr sz="2800" spc="-5" dirty="0">
                <a:latin typeface="Times New Roman"/>
                <a:cs typeface="Times New Roman"/>
              </a:rPr>
              <a:t>existir</a:t>
            </a:r>
            <a:r>
              <a:rPr sz="2800" dirty="0">
                <a:latin typeface="Times New Roman"/>
                <a:cs typeface="Times New Roman"/>
              </a:rPr>
              <a:t> </a:t>
            </a:r>
            <a:r>
              <a:rPr sz="2800" spc="-5" dirty="0">
                <a:latin typeface="Times New Roman"/>
                <a:cs typeface="Times New Roman"/>
              </a:rPr>
              <a:t>planteamientos</a:t>
            </a:r>
            <a:r>
              <a:rPr sz="2800" dirty="0">
                <a:latin typeface="Times New Roman"/>
                <a:cs typeface="Times New Roman"/>
              </a:rPr>
              <a:t> </a:t>
            </a:r>
            <a:r>
              <a:rPr sz="2800" spc="-5" dirty="0">
                <a:latin typeface="Times New Roman"/>
                <a:cs typeface="Times New Roman"/>
              </a:rPr>
              <a:t>inferenciales</a:t>
            </a:r>
            <a:r>
              <a:rPr sz="2800" dirty="0">
                <a:latin typeface="Times New Roman"/>
                <a:cs typeface="Times New Roman"/>
              </a:rPr>
              <a:t> </a:t>
            </a:r>
            <a:r>
              <a:rPr sz="2800" spc="-5" dirty="0">
                <a:latin typeface="Times New Roman"/>
                <a:cs typeface="Times New Roman"/>
              </a:rPr>
              <a:t>sobre</a:t>
            </a:r>
            <a:r>
              <a:rPr sz="2800" dirty="0">
                <a:latin typeface="Times New Roman"/>
                <a:cs typeface="Times New Roman"/>
              </a:rPr>
              <a:t> </a:t>
            </a:r>
            <a:r>
              <a:rPr sz="2800" spc="-5" dirty="0">
                <a:latin typeface="Times New Roman"/>
                <a:cs typeface="Times New Roman"/>
              </a:rPr>
              <a:t>un</a:t>
            </a:r>
            <a:r>
              <a:rPr sz="2800" spc="5" dirty="0">
                <a:latin typeface="Times New Roman"/>
                <a:cs typeface="Times New Roman"/>
              </a:rPr>
              <a:t> </a:t>
            </a:r>
            <a:r>
              <a:rPr sz="2800" spc="-5" dirty="0">
                <a:latin typeface="Times New Roman"/>
                <a:cs typeface="Times New Roman"/>
              </a:rPr>
              <a:t>modelo</a:t>
            </a:r>
            <a:r>
              <a:rPr sz="2800" spc="10" dirty="0">
                <a:latin typeface="Times New Roman"/>
                <a:cs typeface="Times New Roman"/>
              </a:rPr>
              <a:t> </a:t>
            </a:r>
            <a:r>
              <a:rPr sz="2800" spc="-5" dirty="0">
                <a:latin typeface="Times New Roman"/>
                <a:cs typeface="Times New Roman"/>
              </a:rPr>
              <a:t>a </a:t>
            </a:r>
            <a:r>
              <a:rPr sz="2800" spc="-685" dirty="0">
                <a:latin typeface="Times New Roman"/>
                <a:cs typeface="Times New Roman"/>
              </a:rPr>
              <a:t> </a:t>
            </a:r>
            <a:r>
              <a:rPr sz="2800" dirty="0">
                <a:latin typeface="Times New Roman"/>
                <a:cs typeface="Times New Roman"/>
              </a:rPr>
              <a:t>priori,</a:t>
            </a:r>
            <a:r>
              <a:rPr sz="2800" spc="-15" dirty="0">
                <a:latin typeface="Times New Roman"/>
                <a:cs typeface="Times New Roman"/>
              </a:rPr>
              <a:t> </a:t>
            </a:r>
            <a:r>
              <a:rPr sz="2800" spc="-5" dirty="0">
                <a:solidFill>
                  <a:srgbClr val="FF0000"/>
                </a:solidFill>
                <a:latin typeface="Times New Roman"/>
                <a:cs typeface="Times New Roman"/>
              </a:rPr>
              <a:t>la</a:t>
            </a:r>
            <a:r>
              <a:rPr sz="2800" dirty="0">
                <a:solidFill>
                  <a:srgbClr val="FF0000"/>
                </a:solidFill>
                <a:latin typeface="Times New Roman"/>
                <a:cs typeface="Times New Roman"/>
              </a:rPr>
              <a:t> red </a:t>
            </a:r>
            <a:r>
              <a:rPr sz="2800" spc="-5" dirty="0">
                <a:solidFill>
                  <a:srgbClr val="FF0000"/>
                </a:solidFill>
                <a:latin typeface="Times New Roman"/>
                <a:cs typeface="Times New Roman"/>
              </a:rPr>
              <a:t>tiende </a:t>
            </a:r>
            <a:r>
              <a:rPr sz="2800" dirty="0">
                <a:solidFill>
                  <a:srgbClr val="FF0000"/>
                </a:solidFill>
                <a:latin typeface="Times New Roman"/>
                <a:cs typeface="Times New Roman"/>
              </a:rPr>
              <a:t>al</a:t>
            </a:r>
            <a:r>
              <a:rPr sz="2800" spc="10" dirty="0">
                <a:solidFill>
                  <a:srgbClr val="FF0000"/>
                </a:solidFill>
                <a:latin typeface="Times New Roman"/>
                <a:cs typeface="Times New Roman"/>
              </a:rPr>
              <a:t> </a:t>
            </a:r>
            <a:r>
              <a:rPr sz="2800" spc="-5" dirty="0">
                <a:solidFill>
                  <a:srgbClr val="FF0000"/>
                </a:solidFill>
                <a:latin typeface="Times New Roman"/>
                <a:cs typeface="Times New Roman"/>
              </a:rPr>
              <a:t>sobreajuste</a:t>
            </a:r>
            <a:r>
              <a:rPr sz="2800" spc="10" dirty="0">
                <a:solidFill>
                  <a:srgbClr val="FF0000"/>
                </a:solidFill>
                <a:latin typeface="Times New Roman"/>
                <a:cs typeface="Times New Roman"/>
              </a:rPr>
              <a:t> </a:t>
            </a:r>
            <a:r>
              <a:rPr sz="2800" spc="-5" dirty="0">
                <a:solidFill>
                  <a:srgbClr val="FF0000"/>
                </a:solidFill>
                <a:latin typeface="Times New Roman"/>
                <a:cs typeface="Times New Roman"/>
              </a:rPr>
              <a:t>y </a:t>
            </a:r>
            <a:r>
              <a:rPr sz="2800" spc="-10" dirty="0">
                <a:solidFill>
                  <a:srgbClr val="FF0000"/>
                </a:solidFill>
                <a:latin typeface="Times New Roman"/>
                <a:cs typeface="Times New Roman"/>
              </a:rPr>
              <a:t>serán</a:t>
            </a:r>
            <a:r>
              <a:rPr sz="2800" spc="10" dirty="0">
                <a:solidFill>
                  <a:srgbClr val="FF0000"/>
                </a:solidFill>
                <a:latin typeface="Times New Roman"/>
                <a:cs typeface="Times New Roman"/>
              </a:rPr>
              <a:t> </a:t>
            </a:r>
            <a:r>
              <a:rPr sz="2800" spc="-5" dirty="0">
                <a:solidFill>
                  <a:srgbClr val="FF0000"/>
                </a:solidFill>
                <a:latin typeface="Times New Roman"/>
                <a:cs typeface="Times New Roman"/>
              </a:rPr>
              <a:t>necesarios</a:t>
            </a:r>
            <a:r>
              <a:rPr sz="2800" spc="35" dirty="0">
                <a:solidFill>
                  <a:srgbClr val="FF0000"/>
                </a:solidFill>
                <a:latin typeface="Times New Roman"/>
                <a:cs typeface="Times New Roman"/>
              </a:rPr>
              <a:t> </a:t>
            </a:r>
            <a:r>
              <a:rPr sz="2800" spc="-5" dirty="0">
                <a:solidFill>
                  <a:srgbClr val="FF0000"/>
                </a:solidFill>
                <a:latin typeface="Times New Roman"/>
                <a:cs typeface="Times New Roman"/>
              </a:rPr>
              <a:t>muchos </a:t>
            </a:r>
            <a:r>
              <a:rPr sz="2800" spc="-685" dirty="0">
                <a:solidFill>
                  <a:srgbClr val="FF0000"/>
                </a:solidFill>
                <a:latin typeface="Times New Roman"/>
                <a:cs typeface="Times New Roman"/>
              </a:rPr>
              <a:t> </a:t>
            </a:r>
            <a:r>
              <a:rPr sz="2800" spc="-5" dirty="0">
                <a:solidFill>
                  <a:srgbClr val="FF0000"/>
                </a:solidFill>
                <a:latin typeface="Times New Roman"/>
                <a:cs typeface="Times New Roman"/>
              </a:rPr>
              <a:t>datos</a:t>
            </a:r>
            <a:r>
              <a:rPr sz="2800" spc="5" dirty="0">
                <a:solidFill>
                  <a:srgbClr val="FF0000"/>
                </a:solidFill>
                <a:latin typeface="Times New Roman"/>
                <a:cs typeface="Times New Roman"/>
              </a:rPr>
              <a:t> </a:t>
            </a:r>
            <a:r>
              <a:rPr sz="2800" spc="-5" dirty="0">
                <a:solidFill>
                  <a:srgbClr val="FF0000"/>
                </a:solidFill>
                <a:latin typeface="Times New Roman"/>
                <a:cs typeface="Times New Roman"/>
              </a:rPr>
              <a:t>de</a:t>
            </a:r>
            <a:r>
              <a:rPr sz="2800" dirty="0">
                <a:solidFill>
                  <a:srgbClr val="FF0000"/>
                </a:solidFill>
                <a:latin typeface="Times New Roman"/>
                <a:cs typeface="Times New Roman"/>
              </a:rPr>
              <a:t> </a:t>
            </a:r>
            <a:r>
              <a:rPr sz="2800" spc="-5" dirty="0">
                <a:solidFill>
                  <a:srgbClr val="FF0000"/>
                </a:solidFill>
                <a:latin typeface="Times New Roman"/>
                <a:cs typeface="Times New Roman"/>
              </a:rPr>
              <a:t>training</a:t>
            </a:r>
            <a:r>
              <a:rPr sz="2800" dirty="0">
                <a:solidFill>
                  <a:srgbClr val="FF0000"/>
                </a:solidFill>
                <a:latin typeface="Times New Roman"/>
                <a:cs typeface="Times New Roman"/>
              </a:rPr>
              <a:t> </a:t>
            </a:r>
            <a:r>
              <a:rPr sz="2800" spc="-5" dirty="0">
                <a:solidFill>
                  <a:srgbClr val="FF0000"/>
                </a:solidFill>
                <a:latin typeface="Times New Roman"/>
                <a:cs typeface="Times New Roman"/>
              </a:rPr>
              <a:t>y</a:t>
            </a:r>
            <a:r>
              <a:rPr sz="2800" spc="5" dirty="0">
                <a:solidFill>
                  <a:srgbClr val="FF0000"/>
                </a:solidFill>
                <a:latin typeface="Times New Roman"/>
                <a:cs typeface="Times New Roman"/>
              </a:rPr>
              <a:t> </a:t>
            </a:r>
            <a:r>
              <a:rPr sz="2800" spc="-10" dirty="0">
                <a:solidFill>
                  <a:srgbClr val="FF0000"/>
                </a:solidFill>
                <a:latin typeface="Times New Roman"/>
                <a:cs typeface="Times New Roman"/>
              </a:rPr>
              <a:t>de</a:t>
            </a:r>
            <a:r>
              <a:rPr sz="2800" dirty="0">
                <a:solidFill>
                  <a:srgbClr val="FF0000"/>
                </a:solidFill>
                <a:latin typeface="Times New Roman"/>
                <a:cs typeface="Times New Roman"/>
              </a:rPr>
              <a:t> </a:t>
            </a:r>
            <a:r>
              <a:rPr sz="2800" spc="-5" dirty="0">
                <a:solidFill>
                  <a:srgbClr val="FF0000"/>
                </a:solidFill>
                <a:latin typeface="Times New Roman"/>
                <a:cs typeface="Times New Roman"/>
              </a:rPr>
              <a:t>validación</a:t>
            </a:r>
            <a:r>
              <a:rPr sz="2800" dirty="0">
                <a:solidFill>
                  <a:srgbClr val="FF0000"/>
                </a:solidFill>
                <a:latin typeface="Times New Roman"/>
                <a:cs typeface="Times New Roman"/>
              </a:rPr>
              <a:t> </a:t>
            </a:r>
            <a:r>
              <a:rPr sz="2800" spc="-5" dirty="0">
                <a:latin typeface="Times New Roman"/>
                <a:cs typeface="Times New Roman"/>
              </a:rPr>
              <a:t>para obtener</a:t>
            </a:r>
            <a:r>
              <a:rPr sz="2800" spc="5" dirty="0">
                <a:latin typeface="Times New Roman"/>
                <a:cs typeface="Times New Roman"/>
              </a:rPr>
              <a:t> </a:t>
            </a:r>
            <a:r>
              <a:rPr sz="2800" spc="-5" dirty="0">
                <a:latin typeface="Times New Roman"/>
                <a:cs typeface="Times New Roman"/>
              </a:rPr>
              <a:t>un</a:t>
            </a:r>
            <a:r>
              <a:rPr sz="2800" spc="15" dirty="0">
                <a:latin typeface="Times New Roman"/>
                <a:cs typeface="Times New Roman"/>
              </a:rPr>
              <a:t> </a:t>
            </a:r>
            <a:r>
              <a:rPr sz="2800" spc="-5" dirty="0" err="1">
                <a:latin typeface="Times New Roman"/>
                <a:cs typeface="Times New Roman"/>
              </a:rPr>
              <a:t>modelo</a:t>
            </a:r>
            <a:r>
              <a:rPr sz="2800" spc="-5" dirty="0">
                <a:latin typeface="Times New Roman"/>
                <a:cs typeface="Times New Roman"/>
              </a:rPr>
              <a:t> </a:t>
            </a:r>
            <a:r>
              <a:rPr sz="2800" dirty="0">
                <a:latin typeface="Times New Roman"/>
                <a:cs typeface="Times New Roman"/>
              </a:rPr>
              <a:t> </a:t>
            </a:r>
            <a:r>
              <a:rPr sz="2800" spc="-5" dirty="0" err="1" smtClean="0">
                <a:latin typeface="Times New Roman"/>
                <a:cs typeface="Times New Roman"/>
              </a:rPr>
              <a:t>robusto</a:t>
            </a:r>
            <a:r>
              <a:rPr lang="es-ES" sz="2800" spc="-5" dirty="0" smtClean="0">
                <a:latin typeface="Times New Roman"/>
                <a:cs typeface="Times New Roman"/>
              </a:rPr>
              <a:t>.</a:t>
            </a:r>
            <a:endParaRPr sz="2800" dirty="0">
              <a:latin typeface="Times New Roman"/>
              <a:cs typeface="Times New Roman"/>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833" y="0"/>
            <a:ext cx="11307233" cy="756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hape 49">
            <a:extLst>
              <a:ext uri="{FF2B5EF4-FFF2-40B4-BE49-F238E27FC236}">
                <a16:creationId xmlns="" xmlns:a16="http://schemas.microsoft.com/office/drawing/2014/main" id="{24A6ABCE-206C-4C33-940C-027B2CD6E148}"/>
              </a:ext>
            </a:extLst>
          </p:cNvPr>
          <p:cNvSpPr txBox="1">
            <a:spLocks/>
          </p:cNvSpPr>
          <p:nvPr/>
        </p:nvSpPr>
        <p:spPr bwMode="auto">
          <a:xfrm>
            <a:off x="1814638" y="3295487"/>
            <a:ext cx="5455812"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3508" kern="0" dirty="0">
                <a:solidFill>
                  <a:srgbClr val="0972CB"/>
                </a:solidFill>
                <a:latin typeface="Oxygen"/>
                <a:ea typeface="Oxygen"/>
                <a:cs typeface="Oxygen"/>
                <a:sym typeface="Oxygen"/>
              </a:rPr>
              <a:t>Machine </a:t>
            </a:r>
            <a:r>
              <a:rPr lang="es-ES" altLang="es-ES" sz="3508" kern="0" dirty="0" err="1">
                <a:solidFill>
                  <a:srgbClr val="0972CB"/>
                </a:solidFill>
                <a:latin typeface="Oxygen"/>
                <a:ea typeface="Oxygen"/>
                <a:cs typeface="Oxygen"/>
                <a:sym typeface="Oxygen"/>
              </a:rPr>
              <a:t>Learning</a:t>
            </a:r>
            <a:endParaRPr lang="es-ES" altLang="es-ES" sz="3508" kern="0" dirty="0">
              <a:solidFill>
                <a:srgbClr val="0972CB"/>
              </a:solidFill>
              <a:latin typeface="Oxygen"/>
              <a:ea typeface="Oxygen"/>
              <a:cs typeface="Oxygen"/>
              <a:sym typeface="Oxygen"/>
            </a:endParaRPr>
          </a:p>
          <a:p>
            <a:pPr marL="300758" indent="-133670" eaLnBrk="1" hangingPunct="1">
              <a:spcBef>
                <a:spcPct val="0"/>
              </a:spcBef>
              <a:buClr>
                <a:srgbClr val="000000"/>
              </a:buClr>
              <a:defRPr/>
            </a:pPr>
            <a:r>
              <a:rPr lang="es-ES" altLang="es-ES" sz="3508" kern="0" dirty="0" smtClean="0">
                <a:solidFill>
                  <a:srgbClr val="0972CB"/>
                </a:solidFill>
                <a:latin typeface="Oxygen"/>
                <a:ea typeface="Oxygen"/>
                <a:cs typeface="Oxygen"/>
                <a:sym typeface="Oxygen"/>
              </a:rPr>
              <a:t>Redes Neuronales</a:t>
            </a:r>
            <a:endParaRPr lang="es-ES" altLang="es-ES" sz="3508" kern="0" dirty="0">
              <a:solidFill>
                <a:srgbClr val="0972CB"/>
              </a:solidFill>
              <a:latin typeface="Oxygen"/>
              <a:ea typeface="Oxygen"/>
              <a:cs typeface="Oxygen"/>
              <a:sym typeface="Oxygen"/>
            </a:endParaRPr>
          </a:p>
        </p:txBody>
      </p:sp>
      <p:sp>
        <p:nvSpPr>
          <p:cNvPr id="6" name="Shape 49">
            <a:extLst>
              <a:ext uri="{FF2B5EF4-FFF2-40B4-BE49-F238E27FC236}">
                <a16:creationId xmlns="" xmlns:a16="http://schemas.microsoft.com/office/drawing/2014/main" id="{3B39229B-4789-4E5F-A863-803DF35813F8}"/>
              </a:ext>
            </a:extLst>
          </p:cNvPr>
          <p:cNvSpPr txBox="1">
            <a:spLocks/>
          </p:cNvSpPr>
          <p:nvPr/>
        </p:nvSpPr>
        <p:spPr bwMode="auto">
          <a:xfrm>
            <a:off x="3027140" y="5126330"/>
            <a:ext cx="3327866"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1403" kern="0" dirty="0">
                <a:solidFill>
                  <a:srgbClr val="0972CB"/>
                </a:solidFill>
                <a:latin typeface="Oxygen"/>
                <a:ea typeface="Oxygen"/>
                <a:cs typeface="Oxygen"/>
                <a:sym typeface="Oxygen"/>
              </a:rPr>
              <a:t>Inmaculada Gutiérrez García-Pardo</a:t>
            </a:r>
          </a:p>
        </p:txBody>
      </p:sp>
      <p:pic>
        <p:nvPicPr>
          <p:cNvPr id="7"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4645" y="1246805"/>
            <a:ext cx="2884990" cy="10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741" y="1134024"/>
            <a:ext cx="1294904" cy="129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667374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p:cNvSpPr>
          <p:nvPr/>
        </p:nvSpPr>
        <p:spPr>
          <a:xfrm>
            <a:off x="317500" y="1190625"/>
            <a:ext cx="9918700" cy="566822"/>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lgn="ctr">
              <a:spcBef>
                <a:spcPts val="100"/>
              </a:spcBef>
            </a:pPr>
            <a:r>
              <a:rPr lang="es-ES" sz="3600" b="1" kern="0" spc="-5" dirty="0">
                <a:solidFill>
                  <a:srgbClr val="538DD3"/>
                </a:solidFill>
              </a:rPr>
              <a:t>5</a:t>
            </a:r>
            <a:r>
              <a:rPr lang="es-ES" sz="3600" b="1" kern="0" spc="-5" dirty="0" smtClean="0">
                <a:solidFill>
                  <a:srgbClr val="538DD3"/>
                </a:solidFill>
              </a:rPr>
              <a:t>. Tipos de redes neuronales</a:t>
            </a:r>
            <a:endParaRPr lang="es-ES" sz="3600" kern="0" dirty="0"/>
          </a:p>
        </p:txBody>
      </p:sp>
      <p:sp>
        <p:nvSpPr>
          <p:cNvPr id="4" name="CuadroTexto 3"/>
          <p:cNvSpPr txBox="1"/>
          <p:nvPr/>
        </p:nvSpPr>
        <p:spPr>
          <a:xfrm>
            <a:off x="2146300" y="2867025"/>
            <a:ext cx="6858000" cy="1477328"/>
          </a:xfrm>
          <a:prstGeom prst="rect">
            <a:avLst/>
          </a:prstGeom>
          <a:noFill/>
        </p:spPr>
        <p:txBody>
          <a:bodyPr wrap="square" rtlCol="0">
            <a:spAutoFit/>
          </a:bodyPr>
          <a:lstStyle/>
          <a:p>
            <a:r>
              <a:rPr lang="es-ES" dirty="0" smtClean="0"/>
              <a:t>En esta sección se presentarán algunos de los tipos más comunes de redes neuronales artificiales, explicando sus reglas de aprendizaje, arquitectura, algoritmos de aprendizaje y las tareas para las que se desarrollan. </a:t>
            </a:r>
          </a:p>
          <a:p>
            <a:r>
              <a:rPr lang="es-ES" dirty="0" smtClean="0"/>
              <a:t>El resto del módulo se centrará en las redes neuronales supervisadas.</a:t>
            </a:r>
            <a:endParaRPr lang="es-ES" dirty="0"/>
          </a:p>
        </p:txBody>
      </p:sp>
    </p:spTree>
    <p:extLst>
      <p:ext uri="{BB962C8B-B14F-4D97-AF65-F5344CB8AC3E}">
        <p14:creationId xmlns:p14="http://schemas.microsoft.com/office/powerpoint/2010/main" val="220639704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4051300" y="4377618"/>
            <a:ext cx="2743200" cy="777425"/>
          </a:xfrm>
          <a:prstGeom prst="rect">
            <a:avLst/>
          </a:prstGeom>
        </p:spPr>
      </p:pic>
      <p:sp>
        <p:nvSpPr>
          <p:cNvPr id="3" name="object 2"/>
          <p:cNvSpPr txBox="1">
            <a:spLocks/>
          </p:cNvSpPr>
          <p:nvPr/>
        </p:nvSpPr>
        <p:spPr>
          <a:xfrm>
            <a:off x="977835" y="225637"/>
            <a:ext cx="86868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rPr>
              <a:t>Redes neuronales supervisadas</a:t>
            </a:r>
            <a:endParaRPr lang="es-ES" sz="2600" kern="0" dirty="0"/>
          </a:p>
        </p:txBody>
      </p:sp>
      <p:sp>
        <p:nvSpPr>
          <p:cNvPr id="4" name="Rectángulo 3"/>
          <p:cNvSpPr/>
          <p:nvPr/>
        </p:nvSpPr>
        <p:spPr>
          <a:xfrm>
            <a:off x="927100" y="809625"/>
            <a:ext cx="9398066" cy="3785652"/>
          </a:xfrm>
          <a:prstGeom prst="rect">
            <a:avLst/>
          </a:prstGeom>
        </p:spPr>
        <p:txBody>
          <a:bodyPr wrap="square">
            <a:spAutoFit/>
          </a:bodyPr>
          <a:lstStyle/>
          <a:p>
            <a:pPr algn="just"/>
            <a:r>
              <a:rPr lang="es-ES" dirty="0" smtClean="0">
                <a:solidFill>
                  <a:srgbClr val="374151"/>
                </a:solidFill>
                <a:latin typeface="+mj-lt"/>
              </a:rPr>
              <a:t>El modelo de red neuronal supervisada se </a:t>
            </a:r>
            <a:r>
              <a:rPr lang="es-ES" dirty="0">
                <a:solidFill>
                  <a:srgbClr val="374151"/>
                </a:solidFill>
                <a:latin typeface="+mj-lt"/>
              </a:rPr>
              <a:t>entrena utilizando un </a:t>
            </a:r>
            <a:r>
              <a:rPr lang="es-ES" b="1" dirty="0">
                <a:solidFill>
                  <a:srgbClr val="374151"/>
                </a:solidFill>
                <a:latin typeface="+mj-lt"/>
              </a:rPr>
              <a:t>conjunto de datos etiquetado</a:t>
            </a:r>
            <a:r>
              <a:rPr lang="es-ES" dirty="0">
                <a:solidFill>
                  <a:srgbClr val="374151"/>
                </a:solidFill>
                <a:latin typeface="+mj-lt"/>
              </a:rPr>
              <a:t>, donde cada </a:t>
            </a:r>
            <a:r>
              <a:rPr lang="es-ES" dirty="0" smtClean="0">
                <a:solidFill>
                  <a:srgbClr val="374151"/>
                </a:solidFill>
                <a:latin typeface="+mj-lt"/>
              </a:rPr>
              <a:t>entrada-instancia-caso del </a:t>
            </a:r>
            <a:r>
              <a:rPr lang="es-ES" dirty="0">
                <a:solidFill>
                  <a:srgbClr val="374151"/>
                </a:solidFill>
                <a:latin typeface="+mj-lt"/>
              </a:rPr>
              <a:t>conjunto de datos está asociada a una </a:t>
            </a:r>
            <a:r>
              <a:rPr lang="es-ES" b="1" dirty="0">
                <a:solidFill>
                  <a:srgbClr val="374151"/>
                </a:solidFill>
                <a:latin typeface="+mj-lt"/>
              </a:rPr>
              <a:t>etiqueta</a:t>
            </a:r>
            <a:r>
              <a:rPr lang="es-ES" dirty="0">
                <a:solidFill>
                  <a:srgbClr val="374151"/>
                </a:solidFill>
                <a:latin typeface="+mj-lt"/>
              </a:rPr>
              <a:t> o resultado </a:t>
            </a:r>
            <a:r>
              <a:rPr lang="es-ES" dirty="0" smtClean="0">
                <a:solidFill>
                  <a:srgbClr val="374151"/>
                </a:solidFill>
                <a:latin typeface="+mj-lt"/>
              </a:rPr>
              <a:t>deseado (valor conocido de la variable respuesta). </a:t>
            </a:r>
            <a:r>
              <a:rPr lang="es-ES" dirty="0">
                <a:solidFill>
                  <a:srgbClr val="374151"/>
                </a:solidFill>
                <a:latin typeface="+mj-lt"/>
              </a:rPr>
              <a:t>Durante el </a:t>
            </a:r>
            <a:r>
              <a:rPr lang="es-ES" b="1" dirty="0">
                <a:solidFill>
                  <a:srgbClr val="374151"/>
                </a:solidFill>
                <a:latin typeface="+mj-lt"/>
              </a:rPr>
              <a:t>entrenamiento</a:t>
            </a:r>
            <a:r>
              <a:rPr lang="es-ES" dirty="0">
                <a:solidFill>
                  <a:srgbClr val="374151"/>
                </a:solidFill>
                <a:latin typeface="+mj-lt"/>
              </a:rPr>
              <a:t>, la red </a:t>
            </a:r>
            <a:r>
              <a:rPr lang="es-ES" b="1" dirty="0">
                <a:solidFill>
                  <a:srgbClr val="374151"/>
                </a:solidFill>
                <a:latin typeface="+mj-lt"/>
              </a:rPr>
              <a:t>ajusta </a:t>
            </a:r>
            <a:r>
              <a:rPr lang="es-ES" dirty="0">
                <a:solidFill>
                  <a:srgbClr val="374151"/>
                </a:solidFill>
                <a:latin typeface="+mj-lt"/>
              </a:rPr>
              <a:t>sus </a:t>
            </a:r>
            <a:r>
              <a:rPr lang="es-ES" b="1" dirty="0">
                <a:solidFill>
                  <a:srgbClr val="374151"/>
                </a:solidFill>
                <a:latin typeface="+mj-lt"/>
              </a:rPr>
              <a:t>parámetros </a:t>
            </a:r>
            <a:r>
              <a:rPr lang="es-ES" dirty="0">
                <a:solidFill>
                  <a:srgbClr val="374151"/>
                </a:solidFill>
                <a:latin typeface="+mj-lt"/>
              </a:rPr>
              <a:t>internos mediante el proceso de </a:t>
            </a:r>
            <a:r>
              <a:rPr lang="es-ES" b="1" dirty="0" err="1">
                <a:solidFill>
                  <a:srgbClr val="374151"/>
                </a:solidFill>
                <a:latin typeface="+mj-lt"/>
              </a:rPr>
              <a:t>retropropagación</a:t>
            </a:r>
            <a:r>
              <a:rPr lang="es-ES" dirty="0">
                <a:solidFill>
                  <a:srgbClr val="374151"/>
                </a:solidFill>
                <a:latin typeface="+mj-lt"/>
              </a:rPr>
              <a:t>, </a:t>
            </a:r>
            <a:r>
              <a:rPr lang="es-ES" u="sng" dirty="0">
                <a:solidFill>
                  <a:srgbClr val="374151"/>
                </a:solidFill>
                <a:latin typeface="+mj-lt"/>
              </a:rPr>
              <a:t>minimizando</a:t>
            </a:r>
            <a:r>
              <a:rPr lang="es-ES" dirty="0">
                <a:solidFill>
                  <a:srgbClr val="374151"/>
                </a:solidFill>
                <a:latin typeface="+mj-lt"/>
              </a:rPr>
              <a:t> la </a:t>
            </a:r>
            <a:r>
              <a:rPr lang="es-ES" u="sng" dirty="0">
                <a:solidFill>
                  <a:srgbClr val="374151"/>
                </a:solidFill>
                <a:latin typeface="+mj-lt"/>
              </a:rPr>
              <a:t>diferencia </a:t>
            </a:r>
            <a:r>
              <a:rPr lang="es-ES" dirty="0">
                <a:solidFill>
                  <a:srgbClr val="374151"/>
                </a:solidFill>
                <a:latin typeface="+mj-lt"/>
              </a:rPr>
              <a:t>entre las </a:t>
            </a:r>
            <a:r>
              <a:rPr lang="es-ES" u="sng" dirty="0">
                <a:solidFill>
                  <a:srgbClr val="374151"/>
                </a:solidFill>
                <a:latin typeface="+mj-lt"/>
              </a:rPr>
              <a:t>predicciones</a:t>
            </a:r>
            <a:r>
              <a:rPr lang="es-ES" dirty="0">
                <a:solidFill>
                  <a:srgbClr val="374151"/>
                </a:solidFill>
                <a:latin typeface="+mj-lt"/>
              </a:rPr>
              <a:t> del modelo y las </a:t>
            </a:r>
            <a:r>
              <a:rPr lang="es-ES" u="sng" dirty="0">
                <a:solidFill>
                  <a:srgbClr val="374151"/>
                </a:solidFill>
                <a:latin typeface="+mj-lt"/>
              </a:rPr>
              <a:t>etiquetas</a:t>
            </a:r>
            <a:r>
              <a:rPr lang="es-ES" dirty="0">
                <a:solidFill>
                  <a:srgbClr val="374151"/>
                </a:solidFill>
                <a:latin typeface="+mj-lt"/>
              </a:rPr>
              <a:t> reales. Una vez entrenada, la red puede generalizar para hacer </a:t>
            </a:r>
            <a:r>
              <a:rPr lang="es-ES" b="1" dirty="0">
                <a:solidFill>
                  <a:srgbClr val="374151"/>
                </a:solidFill>
                <a:latin typeface="+mj-lt"/>
              </a:rPr>
              <a:t>predicciones </a:t>
            </a:r>
            <a:r>
              <a:rPr lang="es-ES" dirty="0">
                <a:solidFill>
                  <a:srgbClr val="374151"/>
                </a:solidFill>
                <a:latin typeface="+mj-lt"/>
              </a:rPr>
              <a:t>sobre </a:t>
            </a:r>
            <a:r>
              <a:rPr lang="es-ES" b="1" dirty="0">
                <a:solidFill>
                  <a:srgbClr val="374151"/>
                </a:solidFill>
                <a:latin typeface="+mj-lt"/>
              </a:rPr>
              <a:t>datos no vistos</a:t>
            </a:r>
            <a:r>
              <a:rPr lang="es-ES" dirty="0">
                <a:solidFill>
                  <a:srgbClr val="374151"/>
                </a:solidFill>
                <a:latin typeface="+mj-lt"/>
              </a:rPr>
              <a:t>. </a:t>
            </a:r>
            <a:endParaRPr lang="es-ES" dirty="0" smtClean="0">
              <a:solidFill>
                <a:srgbClr val="374151"/>
              </a:solidFill>
              <a:latin typeface="+mj-lt"/>
            </a:endParaRPr>
          </a:p>
          <a:p>
            <a:pPr algn="just"/>
            <a:endParaRPr lang="es-ES" dirty="0">
              <a:solidFill>
                <a:srgbClr val="374151"/>
              </a:solidFill>
              <a:latin typeface="+mj-lt"/>
            </a:endParaRPr>
          </a:p>
          <a:p>
            <a:pPr algn="just"/>
            <a:r>
              <a:rPr lang="es-ES" sz="2400" b="1" dirty="0" smtClean="0">
                <a:solidFill>
                  <a:schemeClr val="tx2">
                    <a:lumMod val="60000"/>
                    <a:lumOff val="40000"/>
                  </a:schemeClr>
                </a:solidFill>
                <a:latin typeface="+mj-lt"/>
              </a:rPr>
              <a:t>Entrenamiento supervisado:</a:t>
            </a:r>
            <a:endParaRPr lang="es-ES" b="1" dirty="0" smtClean="0">
              <a:solidFill>
                <a:schemeClr val="tx2">
                  <a:lumMod val="60000"/>
                  <a:lumOff val="40000"/>
                </a:schemeClr>
              </a:solidFill>
              <a:latin typeface="+mj-lt"/>
            </a:endParaRPr>
          </a:p>
          <a:p>
            <a:pPr algn="just"/>
            <a:r>
              <a:rPr lang="es-ES" dirty="0" smtClean="0">
                <a:latin typeface="+mj-lt"/>
              </a:rPr>
              <a:t>Las redes neuronales de entrenamiento supervisado son las más populares. Los datos de entrenamiento los forman varios pares de </a:t>
            </a:r>
            <a:r>
              <a:rPr lang="es-ES" b="1" dirty="0" smtClean="0">
                <a:latin typeface="+mj-lt"/>
              </a:rPr>
              <a:t>patrones de entrenamiento de entrada y de </a:t>
            </a:r>
            <a:r>
              <a:rPr lang="es-ES" b="1" dirty="0">
                <a:latin typeface="+mj-lt"/>
              </a:rPr>
              <a:t>salida</a:t>
            </a:r>
            <a:r>
              <a:rPr lang="es-ES" dirty="0" smtClean="0">
                <a:latin typeface="+mj-lt"/>
              </a:rPr>
              <a:t>. Al conocer la salida (o valor/etiqueta de la variable respuesta) el entrenamiento se puede beneficiar de la </a:t>
            </a:r>
            <a:r>
              <a:rPr lang="es-ES" b="1" dirty="0" smtClean="0">
                <a:latin typeface="+mj-lt"/>
              </a:rPr>
              <a:t>supervisión de un maestro</a:t>
            </a:r>
            <a:r>
              <a:rPr lang="es-ES" dirty="0" smtClean="0">
                <a:latin typeface="+mj-lt"/>
              </a:rPr>
              <a:t> (analista que va controlando los resultados). Dado un nuevo patrón de entrenamiento, en la etapa (</a:t>
            </a:r>
            <a:r>
              <a:rPr lang="es-ES" i="1" dirty="0">
                <a:latin typeface="+mj-lt"/>
              </a:rPr>
              <a:t>m+1</a:t>
            </a:r>
            <a:r>
              <a:rPr lang="es-ES" dirty="0">
                <a:latin typeface="+mj-lt"/>
              </a:rPr>
              <a:t>)-</a:t>
            </a:r>
            <a:r>
              <a:rPr lang="es-ES" dirty="0" err="1">
                <a:latin typeface="+mj-lt"/>
              </a:rPr>
              <a:t>ésima</a:t>
            </a:r>
            <a:r>
              <a:rPr lang="es-ES" dirty="0">
                <a:latin typeface="+mj-lt"/>
              </a:rPr>
              <a:t>, </a:t>
            </a:r>
            <a:r>
              <a:rPr lang="es-ES" dirty="0" smtClean="0">
                <a:latin typeface="+mj-lt"/>
              </a:rPr>
              <a:t>los pesos se adaptan de la siguiente forma</a:t>
            </a:r>
            <a:r>
              <a:rPr lang="es-ES" dirty="0">
                <a:latin typeface="+mj-lt"/>
              </a:rPr>
              <a:t>:</a:t>
            </a:r>
          </a:p>
        </p:txBody>
      </p:sp>
      <p:grpSp>
        <p:nvGrpSpPr>
          <p:cNvPr id="10" name="Grupo 9"/>
          <p:cNvGrpSpPr/>
          <p:nvPr/>
        </p:nvGrpSpPr>
        <p:grpSpPr>
          <a:xfrm>
            <a:off x="3670300" y="5440136"/>
            <a:ext cx="3505199" cy="1833882"/>
            <a:chOff x="3670300" y="5440136"/>
            <a:chExt cx="3505199" cy="1833882"/>
          </a:xfrm>
        </p:grpSpPr>
        <p:pic>
          <p:nvPicPr>
            <p:cNvPr id="6" name="Imagen 5"/>
            <p:cNvPicPr>
              <a:picLocks noChangeAspect="1"/>
            </p:cNvPicPr>
            <p:nvPr/>
          </p:nvPicPr>
          <p:blipFill>
            <a:blip r:embed="rId3"/>
            <a:stretch>
              <a:fillRect/>
            </a:stretch>
          </p:blipFill>
          <p:spPr>
            <a:xfrm>
              <a:off x="3813092" y="5457825"/>
              <a:ext cx="3219615" cy="1816193"/>
            </a:xfrm>
            <a:prstGeom prst="rect">
              <a:avLst/>
            </a:prstGeom>
          </p:spPr>
        </p:pic>
        <p:sp>
          <p:nvSpPr>
            <p:cNvPr id="8" name="Rectángulo 7"/>
            <p:cNvSpPr/>
            <p:nvPr/>
          </p:nvSpPr>
          <p:spPr>
            <a:xfrm>
              <a:off x="3670300" y="5598491"/>
              <a:ext cx="1143000" cy="77373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s-ES" sz="1200" dirty="0" smtClean="0"/>
                <a:t>Patrones de entrenamiento</a:t>
              </a:r>
              <a:endParaRPr lang="es-ES" sz="1200" dirty="0"/>
            </a:p>
          </p:txBody>
        </p:sp>
        <p:sp>
          <p:nvSpPr>
            <p:cNvPr id="9" name="Rectángulo 8"/>
            <p:cNvSpPr/>
            <p:nvPr/>
          </p:nvSpPr>
          <p:spPr>
            <a:xfrm>
              <a:off x="6032499" y="5440136"/>
              <a:ext cx="1143000" cy="77373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s-ES" sz="1200" dirty="0" smtClean="0"/>
                <a:t>Maestro / supervisor</a:t>
              </a:r>
              <a:endParaRPr lang="es-ES" sz="1200" dirty="0"/>
            </a:p>
          </p:txBody>
        </p:sp>
      </p:grpSp>
    </p:spTree>
    <p:extLst>
      <p:ext uri="{BB962C8B-B14F-4D97-AF65-F5344CB8AC3E}">
        <p14:creationId xmlns:p14="http://schemas.microsoft.com/office/powerpoint/2010/main" val="137297385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p:cNvSpPr>
          <p:nvPr/>
        </p:nvSpPr>
        <p:spPr>
          <a:xfrm>
            <a:off x="977835" y="244291"/>
            <a:ext cx="86868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rPr>
              <a:t>Redes neuronales supervisadas</a:t>
            </a:r>
            <a:endParaRPr lang="es-ES" sz="2600" kern="0" dirty="0"/>
          </a:p>
        </p:txBody>
      </p:sp>
      <p:sp>
        <p:nvSpPr>
          <p:cNvPr id="4" name="Rectángulo 3"/>
          <p:cNvSpPr/>
          <p:nvPr/>
        </p:nvSpPr>
        <p:spPr>
          <a:xfrm>
            <a:off x="927100" y="809625"/>
            <a:ext cx="9398066" cy="369332"/>
          </a:xfrm>
          <a:prstGeom prst="rect">
            <a:avLst/>
          </a:prstGeom>
        </p:spPr>
        <p:txBody>
          <a:bodyPr wrap="square">
            <a:spAutoFit/>
          </a:bodyPr>
          <a:lstStyle/>
          <a:p>
            <a:pPr algn="just"/>
            <a:endParaRPr lang="es-ES" dirty="0">
              <a:latin typeface="+mj-lt"/>
            </a:endParaRPr>
          </a:p>
        </p:txBody>
      </p:sp>
      <p:graphicFrame>
        <p:nvGraphicFramePr>
          <p:cNvPr id="2" name="Tabla 1"/>
          <p:cNvGraphicFramePr>
            <a:graphicFrameLocks noGrp="1"/>
          </p:cNvGraphicFramePr>
          <p:nvPr>
            <p:extLst>
              <p:ext uri="{D42A27DB-BD31-4B8C-83A1-F6EECF244321}">
                <p14:modId xmlns:p14="http://schemas.microsoft.com/office/powerpoint/2010/main" val="2778490007"/>
              </p:ext>
            </p:extLst>
          </p:nvPr>
        </p:nvGraphicFramePr>
        <p:xfrm>
          <a:off x="698500" y="962026"/>
          <a:ext cx="9296399" cy="5943601"/>
        </p:xfrm>
        <a:graphic>
          <a:graphicData uri="http://schemas.openxmlformats.org/drawingml/2006/table">
            <a:tbl>
              <a:tblPr firstRow="1">
                <a:tableStyleId>{5C22544A-7EE6-4342-B048-85BDC9FD1C3A}</a:tableStyleId>
              </a:tblPr>
              <a:tblGrid>
                <a:gridCol w="2133600"/>
                <a:gridCol w="2415173"/>
                <a:gridCol w="2309227"/>
                <a:gridCol w="2438399"/>
              </a:tblGrid>
              <a:tr h="257198">
                <a:tc>
                  <a:txBody>
                    <a:bodyPr/>
                    <a:lstStyle/>
                    <a:p>
                      <a:pPr algn="ctr" fontAlgn="b"/>
                      <a:r>
                        <a:rPr lang="es-ES" sz="1600" u="none" strike="noStrike" dirty="0">
                          <a:effectLst/>
                        </a:rPr>
                        <a:t>Regla de aprendizaje</a:t>
                      </a:r>
                      <a:endParaRPr lang="es-ES" sz="1600" b="1" i="0" u="none" strike="noStrike" dirty="0">
                        <a:solidFill>
                          <a:srgbClr val="FFFFFF"/>
                        </a:solidFill>
                        <a:effectLst/>
                        <a:latin typeface="Calibri" panose="020F0502020204030204" pitchFamily="34" charset="0"/>
                      </a:endParaRPr>
                    </a:p>
                  </a:txBody>
                  <a:tcPr marL="4341" marR="4341" marT="4341" marB="0" anchor="b"/>
                </a:tc>
                <a:tc>
                  <a:txBody>
                    <a:bodyPr/>
                    <a:lstStyle/>
                    <a:p>
                      <a:pPr algn="ctr" fontAlgn="b"/>
                      <a:r>
                        <a:rPr lang="es-ES" sz="1600" u="none" strike="noStrike">
                          <a:effectLst/>
                        </a:rPr>
                        <a:t>Arquitectura</a:t>
                      </a:r>
                      <a:endParaRPr lang="es-ES" sz="1600" b="1" i="0" u="none" strike="noStrike">
                        <a:solidFill>
                          <a:srgbClr val="FFFFFF"/>
                        </a:solidFill>
                        <a:effectLst/>
                        <a:latin typeface="Calibri" panose="020F0502020204030204" pitchFamily="34" charset="0"/>
                      </a:endParaRPr>
                    </a:p>
                  </a:txBody>
                  <a:tcPr marL="4341" marR="4341" marT="4341" marB="0" anchor="b"/>
                </a:tc>
                <a:tc>
                  <a:txBody>
                    <a:bodyPr/>
                    <a:lstStyle/>
                    <a:p>
                      <a:pPr algn="ctr" fontAlgn="b"/>
                      <a:r>
                        <a:rPr lang="es-ES" sz="1600" u="none" strike="noStrike">
                          <a:effectLst/>
                        </a:rPr>
                        <a:t>Algoritmo de aprendizaje</a:t>
                      </a:r>
                      <a:endParaRPr lang="es-ES" sz="1600" b="1" i="0" u="none" strike="noStrike">
                        <a:solidFill>
                          <a:srgbClr val="FFFFFF"/>
                        </a:solidFill>
                        <a:effectLst/>
                        <a:latin typeface="Calibri" panose="020F0502020204030204" pitchFamily="34" charset="0"/>
                      </a:endParaRPr>
                    </a:p>
                  </a:txBody>
                  <a:tcPr marL="4341" marR="4341" marT="4341" marB="0" anchor="b"/>
                </a:tc>
                <a:tc>
                  <a:txBody>
                    <a:bodyPr/>
                    <a:lstStyle/>
                    <a:p>
                      <a:pPr algn="ctr" fontAlgn="b"/>
                      <a:r>
                        <a:rPr lang="es-ES" sz="1600" u="none" strike="noStrike">
                          <a:effectLst/>
                        </a:rPr>
                        <a:t>Tareas</a:t>
                      </a:r>
                      <a:endParaRPr lang="es-ES" sz="1600" b="1" i="0" u="none" strike="noStrike">
                        <a:solidFill>
                          <a:srgbClr val="FFFFFF"/>
                        </a:solidFill>
                        <a:effectLst/>
                        <a:latin typeface="Calibri" panose="020F0502020204030204" pitchFamily="34" charset="0"/>
                      </a:endParaRPr>
                    </a:p>
                  </a:txBody>
                  <a:tcPr marL="4341" marR="4341" marT="4341" marB="0" anchor="b"/>
                </a:tc>
              </a:tr>
              <a:tr h="1773395">
                <a:tc>
                  <a:txBody>
                    <a:bodyPr/>
                    <a:lstStyle/>
                    <a:p>
                      <a:pPr algn="ctr" fontAlgn="b"/>
                      <a:r>
                        <a:rPr lang="es-ES" sz="1600" u="none" strike="noStrike" dirty="0">
                          <a:solidFill>
                            <a:srgbClr val="FF0000"/>
                          </a:solidFill>
                          <a:effectLst/>
                        </a:rPr>
                        <a:t>Corrección de error</a:t>
                      </a:r>
                      <a:endParaRPr lang="es-ES" sz="1600" b="0" i="0" u="none" strike="noStrike" dirty="0">
                        <a:solidFill>
                          <a:srgbClr val="FF0000"/>
                        </a:solidFill>
                        <a:effectLst/>
                        <a:latin typeface="Calibri" panose="020F0502020204030204" pitchFamily="34" charset="0"/>
                      </a:endParaRPr>
                    </a:p>
                  </a:txBody>
                  <a:tcPr marL="4341" marR="4341" marT="4341" marB="0" anchor="ctr"/>
                </a:tc>
                <a:tc>
                  <a:txBody>
                    <a:bodyPr/>
                    <a:lstStyle/>
                    <a:p>
                      <a:pPr algn="ctr" fontAlgn="b"/>
                      <a:r>
                        <a:rPr lang="es-ES" sz="1600" u="none" strike="noStrike" dirty="0" err="1">
                          <a:effectLst/>
                        </a:rPr>
                        <a:t>Perceptrón</a:t>
                      </a:r>
                      <a:r>
                        <a:rPr lang="es-ES" sz="1600" u="none" strike="noStrike" dirty="0">
                          <a:effectLst/>
                        </a:rPr>
                        <a:t> / </a:t>
                      </a:r>
                      <a:r>
                        <a:rPr lang="es-ES" sz="1600" u="none" strike="noStrike" dirty="0" err="1">
                          <a:solidFill>
                            <a:srgbClr val="FF0000"/>
                          </a:solidFill>
                          <a:effectLst/>
                        </a:rPr>
                        <a:t>Perceptrón</a:t>
                      </a:r>
                      <a:r>
                        <a:rPr lang="es-ES" sz="1600" u="none" strike="noStrike" dirty="0">
                          <a:solidFill>
                            <a:srgbClr val="FF0000"/>
                          </a:solidFill>
                          <a:effectLst/>
                        </a:rPr>
                        <a:t> multicapa</a:t>
                      </a:r>
                      <a:endParaRPr lang="es-ES" sz="1600" b="0" i="0" u="none" strike="noStrike" dirty="0">
                        <a:solidFill>
                          <a:srgbClr val="FF0000"/>
                        </a:solidFill>
                        <a:effectLst/>
                        <a:latin typeface="Calibri" panose="020F0502020204030204" pitchFamily="34" charset="0"/>
                      </a:endParaRPr>
                    </a:p>
                  </a:txBody>
                  <a:tcPr marL="4341" marR="4341" marT="4341" marB="0" anchor="ctr"/>
                </a:tc>
                <a:tc>
                  <a:txBody>
                    <a:bodyPr/>
                    <a:lstStyle/>
                    <a:p>
                      <a:pPr algn="ctr" fontAlgn="b"/>
                      <a:r>
                        <a:rPr lang="es-ES" sz="1600" u="none" strike="noStrike" dirty="0">
                          <a:effectLst/>
                        </a:rPr>
                        <a:t>Algoritmos de aprendizaje </a:t>
                      </a:r>
                      <a:r>
                        <a:rPr lang="es-ES" sz="1600" u="none" strike="noStrike" dirty="0" err="1">
                          <a:effectLst/>
                        </a:rPr>
                        <a:t>perceptrón</a:t>
                      </a:r>
                      <a:r>
                        <a:rPr lang="es-ES" sz="1600" u="none" strike="noStrike" dirty="0">
                          <a:effectLst/>
                        </a:rPr>
                        <a:t>, </a:t>
                      </a:r>
                      <a:r>
                        <a:rPr lang="es-ES" sz="1600" u="none" strike="noStrike" dirty="0" err="1">
                          <a:solidFill>
                            <a:srgbClr val="FF0000"/>
                          </a:solidFill>
                          <a:effectLst/>
                        </a:rPr>
                        <a:t>retropropagación</a:t>
                      </a:r>
                      <a:r>
                        <a:rPr lang="es-ES" sz="1600" u="none" strike="noStrike" dirty="0">
                          <a:solidFill>
                            <a:srgbClr val="FF0000"/>
                          </a:solidFill>
                          <a:effectLst/>
                        </a:rPr>
                        <a:t> del error</a:t>
                      </a:r>
                      <a:r>
                        <a:rPr lang="es-ES" sz="1600" u="none" strike="noStrike" dirty="0">
                          <a:effectLst/>
                        </a:rPr>
                        <a:t>, ADALINE, MADALINE</a:t>
                      </a:r>
                      <a:endParaRPr lang="es-ES" sz="1600" b="0" i="0" u="none" strike="noStrike" dirty="0">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dirty="0">
                          <a:effectLst/>
                        </a:rPr>
                        <a:t>Clasificación de patrones, aproximación de funciones, </a:t>
                      </a:r>
                      <a:r>
                        <a:rPr lang="es-ES" sz="1600" u="none" strike="noStrike" dirty="0">
                          <a:solidFill>
                            <a:srgbClr val="FF0000"/>
                          </a:solidFill>
                          <a:effectLst/>
                        </a:rPr>
                        <a:t>predicción</a:t>
                      </a:r>
                      <a:r>
                        <a:rPr lang="es-ES" sz="1600" u="none" strike="noStrike" dirty="0">
                          <a:effectLst/>
                        </a:rPr>
                        <a:t>, </a:t>
                      </a:r>
                      <a:r>
                        <a:rPr lang="es-ES" sz="1600" u="none" strike="noStrike" dirty="0" smtClean="0">
                          <a:effectLst/>
                        </a:rPr>
                        <a:t>control</a:t>
                      </a:r>
                      <a:endParaRPr lang="es-ES" sz="1600" b="0" i="0" u="none" strike="noStrike" dirty="0">
                        <a:solidFill>
                          <a:srgbClr val="000000"/>
                        </a:solidFill>
                        <a:effectLst/>
                        <a:latin typeface="Calibri" panose="020F0502020204030204" pitchFamily="34" charset="0"/>
                      </a:endParaRPr>
                    </a:p>
                  </a:txBody>
                  <a:tcPr marL="4341" marR="4341" marT="4341" marB="0" anchor="ctr"/>
                </a:tc>
              </a:tr>
              <a:tr h="762597">
                <a:tc>
                  <a:txBody>
                    <a:bodyPr/>
                    <a:lstStyle/>
                    <a:p>
                      <a:pPr algn="ctr" fontAlgn="b"/>
                      <a:r>
                        <a:rPr lang="es-ES" sz="1600" u="none" strike="noStrike" dirty="0">
                          <a:effectLst/>
                        </a:rPr>
                        <a:t>Corrección de error</a:t>
                      </a:r>
                      <a:endParaRPr lang="es-ES" sz="1600" b="0" i="0" u="none" strike="noStrike" dirty="0">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a:effectLst/>
                        </a:rPr>
                        <a:t>Elman y Jordan recurrentes</a:t>
                      </a:r>
                      <a:endParaRPr lang="es-ES" sz="1600" b="0" i="0" u="none" strike="noStrike">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a:effectLst/>
                        </a:rPr>
                        <a:t>Retropropagación del error</a:t>
                      </a:r>
                      <a:endParaRPr lang="es-ES" sz="1600" b="0" i="0" u="none" strike="noStrike">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dirty="0">
                          <a:effectLst/>
                        </a:rPr>
                        <a:t>Síntesis de series temporales</a:t>
                      </a:r>
                      <a:endParaRPr lang="es-ES" sz="1600" b="0" i="0" u="none" strike="noStrike" dirty="0">
                        <a:solidFill>
                          <a:srgbClr val="000000"/>
                        </a:solidFill>
                        <a:effectLst/>
                        <a:latin typeface="Calibri" panose="020F0502020204030204" pitchFamily="34" charset="0"/>
                      </a:endParaRPr>
                    </a:p>
                  </a:txBody>
                  <a:tcPr marL="4341" marR="4341" marT="4341" marB="0" anchor="ctr"/>
                </a:tc>
              </a:tr>
              <a:tr h="614419">
                <a:tc>
                  <a:txBody>
                    <a:bodyPr/>
                    <a:lstStyle/>
                    <a:p>
                      <a:pPr algn="ctr" fontAlgn="b"/>
                      <a:r>
                        <a:rPr lang="es-ES" sz="1600" u="none" strike="noStrike">
                          <a:effectLst/>
                        </a:rPr>
                        <a:t>Boltzmann</a:t>
                      </a:r>
                      <a:endParaRPr lang="es-ES" sz="1600" b="0" i="0" u="none" strike="noStrike">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a:effectLst/>
                        </a:rPr>
                        <a:t>Recurrente</a:t>
                      </a:r>
                      <a:endParaRPr lang="es-ES" sz="1600" b="0" i="0" u="none" strike="noStrike">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a:effectLst/>
                        </a:rPr>
                        <a:t>Boltzmann</a:t>
                      </a:r>
                      <a:endParaRPr lang="es-ES" sz="1600" b="0" i="0" u="none" strike="noStrike">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dirty="0">
                          <a:effectLst/>
                        </a:rPr>
                        <a:t>Clasificación de patrones</a:t>
                      </a:r>
                      <a:endParaRPr lang="es-ES" sz="1600" b="0" i="0" u="none" strike="noStrike" dirty="0">
                        <a:solidFill>
                          <a:srgbClr val="000000"/>
                        </a:solidFill>
                        <a:effectLst/>
                        <a:latin typeface="Calibri" panose="020F0502020204030204" pitchFamily="34" charset="0"/>
                      </a:endParaRPr>
                    </a:p>
                  </a:txBody>
                  <a:tcPr marL="4341" marR="4341" marT="4341" marB="0" anchor="ctr"/>
                </a:tc>
              </a:tr>
              <a:tr h="1267996">
                <a:tc>
                  <a:txBody>
                    <a:bodyPr/>
                    <a:lstStyle/>
                    <a:p>
                      <a:pPr algn="ctr" fontAlgn="b"/>
                      <a:r>
                        <a:rPr lang="es-ES" sz="1600" u="none" strike="noStrike">
                          <a:effectLst/>
                        </a:rPr>
                        <a:t>Competitivo</a:t>
                      </a:r>
                      <a:endParaRPr lang="es-ES" sz="1600" b="0" i="0" u="none" strike="noStrike">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a:effectLst/>
                        </a:rPr>
                        <a:t>Competitivo</a:t>
                      </a:r>
                      <a:endParaRPr lang="es-ES" sz="1600" b="0" i="0" u="none" strike="noStrike">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a:effectLst/>
                        </a:rPr>
                        <a:t>LVQ</a:t>
                      </a:r>
                      <a:endParaRPr lang="es-ES" sz="1600" b="0" i="0" u="none" strike="noStrike">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dirty="0">
                          <a:effectLst/>
                        </a:rPr>
                        <a:t>Categorización </a:t>
                      </a:r>
                      <a:r>
                        <a:rPr lang="es-ES" sz="1600" u="none" strike="noStrike" dirty="0" err="1">
                          <a:effectLst/>
                        </a:rPr>
                        <a:t>intra</a:t>
                      </a:r>
                      <a:r>
                        <a:rPr lang="es-ES" sz="1600" u="none" strike="noStrike" dirty="0">
                          <a:effectLst/>
                        </a:rPr>
                        <a:t>-clases, compresión de datos</a:t>
                      </a:r>
                      <a:endParaRPr lang="es-ES" sz="1600" b="0" i="0" u="none" strike="noStrike" dirty="0">
                        <a:solidFill>
                          <a:srgbClr val="000000"/>
                        </a:solidFill>
                        <a:effectLst/>
                        <a:latin typeface="Calibri" panose="020F0502020204030204" pitchFamily="34" charset="0"/>
                      </a:endParaRPr>
                    </a:p>
                  </a:txBody>
                  <a:tcPr marL="4341" marR="4341" marT="4341" marB="0" anchor="ctr"/>
                </a:tc>
              </a:tr>
              <a:tr h="1267996">
                <a:tc>
                  <a:txBody>
                    <a:bodyPr/>
                    <a:lstStyle/>
                    <a:p>
                      <a:pPr algn="ctr" fontAlgn="b"/>
                      <a:r>
                        <a:rPr lang="es-ES" sz="1600" u="none" strike="noStrike">
                          <a:effectLst/>
                        </a:rPr>
                        <a:t>Competitivo</a:t>
                      </a:r>
                      <a:endParaRPr lang="es-ES" sz="1600" b="0" i="0" u="none" strike="noStrike">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a:effectLst/>
                        </a:rPr>
                        <a:t>Red Art</a:t>
                      </a:r>
                      <a:endParaRPr lang="es-ES" sz="1600" b="0" i="0" u="none" strike="noStrike">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dirty="0" err="1">
                          <a:effectLst/>
                        </a:rPr>
                        <a:t>ARTMap</a:t>
                      </a:r>
                      <a:endParaRPr lang="es-ES" sz="1600" b="0" i="0" u="none" strike="noStrike" dirty="0">
                        <a:solidFill>
                          <a:srgbClr val="000000"/>
                        </a:solidFill>
                        <a:effectLst/>
                        <a:latin typeface="Calibri" panose="020F0502020204030204" pitchFamily="34" charset="0"/>
                      </a:endParaRPr>
                    </a:p>
                  </a:txBody>
                  <a:tcPr marL="4341" marR="4341" marT="4341" marB="0" anchor="ctr"/>
                </a:tc>
                <a:tc>
                  <a:txBody>
                    <a:bodyPr/>
                    <a:lstStyle/>
                    <a:p>
                      <a:pPr algn="ctr" fontAlgn="b"/>
                      <a:r>
                        <a:rPr lang="es-ES" sz="1600" u="none" strike="noStrike" dirty="0">
                          <a:effectLst/>
                        </a:rPr>
                        <a:t>Categorización </a:t>
                      </a:r>
                      <a:r>
                        <a:rPr lang="es-ES" sz="1600" u="none" strike="noStrike" dirty="0" err="1">
                          <a:effectLst/>
                        </a:rPr>
                        <a:t>intra</a:t>
                      </a:r>
                      <a:r>
                        <a:rPr lang="es-ES" sz="1600" u="none" strike="noStrike" dirty="0">
                          <a:effectLst/>
                        </a:rPr>
                        <a:t>-clases, clasificación de patrones</a:t>
                      </a:r>
                      <a:endParaRPr lang="es-ES" sz="1600" b="0" i="0" u="none" strike="noStrike" dirty="0">
                        <a:solidFill>
                          <a:srgbClr val="000000"/>
                        </a:solidFill>
                        <a:effectLst/>
                        <a:latin typeface="Calibri" panose="020F0502020204030204" pitchFamily="34" charset="0"/>
                      </a:endParaRPr>
                    </a:p>
                  </a:txBody>
                  <a:tcPr marL="4341" marR="4341" marT="4341" marB="0" anchor="ctr"/>
                </a:tc>
              </a:tr>
            </a:tbl>
          </a:graphicData>
        </a:graphic>
      </p:graphicFrame>
    </p:spTree>
    <p:extLst>
      <p:ext uri="{BB962C8B-B14F-4D97-AF65-F5344CB8AC3E}">
        <p14:creationId xmlns:p14="http://schemas.microsoft.com/office/powerpoint/2010/main" val="169921149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p:cNvSpPr>
          <p:nvPr/>
        </p:nvSpPr>
        <p:spPr>
          <a:xfrm>
            <a:off x="977835" y="225637"/>
            <a:ext cx="86868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rPr>
              <a:t>Redes neuronales no supervisadas</a:t>
            </a:r>
            <a:endParaRPr lang="es-ES" sz="2600" kern="0" dirty="0"/>
          </a:p>
        </p:txBody>
      </p:sp>
      <p:pic>
        <p:nvPicPr>
          <p:cNvPr id="2" name="Imagen 1"/>
          <p:cNvPicPr>
            <a:picLocks noChangeAspect="1"/>
          </p:cNvPicPr>
          <p:nvPr/>
        </p:nvPicPr>
        <p:blipFill>
          <a:blip r:embed="rId2"/>
          <a:stretch>
            <a:fillRect/>
          </a:stretch>
        </p:blipFill>
        <p:spPr>
          <a:xfrm>
            <a:off x="8559800" y="1571625"/>
            <a:ext cx="2133600" cy="1355834"/>
          </a:xfrm>
          <a:prstGeom prst="rect">
            <a:avLst/>
          </a:prstGeom>
        </p:spPr>
      </p:pic>
      <p:sp>
        <p:nvSpPr>
          <p:cNvPr id="4" name="Rectángulo 3"/>
          <p:cNvSpPr/>
          <p:nvPr/>
        </p:nvSpPr>
        <p:spPr>
          <a:xfrm>
            <a:off x="266765" y="733425"/>
            <a:ext cx="9118535" cy="6278642"/>
          </a:xfrm>
          <a:prstGeom prst="rect">
            <a:avLst/>
          </a:prstGeom>
        </p:spPr>
        <p:txBody>
          <a:bodyPr wrap="square">
            <a:spAutoFit/>
          </a:bodyPr>
          <a:lstStyle/>
          <a:p>
            <a:pPr algn="just"/>
            <a:r>
              <a:rPr lang="es-ES" dirty="0"/>
              <a:t>En general, para cualquier modelo de aprendizaje no supervisado, el conjunto de datos de entrenamiento consiste sólo en los patrones de entrada, de manera que el entrenamiento se lleva a cabo sin la supervisión y ajuste de un maestro analista. Una red no supervisada aprende a adaptarse en base a las experiencias recogidas de los patrones de entrenamiento anteriores. </a:t>
            </a:r>
          </a:p>
          <a:p>
            <a:pPr algn="just"/>
            <a:endParaRPr lang="es-ES" dirty="0">
              <a:solidFill>
                <a:srgbClr val="374151"/>
              </a:solidFill>
              <a:latin typeface="+mj-lt"/>
            </a:endParaRPr>
          </a:p>
          <a:p>
            <a:pPr algn="just"/>
            <a:r>
              <a:rPr lang="es-ES" sz="2400" b="1" dirty="0" smtClean="0">
                <a:solidFill>
                  <a:schemeClr val="tx2">
                    <a:lumMod val="60000"/>
                    <a:lumOff val="40000"/>
                  </a:schemeClr>
                </a:solidFill>
                <a:latin typeface="+mj-lt"/>
              </a:rPr>
              <a:t>Entrenamiento NO supervisado:</a:t>
            </a:r>
            <a:endParaRPr lang="es-ES" b="1" dirty="0" smtClean="0">
              <a:solidFill>
                <a:schemeClr val="tx2">
                  <a:lumMod val="60000"/>
                  <a:lumOff val="40000"/>
                </a:schemeClr>
              </a:solidFill>
              <a:latin typeface="+mj-lt"/>
            </a:endParaRPr>
          </a:p>
          <a:p>
            <a:r>
              <a:rPr lang="es-ES" dirty="0"/>
              <a:t>E</a:t>
            </a:r>
            <a:r>
              <a:rPr lang="es-ES" dirty="0" smtClean="0"/>
              <a:t>s </a:t>
            </a:r>
            <a:r>
              <a:rPr lang="es-ES" dirty="0"/>
              <a:t>un enfoque en el aprendizaje automático donde el algoritmo se enfrenta a datos </a:t>
            </a:r>
            <a:r>
              <a:rPr lang="es-ES" b="1" dirty="0"/>
              <a:t>sin etiquetas </a:t>
            </a:r>
            <a:r>
              <a:rPr lang="es-ES" dirty="0"/>
              <a:t>y tiene la tarea de descubrir patrones, estructuras o relaciones inherentes en esos datos por sí mismo. A diferencia del aprendizaje supervisado, donde el modelo se entrena con ejemplos etiquetados, en el entrenamiento no supervisado, el modelo debe encontrar patrones sin la guía explícita de las etiquetas</a:t>
            </a:r>
            <a:r>
              <a:rPr lang="es-ES" dirty="0" smtClean="0"/>
              <a:t>. Reglas generales:</a:t>
            </a:r>
          </a:p>
          <a:p>
            <a:pPr marL="285750" indent="-285750">
              <a:buFont typeface="Arial" panose="020B0604020202020204" pitchFamily="34" charset="0"/>
              <a:buChar char="•"/>
            </a:pPr>
            <a:r>
              <a:rPr lang="es-ES" b="1" dirty="0" smtClean="0"/>
              <a:t>Ausencia </a:t>
            </a:r>
            <a:r>
              <a:rPr lang="es-ES" b="1" dirty="0"/>
              <a:t>de </a:t>
            </a:r>
            <a:r>
              <a:rPr lang="es-ES" b="1" dirty="0" smtClean="0"/>
              <a:t>etiquetas</a:t>
            </a:r>
            <a:endParaRPr lang="es-ES" dirty="0"/>
          </a:p>
          <a:p>
            <a:pPr marL="285750" indent="-285750">
              <a:buFont typeface="Arial" panose="020B0604020202020204" pitchFamily="34" charset="0"/>
              <a:buChar char="•"/>
            </a:pPr>
            <a:r>
              <a:rPr lang="es-ES" b="1" dirty="0"/>
              <a:t>Descubrimiento de patrones:</a:t>
            </a:r>
            <a:r>
              <a:rPr lang="es-ES" dirty="0"/>
              <a:t> </a:t>
            </a:r>
            <a:r>
              <a:rPr lang="es-ES" dirty="0" smtClean="0"/>
              <a:t>el </a:t>
            </a:r>
            <a:r>
              <a:rPr lang="es-ES" dirty="0"/>
              <a:t>objetivo principal es identificar patrones, relaciones o estructuras intrínsecas en los datos. Esto podría incluir </a:t>
            </a:r>
            <a:r>
              <a:rPr lang="es-ES" dirty="0" err="1" smtClean="0"/>
              <a:t>clustering</a:t>
            </a:r>
            <a:r>
              <a:rPr lang="es-ES" dirty="0" smtClean="0"/>
              <a:t> </a:t>
            </a:r>
            <a:r>
              <a:rPr lang="es-ES" dirty="0"/>
              <a:t>o la reducción de </a:t>
            </a:r>
            <a:r>
              <a:rPr lang="es-ES" dirty="0" err="1" smtClean="0"/>
              <a:t>dimensionalidad</a:t>
            </a:r>
            <a:r>
              <a:rPr lang="es-ES" dirty="0" smtClean="0"/>
              <a:t>.</a:t>
            </a:r>
            <a:endParaRPr lang="es-ES" dirty="0"/>
          </a:p>
          <a:p>
            <a:pPr marL="285750" indent="-285750">
              <a:buFont typeface="Arial" panose="020B0604020202020204" pitchFamily="34" charset="0"/>
              <a:buChar char="•"/>
            </a:pPr>
            <a:r>
              <a:rPr lang="es-ES" b="1" dirty="0"/>
              <a:t>Exploración de la distribución de </a:t>
            </a:r>
            <a:r>
              <a:rPr lang="es-ES" b="1" dirty="0" smtClean="0"/>
              <a:t>datos</a:t>
            </a:r>
            <a:endParaRPr lang="es-ES" dirty="0"/>
          </a:p>
          <a:p>
            <a:pPr marL="285750" indent="-285750">
              <a:buFont typeface="Arial" panose="020B0604020202020204" pitchFamily="34" charset="0"/>
              <a:buChar char="•"/>
            </a:pPr>
            <a:r>
              <a:rPr lang="es-ES" b="1" dirty="0" err="1"/>
              <a:t>Autoencoders</a:t>
            </a:r>
            <a:r>
              <a:rPr lang="es-ES" b="1" dirty="0"/>
              <a:t> y redes generativas:</a:t>
            </a:r>
            <a:r>
              <a:rPr lang="es-ES" dirty="0"/>
              <a:t> </a:t>
            </a:r>
            <a:r>
              <a:rPr lang="es-ES" dirty="0" smtClean="0"/>
              <a:t>para </a:t>
            </a:r>
            <a:r>
              <a:rPr lang="es-ES" dirty="0"/>
              <a:t>aprender representaciones comprimidas de datos o el uso de redes generativas para crear nuevas muestras </a:t>
            </a:r>
            <a:r>
              <a:rPr lang="es-ES" dirty="0" smtClean="0"/>
              <a:t>parecidas </a:t>
            </a:r>
            <a:r>
              <a:rPr lang="es-ES" dirty="0"/>
              <a:t>a las del conjunto de entrenamiento original.</a:t>
            </a:r>
          </a:p>
          <a:p>
            <a:pPr marL="285750" indent="-285750">
              <a:buFont typeface="Arial" panose="020B0604020202020204" pitchFamily="34" charset="0"/>
              <a:buChar char="•"/>
            </a:pPr>
            <a:r>
              <a:rPr lang="es-ES" b="1" dirty="0"/>
              <a:t>Validación indirecta:</a:t>
            </a:r>
            <a:r>
              <a:rPr lang="es-ES" dirty="0"/>
              <a:t> </a:t>
            </a:r>
            <a:r>
              <a:rPr lang="es-ES" dirty="0" smtClean="0"/>
              <a:t>en </a:t>
            </a:r>
            <a:r>
              <a:rPr lang="es-ES" dirty="0"/>
              <a:t>lugar de utilizar métricas de rendimiento específicas (como precisión o error), la eficacia de los modelos no supervisados a menudo se valida indirectamente mediante la utilidad de los patrones descubiertos en aplicaciones específicas.</a:t>
            </a:r>
          </a:p>
        </p:txBody>
      </p:sp>
    </p:spTree>
    <p:extLst>
      <p:ext uri="{BB962C8B-B14F-4D97-AF65-F5344CB8AC3E}">
        <p14:creationId xmlns:p14="http://schemas.microsoft.com/office/powerpoint/2010/main" val="338048099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p:cNvSpPr>
          <p:nvPr/>
        </p:nvSpPr>
        <p:spPr>
          <a:xfrm>
            <a:off x="850900" y="581025"/>
            <a:ext cx="86868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rPr>
              <a:t>Redes neuronales no supervisadas</a:t>
            </a:r>
            <a:endParaRPr lang="es-ES" sz="2600" kern="0" dirty="0"/>
          </a:p>
        </p:txBody>
      </p:sp>
      <p:sp>
        <p:nvSpPr>
          <p:cNvPr id="4" name="CuadroTexto 3"/>
          <p:cNvSpPr txBox="1"/>
          <p:nvPr/>
        </p:nvSpPr>
        <p:spPr>
          <a:xfrm>
            <a:off x="1231900" y="2028825"/>
            <a:ext cx="7924799" cy="2554545"/>
          </a:xfrm>
          <a:prstGeom prst="rect">
            <a:avLst/>
          </a:prstGeom>
          <a:noFill/>
        </p:spPr>
        <p:txBody>
          <a:bodyPr wrap="square" rtlCol="0">
            <a:spAutoFit/>
          </a:bodyPr>
          <a:lstStyle/>
          <a:p>
            <a:pPr algn="just"/>
            <a:r>
              <a:rPr lang="es-ES" sz="2000" dirty="0" smtClean="0"/>
              <a:t>Algunos ejemplos de reglas de aprendizaje son la regla de </a:t>
            </a:r>
            <a:r>
              <a:rPr lang="es-ES" sz="2000" b="1" dirty="0" err="1" smtClean="0"/>
              <a:t>Hebb</a:t>
            </a:r>
            <a:r>
              <a:rPr lang="es-ES" sz="2000" dirty="0" smtClean="0"/>
              <a:t>, consistente en reforzar el peso que conecta dos nodos que se excitan simultáneamente, o la regla de aprendizaje </a:t>
            </a:r>
            <a:r>
              <a:rPr lang="es-ES" sz="2000" b="1" dirty="0"/>
              <a:t>competitivo.</a:t>
            </a:r>
            <a:r>
              <a:rPr lang="es-ES" sz="2000" dirty="0"/>
              <a:t>  </a:t>
            </a:r>
            <a:r>
              <a:rPr lang="es-ES" sz="2000" dirty="0" smtClean="0"/>
              <a:t>En el aprendizaje competitivo, si un patrón nuevo pertenece a una clase conocida previamente, entonces la inclusión del nuevo patrón en esta clase matizará la representación de la misma. Si el nuevo patrón no pertenece a ninguna de las clases reconocidas, entonces la estructura y los pesos de la red se ajustan para reconocer la nueva clase.</a:t>
            </a:r>
            <a:endParaRPr lang="es-ES" sz="2000" dirty="0"/>
          </a:p>
        </p:txBody>
      </p:sp>
    </p:spTree>
    <p:extLst>
      <p:ext uri="{BB962C8B-B14F-4D97-AF65-F5344CB8AC3E}">
        <p14:creationId xmlns:p14="http://schemas.microsoft.com/office/powerpoint/2010/main" val="330779144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p:cNvSpPr>
          <p:nvPr/>
        </p:nvSpPr>
        <p:spPr>
          <a:xfrm>
            <a:off x="977835" y="244291"/>
            <a:ext cx="86868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rPr>
              <a:t>Redes neuronales no supervisadas</a:t>
            </a:r>
            <a:endParaRPr lang="es-ES" sz="2600" kern="0" dirty="0"/>
          </a:p>
        </p:txBody>
      </p:sp>
      <p:sp>
        <p:nvSpPr>
          <p:cNvPr id="4" name="Rectángulo 3"/>
          <p:cNvSpPr/>
          <p:nvPr/>
        </p:nvSpPr>
        <p:spPr>
          <a:xfrm>
            <a:off x="927100" y="809625"/>
            <a:ext cx="9398066" cy="369332"/>
          </a:xfrm>
          <a:prstGeom prst="rect">
            <a:avLst/>
          </a:prstGeom>
        </p:spPr>
        <p:txBody>
          <a:bodyPr wrap="square">
            <a:spAutoFit/>
          </a:bodyPr>
          <a:lstStyle/>
          <a:p>
            <a:pPr algn="just"/>
            <a:endParaRPr lang="es-ES" dirty="0">
              <a:latin typeface="+mj-lt"/>
            </a:endParaRPr>
          </a:p>
        </p:txBody>
      </p:sp>
      <p:graphicFrame>
        <p:nvGraphicFramePr>
          <p:cNvPr id="5" name="Tabla 4"/>
          <p:cNvGraphicFramePr>
            <a:graphicFrameLocks noGrp="1"/>
          </p:cNvGraphicFramePr>
          <p:nvPr>
            <p:extLst>
              <p:ext uri="{D42A27DB-BD31-4B8C-83A1-F6EECF244321}">
                <p14:modId xmlns:p14="http://schemas.microsoft.com/office/powerpoint/2010/main" val="409232153"/>
              </p:ext>
            </p:extLst>
          </p:nvPr>
        </p:nvGraphicFramePr>
        <p:xfrm>
          <a:off x="977836" y="1724026"/>
          <a:ext cx="8686798" cy="4724398"/>
        </p:xfrm>
        <a:graphic>
          <a:graphicData uri="http://schemas.openxmlformats.org/drawingml/2006/table">
            <a:tbl>
              <a:tblPr firstRow="1">
                <a:tableStyleId>{5C22544A-7EE6-4342-B048-85BDC9FD1C3A}</a:tableStyleId>
              </a:tblPr>
              <a:tblGrid>
                <a:gridCol w="2554941"/>
                <a:gridCol w="1695551"/>
                <a:gridCol w="3042703"/>
                <a:gridCol w="1393603"/>
              </a:tblGrid>
              <a:tr h="363222">
                <a:tc>
                  <a:txBody>
                    <a:bodyPr/>
                    <a:lstStyle/>
                    <a:p>
                      <a:pPr algn="ctr" fontAlgn="b"/>
                      <a:r>
                        <a:rPr lang="es-ES" sz="1600" u="none" strike="noStrike">
                          <a:effectLst/>
                        </a:rPr>
                        <a:t>Regla de aprendizaje</a:t>
                      </a:r>
                      <a:endParaRPr lang="es-ES" sz="16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Arquitectura</a:t>
                      </a:r>
                      <a:endParaRPr lang="es-ES" sz="16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Algoritmo de aprendizaje</a:t>
                      </a:r>
                      <a:endParaRPr lang="es-ES" sz="16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Tareas</a:t>
                      </a:r>
                      <a:endParaRPr lang="es-ES" sz="1600" b="1" i="0" u="none" strike="noStrike">
                        <a:solidFill>
                          <a:srgbClr val="FFFFFF"/>
                        </a:solidFill>
                        <a:effectLst/>
                        <a:latin typeface="Calibri" panose="020F0502020204030204" pitchFamily="34" charset="0"/>
                      </a:endParaRPr>
                    </a:p>
                  </a:txBody>
                  <a:tcPr marL="6350" marR="6350" marT="6350" marB="0" anchor="ctr"/>
                </a:tc>
              </a:tr>
              <a:tr h="673840">
                <a:tc>
                  <a:txBody>
                    <a:bodyPr/>
                    <a:lstStyle/>
                    <a:p>
                      <a:pPr algn="ctr" fontAlgn="b"/>
                      <a:r>
                        <a:rPr lang="es-ES" sz="1600" u="none" strike="noStrike">
                          <a:effectLst/>
                        </a:rPr>
                        <a:t>Corrección de error</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Red de Hopfield</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Aprendizaje de memoria asociativa</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Memoria asociativa</a:t>
                      </a:r>
                      <a:endParaRPr lang="es-ES" sz="1600" b="0" i="0" u="none" strike="noStrike">
                        <a:solidFill>
                          <a:srgbClr val="000000"/>
                        </a:solidFill>
                        <a:effectLst/>
                        <a:latin typeface="Calibri" panose="020F0502020204030204" pitchFamily="34" charset="0"/>
                      </a:endParaRPr>
                    </a:p>
                  </a:txBody>
                  <a:tcPr marL="6350" marR="6350" marT="6350" marB="0" anchor="ctr"/>
                </a:tc>
              </a:tr>
              <a:tr h="673840">
                <a:tc>
                  <a:txBody>
                    <a:bodyPr/>
                    <a:lstStyle/>
                    <a:p>
                      <a:pPr algn="ctr" fontAlgn="b"/>
                      <a:r>
                        <a:rPr lang="es-ES" sz="1600" u="none" strike="noStrike">
                          <a:effectLst/>
                        </a:rPr>
                        <a:t>Corrección de error</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Multicapa sin realimentación</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Proyección de Sannon</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Análisis de datos</a:t>
                      </a:r>
                      <a:endParaRPr lang="es-ES" sz="1600" b="0" i="0" u="none" strike="noStrike">
                        <a:solidFill>
                          <a:srgbClr val="000000"/>
                        </a:solidFill>
                        <a:effectLst/>
                        <a:latin typeface="Calibri" panose="020F0502020204030204" pitchFamily="34" charset="0"/>
                      </a:endParaRPr>
                    </a:p>
                  </a:txBody>
                  <a:tcPr marL="6350" marR="6350" marT="6350" marB="0" anchor="ctr"/>
                </a:tc>
              </a:tr>
              <a:tr h="1335157">
                <a:tc>
                  <a:txBody>
                    <a:bodyPr/>
                    <a:lstStyle/>
                    <a:p>
                      <a:pPr algn="ctr" fontAlgn="b"/>
                      <a:r>
                        <a:rPr lang="es-ES" sz="1600" u="none" strike="noStrike">
                          <a:effectLst/>
                        </a:rPr>
                        <a:t>Competitivo</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Competitiva</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VQ</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Categorización, compresión de datos</a:t>
                      </a:r>
                      <a:endParaRPr lang="es-ES" sz="1600" b="0" i="0" u="none" strike="noStrike">
                        <a:solidFill>
                          <a:srgbClr val="000000"/>
                        </a:solidFill>
                        <a:effectLst/>
                        <a:latin typeface="Calibri" panose="020F0502020204030204" pitchFamily="34" charset="0"/>
                      </a:endParaRPr>
                    </a:p>
                  </a:txBody>
                  <a:tcPr marL="6350" marR="6350" marT="6350" marB="0" anchor="ctr"/>
                </a:tc>
              </a:tr>
              <a:tr h="1004499">
                <a:tc>
                  <a:txBody>
                    <a:bodyPr/>
                    <a:lstStyle/>
                    <a:p>
                      <a:pPr algn="ctr" fontAlgn="b"/>
                      <a:r>
                        <a:rPr lang="es-ES" sz="1600" u="none" strike="noStrike">
                          <a:effectLst/>
                        </a:rPr>
                        <a:t>Competitivo</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SOM</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Kohonen SOM</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Categorización, análisis de datos</a:t>
                      </a:r>
                      <a:endParaRPr lang="es-ES" sz="1600" b="0" i="0" u="none" strike="noStrike">
                        <a:solidFill>
                          <a:srgbClr val="000000"/>
                        </a:solidFill>
                        <a:effectLst/>
                        <a:latin typeface="Calibri" panose="020F0502020204030204" pitchFamily="34" charset="0"/>
                      </a:endParaRPr>
                    </a:p>
                  </a:txBody>
                  <a:tcPr marL="6350" marR="6350" marT="6350" marB="0" anchor="ctr"/>
                </a:tc>
              </a:tr>
              <a:tr h="673840">
                <a:tc>
                  <a:txBody>
                    <a:bodyPr/>
                    <a:lstStyle/>
                    <a:p>
                      <a:pPr algn="ctr" fontAlgn="b"/>
                      <a:r>
                        <a:rPr lang="es-ES" sz="1600" u="none" strike="noStrike">
                          <a:effectLst/>
                        </a:rPr>
                        <a:t>Competitivo</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Redes ART</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a:effectLst/>
                        </a:rPr>
                        <a:t>ARTI, ART2</a:t>
                      </a:r>
                      <a:endParaRPr lang="es-ES" sz="16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600" u="none" strike="noStrike" dirty="0">
                          <a:effectLst/>
                        </a:rPr>
                        <a:t>Categorización</a:t>
                      </a:r>
                      <a:endParaRPr lang="es-ES" sz="1600" b="0" i="0" u="none" strike="noStrike" dirty="0">
                        <a:solidFill>
                          <a:srgbClr val="000000"/>
                        </a:solidFill>
                        <a:effectLst/>
                        <a:latin typeface="Calibri" panose="020F0502020204030204" pitchFamily="34" charset="0"/>
                      </a:endParaRPr>
                    </a:p>
                  </a:txBody>
                  <a:tcPr marL="6350" marR="6350" marT="6350" marB="0" anchor="ctr"/>
                </a:tc>
              </a:tr>
            </a:tbl>
          </a:graphicData>
        </a:graphic>
      </p:graphicFrame>
    </p:spTree>
    <p:extLst>
      <p:ext uri="{BB962C8B-B14F-4D97-AF65-F5344CB8AC3E}">
        <p14:creationId xmlns:p14="http://schemas.microsoft.com/office/powerpoint/2010/main" val="20661942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p:cNvSpPr>
          <p:nvPr/>
        </p:nvSpPr>
        <p:spPr>
          <a:xfrm>
            <a:off x="774700" y="657225"/>
            <a:ext cx="86868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rPr>
              <a:t>Redes neuronales por refuerzo</a:t>
            </a:r>
            <a:endParaRPr lang="es-ES" sz="2600" kern="0" dirty="0"/>
          </a:p>
        </p:txBody>
      </p:sp>
      <p:graphicFrame>
        <p:nvGraphicFramePr>
          <p:cNvPr id="4" name="Tabla 3"/>
          <p:cNvGraphicFramePr>
            <a:graphicFrameLocks noGrp="1"/>
          </p:cNvGraphicFramePr>
          <p:nvPr>
            <p:extLst>
              <p:ext uri="{D42A27DB-BD31-4B8C-83A1-F6EECF244321}">
                <p14:modId xmlns:p14="http://schemas.microsoft.com/office/powerpoint/2010/main" val="2736245274"/>
              </p:ext>
            </p:extLst>
          </p:nvPr>
        </p:nvGraphicFramePr>
        <p:xfrm>
          <a:off x="1079500" y="2257425"/>
          <a:ext cx="8915399" cy="2774092"/>
        </p:xfrm>
        <a:graphic>
          <a:graphicData uri="http://schemas.openxmlformats.org/drawingml/2006/table">
            <a:tbl>
              <a:tblPr firstRow="1">
                <a:tableStyleId>{5C22544A-7EE6-4342-B048-85BDC9FD1C3A}</a:tableStyleId>
              </a:tblPr>
              <a:tblGrid>
                <a:gridCol w="1783079"/>
                <a:gridCol w="2350424"/>
                <a:gridCol w="2419697"/>
                <a:gridCol w="2362199"/>
              </a:tblGrid>
              <a:tr h="301848">
                <a:tc>
                  <a:txBody>
                    <a:bodyPr/>
                    <a:lstStyle/>
                    <a:p>
                      <a:pPr algn="ctr" fontAlgn="b"/>
                      <a:r>
                        <a:rPr lang="es-ES" sz="1800" u="none" strike="noStrike" dirty="0">
                          <a:effectLst/>
                        </a:rPr>
                        <a:t>Regla de aprendizaje</a:t>
                      </a:r>
                      <a:endParaRPr lang="es-ES" sz="1800" b="1" i="0" u="none" strike="noStrike" dirty="0">
                        <a:solidFill>
                          <a:srgbClr val="FFFFFF"/>
                        </a:solidFill>
                        <a:effectLst/>
                        <a:latin typeface="Calibri" panose="020F0502020204030204" pitchFamily="34" charset="0"/>
                      </a:endParaRPr>
                    </a:p>
                  </a:txBody>
                  <a:tcPr marL="6350" marR="6350" marT="6350" marB="0" anchor="ctr"/>
                </a:tc>
                <a:tc>
                  <a:txBody>
                    <a:bodyPr/>
                    <a:lstStyle/>
                    <a:p>
                      <a:pPr algn="ctr" fontAlgn="b"/>
                      <a:r>
                        <a:rPr lang="es-ES" sz="1800" u="none" strike="noStrike">
                          <a:effectLst/>
                        </a:rPr>
                        <a:t>Arquitectura</a:t>
                      </a:r>
                      <a:endParaRPr lang="es-ES" sz="18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b"/>
                      <a:r>
                        <a:rPr lang="es-ES" sz="1800" u="none" strike="noStrike" dirty="0">
                          <a:effectLst/>
                        </a:rPr>
                        <a:t>Algoritmo de aprendizaje</a:t>
                      </a:r>
                      <a:endParaRPr lang="es-ES" sz="1800" b="1" i="0" u="none" strike="noStrike" dirty="0">
                        <a:solidFill>
                          <a:srgbClr val="FFFFFF"/>
                        </a:solidFill>
                        <a:effectLst/>
                        <a:latin typeface="Calibri" panose="020F0502020204030204" pitchFamily="34" charset="0"/>
                      </a:endParaRPr>
                    </a:p>
                  </a:txBody>
                  <a:tcPr marL="6350" marR="6350" marT="6350" marB="0" anchor="ctr"/>
                </a:tc>
                <a:tc>
                  <a:txBody>
                    <a:bodyPr/>
                    <a:lstStyle/>
                    <a:p>
                      <a:pPr algn="ctr" fontAlgn="b"/>
                      <a:r>
                        <a:rPr lang="es-ES" sz="1800" u="none" strike="noStrike">
                          <a:effectLst/>
                        </a:rPr>
                        <a:t>Tareas</a:t>
                      </a:r>
                      <a:endParaRPr lang="es-ES" sz="1800" b="1" i="0" u="none" strike="noStrike">
                        <a:solidFill>
                          <a:srgbClr val="FFFFFF"/>
                        </a:solidFill>
                        <a:effectLst/>
                        <a:latin typeface="Calibri" panose="020F0502020204030204" pitchFamily="34" charset="0"/>
                      </a:endParaRPr>
                    </a:p>
                  </a:txBody>
                  <a:tcPr marL="6350" marR="6350" marT="6350" marB="0" anchor="ctr"/>
                </a:tc>
              </a:tr>
              <a:tr h="1109551">
                <a:tc>
                  <a:txBody>
                    <a:bodyPr/>
                    <a:lstStyle/>
                    <a:p>
                      <a:pPr algn="ctr" fontAlgn="b"/>
                      <a:r>
                        <a:rPr lang="es-ES" sz="1800" u="none" strike="noStrike" dirty="0" err="1">
                          <a:effectLst/>
                        </a:rPr>
                        <a:t>Hebbian</a:t>
                      </a:r>
                      <a:endParaRPr lang="es-E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s-ES" sz="1800" u="none" strike="noStrike">
                          <a:effectLst/>
                        </a:rPr>
                        <a:t>Multicapa sin realimentación</a:t>
                      </a:r>
                      <a:endParaRPr lang="es-E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800" u="none" strike="noStrike">
                          <a:effectLst/>
                        </a:rPr>
                        <a:t>Análisis lineal discriminante</a:t>
                      </a:r>
                      <a:endParaRPr lang="es-E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800" u="none" strike="noStrike">
                          <a:effectLst/>
                        </a:rPr>
                        <a:t>Análisis de datos, clasificación de patrones</a:t>
                      </a:r>
                      <a:endParaRPr lang="es-ES" sz="1800" b="0" i="0" u="none" strike="noStrike">
                        <a:solidFill>
                          <a:srgbClr val="000000"/>
                        </a:solidFill>
                        <a:effectLst/>
                        <a:latin typeface="Calibri" panose="020F0502020204030204" pitchFamily="34" charset="0"/>
                      </a:endParaRPr>
                    </a:p>
                  </a:txBody>
                  <a:tcPr marL="6350" marR="6350" marT="6350" marB="0" anchor="ctr"/>
                </a:tc>
              </a:tr>
              <a:tr h="1109551">
                <a:tc>
                  <a:txBody>
                    <a:bodyPr/>
                    <a:lstStyle/>
                    <a:p>
                      <a:pPr algn="ctr" fontAlgn="b"/>
                      <a:r>
                        <a:rPr lang="es-ES" sz="1800" u="none" strike="noStrike">
                          <a:effectLst/>
                        </a:rPr>
                        <a:t>Hebbian</a:t>
                      </a:r>
                      <a:endParaRPr lang="es-E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 sz="1800" u="none" strike="noStrike" dirty="0">
                          <a:effectLst/>
                        </a:rPr>
                        <a:t>Sin realimentación o competitiva</a:t>
                      </a:r>
                      <a:endParaRPr lang="es-E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s-ES" sz="1800" u="none" strike="noStrike" dirty="0">
                          <a:effectLst/>
                        </a:rPr>
                        <a:t>Análisis de componentes principales</a:t>
                      </a:r>
                      <a:endParaRPr lang="es-E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s-ES" sz="1800" u="none" strike="noStrike" dirty="0">
                          <a:effectLst/>
                        </a:rPr>
                        <a:t>Análisis de datos, compresión de datos</a:t>
                      </a:r>
                      <a:endParaRPr lang="es-ES" sz="1800" b="0" i="0" u="none" strike="noStrike" dirty="0">
                        <a:solidFill>
                          <a:srgbClr val="000000"/>
                        </a:solidFill>
                        <a:effectLst/>
                        <a:latin typeface="Calibri" panose="020F0502020204030204" pitchFamily="34" charset="0"/>
                      </a:endParaRPr>
                    </a:p>
                  </a:txBody>
                  <a:tcPr marL="6350" marR="6350" marT="6350" marB="0" anchor="ctr"/>
                </a:tc>
              </a:tr>
            </a:tbl>
          </a:graphicData>
        </a:graphic>
      </p:graphicFrame>
    </p:spTree>
    <p:extLst>
      <p:ext uri="{BB962C8B-B14F-4D97-AF65-F5344CB8AC3E}">
        <p14:creationId xmlns:p14="http://schemas.microsoft.com/office/powerpoint/2010/main" val="327133509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833" y="0"/>
            <a:ext cx="11307233" cy="756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hape 49">
            <a:extLst>
              <a:ext uri="{FF2B5EF4-FFF2-40B4-BE49-F238E27FC236}">
                <a16:creationId xmlns="" xmlns:a16="http://schemas.microsoft.com/office/drawing/2014/main" id="{24A6ABCE-206C-4C33-940C-027B2CD6E148}"/>
              </a:ext>
            </a:extLst>
          </p:cNvPr>
          <p:cNvSpPr txBox="1">
            <a:spLocks/>
          </p:cNvSpPr>
          <p:nvPr/>
        </p:nvSpPr>
        <p:spPr bwMode="auto">
          <a:xfrm>
            <a:off x="1814638" y="3295487"/>
            <a:ext cx="5455812"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3508" kern="0" dirty="0">
                <a:solidFill>
                  <a:srgbClr val="0972CB"/>
                </a:solidFill>
                <a:latin typeface="Oxygen"/>
                <a:ea typeface="Oxygen"/>
                <a:cs typeface="Oxygen"/>
                <a:sym typeface="Oxygen"/>
              </a:rPr>
              <a:t>Machine </a:t>
            </a:r>
            <a:r>
              <a:rPr lang="es-ES" altLang="es-ES" sz="3508" kern="0" dirty="0" err="1">
                <a:solidFill>
                  <a:srgbClr val="0972CB"/>
                </a:solidFill>
                <a:latin typeface="Oxygen"/>
                <a:ea typeface="Oxygen"/>
                <a:cs typeface="Oxygen"/>
                <a:sym typeface="Oxygen"/>
              </a:rPr>
              <a:t>Learning</a:t>
            </a:r>
            <a:endParaRPr lang="es-ES" altLang="es-ES" sz="3508" kern="0" dirty="0">
              <a:solidFill>
                <a:srgbClr val="0972CB"/>
              </a:solidFill>
              <a:latin typeface="Oxygen"/>
              <a:ea typeface="Oxygen"/>
              <a:cs typeface="Oxygen"/>
              <a:sym typeface="Oxygen"/>
            </a:endParaRPr>
          </a:p>
          <a:p>
            <a:pPr marL="300758" indent="-133670" eaLnBrk="1" hangingPunct="1">
              <a:spcBef>
                <a:spcPct val="0"/>
              </a:spcBef>
              <a:buClr>
                <a:srgbClr val="000000"/>
              </a:buClr>
              <a:defRPr/>
            </a:pPr>
            <a:r>
              <a:rPr lang="es-ES" altLang="es-ES" sz="3508" kern="0" dirty="0" smtClean="0">
                <a:solidFill>
                  <a:srgbClr val="0972CB"/>
                </a:solidFill>
                <a:latin typeface="Oxygen"/>
                <a:ea typeface="Oxygen"/>
                <a:cs typeface="Oxygen"/>
                <a:sym typeface="Oxygen"/>
              </a:rPr>
              <a:t>Redes Neuronales</a:t>
            </a:r>
            <a:endParaRPr lang="es-ES" altLang="es-ES" sz="3508" kern="0" dirty="0">
              <a:solidFill>
                <a:srgbClr val="0972CB"/>
              </a:solidFill>
              <a:latin typeface="Oxygen"/>
              <a:ea typeface="Oxygen"/>
              <a:cs typeface="Oxygen"/>
              <a:sym typeface="Oxygen"/>
            </a:endParaRPr>
          </a:p>
        </p:txBody>
      </p:sp>
      <p:sp>
        <p:nvSpPr>
          <p:cNvPr id="6" name="Shape 49">
            <a:extLst>
              <a:ext uri="{FF2B5EF4-FFF2-40B4-BE49-F238E27FC236}">
                <a16:creationId xmlns="" xmlns:a16="http://schemas.microsoft.com/office/drawing/2014/main" id="{3B39229B-4789-4E5F-A863-803DF35813F8}"/>
              </a:ext>
            </a:extLst>
          </p:cNvPr>
          <p:cNvSpPr txBox="1">
            <a:spLocks/>
          </p:cNvSpPr>
          <p:nvPr/>
        </p:nvSpPr>
        <p:spPr bwMode="auto">
          <a:xfrm>
            <a:off x="3027140" y="5126330"/>
            <a:ext cx="3327866"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1403" kern="0" dirty="0">
                <a:solidFill>
                  <a:srgbClr val="0972CB"/>
                </a:solidFill>
                <a:latin typeface="Oxygen"/>
                <a:ea typeface="Oxygen"/>
                <a:cs typeface="Oxygen"/>
                <a:sym typeface="Oxygen"/>
              </a:rPr>
              <a:t>Inmaculada Gutiérrez García-Pardo</a:t>
            </a:r>
          </a:p>
        </p:txBody>
      </p:sp>
      <p:pic>
        <p:nvPicPr>
          <p:cNvPr id="7"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4645" y="1246805"/>
            <a:ext cx="2884990" cy="10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741" y="1134024"/>
            <a:ext cx="1294904" cy="129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376211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xfrm>
            <a:off x="346963" y="314959"/>
            <a:ext cx="9999472" cy="566822"/>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lgn="ctr">
              <a:spcBef>
                <a:spcPts val="100"/>
              </a:spcBef>
            </a:pPr>
            <a:r>
              <a:rPr lang="es-ES" sz="3600" b="1" spc="-5" dirty="0" smtClean="0">
                <a:solidFill>
                  <a:srgbClr val="538DD3"/>
                </a:solidFill>
              </a:rPr>
              <a:t>6</a:t>
            </a:r>
            <a:r>
              <a:rPr lang="es-ES" sz="3600" b="1" kern="0" spc="-5" dirty="0" smtClean="0">
                <a:solidFill>
                  <a:srgbClr val="538DD3"/>
                </a:solidFill>
              </a:rPr>
              <a:t>. Redes neuronales multicapa. Uso general</a:t>
            </a:r>
            <a:endParaRPr lang="es-ES" sz="3600" kern="0" dirty="0"/>
          </a:p>
        </p:txBody>
      </p:sp>
      <p:sp>
        <p:nvSpPr>
          <p:cNvPr id="5" name="CuadroTexto 4"/>
          <p:cNvSpPr txBox="1"/>
          <p:nvPr/>
        </p:nvSpPr>
        <p:spPr>
          <a:xfrm>
            <a:off x="1536700" y="2028825"/>
            <a:ext cx="7772399" cy="3693319"/>
          </a:xfrm>
          <a:prstGeom prst="rect">
            <a:avLst/>
          </a:prstGeom>
          <a:noFill/>
        </p:spPr>
        <p:txBody>
          <a:bodyPr wrap="square" rtlCol="0">
            <a:spAutoFit/>
          </a:bodyPr>
          <a:lstStyle/>
          <a:p>
            <a:pPr marL="342900" indent="-342900">
              <a:buFont typeface="+mj-lt"/>
              <a:buAutoNum type="arabicPeriod"/>
            </a:pPr>
            <a:r>
              <a:rPr lang="es-ES" dirty="0" smtClean="0"/>
              <a:t>Presentación de  la aplicación de redes neuronales multicapa con una sola capa oculta para problemas de predicción. Se utilizará </a:t>
            </a:r>
            <a:r>
              <a:rPr lang="es-ES" b="1" dirty="0" smtClean="0"/>
              <a:t>Python</a:t>
            </a:r>
            <a:r>
              <a:rPr lang="es-ES" dirty="0" smtClean="0"/>
              <a:t>.</a:t>
            </a:r>
          </a:p>
          <a:p>
            <a:pPr marL="342900" indent="-342900" fontAlgn="base">
              <a:buFont typeface="+mj-lt"/>
              <a:buAutoNum type="arabicPeriod"/>
            </a:pPr>
            <a:r>
              <a:rPr lang="es-ES" dirty="0"/>
              <a:t>Fases en el entrenamiento de una red:</a:t>
            </a:r>
          </a:p>
          <a:p>
            <a:pPr marL="800100" lvl="1" indent="-342900" fontAlgn="base">
              <a:buFont typeface="+mj-lt"/>
              <a:buAutoNum type="arabicPeriod"/>
            </a:pPr>
            <a:r>
              <a:rPr lang="es-ES" dirty="0"/>
              <a:t>Preparación de los datos. Especificaciones para NN:  las variables deben seguir una distribución normal o uniforme, y el rango de posibles valores debe ser aproximadamente el mismo y acotado dentro del intervalo de trabajo de la función de activación empleada en las capas ocultas y de salida de la red neuronal. Así, las variables de entrada y salida suelen acotarse en valores comprendidos entre 0 y 1 </a:t>
            </a:r>
            <a:r>
              <a:rPr lang="es-ES" dirty="0" err="1"/>
              <a:t>ó</a:t>
            </a:r>
            <a:r>
              <a:rPr lang="es-ES" dirty="0"/>
              <a:t> entre −1 y 1.</a:t>
            </a:r>
          </a:p>
          <a:p>
            <a:pPr marL="800100" lvl="1" indent="-342900" fontAlgn="base">
              <a:buFont typeface="+mj-lt"/>
              <a:buAutoNum type="arabicPeriod"/>
            </a:pPr>
            <a:r>
              <a:rPr lang="es-ES" dirty="0"/>
              <a:t>Selección de variables</a:t>
            </a:r>
          </a:p>
          <a:p>
            <a:pPr marL="800100" lvl="1" indent="-342900" fontAlgn="base">
              <a:buFont typeface="+mj-lt"/>
              <a:buAutoNum type="arabicPeriod"/>
            </a:pPr>
            <a:r>
              <a:rPr lang="es-ES" dirty="0"/>
              <a:t>Elección del conjunto inicial de pesos</a:t>
            </a:r>
          </a:p>
          <a:p>
            <a:pPr marL="800100" lvl="1" indent="-342900" fontAlgn="base">
              <a:buFont typeface="+mj-lt"/>
              <a:buAutoNum type="arabicPeriod"/>
            </a:pPr>
            <a:r>
              <a:rPr lang="es-ES" dirty="0"/>
              <a:t>Evaluación del rendimiento</a:t>
            </a:r>
          </a:p>
          <a:p>
            <a:endParaRPr lang="es-ES" dirty="0"/>
          </a:p>
        </p:txBody>
      </p:sp>
    </p:spTree>
    <p:extLst>
      <p:ext uri="{BB962C8B-B14F-4D97-AF65-F5344CB8AC3E}">
        <p14:creationId xmlns:p14="http://schemas.microsoft.com/office/powerpoint/2010/main" val="303036410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2300" y="1495425"/>
            <a:ext cx="9296400" cy="4718599"/>
          </a:xfrm>
          <a:prstGeom prst="rect">
            <a:avLst/>
          </a:prstGeom>
        </p:spPr>
        <p:txBody>
          <a:bodyPr vert="horz" wrap="square" lIns="0" tIns="12065" rIns="0" bIns="0" rtlCol="0">
            <a:spAutoFit/>
          </a:bodyPr>
          <a:lstStyle/>
          <a:p>
            <a:pPr marL="12700" algn="just">
              <a:lnSpc>
                <a:spcPct val="100000"/>
              </a:lnSpc>
              <a:spcBef>
                <a:spcPts val="95"/>
              </a:spcBef>
            </a:pPr>
            <a:r>
              <a:rPr lang="es-ES" sz="2000" dirty="0"/>
              <a:t>L</a:t>
            </a:r>
            <a:r>
              <a:rPr lang="es-ES" sz="2000" dirty="0" smtClean="0"/>
              <a:t>as variables </a:t>
            </a:r>
            <a:r>
              <a:rPr lang="es-ES" sz="2000" dirty="0"/>
              <a:t>deben seguir una distribución normal o uniforme, y el rango de posibles valores debe ser aproximadamente el mismo y acotado dentro del intervalo de trabajo de la función de activación empleada en las capas ocultas y de salida de la red neuronal. Así, las variables de entrada y salida suelen acotarse en valores comprendidos entre 0 y 1 </a:t>
            </a:r>
            <a:r>
              <a:rPr lang="es-ES" sz="2000" dirty="0" err="1"/>
              <a:t>ó</a:t>
            </a:r>
            <a:r>
              <a:rPr lang="es-ES" sz="2000" dirty="0"/>
              <a:t> entre −1 y 1</a:t>
            </a:r>
            <a:r>
              <a:rPr lang="es-ES" sz="2000" dirty="0" smtClean="0"/>
              <a:t>.</a:t>
            </a:r>
          </a:p>
          <a:p>
            <a:pPr marL="12700" algn="just">
              <a:lnSpc>
                <a:spcPct val="100000"/>
              </a:lnSpc>
              <a:spcBef>
                <a:spcPts val="95"/>
              </a:spcBef>
            </a:pPr>
            <a:endParaRPr lang="es-ES" sz="2000" dirty="0">
              <a:latin typeface="Times New Roman"/>
              <a:cs typeface="Times New Roman"/>
            </a:endParaRPr>
          </a:p>
          <a:p>
            <a:pPr marL="469900" indent="-457200">
              <a:lnSpc>
                <a:spcPct val="100000"/>
              </a:lnSpc>
              <a:spcBef>
                <a:spcPts val="95"/>
              </a:spcBef>
              <a:buFont typeface="Arial" panose="020B0604020202020204" pitchFamily="34" charset="0"/>
              <a:buChar char="•"/>
            </a:pPr>
            <a:r>
              <a:rPr lang="es-ES" sz="2000" spc="-5" dirty="0">
                <a:latin typeface="+mj-lt"/>
                <a:cs typeface="Times New Roman"/>
              </a:rPr>
              <a:t>Las variables categóricas hay que convertirlas a </a:t>
            </a:r>
            <a:r>
              <a:rPr lang="es-ES" sz="2000" spc="-5" dirty="0" err="1">
                <a:solidFill>
                  <a:srgbClr val="FF0000"/>
                </a:solidFill>
                <a:latin typeface="+mj-lt"/>
                <a:cs typeface="Times New Roman"/>
              </a:rPr>
              <a:t>dummies</a:t>
            </a:r>
            <a:r>
              <a:rPr lang="es-ES" sz="2000" spc="-5" dirty="0">
                <a:solidFill>
                  <a:srgbClr val="FF0000"/>
                </a:solidFill>
                <a:latin typeface="+mj-lt"/>
                <a:cs typeface="Times New Roman"/>
              </a:rPr>
              <a:t> </a:t>
            </a:r>
            <a:r>
              <a:rPr lang="es-ES" sz="2000" spc="-5" dirty="0">
                <a:latin typeface="+mj-lt"/>
                <a:cs typeface="Times New Roman"/>
              </a:rPr>
              <a:t>antes de introducirlas en la red. </a:t>
            </a:r>
          </a:p>
          <a:p>
            <a:pPr marL="469900" indent="-457200">
              <a:lnSpc>
                <a:spcPct val="100000"/>
              </a:lnSpc>
              <a:spcBef>
                <a:spcPts val="95"/>
              </a:spcBef>
              <a:buFont typeface="Arial" panose="020B0604020202020204" pitchFamily="34" charset="0"/>
              <a:buChar char="•"/>
            </a:pPr>
            <a:endParaRPr lang="es-ES" sz="2000" spc="-5" dirty="0">
              <a:latin typeface="+mj-lt"/>
              <a:cs typeface="Times New Roman"/>
            </a:endParaRPr>
          </a:p>
          <a:p>
            <a:pPr marL="469900" indent="-457200">
              <a:lnSpc>
                <a:spcPct val="100000"/>
              </a:lnSpc>
              <a:spcBef>
                <a:spcPts val="95"/>
              </a:spcBef>
              <a:buFont typeface="Arial" panose="020B0604020202020204" pitchFamily="34" charset="0"/>
              <a:buChar char="•"/>
            </a:pPr>
            <a:r>
              <a:rPr lang="es-ES" sz="2000" spc="-5" dirty="0">
                <a:latin typeface="+mj-lt"/>
                <a:cs typeface="Times New Roman"/>
              </a:rPr>
              <a:t>Para cada variable </a:t>
            </a:r>
            <a:r>
              <a:rPr lang="es-ES" sz="2000" spc="-5" dirty="0" err="1">
                <a:latin typeface="+mj-lt"/>
                <a:cs typeface="Times New Roman"/>
              </a:rPr>
              <a:t>categória</a:t>
            </a:r>
            <a:r>
              <a:rPr lang="es-ES" sz="2000" spc="-5" dirty="0">
                <a:latin typeface="+mj-lt"/>
                <a:cs typeface="Times New Roman"/>
              </a:rPr>
              <a:t> con </a:t>
            </a:r>
            <a:r>
              <a:rPr lang="es-ES" sz="2000" i="1" spc="-5" dirty="0">
                <a:solidFill>
                  <a:srgbClr val="FF0000"/>
                </a:solidFill>
                <a:latin typeface="+mj-lt"/>
                <a:cs typeface="Times New Roman"/>
              </a:rPr>
              <a:t>k </a:t>
            </a:r>
            <a:r>
              <a:rPr lang="es-ES" sz="2000" spc="-5" dirty="0">
                <a:solidFill>
                  <a:srgbClr val="FF0000"/>
                </a:solidFill>
                <a:latin typeface="+mj-lt"/>
                <a:cs typeface="Times New Roman"/>
              </a:rPr>
              <a:t>categorías: (</a:t>
            </a:r>
            <a:r>
              <a:rPr lang="es-ES" sz="2000" i="1" spc="-5" dirty="0">
                <a:solidFill>
                  <a:srgbClr val="FF0000"/>
                </a:solidFill>
                <a:latin typeface="+mj-lt"/>
                <a:cs typeface="Times New Roman"/>
              </a:rPr>
              <a:t>k-1</a:t>
            </a:r>
            <a:r>
              <a:rPr lang="es-ES" sz="2000" spc="-5" dirty="0">
                <a:solidFill>
                  <a:srgbClr val="FF0000"/>
                </a:solidFill>
                <a:latin typeface="+mj-lt"/>
                <a:cs typeface="Times New Roman"/>
              </a:rPr>
              <a:t>) variables </a:t>
            </a:r>
            <a:r>
              <a:rPr lang="es-ES" sz="2000" spc="-5" dirty="0" err="1">
                <a:solidFill>
                  <a:srgbClr val="FF0000"/>
                </a:solidFill>
                <a:latin typeface="+mj-lt"/>
                <a:cs typeface="Times New Roman"/>
              </a:rPr>
              <a:t>dummies</a:t>
            </a:r>
            <a:r>
              <a:rPr lang="es-ES" sz="2000" spc="-5" dirty="0">
                <a:solidFill>
                  <a:srgbClr val="FF0000"/>
                </a:solidFill>
                <a:latin typeface="+mj-lt"/>
                <a:cs typeface="Times New Roman"/>
              </a:rPr>
              <a:t>. </a:t>
            </a:r>
            <a:r>
              <a:rPr lang="es-ES" sz="2000" spc="-5" dirty="0">
                <a:latin typeface="+mj-lt"/>
                <a:cs typeface="Times New Roman"/>
              </a:rPr>
              <a:t>El valor de la “última” variable </a:t>
            </a:r>
            <a:r>
              <a:rPr lang="es-ES" sz="2000" spc="-5" dirty="0" err="1">
                <a:latin typeface="+mj-lt"/>
                <a:cs typeface="Times New Roman"/>
              </a:rPr>
              <a:t>dummy</a:t>
            </a:r>
            <a:r>
              <a:rPr lang="es-ES" sz="2000" spc="-5" dirty="0">
                <a:latin typeface="+mj-lt"/>
                <a:cs typeface="Times New Roman"/>
              </a:rPr>
              <a:t> se puede obtener a partir de las (</a:t>
            </a:r>
            <a:r>
              <a:rPr lang="es-ES" sz="2000" i="1" spc="-5" dirty="0">
                <a:latin typeface="+mj-lt"/>
                <a:cs typeface="Times New Roman"/>
              </a:rPr>
              <a:t>k-1</a:t>
            </a:r>
            <a:r>
              <a:rPr lang="es-ES" sz="2000" spc="-5" dirty="0">
                <a:latin typeface="+mj-lt"/>
                <a:cs typeface="Times New Roman"/>
              </a:rPr>
              <a:t>) restantes.</a:t>
            </a:r>
          </a:p>
          <a:p>
            <a:pPr marL="469900" indent="-457200">
              <a:lnSpc>
                <a:spcPct val="100000"/>
              </a:lnSpc>
              <a:spcBef>
                <a:spcPts val="95"/>
              </a:spcBef>
              <a:buFont typeface="Arial" panose="020B0604020202020204" pitchFamily="34" charset="0"/>
              <a:buChar char="•"/>
            </a:pPr>
            <a:endParaRPr lang="es-ES" sz="2000" spc="-5" dirty="0">
              <a:latin typeface="+mj-lt"/>
              <a:cs typeface="Times New Roman"/>
            </a:endParaRPr>
          </a:p>
          <a:p>
            <a:pPr marL="469900" indent="-457200">
              <a:lnSpc>
                <a:spcPct val="100000"/>
              </a:lnSpc>
              <a:spcBef>
                <a:spcPts val="95"/>
              </a:spcBef>
              <a:buFont typeface="Arial" panose="020B0604020202020204" pitchFamily="34" charset="0"/>
              <a:buChar char="•"/>
            </a:pPr>
            <a:r>
              <a:rPr lang="es-ES" sz="2000" spc="-5" dirty="0">
                <a:latin typeface="+mj-lt"/>
                <a:cs typeface="Times New Roman"/>
              </a:rPr>
              <a:t>Los </a:t>
            </a:r>
            <a:r>
              <a:rPr lang="es-ES" sz="2000" spc="-5" dirty="0">
                <a:solidFill>
                  <a:srgbClr val="FF0000"/>
                </a:solidFill>
                <a:latin typeface="+mj-lt"/>
                <a:cs typeface="Times New Roman"/>
              </a:rPr>
              <a:t>datos</a:t>
            </a:r>
            <a:r>
              <a:rPr lang="es-ES" sz="2000" spc="-5" dirty="0">
                <a:latin typeface="+mj-lt"/>
                <a:cs typeface="Times New Roman"/>
              </a:rPr>
              <a:t> deben estar </a:t>
            </a:r>
            <a:r>
              <a:rPr lang="es-ES" sz="2000" spc="-5" dirty="0">
                <a:solidFill>
                  <a:srgbClr val="FF0000"/>
                </a:solidFill>
                <a:latin typeface="+mj-lt"/>
                <a:cs typeface="Times New Roman"/>
              </a:rPr>
              <a:t>depurados y sin datos</a:t>
            </a:r>
            <a:r>
              <a:rPr lang="es-ES" sz="2000" spc="-5" dirty="0">
                <a:latin typeface="+mj-lt"/>
                <a:cs typeface="Times New Roman"/>
              </a:rPr>
              <a:t> </a:t>
            </a:r>
            <a:r>
              <a:rPr lang="es-ES" sz="2000" spc="-5" dirty="0" err="1">
                <a:solidFill>
                  <a:srgbClr val="FF0000"/>
                </a:solidFill>
                <a:latin typeface="+mj-lt"/>
                <a:cs typeface="Times New Roman"/>
              </a:rPr>
              <a:t>missing</a:t>
            </a:r>
            <a:r>
              <a:rPr lang="es-ES" sz="2000" spc="-5" dirty="0">
                <a:latin typeface="+mj-lt"/>
                <a:cs typeface="Times New Roman"/>
              </a:rPr>
              <a:t>: las redes no son una buena herramienta para la depuración de datos.</a:t>
            </a:r>
          </a:p>
          <a:p>
            <a:pPr marL="12700" algn="just">
              <a:lnSpc>
                <a:spcPct val="100000"/>
              </a:lnSpc>
              <a:spcBef>
                <a:spcPts val="95"/>
              </a:spcBef>
            </a:pPr>
            <a:endParaRPr sz="2000" dirty="0">
              <a:latin typeface="Times New Roman"/>
              <a:cs typeface="Times New Roman"/>
            </a:endParaRPr>
          </a:p>
        </p:txBody>
      </p:sp>
      <p:sp>
        <p:nvSpPr>
          <p:cNvPr id="3" name="object 2"/>
          <p:cNvSpPr txBox="1">
            <a:spLocks/>
          </p:cNvSpPr>
          <p:nvPr/>
        </p:nvSpPr>
        <p:spPr>
          <a:xfrm>
            <a:off x="774700" y="657225"/>
            <a:ext cx="86868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rPr>
              <a:t>Preparación de los datos. Especificaciones para NN</a:t>
            </a:r>
            <a:endParaRPr lang="es-ES" sz="2600" kern="0" dirty="0"/>
          </a:p>
        </p:txBody>
      </p:sp>
    </p:spTree>
    <p:extLst>
      <p:ext uri="{BB962C8B-B14F-4D97-AF65-F5344CB8AC3E}">
        <p14:creationId xmlns:p14="http://schemas.microsoft.com/office/powerpoint/2010/main" val="285467236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482600" y="504825"/>
            <a:ext cx="86868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rPr>
              <a:t>Selección de variables en NN ¿Por qué es importante?</a:t>
            </a:r>
            <a:endParaRPr lang="es-ES" sz="2600" kern="0" dirty="0"/>
          </a:p>
        </p:txBody>
      </p:sp>
      <p:sp>
        <p:nvSpPr>
          <p:cNvPr id="3" name="Rectángulo 2"/>
          <p:cNvSpPr/>
          <p:nvPr/>
        </p:nvSpPr>
        <p:spPr>
          <a:xfrm>
            <a:off x="482600" y="1190625"/>
            <a:ext cx="9906000" cy="5355312"/>
          </a:xfrm>
          <a:prstGeom prst="rect">
            <a:avLst/>
          </a:prstGeom>
        </p:spPr>
        <p:txBody>
          <a:bodyPr wrap="square">
            <a:spAutoFit/>
          </a:bodyPr>
          <a:lstStyle/>
          <a:p>
            <a:pPr>
              <a:buFont typeface="+mj-lt"/>
              <a:buAutoNum type="arabicPeriod"/>
            </a:pPr>
            <a:r>
              <a:rPr lang="es-ES" b="1" dirty="0">
                <a:solidFill>
                  <a:srgbClr val="374151"/>
                </a:solidFill>
                <a:latin typeface="+mj-lt"/>
              </a:rPr>
              <a:t>Eficiencia </a:t>
            </a:r>
            <a:r>
              <a:rPr lang="es-ES" b="1" dirty="0" smtClean="0">
                <a:solidFill>
                  <a:srgbClr val="374151"/>
                </a:solidFill>
                <a:latin typeface="+mj-lt"/>
              </a:rPr>
              <a:t>Computacional:</a:t>
            </a:r>
            <a:r>
              <a:rPr lang="es-ES" dirty="0" smtClean="0">
                <a:solidFill>
                  <a:srgbClr val="374151"/>
                </a:solidFill>
                <a:latin typeface="+mj-lt"/>
              </a:rPr>
              <a:t> reducir </a:t>
            </a:r>
            <a:r>
              <a:rPr lang="es-ES" dirty="0">
                <a:solidFill>
                  <a:srgbClr val="374151"/>
                </a:solidFill>
                <a:latin typeface="+mj-lt"/>
              </a:rPr>
              <a:t>la cantidad de variables puede hacer que el proceso de entrenamiento sea más rápido y menos intensivo computacionalmente. Menos variables implican menos cálculos durante la </a:t>
            </a:r>
            <a:r>
              <a:rPr lang="es-ES" dirty="0" err="1">
                <a:solidFill>
                  <a:srgbClr val="374151"/>
                </a:solidFill>
                <a:latin typeface="+mj-lt"/>
              </a:rPr>
              <a:t>retropropagación</a:t>
            </a:r>
            <a:r>
              <a:rPr lang="es-ES" dirty="0">
                <a:solidFill>
                  <a:srgbClr val="374151"/>
                </a:solidFill>
                <a:latin typeface="+mj-lt"/>
              </a:rPr>
              <a:t> del error y, por lo tanto, </a:t>
            </a:r>
            <a:r>
              <a:rPr lang="es-ES" dirty="0" smtClean="0">
                <a:solidFill>
                  <a:srgbClr val="374151"/>
                </a:solidFill>
                <a:latin typeface="+mj-lt"/>
              </a:rPr>
              <a:t>menos </a:t>
            </a:r>
            <a:r>
              <a:rPr lang="es-ES" dirty="0">
                <a:solidFill>
                  <a:srgbClr val="374151"/>
                </a:solidFill>
                <a:latin typeface="+mj-lt"/>
              </a:rPr>
              <a:t>tiempo de entrenamiento.</a:t>
            </a:r>
          </a:p>
          <a:p>
            <a:pPr>
              <a:buFont typeface="+mj-lt"/>
              <a:buAutoNum type="arabicPeriod"/>
            </a:pPr>
            <a:r>
              <a:rPr lang="es-ES" b="1" dirty="0">
                <a:solidFill>
                  <a:srgbClr val="374151"/>
                </a:solidFill>
                <a:latin typeface="+mj-lt"/>
              </a:rPr>
              <a:t>Evitar </a:t>
            </a:r>
            <a:r>
              <a:rPr lang="es-ES" b="1" dirty="0" err="1" smtClean="0">
                <a:solidFill>
                  <a:srgbClr val="374151"/>
                </a:solidFill>
                <a:latin typeface="+mj-lt"/>
              </a:rPr>
              <a:t>dimensionalidad</a:t>
            </a:r>
            <a:r>
              <a:rPr lang="es-ES" b="1" dirty="0" smtClean="0">
                <a:solidFill>
                  <a:srgbClr val="374151"/>
                </a:solidFill>
                <a:latin typeface="+mj-lt"/>
              </a:rPr>
              <a:t>: </a:t>
            </a:r>
            <a:r>
              <a:rPr lang="es-ES" dirty="0" smtClean="0">
                <a:solidFill>
                  <a:srgbClr val="374151"/>
                </a:solidFill>
                <a:latin typeface="+mj-lt"/>
              </a:rPr>
              <a:t>a medida </a:t>
            </a:r>
            <a:r>
              <a:rPr lang="es-ES" dirty="0">
                <a:solidFill>
                  <a:srgbClr val="374151"/>
                </a:solidFill>
                <a:latin typeface="+mj-lt"/>
              </a:rPr>
              <a:t>que aumenta el número de variables, el espacio de búsqueda se vuelve más grande, y el modelo puede tener dificultades para encontrar patrones significativos en los datos. </a:t>
            </a:r>
            <a:r>
              <a:rPr lang="es-ES" dirty="0" smtClean="0">
                <a:solidFill>
                  <a:srgbClr val="374151"/>
                </a:solidFill>
                <a:latin typeface="+mj-lt"/>
              </a:rPr>
              <a:t>La </a:t>
            </a:r>
            <a:r>
              <a:rPr lang="es-ES" dirty="0" err="1">
                <a:solidFill>
                  <a:srgbClr val="374151"/>
                </a:solidFill>
                <a:latin typeface="+mj-lt"/>
              </a:rPr>
              <a:t>dimensionalidad</a:t>
            </a:r>
            <a:r>
              <a:rPr lang="es-ES" dirty="0">
                <a:solidFill>
                  <a:srgbClr val="374151"/>
                </a:solidFill>
                <a:latin typeface="+mj-lt"/>
              </a:rPr>
              <a:t> puede llevar a </a:t>
            </a:r>
            <a:r>
              <a:rPr lang="es-ES" dirty="0" err="1">
                <a:solidFill>
                  <a:srgbClr val="374151"/>
                </a:solidFill>
                <a:latin typeface="+mj-lt"/>
              </a:rPr>
              <a:t>overfitting</a:t>
            </a:r>
            <a:r>
              <a:rPr lang="es-ES" dirty="0">
                <a:solidFill>
                  <a:srgbClr val="374151"/>
                </a:solidFill>
                <a:latin typeface="+mj-lt"/>
              </a:rPr>
              <a:t> y a una disminución del rendimiento del modelo.</a:t>
            </a:r>
          </a:p>
          <a:p>
            <a:pPr>
              <a:buFont typeface="+mj-lt"/>
              <a:buAutoNum type="arabicPeriod"/>
            </a:pPr>
            <a:r>
              <a:rPr lang="es-ES" b="1" dirty="0">
                <a:solidFill>
                  <a:srgbClr val="374151"/>
                </a:solidFill>
                <a:latin typeface="+mj-lt"/>
              </a:rPr>
              <a:t>Mejora de la </a:t>
            </a:r>
            <a:r>
              <a:rPr lang="es-ES" b="1" dirty="0" smtClean="0">
                <a:solidFill>
                  <a:srgbClr val="374151"/>
                </a:solidFill>
                <a:latin typeface="+mj-lt"/>
              </a:rPr>
              <a:t>generalización:</a:t>
            </a:r>
            <a:r>
              <a:rPr lang="es-ES" dirty="0" smtClean="0">
                <a:solidFill>
                  <a:srgbClr val="374151"/>
                </a:solidFill>
                <a:latin typeface="+mj-lt"/>
              </a:rPr>
              <a:t> un </a:t>
            </a:r>
            <a:r>
              <a:rPr lang="es-ES" dirty="0">
                <a:solidFill>
                  <a:srgbClr val="374151"/>
                </a:solidFill>
                <a:latin typeface="+mj-lt"/>
              </a:rPr>
              <a:t>modelo entrenado con un conjunto de características más pequeño puede generalizar mejor a datos no vistos. </a:t>
            </a:r>
          </a:p>
          <a:p>
            <a:pPr>
              <a:buFont typeface="+mj-lt"/>
              <a:buAutoNum type="arabicPeriod"/>
            </a:pPr>
            <a:r>
              <a:rPr lang="es-ES" b="1" dirty="0" err="1">
                <a:solidFill>
                  <a:srgbClr val="374151"/>
                </a:solidFill>
                <a:latin typeface="+mj-lt"/>
              </a:rPr>
              <a:t>Interpretabilidad</a:t>
            </a:r>
            <a:r>
              <a:rPr lang="es-ES" b="1" dirty="0">
                <a:solidFill>
                  <a:srgbClr val="374151"/>
                </a:solidFill>
                <a:latin typeface="+mj-lt"/>
              </a:rPr>
              <a:t> del </a:t>
            </a:r>
            <a:r>
              <a:rPr lang="es-ES" b="1" dirty="0" smtClean="0">
                <a:solidFill>
                  <a:srgbClr val="374151"/>
                </a:solidFill>
                <a:latin typeface="+mj-lt"/>
              </a:rPr>
              <a:t>Modelo: </a:t>
            </a:r>
            <a:r>
              <a:rPr lang="es-ES" dirty="0" smtClean="0">
                <a:solidFill>
                  <a:srgbClr val="374151"/>
                </a:solidFill>
                <a:latin typeface="+mj-lt"/>
              </a:rPr>
              <a:t>una </a:t>
            </a:r>
            <a:r>
              <a:rPr lang="es-ES" dirty="0">
                <a:solidFill>
                  <a:srgbClr val="374151"/>
                </a:solidFill>
                <a:latin typeface="+mj-lt"/>
              </a:rPr>
              <a:t>red neuronal más simple con un conjunto de variables más pequeño es más fácil de entender e interpretar. </a:t>
            </a:r>
          </a:p>
          <a:p>
            <a:pPr>
              <a:buFont typeface="+mj-lt"/>
              <a:buAutoNum type="arabicPeriod"/>
            </a:pPr>
            <a:r>
              <a:rPr lang="es-ES" b="1" dirty="0">
                <a:solidFill>
                  <a:srgbClr val="374151"/>
                </a:solidFill>
                <a:latin typeface="+mj-lt"/>
              </a:rPr>
              <a:t>Reducción del </a:t>
            </a:r>
            <a:r>
              <a:rPr lang="es-ES" b="1" dirty="0" smtClean="0">
                <a:solidFill>
                  <a:srgbClr val="374151"/>
                </a:solidFill>
                <a:latin typeface="+mj-lt"/>
              </a:rPr>
              <a:t>riesgo </a:t>
            </a:r>
            <a:r>
              <a:rPr lang="es-ES" b="1" dirty="0">
                <a:solidFill>
                  <a:srgbClr val="374151"/>
                </a:solidFill>
                <a:latin typeface="+mj-lt"/>
              </a:rPr>
              <a:t>de </a:t>
            </a:r>
            <a:r>
              <a:rPr lang="es-ES" b="1" dirty="0" err="1">
                <a:solidFill>
                  <a:srgbClr val="374151"/>
                </a:solidFill>
                <a:latin typeface="+mj-lt"/>
              </a:rPr>
              <a:t>o</a:t>
            </a:r>
            <a:r>
              <a:rPr lang="es-ES" b="1" dirty="0" err="1" smtClean="0">
                <a:solidFill>
                  <a:srgbClr val="374151"/>
                </a:solidFill>
                <a:latin typeface="+mj-lt"/>
              </a:rPr>
              <a:t>verfitting</a:t>
            </a:r>
            <a:r>
              <a:rPr lang="es-ES" b="1" dirty="0" smtClean="0">
                <a:solidFill>
                  <a:srgbClr val="374151"/>
                </a:solidFill>
                <a:latin typeface="+mj-lt"/>
              </a:rPr>
              <a:t>:</a:t>
            </a:r>
            <a:r>
              <a:rPr lang="es-ES" dirty="0" smtClean="0">
                <a:solidFill>
                  <a:srgbClr val="374151"/>
                </a:solidFill>
                <a:latin typeface="+mj-lt"/>
              </a:rPr>
              <a:t> un conjunto </a:t>
            </a:r>
            <a:r>
              <a:rPr lang="es-ES" dirty="0">
                <a:solidFill>
                  <a:srgbClr val="374151"/>
                </a:solidFill>
                <a:latin typeface="+mj-lt"/>
              </a:rPr>
              <a:t>de datos con un gran número de variables puede llevar a un modelo que memoriza el conjunto de entrenamiento en lugar de aprender patrones generales. Esto aumenta el riesgo de </a:t>
            </a:r>
            <a:r>
              <a:rPr lang="es-ES" dirty="0" err="1">
                <a:solidFill>
                  <a:srgbClr val="374151"/>
                </a:solidFill>
                <a:latin typeface="+mj-lt"/>
              </a:rPr>
              <a:t>overfitting</a:t>
            </a:r>
            <a:r>
              <a:rPr lang="es-ES" dirty="0">
                <a:solidFill>
                  <a:srgbClr val="374151"/>
                </a:solidFill>
                <a:latin typeface="+mj-lt"/>
              </a:rPr>
              <a:t>, donde el modelo se ajusta demasiado a los datos de entrenamiento y no generaliza bien a nuevos datos.</a:t>
            </a:r>
          </a:p>
          <a:p>
            <a:pPr>
              <a:buFont typeface="+mj-lt"/>
              <a:buAutoNum type="arabicPeriod"/>
            </a:pPr>
            <a:r>
              <a:rPr lang="es-ES" b="1" dirty="0">
                <a:solidFill>
                  <a:srgbClr val="374151"/>
                </a:solidFill>
                <a:latin typeface="+mj-lt"/>
              </a:rPr>
              <a:t>Manejo de </a:t>
            </a:r>
            <a:r>
              <a:rPr lang="es-ES" b="1" dirty="0" smtClean="0">
                <a:solidFill>
                  <a:srgbClr val="374151"/>
                </a:solidFill>
                <a:latin typeface="+mj-lt"/>
              </a:rPr>
              <a:t>variables redundantes </a:t>
            </a:r>
            <a:r>
              <a:rPr lang="es-ES" b="1" dirty="0">
                <a:solidFill>
                  <a:srgbClr val="374151"/>
                </a:solidFill>
                <a:latin typeface="+mj-lt"/>
              </a:rPr>
              <a:t>o </a:t>
            </a:r>
            <a:r>
              <a:rPr lang="es-ES" b="1" dirty="0" err="1" smtClean="0">
                <a:solidFill>
                  <a:srgbClr val="374151"/>
                </a:solidFill>
                <a:latin typeface="+mj-lt"/>
              </a:rPr>
              <a:t>colineales</a:t>
            </a:r>
            <a:r>
              <a:rPr lang="es-ES" b="1" dirty="0" smtClean="0">
                <a:solidFill>
                  <a:srgbClr val="374151"/>
                </a:solidFill>
                <a:latin typeface="+mj-lt"/>
              </a:rPr>
              <a:t>:</a:t>
            </a:r>
            <a:r>
              <a:rPr lang="es-ES" dirty="0" smtClean="0">
                <a:solidFill>
                  <a:srgbClr val="374151"/>
                </a:solidFill>
                <a:latin typeface="+mj-lt"/>
              </a:rPr>
              <a:t> la </a:t>
            </a:r>
            <a:r>
              <a:rPr lang="es-ES" dirty="0">
                <a:solidFill>
                  <a:srgbClr val="374151"/>
                </a:solidFill>
                <a:latin typeface="+mj-lt"/>
              </a:rPr>
              <a:t>selección de variables ayuda a identificar y eliminar características redundantes o altamente correlacionadas. El uso de variables redundantes puede afectar negativamente al rendimiento y dificultar la interpretación del modelo.</a:t>
            </a:r>
          </a:p>
          <a:p>
            <a:pPr>
              <a:buFont typeface="+mj-lt"/>
              <a:buAutoNum type="arabicPeriod"/>
            </a:pPr>
            <a:r>
              <a:rPr lang="es-ES" b="1" dirty="0">
                <a:solidFill>
                  <a:srgbClr val="374151"/>
                </a:solidFill>
                <a:latin typeface="+mj-lt"/>
              </a:rPr>
              <a:t>Reducción del Ruido</a:t>
            </a:r>
            <a:r>
              <a:rPr lang="es-ES" b="1" dirty="0" smtClean="0">
                <a:solidFill>
                  <a:srgbClr val="374151"/>
                </a:solidFill>
                <a:latin typeface="+mj-lt"/>
              </a:rPr>
              <a:t>: </a:t>
            </a:r>
            <a:r>
              <a:rPr lang="es-ES" dirty="0" smtClean="0">
                <a:solidFill>
                  <a:srgbClr val="374151"/>
                </a:solidFill>
                <a:latin typeface="+mj-lt"/>
              </a:rPr>
              <a:t>para </a:t>
            </a:r>
            <a:r>
              <a:rPr lang="es-ES" dirty="0">
                <a:solidFill>
                  <a:srgbClr val="374151"/>
                </a:solidFill>
                <a:latin typeface="+mj-lt"/>
              </a:rPr>
              <a:t>mejorar la calidad de los datos de entrada, </a:t>
            </a:r>
            <a:r>
              <a:rPr lang="es-ES" dirty="0" smtClean="0">
                <a:solidFill>
                  <a:srgbClr val="374151"/>
                </a:solidFill>
                <a:latin typeface="+mj-lt"/>
              </a:rPr>
              <a:t>facilitando </a:t>
            </a:r>
            <a:r>
              <a:rPr lang="es-ES" dirty="0">
                <a:solidFill>
                  <a:srgbClr val="374151"/>
                </a:solidFill>
                <a:latin typeface="+mj-lt"/>
              </a:rPr>
              <a:t>que el modelo capture patrones significativos</a:t>
            </a:r>
          </a:p>
        </p:txBody>
      </p:sp>
    </p:spTree>
    <p:extLst>
      <p:ext uri="{BB962C8B-B14F-4D97-AF65-F5344CB8AC3E}">
        <p14:creationId xmlns:p14="http://schemas.microsoft.com/office/powerpoint/2010/main" val="158436391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2300" y="1495425"/>
            <a:ext cx="9296400" cy="4064574"/>
          </a:xfrm>
          <a:prstGeom prst="rect">
            <a:avLst/>
          </a:prstGeom>
        </p:spPr>
        <p:txBody>
          <a:bodyPr vert="horz" wrap="square" lIns="0" tIns="12065" rIns="0" bIns="0" rtlCol="0">
            <a:spAutoFit/>
          </a:bodyPr>
          <a:lstStyle/>
          <a:p>
            <a:pPr marL="12700" algn="just">
              <a:lnSpc>
                <a:spcPct val="100000"/>
              </a:lnSpc>
              <a:spcBef>
                <a:spcPts val="95"/>
              </a:spcBef>
            </a:pPr>
            <a:r>
              <a:rPr lang="es-ES" sz="2000" dirty="0" smtClean="0"/>
              <a:t>Las redes neuronales son </a:t>
            </a:r>
            <a:r>
              <a:rPr lang="es-ES" sz="2000" b="1" dirty="0" smtClean="0"/>
              <a:t>cajas negras</a:t>
            </a:r>
            <a:r>
              <a:rPr lang="es-ES" sz="2000" dirty="0" smtClean="0"/>
              <a:t> con nula </a:t>
            </a:r>
            <a:r>
              <a:rPr lang="es-ES" sz="2000" b="1" dirty="0" smtClean="0"/>
              <a:t>capacidad explicativa </a:t>
            </a:r>
            <a:r>
              <a:rPr lang="es-ES" sz="2000" dirty="0" smtClean="0"/>
              <a:t>y escasa capacidad para lidiar con datos de entrada irrelevantes. </a:t>
            </a:r>
            <a:r>
              <a:rPr lang="es-ES" sz="2000" b="1" dirty="0" smtClean="0"/>
              <a:t>No incluyen procesos inherentes</a:t>
            </a:r>
            <a:r>
              <a:rPr lang="es-ES" sz="2000" dirty="0" smtClean="0"/>
              <a:t> de selección de variables (como por ejemplo los árboles de decisión). </a:t>
            </a:r>
          </a:p>
          <a:p>
            <a:pPr marL="12700" algn="just">
              <a:lnSpc>
                <a:spcPct val="100000"/>
              </a:lnSpc>
              <a:spcBef>
                <a:spcPts val="95"/>
              </a:spcBef>
            </a:pPr>
            <a:endParaRPr lang="es-ES" sz="2000" dirty="0"/>
          </a:p>
          <a:p>
            <a:pPr marL="12700" algn="just">
              <a:lnSpc>
                <a:spcPct val="100000"/>
              </a:lnSpc>
              <a:spcBef>
                <a:spcPts val="95"/>
              </a:spcBef>
            </a:pPr>
            <a:endParaRPr lang="es-ES" sz="2000" dirty="0" smtClean="0"/>
          </a:p>
          <a:p>
            <a:pPr marL="12700" algn="just">
              <a:lnSpc>
                <a:spcPct val="100000"/>
              </a:lnSpc>
              <a:spcBef>
                <a:spcPts val="95"/>
              </a:spcBef>
            </a:pPr>
            <a:r>
              <a:rPr lang="es-ES" sz="2000" dirty="0" smtClean="0"/>
              <a:t>La forma de lidiar (no del todo hábilmente) con los datos no relevantes (o variables con poca capacidad predictiva) es mediante la asignación de </a:t>
            </a:r>
            <a:r>
              <a:rPr lang="es-ES" sz="2000" b="1" dirty="0" smtClean="0"/>
              <a:t>pesos </a:t>
            </a:r>
            <a:r>
              <a:rPr lang="es-ES" sz="2000" b="1" dirty="0"/>
              <a:t>más altos</a:t>
            </a:r>
            <a:r>
              <a:rPr lang="es-ES" sz="2000" dirty="0"/>
              <a:t> a las conexiones asociadas con </a:t>
            </a:r>
            <a:r>
              <a:rPr lang="es-ES" sz="2000" b="1" dirty="0"/>
              <a:t>características más informativas</a:t>
            </a:r>
            <a:r>
              <a:rPr lang="es-ES" sz="2000" dirty="0"/>
              <a:t> y reducir la influencia de aquellas menos relevantes.</a:t>
            </a:r>
            <a:r>
              <a:rPr lang="es-ES" sz="2000" dirty="0" smtClean="0"/>
              <a:t> </a:t>
            </a:r>
            <a:r>
              <a:rPr lang="es-ES" sz="2000" dirty="0"/>
              <a:t>Durante la </a:t>
            </a:r>
            <a:r>
              <a:rPr lang="es-ES" sz="2000" dirty="0" err="1"/>
              <a:t>retropropagación</a:t>
            </a:r>
            <a:r>
              <a:rPr lang="es-ES" sz="2000" dirty="0"/>
              <a:t> del error, el algoritmo de aprendizaje ajusta estos pesos para minimizar la función de pérdida en el conjunto de entrenamiento. Las conexiones que contribuyen menos a la predicción del modelo pueden tener pesos más pequeños y, en última instancia, tener un impacto menor en las salidas finales.</a:t>
            </a:r>
            <a:endParaRPr lang="es-ES" sz="2000" spc="-5" dirty="0">
              <a:latin typeface="+mj-lt"/>
              <a:cs typeface="Times New Roman"/>
            </a:endParaRPr>
          </a:p>
          <a:p>
            <a:pPr marL="12700" algn="just">
              <a:lnSpc>
                <a:spcPct val="100000"/>
              </a:lnSpc>
              <a:spcBef>
                <a:spcPts val="95"/>
              </a:spcBef>
            </a:pPr>
            <a:endParaRPr sz="2000" dirty="0">
              <a:latin typeface="Times New Roman"/>
              <a:cs typeface="Times New Roman"/>
            </a:endParaRPr>
          </a:p>
        </p:txBody>
      </p:sp>
      <p:sp>
        <p:nvSpPr>
          <p:cNvPr id="3" name="object 2"/>
          <p:cNvSpPr txBox="1">
            <a:spLocks/>
          </p:cNvSpPr>
          <p:nvPr/>
        </p:nvSpPr>
        <p:spPr>
          <a:xfrm>
            <a:off x="774700" y="657225"/>
            <a:ext cx="86868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rPr>
              <a:t>Selección de variables en NN</a:t>
            </a:r>
            <a:endParaRPr lang="es-ES" sz="2600" kern="0" dirty="0"/>
          </a:p>
        </p:txBody>
      </p:sp>
    </p:spTree>
    <p:extLst>
      <p:ext uri="{BB962C8B-B14F-4D97-AF65-F5344CB8AC3E}">
        <p14:creationId xmlns:p14="http://schemas.microsoft.com/office/powerpoint/2010/main" val="1505473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482600" y="504825"/>
            <a:ext cx="86868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rPr>
              <a:t>Selección de variables en NN ¿Cómo?</a:t>
            </a:r>
            <a:endParaRPr lang="es-ES" sz="2600" kern="0" dirty="0"/>
          </a:p>
        </p:txBody>
      </p:sp>
      <p:sp>
        <p:nvSpPr>
          <p:cNvPr id="3" name="Rectángulo 2"/>
          <p:cNvSpPr/>
          <p:nvPr/>
        </p:nvSpPr>
        <p:spPr>
          <a:xfrm>
            <a:off x="393700" y="1099542"/>
            <a:ext cx="9906000" cy="5450851"/>
          </a:xfrm>
          <a:prstGeom prst="rect">
            <a:avLst/>
          </a:prstGeom>
        </p:spPr>
        <p:txBody>
          <a:bodyPr wrap="square">
            <a:spAutoFit/>
          </a:bodyPr>
          <a:lstStyle/>
          <a:p>
            <a:pPr algn="just">
              <a:lnSpc>
                <a:spcPct val="150000"/>
              </a:lnSpc>
              <a:buFont typeface="+mj-lt"/>
              <a:buAutoNum type="arabicPeriod"/>
            </a:pPr>
            <a:r>
              <a:rPr lang="es-ES" b="1" dirty="0">
                <a:solidFill>
                  <a:srgbClr val="374151"/>
                </a:solidFill>
                <a:latin typeface="+mj-lt"/>
              </a:rPr>
              <a:t>Importancia de las Características</a:t>
            </a:r>
            <a:r>
              <a:rPr lang="es-ES" b="1" dirty="0" smtClean="0">
                <a:solidFill>
                  <a:srgbClr val="374151"/>
                </a:solidFill>
                <a:latin typeface="+mj-lt"/>
              </a:rPr>
              <a:t>:</a:t>
            </a:r>
            <a:r>
              <a:rPr lang="es-ES" dirty="0" smtClean="0">
                <a:solidFill>
                  <a:srgbClr val="374151"/>
                </a:solidFill>
                <a:latin typeface="+mj-lt"/>
              </a:rPr>
              <a:t> análisis de </a:t>
            </a:r>
            <a:r>
              <a:rPr lang="es-ES" b="1" dirty="0" smtClean="0">
                <a:solidFill>
                  <a:srgbClr val="374151"/>
                </a:solidFill>
                <a:latin typeface="+mj-lt"/>
              </a:rPr>
              <a:t>sensibilidad</a:t>
            </a:r>
            <a:r>
              <a:rPr lang="es-ES" dirty="0" smtClean="0">
                <a:solidFill>
                  <a:srgbClr val="374151"/>
                </a:solidFill>
                <a:latin typeface="+mj-lt"/>
              </a:rPr>
              <a:t> (</a:t>
            </a:r>
            <a:r>
              <a:rPr lang="es-ES" dirty="0">
                <a:latin typeface="+mj-lt"/>
              </a:rPr>
              <a:t>cómo las predicciones cambian cuando se modifican los valores de una característica </a:t>
            </a:r>
            <a:r>
              <a:rPr lang="es-ES" dirty="0" smtClean="0">
                <a:latin typeface="+mj-lt"/>
              </a:rPr>
              <a:t>específica), selección preliminar con modelos que miden la importancia inherentemente (árboles, </a:t>
            </a:r>
            <a:r>
              <a:rPr lang="es-ES" dirty="0" err="1" smtClean="0">
                <a:latin typeface="+mj-lt"/>
              </a:rPr>
              <a:t>gradient</a:t>
            </a:r>
            <a:r>
              <a:rPr lang="es-ES" dirty="0" smtClean="0">
                <a:latin typeface="+mj-lt"/>
              </a:rPr>
              <a:t> </a:t>
            </a:r>
            <a:r>
              <a:rPr lang="es-ES" dirty="0" err="1" smtClean="0">
                <a:latin typeface="+mj-lt"/>
              </a:rPr>
              <a:t>boosting</a:t>
            </a:r>
            <a:r>
              <a:rPr lang="es-ES" dirty="0" smtClean="0">
                <a:latin typeface="+mj-lt"/>
              </a:rPr>
              <a:t>, etc.), RFE (eliminación recursiva de características),</a:t>
            </a:r>
            <a:endParaRPr lang="es-ES" dirty="0">
              <a:solidFill>
                <a:srgbClr val="374151"/>
              </a:solidFill>
              <a:latin typeface="+mj-lt"/>
            </a:endParaRPr>
          </a:p>
          <a:p>
            <a:pPr algn="just">
              <a:lnSpc>
                <a:spcPct val="150000"/>
              </a:lnSpc>
              <a:buFont typeface="+mj-lt"/>
              <a:buAutoNum type="arabicPeriod"/>
            </a:pPr>
            <a:r>
              <a:rPr lang="es-ES" b="1" dirty="0">
                <a:solidFill>
                  <a:srgbClr val="374151"/>
                </a:solidFill>
                <a:latin typeface="+mj-lt"/>
              </a:rPr>
              <a:t>Selección Manual</a:t>
            </a:r>
            <a:r>
              <a:rPr lang="es-ES" b="1" dirty="0" smtClean="0">
                <a:solidFill>
                  <a:srgbClr val="374151"/>
                </a:solidFill>
                <a:latin typeface="+mj-lt"/>
              </a:rPr>
              <a:t>:</a:t>
            </a:r>
            <a:r>
              <a:rPr lang="es-ES" dirty="0" smtClean="0">
                <a:solidFill>
                  <a:srgbClr val="374151"/>
                </a:solidFill>
                <a:latin typeface="+mj-lt"/>
              </a:rPr>
              <a:t> hecha por expertos </a:t>
            </a:r>
            <a:r>
              <a:rPr lang="es-ES" dirty="0">
                <a:solidFill>
                  <a:srgbClr val="374151"/>
                </a:solidFill>
                <a:latin typeface="+mj-lt"/>
              </a:rPr>
              <a:t>en el dominio </a:t>
            </a:r>
            <a:r>
              <a:rPr lang="es-ES" dirty="0" smtClean="0">
                <a:solidFill>
                  <a:srgbClr val="374151"/>
                </a:solidFill>
                <a:latin typeface="+mj-lt"/>
              </a:rPr>
              <a:t>que pueden </a:t>
            </a:r>
            <a:r>
              <a:rPr lang="es-ES" dirty="0">
                <a:solidFill>
                  <a:srgbClr val="374151"/>
                </a:solidFill>
                <a:latin typeface="+mj-lt"/>
              </a:rPr>
              <a:t>seleccionar manualmente un subconjunto de características basándose en su conocimiento y comprensión del problema</a:t>
            </a:r>
            <a:r>
              <a:rPr lang="es-ES" dirty="0" smtClean="0">
                <a:solidFill>
                  <a:srgbClr val="374151"/>
                </a:solidFill>
                <a:latin typeface="+mj-lt"/>
              </a:rPr>
              <a:t>.</a:t>
            </a:r>
            <a:endParaRPr lang="es-ES" dirty="0">
              <a:solidFill>
                <a:srgbClr val="374151"/>
              </a:solidFill>
              <a:latin typeface="+mj-lt"/>
            </a:endParaRPr>
          </a:p>
          <a:p>
            <a:pPr algn="just">
              <a:lnSpc>
                <a:spcPct val="150000"/>
              </a:lnSpc>
              <a:buFont typeface="+mj-lt"/>
              <a:buAutoNum type="arabicPeriod"/>
            </a:pPr>
            <a:r>
              <a:rPr lang="es-ES" b="1" dirty="0">
                <a:solidFill>
                  <a:srgbClr val="374151"/>
                </a:solidFill>
                <a:latin typeface="+mj-lt"/>
              </a:rPr>
              <a:t>Técnicas Automáticas</a:t>
            </a:r>
            <a:r>
              <a:rPr lang="es-ES" b="1" dirty="0" smtClean="0">
                <a:solidFill>
                  <a:srgbClr val="374151"/>
                </a:solidFill>
                <a:latin typeface="+mj-lt"/>
              </a:rPr>
              <a:t>:</a:t>
            </a:r>
            <a:r>
              <a:rPr lang="es-ES" dirty="0" smtClean="0">
                <a:solidFill>
                  <a:srgbClr val="374151"/>
                </a:solidFill>
                <a:latin typeface="+mj-lt"/>
              </a:rPr>
              <a:t> eliminación recursiva de variables (</a:t>
            </a:r>
            <a:r>
              <a:rPr lang="es-ES" dirty="0">
                <a:solidFill>
                  <a:srgbClr val="374151"/>
                </a:solidFill>
                <a:latin typeface="+mj-lt"/>
              </a:rPr>
              <a:t>RFE) o técnicas basadas en información mutua.</a:t>
            </a:r>
          </a:p>
          <a:p>
            <a:pPr algn="just">
              <a:lnSpc>
                <a:spcPct val="150000"/>
              </a:lnSpc>
              <a:buFont typeface="+mj-lt"/>
              <a:buAutoNum type="arabicPeriod"/>
            </a:pPr>
            <a:r>
              <a:rPr lang="es-ES" b="1" dirty="0" smtClean="0">
                <a:solidFill>
                  <a:srgbClr val="374151"/>
                </a:solidFill>
                <a:latin typeface="+mj-lt"/>
              </a:rPr>
              <a:t>Regularización: </a:t>
            </a:r>
            <a:r>
              <a:rPr lang="es-ES" dirty="0" smtClean="0">
                <a:solidFill>
                  <a:srgbClr val="374151"/>
                </a:solidFill>
                <a:latin typeface="+mj-lt"/>
              </a:rPr>
              <a:t>L1 </a:t>
            </a:r>
            <a:r>
              <a:rPr lang="es-ES" dirty="0">
                <a:solidFill>
                  <a:srgbClr val="374151"/>
                </a:solidFill>
                <a:latin typeface="+mj-lt"/>
              </a:rPr>
              <a:t>(LASSO) o L2 (Ridge), pueden ayudar a reducir la importancia de </a:t>
            </a:r>
            <a:r>
              <a:rPr lang="es-ES" dirty="0" smtClean="0">
                <a:solidFill>
                  <a:srgbClr val="374151"/>
                </a:solidFill>
                <a:latin typeface="+mj-lt"/>
              </a:rPr>
              <a:t>ciertas características </a:t>
            </a:r>
            <a:r>
              <a:rPr lang="es-ES" dirty="0">
                <a:solidFill>
                  <a:srgbClr val="374151"/>
                </a:solidFill>
                <a:latin typeface="+mj-lt"/>
              </a:rPr>
              <a:t>al penalizar sus coeficientes. </a:t>
            </a:r>
          </a:p>
          <a:p>
            <a:pPr algn="just">
              <a:lnSpc>
                <a:spcPct val="150000"/>
              </a:lnSpc>
              <a:buFont typeface="+mj-lt"/>
              <a:buAutoNum type="arabicPeriod"/>
            </a:pPr>
            <a:r>
              <a:rPr lang="es-ES" b="1" dirty="0">
                <a:solidFill>
                  <a:srgbClr val="374151"/>
                </a:solidFill>
                <a:latin typeface="+mj-lt"/>
              </a:rPr>
              <a:t>Análisis de </a:t>
            </a:r>
            <a:r>
              <a:rPr lang="es-ES" b="1" dirty="0" smtClean="0">
                <a:solidFill>
                  <a:srgbClr val="374151"/>
                </a:solidFill>
                <a:latin typeface="+mj-lt"/>
              </a:rPr>
              <a:t>Correlación: </a:t>
            </a:r>
            <a:r>
              <a:rPr lang="es-ES" dirty="0" smtClean="0">
                <a:solidFill>
                  <a:srgbClr val="374151"/>
                </a:solidFill>
                <a:latin typeface="+mj-lt"/>
              </a:rPr>
              <a:t>si </a:t>
            </a:r>
            <a:r>
              <a:rPr lang="es-ES" dirty="0">
                <a:solidFill>
                  <a:srgbClr val="374151"/>
                </a:solidFill>
                <a:latin typeface="+mj-lt"/>
              </a:rPr>
              <a:t>dos variables están altamente correlacionadas, una de ellas podría ser redundante y eliminarse.</a:t>
            </a:r>
          </a:p>
          <a:p>
            <a:pPr algn="just">
              <a:lnSpc>
                <a:spcPct val="150000"/>
              </a:lnSpc>
              <a:buFont typeface="+mj-lt"/>
              <a:buAutoNum type="arabicPeriod"/>
            </a:pPr>
            <a:r>
              <a:rPr lang="es-ES" b="1" dirty="0">
                <a:solidFill>
                  <a:srgbClr val="374151"/>
                </a:solidFill>
                <a:latin typeface="+mj-lt"/>
              </a:rPr>
              <a:t>Reducción de </a:t>
            </a:r>
            <a:r>
              <a:rPr lang="es-ES" b="1" dirty="0" err="1" smtClean="0">
                <a:solidFill>
                  <a:srgbClr val="374151"/>
                </a:solidFill>
                <a:latin typeface="+mj-lt"/>
              </a:rPr>
              <a:t>Dimensionalidad</a:t>
            </a:r>
            <a:r>
              <a:rPr lang="es-ES" b="1" dirty="0" smtClean="0">
                <a:solidFill>
                  <a:srgbClr val="374151"/>
                </a:solidFill>
                <a:latin typeface="+mj-lt"/>
              </a:rPr>
              <a:t>: </a:t>
            </a:r>
            <a:r>
              <a:rPr lang="es-ES" dirty="0" smtClean="0">
                <a:solidFill>
                  <a:srgbClr val="374151"/>
                </a:solidFill>
                <a:latin typeface="+mj-lt"/>
              </a:rPr>
              <a:t>como </a:t>
            </a:r>
            <a:r>
              <a:rPr lang="es-ES" dirty="0">
                <a:solidFill>
                  <a:srgbClr val="374151"/>
                </a:solidFill>
                <a:latin typeface="+mj-lt"/>
              </a:rPr>
              <a:t>Análisis de Componentes Principales (PCA) o </a:t>
            </a:r>
            <a:r>
              <a:rPr lang="es-ES" dirty="0" smtClean="0">
                <a:solidFill>
                  <a:srgbClr val="374151"/>
                </a:solidFill>
                <a:latin typeface="+mj-lt"/>
              </a:rPr>
              <a:t>t-SNE</a:t>
            </a:r>
            <a:endParaRPr lang="es-ES" b="0" i="0" dirty="0">
              <a:solidFill>
                <a:srgbClr val="374151"/>
              </a:solidFill>
              <a:effectLst/>
              <a:latin typeface="+mj-lt"/>
            </a:endParaRPr>
          </a:p>
        </p:txBody>
      </p:sp>
    </p:spTree>
    <p:extLst>
      <p:ext uri="{BB962C8B-B14F-4D97-AF65-F5344CB8AC3E}">
        <p14:creationId xmlns:p14="http://schemas.microsoft.com/office/powerpoint/2010/main" val="397389247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24103"/>
            <a:ext cx="8510270" cy="422275"/>
          </a:xfrm>
          <a:prstGeom prst="rect">
            <a:avLst/>
          </a:prstGeom>
        </p:spPr>
        <p:txBody>
          <a:bodyPr vert="horz" wrap="square" lIns="0" tIns="12700" rIns="0" bIns="0" rtlCol="0">
            <a:spAutoFit/>
          </a:bodyPr>
          <a:lstStyle/>
          <a:p>
            <a:pPr marL="12700">
              <a:lnSpc>
                <a:spcPct val="100000"/>
              </a:lnSpc>
              <a:spcBef>
                <a:spcPts val="100"/>
              </a:spcBef>
            </a:pPr>
            <a:r>
              <a:rPr sz="2600" b="1" dirty="0">
                <a:solidFill>
                  <a:srgbClr val="538DD3"/>
                </a:solidFill>
                <a:latin typeface="Times New Roman"/>
                <a:cs typeface="Times New Roman"/>
              </a:rPr>
              <a:t>El </a:t>
            </a:r>
            <a:r>
              <a:rPr sz="2600" b="1" spc="-5" dirty="0">
                <a:solidFill>
                  <a:srgbClr val="538DD3"/>
                </a:solidFill>
                <a:latin typeface="Times New Roman"/>
                <a:cs typeface="Times New Roman"/>
              </a:rPr>
              <a:t>problema</a:t>
            </a:r>
            <a:r>
              <a:rPr sz="2600" b="1" spc="10" dirty="0">
                <a:solidFill>
                  <a:srgbClr val="538DD3"/>
                </a:solidFill>
                <a:latin typeface="Times New Roman"/>
                <a:cs typeface="Times New Roman"/>
              </a:rPr>
              <a:t> </a:t>
            </a:r>
            <a:r>
              <a:rPr sz="2600" b="1" spc="-5" dirty="0">
                <a:solidFill>
                  <a:srgbClr val="538DD3"/>
                </a:solidFill>
                <a:latin typeface="Times New Roman"/>
                <a:cs typeface="Times New Roman"/>
              </a:rPr>
              <a:t>de</a:t>
            </a:r>
            <a:r>
              <a:rPr sz="2600" b="1" dirty="0">
                <a:solidFill>
                  <a:srgbClr val="538DD3"/>
                </a:solidFill>
                <a:latin typeface="Times New Roman"/>
                <a:cs typeface="Times New Roman"/>
              </a:rPr>
              <a:t> </a:t>
            </a:r>
            <a:r>
              <a:rPr sz="2600" b="1" spc="-10" dirty="0">
                <a:solidFill>
                  <a:srgbClr val="538DD3"/>
                </a:solidFill>
                <a:latin typeface="Times New Roman"/>
                <a:cs typeface="Times New Roman"/>
              </a:rPr>
              <a:t>la</a:t>
            </a:r>
            <a:r>
              <a:rPr sz="2600" b="1" spc="5" dirty="0">
                <a:solidFill>
                  <a:srgbClr val="538DD3"/>
                </a:solidFill>
                <a:latin typeface="Times New Roman"/>
                <a:cs typeface="Times New Roman"/>
              </a:rPr>
              <a:t> </a:t>
            </a:r>
            <a:r>
              <a:rPr sz="2600" b="1" spc="-5" dirty="0">
                <a:solidFill>
                  <a:srgbClr val="538DD3"/>
                </a:solidFill>
                <a:latin typeface="Times New Roman"/>
                <a:cs typeface="Times New Roman"/>
              </a:rPr>
              <a:t>selección</a:t>
            </a:r>
            <a:r>
              <a:rPr sz="2600" b="1" spc="10" dirty="0">
                <a:solidFill>
                  <a:srgbClr val="538DD3"/>
                </a:solidFill>
                <a:latin typeface="Times New Roman"/>
                <a:cs typeface="Times New Roman"/>
              </a:rPr>
              <a:t> </a:t>
            </a:r>
            <a:r>
              <a:rPr sz="2600" b="1" spc="-5" dirty="0">
                <a:solidFill>
                  <a:srgbClr val="538DD3"/>
                </a:solidFill>
                <a:latin typeface="Times New Roman"/>
                <a:cs typeface="Times New Roman"/>
              </a:rPr>
              <a:t>de</a:t>
            </a:r>
            <a:r>
              <a:rPr sz="2600" b="1" dirty="0">
                <a:solidFill>
                  <a:srgbClr val="538DD3"/>
                </a:solidFill>
                <a:latin typeface="Times New Roman"/>
                <a:cs typeface="Times New Roman"/>
              </a:rPr>
              <a:t> </a:t>
            </a:r>
            <a:r>
              <a:rPr sz="2600" b="1" spc="-5" dirty="0">
                <a:solidFill>
                  <a:srgbClr val="538DD3"/>
                </a:solidFill>
                <a:latin typeface="Times New Roman"/>
                <a:cs typeface="Times New Roman"/>
              </a:rPr>
              <a:t>variables </a:t>
            </a:r>
            <a:r>
              <a:rPr sz="2600" b="1" dirty="0">
                <a:solidFill>
                  <a:srgbClr val="538DD3"/>
                </a:solidFill>
                <a:latin typeface="Times New Roman"/>
                <a:cs typeface="Times New Roman"/>
              </a:rPr>
              <a:t>en </a:t>
            </a:r>
            <a:r>
              <a:rPr sz="2600" b="1" spc="-5" dirty="0">
                <a:solidFill>
                  <a:srgbClr val="538DD3"/>
                </a:solidFill>
                <a:latin typeface="Times New Roman"/>
                <a:cs typeface="Times New Roman"/>
              </a:rPr>
              <a:t>redes neuronales</a:t>
            </a:r>
            <a:endParaRPr sz="2600" dirty="0">
              <a:latin typeface="Times New Roman"/>
              <a:cs typeface="Times New Roman"/>
            </a:endParaRPr>
          </a:p>
        </p:txBody>
      </p:sp>
      <p:sp>
        <p:nvSpPr>
          <p:cNvPr id="3" name="object 3"/>
          <p:cNvSpPr txBox="1"/>
          <p:nvPr/>
        </p:nvSpPr>
        <p:spPr>
          <a:xfrm>
            <a:off x="423163" y="859867"/>
            <a:ext cx="9800337" cy="6045758"/>
          </a:xfrm>
          <a:prstGeom prst="rect">
            <a:avLst/>
          </a:prstGeom>
        </p:spPr>
        <p:txBody>
          <a:bodyPr vert="horz" wrap="square" lIns="0" tIns="34290" rIns="0" bIns="0" rtlCol="0">
            <a:spAutoFit/>
          </a:bodyPr>
          <a:lstStyle/>
          <a:p>
            <a:pPr marL="12700" marR="179070" algn="just">
              <a:lnSpc>
                <a:spcPts val="2530"/>
              </a:lnSpc>
              <a:spcBef>
                <a:spcPts val="270"/>
              </a:spcBef>
            </a:pPr>
            <a:r>
              <a:rPr sz="2200" spc="-5" dirty="0">
                <a:latin typeface="Times New Roman"/>
                <a:cs typeface="Times New Roman"/>
              </a:rPr>
              <a:t>Este</a:t>
            </a:r>
            <a:r>
              <a:rPr sz="2200" spc="5" dirty="0">
                <a:latin typeface="Times New Roman"/>
                <a:cs typeface="Times New Roman"/>
              </a:rPr>
              <a:t> </a:t>
            </a:r>
            <a:r>
              <a:rPr sz="2200" spc="-5" dirty="0">
                <a:latin typeface="Times New Roman"/>
                <a:cs typeface="Times New Roman"/>
              </a:rPr>
              <a:t>problema</a:t>
            </a:r>
            <a:r>
              <a:rPr sz="2200" dirty="0">
                <a:latin typeface="Times New Roman"/>
                <a:cs typeface="Times New Roman"/>
              </a:rPr>
              <a:t> </a:t>
            </a:r>
            <a:r>
              <a:rPr sz="2200" spc="-5" dirty="0">
                <a:latin typeface="Times New Roman"/>
                <a:cs typeface="Times New Roman"/>
              </a:rPr>
              <a:t>es</a:t>
            </a:r>
            <a:r>
              <a:rPr sz="2200" spc="5" dirty="0">
                <a:latin typeface="Times New Roman"/>
                <a:cs typeface="Times New Roman"/>
              </a:rPr>
              <a:t> </a:t>
            </a:r>
            <a:r>
              <a:rPr sz="2200" spc="-5" dirty="0">
                <a:latin typeface="Times New Roman"/>
                <a:cs typeface="Times New Roman"/>
              </a:rPr>
              <a:t>un</a:t>
            </a:r>
            <a:r>
              <a:rPr sz="2200" spc="15" dirty="0">
                <a:latin typeface="Times New Roman"/>
                <a:cs typeface="Times New Roman"/>
              </a:rPr>
              <a:t> </a:t>
            </a:r>
            <a:r>
              <a:rPr sz="2200" spc="-5" dirty="0">
                <a:latin typeface="Times New Roman"/>
                <a:cs typeface="Times New Roman"/>
              </a:rPr>
              <a:t>problema</a:t>
            </a:r>
            <a:r>
              <a:rPr sz="2200" dirty="0">
                <a:latin typeface="Times New Roman"/>
                <a:cs typeface="Times New Roman"/>
              </a:rPr>
              <a:t> no</a:t>
            </a:r>
            <a:r>
              <a:rPr sz="2200" spc="15" dirty="0">
                <a:latin typeface="Times New Roman"/>
                <a:cs typeface="Times New Roman"/>
              </a:rPr>
              <a:t> </a:t>
            </a:r>
            <a:r>
              <a:rPr sz="2200" spc="-5" dirty="0">
                <a:latin typeface="Times New Roman"/>
                <a:cs typeface="Times New Roman"/>
              </a:rPr>
              <a:t>resuelto</a:t>
            </a:r>
            <a:r>
              <a:rPr sz="2200" spc="20" dirty="0">
                <a:latin typeface="Times New Roman"/>
                <a:cs typeface="Times New Roman"/>
              </a:rPr>
              <a:t> </a:t>
            </a:r>
            <a:r>
              <a:rPr sz="2200" spc="-5" dirty="0">
                <a:latin typeface="Times New Roman"/>
                <a:cs typeface="Times New Roman"/>
              </a:rPr>
              <a:t>en</a:t>
            </a:r>
            <a:r>
              <a:rPr sz="2200" spc="5" dirty="0">
                <a:latin typeface="Times New Roman"/>
                <a:cs typeface="Times New Roman"/>
              </a:rPr>
              <a:t> </a:t>
            </a:r>
            <a:r>
              <a:rPr sz="2200" spc="-5" dirty="0">
                <a:latin typeface="Times New Roman"/>
                <a:cs typeface="Times New Roman"/>
              </a:rPr>
              <a:t>modelización</a:t>
            </a:r>
            <a:r>
              <a:rPr sz="2200" spc="10" dirty="0">
                <a:latin typeface="Times New Roman"/>
                <a:cs typeface="Times New Roman"/>
              </a:rPr>
              <a:t> </a:t>
            </a:r>
            <a:r>
              <a:rPr sz="2200" spc="-5" dirty="0">
                <a:latin typeface="Times New Roman"/>
                <a:cs typeface="Times New Roman"/>
              </a:rPr>
              <a:t>estadística</a:t>
            </a:r>
            <a:r>
              <a:rPr sz="2200" spc="5" dirty="0">
                <a:latin typeface="Times New Roman"/>
                <a:cs typeface="Times New Roman"/>
              </a:rPr>
              <a:t> </a:t>
            </a:r>
            <a:r>
              <a:rPr sz="2200" spc="-5" dirty="0">
                <a:latin typeface="Times New Roman"/>
                <a:cs typeface="Times New Roman"/>
              </a:rPr>
              <a:t>y</a:t>
            </a:r>
            <a:r>
              <a:rPr sz="2200" spc="20" dirty="0">
                <a:latin typeface="Times New Roman"/>
                <a:cs typeface="Times New Roman"/>
              </a:rPr>
              <a:t> </a:t>
            </a:r>
            <a:r>
              <a:rPr sz="2200" spc="-5" dirty="0">
                <a:latin typeface="Times New Roman"/>
                <a:cs typeface="Times New Roman"/>
              </a:rPr>
              <a:t>predictiva,</a:t>
            </a:r>
            <a:r>
              <a:rPr sz="2200" spc="5" dirty="0">
                <a:latin typeface="Times New Roman"/>
                <a:cs typeface="Times New Roman"/>
              </a:rPr>
              <a:t> </a:t>
            </a:r>
            <a:r>
              <a:rPr sz="2200" spc="-5" dirty="0">
                <a:latin typeface="Times New Roman"/>
                <a:cs typeface="Times New Roman"/>
              </a:rPr>
              <a:t>y</a:t>
            </a:r>
            <a:r>
              <a:rPr sz="2200" spc="25" dirty="0">
                <a:latin typeface="Times New Roman"/>
                <a:cs typeface="Times New Roman"/>
              </a:rPr>
              <a:t> </a:t>
            </a:r>
            <a:r>
              <a:rPr sz="2200" spc="-5" dirty="0">
                <a:latin typeface="Times New Roman"/>
                <a:cs typeface="Times New Roman"/>
              </a:rPr>
              <a:t>es </a:t>
            </a:r>
            <a:r>
              <a:rPr sz="2200" spc="-535" dirty="0">
                <a:latin typeface="Times New Roman"/>
                <a:cs typeface="Times New Roman"/>
              </a:rPr>
              <a:t> </a:t>
            </a:r>
            <a:r>
              <a:rPr sz="2200" dirty="0">
                <a:latin typeface="Times New Roman"/>
                <a:cs typeface="Times New Roman"/>
              </a:rPr>
              <a:t>un</a:t>
            </a:r>
            <a:r>
              <a:rPr sz="2200" spc="5" dirty="0">
                <a:latin typeface="Times New Roman"/>
                <a:cs typeface="Times New Roman"/>
              </a:rPr>
              <a:t> </a:t>
            </a:r>
            <a:r>
              <a:rPr sz="2200" b="1" spc="-5" dirty="0">
                <a:latin typeface="Times New Roman"/>
                <a:cs typeface="Times New Roman"/>
              </a:rPr>
              <a:t>punto flaco</a:t>
            </a:r>
            <a:r>
              <a:rPr sz="2200" b="1" spc="15" dirty="0">
                <a:latin typeface="Times New Roman"/>
                <a:cs typeface="Times New Roman"/>
              </a:rPr>
              <a:t> </a:t>
            </a:r>
            <a:r>
              <a:rPr sz="2200" spc="-5" dirty="0">
                <a:latin typeface="Times New Roman"/>
                <a:cs typeface="Times New Roman"/>
              </a:rPr>
              <a:t>de las </a:t>
            </a:r>
            <a:r>
              <a:rPr sz="2200" b="1" spc="-5" dirty="0">
                <a:latin typeface="Times New Roman"/>
                <a:cs typeface="Times New Roman"/>
              </a:rPr>
              <a:t>redes</a:t>
            </a:r>
            <a:r>
              <a:rPr sz="2200" b="1" spc="5" dirty="0">
                <a:latin typeface="Times New Roman"/>
                <a:cs typeface="Times New Roman"/>
              </a:rPr>
              <a:t> </a:t>
            </a:r>
            <a:r>
              <a:rPr sz="2200" b="1" spc="-5" dirty="0">
                <a:latin typeface="Times New Roman"/>
                <a:cs typeface="Times New Roman"/>
              </a:rPr>
              <a:t>neuronales</a:t>
            </a:r>
            <a:r>
              <a:rPr sz="2200" spc="-5" dirty="0">
                <a:latin typeface="Times New Roman"/>
                <a:cs typeface="Times New Roman"/>
              </a:rPr>
              <a:t>.</a:t>
            </a:r>
            <a:endParaRPr sz="2200" dirty="0">
              <a:latin typeface="Times New Roman"/>
              <a:cs typeface="Times New Roman"/>
            </a:endParaRPr>
          </a:p>
          <a:p>
            <a:pPr algn="just">
              <a:lnSpc>
                <a:spcPct val="100000"/>
              </a:lnSpc>
              <a:spcBef>
                <a:spcPts val="5"/>
              </a:spcBef>
            </a:pPr>
            <a:endParaRPr sz="2050" dirty="0">
              <a:latin typeface="Times New Roman"/>
              <a:cs typeface="Times New Roman"/>
            </a:endParaRPr>
          </a:p>
          <a:p>
            <a:pPr marL="12700" algn="just">
              <a:lnSpc>
                <a:spcPct val="100000"/>
              </a:lnSpc>
            </a:pPr>
            <a:r>
              <a:rPr sz="2400" b="1" spc="-5" dirty="0">
                <a:latin typeface="Times New Roman"/>
                <a:cs typeface="Times New Roman"/>
              </a:rPr>
              <a:t>Taxonomía</a:t>
            </a:r>
            <a:r>
              <a:rPr sz="2400" b="1" dirty="0">
                <a:latin typeface="Times New Roman"/>
                <a:cs typeface="Times New Roman"/>
              </a:rPr>
              <a:t> </a:t>
            </a:r>
            <a:r>
              <a:rPr sz="2400" b="1" spc="-5" dirty="0">
                <a:latin typeface="Times New Roman"/>
                <a:cs typeface="Times New Roman"/>
              </a:rPr>
              <a:t>de</a:t>
            </a:r>
            <a:r>
              <a:rPr sz="2400" b="1" dirty="0">
                <a:latin typeface="Times New Roman"/>
                <a:cs typeface="Times New Roman"/>
              </a:rPr>
              <a:t> métodos</a:t>
            </a:r>
            <a:r>
              <a:rPr sz="2400" b="1" spc="5" dirty="0">
                <a:latin typeface="Times New Roman"/>
                <a:cs typeface="Times New Roman"/>
              </a:rPr>
              <a:t> </a:t>
            </a:r>
            <a:r>
              <a:rPr sz="2400" b="1" spc="-5" dirty="0">
                <a:latin typeface="Times New Roman"/>
                <a:cs typeface="Times New Roman"/>
              </a:rPr>
              <a:t>de</a:t>
            </a:r>
            <a:r>
              <a:rPr sz="2400" b="1" dirty="0">
                <a:latin typeface="Times New Roman"/>
                <a:cs typeface="Times New Roman"/>
              </a:rPr>
              <a:t> </a:t>
            </a:r>
            <a:r>
              <a:rPr sz="2400" b="1" spc="-5" dirty="0">
                <a:latin typeface="Times New Roman"/>
                <a:cs typeface="Times New Roman"/>
              </a:rPr>
              <a:t>selección</a:t>
            </a:r>
            <a:r>
              <a:rPr sz="2400" b="1" spc="-10" dirty="0">
                <a:latin typeface="Times New Roman"/>
                <a:cs typeface="Times New Roman"/>
              </a:rPr>
              <a:t> </a:t>
            </a:r>
            <a:r>
              <a:rPr sz="2400" b="1" spc="-5" dirty="0">
                <a:latin typeface="Times New Roman"/>
                <a:cs typeface="Times New Roman"/>
              </a:rPr>
              <a:t>de</a:t>
            </a:r>
            <a:r>
              <a:rPr sz="2400" b="1" dirty="0">
                <a:latin typeface="Times New Roman"/>
                <a:cs typeface="Times New Roman"/>
              </a:rPr>
              <a:t> </a:t>
            </a:r>
            <a:r>
              <a:rPr sz="2400" b="1" spc="-5" dirty="0">
                <a:latin typeface="Times New Roman"/>
                <a:cs typeface="Times New Roman"/>
              </a:rPr>
              <a:t>variables</a:t>
            </a:r>
            <a:endParaRPr sz="2400" dirty="0">
              <a:latin typeface="Times New Roman"/>
              <a:cs typeface="Times New Roman"/>
            </a:endParaRPr>
          </a:p>
          <a:p>
            <a:pPr algn="just">
              <a:lnSpc>
                <a:spcPct val="100000"/>
              </a:lnSpc>
              <a:spcBef>
                <a:spcPts val="35"/>
              </a:spcBef>
            </a:pPr>
            <a:endParaRPr sz="2350" dirty="0">
              <a:latin typeface="Times New Roman"/>
              <a:cs typeface="Times New Roman"/>
            </a:endParaRPr>
          </a:p>
          <a:p>
            <a:pPr marL="12700" marR="166370" algn="just">
              <a:lnSpc>
                <a:spcPct val="95700"/>
              </a:lnSpc>
            </a:pPr>
            <a:r>
              <a:rPr sz="2000" b="1" dirty="0">
                <a:solidFill>
                  <a:srgbClr val="FF0000"/>
                </a:solidFill>
                <a:latin typeface="Times New Roman"/>
                <a:cs typeface="Times New Roman"/>
              </a:rPr>
              <a:t>Filters</a:t>
            </a:r>
            <a:r>
              <a:rPr sz="1800" b="1" dirty="0">
                <a:latin typeface="Times New Roman"/>
                <a:cs typeface="Times New Roman"/>
              </a:rPr>
              <a:t>. </a:t>
            </a:r>
            <a:r>
              <a:rPr sz="1800" b="1" spc="-5" dirty="0">
                <a:latin typeface="Times New Roman"/>
                <a:cs typeface="Times New Roman"/>
              </a:rPr>
              <a:t>Ordenan</a:t>
            </a:r>
            <a:r>
              <a:rPr sz="1800" b="1" spc="-10" dirty="0">
                <a:latin typeface="Times New Roman"/>
                <a:cs typeface="Times New Roman"/>
              </a:rPr>
              <a:t> </a:t>
            </a:r>
            <a:r>
              <a:rPr sz="1800" b="1" dirty="0">
                <a:latin typeface="Times New Roman"/>
                <a:cs typeface="Times New Roman"/>
              </a:rPr>
              <a:t>las </a:t>
            </a:r>
            <a:r>
              <a:rPr sz="1800" b="1" spc="-5" dirty="0">
                <a:latin typeface="Times New Roman"/>
                <a:cs typeface="Times New Roman"/>
              </a:rPr>
              <a:t>variables</a:t>
            </a:r>
            <a:r>
              <a:rPr sz="1800" b="1" spc="5" dirty="0">
                <a:latin typeface="Times New Roman"/>
                <a:cs typeface="Times New Roman"/>
              </a:rPr>
              <a:t> </a:t>
            </a:r>
            <a:r>
              <a:rPr sz="1800" b="1" dirty="0">
                <a:latin typeface="Times New Roman"/>
                <a:cs typeface="Times New Roman"/>
              </a:rPr>
              <a:t>por</a:t>
            </a:r>
            <a:r>
              <a:rPr sz="1800" b="1" spc="-5" dirty="0">
                <a:latin typeface="Times New Roman"/>
                <a:cs typeface="Times New Roman"/>
              </a:rPr>
              <a:t> </a:t>
            </a:r>
            <a:r>
              <a:rPr sz="1800" b="1" dirty="0">
                <a:latin typeface="Times New Roman"/>
                <a:cs typeface="Times New Roman"/>
              </a:rPr>
              <a:t>importancia</a:t>
            </a:r>
            <a:r>
              <a:rPr sz="1800" b="1" spc="-5" dirty="0">
                <a:latin typeface="Times New Roman"/>
                <a:cs typeface="Times New Roman"/>
              </a:rPr>
              <a:t> </a:t>
            </a:r>
            <a:r>
              <a:rPr sz="1800" dirty="0">
                <a:latin typeface="Times New Roman"/>
                <a:cs typeface="Times New Roman"/>
              </a:rPr>
              <a:t>(en</a:t>
            </a:r>
            <a:r>
              <a:rPr sz="1800" spc="-15" dirty="0">
                <a:latin typeface="Times New Roman"/>
                <a:cs typeface="Times New Roman"/>
              </a:rPr>
              <a:t> </a:t>
            </a:r>
            <a:r>
              <a:rPr sz="1800" spc="-5" dirty="0">
                <a:latin typeface="Times New Roman"/>
                <a:cs typeface="Times New Roman"/>
              </a:rPr>
              <a:t>términos</a:t>
            </a:r>
            <a:r>
              <a:rPr sz="1800" dirty="0">
                <a:latin typeface="Times New Roman"/>
                <a:cs typeface="Times New Roman"/>
              </a:rPr>
              <a:t> de</a:t>
            </a:r>
            <a:r>
              <a:rPr sz="1800" spc="10" dirty="0">
                <a:latin typeface="Times New Roman"/>
                <a:cs typeface="Times New Roman"/>
              </a:rPr>
              <a:t> </a:t>
            </a:r>
            <a:r>
              <a:rPr sz="1800" spc="-5" dirty="0">
                <a:latin typeface="Times New Roman"/>
                <a:cs typeface="Times New Roman"/>
              </a:rPr>
              <a:t>relación</a:t>
            </a:r>
            <a:r>
              <a:rPr sz="1800" spc="-10" dirty="0">
                <a:latin typeface="Times New Roman"/>
                <a:cs typeface="Times New Roman"/>
              </a:rPr>
              <a:t> </a:t>
            </a:r>
            <a:r>
              <a:rPr sz="1800" dirty="0">
                <a:latin typeface="Times New Roman"/>
                <a:cs typeface="Times New Roman"/>
              </a:rPr>
              <a:t>con</a:t>
            </a:r>
            <a:r>
              <a:rPr sz="1800" spc="5" dirty="0">
                <a:latin typeface="Times New Roman"/>
                <a:cs typeface="Times New Roman"/>
              </a:rPr>
              <a:t> </a:t>
            </a:r>
            <a:r>
              <a:rPr sz="1800" spc="-5" dirty="0">
                <a:latin typeface="Times New Roman"/>
                <a:cs typeface="Times New Roman"/>
              </a:rPr>
              <a:t>la</a:t>
            </a:r>
            <a:r>
              <a:rPr sz="1800" spc="10" dirty="0">
                <a:latin typeface="Times New Roman"/>
                <a:cs typeface="Times New Roman"/>
              </a:rPr>
              <a:t> </a:t>
            </a:r>
            <a:r>
              <a:rPr sz="1800" spc="-5" dirty="0">
                <a:latin typeface="Times New Roman"/>
                <a:cs typeface="Times New Roman"/>
              </a:rPr>
              <a:t>variable</a:t>
            </a:r>
            <a:r>
              <a:rPr sz="1800" spc="10" dirty="0">
                <a:latin typeface="Times New Roman"/>
                <a:cs typeface="Times New Roman"/>
              </a:rPr>
              <a:t> </a:t>
            </a:r>
            <a:r>
              <a:rPr sz="1800" spc="-5" dirty="0">
                <a:latin typeface="Times New Roman"/>
                <a:cs typeface="Times New Roman"/>
              </a:rPr>
              <a:t>dependiente).</a:t>
            </a:r>
            <a:r>
              <a:rPr sz="1800" spc="10" dirty="0">
                <a:latin typeface="Times New Roman"/>
                <a:cs typeface="Times New Roman"/>
              </a:rPr>
              <a:t> </a:t>
            </a:r>
            <a:r>
              <a:rPr sz="1800" spc="-5" dirty="0">
                <a:latin typeface="Times New Roman"/>
                <a:cs typeface="Times New Roman"/>
              </a:rPr>
              <a:t>Su </a:t>
            </a:r>
            <a:r>
              <a:rPr sz="1800" dirty="0">
                <a:latin typeface="Times New Roman"/>
                <a:cs typeface="Times New Roman"/>
              </a:rPr>
              <a:t> </a:t>
            </a:r>
            <a:r>
              <a:rPr sz="1800" spc="-5" dirty="0">
                <a:latin typeface="Times New Roman"/>
                <a:cs typeface="Times New Roman"/>
              </a:rPr>
              <a:t>principal</a:t>
            </a:r>
            <a:r>
              <a:rPr sz="1800" spc="15" dirty="0">
                <a:latin typeface="Times New Roman"/>
                <a:cs typeface="Times New Roman"/>
              </a:rPr>
              <a:t> </a:t>
            </a:r>
            <a:r>
              <a:rPr sz="1800" spc="-5" dirty="0">
                <a:latin typeface="Times New Roman"/>
                <a:cs typeface="Times New Roman"/>
              </a:rPr>
              <a:t>defecto</a:t>
            </a:r>
            <a:r>
              <a:rPr sz="1800" dirty="0">
                <a:latin typeface="Times New Roman"/>
                <a:cs typeface="Times New Roman"/>
              </a:rPr>
              <a:t> es</a:t>
            </a:r>
            <a:r>
              <a:rPr sz="1800" spc="10" dirty="0">
                <a:latin typeface="Times New Roman"/>
                <a:cs typeface="Times New Roman"/>
              </a:rPr>
              <a:t> </a:t>
            </a:r>
            <a:r>
              <a:rPr sz="1800" dirty="0">
                <a:latin typeface="Times New Roman"/>
                <a:cs typeface="Times New Roman"/>
              </a:rPr>
              <a:t>que</a:t>
            </a:r>
            <a:r>
              <a:rPr sz="1800" spc="5" dirty="0">
                <a:latin typeface="Times New Roman"/>
                <a:cs typeface="Times New Roman"/>
              </a:rPr>
              <a:t> </a:t>
            </a:r>
            <a:r>
              <a:rPr sz="1800" dirty="0">
                <a:latin typeface="Times New Roman"/>
                <a:cs typeface="Times New Roman"/>
              </a:rPr>
              <a:t>no</a:t>
            </a:r>
            <a:r>
              <a:rPr sz="1800" spc="-5" dirty="0">
                <a:latin typeface="Times New Roman"/>
                <a:cs typeface="Times New Roman"/>
              </a:rPr>
              <a:t> tiene</a:t>
            </a:r>
            <a:r>
              <a:rPr sz="1800" spc="10" dirty="0">
                <a:latin typeface="Times New Roman"/>
                <a:cs typeface="Times New Roman"/>
              </a:rPr>
              <a:t> </a:t>
            </a:r>
            <a:r>
              <a:rPr sz="1800" dirty="0">
                <a:latin typeface="Times New Roman"/>
                <a:cs typeface="Times New Roman"/>
              </a:rPr>
              <a:t>en</a:t>
            </a:r>
            <a:r>
              <a:rPr sz="1800" spc="10" dirty="0">
                <a:latin typeface="Times New Roman"/>
                <a:cs typeface="Times New Roman"/>
              </a:rPr>
              <a:t> </a:t>
            </a:r>
            <a:r>
              <a:rPr sz="1800" spc="-5" dirty="0">
                <a:latin typeface="Times New Roman"/>
                <a:cs typeface="Times New Roman"/>
              </a:rPr>
              <a:t>cuenta</a:t>
            </a:r>
            <a:r>
              <a:rPr sz="1800" spc="5" dirty="0">
                <a:latin typeface="Times New Roman"/>
                <a:cs typeface="Times New Roman"/>
              </a:rPr>
              <a:t> </a:t>
            </a:r>
            <a:r>
              <a:rPr sz="1800" spc="-5" dirty="0">
                <a:latin typeface="Times New Roman"/>
                <a:cs typeface="Times New Roman"/>
              </a:rPr>
              <a:t>la</a:t>
            </a:r>
            <a:r>
              <a:rPr sz="1800" spc="5" dirty="0">
                <a:latin typeface="Times New Roman"/>
                <a:cs typeface="Times New Roman"/>
              </a:rPr>
              <a:t> </a:t>
            </a:r>
            <a:r>
              <a:rPr sz="1800" spc="-5" dirty="0">
                <a:latin typeface="Times New Roman"/>
                <a:cs typeface="Times New Roman"/>
              </a:rPr>
              <a:t>información</a:t>
            </a:r>
            <a:r>
              <a:rPr sz="1800" spc="15" dirty="0">
                <a:latin typeface="Times New Roman"/>
                <a:cs typeface="Times New Roman"/>
              </a:rPr>
              <a:t> </a:t>
            </a:r>
            <a:r>
              <a:rPr sz="1800" spc="-5" dirty="0">
                <a:latin typeface="Times New Roman"/>
                <a:cs typeface="Times New Roman"/>
              </a:rPr>
              <a:t>relativa </a:t>
            </a:r>
            <a:r>
              <a:rPr sz="1800" dirty="0">
                <a:latin typeface="Times New Roman"/>
                <a:cs typeface="Times New Roman"/>
              </a:rPr>
              <a:t>que</a:t>
            </a:r>
            <a:r>
              <a:rPr sz="1800" spc="15" dirty="0">
                <a:latin typeface="Times New Roman"/>
                <a:cs typeface="Times New Roman"/>
              </a:rPr>
              <a:t> </a:t>
            </a:r>
            <a:r>
              <a:rPr sz="1800" spc="-5" dirty="0">
                <a:latin typeface="Times New Roman"/>
                <a:cs typeface="Times New Roman"/>
              </a:rPr>
              <a:t>aporta</a:t>
            </a:r>
            <a:r>
              <a:rPr sz="1800" spc="5" dirty="0">
                <a:latin typeface="Times New Roman"/>
                <a:cs typeface="Times New Roman"/>
              </a:rPr>
              <a:t> </a:t>
            </a:r>
            <a:r>
              <a:rPr sz="1800" spc="-5" dirty="0">
                <a:latin typeface="Times New Roman"/>
                <a:cs typeface="Times New Roman"/>
              </a:rPr>
              <a:t>cada</a:t>
            </a:r>
            <a:r>
              <a:rPr sz="1800" spc="10" dirty="0">
                <a:latin typeface="Times New Roman"/>
                <a:cs typeface="Times New Roman"/>
              </a:rPr>
              <a:t> </a:t>
            </a:r>
            <a:r>
              <a:rPr sz="1800" spc="-5" dirty="0">
                <a:latin typeface="Times New Roman"/>
                <a:cs typeface="Times New Roman"/>
              </a:rPr>
              <a:t>variable</a:t>
            </a:r>
            <a:r>
              <a:rPr sz="1800" spc="5" dirty="0">
                <a:latin typeface="Times New Roman"/>
                <a:cs typeface="Times New Roman"/>
              </a:rPr>
              <a:t> </a:t>
            </a:r>
            <a:r>
              <a:rPr sz="1800" dirty="0">
                <a:latin typeface="Times New Roman"/>
                <a:cs typeface="Times New Roman"/>
              </a:rPr>
              <a:t>cuando</a:t>
            </a:r>
            <a:r>
              <a:rPr sz="1800" spc="-10" dirty="0">
                <a:latin typeface="Times New Roman"/>
                <a:cs typeface="Times New Roman"/>
              </a:rPr>
              <a:t> </a:t>
            </a:r>
            <a:r>
              <a:rPr sz="1800" dirty="0">
                <a:latin typeface="Times New Roman"/>
                <a:cs typeface="Times New Roman"/>
              </a:rPr>
              <a:t>otras </a:t>
            </a:r>
            <a:r>
              <a:rPr sz="1800" spc="5" dirty="0">
                <a:latin typeface="Times New Roman"/>
                <a:cs typeface="Times New Roman"/>
              </a:rPr>
              <a:t> </a:t>
            </a:r>
            <a:r>
              <a:rPr sz="1800" dirty="0">
                <a:latin typeface="Times New Roman"/>
                <a:cs typeface="Times New Roman"/>
              </a:rPr>
              <a:t>están</a:t>
            </a:r>
            <a:r>
              <a:rPr sz="1800" spc="-10" dirty="0">
                <a:latin typeface="Times New Roman"/>
                <a:cs typeface="Times New Roman"/>
              </a:rPr>
              <a:t> </a:t>
            </a:r>
            <a:r>
              <a:rPr sz="1800" dirty="0">
                <a:latin typeface="Times New Roman"/>
                <a:cs typeface="Times New Roman"/>
              </a:rPr>
              <a:t>en</a:t>
            </a:r>
            <a:r>
              <a:rPr sz="1800" spc="5" dirty="0">
                <a:latin typeface="Times New Roman"/>
                <a:cs typeface="Times New Roman"/>
              </a:rPr>
              <a:t> </a:t>
            </a:r>
            <a:r>
              <a:rPr sz="1800" dirty="0">
                <a:latin typeface="Times New Roman"/>
                <a:cs typeface="Times New Roman"/>
              </a:rPr>
              <a:t>el</a:t>
            </a:r>
            <a:r>
              <a:rPr sz="1800" spc="5" dirty="0">
                <a:latin typeface="Times New Roman"/>
                <a:cs typeface="Times New Roman"/>
              </a:rPr>
              <a:t> </a:t>
            </a:r>
            <a:r>
              <a:rPr sz="1800" spc="-5" dirty="0">
                <a:latin typeface="Times New Roman"/>
                <a:cs typeface="Times New Roman"/>
              </a:rPr>
              <a:t>modelo.</a:t>
            </a:r>
            <a:r>
              <a:rPr sz="1800" spc="5" dirty="0">
                <a:latin typeface="Times New Roman"/>
                <a:cs typeface="Times New Roman"/>
              </a:rPr>
              <a:t> </a:t>
            </a:r>
            <a:r>
              <a:rPr sz="1800" dirty="0" err="1" smtClean="0">
                <a:latin typeface="Times New Roman"/>
                <a:cs typeface="Times New Roman"/>
              </a:rPr>
              <a:t>Ejemplos</a:t>
            </a:r>
            <a:r>
              <a:rPr sz="1800" dirty="0" smtClean="0">
                <a:latin typeface="Times New Roman"/>
                <a:cs typeface="Times New Roman"/>
              </a:rPr>
              <a:t>:</a:t>
            </a:r>
            <a:r>
              <a:rPr sz="1800" spc="-5" dirty="0" smtClean="0">
                <a:latin typeface="Times New Roman"/>
                <a:cs typeface="Times New Roman"/>
              </a:rPr>
              <a:t> </a:t>
            </a:r>
            <a:r>
              <a:rPr sz="1800" spc="-5" dirty="0">
                <a:latin typeface="Times New Roman"/>
                <a:cs typeface="Times New Roman"/>
              </a:rPr>
              <a:t>lista</a:t>
            </a:r>
            <a:r>
              <a:rPr sz="1800" spc="10" dirty="0">
                <a:latin typeface="Times New Roman"/>
                <a:cs typeface="Times New Roman"/>
              </a:rPr>
              <a:t> </a:t>
            </a:r>
            <a:r>
              <a:rPr sz="1800" spc="-5" dirty="0">
                <a:latin typeface="Times New Roman"/>
                <a:cs typeface="Times New Roman"/>
              </a:rPr>
              <a:t>ordenada</a:t>
            </a:r>
            <a:r>
              <a:rPr sz="1800" spc="10" dirty="0">
                <a:latin typeface="Times New Roman"/>
                <a:cs typeface="Times New Roman"/>
              </a:rPr>
              <a:t> </a:t>
            </a:r>
            <a:r>
              <a:rPr sz="1800" dirty="0">
                <a:latin typeface="Times New Roman"/>
                <a:cs typeface="Times New Roman"/>
              </a:rPr>
              <a:t>por</a:t>
            </a:r>
            <a:r>
              <a:rPr sz="1800" spc="-20" dirty="0">
                <a:latin typeface="Times New Roman"/>
                <a:cs typeface="Times New Roman"/>
              </a:rPr>
              <a:t> </a:t>
            </a:r>
            <a:r>
              <a:rPr sz="1800" dirty="0">
                <a:latin typeface="Times New Roman"/>
                <a:cs typeface="Times New Roman"/>
              </a:rPr>
              <a:t>correlaciones</a:t>
            </a:r>
            <a:r>
              <a:rPr sz="1800" spc="10" dirty="0">
                <a:latin typeface="Times New Roman"/>
                <a:cs typeface="Times New Roman"/>
              </a:rPr>
              <a:t> </a:t>
            </a:r>
            <a:r>
              <a:rPr sz="1800" dirty="0">
                <a:latin typeface="Times New Roman"/>
                <a:cs typeface="Times New Roman"/>
              </a:rPr>
              <a:t>o</a:t>
            </a:r>
            <a:r>
              <a:rPr sz="1800" spc="-10" dirty="0">
                <a:latin typeface="Times New Roman"/>
                <a:cs typeface="Times New Roman"/>
              </a:rPr>
              <a:t> </a:t>
            </a:r>
            <a:r>
              <a:rPr sz="1800" spc="-5" dirty="0">
                <a:latin typeface="Times New Roman"/>
                <a:cs typeface="Times New Roman"/>
              </a:rPr>
              <a:t>importancia</a:t>
            </a:r>
            <a:r>
              <a:rPr sz="1800" dirty="0">
                <a:latin typeface="Times New Roman"/>
                <a:cs typeface="Times New Roman"/>
              </a:rPr>
              <a:t> en árboles-gradient</a:t>
            </a:r>
            <a:r>
              <a:rPr sz="1800" spc="10" dirty="0">
                <a:latin typeface="Times New Roman"/>
                <a:cs typeface="Times New Roman"/>
              </a:rPr>
              <a:t> </a:t>
            </a:r>
            <a:r>
              <a:rPr sz="1800" spc="-5" dirty="0">
                <a:latin typeface="Times New Roman"/>
                <a:cs typeface="Times New Roman"/>
              </a:rPr>
              <a:t>boosting, </a:t>
            </a:r>
            <a:r>
              <a:rPr sz="1800" spc="-434" dirty="0">
                <a:latin typeface="Times New Roman"/>
                <a:cs typeface="Times New Roman"/>
              </a:rPr>
              <a:t> </a:t>
            </a:r>
            <a:r>
              <a:rPr sz="1800" spc="-5" dirty="0">
                <a:latin typeface="Times New Roman"/>
                <a:cs typeface="Times New Roman"/>
              </a:rPr>
              <a:t>SVM, etc.</a:t>
            </a:r>
            <a:endParaRPr sz="1800" dirty="0">
              <a:latin typeface="Times New Roman"/>
              <a:cs typeface="Times New Roman"/>
            </a:endParaRPr>
          </a:p>
          <a:p>
            <a:pPr algn="just">
              <a:lnSpc>
                <a:spcPct val="100000"/>
              </a:lnSpc>
              <a:spcBef>
                <a:spcPts val="55"/>
              </a:spcBef>
            </a:pPr>
            <a:endParaRPr sz="1800" dirty="0">
              <a:latin typeface="Times New Roman"/>
              <a:cs typeface="Times New Roman"/>
            </a:endParaRPr>
          </a:p>
          <a:p>
            <a:pPr marL="12700" marR="5080" algn="just">
              <a:lnSpc>
                <a:spcPts val="2070"/>
              </a:lnSpc>
            </a:pPr>
            <a:r>
              <a:rPr sz="2000" b="1" dirty="0">
                <a:solidFill>
                  <a:srgbClr val="FF0000"/>
                </a:solidFill>
                <a:latin typeface="Times New Roman"/>
                <a:cs typeface="Times New Roman"/>
              </a:rPr>
              <a:t>Wrappers</a:t>
            </a:r>
            <a:r>
              <a:rPr sz="1800" b="1" dirty="0">
                <a:latin typeface="Times New Roman"/>
                <a:cs typeface="Times New Roman"/>
              </a:rPr>
              <a:t>. </a:t>
            </a:r>
            <a:r>
              <a:rPr sz="1800" b="1" spc="-5" dirty="0">
                <a:latin typeface="Times New Roman"/>
                <a:cs typeface="Times New Roman"/>
              </a:rPr>
              <a:t>Métodos </a:t>
            </a:r>
            <a:r>
              <a:rPr sz="1800" b="1" dirty="0">
                <a:latin typeface="Times New Roman"/>
                <a:cs typeface="Times New Roman"/>
              </a:rPr>
              <a:t>de búsqueda </a:t>
            </a:r>
            <a:r>
              <a:rPr sz="1800" b="1" spc="-5" dirty="0">
                <a:latin typeface="Times New Roman"/>
                <a:cs typeface="Times New Roman"/>
              </a:rPr>
              <a:t>secuencial</a:t>
            </a:r>
            <a:r>
              <a:rPr sz="1800" spc="-5" dirty="0">
                <a:latin typeface="Times New Roman"/>
                <a:cs typeface="Times New Roman"/>
              </a:rPr>
              <a:t>. </a:t>
            </a:r>
            <a:r>
              <a:rPr sz="1800" dirty="0">
                <a:latin typeface="Times New Roman"/>
                <a:cs typeface="Times New Roman"/>
              </a:rPr>
              <a:t>Buscan en el espacio de todas las posibles combinaciones de </a:t>
            </a:r>
            <a:r>
              <a:rPr sz="1800" spc="5" dirty="0">
                <a:latin typeface="Times New Roman"/>
                <a:cs typeface="Times New Roman"/>
              </a:rPr>
              <a:t> </a:t>
            </a:r>
            <a:r>
              <a:rPr sz="1800" dirty="0">
                <a:latin typeface="Times New Roman"/>
                <a:cs typeface="Times New Roman"/>
              </a:rPr>
              <a:t>variables.</a:t>
            </a:r>
            <a:r>
              <a:rPr sz="1800" spc="-20" dirty="0">
                <a:latin typeface="Times New Roman"/>
                <a:cs typeface="Times New Roman"/>
              </a:rPr>
              <a:t> </a:t>
            </a:r>
            <a:r>
              <a:rPr sz="1800" spc="-5" dirty="0">
                <a:latin typeface="Times New Roman"/>
                <a:cs typeface="Times New Roman"/>
              </a:rPr>
              <a:t>Al </a:t>
            </a:r>
            <a:r>
              <a:rPr sz="1800" u="sng" dirty="0">
                <a:latin typeface="Times New Roman"/>
                <a:cs typeface="Times New Roman"/>
              </a:rPr>
              <a:t>no</a:t>
            </a:r>
            <a:r>
              <a:rPr sz="1800" u="sng" spc="-25" dirty="0">
                <a:latin typeface="Times New Roman"/>
                <a:cs typeface="Times New Roman"/>
              </a:rPr>
              <a:t> </a:t>
            </a:r>
            <a:r>
              <a:rPr sz="1800" u="sng" spc="-5" dirty="0">
                <a:latin typeface="Times New Roman"/>
                <a:cs typeface="Times New Roman"/>
              </a:rPr>
              <a:t>ser </a:t>
            </a:r>
            <a:r>
              <a:rPr sz="1800" u="sng" dirty="0">
                <a:latin typeface="Times New Roman"/>
                <a:cs typeface="Times New Roman"/>
              </a:rPr>
              <a:t>exhaustivos</a:t>
            </a:r>
            <a:r>
              <a:rPr sz="1800" dirty="0">
                <a:latin typeface="Times New Roman"/>
                <a:cs typeface="Times New Roman"/>
              </a:rPr>
              <a:t>, pueden</a:t>
            </a:r>
            <a:r>
              <a:rPr sz="1800" spc="-20" dirty="0">
                <a:latin typeface="Times New Roman"/>
                <a:cs typeface="Times New Roman"/>
              </a:rPr>
              <a:t> </a:t>
            </a:r>
            <a:r>
              <a:rPr sz="1800" dirty="0">
                <a:latin typeface="Times New Roman"/>
                <a:cs typeface="Times New Roman"/>
              </a:rPr>
              <a:t>pasar</a:t>
            </a:r>
            <a:r>
              <a:rPr sz="1800" spc="-15" dirty="0">
                <a:latin typeface="Times New Roman"/>
                <a:cs typeface="Times New Roman"/>
              </a:rPr>
              <a:t> </a:t>
            </a:r>
            <a:r>
              <a:rPr sz="1800" dirty="0">
                <a:latin typeface="Times New Roman"/>
                <a:cs typeface="Times New Roman"/>
              </a:rPr>
              <a:t>por alto buenos</a:t>
            </a:r>
            <a:r>
              <a:rPr sz="1800" spc="-15" dirty="0">
                <a:latin typeface="Times New Roman"/>
                <a:cs typeface="Times New Roman"/>
              </a:rPr>
              <a:t> </a:t>
            </a:r>
            <a:r>
              <a:rPr sz="1800" dirty="0">
                <a:latin typeface="Times New Roman"/>
                <a:cs typeface="Times New Roman"/>
              </a:rPr>
              <a:t>modelos</a:t>
            </a:r>
            <a:r>
              <a:rPr sz="1800" spc="-10" dirty="0">
                <a:latin typeface="Times New Roman"/>
                <a:cs typeface="Times New Roman"/>
              </a:rPr>
              <a:t> </a:t>
            </a:r>
            <a:r>
              <a:rPr sz="1800" dirty="0">
                <a:latin typeface="Times New Roman"/>
                <a:cs typeface="Times New Roman"/>
              </a:rPr>
              <a:t>intermedios,</a:t>
            </a:r>
            <a:r>
              <a:rPr sz="1800" spc="-30" dirty="0">
                <a:latin typeface="Times New Roman"/>
                <a:cs typeface="Times New Roman"/>
              </a:rPr>
              <a:t> </a:t>
            </a:r>
            <a:r>
              <a:rPr sz="1800" dirty="0">
                <a:latin typeface="Times New Roman"/>
                <a:cs typeface="Times New Roman"/>
              </a:rPr>
              <a:t>o</a:t>
            </a:r>
            <a:r>
              <a:rPr sz="1800" spc="-15" dirty="0">
                <a:latin typeface="Times New Roman"/>
                <a:cs typeface="Times New Roman"/>
              </a:rPr>
              <a:t> </a:t>
            </a:r>
            <a:r>
              <a:rPr sz="1800" dirty="0">
                <a:latin typeface="Times New Roman"/>
                <a:cs typeface="Times New Roman"/>
              </a:rPr>
              <a:t>construir modelos</a:t>
            </a:r>
            <a:r>
              <a:rPr sz="1800" spc="-5" dirty="0">
                <a:latin typeface="Times New Roman"/>
                <a:cs typeface="Times New Roman"/>
              </a:rPr>
              <a:t> </a:t>
            </a:r>
            <a:r>
              <a:rPr sz="1800" dirty="0">
                <a:latin typeface="Times New Roman"/>
                <a:cs typeface="Times New Roman"/>
              </a:rPr>
              <a:t>que </a:t>
            </a:r>
            <a:r>
              <a:rPr sz="1800" spc="-434" dirty="0">
                <a:latin typeface="Times New Roman"/>
                <a:cs typeface="Times New Roman"/>
              </a:rPr>
              <a:t> </a:t>
            </a:r>
            <a:r>
              <a:rPr sz="1800" dirty="0">
                <a:latin typeface="Times New Roman"/>
                <a:cs typeface="Times New Roman"/>
              </a:rPr>
              <a:t>tienden al </a:t>
            </a:r>
            <a:r>
              <a:rPr sz="1800" spc="-5" dirty="0">
                <a:latin typeface="Times New Roman"/>
                <a:cs typeface="Times New Roman"/>
              </a:rPr>
              <a:t>sobreajuste </a:t>
            </a:r>
            <a:r>
              <a:rPr sz="1800" dirty="0">
                <a:latin typeface="Times New Roman"/>
                <a:cs typeface="Times New Roman"/>
              </a:rPr>
              <a:t>pero que en el proceso de búsqueda dan buenos resultados por existir relaciones </a:t>
            </a:r>
            <a:r>
              <a:rPr sz="1800" spc="5" dirty="0">
                <a:latin typeface="Times New Roman"/>
                <a:cs typeface="Times New Roman"/>
              </a:rPr>
              <a:t> </a:t>
            </a:r>
            <a:r>
              <a:rPr sz="1800" dirty="0">
                <a:latin typeface="Times New Roman"/>
                <a:cs typeface="Times New Roman"/>
              </a:rPr>
              <a:t>matemáticas entre los datos que en realidad </a:t>
            </a:r>
            <a:r>
              <a:rPr sz="1800" spc="-5" dirty="0">
                <a:latin typeface="Times New Roman"/>
                <a:cs typeface="Times New Roman"/>
              </a:rPr>
              <a:t>son </a:t>
            </a:r>
            <a:r>
              <a:rPr sz="1800" dirty="0">
                <a:latin typeface="Times New Roman"/>
                <a:cs typeface="Times New Roman"/>
              </a:rPr>
              <a:t>derivadas del azar. </a:t>
            </a:r>
            <a:r>
              <a:rPr sz="1800" dirty="0" err="1" smtClean="0">
                <a:latin typeface="Times New Roman"/>
                <a:cs typeface="Times New Roman"/>
              </a:rPr>
              <a:t>Ejemplos</a:t>
            </a:r>
            <a:r>
              <a:rPr sz="1800" dirty="0" smtClean="0">
                <a:latin typeface="Times New Roman"/>
                <a:cs typeface="Times New Roman"/>
              </a:rPr>
              <a:t>: </a:t>
            </a:r>
            <a:r>
              <a:rPr sz="1800" dirty="0">
                <a:latin typeface="Times New Roman"/>
                <a:cs typeface="Times New Roman"/>
              </a:rPr>
              <a:t>métodos </a:t>
            </a:r>
            <a:r>
              <a:rPr sz="1800" spc="-5" dirty="0">
                <a:latin typeface="Times New Roman"/>
                <a:cs typeface="Times New Roman"/>
              </a:rPr>
              <a:t>stepwise </a:t>
            </a:r>
            <a:r>
              <a:rPr sz="1800" dirty="0">
                <a:latin typeface="Times New Roman"/>
                <a:cs typeface="Times New Roman"/>
              </a:rPr>
              <a:t>(llamado </a:t>
            </a:r>
            <a:r>
              <a:rPr sz="1800" spc="5" dirty="0">
                <a:latin typeface="Times New Roman"/>
                <a:cs typeface="Times New Roman"/>
              </a:rPr>
              <a:t> </a:t>
            </a:r>
            <a:r>
              <a:rPr sz="1800" dirty="0">
                <a:latin typeface="Times New Roman"/>
                <a:cs typeface="Times New Roman"/>
              </a:rPr>
              <a:t>también</a:t>
            </a:r>
            <a:r>
              <a:rPr sz="1800" spc="-5" dirty="0">
                <a:latin typeface="Times New Roman"/>
                <a:cs typeface="Times New Roman"/>
              </a:rPr>
              <a:t> SFS </a:t>
            </a:r>
            <a:r>
              <a:rPr sz="1800" dirty="0">
                <a:latin typeface="Times New Roman"/>
                <a:cs typeface="Times New Roman"/>
              </a:rPr>
              <a:t>“sequential</a:t>
            </a:r>
            <a:r>
              <a:rPr sz="1800" spc="5" dirty="0">
                <a:latin typeface="Times New Roman"/>
                <a:cs typeface="Times New Roman"/>
              </a:rPr>
              <a:t> </a:t>
            </a:r>
            <a:r>
              <a:rPr sz="1800" dirty="0">
                <a:latin typeface="Times New Roman"/>
                <a:cs typeface="Times New Roman"/>
              </a:rPr>
              <a:t>forward </a:t>
            </a:r>
            <a:r>
              <a:rPr sz="1800" spc="-5" dirty="0">
                <a:latin typeface="Times New Roman"/>
                <a:cs typeface="Times New Roman"/>
              </a:rPr>
              <a:t>selection”),</a:t>
            </a:r>
            <a:r>
              <a:rPr sz="1800" dirty="0">
                <a:latin typeface="Times New Roman"/>
                <a:cs typeface="Times New Roman"/>
              </a:rPr>
              <a:t> forward, backward, etc.</a:t>
            </a:r>
          </a:p>
          <a:p>
            <a:pPr algn="just">
              <a:lnSpc>
                <a:spcPct val="100000"/>
              </a:lnSpc>
            </a:pPr>
            <a:endParaRPr sz="1800" dirty="0">
              <a:latin typeface="Times New Roman"/>
              <a:cs typeface="Times New Roman"/>
            </a:endParaRPr>
          </a:p>
          <a:p>
            <a:pPr marL="12700" marR="29845" algn="just">
              <a:lnSpc>
                <a:spcPts val="2070"/>
              </a:lnSpc>
            </a:pPr>
            <a:r>
              <a:rPr sz="2000" b="1" spc="-5" dirty="0">
                <a:solidFill>
                  <a:srgbClr val="FF0000"/>
                </a:solidFill>
                <a:latin typeface="Times New Roman"/>
                <a:cs typeface="Times New Roman"/>
              </a:rPr>
              <a:t>Embedded</a:t>
            </a:r>
            <a:r>
              <a:rPr sz="1800" spc="-5" dirty="0">
                <a:latin typeface="Times New Roman"/>
                <a:cs typeface="Times New Roman"/>
              </a:rPr>
              <a:t>.</a:t>
            </a:r>
            <a:r>
              <a:rPr sz="1800" spc="5" dirty="0">
                <a:latin typeface="Times New Roman"/>
                <a:cs typeface="Times New Roman"/>
              </a:rPr>
              <a:t> </a:t>
            </a:r>
            <a:r>
              <a:rPr sz="1800" spc="-5" dirty="0">
                <a:latin typeface="Times New Roman"/>
                <a:cs typeface="Times New Roman"/>
              </a:rPr>
              <a:t>Algunos</a:t>
            </a:r>
            <a:r>
              <a:rPr sz="1800" dirty="0">
                <a:latin typeface="Times New Roman"/>
                <a:cs typeface="Times New Roman"/>
              </a:rPr>
              <a:t> </a:t>
            </a:r>
            <a:r>
              <a:rPr sz="1800" spc="-5" dirty="0">
                <a:latin typeface="Times New Roman"/>
                <a:cs typeface="Times New Roman"/>
              </a:rPr>
              <a:t>algoritmos</a:t>
            </a:r>
            <a:r>
              <a:rPr sz="1800" spc="5" dirty="0">
                <a:latin typeface="Times New Roman"/>
                <a:cs typeface="Times New Roman"/>
              </a:rPr>
              <a:t> </a:t>
            </a:r>
            <a:r>
              <a:rPr sz="1800" dirty="0">
                <a:latin typeface="Times New Roman"/>
                <a:cs typeface="Times New Roman"/>
              </a:rPr>
              <a:t>predictivos</a:t>
            </a:r>
            <a:r>
              <a:rPr sz="1800" spc="5" dirty="0">
                <a:latin typeface="Times New Roman"/>
                <a:cs typeface="Times New Roman"/>
              </a:rPr>
              <a:t> </a:t>
            </a:r>
            <a:r>
              <a:rPr sz="1800" spc="-5" dirty="0">
                <a:latin typeface="Times New Roman"/>
                <a:cs typeface="Times New Roman"/>
              </a:rPr>
              <a:t>incorporan</a:t>
            </a:r>
            <a:r>
              <a:rPr sz="1800" spc="5" dirty="0">
                <a:latin typeface="Times New Roman"/>
                <a:cs typeface="Times New Roman"/>
              </a:rPr>
              <a:t> </a:t>
            </a:r>
            <a:r>
              <a:rPr sz="1800" b="1" spc="-5" dirty="0">
                <a:latin typeface="Times New Roman"/>
                <a:cs typeface="Times New Roman"/>
              </a:rPr>
              <a:t>funciones</a:t>
            </a:r>
            <a:r>
              <a:rPr sz="1800" b="1" spc="-10" dirty="0">
                <a:latin typeface="Times New Roman"/>
                <a:cs typeface="Times New Roman"/>
              </a:rPr>
              <a:t> </a:t>
            </a:r>
            <a:r>
              <a:rPr sz="1800" b="1" dirty="0">
                <a:latin typeface="Times New Roman"/>
                <a:cs typeface="Times New Roman"/>
              </a:rPr>
              <a:t>de</a:t>
            </a:r>
            <a:r>
              <a:rPr sz="1800" b="1" spc="10" dirty="0">
                <a:latin typeface="Times New Roman"/>
                <a:cs typeface="Times New Roman"/>
              </a:rPr>
              <a:t> </a:t>
            </a:r>
            <a:r>
              <a:rPr sz="1800" b="1" spc="-5" dirty="0">
                <a:latin typeface="Times New Roman"/>
                <a:cs typeface="Times New Roman"/>
              </a:rPr>
              <a:t>regularización</a:t>
            </a:r>
            <a:r>
              <a:rPr sz="1800" b="1" spc="5" dirty="0">
                <a:latin typeface="Times New Roman"/>
                <a:cs typeface="Times New Roman"/>
              </a:rPr>
              <a:t> </a:t>
            </a:r>
            <a:r>
              <a:rPr sz="1800" b="1" dirty="0">
                <a:latin typeface="Times New Roman"/>
                <a:cs typeface="Times New Roman"/>
              </a:rPr>
              <a:t>o</a:t>
            </a:r>
            <a:r>
              <a:rPr sz="1800" b="1" spc="5" dirty="0">
                <a:latin typeface="Times New Roman"/>
                <a:cs typeface="Times New Roman"/>
              </a:rPr>
              <a:t> </a:t>
            </a:r>
            <a:r>
              <a:rPr sz="1800" b="1" dirty="0">
                <a:latin typeface="Times New Roman"/>
                <a:cs typeface="Times New Roman"/>
              </a:rPr>
              <a:t>de </a:t>
            </a:r>
            <a:r>
              <a:rPr sz="1800" b="1" spc="-5" dirty="0">
                <a:latin typeface="Times New Roman"/>
                <a:cs typeface="Times New Roman"/>
              </a:rPr>
              <a:t>deshecho </a:t>
            </a:r>
            <a:r>
              <a:rPr sz="1800" b="1" dirty="0">
                <a:latin typeface="Times New Roman"/>
                <a:cs typeface="Times New Roman"/>
              </a:rPr>
              <a:t> </a:t>
            </a:r>
            <a:r>
              <a:rPr sz="1800" b="1" spc="-5" dirty="0">
                <a:latin typeface="Times New Roman"/>
                <a:cs typeface="Times New Roman"/>
              </a:rPr>
              <a:t>automático</a:t>
            </a:r>
            <a:r>
              <a:rPr sz="1800" b="1" spc="15" dirty="0">
                <a:latin typeface="Times New Roman"/>
                <a:cs typeface="Times New Roman"/>
              </a:rPr>
              <a:t> </a:t>
            </a:r>
            <a:r>
              <a:rPr sz="1800" b="1" dirty="0">
                <a:latin typeface="Times New Roman"/>
                <a:cs typeface="Times New Roman"/>
              </a:rPr>
              <a:t>de</a:t>
            </a:r>
            <a:r>
              <a:rPr sz="1800" b="1" spc="5" dirty="0">
                <a:latin typeface="Times New Roman"/>
                <a:cs typeface="Times New Roman"/>
              </a:rPr>
              <a:t> </a:t>
            </a:r>
            <a:r>
              <a:rPr sz="1800" b="1" spc="-5" dirty="0">
                <a:latin typeface="Times New Roman"/>
                <a:cs typeface="Times New Roman"/>
              </a:rPr>
              <a:t>variables,</a:t>
            </a:r>
            <a:r>
              <a:rPr sz="1800" b="1" dirty="0">
                <a:latin typeface="Times New Roman"/>
                <a:cs typeface="Times New Roman"/>
              </a:rPr>
              <a:t> </a:t>
            </a:r>
            <a:r>
              <a:rPr sz="1800" b="1" spc="-5" dirty="0">
                <a:latin typeface="Times New Roman"/>
                <a:cs typeface="Times New Roman"/>
              </a:rPr>
              <a:t>reduciendo</a:t>
            </a:r>
            <a:r>
              <a:rPr sz="1800" b="1" spc="15" dirty="0">
                <a:latin typeface="Times New Roman"/>
                <a:cs typeface="Times New Roman"/>
              </a:rPr>
              <a:t> </a:t>
            </a:r>
            <a:r>
              <a:rPr sz="1800" b="1" dirty="0">
                <a:latin typeface="Times New Roman"/>
                <a:cs typeface="Times New Roman"/>
              </a:rPr>
              <a:t>el </a:t>
            </a:r>
            <a:r>
              <a:rPr sz="1800" b="1" spc="-5" dirty="0">
                <a:latin typeface="Times New Roman"/>
                <a:cs typeface="Times New Roman"/>
              </a:rPr>
              <a:t>parámetro</a:t>
            </a:r>
            <a:r>
              <a:rPr sz="1800" b="1" dirty="0">
                <a:latin typeface="Times New Roman"/>
                <a:cs typeface="Times New Roman"/>
              </a:rPr>
              <a:t> </a:t>
            </a:r>
            <a:r>
              <a:rPr sz="1800" b="1" spc="-5" dirty="0">
                <a:latin typeface="Times New Roman"/>
                <a:cs typeface="Times New Roman"/>
              </a:rPr>
              <a:t>asociado</a:t>
            </a:r>
            <a:r>
              <a:rPr sz="1800" b="1" spc="15" dirty="0">
                <a:latin typeface="Times New Roman"/>
                <a:cs typeface="Times New Roman"/>
              </a:rPr>
              <a:t> </a:t>
            </a:r>
            <a:r>
              <a:rPr sz="1800" b="1" dirty="0">
                <a:latin typeface="Times New Roman"/>
                <a:cs typeface="Times New Roman"/>
              </a:rPr>
              <a:t>a</a:t>
            </a:r>
            <a:r>
              <a:rPr sz="1800" b="1" spc="15" dirty="0">
                <a:latin typeface="Times New Roman"/>
                <a:cs typeface="Times New Roman"/>
              </a:rPr>
              <a:t> </a:t>
            </a:r>
            <a:r>
              <a:rPr sz="1800" b="1" spc="-5" dirty="0">
                <a:latin typeface="Times New Roman"/>
                <a:cs typeface="Times New Roman"/>
              </a:rPr>
              <a:t>las</a:t>
            </a:r>
            <a:r>
              <a:rPr sz="1800" b="1" spc="10" dirty="0">
                <a:latin typeface="Times New Roman"/>
                <a:cs typeface="Times New Roman"/>
              </a:rPr>
              <a:t> </a:t>
            </a:r>
            <a:r>
              <a:rPr sz="1800" b="1" spc="-5" dirty="0">
                <a:latin typeface="Times New Roman"/>
                <a:cs typeface="Times New Roman"/>
              </a:rPr>
              <a:t>variables</a:t>
            </a:r>
            <a:r>
              <a:rPr sz="1800" b="1" spc="5" dirty="0">
                <a:latin typeface="Times New Roman"/>
                <a:cs typeface="Times New Roman"/>
              </a:rPr>
              <a:t> </a:t>
            </a:r>
            <a:r>
              <a:rPr sz="1800" b="1" spc="-5" dirty="0">
                <a:latin typeface="Times New Roman"/>
                <a:cs typeface="Times New Roman"/>
              </a:rPr>
              <a:t>“malas”.</a:t>
            </a:r>
            <a:r>
              <a:rPr sz="1800" spc="20" dirty="0">
                <a:latin typeface="Times New Roman"/>
                <a:cs typeface="Times New Roman"/>
              </a:rPr>
              <a:t> </a:t>
            </a:r>
            <a:r>
              <a:rPr sz="1800" dirty="0">
                <a:latin typeface="Times New Roman"/>
                <a:cs typeface="Times New Roman"/>
              </a:rPr>
              <a:t>En</a:t>
            </a:r>
            <a:r>
              <a:rPr sz="1800" spc="60" dirty="0">
                <a:latin typeface="Times New Roman"/>
                <a:cs typeface="Times New Roman"/>
              </a:rPr>
              <a:t> </a:t>
            </a:r>
            <a:r>
              <a:rPr sz="1800" spc="-5" dirty="0">
                <a:latin typeface="Times New Roman"/>
                <a:cs typeface="Times New Roman"/>
              </a:rPr>
              <a:t>principio</a:t>
            </a:r>
            <a:r>
              <a:rPr sz="1800" spc="5" dirty="0">
                <a:latin typeface="Times New Roman"/>
                <a:cs typeface="Times New Roman"/>
              </a:rPr>
              <a:t> </a:t>
            </a:r>
            <a:r>
              <a:rPr sz="1800" dirty="0">
                <a:latin typeface="Times New Roman"/>
                <a:cs typeface="Times New Roman"/>
              </a:rPr>
              <a:t>no necesitan </a:t>
            </a:r>
            <a:r>
              <a:rPr sz="1800" spc="-434" dirty="0">
                <a:latin typeface="Times New Roman"/>
                <a:cs typeface="Times New Roman"/>
              </a:rPr>
              <a:t> </a:t>
            </a:r>
            <a:r>
              <a:rPr sz="1800" dirty="0">
                <a:latin typeface="Times New Roman"/>
                <a:cs typeface="Times New Roman"/>
              </a:rPr>
              <a:t>de</a:t>
            </a:r>
            <a:r>
              <a:rPr sz="1800" spc="5" dirty="0">
                <a:latin typeface="Times New Roman"/>
                <a:cs typeface="Times New Roman"/>
              </a:rPr>
              <a:t> </a:t>
            </a:r>
            <a:r>
              <a:rPr sz="1800" spc="-5" dirty="0">
                <a:latin typeface="Times New Roman"/>
                <a:cs typeface="Times New Roman"/>
              </a:rPr>
              <a:t>selección</a:t>
            </a:r>
            <a:r>
              <a:rPr sz="1800" spc="5" dirty="0">
                <a:latin typeface="Times New Roman"/>
                <a:cs typeface="Times New Roman"/>
              </a:rPr>
              <a:t> </a:t>
            </a:r>
            <a:r>
              <a:rPr sz="1800" spc="-5" dirty="0">
                <a:latin typeface="Times New Roman"/>
                <a:cs typeface="Times New Roman"/>
              </a:rPr>
              <a:t>previa</a:t>
            </a:r>
            <a:r>
              <a:rPr sz="1800" spc="5" dirty="0">
                <a:latin typeface="Times New Roman"/>
                <a:cs typeface="Times New Roman"/>
              </a:rPr>
              <a:t> </a:t>
            </a:r>
            <a:r>
              <a:rPr sz="1800" dirty="0">
                <a:latin typeface="Times New Roman"/>
                <a:cs typeface="Times New Roman"/>
              </a:rPr>
              <a:t>y</a:t>
            </a:r>
            <a:r>
              <a:rPr sz="1800" spc="5" dirty="0">
                <a:latin typeface="Times New Roman"/>
                <a:cs typeface="Times New Roman"/>
              </a:rPr>
              <a:t> </a:t>
            </a:r>
            <a:r>
              <a:rPr sz="1800" dirty="0">
                <a:latin typeface="Times New Roman"/>
                <a:cs typeface="Times New Roman"/>
              </a:rPr>
              <a:t>tienen la</a:t>
            </a:r>
            <a:r>
              <a:rPr sz="1800" spc="5" dirty="0">
                <a:latin typeface="Times New Roman"/>
                <a:cs typeface="Times New Roman"/>
              </a:rPr>
              <a:t> </a:t>
            </a:r>
            <a:r>
              <a:rPr sz="1800" spc="-5" dirty="0">
                <a:latin typeface="Times New Roman"/>
                <a:cs typeface="Times New Roman"/>
              </a:rPr>
              <a:t>ventaja</a:t>
            </a:r>
            <a:r>
              <a:rPr sz="1800" spc="10" dirty="0">
                <a:latin typeface="Times New Roman"/>
                <a:cs typeface="Times New Roman"/>
              </a:rPr>
              <a:t> </a:t>
            </a:r>
            <a:r>
              <a:rPr sz="1800" spc="-10" dirty="0">
                <a:latin typeface="Times New Roman"/>
                <a:cs typeface="Times New Roman"/>
              </a:rPr>
              <a:t>de</a:t>
            </a:r>
            <a:r>
              <a:rPr sz="1800" spc="5" dirty="0">
                <a:latin typeface="Times New Roman"/>
                <a:cs typeface="Times New Roman"/>
              </a:rPr>
              <a:t> </a:t>
            </a:r>
            <a:r>
              <a:rPr sz="1800" spc="-5" dirty="0">
                <a:latin typeface="Times New Roman"/>
                <a:cs typeface="Times New Roman"/>
              </a:rPr>
              <a:t>ser robustos</a:t>
            </a:r>
            <a:r>
              <a:rPr sz="1800" spc="5" dirty="0">
                <a:latin typeface="Times New Roman"/>
                <a:cs typeface="Times New Roman"/>
              </a:rPr>
              <a:t> </a:t>
            </a:r>
            <a:r>
              <a:rPr sz="1800" dirty="0">
                <a:latin typeface="Times New Roman"/>
                <a:cs typeface="Times New Roman"/>
              </a:rPr>
              <a:t>frente</a:t>
            </a:r>
            <a:r>
              <a:rPr sz="1800" spc="5" dirty="0">
                <a:latin typeface="Times New Roman"/>
                <a:cs typeface="Times New Roman"/>
              </a:rPr>
              <a:t> </a:t>
            </a:r>
            <a:r>
              <a:rPr sz="1800" dirty="0">
                <a:latin typeface="Times New Roman"/>
                <a:cs typeface="Times New Roman"/>
              </a:rPr>
              <a:t>a </a:t>
            </a:r>
            <a:r>
              <a:rPr sz="1800" spc="-5" dirty="0">
                <a:latin typeface="Times New Roman"/>
                <a:cs typeface="Times New Roman"/>
              </a:rPr>
              <a:t>colinealidad.</a:t>
            </a:r>
            <a:r>
              <a:rPr sz="1800" spc="10" dirty="0">
                <a:latin typeface="Times New Roman"/>
                <a:cs typeface="Times New Roman"/>
              </a:rPr>
              <a:t> </a:t>
            </a:r>
            <a:r>
              <a:rPr sz="1800" spc="-5" dirty="0">
                <a:latin typeface="Times New Roman"/>
                <a:cs typeface="Times New Roman"/>
              </a:rPr>
              <a:t>Su</a:t>
            </a:r>
            <a:r>
              <a:rPr sz="1800" dirty="0">
                <a:latin typeface="Times New Roman"/>
                <a:cs typeface="Times New Roman"/>
              </a:rPr>
              <a:t> </a:t>
            </a:r>
            <a:r>
              <a:rPr sz="1800" spc="-5" dirty="0">
                <a:latin typeface="Times New Roman"/>
                <a:cs typeface="Times New Roman"/>
              </a:rPr>
              <a:t>problema</a:t>
            </a:r>
            <a:r>
              <a:rPr sz="1800" spc="10" dirty="0">
                <a:latin typeface="Times New Roman"/>
                <a:cs typeface="Times New Roman"/>
              </a:rPr>
              <a:t> </a:t>
            </a:r>
            <a:r>
              <a:rPr sz="1800" dirty="0">
                <a:latin typeface="Times New Roman"/>
                <a:cs typeface="Times New Roman"/>
              </a:rPr>
              <a:t>es</a:t>
            </a:r>
            <a:r>
              <a:rPr sz="1800" spc="-10" dirty="0">
                <a:latin typeface="Times New Roman"/>
                <a:cs typeface="Times New Roman"/>
              </a:rPr>
              <a:t> </a:t>
            </a:r>
            <a:r>
              <a:rPr sz="1800" dirty="0">
                <a:latin typeface="Times New Roman"/>
                <a:cs typeface="Times New Roman"/>
              </a:rPr>
              <a:t>que</a:t>
            </a:r>
            <a:r>
              <a:rPr sz="1800" spc="10" dirty="0">
                <a:latin typeface="Times New Roman"/>
                <a:cs typeface="Times New Roman"/>
              </a:rPr>
              <a:t> </a:t>
            </a:r>
            <a:r>
              <a:rPr sz="1800" spc="-5" dirty="0">
                <a:latin typeface="Times New Roman"/>
                <a:cs typeface="Times New Roman"/>
              </a:rPr>
              <a:t>siguen </a:t>
            </a:r>
            <a:r>
              <a:rPr sz="1800" dirty="0">
                <a:latin typeface="Times New Roman"/>
                <a:cs typeface="Times New Roman"/>
              </a:rPr>
              <a:t> </a:t>
            </a:r>
            <a:r>
              <a:rPr sz="1800" spc="-5" dirty="0">
                <a:latin typeface="Times New Roman"/>
                <a:cs typeface="Times New Roman"/>
              </a:rPr>
              <a:t>siendo</a:t>
            </a:r>
            <a:r>
              <a:rPr sz="1800" spc="20" dirty="0">
                <a:latin typeface="Times New Roman"/>
                <a:cs typeface="Times New Roman"/>
              </a:rPr>
              <a:t> </a:t>
            </a:r>
            <a:r>
              <a:rPr sz="1800" dirty="0">
                <a:latin typeface="Times New Roman"/>
                <a:cs typeface="Times New Roman"/>
              </a:rPr>
              <a:t>erráticos</a:t>
            </a:r>
            <a:r>
              <a:rPr sz="1800" spc="15" dirty="0">
                <a:latin typeface="Times New Roman"/>
                <a:cs typeface="Times New Roman"/>
              </a:rPr>
              <a:t> </a:t>
            </a:r>
            <a:r>
              <a:rPr sz="1800" dirty="0">
                <a:latin typeface="Times New Roman"/>
                <a:cs typeface="Times New Roman"/>
              </a:rPr>
              <a:t>y</a:t>
            </a:r>
            <a:r>
              <a:rPr sz="1800" spc="25" dirty="0">
                <a:latin typeface="Times New Roman"/>
                <a:cs typeface="Times New Roman"/>
              </a:rPr>
              <a:t> </a:t>
            </a:r>
            <a:r>
              <a:rPr sz="1800" spc="-5" dirty="0">
                <a:latin typeface="Times New Roman"/>
                <a:cs typeface="Times New Roman"/>
              </a:rPr>
              <a:t>sensibles</a:t>
            </a:r>
            <a:r>
              <a:rPr sz="1800" spc="5" dirty="0">
                <a:latin typeface="Times New Roman"/>
                <a:cs typeface="Times New Roman"/>
              </a:rPr>
              <a:t> </a:t>
            </a:r>
            <a:r>
              <a:rPr sz="1800" dirty="0">
                <a:latin typeface="Times New Roman"/>
                <a:cs typeface="Times New Roman"/>
              </a:rPr>
              <a:t>al</a:t>
            </a:r>
            <a:r>
              <a:rPr sz="1800" spc="20" dirty="0">
                <a:latin typeface="Times New Roman"/>
                <a:cs typeface="Times New Roman"/>
              </a:rPr>
              <a:t> </a:t>
            </a:r>
            <a:r>
              <a:rPr sz="1800" dirty="0">
                <a:latin typeface="Times New Roman"/>
                <a:cs typeface="Times New Roman"/>
              </a:rPr>
              <a:t>cambio</a:t>
            </a:r>
            <a:r>
              <a:rPr sz="1800" spc="20" dirty="0">
                <a:latin typeface="Times New Roman"/>
                <a:cs typeface="Times New Roman"/>
              </a:rPr>
              <a:t> </a:t>
            </a:r>
            <a:r>
              <a:rPr sz="1800" dirty="0">
                <a:latin typeface="Times New Roman"/>
                <a:cs typeface="Times New Roman"/>
              </a:rPr>
              <a:t>(eliminación</a:t>
            </a:r>
            <a:r>
              <a:rPr sz="1800" spc="25" dirty="0">
                <a:latin typeface="Times New Roman"/>
                <a:cs typeface="Times New Roman"/>
              </a:rPr>
              <a:t> </a:t>
            </a:r>
            <a:r>
              <a:rPr sz="1800" dirty="0">
                <a:latin typeface="Times New Roman"/>
                <a:cs typeface="Times New Roman"/>
              </a:rPr>
              <a:t>de</a:t>
            </a:r>
            <a:r>
              <a:rPr sz="1800" spc="20" dirty="0">
                <a:latin typeface="Times New Roman"/>
                <a:cs typeface="Times New Roman"/>
              </a:rPr>
              <a:t> </a:t>
            </a:r>
            <a:r>
              <a:rPr sz="1800" dirty="0">
                <a:latin typeface="Times New Roman"/>
                <a:cs typeface="Times New Roman"/>
              </a:rPr>
              <a:t>observaciones</a:t>
            </a:r>
            <a:r>
              <a:rPr sz="1800" spc="20" dirty="0">
                <a:latin typeface="Times New Roman"/>
                <a:cs typeface="Times New Roman"/>
              </a:rPr>
              <a:t> </a:t>
            </a:r>
            <a:r>
              <a:rPr sz="1800" dirty="0">
                <a:latin typeface="Times New Roman"/>
                <a:cs typeface="Times New Roman"/>
              </a:rPr>
              <a:t>o</a:t>
            </a:r>
            <a:r>
              <a:rPr sz="1800" spc="20" dirty="0">
                <a:latin typeface="Times New Roman"/>
                <a:cs typeface="Times New Roman"/>
              </a:rPr>
              <a:t> </a:t>
            </a:r>
            <a:r>
              <a:rPr sz="1800" dirty="0">
                <a:latin typeface="Times New Roman"/>
                <a:cs typeface="Times New Roman"/>
              </a:rPr>
              <a:t>variables) .</a:t>
            </a:r>
            <a:r>
              <a:rPr sz="1800" spc="15" dirty="0">
                <a:latin typeface="Times New Roman"/>
                <a:cs typeface="Times New Roman"/>
              </a:rPr>
              <a:t> </a:t>
            </a:r>
            <a:r>
              <a:rPr sz="1800" dirty="0">
                <a:latin typeface="Times New Roman"/>
                <a:cs typeface="Times New Roman"/>
              </a:rPr>
              <a:t>Ejemplos:</a:t>
            </a:r>
            <a:r>
              <a:rPr sz="1800" spc="20" dirty="0">
                <a:latin typeface="Times New Roman"/>
                <a:cs typeface="Times New Roman"/>
              </a:rPr>
              <a:t> </a:t>
            </a:r>
            <a:r>
              <a:rPr sz="1800" dirty="0">
                <a:latin typeface="Times New Roman"/>
                <a:cs typeface="Times New Roman"/>
              </a:rPr>
              <a:t>regresión </a:t>
            </a:r>
            <a:r>
              <a:rPr sz="1800" spc="5" dirty="0">
                <a:latin typeface="Times New Roman"/>
                <a:cs typeface="Times New Roman"/>
              </a:rPr>
              <a:t> </a:t>
            </a:r>
            <a:r>
              <a:rPr sz="1800" dirty="0">
                <a:latin typeface="Times New Roman"/>
                <a:cs typeface="Times New Roman"/>
              </a:rPr>
              <a:t>lasso, modelos basados en</a:t>
            </a:r>
            <a:r>
              <a:rPr sz="1800" spc="-10" dirty="0">
                <a:latin typeface="Times New Roman"/>
                <a:cs typeface="Times New Roman"/>
              </a:rPr>
              <a:t> </a:t>
            </a:r>
            <a:r>
              <a:rPr sz="1800" dirty="0">
                <a:latin typeface="Times New Roman"/>
                <a:cs typeface="Times New Roman"/>
              </a:rPr>
              <a:t>árboles,</a:t>
            </a:r>
            <a:r>
              <a:rPr sz="1800" spc="5" dirty="0">
                <a:latin typeface="Times New Roman"/>
                <a:cs typeface="Times New Roman"/>
              </a:rPr>
              <a:t> </a:t>
            </a:r>
            <a:r>
              <a:rPr sz="1800" dirty="0">
                <a:latin typeface="Times New Roman"/>
                <a:cs typeface="Times New Roman"/>
              </a:rPr>
              <a:t>etc.</a:t>
            </a:r>
          </a:p>
        </p:txBody>
      </p:sp>
    </p:spTree>
    <p:extLst>
      <p:ext uri="{BB962C8B-B14F-4D97-AF65-F5344CB8AC3E}">
        <p14:creationId xmlns:p14="http://schemas.microsoft.com/office/powerpoint/2010/main" val="131130007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25628"/>
            <a:ext cx="5536565" cy="391160"/>
          </a:xfrm>
          <a:prstGeom prst="rect">
            <a:avLst/>
          </a:prstGeom>
        </p:spPr>
        <p:txBody>
          <a:bodyPr vert="horz" wrap="square" lIns="0" tIns="12700" rIns="0" bIns="0" rtlCol="0">
            <a:spAutoFit/>
          </a:bodyPr>
          <a:lstStyle/>
          <a:p>
            <a:pPr marL="12700">
              <a:lnSpc>
                <a:spcPct val="100000"/>
              </a:lnSpc>
              <a:spcBef>
                <a:spcPts val="100"/>
              </a:spcBef>
            </a:pPr>
            <a:r>
              <a:rPr b="1" dirty="0">
                <a:latin typeface="Times New Roman"/>
                <a:cs typeface="Times New Roman"/>
              </a:rPr>
              <a:t>Filters</a:t>
            </a:r>
            <a:r>
              <a:rPr b="1" spc="-10" dirty="0">
                <a:latin typeface="Times New Roman"/>
                <a:cs typeface="Times New Roman"/>
              </a:rPr>
              <a:t> </a:t>
            </a:r>
            <a:r>
              <a:rPr b="1" spc="-5" dirty="0">
                <a:latin typeface="Times New Roman"/>
                <a:cs typeface="Times New Roman"/>
              </a:rPr>
              <a:t>(ranking</a:t>
            </a:r>
            <a:r>
              <a:rPr b="1" spc="-10" dirty="0">
                <a:latin typeface="Times New Roman"/>
                <a:cs typeface="Times New Roman"/>
              </a:rPr>
              <a:t> </a:t>
            </a:r>
            <a:r>
              <a:rPr b="1" spc="-5" dirty="0">
                <a:latin typeface="Times New Roman"/>
                <a:cs typeface="Times New Roman"/>
              </a:rPr>
              <a:t>por</a:t>
            </a:r>
            <a:r>
              <a:rPr b="1" spc="-15" dirty="0">
                <a:latin typeface="Times New Roman"/>
                <a:cs typeface="Times New Roman"/>
              </a:rPr>
              <a:t> </a:t>
            </a:r>
            <a:r>
              <a:rPr b="1" spc="-5" dirty="0">
                <a:latin typeface="Times New Roman"/>
                <a:cs typeface="Times New Roman"/>
              </a:rPr>
              <a:t>importancia)</a:t>
            </a:r>
            <a:r>
              <a:rPr b="1" spc="-15" dirty="0">
                <a:latin typeface="Times New Roman"/>
                <a:cs typeface="Times New Roman"/>
              </a:rPr>
              <a:t> </a:t>
            </a:r>
            <a:r>
              <a:rPr b="1" dirty="0">
                <a:latin typeface="Times New Roman"/>
                <a:cs typeface="Times New Roman"/>
              </a:rPr>
              <a:t>en</a:t>
            </a:r>
            <a:r>
              <a:rPr b="1" spc="-10" dirty="0">
                <a:latin typeface="Times New Roman"/>
                <a:cs typeface="Times New Roman"/>
              </a:rPr>
              <a:t> </a:t>
            </a:r>
            <a:r>
              <a:rPr b="1" dirty="0">
                <a:latin typeface="Times New Roman"/>
                <a:cs typeface="Times New Roman"/>
              </a:rPr>
              <a:t>redes</a:t>
            </a:r>
          </a:p>
        </p:txBody>
      </p:sp>
      <p:sp>
        <p:nvSpPr>
          <p:cNvPr id="3" name="object 3"/>
          <p:cNvSpPr txBox="1"/>
          <p:nvPr/>
        </p:nvSpPr>
        <p:spPr>
          <a:xfrm>
            <a:off x="850900" y="1026922"/>
            <a:ext cx="9144000" cy="3563796"/>
          </a:xfrm>
          <a:prstGeom prst="rect">
            <a:avLst/>
          </a:prstGeom>
        </p:spPr>
        <p:txBody>
          <a:bodyPr vert="horz" wrap="square" lIns="0" tIns="34290" rIns="0" bIns="0" rtlCol="0">
            <a:spAutoFit/>
          </a:bodyPr>
          <a:lstStyle/>
          <a:p>
            <a:pPr marL="12700" marR="365125" algn="just">
              <a:lnSpc>
                <a:spcPts val="2530"/>
              </a:lnSpc>
              <a:spcBef>
                <a:spcPts val="270"/>
              </a:spcBef>
            </a:pPr>
            <a:r>
              <a:rPr sz="2200" spc="-5" dirty="0">
                <a:latin typeface="Times New Roman"/>
                <a:cs typeface="Times New Roman"/>
              </a:rPr>
              <a:t>En</a:t>
            </a:r>
            <a:r>
              <a:rPr sz="2200" dirty="0">
                <a:latin typeface="Times New Roman"/>
                <a:cs typeface="Times New Roman"/>
              </a:rPr>
              <a:t> </a:t>
            </a:r>
            <a:r>
              <a:rPr sz="2200" spc="-5" dirty="0">
                <a:latin typeface="Times New Roman"/>
                <a:cs typeface="Times New Roman"/>
              </a:rPr>
              <a:t>redes</a:t>
            </a:r>
            <a:r>
              <a:rPr sz="2200" dirty="0">
                <a:latin typeface="Times New Roman"/>
                <a:cs typeface="Times New Roman"/>
              </a:rPr>
              <a:t> </a:t>
            </a:r>
            <a:r>
              <a:rPr sz="2200" spc="-5" dirty="0">
                <a:latin typeface="Times New Roman"/>
                <a:cs typeface="Times New Roman"/>
              </a:rPr>
              <a:t>neuronales,</a:t>
            </a:r>
            <a:r>
              <a:rPr sz="2200" spc="5" dirty="0">
                <a:latin typeface="Times New Roman"/>
                <a:cs typeface="Times New Roman"/>
              </a:rPr>
              <a:t> </a:t>
            </a:r>
            <a:r>
              <a:rPr sz="2200" spc="-5" dirty="0">
                <a:latin typeface="Times New Roman"/>
                <a:cs typeface="Times New Roman"/>
              </a:rPr>
              <a:t>contrariamente</a:t>
            </a:r>
            <a:r>
              <a:rPr sz="2200"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spc="-5" dirty="0">
                <a:latin typeface="Times New Roman"/>
                <a:cs typeface="Times New Roman"/>
              </a:rPr>
              <a:t>modelos</a:t>
            </a:r>
            <a:r>
              <a:rPr sz="2200" spc="5" dirty="0">
                <a:latin typeface="Times New Roman"/>
                <a:cs typeface="Times New Roman"/>
              </a:rPr>
              <a:t> </a:t>
            </a:r>
            <a:r>
              <a:rPr sz="2200" spc="-5" dirty="0">
                <a:latin typeface="Times New Roman"/>
                <a:cs typeface="Times New Roman"/>
              </a:rPr>
              <a:t>como</a:t>
            </a:r>
            <a:r>
              <a:rPr sz="2200" spc="5" dirty="0">
                <a:latin typeface="Times New Roman"/>
                <a:cs typeface="Times New Roman"/>
              </a:rPr>
              <a:t> </a:t>
            </a:r>
            <a:r>
              <a:rPr sz="2200" spc="-5" dirty="0">
                <a:latin typeface="Times New Roman"/>
                <a:cs typeface="Times New Roman"/>
              </a:rPr>
              <a:t>el</a:t>
            </a:r>
            <a:r>
              <a:rPr sz="2200" spc="5" dirty="0">
                <a:latin typeface="Times New Roman"/>
                <a:cs typeface="Times New Roman"/>
              </a:rPr>
              <a:t> </a:t>
            </a:r>
            <a:r>
              <a:rPr sz="2200" spc="-5" dirty="0">
                <a:latin typeface="Times New Roman"/>
                <a:cs typeface="Times New Roman"/>
              </a:rPr>
              <a:t>de</a:t>
            </a:r>
            <a:r>
              <a:rPr sz="2200" dirty="0">
                <a:latin typeface="Times New Roman"/>
                <a:cs typeface="Times New Roman"/>
              </a:rPr>
              <a:t> </a:t>
            </a:r>
            <a:r>
              <a:rPr sz="2200" spc="-5" dirty="0" err="1" smtClean="0">
                <a:latin typeface="Times New Roman"/>
                <a:cs typeface="Times New Roman"/>
              </a:rPr>
              <a:t>regresión</a:t>
            </a:r>
            <a:r>
              <a:rPr lang="es-ES" sz="2200" spc="-5" dirty="0" smtClean="0">
                <a:latin typeface="Times New Roman"/>
                <a:cs typeface="Times New Roman"/>
              </a:rPr>
              <a:t> en los que </a:t>
            </a:r>
            <a:r>
              <a:rPr sz="2200" spc="-5" dirty="0" err="1" smtClean="0">
                <a:latin typeface="Times New Roman"/>
                <a:cs typeface="Times New Roman"/>
              </a:rPr>
              <a:t>cada</a:t>
            </a:r>
            <a:r>
              <a:rPr sz="2200" spc="-5" dirty="0" smtClean="0">
                <a:latin typeface="Times New Roman"/>
                <a:cs typeface="Times New Roman"/>
              </a:rPr>
              <a:t> </a:t>
            </a:r>
            <a:r>
              <a:rPr sz="2200" spc="-5" dirty="0" err="1" smtClean="0">
                <a:latin typeface="Times New Roman"/>
                <a:cs typeface="Times New Roman"/>
              </a:rPr>
              <a:t>parámetro</a:t>
            </a:r>
            <a:r>
              <a:rPr sz="2200" spc="10" dirty="0" smtClean="0">
                <a:latin typeface="Times New Roman"/>
                <a:cs typeface="Times New Roman"/>
              </a:rPr>
              <a:t> </a:t>
            </a:r>
            <a:r>
              <a:rPr sz="2200" spc="-5" dirty="0">
                <a:latin typeface="Times New Roman"/>
                <a:cs typeface="Times New Roman"/>
              </a:rPr>
              <a:t>va</a:t>
            </a:r>
            <a:r>
              <a:rPr sz="2200" spc="5" dirty="0">
                <a:latin typeface="Times New Roman"/>
                <a:cs typeface="Times New Roman"/>
              </a:rPr>
              <a:t> </a:t>
            </a:r>
            <a:r>
              <a:rPr sz="2200" spc="-5" dirty="0">
                <a:latin typeface="Times New Roman"/>
                <a:cs typeface="Times New Roman"/>
              </a:rPr>
              <a:t>asociado</a:t>
            </a:r>
            <a:r>
              <a:rPr sz="2200" spc="15"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una</a:t>
            </a:r>
            <a:r>
              <a:rPr sz="2200" spc="5" dirty="0">
                <a:latin typeface="Times New Roman"/>
                <a:cs typeface="Times New Roman"/>
              </a:rPr>
              <a:t> </a:t>
            </a:r>
            <a:r>
              <a:rPr sz="2200" spc="-5" dirty="0">
                <a:latin typeface="Times New Roman"/>
                <a:cs typeface="Times New Roman"/>
              </a:rPr>
              <a:t>variable</a:t>
            </a:r>
            <a:r>
              <a:rPr sz="2200" spc="5" dirty="0">
                <a:latin typeface="Times New Roman"/>
                <a:cs typeface="Times New Roman"/>
              </a:rPr>
              <a:t> </a:t>
            </a:r>
            <a:r>
              <a:rPr sz="2200" spc="-5" dirty="0">
                <a:latin typeface="Times New Roman"/>
                <a:cs typeface="Times New Roman"/>
              </a:rPr>
              <a:t>o</a:t>
            </a:r>
            <a:r>
              <a:rPr sz="2200" spc="10" dirty="0">
                <a:latin typeface="Times New Roman"/>
                <a:cs typeface="Times New Roman"/>
              </a:rPr>
              <a:t> </a:t>
            </a:r>
            <a:r>
              <a:rPr sz="2200" spc="-5" dirty="0">
                <a:latin typeface="Times New Roman"/>
                <a:cs typeface="Times New Roman"/>
              </a:rPr>
              <a:t>categoría,</a:t>
            </a:r>
            <a:r>
              <a:rPr sz="2200" dirty="0">
                <a:latin typeface="Times New Roman"/>
                <a:cs typeface="Times New Roman"/>
              </a:rPr>
              <a:t> </a:t>
            </a:r>
            <a:r>
              <a:rPr sz="2200" spc="-5" dirty="0">
                <a:latin typeface="Times New Roman"/>
                <a:cs typeface="Times New Roman"/>
              </a:rPr>
              <a:t>los</a:t>
            </a:r>
            <a:r>
              <a:rPr sz="2200" spc="20" dirty="0">
                <a:latin typeface="Times New Roman"/>
                <a:cs typeface="Times New Roman"/>
              </a:rPr>
              <a:t> </a:t>
            </a:r>
            <a:r>
              <a:rPr sz="2200" spc="-5" dirty="0">
                <a:latin typeface="Times New Roman"/>
                <a:cs typeface="Times New Roman"/>
              </a:rPr>
              <a:t>pesos</a:t>
            </a:r>
            <a:r>
              <a:rPr sz="2200" spc="10" dirty="0">
                <a:latin typeface="Times New Roman"/>
                <a:cs typeface="Times New Roman"/>
              </a:rPr>
              <a:t> </a:t>
            </a:r>
            <a:r>
              <a:rPr sz="2200" spc="-5" dirty="0">
                <a:latin typeface="Times New Roman"/>
                <a:cs typeface="Times New Roman"/>
              </a:rPr>
              <a:t>asociados</a:t>
            </a:r>
            <a:r>
              <a:rPr sz="2200" spc="10"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las</a:t>
            </a:r>
            <a:r>
              <a:rPr sz="2200" spc="5" dirty="0">
                <a:latin typeface="Times New Roman"/>
                <a:cs typeface="Times New Roman"/>
              </a:rPr>
              <a:t> </a:t>
            </a:r>
            <a:r>
              <a:rPr sz="2200" spc="-5" dirty="0">
                <a:latin typeface="Times New Roman"/>
                <a:cs typeface="Times New Roman"/>
              </a:rPr>
              <a:t>variables </a:t>
            </a:r>
            <a:r>
              <a:rPr sz="2200" b="1" spc="-5" dirty="0" err="1" smtClean="0">
                <a:latin typeface="Times New Roman"/>
                <a:cs typeface="Times New Roman"/>
              </a:rPr>
              <a:t>toman</a:t>
            </a:r>
            <a:r>
              <a:rPr sz="2200" b="1" spc="5" dirty="0" smtClean="0">
                <a:latin typeface="Times New Roman"/>
                <a:cs typeface="Times New Roman"/>
              </a:rPr>
              <a:t> </a:t>
            </a:r>
            <a:r>
              <a:rPr sz="2200" b="1" spc="-5" dirty="0">
                <a:latin typeface="Times New Roman"/>
                <a:cs typeface="Times New Roman"/>
              </a:rPr>
              <a:t>rutas</a:t>
            </a:r>
            <a:r>
              <a:rPr sz="2200" b="1" spc="15" dirty="0">
                <a:latin typeface="Times New Roman"/>
                <a:cs typeface="Times New Roman"/>
              </a:rPr>
              <a:t> </a:t>
            </a:r>
            <a:r>
              <a:rPr sz="2200" spc="-5" dirty="0">
                <a:latin typeface="Times New Roman"/>
                <a:cs typeface="Times New Roman"/>
              </a:rPr>
              <a:t>complejas,</a:t>
            </a:r>
            <a:r>
              <a:rPr sz="2200" dirty="0">
                <a:latin typeface="Times New Roman"/>
                <a:cs typeface="Times New Roman"/>
              </a:rPr>
              <a:t> </a:t>
            </a:r>
            <a:r>
              <a:rPr sz="2200" spc="-5" dirty="0">
                <a:latin typeface="Times New Roman"/>
                <a:cs typeface="Times New Roman"/>
              </a:rPr>
              <a:t>de</a:t>
            </a:r>
            <a:r>
              <a:rPr sz="2200" spc="5" dirty="0">
                <a:latin typeface="Times New Roman"/>
                <a:cs typeface="Times New Roman"/>
              </a:rPr>
              <a:t> </a:t>
            </a:r>
            <a:r>
              <a:rPr sz="2200" spc="-5" dirty="0">
                <a:latin typeface="Times New Roman"/>
                <a:cs typeface="Times New Roman"/>
              </a:rPr>
              <a:t>donde</a:t>
            </a:r>
            <a:r>
              <a:rPr sz="2200" spc="-10" dirty="0">
                <a:latin typeface="Times New Roman"/>
                <a:cs typeface="Times New Roman"/>
              </a:rPr>
              <a:t> </a:t>
            </a:r>
            <a:r>
              <a:rPr sz="2200" b="1" spc="-5" dirty="0">
                <a:latin typeface="Times New Roman"/>
                <a:cs typeface="Times New Roman"/>
              </a:rPr>
              <a:t>no</a:t>
            </a:r>
            <a:r>
              <a:rPr sz="2200" b="1" spc="15" dirty="0">
                <a:latin typeface="Times New Roman"/>
                <a:cs typeface="Times New Roman"/>
              </a:rPr>
              <a:t> </a:t>
            </a:r>
            <a:r>
              <a:rPr sz="2200" b="1" spc="-5" dirty="0">
                <a:latin typeface="Times New Roman"/>
                <a:cs typeface="Times New Roman"/>
              </a:rPr>
              <a:t>se</a:t>
            </a:r>
            <a:r>
              <a:rPr sz="2200" b="1" spc="5" dirty="0">
                <a:latin typeface="Times New Roman"/>
                <a:cs typeface="Times New Roman"/>
              </a:rPr>
              <a:t> </a:t>
            </a:r>
            <a:r>
              <a:rPr sz="2200" b="1" spc="-10" dirty="0">
                <a:latin typeface="Times New Roman"/>
                <a:cs typeface="Times New Roman"/>
              </a:rPr>
              <a:t>puede</a:t>
            </a:r>
            <a:r>
              <a:rPr sz="2200" b="1" spc="10" dirty="0">
                <a:latin typeface="Times New Roman"/>
                <a:cs typeface="Times New Roman"/>
              </a:rPr>
              <a:t> </a:t>
            </a:r>
            <a:r>
              <a:rPr sz="2200" b="1" spc="-5" dirty="0">
                <a:latin typeface="Times New Roman"/>
                <a:cs typeface="Times New Roman"/>
              </a:rPr>
              <a:t>fácilmente</a:t>
            </a:r>
            <a:r>
              <a:rPr sz="2200" b="1" spc="15" dirty="0">
                <a:latin typeface="Times New Roman"/>
                <a:cs typeface="Times New Roman"/>
              </a:rPr>
              <a:t> </a:t>
            </a:r>
            <a:r>
              <a:rPr sz="2200" b="1" spc="-10" dirty="0">
                <a:latin typeface="Times New Roman"/>
                <a:cs typeface="Times New Roman"/>
              </a:rPr>
              <a:t>deducir</a:t>
            </a:r>
            <a:r>
              <a:rPr sz="2200" b="1" spc="5" dirty="0">
                <a:latin typeface="Times New Roman"/>
                <a:cs typeface="Times New Roman"/>
              </a:rPr>
              <a:t> </a:t>
            </a:r>
            <a:r>
              <a:rPr sz="2200" b="1" spc="-5" dirty="0">
                <a:latin typeface="Times New Roman"/>
                <a:cs typeface="Times New Roman"/>
              </a:rPr>
              <a:t>la influencia</a:t>
            </a:r>
            <a:r>
              <a:rPr sz="2200" b="1" dirty="0">
                <a:latin typeface="Times New Roman"/>
                <a:cs typeface="Times New Roman"/>
              </a:rPr>
              <a:t> </a:t>
            </a:r>
            <a:r>
              <a:rPr sz="2200" b="1" spc="-5" dirty="0">
                <a:latin typeface="Times New Roman"/>
                <a:cs typeface="Times New Roman"/>
              </a:rPr>
              <a:t>o </a:t>
            </a:r>
            <a:r>
              <a:rPr sz="2200" b="1" dirty="0">
                <a:latin typeface="Times New Roman"/>
                <a:cs typeface="Times New Roman"/>
              </a:rPr>
              <a:t> </a:t>
            </a:r>
            <a:r>
              <a:rPr sz="2200" b="1" spc="-5" dirty="0">
                <a:latin typeface="Times New Roman"/>
                <a:cs typeface="Times New Roman"/>
              </a:rPr>
              <a:t>importancia de cada</a:t>
            </a:r>
            <a:r>
              <a:rPr sz="2200" b="1" spc="5" dirty="0">
                <a:latin typeface="Times New Roman"/>
                <a:cs typeface="Times New Roman"/>
              </a:rPr>
              <a:t> </a:t>
            </a:r>
            <a:r>
              <a:rPr sz="2200" b="1" spc="-5" dirty="0">
                <a:latin typeface="Times New Roman"/>
                <a:cs typeface="Times New Roman"/>
              </a:rPr>
              <a:t>variable en</a:t>
            </a:r>
            <a:r>
              <a:rPr sz="2200" b="1" dirty="0">
                <a:latin typeface="Times New Roman"/>
                <a:cs typeface="Times New Roman"/>
              </a:rPr>
              <a:t> </a:t>
            </a:r>
            <a:r>
              <a:rPr sz="2200" b="1" spc="-5" dirty="0">
                <a:latin typeface="Times New Roman"/>
                <a:cs typeface="Times New Roman"/>
              </a:rPr>
              <a:t>el modelo </a:t>
            </a:r>
            <a:r>
              <a:rPr sz="2200" spc="-5" dirty="0">
                <a:latin typeface="Times New Roman"/>
                <a:cs typeface="Times New Roman"/>
              </a:rPr>
              <a:t>de red neuronal</a:t>
            </a:r>
            <a:r>
              <a:rPr sz="2200" spc="-5" dirty="0" smtClean="0">
                <a:latin typeface="Times New Roman"/>
                <a:cs typeface="Times New Roman"/>
              </a:rPr>
              <a:t>.</a:t>
            </a:r>
            <a:endParaRPr sz="2400" dirty="0">
              <a:latin typeface="Times New Roman"/>
              <a:cs typeface="Times New Roman"/>
            </a:endParaRPr>
          </a:p>
          <a:p>
            <a:pPr algn="just">
              <a:lnSpc>
                <a:spcPct val="100000"/>
              </a:lnSpc>
              <a:spcBef>
                <a:spcPts val="20"/>
              </a:spcBef>
            </a:pPr>
            <a:endParaRPr sz="2100" dirty="0">
              <a:latin typeface="Times New Roman"/>
              <a:cs typeface="Times New Roman"/>
            </a:endParaRPr>
          </a:p>
          <a:p>
            <a:pPr marL="12700" marR="5080" algn="just">
              <a:lnSpc>
                <a:spcPts val="2530"/>
              </a:lnSpc>
            </a:pPr>
            <a:r>
              <a:rPr lang="es-ES" sz="2200" spc="-5" dirty="0" smtClean="0">
                <a:latin typeface="Times New Roman"/>
                <a:cs typeface="Times New Roman"/>
              </a:rPr>
              <a:t>Un método clásico</a:t>
            </a:r>
            <a:r>
              <a:rPr sz="2200" spc="-5" dirty="0" smtClean="0">
                <a:latin typeface="Times New Roman"/>
                <a:cs typeface="Times New Roman"/>
              </a:rPr>
              <a:t> </a:t>
            </a:r>
            <a:r>
              <a:rPr sz="2200" spc="-5" dirty="0">
                <a:latin typeface="Times New Roman"/>
                <a:cs typeface="Times New Roman"/>
              </a:rPr>
              <a:t>aunque</a:t>
            </a:r>
            <a:r>
              <a:rPr sz="2200" spc="-10" dirty="0">
                <a:latin typeface="Times New Roman"/>
                <a:cs typeface="Times New Roman"/>
              </a:rPr>
              <a:t> </a:t>
            </a:r>
            <a:r>
              <a:rPr sz="2200" spc="-5" dirty="0">
                <a:latin typeface="Times New Roman"/>
                <a:cs typeface="Times New Roman"/>
              </a:rPr>
              <a:t>insuficiente, es el</a:t>
            </a:r>
            <a:r>
              <a:rPr sz="2200" spc="45" dirty="0">
                <a:latin typeface="Times New Roman"/>
                <a:cs typeface="Times New Roman"/>
              </a:rPr>
              <a:t> </a:t>
            </a:r>
            <a:r>
              <a:rPr sz="2200" b="1" spc="-10" dirty="0">
                <a:latin typeface="Times New Roman"/>
                <a:cs typeface="Times New Roman"/>
              </a:rPr>
              <a:t>Método</a:t>
            </a:r>
            <a:r>
              <a:rPr sz="2200" b="1" spc="15" dirty="0">
                <a:latin typeface="Times New Roman"/>
                <a:cs typeface="Times New Roman"/>
              </a:rPr>
              <a:t> </a:t>
            </a:r>
            <a:r>
              <a:rPr sz="2200" b="1" spc="-5" dirty="0">
                <a:latin typeface="Times New Roman"/>
                <a:cs typeface="Times New Roman"/>
              </a:rPr>
              <a:t>de</a:t>
            </a:r>
            <a:r>
              <a:rPr sz="2200" b="1" spc="5" dirty="0">
                <a:latin typeface="Times New Roman"/>
                <a:cs typeface="Times New Roman"/>
              </a:rPr>
              <a:t> </a:t>
            </a:r>
            <a:r>
              <a:rPr sz="2200" b="1" spc="-10" dirty="0">
                <a:latin typeface="Times New Roman"/>
                <a:cs typeface="Times New Roman"/>
              </a:rPr>
              <a:t>Olden</a:t>
            </a:r>
            <a:r>
              <a:rPr sz="2200" b="1" spc="5" dirty="0">
                <a:latin typeface="Times New Roman"/>
                <a:cs typeface="Times New Roman"/>
              </a:rPr>
              <a:t> </a:t>
            </a:r>
            <a:r>
              <a:rPr sz="2200" b="1" spc="-5" dirty="0">
                <a:latin typeface="Times New Roman"/>
                <a:cs typeface="Times New Roman"/>
              </a:rPr>
              <a:t>–</a:t>
            </a:r>
            <a:r>
              <a:rPr sz="2200" b="1" spc="10" dirty="0">
                <a:latin typeface="Times New Roman"/>
                <a:cs typeface="Times New Roman"/>
              </a:rPr>
              <a:t> </a:t>
            </a:r>
            <a:r>
              <a:rPr sz="2200" b="1" spc="-10" dirty="0">
                <a:latin typeface="Times New Roman"/>
                <a:cs typeface="Times New Roman"/>
              </a:rPr>
              <a:t>Garson</a:t>
            </a:r>
            <a:r>
              <a:rPr sz="2200" spc="10" dirty="0">
                <a:latin typeface="Times New Roman"/>
                <a:cs typeface="Times New Roman"/>
              </a:rPr>
              <a:t> </a:t>
            </a:r>
            <a:r>
              <a:rPr sz="2200" spc="-5" dirty="0">
                <a:latin typeface="Times New Roman"/>
                <a:cs typeface="Times New Roman"/>
              </a:rPr>
              <a:t>(o </a:t>
            </a:r>
            <a:r>
              <a:rPr sz="2200" dirty="0">
                <a:latin typeface="Times New Roman"/>
                <a:cs typeface="Times New Roman"/>
              </a:rPr>
              <a:t> </a:t>
            </a:r>
            <a:r>
              <a:rPr sz="2200" spc="-5" dirty="0">
                <a:latin typeface="Times New Roman"/>
                <a:cs typeface="Times New Roman"/>
              </a:rPr>
              <a:t>Connection</a:t>
            </a:r>
            <a:r>
              <a:rPr sz="2200" spc="5" dirty="0">
                <a:latin typeface="Times New Roman"/>
                <a:cs typeface="Times New Roman"/>
              </a:rPr>
              <a:t> </a:t>
            </a:r>
            <a:r>
              <a:rPr sz="2200" spc="-5" dirty="0">
                <a:latin typeface="Times New Roman"/>
                <a:cs typeface="Times New Roman"/>
              </a:rPr>
              <a:t>Weights).</a:t>
            </a:r>
            <a:r>
              <a:rPr sz="2200" spc="20" dirty="0">
                <a:latin typeface="Times New Roman"/>
                <a:cs typeface="Times New Roman"/>
              </a:rPr>
              <a:t> </a:t>
            </a:r>
            <a:r>
              <a:rPr sz="2200" spc="-10" dirty="0">
                <a:latin typeface="Times New Roman"/>
                <a:cs typeface="Times New Roman"/>
              </a:rPr>
              <a:t>Mide</a:t>
            </a:r>
            <a:r>
              <a:rPr sz="2200" spc="5" dirty="0">
                <a:latin typeface="Times New Roman"/>
                <a:cs typeface="Times New Roman"/>
              </a:rPr>
              <a:t> </a:t>
            </a:r>
            <a:r>
              <a:rPr sz="2200" spc="-5" dirty="0">
                <a:latin typeface="Times New Roman"/>
                <a:cs typeface="Times New Roman"/>
              </a:rPr>
              <a:t>la</a:t>
            </a:r>
            <a:r>
              <a:rPr sz="2200" spc="5" dirty="0">
                <a:latin typeface="Times New Roman"/>
                <a:cs typeface="Times New Roman"/>
              </a:rPr>
              <a:t> </a:t>
            </a:r>
            <a:r>
              <a:rPr sz="2200" spc="-5" dirty="0">
                <a:solidFill>
                  <a:srgbClr val="FF0000"/>
                </a:solidFill>
                <a:latin typeface="Times New Roman"/>
                <a:cs typeface="Times New Roman"/>
              </a:rPr>
              <a:t>importancia</a:t>
            </a:r>
            <a:r>
              <a:rPr sz="2200" spc="5" dirty="0">
                <a:solidFill>
                  <a:srgbClr val="FF0000"/>
                </a:solidFill>
                <a:latin typeface="Times New Roman"/>
                <a:cs typeface="Times New Roman"/>
              </a:rPr>
              <a:t> </a:t>
            </a:r>
            <a:r>
              <a:rPr sz="2200" spc="-5" dirty="0">
                <a:solidFill>
                  <a:srgbClr val="FF0000"/>
                </a:solidFill>
                <a:latin typeface="Times New Roman"/>
                <a:cs typeface="Times New Roman"/>
              </a:rPr>
              <a:t>de</a:t>
            </a:r>
            <a:r>
              <a:rPr sz="2200" spc="5" dirty="0">
                <a:solidFill>
                  <a:srgbClr val="FF0000"/>
                </a:solidFill>
                <a:latin typeface="Times New Roman"/>
                <a:cs typeface="Times New Roman"/>
              </a:rPr>
              <a:t> </a:t>
            </a:r>
            <a:r>
              <a:rPr sz="2200" spc="-5" dirty="0">
                <a:solidFill>
                  <a:srgbClr val="FF0000"/>
                </a:solidFill>
                <a:latin typeface="Times New Roman"/>
                <a:cs typeface="Times New Roman"/>
              </a:rPr>
              <a:t>cada</a:t>
            </a:r>
            <a:r>
              <a:rPr sz="2200" spc="15" dirty="0">
                <a:solidFill>
                  <a:srgbClr val="FF0000"/>
                </a:solidFill>
                <a:latin typeface="Times New Roman"/>
                <a:cs typeface="Times New Roman"/>
              </a:rPr>
              <a:t> </a:t>
            </a:r>
            <a:r>
              <a:rPr sz="2200" spc="-5" dirty="0">
                <a:solidFill>
                  <a:srgbClr val="FF0000"/>
                </a:solidFill>
                <a:latin typeface="Times New Roman"/>
                <a:cs typeface="Times New Roman"/>
              </a:rPr>
              <a:t>variable</a:t>
            </a:r>
            <a:r>
              <a:rPr sz="2200" spc="5" dirty="0">
                <a:solidFill>
                  <a:srgbClr val="FF0000"/>
                </a:solidFill>
                <a:latin typeface="Times New Roman"/>
                <a:cs typeface="Times New Roman"/>
              </a:rPr>
              <a:t> </a:t>
            </a:r>
            <a:r>
              <a:rPr sz="2200" spc="-5" dirty="0">
                <a:solidFill>
                  <a:srgbClr val="FF0000"/>
                </a:solidFill>
                <a:latin typeface="Times New Roman"/>
                <a:cs typeface="Times New Roman"/>
              </a:rPr>
              <a:t>a</a:t>
            </a:r>
            <a:r>
              <a:rPr sz="2200" spc="5" dirty="0">
                <a:solidFill>
                  <a:srgbClr val="FF0000"/>
                </a:solidFill>
                <a:latin typeface="Times New Roman"/>
                <a:cs typeface="Times New Roman"/>
              </a:rPr>
              <a:t> </a:t>
            </a:r>
            <a:r>
              <a:rPr sz="2200" spc="-5" dirty="0">
                <a:solidFill>
                  <a:srgbClr val="FF0000"/>
                </a:solidFill>
                <a:latin typeface="Times New Roman"/>
                <a:cs typeface="Times New Roman"/>
              </a:rPr>
              <a:t>partir</a:t>
            </a:r>
            <a:r>
              <a:rPr sz="2200" spc="10" dirty="0">
                <a:solidFill>
                  <a:srgbClr val="FF0000"/>
                </a:solidFill>
                <a:latin typeface="Times New Roman"/>
                <a:cs typeface="Times New Roman"/>
              </a:rPr>
              <a:t> </a:t>
            </a:r>
            <a:r>
              <a:rPr sz="2200" spc="-5" dirty="0">
                <a:solidFill>
                  <a:srgbClr val="FF0000"/>
                </a:solidFill>
                <a:latin typeface="Times New Roman"/>
                <a:cs typeface="Times New Roman"/>
              </a:rPr>
              <a:t>de</a:t>
            </a:r>
            <a:r>
              <a:rPr sz="2200" spc="5" dirty="0">
                <a:solidFill>
                  <a:srgbClr val="FF0000"/>
                </a:solidFill>
                <a:latin typeface="Times New Roman"/>
                <a:cs typeface="Times New Roman"/>
              </a:rPr>
              <a:t> </a:t>
            </a:r>
            <a:r>
              <a:rPr sz="2200" spc="-5" dirty="0">
                <a:solidFill>
                  <a:srgbClr val="FF0000"/>
                </a:solidFill>
                <a:latin typeface="Times New Roman"/>
                <a:cs typeface="Times New Roman"/>
              </a:rPr>
              <a:t>los</a:t>
            </a:r>
            <a:r>
              <a:rPr sz="2200" spc="55" dirty="0">
                <a:solidFill>
                  <a:srgbClr val="FF0000"/>
                </a:solidFill>
                <a:latin typeface="Times New Roman"/>
                <a:cs typeface="Times New Roman"/>
              </a:rPr>
              <a:t> </a:t>
            </a:r>
            <a:r>
              <a:rPr sz="2200" spc="-5" dirty="0">
                <a:solidFill>
                  <a:srgbClr val="FF0000"/>
                </a:solidFill>
                <a:latin typeface="Times New Roman"/>
                <a:cs typeface="Times New Roman"/>
              </a:rPr>
              <a:t>productos</a:t>
            </a:r>
            <a:r>
              <a:rPr sz="2200" spc="5" dirty="0">
                <a:solidFill>
                  <a:srgbClr val="FF0000"/>
                </a:solidFill>
                <a:latin typeface="Times New Roman"/>
                <a:cs typeface="Times New Roman"/>
              </a:rPr>
              <a:t> </a:t>
            </a:r>
            <a:r>
              <a:rPr sz="2200" spc="-5" dirty="0">
                <a:solidFill>
                  <a:srgbClr val="FF0000"/>
                </a:solidFill>
                <a:latin typeface="Times New Roman"/>
                <a:cs typeface="Times New Roman"/>
              </a:rPr>
              <a:t>de </a:t>
            </a:r>
            <a:r>
              <a:rPr sz="2200" spc="-535" dirty="0">
                <a:solidFill>
                  <a:srgbClr val="FF0000"/>
                </a:solidFill>
                <a:latin typeface="Times New Roman"/>
                <a:cs typeface="Times New Roman"/>
              </a:rPr>
              <a:t> </a:t>
            </a:r>
            <a:r>
              <a:rPr sz="2200" spc="-5" dirty="0">
                <a:solidFill>
                  <a:srgbClr val="FF0000"/>
                </a:solidFill>
                <a:latin typeface="Times New Roman"/>
                <a:cs typeface="Times New Roman"/>
              </a:rPr>
              <a:t>los</a:t>
            </a:r>
            <a:r>
              <a:rPr sz="2200" spc="5" dirty="0">
                <a:solidFill>
                  <a:srgbClr val="FF0000"/>
                </a:solidFill>
                <a:latin typeface="Times New Roman"/>
                <a:cs typeface="Times New Roman"/>
              </a:rPr>
              <a:t> </a:t>
            </a:r>
            <a:r>
              <a:rPr sz="2200" spc="-5" dirty="0">
                <a:solidFill>
                  <a:srgbClr val="FF0000"/>
                </a:solidFill>
                <a:latin typeface="Times New Roman"/>
                <a:cs typeface="Times New Roman"/>
              </a:rPr>
              <a:t>pesos</a:t>
            </a:r>
            <a:r>
              <a:rPr sz="2200" spc="-5" dirty="0">
                <a:latin typeface="Times New Roman"/>
                <a:cs typeface="Times New Roman"/>
              </a:rPr>
              <a:t>.</a:t>
            </a:r>
            <a:r>
              <a:rPr sz="2200" spc="5" dirty="0">
                <a:latin typeface="Times New Roman"/>
                <a:cs typeface="Times New Roman"/>
              </a:rPr>
              <a:t> </a:t>
            </a:r>
            <a:r>
              <a:rPr sz="2200" spc="-5" dirty="0">
                <a:latin typeface="Times New Roman"/>
                <a:cs typeface="Times New Roman"/>
              </a:rPr>
              <a:t>En</a:t>
            </a:r>
            <a:r>
              <a:rPr sz="2200" spc="5" dirty="0">
                <a:latin typeface="Times New Roman"/>
                <a:cs typeface="Times New Roman"/>
              </a:rPr>
              <a:t> </a:t>
            </a:r>
            <a:r>
              <a:rPr sz="2200" spc="-5" dirty="0">
                <a:latin typeface="Times New Roman"/>
                <a:cs typeface="Times New Roman"/>
              </a:rPr>
              <a:t>principio</a:t>
            </a:r>
            <a:r>
              <a:rPr sz="2200" spc="5" dirty="0">
                <a:latin typeface="Times New Roman"/>
                <a:cs typeface="Times New Roman"/>
              </a:rPr>
              <a:t> </a:t>
            </a:r>
            <a:r>
              <a:rPr sz="2200" spc="-5" dirty="0">
                <a:latin typeface="Times New Roman"/>
                <a:cs typeface="Times New Roman"/>
              </a:rPr>
              <a:t>parece</a:t>
            </a:r>
            <a:r>
              <a:rPr sz="2200" dirty="0">
                <a:latin typeface="Times New Roman"/>
                <a:cs typeface="Times New Roman"/>
              </a:rPr>
              <a:t> </a:t>
            </a:r>
            <a:r>
              <a:rPr sz="2200" spc="-5" dirty="0">
                <a:latin typeface="Times New Roman"/>
                <a:cs typeface="Times New Roman"/>
              </a:rPr>
              <a:t>que</a:t>
            </a:r>
            <a:r>
              <a:rPr sz="2200" spc="5" dirty="0">
                <a:latin typeface="Times New Roman"/>
                <a:cs typeface="Times New Roman"/>
              </a:rPr>
              <a:t> </a:t>
            </a:r>
            <a:r>
              <a:rPr sz="2200" spc="-5" dirty="0">
                <a:latin typeface="Times New Roman"/>
                <a:cs typeface="Times New Roman"/>
              </a:rPr>
              <a:t>es</a:t>
            </a:r>
            <a:r>
              <a:rPr sz="2200" spc="5" dirty="0">
                <a:latin typeface="Times New Roman"/>
                <a:cs typeface="Times New Roman"/>
              </a:rPr>
              <a:t> </a:t>
            </a:r>
            <a:r>
              <a:rPr sz="2200" spc="-5" dirty="0">
                <a:latin typeface="Times New Roman"/>
                <a:cs typeface="Times New Roman"/>
              </a:rPr>
              <a:t>el</a:t>
            </a:r>
            <a:r>
              <a:rPr sz="2200" spc="5" dirty="0">
                <a:latin typeface="Times New Roman"/>
                <a:cs typeface="Times New Roman"/>
              </a:rPr>
              <a:t> </a:t>
            </a:r>
            <a:r>
              <a:rPr sz="2200" spc="-5" dirty="0">
                <a:latin typeface="Times New Roman"/>
                <a:cs typeface="Times New Roman"/>
              </a:rPr>
              <a:t>que</a:t>
            </a:r>
            <a:r>
              <a:rPr sz="2200" dirty="0">
                <a:latin typeface="Times New Roman"/>
                <a:cs typeface="Times New Roman"/>
              </a:rPr>
              <a:t> </a:t>
            </a:r>
            <a:r>
              <a:rPr sz="2200" spc="-5" dirty="0">
                <a:latin typeface="Times New Roman"/>
                <a:cs typeface="Times New Roman"/>
              </a:rPr>
              <a:t>funciona</a:t>
            </a:r>
            <a:r>
              <a:rPr sz="2200" spc="-10" dirty="0">
                <a:latin typeface="Times New Roman"/>
                <a:cs typeface="Times New Roman"/>
              </a:rPr>
              <a:t> </a:t>
            </a:r>
            <a:r>
              <a:rPr sz="2200" spc="-5" dirty="0">
                <a:latin typeface="Times New Roman"/>
                <a:cs typeface="Times New Roman"/>
              </a:rPr>
              <a:t>mejor,</a:t>
            </a:r>
            <a:r>
              <a:rPr sz="2200" spc="10" dirty="0">
                <a:latin typeface="Times New Roman"/>
                <a:cs typeface="Times New Roman"/>
              </a:rPr>
              <a:t> </a:t>
            </a:r>
            <a:r>
              <a:rPr sz="2200" spc="-10" dirty="0">
                <a:latin typeface="Times New Roman"/>
                <a:cs typeface="Times New Roman"/>
              </a:rPr>
              <a:t>sobre</a:t>
            </a:r>
            <a:r>
              <a:rPr sz="2200" spc="5" dirty="0">
                <a:latin typeface="Times New Roman"/>
                <a:cs typeface="Times New Roman"/>
              </a:rPr>
              <a:t> </a:t>
            </a:r>
            <a:r>
              <a:rPr sz="2200" spc="-5" dirty="0">
                <a:latin typeface="Times New Roman"/>
                <a:cs typeface="Times New Roman"/>
              </a:rPr>
              <a:t>todo</a:t>
            </a:r>
            <a:r>
              <a:rPr sz="2200" spc="10" dirty="0">
                <a:latin typeface="Times New Roman"/>
                <a:cs typeface="Times New Roman"/>
              </a:rPr>
              <a:t> </a:t>
            </a:r>
            <a:r>
              <a:rPr sz="2200" spc="-5" dirty="0">
                <a:latin typeface="Times New Roman"/>
                <a:cs typeface="Times New Roman"/>
              </a:rPr>
              <a:t>porque</a:t>
            </a:r>
            <a:r>
              <a:rPr sz="2200" spc="10" dirty="0">
                <a:latin typeface="Times New Roman"/>
                <a:cs typeface="Times New Roman"/>
              </a:rPr>
              <a:t> </a:t>
            </a:r>
            <a:r>
              <a:rPr sz="2200" spc="-5" dirty="0">
                <a:latin typeface="Times New Roman"/>
                <a:cs typeface="Times New Roman"/>
              </a:rPr>
              <a:t>tiene</a:t>
            </a:r>
            <a:r>
              <a:rPr sz="2200" spc="15" dirty="0">
                <a:latin typeface="Times New Roman"/>
                <a:cs typeface="Times New Roman"/>
              </a:rPr>
              <a:t> </a:t>
            </a:r>
            <a:r>
              <a:rPr sz="2200" spc="-5" dirty="0">
                <a:latin typeface="Times New Roman"/>
                <a:cs typeface="Times New Roman"/>
              </a:rPr>
              <a:t>en </a:t>
            </a:r>
            <a:r>
              <a:rPr sz="2200" spc="-535" dirty="0">
                <a:latin typeface="Times New Roman"/>
                <a:cs typeface="Times New Roman"/>
              </a:rPr>
              <a:t> </a:t>
            </a:r>
            <a:r>
              <a:rPr sz="2200" spc="-5" dirty="0">
                <a:latin typeface="Times New Roman"/>
                <a:cs typeface="Times New Roman"/>
              </a:rPr>
              <a:t>cuenta</a:t>
            </a:r>
            <a:r>
              <a:rPr sz="2200" dirty="0">
                <a:latin typeface="Times New Roman"/>
                <a:cs typeface="Times New Roman"/>
              </a:rPr>
              <a:t> </a:t>
            </a:r>
            <a:r>
              <a:rPr sz="2200" spc="-5" dirty="0">
                <a:latin typeface="Times New Roman"/>
                <a:cs typeface="Times New Roman"/>
              </a:rPr>
              <a:t>el</a:t>
            </a:r>
            <a:r>
              <a:rPr sz="2200" spc="5" dirty="0">
                <a:latin typeface="Times New Roman"/>
                <a:cs typeface="Times New Roman"/>
              </a:rPr>
              <a:t> </a:t>
            </a:r>
            <a:r>
              <a:rPr sz="2200" b="1" spc="-10" dirty="0">
                <a:latin typeface="Times New Roman"/>
                <a:cs typeface="Times New Roman"/>
              </a:rPr>
              <a:t>signo</a:t>
            </a:r>
            <a:r>
              <a:rPr sz="2200" dirty="0">
                <a:latin typeface="Times New Roman"/>
                <a:cs typeface="Times New Roman"/>
              </a:rPr>
              <a:t> </a:t>
            </a:r>
            <a:r>
              <a:rPr sz="2200" spc="-5" dirty="0">
                <a:latin typeface="Times New Roman"/>
                <a:cs typeface="Times New Roman"/>
              </a:rPr>
              <a:t>y</a:t>
            </a:r>
            <a:r>
              <a:rPr sz="2200" spc="20" dirty="0">
                <a:latin typeface="Times New Roman"/>
                <a:cs typeface="Times New Roman"/>
              </a:rPr>
              <a:t> </a:t>
            </a:r>
            <a:r>
              <a:rPr sz="2200" spc="-5" dirty="0">
                <a:latin typeface="Times New Roman"/>
                <a:cs typeface="Times New Roman"/>
              </a:rPr>
              <a:t>la</a:t>
            </a:r>
            <a:r>
              <a:rPr sz="2200" spc="5" dirty="0">
                <a:latin typeface="Times New Roman"/>
                <a:cs typeface="Times New Roman"/>
              </a:rPr>
              <a:t> </a:t>
            </a:r>
            <a:r>
              <a:rPr sz="2200" spc="-5" dirty="0">
                <a:latin typeface="Times New Roman"/>
                <a:cs typeface="Times New Roman"/>
              </a:rPr>
              <a:t>posibilidad</a:t>
            </a:r>
            <a:r>
              <a:rPr sz="2200" spc="5" dirty="0">
                <a:latin typeface="Times New Roman"/>
                <a:cs typeface="Times New Roman"/>
              </a:rPr>
              <a:t> </a:t>
            </a:r>
            <a:r>
              <a:rPr sz="2200" spc="-5" dirty="0">
                <a:latin typeface="Times New Roman"/>
                <a:cs typeface="Times New Roman"/>
              </a:rPr>
              <a:t>de</a:t>
            </a:r>
            <a:r>
              <a:rPr sz="2200" spc="15" dirty="0">
                <a:latin typeface="Times New Roman"/>
                <a:cs typeface="Times New Roman"/>
              </a:rPr>
              <a:t> </a:t>
            </a:r>
            <a:r>
              <a:rPr sz="2200" spc="-5" dirty="0">
                <a:latin typeface="Times New Roman"/>
                <a:cs typeface="Times New Roman"/>
              </a:rPr>
              <a:t>que</a:t>
            </a:r>
            <a:r>
              <a:rPr sz="2200" spc="15" dirty="0">
                <a:latin typeface="Times New Roman"/>
                <a:cs typeface="Times New Roman"/>
              </a:rPr>
              <a:t> </a:t>
            </a:r>
            <a:r>
              <a:rPr sz="2200" spc="-5" dirty="0">
                <a:latin typeface="Times New Roman"/>
                <a:cs typeface="Times New Roman"/>
              </a:rPr>
              <a:t>se</a:t>
            </a:r>
            <a:r>
              <a:rPr sz="2200" spc="5" dirty="0">
                <a:latin typeface="Times New Roman"/>
                <a:cs typeface="Times New Roman"/>
              </a:rPr>
              <a:t> </a:t>
            </a:r>
            <a:r>
              <a:rPr sz="2200" b="1" spc="-5" dirty="0">
                <a:latin typeface="Times New Roman"/>
                <a:cs typeface="Times New Roman"/>
              </a:rPr>
              <a:t>cancelen</a:t>
            </a:r>
            <a:r>
              <a:rPr sz="2200" spc="-10" dirty="0">
                <a:latin typeface="Times New Roman"/>
                <a:cs typeface="Times New Roman"/>
              </a:rPr>
              <a:t> </a:t>
            </a:r>
            <a:r>
              <a:rPr sz="2200" spc="-5" dirty="0">
                <a:latin typeface="Times New Roman"/>
                <a:cs typeface="Times New Roman"/>
              </a:rPr>
              <a:t>los</a:t>
            </a:r>
            <a:r>
              <a:rPr sz="2200" spc="20" dirty="0">
                <a:latin typeface="Times New Roman"/>
                <a:cs typeface="Times New Roman"/>
              </a:rPr>
              <a:t> </a:t>
            </a:r>
            <a:r>
              <a:rPr sz="2200" spc="-5" dirty="0">
                <a:latin typeface="Times New Roman"/>
                <a:cs typeface="Times New Roman"/>
              </a:rPr>
              <a:t>términos</a:t>
            </a:r>
            <a:r>
              <a:rPr sz="2200" spc="5" dirty="0">
                <a:latin typeface="Times New Roman"/>
                <a:cs typeface="Times New Roman"/>
              </a:rPr>
              <a:t> </a:t>
            </a:r>
            <a:r>
              <a:rPr sz="2200" spc="-5" dirty="0">
                <a:latin typeface="Times New Roman"/>
                <a:cs typeface="Times New Roman"/>
              </a:rPr>
              <a:t>positivos</a:t>
            </a:r>
            <a:r>
              <a:rPr sz="2200" spc="5" dirty="0">
                <a:latin typeface="Times New Roman"/>
                <a:cs typeface="Times New Roman"/>
              </a:rPr>
              <a:t> </a:t>
            </a:r>
            <a:r>
              <a:rPr sz="2200" spc="-5" dirty="0">
                <a:latin typeface="Times New Roman"/>
                <a:cs typeface="Times New Roman"/>
              </a:rPr>
              <a:t>y</a:t>
            </a:r>
            <a:r>
              <a:rPr sz="2200" spc="10" dirty="0">
                <a:latin typeface="Times New Roman"/>
                <a:cs typeface="Times New Roman"/>
              </a:rPr>
              <a:t> </a:t>
            </a:r>
            <a:r>
              <a:rPr sz="2200" spc="-5" dirty="0">
                <a:latin typeface="Times New Roman"/>
                <a:cs typeface="Times New Roman"/>
              </a:rPr>
              <a:t>negativos.</a:t>
            </a:r>
            <a:endParaRPr sz="2200" dirty="0">
              <a:latin typeface="Times New Roman"/>
              <a:cs typeface="Times New Roman"/>
            </a:endParaRPr>
          </a:p>
        </p:txBody>
      </p:sp>
      <p:sp>
        <p:nvSpPr>
          <p:cNvPr id="4" name="object 4"/>
          <p:cNvSpPr txBox="1"/>
          <p:nvPr/>
        </p:nvSpPr>
        <p:spPr>
          <a:xfrm>
            <a:off x="850900" y="5769310"/>
            <a:ext cx="8915400" cy="1040670"/>
          </a:xfrm>
          <a:prstGeom prst="rect">
            <a:avLst/>
          </a:prstGeom>
        </p:spPr>
        <p:txBody>
          <a:bodyPr vert="horz" wrap="square" lIns="0" tIns="12065" rIns="0" bIns="0" rtlCol="0">
            <a:spAutoFit/>
          </a:bodyPr>
          <a:lstStyle/>
          <a:p>
            <a:pPr marL="12700">
              <a:lnSpc>
                <a:spcPct val="100000"/>
              </a:lnSpc>
              <a:spcBef>
                <a:spcPts val="95"/>
              </a:spcBef>
            </a:pPr>
            <a:r>
              <a:rPr sz="2200" spc="-5" dirty="0">
                <a:latin typeface="Times New Roman"/>
                <a:cs typeface="Times New Roman"/>
              </a:rPr>
              <a:t>El</a:t>
            </a:r>
            <a:r>
              <a:rPr sz="2200" spc="5" dirty="0">
                <a:latin typeface="Times New Roman"/>
                <a:cs typeface="Times New Roman"/>
              </a:rPr>
              <a:t> </a:t>
            </a:r>
            <a:r>
              <a:rPr sz="2200" dirty="0">
                <a:latin typeface="Times New Roman"/>
                <a:cs typeface="Times New Roman"/>
              </a:rPr>
              <a:t>paquete </a:t>
            </a:r>
            <a:r>
              <a:rPr sz="2200" spc="-10" dirty="0">
                <a:latin typeface="Times New Roman"/>
                <a:cs typeface="Times New Roman"/>
              </a:rPr>
              <a:t>NeuralNetTools</a:t>
            </a:r>
            <a:r>
              <a:rPr sz="2200" dirty="0">
                <a:latin typeface="Times New Roman"/>
                <a:cs typeface="Times New Roman"/>
              </a:rPr>
              <a:t> de </a:t>
            </a:r>
            <a:r>
              <a:rPr sz="2200" spc="-5" dirty="0">
                <a:latin typeface="Times New Roman"/>
                <a:cs typeface="Times New Roman"/>
              </a:rPr>
              <a:t>R</a:t>
            </a:r>
            <a:r>
              <a:rPr sz="2200" dirty="0">
                <a:latin typeface="Times New Roman"/>
                <a:cs typeface="Times New Roman"/>
              </a:rPr>
              <a:t> </a:t>
            </a:r>
            <a:r>
              <a:rPr sz="2200" spc="-5" dirty="0">
                <a:latin typeface="Times New Roman"/>
                <a:cs typeface="Times New Roman"/>
              </a:rPr>
              <a:t>calcula</a:t>
            </a:r>
            <a:r>
              <a:rPr sz="2200" spc="30" dirty="0">
                <a:latin typeface="Times New Roman"/>
                <a:cs typeface="Times New Roman"/>
              </a:rPr>
              <a:t> </a:t>
            </a:r>
            <a:r>
              <a:rPr sz="2200" spc="-5" dirty="0">
                <a:latin typeface="Times New Roman"/>
                <a:cs typeface="Times New Roman"/>
              </a:rPr>
              <a:t>la</a:t>
            </a:r>
            <a:r>
              <a:rPr sz="2200" spc="20" dirty="0">
                <a:latin typeface="Times New Roman"/>
                <a:cs typeface="Times New Roman"/>
              </a:rPr>
              <a:t> </a:t>
            </a:r>
            <a:r>
              <a:rPr sz="2200" spc="-5" dirty="0">
                <a:latin typeface="Times New Roman"/>
                <a:cs typeface="Times New Roman"/>
              </a:rPr>
              <a:t>medida</a:t>
            </a:r>
            <a:r>
              <a:rPr sz="2200" dirty="0">
                <a:latin typeface="Times New Roman"/>
                <a:cs typeface="Times New Roman"/>
              </a:rPr>
              <a:t> </a:t>
            </a:r>
            <a:r>
              <a:rPr sz="2200" spc="-5" dirty="0">
                <a:latin typeface="Times New Roman"/>
                <a:cs typeface="Times New Roman"/>
              </a:rPr>
              <a:t>de</a:t>
            </a:r>
            <a:r>
              <a:rPr sz="2200" spc="15" dirty="0">
                <a:latin typeface="Times New Roman"/>
                <a:cs typeface="Times New Roman"/>
              </a:rPr>
              <a:t> </a:t>
            </a:r>
            <a:r>
              <a:rPr sz="2200" spc="-5" dirty="0" err="1">
                <a:latin typeface="Times New Roman"/>
                <a:cs typeface="Times New Roman"/>
              </a:rPr>
              <a:t>importancia</a:t>
            </a:r>
            <a:r>
              <a:rPr sz="2200" spc="-5" dirty="0" smtClean="0">
                <a:latin typeface="Times New Roman"/>
                <a:cs typeface="Times New Roman"/>
              </a:rPr>
              <a:t>.</a:t>
            </a:r>
            <a:endParaRPr lang="es-ES" sz="2200" spc="-5" dirty="0" smtClean="0">
              <a:latin typeface="Times New Roman"/>
              <a:cs typeface="Times New Roman"/>
            </a:endParaRPr>
          </a:p>
          <a:p>
            <a:pPr marL="12700">
              <a:lnSpc>
                <a:spcPct val="100000"/>
              </a:lnSpc>
              <a:spcBef>
                <a:spcPts val="95"/>
              </a:spcBef>
            </a:pPr>
            <a:r>
              <a:rPr lang="es-ES" sz="2200" spc="-5" dirty="0" smtClean="0">
                <a:latin typeface="Times New Roman"/>
                <a:cs typeface="Times New Roman"/>
              </a:rPr>
              <a:t>En Python no hay librerías específicamente desarrolladas para esto, en su lugar se ofrecen alternativas de </a:t>
            </a:r>
            <a:r>
              <a:rPr lang="es-ES" sz="2200" spc="-5" dirty="0" err="1" smtClean="0">
                <a:latin typeface="Times New Roman"/>
                <a:cs typeface="Times New Roman"/>
              </a:rPr>
              <a:t>interpertabilidad</a:t>
            </a:r>
            <a:r>
              <a:rPr lang="es-ES" sz="2200" spc="-5" dirty="0" smtClean="0">
                <a:latin typeface="Times New Roman"/>
                <a:cs typeface="Times New Roman"/>
              </a:rPr>
              <a:t> como </a:t>
            </a:r>
            <a:r>
              <a:rPr lang="es-ES" sz="2200" b="1" spc="-5" dirty="0" smtClean="0">
                <a:latin typeface="Times New Roman"/>
                <a:cs typeface="Times New Roman"/>
              </a:rPr>
              <a:t>SHAP, LIME, y </a:t>
            </a:r>
            <a:r>
              <a:rPr lang="es-ES" sz="2200" b="1" spc="-5" dirty="0" err="1" smtClean="0">
                <a:latin typeface="Times New Roman"/>
                <a:cs typeface="Times New Roman"/>
              </a:rPr>
              <a:t>Grad</a:t>
            </a:r>
            <a:r>
              <a:rPr lang="es-ES" sz="2200" b="1" spc="-5" dirty="0" smtClean="0">
                <a:latin typeface="Times New Roman"/>
                <a:cs typeface="Times New Roman"/>
              </a:rPr>
              <a:t>-CAM</a:t>
            </a:r>
            <a:r>
              <a:rPr lang="es-ES" sz="2200" spc="-5" dirty="0" smtClean="0">
                <a:latin typeface="Times New Roman"/>
                <a:cs typeface="Times New Roman"/>
              </a:rPr>
              <a:t>.</a:t>
            </a:r>
            <a:endParaRPr sz="2200" dirty="0">
              <a:latin typeface="Times New Roman"/>
              <a:cs typeface="Times New Roman"/>
            </a:endParaRPr>
          </a:p>
        </p:txBody>
      </p:sp>
      <p:pic>
        <p:nvPicPr>
          <p:cNvPr id="5" name="object 5"/>
          <p:cNvPicPr/>
          <p:nvPr/>
        </p:nvPicPr>
        <p:blipFill>
          <a:blip r:embed="rId2" cstate="print"/>
          <a:stretch>
            <a:fillRect/>
          </a:stretch>
        </p:blipFill>
        <p:spPr>
          <a:xfrm>
            <a:off x="4191253" y="5003484"/>
            <a:ext cx="1704975" cy="533400"/>
          </a:xfrm>
          <a:prstGeom prst="rect">
            <a:avLst/>
          </a:prstGeom>
        </p:spPr>
      </p:pic>
    </p:spTree>
    <p:extLst>
      <p:ext uri="{BB962C8B-B14F-4D97-AF65-F5344CB8AC3E}">
        <p14:creationId xmlns:p14="http://schemas.microsoft.com/office/powerpoint/2010/main" val="27618520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0571" y="1495425"/>
            <a:ext cx="9601200" cy="5793253"/>
          </a:xfrm>
          <a:prstGeom prst="rect">
            <a:avLst/>
          </a:prstGeom>
        </p:spPr>
        <p:txBody>
          <a:bodyPr vert="horz" wrap="square" lIns="0" tIns="12065" rIns="0" bIns="0" rtlCol="0">
            <a:spAutoFit/>
          </a:bodyPr>
          <a:lstStyle/>
          <a:p>
            <a:pPr marL="12700" algn="just">
              <a:lnSpc>
                <a:spcPct val="100000"/>
              </a:lnSpc>
              <a:spcBef>
                <a:spcPts val="95"/>
              </a:spcBef>
            </a:pPr>
            <a:r>
              <a:rPr lang="es-ES" dirty="0" smtClean="0">
                <a:latin typeface="+mj-lt"/>
                <a:cs typeface="Times New Roman"/>
              </a:rPr>
              <a:t>Bajo ningún concepto se pueden interpretar de una forma tan trivial, evidente y directa como se haría en un modelo de regresión. </a:t>
            </a:r>
            <a:r>
              <a:rPr lang="es-ES" dirty="0">
                <a:latin typeface="+mj-lt"/>
              </a:rPr>
              <a:t>Sin embargo, en ciertos casos y bajo ciertas condiciones, es posible obtener algunas interpretaciones aproximadas de los pesos. </a:t>
            </a:r>
            <a:r>
              <a:rPr lang="es-ES" dirty="0" smtClean="0">
                <a:latin typeface="+mj-lt"/>
              </a:rPr>
              <a:t>Algunos enfoques son:</a:t>
            </a:r>
          </a:p>
          <a:p>
            <a:pPr marL="12700" algn="just">
              <a:lnSpc>
                <a:spcPct val="100000"/>
              </a:lnSpc>
              <a:spcBef>
                <a:spcPts val="95"/>
              </a:spcBef>
            </a:pPr>
            <a:endParaRPr lang="es-ES" sz="2000" dirty="0" smtClean="0"/>
          </a:p>
          <a:p>
            <a:pPr marL="285750" indent="-285750">
              <a:buFont typeface="Arial" panose="020B0604020202020204" pitchFamily="34" charset="0"/>
              <a:buChar char="•"/>
            </a:pPr>
            <a:r>
              <a:rPr lang="es-ES" sz="2000" b="1" dirty="0"/>
              <a:t>Visualización de </a:t>
            </a:r>
            <a:r>
              <a:rPr lang="es-ES" sz="2000" b="1" dirty="0" smtClean="0"/>
              <a:t>Pesos:</a:t>
            </a:r>
            <a:r>
              <a:rPr lang="es-ES" sz="2000" dirty="0"/>
              <a:t> </a:t>
            </a:r>
            <a:r>
              <a:rPr lang="es-ES" sz="2000" dirty="0" smtClean="0"/>
              <a:t>en </a:t>
            </a:r>
            <a:r>
              <a:rPr lang="es-ES" sz="2000" dirty="0"/>
              <a:t>las capas de </a:t>
            </a:r>
            <a:r>
              <a:rPr lang="es-ES" sz="2000" dirty="0" smtClean="0"/>
              <a:t>entrada, </a:t>
            </a:r>
            <a:r>
              <a:rPr lang="es-ES" sz="2000" dirty="0"/>
              <a:t>los pesos están asociados con las conexiones entre las entradas y las neuronas. Visualizar estos pesos puede dar una idea de qué características de entrada son más influyentes para la red.</a:t>
            </a:r>
          </a:p>
          <a:p>
            <a:pPr marL="285750" indent="-285750">
              <a:buFont typeface="Arial" panose="020B0604020202020204" pitchFamily="34" charset="0"/>
              <a:buChar char="•"/>
            </a:pPr>
            <a:r>
              <a:rPr lang="es-ES" sz="2000" b="1" dirty="0"/>
              <a:t>Mapas de </a:t>
            </a:r>
            <a:r>
              <a:rPr lang="es-ES" sz="2000" b="1" dirty="0" smtClean="0"/>
              <a:t>Activación</a:t>
            </a:r>
            <a:r>
              <a:rPr lang="es-ES" sz="2000" dirty="0" smtClean="0"/>
              <a:t> </a:t>
            </a:r>
            <a:r>
              <a:rPr lang="es-ES" sz="2000" dirty="0"/>
              <a:t>en capas intermedias de la red, </a:t>
            </a:r>
            <a:r>
              <a:rPr lang="es-ES" sz="2000" dirty="0" err="1" smtClean="0"/>
              <a:t>spara</a:t>
            </a:r>
            <a:r>
              <a:rPr lang="es-ES" sz="2000" dirty="0" smtClean="0"/>
              <a:t> </a:t>
            </a:r>
            <a:r>
              <a:rPr lang="es-ES" sz="2000" dirty="0"/>
              <a:t>observar qué partes del espacio de características están siendo activadas más fuertemente. Esto puede proporcionar cierta intuición sobre las representaciones aprendidas.</a:t>
            </a:r>
          </a:p>
          <a:p>
            <a:pPr marL="285750" indent="-285750">
              <a:buFont typeface="Arial" panose="020B0604020202020204" pitchFamily="34" charset="0"/>
              <a:buChar char="•"/>
            </a:pPr>
            <a:r>
              <a:rPr lang="es-ES" sz="2000" b="1" dirty="0"/>
              <a:t>Análisis de Importancia de </a:t>
            </a:r>
            <a:r>
              <a:rPr lang="es-ES" sz="2000" b="1" dirty="0" smtClean="0"/>
              <a:t>Características: </a:t>
            </a:r>
            <a:r>
              <a:rPr lang="es-ES" sz="2000" dirty="0" smtClean="0"/>
              <a:t>se </a:t>
            </a:r>
            <a:r>
              <a:rPr lang="es-ES" sz="2000" dirty="0"/>
              <a:t>pueden utilizar técnicas de análisis de sensibilidad para evaluar cómo cambiar una característica afecta a la salida del modelo.</a:t>
            </a:r>
          </a:p>
          <a:p>
            <a:pPr marL="285750" indent="-285750">
              <a:buFont typeface="Arial" panose="020B0604020202020204" pitchFamily="34" charset="0"/>
              <a:buChar char="•"/>
            </a:pPr>
            <a:r>
              <a:rPr lang="es-ES" sz="2000" b="1" dirty="0"/>
              <a:t>Capas de Atención (en el caso de modelos basados en atención</a:t>
            </a:r>
            <a:r>
              <a:rPr lang="es-ES" sz="2000" b="1" dirty="0" smtClean="0"/>
              <a:t>):</a:t>
            </a:r>
            <a:r>
              <a:rPr lang="es-ES" sz="2000" dirty="0"/>
              <a:t> </a:t>
            </a:r>
            <a:r>
              <a:rPr lang="es-ES" sz="2000" dirty="0" smtClean="0"/>
              <a:t>en </a:t>
            </a:r>
            <a:r>
              <a:rPr lang="es-ES" sz="2000" dirty="0"/>
              <a:t>modelos como los Transformers, las capas de atención pueden indicar qué partes de la entrada reciben más atención durante el proceso de atención, proporcionando cierta </a:t>
            </a:r>
            <a:r>
              <a:rPr lang="es-ES" sz="2000" dirty="0" err="1"/>
              <a:t>interpretabilidad</a:t>
            </a:r>
            <a:r>
              <a:rPr lang="es-ES" sz="2000" dirty="0"/>
              <a:t>.</a:t>
            </a:r>
          </a:p>
          <a:p>
            <a:pPr marL="285750" indent="-285750">
              <a:buFont typeface="Arial" panose="020B0604020202020204" pitchFamily="34" charset="0"/>
              <a:buChar char="•"/>
            </a:pPr>
            <a:r>
              <a:rPr lang="es-ES" sz="2000" b="1" dirty="0"/>
              <a:t>Estudio de Conexiones </a:t>
            </a:r>
            <a:r>
              <a:rPr lang="es-ES" sz="2000" b="1" dirty="0" smtClean="0"/>
              <a:t>Ponderadas:</a:t>
            </a:r>
            <a:r>
              <a:rPr lang="es-ES" sz="2000" dirty="0"/>
              <a:t> </a:t>
            </a:r>
            <a:r>
              <a:rPr lang="es-ES" sz="2000" dirty="0" smtClean="0"/>
              <a:t>al </a:t>
            </a:r>
            <a:r>
              <a:rPr lang="es-ES" sz="2000" dirty="0"/>
              <a:t>analizar las conexiones más fuertes o más débiles en las capas intermedias y de salida, se puede obtener información sobre qué conexiones tienen un mayor impacto en la salida del modelo.</a:t>
            </a:r>
          </a:p>
          <a:p>
            <a:pPr marL="12700" algn="just">
              <a:lnSpc>
                <a:spcPct val="100000"/>
              </a:lnSpc>
              <a:spcBef>
                <a:spcPts val="95"/>
              </a:spcBef>
            </a:pPr>
            <a:endParaRPr sz="2000" dirty="0">
              <a:latin typeface="+mj-lt"/>
              <a:cs typeface="Times New Roman"/>
            </a:endParaRPr>
          </a:p>
        </p:txBody>
      </p:sp>
      <p:sp>
        <p:nvSpPr>
          <p:cNvPr id="3" name="object 2"/>
          <p:cNvSpPr txBox="1">
            <a:spLocks/>
          </p:cNvSpPr>
          <p:nvPr/>
        </p:nvSpPr>
        <p:spPr>
          <a:xfrm>
            <a:off x="546100" y="472509"/>
            <a:ext cx="9220200" cy="874598"/>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latin typeface="+mj-lt"/>
              </a:rPr>
              <a:t>Selección de variables en NN </a:t>
            </a:r>
            <a:r>
              <a:rPr lang="es-ES" sz="2800" b="1" dirty="0">
                <a:latin typeface="+mj-lt"/>
              </a:rPr>
              <a:t>¿Es posible interpretar los pesos de una red neuronal?</a:t>
            </a:r>
            <a:endParaRPr lang="es-ES" sz="2600" kern="0" dirty="0">
              <a:latin typeface="+mj-lt"/>
            </a:endParaRPr>
          </a:p>
        </p:txBody>
      </p:sp>
    </p:spTree>
    <p:extLst>
      <p:ext uri="{BB962C8B-B14F-4D97-AF65-F5344CB8AC3E}">
        <p14:creationId xmlns:p14="http://schemas.microsoft.com/office/powerpoint/2010/main" val="364249014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p:cNvSpPr>
          <p:nvPr/>
        </p:nvSpPr>
        <p:spPr>
          <a:xfrm>
            <a:off x="546100" y="472509"/>
            <a:ext cx="9220200" cy="443711"/>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latin typeface="+mj-lt"/>
              </a:rPr>
              <a:t>Selección de variables en NN </a:t>
            </a:r>
            <a:r>
              <a:rPr lang="es-ES" sz="2800" b="1" dirty="0">
                <a:latin typeface="+mj-lt"/>
              </a:rPr>
              <a:t>¿Es posible </a:t>
            </a:r>
            <a:r>
              <a:rPr lang="es-ES" sz="2800" b="1" dirty="0" smtClean="0">
                <a:latin typeface="+mj-lt"/>
              </a:rPr>
              <a:t>medir la importancia?</a:t>
            </a:r>
            <a:endParaRPr lang="es-ES" sz="2600" kern="0" dirty="0">
              <a:latin typeface="+mj-lt"/>
            </a:endParaRPr>
          </a:p>
        </p:txBody>
      </p:sp>
      <p:sp>
        <p:nvSpPr>
          <p:cNvPr id="4" name="Rectángulo 3"/>
          <p:cNvSpPr/>
          <p:nvPr/>
        </p:nvSpPr>
        <p:spPr>
          <a:xfrm>
            <a:off x="698500" y="916220"/>
            <a:ext cx="9613900" cy="5909310"/>
          </a:xfrm>
          <a:prstGeom prst="rect">
            <a:avLst/>
          </a:prstGeom>
        </p:spPr>
        <p:txBody>
          <a:bodyPr wrap="square">
            <a:spAutoFit/>
          </a:bodyPr>
          <a:lstStyle/>
          <a:p>
            <a:pPr algn="just"/>
            <a:r>
              <a:rPr lang="es-ES" dirty="0">
                <a:latin typeface="+mj-lt"/>
              </a:rPr>
              <a:t/>
            </a:r>
            <a:br>
              <a:rPr lang="es-ES" dirty="0">
                <a:latin typeface="+mj-lt"/>
              </a:rPr>
            </a:br>
            <a:r>
              <a:rPr lang="es-ES" dirty="0" smtClean="0">
                <a:latin typeface="+mj-lt"/>
              </a:rPr>
              <a:t>Se puede aplicar </a:t>
            </a:r>
            <a:r>
              <a:rPr lang="es-ES" dirty="0">
                <a:latin typeface="+mj-lt"/>
              </a:rPr>
              <a:t>e</a:t>
            </a:r>
            <a:r>
              <a:rPr lang="es-ES" dirty="0" smtClean="0">
                <a:latin typeface="+mj-lt"/>
              </a:rPr>
              <a:t>l </a:t>
            </a:r>
            <a:r>
              <a:rPr lang="es-ES" dirty="0">
                <a:latin typeface="+mj-lt"/>
              </a:rPr>
              <a:t>método de </a:t>
            </a:r>
            <a:r>
              <a:rPr lang="es-ES" b="1" dirty="0" err="1" smtClean="0">
                <a:latin typeface="+mj-lt"/>
              </a:rPr>
              <a:t>Olden-Garson</a:t>
            </a:r>
            <a:r>
              <a:rPr lang="es-ES" dirty="0" smtClean="0">
                <a:latin typeface="+mj-lt"/>
              </a:rPr>
              <a:t> que mide </a:t>
            </a:r>
            <a:r>
              <a:rPr lang="es-ES" dirty="0">
                <a:latin typeface="+mj-lt"/>
              </a:rPr>
              <a:t>la importancia relativa de las variables en modelos de regresión, incluidos los modelos basados en redes neuronales. Este método se centra en la contribución de cada variable en la predicción de la variable de respuesta</a:t>
            </a:r>
            <a:r>
              <a:rPr lang="es-ES" dirty="0" smtClean="0">
                <a:latin typeface="+mj-lt"/>
              </a:rPr>
              <a:t>. Fases:</a:t>
            </a:r>
          </a:p>
          <a:p>
            <a:pPr algn="just"/>
            <a:r>
              <a:rPr lang="es-ES" b="1" dirty="0">
                <a:latin typeface="+mj-lt"/>
              </a:rPr>
              <a:t>Entrenamiento del Modelo:</a:t>
            </a:r>
            <a:endParaRPr lang="es-ES" dirty="0">
              <a:latin typeface="+mj-lt"/>
            </a:endParaRPr>
          </a:p>
          <a:p>
            <a:pPr algn="just"/>
            <a:r>
              <a:rPr lang="es-ES" b="1" dirty="0" smtClean="0">
                <a:latin typeface="+mj-lt"/>
              </a:rPr>
              <a:t>Cálculo </a:t>
            </a:r>
            <a:r>
              <a:rPr lang="es-ES" b="1" dirty="0">
                <a:latin typeface="+mj-lt"/>
              </a:rPr>
              <a:t>de la Contribución </a:t>
            </a:r>
            <a:r>
              <a:rPr lang="es-ES" b="1" dirty="0" smtClean="0">
                <a:latin typeface="+mj-lt"/>
              </a:rPr>
              <a:t>Relativa:</a:t>
            </a:r>
            <a:r>
              <a:rPr lang="es-ES" dirty="0">
                <a:latin typeface="+mj-lt"/>
              </a:rPr>
              <a:t> </a:t>
            </a:r>
            <a:r>
              <a:rPr lang="es-ES" dirty="0" smtClean="0">
                <a:latin typeface="+mj-lt"/>
              </a:rPr>
              <a:t>para </a:t>
            </a:r>
            <a:r>
              <a:rPr lang="es-ES" dirty="0">
                <a:latin typeface="+mj-lt"/>
              </a:rPr>
              <a:t>cada variable independiente </a:t>
            </a:r>
            <a:r>
              <a:rPr lang="es-ES" dirty="0" smtClean="0">
                <a:latin typeface="+mj-lt"/>
              </a:rPr>
              <a:t>input, </a:t>
            </a:r>
            <a:r>
              <a:rPr lang="es-ES" dirty="0">
                <a:latin typeface="+mj-lt"/>
              </a:rPr>
              <a:t>se evalúa la contribución relativa al error cuadrático medio (ECM) o algún otro criterio de rendimiento del </a:t>
            </a:r>
            <a:r>
              <a:rPr lang="es-ES" dirty="0" smtClean="0">
                <a:latin typeface="+mj-lt"/>
              </a:rPr>
              <a:t>modelo. Se </a:t>
            </a:r>
            <a:r>
              <a:rPr lang="es-ES" dirty="0">
                <a:latin typeface="+mj-lt"/>
              </a:rPr>
              <a:t>evalúa cómo cambiaría el rendimiento del modelo si se eliminara cada variable independiente.</a:t>
            </a:r>
          </a:p>
          <a:p>
            <a:pPr algn="just"/>
            <a:r>
              <a:rPr lang="es-ES" b="1" dirty="0" smtClean="0">
                <a:latin typeface="+mj-lt"/>
              </a:rPr>
              <a:t>Normalización:</a:t>
            </a:r>
            <a:r>
              <a:rPr lang="es-ES" dirty="0">
                <a:latin typeface="+mj-lt"/>
              </a:rPr>
              <a:t> </a:t>
            </a:r>
            <a:r>
              <a:rPr lang="es-ES" dirty="0" smtClean="0">
                <a:latin typeface="+mj-lt"/>
              </a:rPr>
              <a:t>se </a:t>
            </a:r>
            <a:r>
              <a:rPr lang="es-ES" dirty="0">
                <a:latin typeface="+mj-lt"/>
              </a:rPr>
              <a:t>normalizan las contribuciones para que sumen 100% o 1. Esto proporciona una medida relativa de la importancia de cada variable.</a:t>
            </a:r>
          </a:p>
          <a:p>
            <a:pPr algn="just"/>
            <a:r>
              <a:rPr lang="es-ES" b="1" dirty="0" smtClean="0">
                <a:latin typeface="+mj-lt"/>
              </a:rPr>
              <a:t>Interpretación:</a:t>
            </a:r>
            <a:r>
              <a:rPr lang="es-ES" dirty="0">
                <a:latin typeface="+mj-lt"/>
              </a:rPr>
              <a:t> </a:t>
            </a:r>
            <a:r>
              <a:rPr lang="es-ES" dirty="0" smtClean="0">
                <a:latin typeface="+mj-lt"/>
              </a:rPr>
              <a:t>las </a:t>
            </a:r>
            <a:r>
              <a:rPr lang="es-ES" dirty="0">
                <a:latin typeface="+mj-lt"/>
              </a:rPr>
              <a:t>contribuciones normalizadas indican la importancia relativa de cada variable en términos de su contribución al rendimiento del modelo</a:t>
            </a:r>
            <a:r>
              <a:rPr lang="es-ES" dirty="0" smtClean="0">
                <a:latin typeface="+mj-lt"/>
              </a:rPr>
              <a:t>.</a:t>
            </a:r>
          </a:p>
          <a:p>
            <a:pPr algn="just"/>
            <a:endParaRPr lang="es-ES" dirty="0">
              <a:latin typeface="+mj-lt"/>
            </a:endParaRPr>
          </a:p>
          <a:p>
            <a:pPr algn="just"/>
            <a:r>
              <a:rPr lang="es-ES" b="1" dirty="0" smtClean="0">
                <a:solidFill>
                  <a:srgbClr val="FF0000"/>
                </a:solidFill>
                <a:latin typeface="+mj-lt"/>
              </a:rPr>
              <a:t>OJO: </a:t>
            </a:r>
            <a:r>
              <a:rPr lang="es-ES" dirty="0" smtClean="0">
                <a:latin typeface="+mj-lt"/>
              </a:rPr>
              <a:t>la </a:t>
            </a:r>
            <a:r>
              <a:rPr lang="es-ES" dirty="0">
                <a:latin typeface="+mj-lt"/>
              </a:rPr>
              <a:t>interpretación de la importancia de variables con el método de </a:t>
            </a:r>
            <a:r>
              <a:rPr lang="es-ES" dirty="0" err="1">
                <a:latin typeface="+mj-lt"/>
              </a:rPr>
              <a:t>Olden-Garson</a:t>
            </a:r>
            <a:r>
              <a:rPr lang="es-ES" dirty="0">
                <a:latin typeface="+mj-lt"/>
              </a:rPr>
              <a:t> puede depender de la </a:t>
            </a:r>
            <a:r>
              <a:rPr lang="es-ES" b="1" dirty="0">
                <a:latin typeface="+mj-lt"/>
              </a:rPr>
              <a:t>métrica </a:t>
            </a:r>
            <a:r>
              <a:rPr lang="es-ES" dirty="0">
                <a:latin typeface="+mj-lt"/>
              </a:rPr>
              <a:t>de rendimiento utilizada y de la naturaleza específica del problema.</a:t>
            </a:r>
          </a:p>
          <a:p>
            <a:pPr algn="just"/>
            <a:r>
              <a:rPr lang="es-ES" dirty="0">
                <a:latin typeface="+mj-lt"/>
              </a:rPr>
              <a:t>Aunque este método proporciona una perspectiva sobre la importancia relativa de las variables, </a:t>
            </a:r>
            <a:r>
              <a:rPr lang="es-ES" b="1" u="sng" dirty="0">
                <a:solidFill>
                  <a:srgbClr val="FF0000"/>
                </a:solidFill>
                <a:latin typeface="+mj-lt"/>
              </a:rPr>
              <a:t>no siempre revela la naturaleza de las relaciones no lineales o interacciones en el modelo</a:t>
            </a:r>
            <a:r>
              <a:rPr lang="es-ES" dirty="0">
                <a:latin typeface="+mj-lt"/>
              </a:rPr>
              <a:t>. L</a:t>
            </a:r>
            <a:r>
              <a:rPr lang="es-ES" dirty="0" smtClean="0">
                <a:latin typeface="+mj-lt"/>
              </a:rPr>
              <a:t>a </a:t>
            </a:r>
            <a:r>
              <a:rPr lang="es-ES" dirty="0">
                <a:latin typeface="+mj-lt"/>
              </a:rPr>
              <a:t>interpretación de la importancia puede ser </a:t>
            </a:r>
            <a:r>
              <a:rPr lang="es-ES" b="1" dirty="0">
                <a:latin typeface="+mj-lt"/>
              </a:rPr>
              <a:t>limitada en modelos de redes neuronales profundas </a:t>
            </a:r>
            <a:r>
              <a:rPr lang="es-ES" dirty="0">
                <a:latin typeface="+mj-lt"/>
              </a:rPr>
              <a:t>debido a la complejidad inherente de estas arquitecturas. </a:t>
            </a:r>
          </a:p>
          <a:p>
            <a:pPr algn="just"/>
            <a:endParaRPr lang="es-ES" dirty="0"/>
          </a:p>
        </p:txBody>
      </p:sp>
    </p:spTree>
    <p:extLst>
      <p:ext uri="{BB962C8B-B14F-4D97-AF65-F5344CB8AC3E}">
        <p14:creationId xmlns:p14="http://schemas.microsoft.com/office/powerpoint/2010/main" val="3850517149"/>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4700" y="644397"/>
            <a:ext cx="9245218" cy="6230552"/>
          </a:xfrm>
          <a:prstGeom prst="rect">
            <a:avLst/>
          </a:prstGeom>
        </p:spPr>
        <p:txBody>
          <a:bodyPr vert="horz" wrap="square" lIns="0" tIns="36830" rIns="0" bIns="0" rtlCol="0">
            <a:spAutoFit/>
          </a:bodyPr>
          <a:lstStyle/>
          <a:p>
            <a:pPr marL="12700" marR="5080" algn="just">
              <a:lnSpc>
                <a:spcPts val="2760"/>
              </a:lnSpc>
              <a:spcBef>
                <a:spcPts val="290"/>
              </a:spcBef>
            </a:pPr>
            <a:r>
              <a:rPr sz="2400" dirty="0">
                <a:latin typeface="+mj-lt"/>
                <a:cs typeface="Times New Roman"/>
              </a:rPr>
              <a:t>El orden de </a:t>
            </a:r>
            <a:r>
              <a:rPr sz="2400" spc="-5" dirty="0">
                <a:latin typeface="+mj-lt"/>
                <a:cs typeface="Times New Roman"/>
              </a:rPr>
              <a:t>importancia </a:t>
            </a:r>
            <a:r>
              <a:rPr sz="2400" dirty="0">
                <a:latin typeface="+mj-lt"/>
                <a:cs typeface="Times New Roman"/>
              </a:rPr>
              <a:t>planteado </a:t>
            </a:r>
            <a:r>
              <a:rPr sz="2400" dirty="0" err="1">
                <a:latin typeface="+mj-lt"/>
                <a:cs typeface="Times New Roman"/>
              </a:rPr>
              <a:t>por</a:t>
            </a:r>
            <a:r>
              <a:rPr sz="2400" dirty="0">
                <a:latin typeface="+mj-lt"/>
                <a:cs typeface="Times New Roman"/>
              </a:rPr>
              <a:t> </a:t>
            </a:r>
            <a:r>
              <a:rPr lang="es-ES" sz="2400" dirty="0" smtClean="0">
                <a:latin typeface="+mj-lt"/>
                <a:cs typeface="Times New Roman"/>
              </a:rPr>
              <a:t>los</a:t>
            </a:r>
            <a:r>
              <a:rPr sz="2400" dirty="0" smtClean="0">
                <a:latin typeface="+mj-lt"/>
                <a:cs typeface="Times New Roman"/>
              </a:rPr>
              <a:t> </a:t>
            </a:r>
            <a:r>
              <a:rPr sz="2400" spc="-5" dirty="0" err="1">
                <a:latin typeface="+mj-lt"/>
                <a:cs typeface="Times New Roman"/>
              </a:rPr>
              <a:t>métodos</a:t>
            </a:r>
            <a:r>
              <a:rPr sz="2400" spc="-5" dirty="0">
                <a:latin typeface="+mj-lt"/>
                <a:cs typeface="Times New Roman"/>
              </a:rPr>
              <a:t> </a:t>
            </a:r>
            <a:r>
              <a:rPr lang="es-ES" sz="2400" spc="-5" dirty="0" smtClean="0">
                <a:latin typeface="+mj-lt"/>
                <a:cs typeface="Times New Roman"/>
              </a:rPr>
              <a:t>de selección </a:t>
            </a:r>
            <a:r>
              <a:rPr sz="2400" dirty="0" err="1" smtClean="0">
                <a:latin typeface="+mj-lt"/>
                <a:cs typeface="Times New Roman"/>
              </a:rPr>
              <a:t>puede</a:t>
            </a:r>
            <a:r>
              <a:rPr sz="2400" dirty="0" smtClean="0">
                <a:latin typeface="+mj-lt"/>
                <a:cs typeface="Times New Roman"/>
              </a:rPr>
              <a:t> </a:t>
            </a:r>
            <a:r>
              <a:rPr sz="2400" dirty="0">
                <a:latin typeface="+mj-lt"/>
                <a:cs typeface="Times New Roman"/>
              </a:rPr>
              <a:t>ayudar, </a:t>
            </a:r>
            <a:r>
              <a:rPr sz="2400" dirty="0" err="1">
                <a:latin typeface="+mj-lt"/>
                <a:cs typeface="Times New Roman"/>
              </a:rPr>
              <a:t>pero</a:t>
            </a:r>
            <a:r>
              <a:rPr sz="2400" dirty="0">
                <a:latin typeface="+mj-lt"/>
                <a:cs typeface="Times New Roman"/>
              </a:rPr>
              <a:t> </a:t>
            </a:r>
            <a:r>
              <a:rPr sz="2400" dirty="0" smtClean="0">
                <a:latin typeface="+mj-lt"/>
                <a:cs typeface="Times New Roman"/>
              </a:rPr>
              <a:t>a</a:t>
            </a:r>
            <a:r>
              <a:rPr lang="es-ES" sz="2400" dirty="0" smtClean="0">
                <a:latin typeface="+mj-lt"/>
                <a:cs typeface="Times New Roman"/>
              </a:rPr>
              <a:t> </a:t>
            </a:r>
            <a:r>
              <a:rPr sz="2400" spc="-5" dirty="0" smtClean="0">
                <a:latin typeface="+mj-lt"/>
                <a:cs typeface="Times New Roman"/>
              </a:rPr>
              <a:t>menudo</a:t>
            </a:r>
            <a:r>
              <a:rPr sz="2400" dirty="0" smtClean="0">
                <a:latin typeface="+mj-lt"/>
                <a:cs typeface="Times New Roman"/>
              </a:rPr>
              <a:t> </a:t>
            </a:r>
            <a:r>
              <a:rPr sz="2400" dirty="0">
                <a:latin typeface="+mj-lt"/>
                <a:cs typeface="Times New Roman"/>
              </a:rPr>
              <a:t>el</a:t>
            </a:r>
            <a:r>
              <a:rPr sz="2400" spc="10" dirty="0">
                <a:latin typeface="+mj-lt"/>
                <a:cs typeface="Times New Roman"/>
              </a:rPr>
              <a:t> </a:t>
            </a:r>
            <a:r>
              <a:rPr sz="2400" spc="-5" dirty="0">
                <a:latin typeface="+mj-lt"/>
                <a:cs typeface="Times New Roman"/>
              </a:rPr>
              <a:t>problema</a:t>
            </a:r>
            <a:r>
              <a:rPr sz="2400" spc="5" dirty="0">
                <a:latin typeface="+mj-lt"/>
                <a:cs typeface="Times New Roman"/>
              </a:rPr>
              <a:t> </a:t>
            </a:r>
            <a:r>
              <a:rPr sz="2400" dirty="0">
                <a:latin typeface="+mj-lt"/>
                <a:cs typeface="Times New Roman"/>
              </a:rPr>
              <a:t>es</a:t>
            </a:r>
            <a:r>
              <a:rPr sz="2400" spc="10" dirty="0">
                <a:latin typeface="+mj-lt"/>
                <a:cs typeface="Times New Roman"/>
              </a:rPr>
              <a:t> </a:t>
            </a:r>
            <a:r>
              <a:rPr sz="2400" spc="-5" dirty="0">
                <a:latin typeface="+mj-lt"/>
                <a:cs typeface="Times New Roman"/>
              </a:rPr>
              <a:t>complejo</a:t>
            </a:r>
            <a:r>
              <a:rPr sz="2400" dirty="0">
                <a:latin typeface="+mj-lt"/>
                <a:cs typeface="Times New Roman"/>
              </a:rPr>
              <a:t> con </a:t>
            </a:r>
            <a:r>
              <a:rPr sz="2400" spc="-5" dirty="0" err="1">
                <a:latin typeface="+mj-lt"/>
                <a:cs typeface="Times New Roman"/>
              </a:rPr>
              <a:t>muchas</a:t>
            </a:r>
            <a:r>
              <a:rPr sz="2400" spc="5" dirty="0">
                <a:latin typeface="+mj-lt"/>
                <a:cs typeface="Times New Roman"/>
              </a:rPr>
              <a:t> </a:t>
            </a:r>
            <a:r>
              <a:rPr sz="2400" dirty="0" err="1" smtClean="0">
                <a:latin typeface="+mj-lt"/>
                <a:cs typeface="Times New Roman"/>
              </a:rPr>
              <a:t>posibilidades</a:t>
            </a:r>
            <a:r>
              <a:rPr lang="es-ES" sz="2400" dirty="0">
                <a:latin typeface="+mj-lt"/>
                <a:cs typeface="Times New Roman"/>
              </a:rPr>
              <a:t> </a:t>
            </a:r>
            <a:r>
              <a:rPr sz="2400" dirty="0" smtClean="0">
                <a:latin typeface="+mj-lt"/>
                <a:cs typeface="Times New Roman"/>
              </a:rPr>
              <a:t>y</a:t>
            </a:r>
            <a:r>
              <a:rPr lang="es-ES" sz="2400" spc="-5" dirty="0" smtClean="0">
                <a:latin typeface="+mj-lt"/>
                <a:cs typeface="Times New Roman"/>
              </a:rPr>
              <a:t> </a:t>
            </a:r>
            <a:r>
              <a:rPr sz="2400" spc="-5" dirty="0" err="1" smtClean="0">
                <a:latin typeface="+mj-lt"/>
                <a:cs typeface="Times New Roman"/>
              </a:rPr>
              <a:t>necesario</a:t>
            </a:r>
            <a:r>
              <a:rPr lang="es-ES" sz="2400" spc="-5" dirty="0" smtClean="0">
                <a:latin typeface="+mj-lt"/>
                <a:cs typeface="Times New Roman"/>
              </a:rPr>
              <a:t> </a:t>
            </a:r>
            <a:r>
              <a:rPr sz="2400" spc="-5" dirty="0" err="1" smtClean="0">
                <a:latin typeface="+mj-lt"/>
                <a:cs typeface="Times New Roman"/>
              </a:rPr>
              <a:t>utilizar</a:t>
            </a:r>
            <a:r>
              <a:rPr lang="es-ES" sz="2400" spc="-585" dirty="0" smtClean="0">
                <a:latin typeface="+mj-lt"/>
                <a:cs typeface="Times New Roman"/>
              </a:rPr>
              <a:t> </a:t>
            </a:r>
            <a:r>
              <a:rPr sz="2400" dirty="0" err="1" smtClean="0">
                <a:latin typeface="+mj-lt"/>
                <a:cs typeface="Times New Roman"/>
              </a:rPr>
              <a:t>varios</a:t>
            </a:r>
            <a:r>
              <a:rPr sz="2400" dirty="0" smtClean="0">
                <a:latin typeface="+mj-lt"/>
                <a:cs typeface="Times New Roman"/>
              </a:rPr>
              <a:t> </a:t>
            </a:r>
            <a:r>
              <a:rPr sz="2400" spc="-5" dirty="0">
                <a:latin typeface="+mj-lt"/>
                <a:cs typeface="Times New Roman"/>
              </a:rPr>
              <a:t>métodos</a:t>
            </a:r>
            <a:r>
              <a:rPr sz="2400" dirty="0">
                <a:latin typeface="+mj-lt"/>
                <a:cs typeface="Times New Roman"/>
              </a:rPr>
              <a:t> de </a:t>
            </a:r>
            <a:r>
              <a:rPr sz="2400" spc="-5" dirty="0">
                <a:latin typeface="+mj-lt"/>
                <a:cs typeface="Times New Roman"/>
              </a:rPr>
              <a:t>manera</a:t>
            </a:r>
            <a:r>
              <a:rPr sz="2400" dirty="0">
                <a:latin typeface="+mj-lt"/>
                <a:cs typeface="Times New Roman"/>
              </a:rPr>
              <a:t> </a:t>
            </a:r>
            <a:r>
              <a:rPr sz="2400" spc="-5" dirty="0">
                <a:latin typeface="+mj-lt"/>
                <a:cs typeface="Times New Roman"/>
              </a:rPr>
              <a:t>alternativa/paralela.</a:t>
            </a:r>
            <a:endParaRPr sz="2400" dirty="0">
              <a:latin typeface="+mj-lt"/>
              <a:cs typeface="Times New Roman"/>
            </a:endParaRPr>
          </a:p>
          <a:p>
            <a:pPr algn="just">
              <a:lnSpc>
                <a:spcPct val="100000"/>
              </a:lnSpc>
            </a:pPr>
            <a:endParaRPr sz="2400" dirty="0">
              <a:latin typeface="+mj-lt"/>
              <a:cs typeface="Times New Roman"/>
            </a:endParaRPr>
          </a:p>
          <a:p>
            <a:pPr marL="12700" marR="65405" algn="just">
              <a:lnSpc>
                <a:spcPts val="2760"/>
              </a:lnSpc>
            </a:pPr>
            <a:r>
              <a:rPr sz="2400" dirty="0">
                <a:latin typeface="+mj-lt"/>
                <a:cs typeface="Times New Roman"/>
              </a:rPr>
              <a:t>En </a:t>
            </a:r>
            <a:r>
              <a:rPr sz="2400" spc="-5" dirty="0">
                <a:latin typeface="+mj-lt"/>
                <a:cs typeface="Times New Roman"/>
              </a:rPr>
              <a:t>términos</a:t>
            </a:r>
            <a:r>
              <a:rPr sz="2400" spc="5" dirty="0">
                <a:latin typeface="+mj-lt"/>
                <a:cs typeface="Times New Roman"/>
              </a:rPr>
              <a:t> </a:t>
            </a:r>
            <a:r>
              <a:rPr sz="2400" dirty="0">
                <a:latin typeface="+mj-lt"/>
                <a:cs typeface="Times New Roman"/>
              </a:rPr>
              <a:t>generales</a:t>
            </a:r>
            <a:r>
              <a:rPr sz="2400" spc="10" dirty="0">
                <a:latin typeface="+mj-lt"/>
                <a:cs typeface="Times New Roman"/>
              </a:rPr>
              <a:t> </a:t>
            </a:r>
            <a:r>
              <a:rPr sz="2400" dirty="0">
                <a:latin typeface="+mj-lt"/>
                <a:cs typeface="Times New Roman"/>
              </a:rPr>
              <a:t>la</a:t>
            </a:r>
            <a:r>
              <a:rPr sz="2400" spc="-15" dirty="0">
                <a:latin typeface="+mj-lt"/>
                <a:cs typeface="Times New Roman"/>
              </a:rPr>
              <a:t> </a:t>
            </a:r>
            <a:r>
              <a:rPr sz="2400" spc="-5" dirty="0">
                <a:latin typeface="+mj-lt"/>
                <a:cs typeface="Times New Roman"/>
              </a:rPr>
              <a:t>selección</a:t>
            </a:r>
            <a:r>
              <a:rPr sz="2400" spc="5" dirty="0">
                <a:latin typeface="+mj-lt"/>
                <a:cs typeface="Times New Roman"/>
              </a:rPr>
              <a:t> </a:t>
            </a:r>
            <a:r>
              <a:rPr sz="2400" dirty="0">
                <a:latin typeface="+mj-lt"/>
                <a:cs typeface="Times New Roman"/>
              </a:rPr>
              <a:t>de</a:t>
            </a:r>
            <a:r>
              <a:rPr sz="2400" spc="-5" dirty="0">
                <a:latin typeface="+mj-lt"/>
                <a:cs typeface="Times New Roman"/>
              </a:rPr>
              <a:t> variables</a:t>
            </a:r>
            <a:r>
              <a:rPr sz="2400" dirty="0">
                <a:latin typeface="+mj-lt"/>
                <a:cs typeface="Times New Roman"/>
              </a:rPr>
              <a:t> </a:t>
            </a:r>
            <a:r>
              <a:rPr sz="2400" spc="-5" dirty="0">
                <a:latin typeface="+mj-lt"/>
                <a:cs typeface="Times New Roman"/>
              </a:rPr>
              <a:t>(salvo</a:t>
            </a:r>
            <a:r>
              <a:rPr sz="2400" spc="5" dirty="0">
                <a:latin typeface="+mj-lt"/>
                <a:cs typeface="Times New Roman"/>
              </a:rPr>
              <a:t> </a:t>
            </a:r>
            <a:r>
              <a:rPr sz="2400" spc="-5" dirty="0">
                <a:latin typeface="+mj-lt"/>
                <a:cs typeface="Times New Roman"/>
              </a:rPr>
              <a:t>quizás</a:t>
            </a:r>
            <a:r>
              <a:rPr sz="2400" spc="-10" dirty="0">
                <a:latin typeface="+mj-lt"/>
                <a:cs typeface="Times New Roman"/>
              </a:rPr>
              <a:t> </a:t>
            </a:r>
            <a:r>
              <a:rPr sz="2400" dirty="0">
                <a:latin typeface="+mj-lt"/>
                <a:cs typeface="Times New Roman"/>
              </a:rPr>
              <a:t>unas pocas) debe </a:t>
            </a:r>
            <a:r>
              <a:rPr sz="2400" spc="-585" dirty="0">
                <a:latin typeface="+mj-lt"/>
                <a:cs typeface="Times New Roman"/>
              </a:rPr>
              <a:t> </a:t>
            </a:r>
            <a:r>
              <a:rPr sz="2400" dirty="0">
                <a:latin typeface="+mj-lt"/>
                <a:cs typeface="Times New Roman"/>
              </a:rPr>
              <a:t>realizarse:</a:t>
            </a:r>
          </a:p>
          <a:p>
            <a:pPr algn="just">
              <a:lnSpc>
                <a:spcPct val="100000"/>
              </a:lnSpc>
              <a:spcBef>
                <a:spcPts val="50"/>
              </a:spcBef>
            </a:pPr>
            <a:endParaRPr sz="2350" dirty="0">
              <a:latin typeface="+mj-lt"/>
              <a:cs typeface="Times New Roman"/>
            </a:endParaRPr>
          </a:p>
          <a:p>
            <a:pPr marL="469900" indent="-228600" algn="just">
              <a:lnSpc>
                <a:spcPct val="100000"/>
              </a:lnSpc>
              <a:buFont typeface="Symbol"/>
              <a:buChar char=""/>
              <a:tabLst>
                <a:tab pos="469900" algn="l"/>
              </a:tabLst>
            </a:pPr>
            <a:r>
              <a:rPr sz="2400" b="1" spc="-5" dirty="0">
                <a:latin typeface="+mj-lt"/>
                <a:cs typeface="Times New Roman"/>
              </a:rPr>
              <a:t>previamente</a:t>
            </a:r>
            <a:r>
              <a:rPr sz="2400" spc="-20" dirty="0">
                <a:latin typeface="+mj-lt"/>
                <a:cs typeface="Times New Roman"/>
              </a:rPr>
              <a:t> </a:t>
            </a:r>
            <a:r>
              <a:rPr sz="2400" dirty="0">
                <a:latin typeface="+mj-lt"/>
                <a:cs typeface="Times New Roman"/>
              </a:rPr>
              <a:t>a</a:t>
            </a:r>
            <a:r>
              <a:rPr sz="2400" spc="-5" dirty="0">
                <a:latin typeface="+mj-lt"/>
                <a:cs typeface="Times New Roman"/>
              </a:rPr>
              <a:t> </a:t>
            </a:r>
            <a:r>
              <a:rPr sz="2400" dirty="0">
                <a:latin typeface="+mj-lt"/>
                <a:cs typeface="Times New Roman"/>
              </a:rPr>
              <a:t>la</a:t>
            </a:r>
            <a:r>
              <a:rPr sz="2400" spc="-10" dirty="0">
                <a:latin typeface="+mj-lt"/>
                <a:cs typeface="Times New Roman"/>
              </a:rPr>
              <a:t> </a:t>
            </a:r>
            <a:r>
              <a:rPr sz="2400" b="1" dirty="0">
                <a:latin typeface="+mj-lt"/>
                <a:cs typeface="Times New Roman"/>
              </a:rPr>
              <a:t>construcción</a:t>
            </a:r>
            <a:r>
              <a:rPr sz="2400" spc="-5" dirty="0">
                <a:latin typeface="+mj-lt"/>
                <a:cs typeface="Times New Roman"/>
              </a:rPr>
              <a:t> </a:t>
            </a:r>
            <a:r>
              <a:rPr sz="2400" dirty="0">
                <a:latin typeface="+mj-lt"/>
                <a:cs typeface="Times New Roman"/>
              </a:rPr>
              <a:t>de</a:t>
            </a:r>
            <a:r>
              <a:rPr sz="2400" spc="-10" dirty="0">
                <a:latin typeface="+mj-lt"/>
                <a:cs typeface="Times New Roman"/>
              </a:rPr>
              <a:t> </a:t>
            </a:r>
            <a:r>
              <a:rPr sz="2400" dirty="0">
                <a:latin typeface="+mj-lt"/>
                <a:cs typeface="Times New Roman"/>
              </a:rPr>
              <a:t>la</a:t>
            </a:r>
            <a:r>
              <a:rPr sz="2400" spc="-5" dirty="0">
                <a:latin typeface="+mj-lt"/>
                <a:cs typeface="Times New Roman"/>
              </a:rPr>
              <a:t> </a:t>
            </a:r>
            <a:r>
              <a:rPr sz="2400" dirty="0">
                <a:latin typeface="+mj-lt"/>
                <a:cs typeface="Times New Roman"/>
              </a:rPr>
              <a:t>red</a:t>
            </a:r>
          </a:p>
          <a:p>
            <a:pPr algn="just">
              <a:lnSpc>
                <a:spcPct val="100000"/>
              </a:lnSpc>
              <a:spcBef>
                <a:spcPts val="10"/>
              </a:spcBef>
              <a:buClr>
                <a:srgbClr val="333399"/>
              </a:buClr>
              <a:buFont typeface="Symbol"/>
              <a:buChar char=""/>
            </a:pPr>
            <a:endParaRPr sz="2600" dirty="0">
              <a:latin typeface="+mj-lt"/>
              <a:cs typeface="Times New Roman"/>
            </a:endParaRPr>
          </a:p>
          <a:p>
            <a:pPr marL="469265" marR="292100" indent="-228600" algn="just">
              <a:lnSpc>
                <a:spcPts val="2760"/>
              </a:lnSpc>
              <a:buFont typeface="Symbol"/>
              <a:buChar char=""/>
              <a:tabLst>
                <a:tab pos="469900" algn="l"/>
              </a:tabLst>
            </a:pPr>
            <a:r>
              <a:rPr sz="2400" dirty="0">
                <a:latin typeface="+mj-lt"/>
                <a:cs typeface="Times New Roman"/>
              </a:rPr>
              <a:t>debe fijarse en este </a:t>
            </a:r>
            <a:r>
              <a:rPr sz="2400" spc="-5" dirty="0">
                <a:latin typeface="+mj-lt"/>
                <a:cs typeface="Times New Roman"/>
              </a:rPr>
              <a:t>estudio </a:t>
            </a:r>
            <a:r>
              <a:rPr sz="2400" dirty="0">
                <a:latin typeface="+mj-lt"/>
                <a:cs typeface="Times New Roman"/>
              </a:rPr>
              <a:t>un rango de conjuntos de variables que vaya </a:t>
            </a:r>
            <a:r>
              <a:rPr sz="2400" spc="5" dirty="0">
                <a:latin typeface="+mj-lt"/>
                <a:cs typeface="Times New Roman"/>
              </a:rPr>
              <a:t> </a:t>
            </a:r>
            <a:r>
              <a:rPr sz="2400" dirty="0">
                <a:latin typeface="+mj-lt"/>
                <a:cs typeface="Times New Roman"/>
              </a:rPr>
              <a:t>desde el </a:t>
            </a:r>
            <a:r>
              <a:rPr sz="2400" spc="-5" dirty="0">
                <a:latin typeface="+mj-lt"/>
                <a:cs typeface="Times New Roman"/>
              </a:rPr>
              <a:t>conjunto</a:t>
            </a:r>
            <a:r>
              <a:rPr sz="2400" dirty="0">
                <a:latin typeface="+mj-lt"/>
                <a:cs typeface="Times New Roman"/>
              </a:rPr>
              <a:t> </a:t>
            </a:r>
            <a:r>
              <a:rPr sz="2400" spc="-10" dirty="0">
                <a:latin typeface="+mj-lt"/>
                <a:cs typeface="Times New Roman"/>
              </a:rPr>
              <a:t>más</a:t>
            </a:r>
            <a:r>
              <a:rPr sz="2400" dirty="0">
                <a:latin typeface="+mj-lt"/>
                <a:cs typeface="Times New Roman"/>
              </a:rPr>
              <a:t> conservador y</a:t>
            </a:r>
            <a:r>
              <a:rPr sz="2400" spc="-15" dirty="0">
                <a:latin typeface="+mj-lt"/>
                <a:cs typeface="Times New Roman"/>
              </a:rPr>
              <a:t> </a:t>
            </a:r>
            <a:r>
              <a:rPr sz="2400" dirty="0">
                <a:latin typeface="+mj-lt"/>
                <a:cs typeface="Times New Roman"/>
              </a:rPr>
              <a:t>robusto pero</a:t>
            </a:r>
            <a:r>
              <a:rPr sz="2400" spc="-15" dirty="0">
                <a:latin typeface="+mj-lt"/>
                <a:cs typeface="Times New Roman"/>
              </a:rPr>
              <a:t> </a:t>
            </a:r>
            <a:r>
              <a:rPr sz="2400" dirty="0">
                <a:latin typeface="+mj-lt"/>
                <a:cs typeface="Times New Roman"/>
              </a:rPr>
              <a:t>con </a:t>
            </a:r>
            <a:r>
              <a:rPr sz="2400" spc="-5" dirty="0">
                <a:latin typeface="+mj-lt"/>
                <a:cs typeface="Times New Roman"/>
              </a:rPr>
              <a:t>menos</a:t>
            </a:r>
            <a:r>
              <a:rPr sz="2400" spc="15" dirty="0">
                <a:latin typeface="+mj-lt"/>
                <a:cs typeface="Times New Roman"/>
              </a:rPr>
              <a:t> </a:t>
            </a:r>
            <a:r>
              <a:rPr sz="2400" spc="-5" dirty="0" err="1">
                <a:latin typeface="+mj-lt"/>
                <a:cs typeface="Times New Roman"/>
              </a:rPr>
              <a:t>capacidad</a:t>
            </a:r>
            <a:r>
              <a:rPr sz="2400" spc="-5" dirty="0">
                <a:latin typeface="+mj-lt"/>
                <a:cs typeface="Times New Roman"/>
              </a:rPr>
              <a:t> </a:t>
            </a:r>
            <a:r>
              <a:rPr sz="2400" dirty="0">
                <a:latin typeface="+mj-lt"/>
                <a:cs typeface="Times New Roman"/>
              </a:rPr>
              <a:t> </a:t>
            </a:r>
            <a:r>
              <a:rPr sz="2400" dirty="0" err="1" smtClean="0">
                <a:latin typeface="+mj-lt"/>
                <a:cs typeface="Times New Roman"/>
              </a:rPr>
              <a:t>predictiva</a:t>
            </a:r>
            <a:r>
              <a:rPr lang="es-ES" sz="2400" dirty="0" smtClean="0">
                <a:latin typeface="+mj-lt"/>
                <a:cs typeface="Times New Roman"/>
              </a:rPr>
              <a:t> (</a:t>
            </a:r>
            <a:r>
              <a:rPr lang="es-ES" sz="2400" b="1" dirty="0" smtClean="0">
                <a:latin typeface="+mj-lt"/>
                <a:cs typeface="Times New Roman"/>
              </a:rPr>
              <a:t>modelo sencillo</a:t>
            </a:r>
            <a:r>
              <a:rPr lang="es-ES" sz="2400" dirty="0" smtClean="0">
                <a:latin typeface="+mj-lt"/>
                <a:cs typeface="Times New Roman"/>
              </a:rPr>
              <a:t>)</a:t>
            </a:r>
            <a:r>
              <a:rPr sz="2400" dirty="0" smtClean="0">
                <a:latin typeface="+mj-lt"/>
                <a:cs typeface="Times New Roman"/>
              </a:rPr>
              <a:t>, </a:t>
            </a:r>
            <a:r>
              <a:rPr sz="2400" spc="-5" dirty="0">
                <a:latin typeface="+mj-lt"/>
                <a:cs typeface="Times New Roman"/>
              </a:rPr>
              <a:t>al </a:t>
            </a:r>
            <a:r>
              <a:rPr sz="2400" dirty="0">
                <a:latin typeface="+mj-lt"/>
                <a:cs typeface="Times New Roman"/>
              </a:rPr>
              <a:t>conjunto que esté en el </a:t>
            </a:r>
            <a:r>
              <a:rPr sz="2400" spc="-5" dirty="0">
                <a:latin typeface="+mj-lt"/>
                <a:cs typeface="Times New Roman"/>
              </a:rPr>
              <a:t>límite </a:t>
            </a:r>
            <a:r>
              <a:rPr sz="2400" dirty="0">
                <a:latin typeface="+mj-lt"/>
                <a:cs typeface="Times New Roman"/>
              </a:rPr>
              <a:t>del </a:t>
            </a:r>
            <a:r>
              <a:rPr sz="2400" spc="-5" dirty="0">
                <a:latin typeface="+mj-lt"/>
                <a:cs typeface="Times New Roman"/>
              </a:rPr>
              <a:t>sobreajuste </a:t>
            </a:r>
            <a:r>
              <a:rPr sz="2400" dirty="0">
                <a:latin typeface="+mj-lt"/>
                <a:cs typeface="Times New Roman"/>
              </a:rPr>
              <a:t>o un poco </a:t>
            </a:r>
            <a:r>
              <a:rPr sz="2400" dirty="0" err="1">
                <a:latin typeface="+mj-lt"/>
                <a:cs typeface="Times New Roman"/>
              </a:rPr>
              <a:t>por</a:t>
            </a:r>
            <a:r>
              <a:rPr sz="2400" dirty="0">
                <a:latin typeface="+mj-lt"/>
                <a:cs typeface="Times New Roman"/>
              </a:rPr>
              <a:t> </a:t>
            </a:r>
            <a:r>
              <a:rPr sz="2400" spc="-585" dirty="0">
                <a:latin typeface="+mj-lt"/>
                <a:cs typeface="Times New Roman"/>
              </a:rPr>
              <a:t> </a:t>
            </a:r>
            <a:r>
              <a:rPr sz="2400" spc="-5" dirty="0" err="1" smtClean="0">
                <a:latin typeface="+mj-lt"/>
                <a:cs typeface="Times New Roman"/>
              </a:rPr>
              <a:t>encima</a:t>
            </a:r>
            <a:r>
              <a:rPr lang="es-ES" sz="2400" spc="-5" dirty="0" smtClean="0">
                <a:latin typeface="+mj-lt"/>
                <a:cs typeface="Times New Roman"/>
              </a:rPr>
              <a:t> (</a:t>
            </a:r>
            <a:r>
              <a:rPr lang="es-ES" sz="2400" b="1" spc="-5" dirty="0" smtClean="0">
                <a:latin typeface="+mj-lt"/>
                <a:cs typeface="Times New Roman"/>
              </a:rPr>
              <a:t>modelo complejo</a:t>
            </a:r>
            <a:r>
              <a:rPr lang="es-ES" sz="2400" spc="-5" dirty="0" smtClean="0">
                <a:latin typeface="+mj-lt"/>
                <a:cs typeface="Times New Roman"/>
              </a:rPr>
              <a:t>)</a:t>
            </a:r>
            <a:endParaRPr sz="2400" dirty="0">
              <a:latin typeface="+mj-lt"/>
              <a:cs typeface="Times New Roman"/>
            </a:endParaRPr>
          </a:p>
          <a:p>
            <a:pPr algn="just">
              <a:lnSpc>
                <a:spcPct val="100000"/>
              </a:lnSpc>
              <a:spcBef>
                <a:spcPts val="5"/>
              </a:spcBef>
              <a:buClr>
                <a:srgbClr val="333399"/>
              </a:buClr>
              <a:buFont typeface="Symbol"/>
              <a:buChar char=""/>
            </a:pPr>
            <a:endParaRPr sz="2500" dirty="0">
              <a:latin typeface="+mj-lt"/>
              <a:cs typeface="Times New Roman"/>
            </a:endParaRPr>
          </a:p>
          <a:p>
            <a:pPr marL="469265" marR="501015" indent="-228600" algn="just">
              <a:lnSpc>
                <a:spcPct val="95600"/>
              </a:lnSpc>
              <a:buFont typeface="Symbol"/>
              <a:buChar char=""/>
              <a:tabLst>
                <a:tab pos="469900" algn="l"/>
              </a:tabLst>
            </a:pPr>
            <a:r>
              <a:rPr sz="2400" spc="-5" dirty="0">
                <a:latin typeface="+mj-lt"/>
                <a:cs typeface="Times New Roman"/>
              </a:rPr>
              <a:t>sobre </a:t>
            </a:r>
            <a:r>
              <a:rPr sz="2400" dirty="0">
                <a:latin typeface="+mj-lt"/>
                <a:cs typeface="Times New Roman"/>
              </a:rPr>
              <a:t>esa </a:t>
            </a:r>
            <a:r>
              <a:rPr sz="2400" spc="-5" dirty="0">
                <a:latin typeface="+mj-lt"/>
                <a:cs typeface="Times New Roman"/>
              </a:rPr>
              <a:t>lista </a:t>
            </a:r>
            <a:r>
              <a:rPr sz="2400" dirty="0">
                <a:latin typeface="+mj-lt"/>
                <a:cs typeface="Times New Roman"/>
              </a:rPr>
              <a:t>de </a:t>
            </a:r>
            <a:r>
              <a:rPr sz="2400" spc="-5" dirty="0">
                <a:latin typeface="+mj-lt"/>
                <a:cs typeface="Times New Roman"/>
              </a:rPr>
              <a:t>conjuntos </a:t>
            </a:r>
            <a:r>
              <a:rPr sz="2400" dirty="0">
                <a:latin typeface="+mj-lt"/>
                <a:cs typeface="Times New Roman"/>
              </a:rPr>
              <a:t>se </a:t>
            </a:r>
            <a:r>
              <a:rPr sz="2400" spc="-5" dirty="0">
                <a:latin typeface="+mj-lt"/>
                <a:cs typeface="Times New Roman"/>
              </a:rPr>
              <a:t>trabajará </a:t>
            </a:r>
            <a:r>
              <a:rPr sz="2400" dirty="0">
                <a:latin typeface="+mj-lt"/>
                <a:cs typeface="Times New Roman"/>
              </a:rPr>
              <a:t>con la red, </a:t>
            </a:r>
            <a:r>
              <a:rPr sz="2400" spc="-5" dirty="0">
                <a:latin typeface="+mj-lt"/>
                <a:cs typeface="Times New Roman"/>
              </a:rPr>
              <a:t>siempre </a:t>
            </a:r>
            <a:r>
              <a:rPr sz="2400" dirty="0">
                <a:latin typeface="+mj-lt"/>
                <a:cs typeface="Times New Roman"/>
              </a:rPr>
              <a:t>teniendo en </a:t>
            </a:r>
            <a:r>
              <a:rPr sz="2400" spc="-585" dirty="0">
                <a:latin typeface="+mj-lt"/>
                <a:cs typeface="Times New Roman"/>
              </a:rPr>
              <a:t> </a:t>
            </a:r>
            <a:r>
              <a:rPr sz="2400" dirty="0">
                <a:latin typeface="+mj-lt"/>
                <a:cs typeface="Times New Roman"/>
              </a:rPr>
              <a:t>cuenta el </a:t>
            </a:r>
            <a:r>
              <a:rPr sz="2400" spc="-5" dirty="0">
                <a:latin typeface="+mj-lt"/>
                <a:cs typeface="Times New Roman"/>
              </a:rPr>
              <a:t>estudio </a:t>
            </a:r>
            <a:r>
              <a:rPr sz="2400" dirty="0">
                <a:latin typeface="+mj-lt"/>
                <a:cs typeface="Times New Roman"/>
              </a:rPr>
              <a:t>de la </a:t>
            </a:r>
            <a:r>
              <a:rPr sz="2400" spc="-5" dirty="0">
                <a:latin typeface="+mj-lt"/>
                <a:cs typeface="Times New Roman"/>
              </a:rPr>
              <a:t>capacidad predictiva </a:t>
            </a:r>
            <a:r>
              <a:rPr sz="2400" dirty="0">
                <a:latin typeface="+mj-lt"/>
                <a:cs typeface="Times New Roman"/>
              </a:rPr>
              <a:t>y </a:t>
            </a:r>
            <a:r>
              <a:rPr sz="2400" spc="-5" dirty="0">
                <a:latin typeface="+mj-lt"/>
                <a:cs typeface="Times New Roman"/>
              </a:rPr>
              <a:t>sobreajuste, </a:t>
            </a:r>
            <a:r>
              <a:rPr sz="2400" dirty="0">
                <a:latin typeface="+mj-lt"/>
                <a:cs typeface="Times New Roman"/>
              </a:rPr>
              <a:t>con datos de </a:t>
            </a:r>
            <a:r>
              <a:rPr sz="2400" spc="-585" dirty="0">
                <a:latin typeface="+mj-lt"/>
                <a:cs typeface="Times New Roman"/>
              </a:rPr>
              <a:t> </a:t>
            </a:r>
            <a:r>
              <a:rPr sz="2400" b="1" spc="-5" dirty="0">
                <a:latin typeface="+mj-lt"/>
                <a:cs typeface="Times New Roman"/>
              </a:rPr>
              <a:t>validación-test</a:t>
            </a:r>
            <a:r>
              <a:rPr sz="2400" spc="-5" dirty="0">
                <a:latin typeface="+mj-lt"/>
                <a:cs typeface="Times New Roman"/>
              </a:rPr>
              <a:t>.</a:t>
            </a:r>
            <a:endParaRPr sz="2400" dirty="0">
              <a:latin typeface="+mj-lt"/>
              <a:cs typeface="Times New Roman"/>
            </a:endParaRPr>
          </a:p>
        </p:txBody>
      </p:sp>
    </p:spTree>
    <p:extLst>
      <p:ext uri="{BB962C8B-B14F-4D97-AF65-F5344CB8AC3E}">
        <p14:creationId xmlns:p14="http://schemas.microsoft.com/office/powerpoint/2010/main" val="56815817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9900" y="428625"/>
            <a:ext cx="11353800" cy="5227072"/>
          </a:xfrm>
          <a:prstGeom prst="rect">
            <a:avLst/>
          </a:prstGeom>
        </p:spPr>
        <p:txBody>
          <a:bodyPr vert="horz" wrap="square" lIns="0" tIns="12700" rIns="0" bIns="0" rtlCol="0">
            <a:spAutoFit/>
          </a:bodyPr>
          <a:lstStyle/>
          <a:p>
            <a:pPr marL="1940560">
              <a:lnSpc>
                <a:spcPct val="100000"/>
              </a:lnSpc>
              <a:spcBef>
                <a:spcPts val="100"/>
              </a:spcBef>
            </a:pPr>
            <a:r>
              <a:rPr sz="2400" b="1" spc="-5" dirty="0">
                <a:solidFill>
                  <a:srgbClr val="333399"/>
                </a:solidFill>
                <a:latin typeface="+mj-lt"/>
                <a:cs typeface="Times New Roman"/>
              </a:rPr>
              <a:t>Algunas ideas</a:t>
            </a:r>
            <a:r>
              <a:rPr sz="2400" b="1" dirty="0">
                <a:solidFill>
                  <a:srgbClr val="333399"/>
                </a:solidFill>
                <a:latin typeface="+mj-lt"/>
                <a:cs typeface="Times New Roman"/>
              </a:rPr>
              <a:t> </a:t>
            </a:r>
            <a:r>
              <a:rPr sz="2400" b="1" spc="-5" dirty="0">
                <a:solidFill>
                  <a:srgbClr val="333399"/>
                </a:solidFill>
                <a:latin typeface="+mj-lt"/>
                <a:cs typeface="Times New Roman"/>
              </a:rPr>
              <a:t>para </a:t>
            </a:r>
            <a:r>
              <a:rPr sz="2400" b="1" dirty="0">
                <a:solidFill>
                  <a:srgbClr val="333399"/>
                </a:solidFill>
                <a:latin typeface="+mj-lt"/>
                <a:cs typeface="Times New Roman"/>
              </a:rPr>
              <a:t>la</a:t>
            </a:r>
            <a:r>
              <a:rPr sz="2400" b="1" spc="5" dirty="0">
                <a:solidFill>
                  <a:srgbClr val="333399"/>
                </a:solidFill>
                <a:latin typeface="+mj-lt"/>
                <a:cs typeface="Times New Roman"/>
              </a:rPr>
              <a:t> </a:t>
            </a:r>
            <a:r>
              <a:rPr sz="2400" b="1" spc="-5" dirty="0">
                <a:solidFill>
                  <a:srgbClr val="333399"/>
                </a:solidFill>
                <a:latin typeface="+mj-lt"/>
                <a:cs typeface="Times New Roman"/>
              </a:rPr>
              <a:t>preselección</a:t>
            </a:r>
            <a:r>
              <a:rPr sz="2400" b="1" spc="-10" dirty="0">
                <a:solidFill>
                  <a:srgbClr val="333399"/>
                </a:solidFill>
                <a:latin typeface="+mj-lt"/>
                <a:cs typeface="Times New Roman"/>
              </a:rPr>
              <a:t> </a:t>
            </a:r>
            <a:r>
              <a:rPr sz="2400" b="1" spc="-5" dirty="0">
                <a:solidFill>
                  <a:srgbClr val="333399"/>
                </a:solidFill>
                <a:latin typeface="+mj-lt"/>
                <a:cs typeface="Times New Roman"/>
              </a:rPr>
              <a:t>de</a:t>
            </a:r>
            <a:r>
              <a:rPr sz="2400" b="1" dirty="0">
                <a:solidFill>
                  <a:srgbClr val="333399"/>
                </a:solidFill>
                <a:latin typeface="+mj-lt"/>
                <a:cs typeface="Times New Roman"/>
              </a:rPr>
              <a:t> </a:t>
            </a:r>
            <a:r>
              <a:rPr sz="2400" b="1" spc="-5" dirty="0" smtClean="0">
                <a:solidFill>
                  <a:srgbClr val="333399"/>
                </a:solidFill>
                <a:latin typeface="+mj-lt"/>
                <a:cs typeface="Times New Roman"/>
              </a:rPr>
              <a:t>variables</a:t>
            </a:r>
            <a:endParaRPr lang="es-ES" sz="2400" b="1" spc="-5" dirty="0" smtClean="0">
              <a:solidFill>
                <a:srgbClr val="333399"/>
              </a:solidFill>
              <a:latin typeface="+mj-lt"/>
              <a:cs typeface="Times New Roman"/>
            </a:endParaRPr>
          </a:p>
          <a:p>
            <a:pPr marL="1940560">
              <a:lnSpc>
                <a:spcPct val="100000"/>
              </a:lnSpc>
              <a:spcBef>
                <a:spcPts val="100"/>
              </a:spcBef>
            </a:pPr>
            <a:endParaRPr lang="es-ES" sz="2400" b="1" spc="-5" dirty="0">
              <a:solidFill>
                <a:srgbClr val="333399"/>
              </a:solidFill>
              <a:latin typeface="+mj-lt"/>
              <a:cs typeface="Times New Roman"/>
            </a:endParaRPr>
          </a:p>
          <a:p>
            <a:pPr marL="1940560">
              <a:lnSpc>
                <a:spcPct val="100000"/>
              </a:lnSpc>
              <a:spcBef>
                <a:spcPts val="100"/>
              </a:spcBef>
            </a:pPr>
            <a:endParaRPr sz="2400" dirty="0">
              <a:latin typeface="+mj-lt"/>
              <a:cs typeface="Times New Roman"/>
            </a:endParaRPr>
          </a:p>
          <a:p>
            <a:pPr marL="355600" marR="3082290" indent="-342900" algn="just">
              <a:spcBef>
                <a:spcPts val="600"/>
              </a:spcBef>
              <a:buFont typeface="Arial" panose="020B0604020202020204" pitchFamily="34" charset="0"/>
              <a:buChar char="•"/>
            </a:pPr>
            <a:r>
              <a:rPr sz="2400" b="1" spc="-5" dirty="0">
                <a:latin typeface="+mj-lt"/>
                <a:cs typeface="Times New Roman"/>
              </a:rPr>
              <a:t>Selección sesgada </a:t>
            </a:r>
            <a:r>
              <a:rPr sz="2400" b="1" dirty="0">
                <a:latin typeface="+mj-lt"/>
                <a:cs typeface="Times New Roman"/>
              </a:rPr>
              <a:t>por el </a:t>
            </a:r>
            <a:r>
              <a:rPr sz="2400" b="1" spc="-5" dirty="0" err="1">
                <a:latin typeface="+mj-lt"/>
                <a:cs typeface="Times New Roman"/>
              </a:rPr>
              <a:t>planteamiento</a:t>
            </a:r>
            <a:r>
              <a:rPr sz="2400" b="1" spc="-5" dirty="0">
                <a:latin typeface="+mj-lt"/>
                <a:cs typeface="Times New Roman"/>
              </a:rPr>
              <a:t> </a:t>
            </a:r>
            <a:r>
              <a:rPr sz="2400" b="1" dirty="0" smtClean="0">
                <a:latin typeface="+mj-lt"/>
                <a:cs typeface="Times New Roman"/>
              </a:rPr>
              <a:t>lineal</a:t>
            </a:r>
            <a:r>
              <a:rPr lang="es-ES" sz="2400" b="1" dirty="0" smtClean="0">
                <a:latin typeface="+mj-lt"/>
                <a:cs typeface="Times New Roman"/>
              </a:rPr>
              <a:t>:</a:t>
            </a:r>
            <a:r>
              <a:rPr lang="es-ES" sz="2400" b="1" dirty="0">
                <a:latin typeface="+mj-lt"/>
                <a:cs typeface="Times New Roman"/>
              </a:rPr>
              <a:t> </a:t>
            </a:r>
            <a:r>
              <a:rPr lang="es-ES" sz="2400" spc="-5" dirty="0">
                <a:latin typeface="+mj-lt"/>
                <a:cs typeface="Times New Roman"/>
              </a:rPr>
              <a:t>m</a:t>
            </a:r>
            <a:r>
              <a:rPr sz="2400" spc="-5" dirty="0" err="1" smtClean="0">
                <a:latin typeface="+mj-lt"/>
                <a:cs typeface="Times New Roman"/>
              </a:rPr>
              <a:t>étodos</a:t>
            </a:r>
            <a:r>
              <a:rPr sz="2400" spc="-5" dirty="0" smtClean="0">
                <a:latin typeface="+mj-lt"/>
                <a:cs typeface="Times New Roman"/>
              </a:rPr>
              <a:t> </a:t>
            </a:r>
            <a:r>
              <a:rPr sz="2400" spc="-5" dirty="0">
                <a:latin typeface="+mj-lt"/>
                <a:cs typeface="Times New Roman"/>
              </a:rPr>
              <a:t>Stepwise,</a:t>
            </a:r>
            <a:r>
              <a:rPr sz="2400" dirty="0">
                <a:latin typeface="+mj-lt"/>
                <a:cs typeface="Times New Roman"/>
              </a:rPr>
              <a:t> Backward y</a:t>
            </a:r>
            <a:r>
              <a:rPr sz="2400" spc="-5" dirty="0">
                <a:latin typeface="+mj-lt"/>
                <a:cs typeface="Times New Roman"/>
              </a:rPr>
              <a:t> Forward </a:t>
            </a:r>
            <a:r>
              <a:rPr sz="2400" dirty="0" err="1">
                <a:latin typeface="+mj-lt"/>
                <a:cs typeface="Times New Roman"/>
              </a:rPr>
              <a:t>en</a:t>
            </a:r>
            <a:r>
              <a:rPr sz="2400" dirty="0">
                <a:latin typeface="+mj-lt"/>
                <a:cs typeface="Times New Roman"/>
              </a:rPr>
              <a:t> </a:t>
            </a:r>
            <a:r>
              <a:rPr sz="2400" spc="-5" dirty="0" err="1" smtClean="0">
                <a:latin typeface="+mj-lt"/>
                <a:cs typeface="Times New Roman"/>
              </a:rPr>
              <a:t>regresión</a:t>
            </a:r>
            <a:endParaRPr lang="es-ES" sz="2400" spc="-5" dirty="0" smtClean="0">
              <a:latin typeface="+mj-lt"/>
              <a:cs typeface="Times New Roman"/>
            </a:endParaRPr>
          </a:p>
          <a:p>
            <a:pPr marL="12700" marR="3082290" algn="just">
              <a:spcBef>
                <a:spcPts val="600"/>
              </a:spcBef>
            </a:pPr>
            <a:endParaRPr sz="2400" dirty="0">
              <a:latin typeface="+mj-lt"/>
              <a:cs typeface="Times New Roman"/>
            </a:endParaRPr>
          </a:p>
          <a:p>
            <a:pPr marL="355600" marR="3380104" indent="-342900" algn="just">
              <a:spcBef>
                <a:spcPts val="5"/>
              </a:spcBef>
              <a:buFont typeface="Arial" panose="020B0604020202020204" pitchFamily="34" charset="0"/>
              <a:buChar char="•"/>
            </a:pPr>
            <a:r>
              <a:rPr sz="2400" b="1" spc="-5" dirty="0">
                <a:latin typeface="+mj-lt"/>
                <a:cs typeface="Times New Roman"/>
              </a:rPr>
              <a:t>Selección </a:t>
            </a:r>
            <a:r>
              <a:rPr sz="2400" b="1" dirty="0">
                <a:latin typeface="+mj-lt"/>
                <a:cs typeface="Times New Roman"/>
              </a:rPr>
              <a:t>no </a:t>
            </a:r>
            <a:r>
              <a:rPr sz="2400" b="1" spc="-5" dirty="0">
                <a:latin typeface="+mj-lt"/>
                <a:cs typeface="Times New Roman"/>
              </a:rPr>
              <a:t>sesgada</a:t>
            </a:r>
            <a:r>
              <a:rPr sz="2400" b="1" dirty="0">
                <a:latin typeface="+mj-lt"/>
                <a:cs typeface="Times New Roman"/>
              </a:rPr>
              <a:t> </a:t>
            </a:r>
            <a:r>
              <a:rPr sz="2400" b="1" spc="-5" dirty="0">
                <a:latin typeface="+mj-lt"/>
                <a:cs typeface="Times New Roman"/>
              </a:rPr>
              <a:t>por</a:t>
            </a:r>
            <a:r>
              <a:rPr sz="2400" b="1" dirty="0">
                <a:latin typeface="+mj-lt"/>
                <a:cs typeface="Times New Roman"/>
              </a:rPr>
              <a:t> el </a:t>
            </a:r>
            <a:r>
              <a:rPr sz="2400" b="1" spc="-5" dirty="0" err="1" smtClean="0">
                <a:latin typeface="+mj-lt"/>
                <a:cs typeface="Times New Roman"/>
              </a:rPr>
              <a:t>planteamiento</a:t>
            </a:r>
            <a:r>
              <a:rPr lang="es-ES" sz="2400" b="1" spc="-5" dirty="0">
                <a:latin typeface="+mj-lt"/>
                <a:cs typeface="Times New Roman"/>
              </a:rPr>
              <a:t> </a:t>
            </a:r>
            <a:r>
              <a:rPr sz="2400" b="1" dirty="0" smtClean="0">
                <a:latin typeface="+mj-lt"/>
                <a:cs typeface="Times New Roman"/>
              </a:rPr>
              <a:t>lineal</a:t>
            </a:r>
            <a:r>
              <a:rPr lang="es-ES" sz="2400" b="1" dirty="0" smtClean="0">
                <a:latin typeface="+mj-lt"/>
                <a:cs typeface="Times New Roman"/>
              </a:rPr>
              <a:t>:</a:t>
            </a:r>
            <a:r>
              <a:rPr sz="2400" b="1" dirty="0" smtClean="0">
                <a:latin typeface="+mj-lt"/>
                <a:cs typeface="Times New Roman"/>
              </a:rPr>
              <a:t> </a:t>
            </a:r>
            <a:r>
              <a:rPr lang="es-ES" sz="2400" spc="-5" dirty="0">
                <a:latin typeface="+mj-lt"/>
                <a:cs typeface="Times New Roman"/>
              </a:rPr>
              <a:t>v</a:t>
            </a:r>
            <a:r>
              <a:rPr sz="2400" spc="-5" dirty="0" err="1" smtClean="0">
                <a:latin typeface="+mj-lt"/>
                <a:cs typeface="Times New Roman"/>
              </a:rPr>
              <a:t>ariable</a:t>
            </a:r>
            <a:r>
              <a:rPr lang="es-ES" sz="2400" spc="-5" dirty="0" smtClean="0">
                <a:latin typeface="+mj-lt"/>
                <a:cs typeface="Times New Roman"/>
              </a:rPr>
              <a:t>s</a:t>
            </a:r>
            <a:r>
              <a:rPr sz="2400" spc="-10" dirty="0" smtClean="0">
                <a:latin typeface="+mj-lt"/>
                <a:cs typeface="Times New Roman"/>
              </a:rPr>
              <a:t> </a:t>
            </a:r>
            <a:r>
              <a:rPr sz="2400" dirty="0" err="1" smtClean="0">
                <a:latin typeface="+mj-lt"/>
                <a:cs typeface="Times New Roman"/>
              </a:rPr>
              <a:t>importan</a:t>
            </a:r>
            <a:r>
              <a:rPr lang="es-ES" sz="2400" dirty="0" err="1" smtClean="0">
                <a:latin typeface="+mj-lt"/>
                <a:cs typeface="Times New Roman"/>
              </a:rPr>
              <a:t>tes</a:t>
            </a:r>
            <a:r>
              <a:rPr sz="2400" spc="-10" dirty="0" smtClean="0">
                <a:latin typeface="+mj-lt"/>
                <a:cs typeface="Times New Roman"/>
              </a:rPr>
              <a:t> </a:t>
            </a:r>
            <a:r>
              <a:rPr sz="2400" dirty="0">
                <a:latin typeface="+mj-lt"/>
                <a:cs typeface="Times New Roman"/>
              </a:rPr>
              <a:t>en</a:t>
            </a:r>
            <a:r>
              <a:rPr sz="2400" spc="-10" dirty="0">
                <a:latin typeface="+mj-lt"/>
                <a:cs typeface="Times New Roman"/>
              </a:rPr>
              <a:t> </a:t>
            </a:r>
            <a:r>
              <a:rPr sz="2400" dirty="0">
                <a:latin typeface="+mj-lt"/>
                <a:cs typeface="Times New Roman"/>
              </a:rPr>
              <a:t>árboles</a:t>
            </a:r>
            <a:r>
              <a:rPr sz="2400" spc="-5" dirty="0">
                <a:latin typeface="+mj-lt"/>
                <a:cs typeface="Times New Roman"/>
              </a:rPr>
              <a:t> </a:t>
            </a:r>
            <a:r>
              <a:rPr sz="2400" dirty="0">
                <a:latin typeface="+mj-lt"/>
                <a:cs typeface="Times New Roman"/>
              </a:rPr>
              <a:t>y </a:t>
            </a:r>
            <a:r>
              <a:rPr sz="2400" spc="-5" dirty="0" smtClean="0">
                <a:latin typeface="+mj-lt"/>
                <a:cs typeface="Times New Roman"/>
              </a:rPr>
              <a:t>gradient</a:t>
            </a:r>
            <a:r>
              <a:rPr lang="es-ES" sz="2400" dirty="0">
                <a:latin typeface="+mj-lt"/>
                <a:cs typeface="Times New Roman"/>
              </a:rPr>
              <a:t> </a:t>
            </a:r>
            <a:r>
              <a:rPr sz="2400" spc="-5" dirty="0" smtClean="0">
                <a:latin typeface="+mj-lt"/>
                <a:cs typeface="Times New Roman"/>
              </a:rPr>
              <a:t>boosting</a:t>
            </a:r>
            <a:r>
              <a:rPr lang="es-ES" sz="2400" spc="-5" dirty="0" smtClean="0">
                <a:latin typeface="+mj-lt"/>
                <a:cs typeface="Times New Roman"/>
              </a:rPr>
              <a:t>:</a:t>
            </a:r>
            <a:endParaRPr sz="2400" dirty="0">
              <a:latin typeface="+mj-lt"/>
              <a:cs typeface="Times New Roman"/>
            </a:endParaRPr>
          </a:p>
          <a:p>
            <a:pPr marL="355600" indent="-342900" algn="just">
              <a:lnSpc>
                <a:spcPct val="100000"/>
              </a:lnSpc>
              <a:spcBef>
                <a:spcPts val="2014"/>
              </a:spcBef>
              <a:buFont typeface="Arial" panose="020B0604020202020204" pitchFamily="34" charset="0"/>
              <a:buChar char="•"/>
            </a:pPr>
            <a:r>
              <a:rPr sz="2400" b="1" spc="-5" dirty="0">
                <a:latin typeface="+mj-lt"/>
                <a:cs typeface="Times New Roman"/>
              </a:rPr>
              <a:t>Agrupaciones</a:t>
            </a:r>
            <a:r>
              <a:rPr sz="2400" b="1" spc="-15" dirty="0">
                <a:latin typeface="+mj-lt"/>
                <a:cs typeface="Times New Roman"/>
              </a:rPr>
              <a:t> </a:t>
            </a:r>
            <a:r>
              <a:rPr sz="2400" b="1" dirty="0">
                <a:latin typeface="+mj-lt"/>
                <a:cs typeface="Times New Roman"/>
              </a:rPr>
              <a:t>de</a:t>
            </a:r>
            <a:r>
              <a:rPr sz="2400" b="1" spc="-5" dirty="0">
                <a:latin typeface="+mj-lt"/>
                <a:cs typeface="Times New Roman"/>
              </a:rPr>
              <a:t> </a:t>
            </a:r>
            <a:r>
              <a:rPr sz="2400" b="1" spc="-5" dirty="0" err="1" smtClean="0">
                <a:latin typeface="+mj-lt"/>
                <a:cs typeface="Times New Roman"/>
              </a:rPr>
              <a:t>categorías</a:t>
            </a:r>
            <a:r>
              <a:rPr lang="es-ES" sz="2400" b="1" dirty="0" smtClean="0">
                <a:latin typeface="+mj-lt"/>
                <a:cs typeface="Times New Roman"/>
              </a:rPr>
              <a:t>: </a:t>
            </a:r>
            <a:r>
              <a:rPr lang="es-ES" sz="2400" spc="-5" dirty="0">
                <a:latin typeface="+mj-lt"/>
                <a:cs typeface="Times New Roman"/>
              </a:rPr>
              <a:t>á</a:t>
            </a:r>
            <a:r>
              <a:rPr sz="2400" spc="-5" dirty="0" err="1" smtClean="0">
                <a:latin typeface="+mj-lt"/>
                <a:cs typeface="Times New Roman"/>
              </a:rPr>
              <a:t>rboles</a:t>
            </a:r>
            <a:r>
              <a:rPr sz="2400" spc="-5" dirty="0">
                <a:latin typeface="+mj-lt"/>
                <a:cs typeface="Times New Roman"/>
              </a:rPr>
              <a:t>, otros métodos</a:t>
            </a:r>
            <a:r>
              <a:rPr sz="2400" spc="10" dirty="0">
                <a:latin typeface="+mj-lt"/>
                <a:cs typeface="Times New Roman"/>
              </a:rPr>
              <a:t> </a:t>
            </a:r>
            <a:r>
              <a:rPr sz="2400" dirty="0">
                <a:latin typeface="+mj-lt"/>
                <a:cs typeface="Times New Roman"/>
              </a:rPr>
              <a:t>de</a:t>
            </a:r>
            <a:r>
              <a:rPr sz="2400" spc="-5" dirty="0">
                <a:latin typeface="+mj-lt"/>
                <a:cs typeface="Times New Roman"/>
              </a:rPr>
              <a:t> agrupación</a:t>
            </a:r>
            <a:endParaRPr sz="2400" dirty="0">
              <a:latin typeface="+mj-lt"/>
              <a:cs typeface="Times New Roman"/>
            </a:endParaRPr>
          </a:p>
          <a:p>
            <a:pPr marL="342900" indent="-342900" algn="just">
              <a:lnSpc>
                <a:spcPct val="100000"/>
              </a:lnSpc>
              <a:spcBef>
                <a:spcPts val="15"/>
              </a:spcBef>
              <a:buFont typeface="Arial" panose="020B0604020202020204" pitchFamily="34" charset="0"/>
              <a:buChar char="•"/>
            </a:pPr>
            <a:endParaRPr sz="2450" dirty="0">
              <a:latin typeface="+mj-lt"/>
              <a:cs typeface="Times New Roman"/>
            </a:endParaRPr>
          </a:p>
          <a:p>
            <a:pPr marL="355600" marR="5080" indent="-342900" algn="just">
              <a:lnSpc>
                <a:spcPts val="2760"/>
              </a:lnSpc>
              <a:buFont typeface="Arial" panose="020B0604020202020204" pitchFamily="34" charset="0"/>
              <a:buChar char="•"/>
            </a:pPr>
            <a:r>
              <a:rPr sz="2400" dirty="0">
                <a:latin typeface="+mj-lt"/>
                <a:cs typeface="Times New Roman"/>
              </a:rPr>
              <a:t>A</a:t>
            </a:r>
            <a:r>
              <a:rPr sz="2400" spc="-5" dirty="0">
                <a:latin typeface="+mj-lt"/>
                <a:cs typeface="Times New Roman"/>
              </a:rPr>
              <a:t> </a:t>
            </a:r>
            <a:r>
              <a:rPr sz="2400" dirty="0">
                <a:latin typeface="+mj-lt"/>
                <a:cs typeface="Times New Roman"/>
              </a:rPr>
              <a:t>estos</a:t>
            </a:r>
            <a:r>
              <a:rPr sz="2400" spc="10" dirty="0">
                <a:latin typeface="+mj-lt"/>
                <a:cs typeface="Times New Roman"/>
              </a:rPr>
              <a:t> </a:t>
            </a:r>
            <a:r>
              <a:rPr sz="2400" spc="-5" dirty="0">
                <a:latin typeface="+mj-lt"/>
                <a:cs typeface="Times New Roman"/>
              </a:rPr>
              <a:t>métodos</a:t>
            </a:r>
            <a:r>
              <a:rPr sz="2400" spc="10" dirty="0">
                <a:latin typeface="+mj-lt"/>
                <a:cs typeface="Times New Roman"/>
              </a:rPr>
              <a:t> </a:t>
            </a:r>
            <a:r>
              <a:rPr sz="2400" dirty="0">
                <a:latin typeface="+mj-lt"/>
                <a:cs typeface="Times New Roman"/>
              </a:rPr>
              <a:t>habría que</a:t>
            </a:r>
            <a:r>
              <a:rPr sz="2400" spc="5" dirty="0">
                <a:latin typeface="+mj-lt"/>
                <a:cs typeface="Times New Roman"/>
              </a:rPr>
              <a:t> </a:t>
            </a:r>
            <a:r>
              <a:rPr sz="2400" dirty="0">
                <a:latin typeface="+mj-lt"/>
                <a:cs typeface="Times New Roman"/>
              </a:rPr>
              <a:t>añadir</a:t>
            </a:r>
            <a:r>
              <a:rPr sz="2400" spc="5" dirty="0">
                <a:latin typeface="+mj-lt"/>
                <a:cs typeface="Times New Roman"/>
              </a:rPr>
              <a:t> </a:t>
            </a:r>
            <a:r>
              <a:rPr sz="2400" spc="-5" dirty="0" err="1">
                <a:latin typeface="+mj-lt"/>
                <a:cs typeface="Times New Roman"/>
              </a:rPr>
              <a:t>consideraciones</a:t>
            </a:r>
            <a:r>
              <a:rPr sz="2400" spc="10" dirty="0">
                <a:latin typeface="+mj-lt"/>
                <a:cs typeface="Times New Roman"/>
              </a:rPr>
              <a:t> </a:t>
            </a:r>
            <a:r>
              <a:rPr sz="2400" b="1" spc="-5" dirty="0" err="1" smtClean="0">
                <a:latin typeface="+mj-lt"/>
                <a:cs typeface="Times New Roman"/>
              </a:rPr>
              <a:t>inferenciales</a:t>
            </a:r>
            <a:endParaRPr lang="es-ES" sz="2400" b="1" spc="-5" dirty="0" smtClean="0">
              <a:latin typeface="+mj-lt"/>
              <a:cs typeface="Times New Roman"/>
            </a:endParaRPr>
          </a:p>
          <a:p>
            <a:pPr marL="12700" marR="5080" algn="just">
              <a:lnSpc>
                <a:spcPts val="2760"/>
              </a:lnSpc>
            </a:pPr>
            <a:r>
              <a:rPr sz="2400" spc="5" dirty="0" smtClean="0">
                <a:latin typeface="+mj-lt"/>
                <a:cs typeface="Times New Roman"/>
              </a:rPr>
              <a:t> </a:t>
            </a:r>
            <a:r>
              <a:rPr lang="es-ES" sz="2400" spc="5" dirty="0" smtClean="0">
                <a:latin typeface="+mj-lt"/>
                <a:cs typeface="Times New Roman"/>
              </a:rPr>
              <a:t>    </a:t>
            </a:r>
            <a:r>
              <a:rPr sz="2400" dirty="0" smtClean="0">
                <a:latin typeface="+mj-lt"/>
                <a:cs typeface="Times New Roman"/>
              </a:rPr>
              <a:t>y</a:t>
            </a:r>
            <a:r>
              <a:rPr sz="2400" spc="5" dirty="0" smtClean="0">
                <a:latin typeface="+mj-lt"/>
                <a:cs typeface="Times New Roman"/>
              </a:rPr>
              <a:t> </a:t>
            </a:r>
            <a:r>
              <a:rPr sz="2400" b="1" spc="-5" dirty="0">
                <a:latin typeface="+mj-lt"/>
                <a:cs typeface="Times New Roman"/>
              </a:rPr>
              <a:t>descriptivas </a:t>
            </a:r>
            <a:r>
              <a:rPr sz="2400" b="1" spc="-585" dirty="0">
                <a:latin typeface="+mj-lt"/>
                <a:cs typeface="Times New Roman"/>
              </a:rPr>
              <a:t> </a:t>
            </a:r>
            <a:r>
              <a:rPr sz="2400" dirty="0">
                <a:latin typeface="+mj-lt"/>
                <a:cs typeface="Times New Roman"/>
              </a:rPr>
              <a:t>realizadas</a:t>
            </a:r>
            <a:r>
              <a:rPr sz="2400" spc="-5" dirty="0">
                <a:latin typeface="+mj-lt"/>
                <a:cs typeface="Times New Roman"/>
              </a:rPr>
              <a:t> </a:t>
            </a:r>
            <a:r>
              <a:rPr sz="2400" dirty="0">
                <a:latin typeface="+mj-lt"/>
                <a:cs typeface="Times New Roman"/>
              </a:rPr>
              <a:t>tras un </a:t>
            </a:r>
            <a:r>
              <a:rPr sz="2400" spc="-5" dirty="0">
                <a:latin typeface="+mj-lt"/>
                <a:cs typeface="Times New Roman"/>
              </a:rPr>
              <a:t>estudio</a:t>
            </a:r>
            <a:r>
              <a:rPr sz="2400" spc="-10" dirty="0">
                <a:latin typeface="+mj-lt"/>
                <a:cs typeface="Times New Roman"/>
              </a:rPr>
              <a:t> </a:t>
            </a:r>
            <a:r>
              <a:rPr sz="2400" dirty="0">
                <a:latin typeface="+mj-lt"/>
                <a:cs typeface="Times New Roman"/>
              </a:rPr>
              <a:t>artesanal</a:t>
            </a:r>
            <a:r>
              <a:rPr sz="2400" spc="-10" dirty="0">
                <a:latin typeface="+mj-lt"/>
                <a:cs typeface="Times New Roman"/>
              </a:rPr>
              <a:t> </a:t>
            </a:r>
            <a:r>
              <a:rPr sz="2400" dirty="0">
                <a:latin typeface="+mj-lt"/>
                <a:cs typeface="Times New Roman"/>
              </a:rPr>
              <a:t>e</a:t>
            </a:r>
            <a:r>
              <a:rPr sz="2400" spc="-10" dirty="0">
                <a:latin typeface="+mj-lt"/>
                <a:cs typeface="Times New Roman"/>
              </a:rPr>
              <a:t> </a:t>
            </a:r>
            <a:r>
              <a:rPr sz="2400" spc="-5" dirty="0">
                <a:latin typeface="+mj-lt"/>
                <a:cs typeface="Times New Roman"/>
              </a:rPr>
              <a:t>imaginativo</a:t>
            </a:r>
            <a:r>
              <a:rPr sz="2400" spc="-10" dirty="0">
                <a:latin typeface="+mj-lt"/>
                <a:cs typeface="Times New Roman"/>
              </a:rPr>
              <a:t> </a:t>
            </a:r>
            <a:r>
              <a:rPr sz="2400" dirty="0" err="1">
                <a:latin typeface="+mj-lt"/>
                <a:cs typeface="Times New Roman"/>
              </a:rPr>
              <a:t>por</a:t>
            </a:r>
            <a:r>
              <a:rPr sz="2400" dirty="0">
                <a:latin typeface="+mj-lt"/>
                <a:cs typeface="Times New Roman"/>
              </a:rPr>
              <a:t> </a:t>
            </a:r>
            <a:r>
              <a:rPr sz="2400" dirty="0" smtClean="0">
                <a:latin typeface="+mj-lt"/>
                <a:cs typeface="Times New Roman"/>
              </a:rPr>
              <a:t>parte</a:t>
            </a:r>
            <a:endParaRPr lang="es-ES" sz="2400" dirty="0" smtClean="0">
              <a:latin typeface="+mj-lt"/>
              <a:cs typeface="Times New Roman"/>
            </a:endParaRPr>
          </a:p>
          <a:p>
            <a:pPr marL="12700" marR="5080" algn="just">
              <a:lnSpc>
                <a:spcPts val="2760"/>
              </a:lnSpc>
            </a:pPr>
            <a:r>
              <a:rPr sz="2400" dirty="0" smtClean="0">
                <a:latin typeface="+mj-lt"/>
                <a:cs typeface="Times New Roman"/>
              </a:rPr>
              <a:t> </a:t>
            </a:r>
            <a:r>
              <a:rPr lang="es-ES" sz="2400" dirty="0" smtClean="0">
                <a:latin typeface="+mj-lt"/>
                <a:cs typeface="Times New Roman"/>
              </a:rPr>
              <a:t>  </a:t>
            </a:r>
            <a:r>
              <a:rPr sz="2400" spc="-5" dirty="0" smtClean="0">
                <a:latin typeface="+mj-lt"/>
                <a:cs typeface="Times New Roman"/>
              </a:rPr>
              <a:t>del </a:t>
            </a:r>
            <a:r>
              <a:rPr sz="2400" dirty="0">
                <a:latin typeface="+mj-lt"/>
                <a:cs typeface="Times New Roman"/>
              </a:rPr>
              <a:t>técnico.</a:t>
            </a:r>
          </a:p>
        </p:txBody>
      </p:sp>
    </p:spTree>
    <p:extLst>
      <p:ext uri="{BB962C8B-B14F-4D97-AF65-F5344CB8AC3E}">
        <p14:creationId xmlns:p14="http://schemas.microsoft.com/office/powerpoint/2010/main" val="307779649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774700" y="581025"/>
            <a:ext cx="9220200" cy="6555641"/>
          </a:xfrm>
          <a:prstGeom prst="rect">
            <a:avLst/>
          </a:prstGeom>
          <a:noFill/>
        </p:spPr>
        <p:txBody>
          <a:bodyPr wrap="square" rtlCol="0">
            <a:spAutoFit/>
          </a:bodyPr>
          <a:lstStyle/>
          <a:p>
            <a:r>
              <a:rPr lang="es-ES" sz="2800" b="1" dirty="0" smtClean="0">
                <a:solidFill>
                  <a:schemeClr val="tx2"/>
                </a:solidFill>
              </a:rPr>
              <a:t>INCISO: recordatorio sobre modelos de selección de variables</a:t>
            </a:r>
          </a:p>
          <a:p>
            <a:endParaRPr lang="es-ES" sz="2800" b="1" dirty="0">
              <a:solidFill>
                <a:schemeClr val="tx2"/>
              </a:solidFill>
            </a:endParaRPr>
          </a:p>
          <a:p>
            <a:pPr marL="342900" indent="-342900" algn="just">
              <a:buFont typeface="Arial" panose="020B0604020202020204" pitchFamily="34" charset="0"/>
              <a:buChar char="•"/>
            </a:pPr>
            <a:r>
              <a:rPr lang="es-ES" sz="2400" b="1" dirty="0" smtClean="0">
                <a:solidFill>
                  <a:srgbClr val="0070C0"/>
                </a:solidFill>
              </a:rPr>
              <a:t>M</a:t>
            </a:r>
            <a:r>
              <a:rPr lang="es-ES" sz="2400" b="1" dirty="0">
                <a:solidFill>
                  <a:srgbClr val="0070C0"/>
                </a:solidFill>
              </a:rPr>
              <a:t>étodo </a:t>
            </a:r>
            <a:r>
              <a:rPr lang="es-ES" sz="2400" b="1" dirty="0" err="1">
                <a:solidFill>
                  <a:srgbClr val="0070C0"/>
                </a:solidFill>
              </a:rPr>
              <a:t>Backward</a:t>
            </a:r>
            <a:r>
              <a:rPr lang="es-ES" sz="2400" b="1" dirty="0">
                <a:solidFill>
                  <a:srgbClr val="0070C0"/>
                </a:solidFill>
              </a:rPr>
              <a:t> </a:t>
            </a:r>
            <a:r>
              <a:rPr lang="es-ES" sz="2400" dirty="0" smtClean="0"/>
              <a:t>(eliminación hacia atrás): parte </a:t>
            </a:r>
            <a:r>
              <a:rPr lang="es-ES" sz="2400" dirty="0"/>
              <a:t>de un modelo muy </a:t>
            </a:r>
            <a:r>
              <a:rPr lang="es-ES" sz="2400" dirty="0" smtClean="0"/>
              <a:t>complejo </a:t>
            </a:r>
            <a:r>
              <a:rPr lang="es-ES" sz="2400" dirty="0"/>
              <a:t>que incorpora todos los efectos que pueden influir en la respuesta, y en </a:t>
            </a:r>
            <a:r>
              <a:rPr lang="es-ES" sz="2400" b="1" dirty="0"/>
              <a:t>cada etapa se elimina la variable menos influyente</a:t>
            </a:r>
            <a:r>
              <a:rPr lang="es-ES" sz="2400" dirty="0"/>
              <a:t>, hasta que no procede suprimir </a:t>
            </a:r>
            <a:r>
              <a:rPr lang="es-ES" sz="2400" dirty="0" smtClean="0"/>
              <a:t>ningún término más.</a:t>
            </a:r>
          </a:p>
          <a:p>
            <a:pPr algn="just"/>
            <a:endParaRPr lang="es-ES" sz="2400" dirty="0" smtClean="0"/>
          </a:p>
          <a:p>
            <a:pPr marL="342900" indent="-342900" algn="just">
              <a:buFont typeface="Arial" panose="020B0604020202020204" pitchFamily="34" charset="0"/>
              <a:buChar char="•"/>
            </a:pPr>
            <a:r>
              <a:rPr lang="es-ES" sz="2400" b="1" dirty="0">
                <a:solidFill>
                  <a:srgbClr val="0070C0"/>
                </a:solidFill>
              </a:rPr>
              <a:t>Método </a:t>
            </a:r>
            <a:r>
              <a:rPr lang="es-ES" sz="2400" b="1" dirty="0" smtClean="0">
                <a:solidFill>
                  <a:srgbClr val="0070C0"/>
                </a:solidFill>
              </a:rPr>
              <a:t>Forward </a:t>
            </a:r>
            <a:r>
              <a:rPr lang="es-ES" sz="2400" dirty="0" smtClean="0"/>
              <a:t>(selección hacia adelante): parte de un modelo mínimo sin variables y va agregando términos con algún criterio, hasta que no procede añadir ninguno más. En </a:t>
            </a:r>
            <a:r>
              <a:rPr lang="es-ES" sz="2400" b="1" dirty="0" smtClean="0"/>
              <a:t>cada etapa se introduce la variable más significativa</a:t>
            </a:r>
            <a:r>
              <a:rPr lang="es-ES" sz="2400" dirty="0" smtClean="0"/>
              <a:t> hasta alcanzar una cierta </a:t>
            </a:r>
            <a:r>
              <a:rPr lang="es-ES" sz="2400" b="1" dirty="0" smtClean="0"/>
              <a:t>regla de parada</a:t>
            </a:r>
            <a:r>
              <a:rPr lang="es-ES" sz="2400" dirty="0" smtClean="0"/>
              <a:t>.</a:t>
            </a:r>
          </a:p>
          <a:p>
            <a:pPr algn="just"/>
            <a:endParaRPr lang="es-ES" sz="2400" dirty="0" smtClean="0"/>
          </a:p>
          <a:p>
            <a:pPr marL="342900" indent="-342900" algn="just">
              <a:buFont typeface="Arial" panose="020B0604020202020204" pitchFamily="34" charset="0"/>
              <a:buChar char="•"/>
            </a:pPr>
            <a:r>
              <a:rPr lang="es-ES" sz="2400" b="1" dirty="0" smtClean="0">
                <a:solidFill>
                  <a:srgbClr val="0070C0"/>
                </a:solidFill>
              </a:rPr>
              <a:t>Método </a:t>
            </a:r>
            <a:r>
              <a:rPr lang="es-ES" sz="2400" b="1" dirty="0" err="1" smtClean="0">
                <a:solidFill>
                  <a:srgbClr val="0070C0"/>
                </a:solidFill>
              </a:rPr>
              <a:t>Stepwise</a:t>
            </a:r>
            <a:r>
              <a:rPr lang="es-ES" sz="2400" dirty="0" smtClean="0"/>
              <a:t>: es </a:t>
            </a:r>
            <a:r>
              <a:rPr lang="es-ES" sz="2400" dirty="0"/>
              <a:t>una </a:t>
            </a:r>
            <a:r>
              <a:rPr lang="es-ES" sz="2400" dirty="0" smtClean="0"/>
              <a:t>combinación </a:t>
            </a:r>
            <a:r>
              <a:rPr lang="es-ES" sz="2400" dirty="0"/>
              <a:t>de los dos anteriores. Comienza como el de </a:t>
            </a:r>
            <a:r>
              <a:rPr lang="es-ES" sz="2400" dirty="0" smtClean="0"/>
              <a:t>introducción </a:t>
            </a:r>
            <a:r>
              <a:rPr lang="es-ES" sz="2400" dirty="0"/>
              <a:t>progresiva, pero en cada etapa se plantea si todas las variables introducidas deben de permanecer en el modelo. </a:t>
            </a:r>
            <a:r>
              <a:rPr lang="es-ES" sz="2400" dirty="0" smtClean="0"/>
              <a:t>Es probablemente la metodología más robusta.</a:t>
            </a:r>
            <a:endParaRPr lang="es-ES" sz="2400" dirty="0"/>
          </a:p>
        </p:txBody>
      </p:sp>
    </p:spTree>
    <p:extLst>
      <p:ext uri="{BB962C8B-B14F-4D97-AF65-F5344CB8AC3E}">
        <p14:creationId xmlns:p14="http://schemas.microsoft.com/office/powerpoint/2010/main" val="91964424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22300" y="428625"/>
            <a:ext cx="9525000" cy="6924973"/>
          </a:xfrm>
          <a:prstGeom prst="rect">
            <a:avLst/>
          </a:prstGeom>
          <a:noFill/>
        </p:spPr>
        <p:txBody>
          <a:bodyPr wrap="square" rtlCol="0">
            <a:spAutoFit/>
          </a:bodyPr>
          <a:lstStyle/>
          <a:p>
            <a:r>
              <a:rPr lang="es-ES" sz="2800" b="1" dirty="0" smtClean="0">
                <a:solidFill>
                  <a:schemeClr val="tx2"/>
                </a:solidFill>
              </a:rPr>
              <a:t>¿Criterio para introducir/eliminar una variable?</a:t>
            </a:r>
          </a:p>
          <a:p>
            <a:endParaRPr lang="es-ES" sz="2800" b="1" dirty="0" smtClean="0">
              <a:solidFill>
                <a:schemeClr val="tx2"/>
              </a:solidFill>
            </a:endParaRPr>
          </a:p>
          <a:p>
            <a:pPr marL="342900" indent="-342900" algn="just">
              <a:buFont typeface="Arial" panose="020B0604020202020204" pitchFamily="34" charset="0"/>
              <a:buChar char="•"/>
            </a:pPr>
            <a:r>
              <a:rPr lang="es-ES" sz="2000" b="1" dirty="0"/>
              <a:t>Criterios de </a:t>
            </a:r>
            <a:r>
              <a:rPr lang="es-ES" sz="2000" b="1" dirty="0" smtClean="0"/>
              <a:t>significación</a:t>
            </a:r>
            <a:r>
              <a:rPr lang="es-ES" sz="2000" dirty="0"/>
              <a:t>: </a:t>
            </a:r>
            <a:r>
              <a:rPr lang="es-ES" sz="2000" dirty="0" smtClean="0"/>
              <a:t>en </a:t>
            </a:r>
            <a:r>
              <a:rPr lang="es-ES" sz="2000" dirty="0"/>
              <a:t>un </a:t>
            </a:r>
            <a:r>
              <a:rPr lang="es-ES" sz="2000" dirty="0" smtClean="0"/>
              <a:t>método </a:t>
            </a:r>
            <a:r>
              <a:rPr lang="es-ES" sz="2000" dirty="0" err="1"/>
              <a:t>backward</a:t>
            </a:r>
            <a:r>
              <a:rPr lang="es-ES" sz="2000" dirty="0"/>
              <a:t> se </a:t>
            </a:r>
            <a:r>
              <a:rPr lang="es-ES" sz="2000" dirty="0" smtClean="0"/>
              <a:t>suprime </a:t>
            </a:r>
            <a:r>
              <a:rPr lang="es-ES" sz="2000" dirty="0"/>
              <a:t>el </a:t>
            </a:r>
            <a:r>
              <a:rPr lang="es-ES" sz="2000" dirty="0" smtClean="0"/>
              <a:t>término </a:t>
            </a:r>
            <a:r>
              <a:rPr lang="es-ES" sz="2000" dirty="0"/>
              <a:t>que resulte menos significativo, y en un </a:t>
            </a:r>
            <a:r>
              <a:rPr lang="es-ES" sz="2000" dirty="0" smtClean="0"/>
              <a:t>método </a:t>
            </a:r>
            <a:r>
              <a:rPr lang="es-ES" sz="2000" dirty="0"/>
              <a:t>forward se </a:t>
            </a:r>
            <a:r>
              <a:rPr lang="es-ES" sz="2000" dirty="0" smtClean="0"/>
              <a:t>añade </a:t>
            </a:r>
            <a:r>
              <a:rPr lang="es-ES" sz="2000" dirty="0"/>
              <a:t>el </a:t>
            </a:r>
            <a:r>
              <a:rPr lang="es-ES" sz="2000" dirty="0" smtClean="0"/>
              <a:t>término </a:t>
            </a:r>
            <a:r>
              <a:rPr lang="es-ES" sz="2000" dirty="0"/>
              <a:t>que al </a:t>
            </a:r>
            <a:r>
              <a:rPr lang="es-ES" sz="2000" dirty="0" smtClean="0"/>
              <a:t>añadirlo </a:t>
            </a:r>
            <a:r>
              <a:rPr lang="es-ES" sz="2000" dirty="0"/>
              <a:t>al modelo </a:t>
            </a:r>
            <a:r>
              <a:rPr lang="es-ES" sz="2000" dirty="0" smtClean="0"/>
              <a:t>sea más </a:t>
            </a:r>
            <a:r>
              <a:rPr lang="es-ES" sz="2000" dirty="0"/>
              <a:t>significativo. Un criterio </a:t>
            </a:r>
            <a:r>
              <a:rPr lang="es-ES" sz="2000" dirty="0" smtClean="0"/>
              <a:t>puede </a:t>
            </a:r>
            <a:r>
              <a:rPr lang="es-ES" sz="2000" dirty="0"/>
              <a:t>ser la </a:t>
            </a:r>
            <a:r>
              <a:rPr lang="es-ES" sz="2000" dirty="0" smtClean="0"/>
              <a:t>significación </a:t>
            </a:r>
            <a:r>
              <a:rPr lang="es-ES" sz="2000" dirty="0"/>
              <a:t>de cada coeficiente. </a:t>
            </a:r>
            <a:endParaRPr lang="es-ES" sz="2000" dirty="0" smtClean="0"/>
          </a:p>
          <a:p>
            <a:pPr marL="342900" indent="-342900" algn="just">
              <a:buFont typeface="Arial" panose="020B0604020202020204" pitchFamily="34" charset="0"/>
              <a:buChar char="•"/>
            </a:pPr>
            <a:endParaRPr lang="es-ES" sz="2000" dirty="0" smtClean="0"/>
          </a:p>
          <a:p>
            <a:pPr marL="342900" indent="-342900" algn="just">
              <a:buFont typeface="Arial" panose="020B0604020202020204" pitchFamily="34" charset="0"/>
              <a:buChar char="•"/>
            </a:pPr>
            <a:r>
              <a:rPr lang="es-ES" sz="2000" b="1" dirty="0" smtClean="0"/>
              <a:t>Criterios </a:t>
            </a:r>
            <a:r>
              <a:rPr lang="es-ES" sz="2000" b="1" dirty="0"/>
              <a:t>globales</a:t>
            </a:r>
            <a:r>
              <a:rPr lang="es-ES" sz="2000" dirty="0"/>
              <a:t>: </a:t>
            </a:r>
            <a:r>
              <a:rPr lang="es-ES" sz="2000" dirty="0" smtClean="0"/>
              <a:t>podemos </a:t>
            </a:r>
            <a:r>
              <a:rPr lang="es-ES" sz="2000" dirty="0"/>
              <a:t>basarnos en un criterio global, una medida global de cada modelo, de modo que tenga en cuenta el ajuste y el exceso de </a:t>
            </a:r>
            <a:r>
              <a:rPr lang="es-ES" sz="2000" dirty="0" smtClean="0"/>
              <a:t>parámetros</a:t>
            </a:r>
            <a:r>
              <a:rPr lang="es-ES" sz="2000" dirty="0"/>
              <a:t>. Escogeremos el modelo cuya medida global sea mejor. Como criterios destacamos el Criterio de </a:t>
            </a:r>
            <a:r>
              <a:rPr lang="es-ES" sz="2000" dirty="0" smtClean="0"/>
              <a:t>Información </a:t>
            </a:r>
            <a:r>
              <a:rPr lang="es-ES" sz="2000" dirty="0"/>
              <a:t>de </a:t>
            </a:r>
            <a:r>
              <a:rPr lang="es-ES" sz="2000" dirty="0" err="1"/>
              <a:t>Akaike</a:t>
            </a:r>
            <a:r>
              <a:rPr lang="es-ES" sz="2000" dirty="0"/>
              <a:t> (AIC) y el Criterio de </a:t>
            </a:r>
            <a:r>
              <a:rPr lang="es-ES" sz="2000" dirty="0" smtClean="0"/>
              <a:t>Información </a:t>
            </a:r>
            <a:r>
              <a:rPr lang="es-ES" sz="2000" dirty="0"/>
              <a:t>de </a:t>
            </a:r>
            <a:r>
              <a:rPr lang="es-ES" sz="2000" dirty="0" err="1"/>
              <a:t>Bayes</a:t>
            </a:r>
            <a:r>
              <a:rPr lang="es-ES" sz="2000" dirty="0"/>
              <a:t> (BIC). Se trata de buscar un modelo cuyo </a:t>
            </a:r>
            <a:r>
              <a:rPr lang="es-ES" sz="2000" b="1" dirty="0"/>
              <a:t>AIC </a:t>
            </a:r>
            <a:r>
              <a:rPr lang="es-ES" sz="2000" dirty="0"/>
              <a:t>o </a:t>
            </a:r>
            <a:r>
              <a:rPr lang="es-ES" sz="2000" b="1" dirty="0"/>
              <a:t>BIC </a:t>
            </a:r>
            <a:r>
              <a:rPr lang="es-ES" sz="2000" dirty="0"/>
              <a:t>sea </a:t>
            </a:r>
            <a:r>
              <a:rPr lang="es-ES" sz="2000" b="1" dirty="0" smtClean="0"/>
              <a:t>pequeño</a:t>
            </a:r>
            <a:r>
              <a:rPr lang="es-ES" sz="2000" dirty="0"/>
              <a:t>, ya que en ese caso </a:t>
            </a:r>
            <a:r>
              <a:rPr lang="es-ES" sz="2000" dirty="0" smtClean="0"/>
              <a:t>habría </a:t>
            </a:r>
            <a:r>
              <a:rPr lang="es-ES" sz="2000" dirty="0"/>
              <a:t>una </a:t>
            </a:r>
            <a:r>
              <a:rPr lang="es-ES" sz="2000" b="1" dirty="0"/>
              <a:t>verosimilitud muy grande y pocos </a:t>
            </a:r>
            <a:r>
              <a:rPr lang="es-ES" sz="2000" b="1" dirty="0" smtClean="0"/>
              <a:t>parámetros</a:t>
            </a:r>
            <a:r>
              <a:rPr lang="es-ES" sz="2000" dirty="0" smtClean="0"/>
              <a:t>.</a:t>
            </a:r>
          </a:p>
          <a:p>
            <a:pPr marL="342900" indent="-342900" algn="just">
              <a:buFont typeface="Arial" panose="020B0604020202020204" pitchFamily="34" charset="0"/>
              <a:buChar char="•"/>
            </a:pPr>
            <a:endParaRPr lang="es-ES" sz="2000" dirty="0" smtClean="0"/>
          </a:p>
          <a:p>
            <a:pPr marL="342900" indent="-342900" algn="just">
              <a:buFont typeface="Arial" panose="020B0604020202020204" pitchFamily="34" charset="0"/>
              <a:buChar char="•"/>
            </a:pPr>
            <a:r>
              <a:rPr lang="es-ES" sz="2000" b="1" dirty="0" smtClean="0"/>
              <a:t>Otros métodos: </a:t>
            </a:r>
          </a:p>
          <a:p>
            <a:pPr marL="800100" lvl="1" indent="-342900" algn="just">
              <a:buFont typeface="Arial" panose="020B0604020202020204" pitchFamily="34" charset="0"/>
              <a:buChar char="•"/>
            </a:pPr>
            <a:r>
              <a:rPr lang="es-ES" sz="2000" b="1" dirty="0" err="1" smtClean="0"/>
              <a:t>best</a:t>
            </a:r>
            <a:r>
              <a:rPr lang="es-ES" sz="2000" b="1" dirty="0" smtClean="0"/>
              <a:t> </a:t>
            </a:r>
            <a:r>
              <a:rPr lang="es-ES" sz="2000" b="1" dirty="0" err="1" smtClean="0"/>
              <a:t>subset</a:t>
            </a:r>
            <a:r>
              <a:rPr lang="es-ES" sz="2000" b="1" dirty="0" smtClean="0"/>
              <a:t>: </a:t>
            </a:r>
            <a:r>
              <a:rPr lang="es-ES" sz="2000" dirty="0" smtClean="0"/>
              <a:t>dadas </a:t>
            </a:r>
            <a:r>
              <a:rPr lang="es-ES" sz="2000" i="1" dirty="0" smtClean="0"/>
              <a:t>p</a:t>
            </a:r>
            <a:r>
              <a:rPr lang="es-ES" sz="2000" dirty="0" smtClean="0"/>
              <a:t> </a:t>
            </a:r>
            <a:r>
              <a:rPr lang="es-ES" sz="2000" dirty="0"/>
              <a:t>variables explicativas, este </a:t>
            </a:r>
            <a:r>
              <a:rPr lang="es-ES" sz="2000" dirty="0" smtClean="0"/>
              <a:t>método </a:t>
            </a:r>
            <a:r>
              <a:rPr lang="es-ES" sz="2000" dirty="0"/>
              <a:t>consiste en formar todos los posibles subconjuntos de variables explicativas y efectuar todas las posibles regresiones, reteniendo aquella que, de acuerdo con el criterio de bondad de ajuste que hayamos elegido, parezca mejor El inconveniente de este </a:t>
            </a:r>
            <a:r>
              <a:rPr lang="es-ES" sz="2000" dirty="0" smtClean="0"/>
              <a:t>método </a:t>
            </a:r>
            <a:r>
              <a:rPr lang="es-ES" sz="2000" dirty="0"/>
              <a:t>es el gran volumen de </a:t>
            </a:r>
            <a:r>
              <a:rPr lang="es-ES" sz="2000" dirty="0" smtClean="0"/>
              <a:t>cálculo </a:t>
            </a:r>
            <a:r>
              <a:rPr lang="es-ES" sz="2000" dirty="0"/>
              <a:t>que es preciso </a:t>
            </a:r>
            <a:r>
              <a:rPr lang="es-ES" sz="2000" dirty="0" smtClean="0"/>
              <a:t>realizar: método de Lasso, métodos Bridge, método SCAD.</a:t>
            </a:r>
            <a:endParaRPr lang="es-ES" sz="2000" b="1" dirty="0" smtClean="0"/>
          </a:p>
          <a:p>
            <a:endParaRPr lang="es-ES" sz="2800" b="1" dirty="0">
              <a:solidFill>
                <a:schemeClr val="tx2"/>
              </a:solidFill>
            </a:endParaRPr>
          </a:p>
        </p:txBody>
      </p:sp>
    </p:spTree>
    <p:extLst>
      <p:ext uri="{BB962C8B-B14F-4D97-AF65-F5344CB8AC3E}">
        <p14:creationId xmlns:p14="http://schemas.microsoft.com/office/powerpoint/2010/main" val="60764247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p:cNvSpPr>
          <p:nvPr/>
        </p:nvSpPr>
        <p:spPr>
          <a:xfrm>
            <a:off x="469900" y="200025"/>
            <a:ext cx="92202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latin typeface="+mj-lt"/>
              </a:rPr>
              <a:t>Elección de los pesos iniciales</a:t>
            </a:r>
            <a:endParaRPr lang="es-ES" sz="2600" kern="0" dirty="0">
              <a:latin typeface="+mj-lt"/>
            </a:endParaRPr>
          </a:p>
        </p:txBody>
      </p:sp>
      <p:sp>
        <p:nvSpPr>
          <p:cNvPr id="4" name="Rectángulo 3"/>
          <p:cNvSpPr/>
          <p:nvPr/>
        </p:nvSpPr>
        <p:spPr>
          <a:xfrm>
            <a:off x="393700" y="612959"/>
            <a:ext cx="9613900" cy="6494085"/>
          </a:xfrm>
          <a:prstGeom prst="rect">
            <a:avLst/>
          </a:prstGeom>
        </p:spPr>
        <p:txBody>
          <a:bodyPr wrap="square">
            <a:spAutoFit/>
          </a:bodyPr>
          <a:lstStyle/>
          <a:p>
            <a:pPr algn="just"/>
            <a:r>
              <a:rPr lang="es-ES" sz="1600" dirty="0"/>
              <a:t>E</a:t>
            </a:r>
            <a:r>
              <a:rPr lang="es-ES" sz="1600" dirty="0" smtClean="0"/>
              <a:t>s </a:t>
            </a:r>
            <a:r>
              <a:rPr lang="es-ES" sz="1600" dirty="0"/>
              <a:t>un paso crucial durante el proceso de entrenamiento y puede afectar significativamente el rendimiento y la convergencia del </a:t>
            </a:r>
            <a:r>
              <a:rPr lang="es-ES" sz="1600" dirty="0" smtClean="0"/>
              <a:t>modelo.</a:t>
            </a:r>
          </a:p>
          <a:p>
            <a:pPr algn="just"/>
            <a:r>
              <a:rPr lang="es-ES" sz="1600" dirty="0" smtClean="0"/>
              <a:t> </a:t>
            </a:r>
            <a:r>
              <a:rPr lang="es-ES" sz="1600" b="1" dirty="0" smtClean="0"/>
              <a:t>Evitar </a:t>
            </a:r>
            <a:r>
              <a:rPr lang="es-ES" sz="1600" b="1" dirty="0"/>
              <a:t>Simetría </a:t>
            </a:r>
            <a:r>
              <a:rPr lang="es-ES" sz="1600" b="1" dirty="0" smtClean="0"/>
              <a:t>Indeseada:</a:t>
            </a:r>
            <a:r>
              <a:rPr lang="es-ES" sz="1600" dirty="0"/>
              <a:t> </a:t>
            </a:r>
            <a:r>
              <a:rPr lang="es-ES" sz="1600" dirty="0" smtClean="0"/>
              <a:t>una </a:t>
            </a:r>
            <a:r>
              <a:rPr lang="es-ES" sz="1600" dirty="0"/>
              <a:t>elección inicial incorrecta puede llevar a que todas las neuronas de una capa sean idénticas en las primeras etapas del entrenamiento. Esto </a:t>
            </a:r>
            <a:r>
              <a:rPr lang="es-ES" sz="1600" dirty="0" smtClean="0"/>
              <a:t>puede </a:t>
            </a:r>
            <a:r>
              <a:rPr lang="es-ES" sz="1600" dirty="0"/>
              <a:t>hacer que las neuronas aprendan lo mismo y, por lo tanto, no contribuyan efectivamente al modelo.</a:t>
            </a:r>
          </a:p>
          <a:p>
            <a:r>
              <a:rPr lang="es-ES" sz="1600" b="1" dirty="0"/>
              <a:t>Facilitar la Convergencia</a:t>
            </a:r>
            <a:r>
              <a:rPr lang="es-ES" sz="1600" b="1" dirty="0" smtClean="0"/>
              <a:t>:</a:t>
            </a:r>
            <a:r>
              <a:rPr lang="es-ES" sz="1600" dirty="0" smtClean="0"/>
              <a:t> pesos </a:t>
            </a:r>
            <a:r>
              <a:rPr lang="es-ES" sz="1600" dirty="0"/>
              <a:t>demasiado pequeños o grandes pueden ralentizar la convergencia o hacer que la red neuronal quede atrapada en mínimos locales.</a:t>
            </a:r>
          </a:p>
          <a:p>
            <a:r>
              <a:rPr lang="es-ES" sz="1600" b="1" dirty="0"/>
              <a:t>Prevenir </a:t>
            </a:r>
            <a:r>
              <a:rPr lang="es-ES" sz="1600" b="1" dirty="0" smtClean="0"/>
              <a:t>problemas con el gradiente</a:t>
            </a:r>
          </a:p>
          <a:p>
            <a:r>
              <a:rPr lang="es-ES" sz="1600" b="1" dirty="0" smtClean="0"/>
              <a:t>Estabilidad </a:t>
            </a:r>
            <a:r>
              <a:rPr lang="es-ES" sz="1600" b="1" dirty="0"/>
              <a:t>Numérica</a:t>
            </a:r>
            <a:r>
              <a:rPr lang="es-ES" sz="1600" b="1" dirty="0" smtClean="0"/>
              <a:t>:</a:t>
            </a:r>
            <a:r>
              <a:rPr lang="es-ES" sz="1600" dirty="0" smtClean="0"/>
              <a:t> valores </a:t>
            </a:r>
            <a:r>
              <a:rPr lang="es-ES" sz="1600" dirty="0"/>
              <a:t>demasiado grandes pueden llevar a la inestabilidad numérica, mientras que valores demasiado pequeños pueden no ser efectivos para transmitir información</a:t>
            </a:r>
            <a:r>
              <a:rPr lang="es-ES" sz="1600" dirty="0" smtClean="0"/>
              <a:t>.</a:t>
            </a:r>
          </a:p>
          <a:p>
            <a:endParaRPr lang="es-ES" sz="1600" dirty="0"/>
          </a:p>
          <a:p>
            <a:r>
              <a:rPr lang="es-ES" sz="1600" b="1" dirty="0"/>
              <a:t>Métodos Comunes para la Elección Inicial de Pesos</a:t>
            </a:r>
            <a:r>
              <a:rPr lang="es-ES" sz="1600" b="1" dirty="0" smtClean="0"/>
              <a:t>:</a:t>
            </a:r>
          </a:p>
          <a:p>
            <a:endParaRPr lang="es-ES" sz="1600" b="1" dirty="0"/>
          </a:p>
          <a:p>
            <a:pPr marL="285750" indent="-285750">
              <a:buFont typeface="Arial" panose="020B0604020202020204" pitchFamily="34" charset="0"/>
              <a:buChar char="•"/>
            </a:pPr>
            <a:r>
              <a:rPr lang="es-ES" sz="1600" b="1" dirty="0"/>
              <a:t>Inicialización Aleatoria:</a:t>
            </a:r>
            <a:endParaRPr lang="es-ES" sz="1600" dirty="0"/>
          </a:p>
          <a:p>
            <a:pPr marL="285750" indent="-285750">
              <a:buFont typeface="Arial" panose="020B0604020202020204" pitchFamily="34" charset="0"/>
              <a:buChar char="•"/>
            </a:pPr>
            <a:r>
              <a:rPr lang="es-ES" sz="1600" b="1" dirty="0" err="1" smtClean="0"/>
              <a:t>Zeros</a:t>
            </a:r>
            <a:r>
              <a:rPr lang="es-ES" sz="1600" b="1" dirty="0" smtClean="0"/>
              <a:t> </a:t>
            </a:r>
            <a:r>
              <a:rPr lang="es-ES" sz="1600" b="1" dirty="0"/>
              <a:t>o </a:t>
            </a:r>
            <a:r>
              <a:rPr lang="es-ES" sz="1600" b="1" dirty="0" err="1" smtClean="0"/>
              <a:t>Ones</a:t>
            </a:r>
            <a:r>
              <a:rPr lang="es-ES" sz="1600" b="1" dirty="0" smtClean="0"/>
              <a:t> </a:t>
            </a:r>
            <a:r>
              <a:rPr lang="es-ES" sz="1600" dirty="0" smtClean="0"/>
              <a:t>(todos los pesos inicializados como 1 o 0, puede provocar problemas de simetría); .</a:t>
            </a:r>
            <a:endParaRPr lang="es-ES" sz="1600" dirty="0"/>
          </a:p>
          <a:p>
            <a:pPr marL="742950" lvl="1" indent="-285750">
              <a:buFont typeface="Arial" panose="020B0604020202020204" pitchFamily="34" charset="0"/>
              <a:buChar char="•"/>
            </a:pPr>
            <a:r>
              <a:rPr lang="es-ES" sz="1600" dirty="0" smtClean="0"/>
              <a:t>Inicializar </a:t>
            </a:r>
            <a:r>
              <a:rPr lang="es-ES" sz="1600" dirty="0"/>
              <a:t>los pesos con valores aleatorios. Esto puede ayudar a romper la simetría y facilitar la convergencia.</a:t>
            </a:r>
          </a:p>
          <a:p>
            <a:pPr marL="285750" indent="-285750">
              <a:buFont typeface="Arial" panose="020B0604020202020204" pitchFamily="34" charset="0"/>
              <a:buChar char="•"/>
            </a:pPr>
            <a:r>
              <a:rPr lang="es-ES" sz="1600" b="1" dirty="0"/>
              <a:t>Inicialización </a:t>
            </a:r>
            <a:r>
              <a:rPr lang="es-ES" sz="1600" b="1" dirty="0" smtClean="0"/>
              <a:t>Xavier/</a:t>
            </a:r>
            <a:r>
              <a:rPr lang="es-ES" sz="1600" b="1" dirty="0" err="1" smtClean="0"/>
              <a:t>Glorot</a:t>
            </a:r>
            <a:r>
              <a:rPr lang="es-ES" sz="1600" b="1" dirty="0" smtClean="0"/>
              <a:t>: </a:t>
            </a:r>
            <a:r>
              <a:rPr lang="es-ES" sz="1600" dirty="0" smtClean="0"/>
              <a:t>ajusta </a:t>
            </a:r>
            <a:r>
              <a:rPr lang="es-ES" sz="1600" dirty="0"/>
              <a:t>la inicialización aleatoria para que la varianza de las salidas de una capa sea igual a la varianza de las entradas, ayudando a mitigar </a:t>
            </a:r>
            <a:r>
              <a:rPr lang="es-ES" sz="1600" dirty="0" smtClean="0"/>
              <a:t> problemas con el gradiente.</a:t>
            </a:r>
            <a:endParaRPr lang="es-ES" sz="1600" dirty="0"/>
          </a:p>
          <a:p>
            <a:pPr marL="285750" indent="-285750">
              <a:buFont typeface="Arial" panose="020B0604020202020204" pitchFamily="34" charset="0"/>
              <a:buChar char="•"/>
            </a:pPr>
            <a:r>
              <a:rPr lang="es-ES" sz="1600" b="1" dirty="0"/>
              <a:t>Inicialización </a:t>
            </a:r>
            <a:r>
              <a:rPr lang="es-ES" sz="1600" b="1" dirty="0" smtClean="0"/>
              <a:t>He:</a:t>
            </a:r>
            <a:r>
              <a:rPr lang="es-ES" sz="1600" dirty="0"/>
              <a:t> </a:t>
            </a:r>
            <a:r>
              <a:rPr lang="es-ES" sz="1600" dirty="0" smtClean="0"/>
              <a:t>similar </a:t>
            </a:r>
            <a:r>
              <a:rPr lang="es-ES" sz="1600" dirty="0"/>
              <a:t>a la inicialización Xavier, pero ajusta la varianza de las salidas de una capa para ser la mitad de la varianza de las entradas. Se </a:t>
            </a:r>
            <a:r>
              <a:rPr lang="es-ES" sz="1600" dirty="0" smtClean="0"/>
              <a:t>suele utilizar con </a:t>
            </a:r>
            <a:r>
              <a:rPr lang="es-ES" sz="1600" dirty="0"/>
              <a:t>funciones de activación </a:t>
            </a:r>
            <a:r>
              <a:rPr lang="es-ES" sz="1600" dirty="0" err="1"/>
              <a:t>ReLU</a:t>
            </a:r>
            <a:r>
              <a:rPr lang="es-ES" sz="1600" dirty="0"/>
              <a:t>.</a:t>
            </a:r>
          </a:p>
          <a:p>
            <a:pPr marL="285750" indent="-285750">
              <a:buFont typeface="Arial" panose="020B0604020202020204" pitchFamily="34" charset="0"/>
              <a:buChar char="•"/>
            </a:pPr>
            <a:r>
              <a:rPr lang="es-ES" sz="1600" b="1" dirty="0"/>
              <a:t>Inicialización de </a:t>
            </a:r>
            <a:r>
              <a:rPr lang="es-ES" sz="1600" b="1" dirty="0" err="1" smtClean="0"/>
              <a:t>LeCun</a:t>
            </a:r>
            <a:r>
              <a:rPr lang="es-ES" sz="1600" b="1" dirty="0" smtClean="0"/>
              <a:t>:</a:t>
            </a:r>
            <a:r>
              <a:rPr lang="es-ES" sz="1600" dirty="0"/>
              <a:t> </a:t>
            </a:r>
            <a:r>
              <a:rPr lang="es-ES" sz="1600" dirty="0" smtClean="0"/>
              <a:t>similar </a:t>
            </a:r>
            <a:r>
              <a:rPr lang="es-ES" sz="1600" dirty="0"/>
              <a:t>a la inicialización He, pero ajusta la varianza de las salidas de una capa para ser la misma que la varianza de las entradas. Se suele utilizar con funciones de activación </a:t>
            </a:r>
            <a:r>
              <a:rPr lang="es-ES" sz="1600" dirty="0" err="1"/>
              <a:t>ReLU</a:t>
            </a:r>
            <a:r>
              <a:rPr lang="es-ES" sz="1600" dirty="0"/>
              <a:t>.</a:t>
            </a:r>
          </a:p>
          <a:p>
            <a:pPr algn="just"/>
            <a:endParaRPr lang="es-ES" sz="1600" dirty="0" smtClean="0"/>
          </a:p>
          <a:p>
            <a:pPr algn="just"/>
            <a:r>
              <a:rPr lang="es-ES" sz="1600" dirty="0" smtClean="0">
                <a:solidFill>
                  <a:srgbClr val="FF0000"/>
                </a:solidFill>
              </a:rPr>
              <a:t>Normalmente se hace una asignación de </a:t>
            </a:r>
            <a:r>
              <a:rPr lang="es-ES" sz="1600" b="1" dirty="0" smtClean="0">
                <a:solidFill>
                  <a:srgbClr val="FF0000"/>
                </a:solidFill>
              </a:rPr>
              <a:t>pesos pequeños </a:t>
            </a:r>
            <a:r>
              <a:rPr lang="es-ES" sz="1600" dirty="0" smtClean="0">
                <a:solidFill>
                  <a:srgbClr val="FF0000"/>
                </a:solidFill>
              </a:rPr>
              <a:t>generados de forma </a:t>
            </a:r>
            <a:r>
              <a:rPr lang="es-ES" sz="1600" b="1" dirty="0" smtClean="0">
                <a:solidFill>
                  <a:srgbClr val="FF0000"/>
                </a:solidFill>
              </a:rPr>
              <a:t>aleatoria</a:t>
            </a:r>
            <a:r>
              <a:rPr lang="es-ES" sz="1600" dirty="0" smtClean="0">
                <a:solidFill>
                  <a:srgbClr val="FF0000"/>
                </a:solidFill>
              </a:rPr>
              <a:t>, en un rango de valores entre −0.5  y 0. 5 o similar. </a:t>
            </a:r>
            <a:endParaRPr lang="es-ES" sz="1600" dirty="0">
              <a:solidFill>
                <a:srgbClr val="FF0000"/>
              </a:solidFill>
            </a:endParaRPr>
          </a:p>
        </p:txBody>
      </p:sp>
    </p:spTree>
    <p:extLst>
      <p:ext uri="{BB962C8B-B14F-4D97-AF65-F5344CB8AC3E}">
        <p14:creationId xmlns:p14="http://schemas.microsoft.com/office/powerpoint/2010/main" val="136898631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p:cNvSpPr>
          <p:nvPr/>
        </p:nvSpPr>
        <p:spPr>
          <a:xfrm>
            <a:off x="546100" y="472509"/>
            <a:ext cx="92202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latin typeface="+mj-lt"/>
              </a:rPr>
              <a:t>Evaluación del rendimiento</a:t>
            </a:r>
            <a:endParaRPr lang="es-ES" sz="2600" kern="0" dirty="0">
              <a:latin typeface="+mj-lt"/>
            </a:endParaRPr>
          </a:p>
        </p:txBody>
      </p:sp>
      <p:sp>
        <p:nvSpPr>
          <p:cNvPr id="4" name="Rectángulo 3"/>
          <p:cNvSpPr/>
          <p:nvPr/>
        </p:nvSpPr>
        <p:spPr>
          <a:xfrm>
            <a:off x="546100" y="2105025"/>
            <a:ext cx="9613900" cy="2862322"/>
          </a:xfrm>
          <a:prstGeom prst="rect">
            <a:avLst/>
          </a:prstGeom>
        </p:spPr>
        <p:txBody>
          <a:bodyPr wrap="square">
            <a:spAutoFit/>
          </a:bodyPr>
          <a:lstStyle/>
          <a:p>
            <a:pPr algn="just"/>
            <a:r>
              <a:rPr lang="es-ES" sz="2000" dirty="0" smtClean="0"/>
              <a:t>Una vez seleccionado el modelo de red cuya configuración de parámetros ha obtenido la ejecución escogida como candidata en el conjunto de prueba, hay que evaluar la capacidad de generalización de la red de una forma completamente objetiva. Para ello, sería conveniente dividir los datos en tres partes, y reservar los datos de test para este propósito.</a:t>
            </a:r>
          </a:p>
          <a:p>
            <a:pPr algn="just"/>
            <a:endParaRPr lang="es-ES" sz="2000" dirty="0"/>
          </a:p>
          <a:p>
            <a:pPr algn="just"/>
            <a:r>
              <a:rPr lang="es-ES" sz="2000" dirty="0" smtClean="0"/>
              <a:t>Cuando se trata de estimar un valor continuo se utiliza la medida cuadrática del error, mientras que en problemas de clasificación es mejor tener en cuenta la frecuencia de clasificaciones correctas e incorrectas (matriz de confusión)</a:t>
            </a:r>
            <a:endParaRPr lang="es-ES" sz="2000" dirty="0"/>
          </a:p>
        </p:txBody>
      </p:sp>
    </p:spTree>
    <p:extLst>
      <p:ext uri="{BB962C8B-B14F-4D97-AF65-F5344CB8AC3E}">
        <p14:creationId xmlns:p14="http://schemas.microsoft.com/office/powerpoint/2010/main" val="250978651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p:cNvSpPr>
          <p:nvPr/>
        </p:nvSpPr>
        <p:spPr>
          <a:xfrm>
            <a:off x="546100" y="472509"/>
            <a:ext cx="9220200" cy="412934"/>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spcBef>
                <a:spcPts val="100"/>
              </a:spcBef>
            </a:pPr>
            <a:r>
              <a:rPr lang="es-ES" sz="2600" b="1" kern="0" spc="-5" dirty="0" smtClean="0">
                <a:solidFill>
                  <a:srgbClr val="538DD3"/>
                </a:solidFill>
                <a:latin typeface="+mj-lt"/>
              </a:rPr>
              <a:t>Fases del entrenamiento de una red neuronal</a:t>
            </a:r>
            <a:endParaRPr lang="es-ES" sz="2600" kern="0" dirty="0">
              <a:latin typeface="+mj-lt"/>
            </a:endParaRPr>
          </a:p>
        </p:txBody>
      </p:sp>
      <p:sp>
        <p:nvSpPr>
          <p:cNvPr id="4" name="Rectángulo 3"/>
          <p:cNvSpPr/>
          <p:nvPr/>
        </p:nvSpPr>
        <p:spPr>
          <a:xfrm>
            <a:off x="2298700" y="2790825"/>
            <a:ext cx="9613900" cy="1815882"/>
          </a:xfrm>
          <a:prstGeom prst="rect">
            <a:avLst/>
          </a:prstGeom>
        </p:spPr>
        <p:txBody>
          <a:bodyPr wrap="square">
            <a:spAutoFit/>
          </a:bodyPr>
          <a:lstStyle/>
          <a:p>
            <a:pPr marL="342900" indent="-342900" algn="just">
              <a:buFont typeface="+mj-lt"/>
              <a:buAutoNum type="arabicPeriod"/>
            </a:pPr>
            <a:r>
              <a:rPr lang="es-ES" sz="2800" dirty="0" smtClean="0"/>
              <a:t>Elección de los pesos iniciales</a:t>
            </a:r>
          </a:p>
          <a:p>
            <a:pPr marL="342900" indent="-342900" algn="just">
              <a:buFont typeface="+mj-lt"/>
              <a:buAutoNum type="arabicPeriod"/>
            </a:pPr>
            <a:r>
              <a:rPr lang="es-ES" sz="2800" dirty="0" smtClean="0"/>
              <a:t>Elección de la arquitectura de la red</a:t>
            </a:r>
          </a:p>
          <a:p>
            <a:pPr marL="342900" indent="-342900" algn="just">
              <a:buFont typeface="+mj-lt"/>
              <a:buAutoNum type="arabicPeriod"/>
            </a:pPr>
            <a:r>
              <a:rPr lang="es-ES" sz="2800" dirty="0" smtClean="0"/>
              <a:t>Evaluación del rendimiento</a:t>
            </a:r>
          </a:p>
          <a:p>
            <a:pPr marL="342900" indent="-342900" algn="just">
              <a:buFont typeface="+mj-lt"/>
              <a:buAutoNum type="arabicPeriod"/>
            </a:pPr>
            <a:r>
              <a:rPr lang="es-ES" sz="2800" dirty="0" smtClean="0"/>
              <a:t>Interpretación de los pesos obtenidos</a:t>
            </a:r>
          </a:p>
        </p:txBody>
      </p:sp>
    </p:spTree>
    <p:extLst>
      <p:ext uri="{BB962C8B-B14F-4D97-AF65-F5344CB8AC3E}">
        <p14:creationId xmlns:p14="http://schemas.microsoft.com/office/powerpoint/2010/main" val="301472793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833" y="0"/>
            <a:ext cx="11307233" cy="756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hape 49">
            <a:extLst>
              <a:ext uri="{FF2B5EF4-FFF2-40B4-BE49-F238E27FC236}">
                <a16:creationId xmlns="" xmlns:a16="http://schemas.microsoft.com/office/drawing/2014/main" id="{24A6ABCE-206C-4C33-940C-027B2CD6E148}"/>
              </a:ext>
            </a:extLst>
          </p:cNvPr>
          <p:cNvSpPr txBox="1">
            <a:spLocks/>
          </p:cNvSpPr>
          <p:nvPr/>
        </p:nvSpPr>
        <p:spPr bwMode="auto">
          <a:xfrm>
            <a:off x="1814638" y="3295487"/>
            <a:ext cx="5455812"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3508" kern="0" dirty="0">
                <a:solidFill>
                  <a:srgbClr val="0972CB"/>
                </a:solidFill>
                <a:latin typeface="Oxygen"/>
                <a:ea typeface="Oxygen"/>
                <a:cs typeface="Oxygen"/>
                <a:sym typeface="Oxygen"/>
              </a:rPr>
              <a:t>Machine </a:t>
            </a:r>
            <a:r>
              <a:rPr lang="es-ES" altLang="es-ES" sz="3508" kern="0" dirty="0" err="1">
                <a:solidFill>
                  <a:srgbClr val="0972CB"/>
                </a:solidFill>
                <a:latin typeface="Oxygen"/>
                <a:ea typeface="Oxygen"/>
                <a:cs typeface="Oxygen"/>
                <a:sym typeface="Oxygen"/>
              </a:rPr>
              <a:t>Learning</a:t>
            </a:r>
            <a:endParaRPr lang="es-ES" altLang="es-ES" sz="3508" kern="0" dirty="0">
              <a:solidFill>
                <a:srgbClr val="0972CB"/>
              </a:solidFill>
              <a:latin typeface="Oxygen"/>
              <a:ea typeface="Oxygen"/>
              <a:cs typeface="Oxygen"/>
              <a:sym typeface="Oxygen"/>
            </a:endParaRPr>
          </a:p>
          <a:p>
            <a:pPr marL="300758" indent="-133670" eaLnBrk="1" hangingPunct="1">
              <a:spcBef>
                <a:spcPct val="0"/>
              </a:spcBef>
              <a:buClr>
                <a:srgbClr val="000000"/>
              </a:buClr>
              <a:defRPr/>
            </a:pPr>
            <a:r>
              <a:rPr lang="es-ES" altLang="es-ES" sz="3508" kern="0" dirty="0" smtClean="0">
                <a:solidFill>
                  <a:srgbClr val="0972CB"/>
                </a:solidFill>
                <a:latin typeface="Oxygen"/>
                <a:ea typeface="Oxygen"/>
                <a:cs typeface="Oxygen"/>
                <a:sym typeface="Oxygen"/>
              </a:rPr>
              <a:t>Redes Neuronales</a:t>
            </a:r>
            <a:endParaRPr lang="es-ES" altLang="es-ES" sz="3508" kern="0" dirty="0">
              <a:solidFill>
                <a:srgbClr val="0972CB"/>
              </a:solidFill>
              <a:latin typeface="Oxygen"/>
              <a:ea typeface="Oxygen"/>
              <a:cs typeface="Oxygen"/>
              <a:sym typeface="Oxygen"/>
            </a:endParaRPr>
          </a:p>
        </p:txBody>
      </p:sp>
      <p:sp>
        <p:nvSpPr>
          <p:cNvPr id="6" name="Shape 49">
            <a:extLst>
              <a:ext uri="{FF2B5EF4-FFF2-40B4-BE49-F238E27FC236}">
                <a16:creationId xmlns="" xmlns:a16="http://schemas.microsoft.com/office/drawing/2014/main" id="{3B39229B-4789-4E5F-A863-803DF35813F8}"/>
              </a:ext>
            </a:extLst>
          </p:cNvPr>
          <p:cNvSpPr txBox="1">
            <a:spLocks/>
          </p:cNvSpPr>
          <p:nvPr/>
        </p:nvSpPr>
        <p:spPr bwMode="auto">
          <a:xfrm>
            <a:off x="3027140" y="5126330"/>
            <a:ext cx="3327866"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1403" kern="0" dirty="0">
                <a:solidFill>
                  <a:srgbClr val="0972CB"/>
                </a:solidFill>
                <a:latin typeface="Oxygen"/>
                <a:ea typeface="Oxygen"/>
                <a:cs typeface="Oxygen"/>
                <a:sym typeface="Oxygen"/>
              </a:rPr>
              <a:t>Inmaculada Gutiérrez García-Pardo</a:t>
            </a:r>
          </a:p>
        </p:txBody>
      </p:sp>
      <p:pic>
        <p:nvPicPr>
          <p:cNvPr id="7"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4645" y="1246805"/>
            <a:ext cx="2884990" cy="10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741" y="1134024"/>
            <a:ext cx="1294904" cy="129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271036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xfrm>
            <a:off x="346963" y="314959"/>
            <a:ext cx="9999472" cy="566822"/>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lgn="ctr">
              <a:spcBef>
                <a:spcPts val="100"/>
              </a:spcBef>
            </a:pPr>
            <a:r>
              <a:rPr lang="es-ES" sz="3600" b="1" spc="-5" dirty="0">
                <a:solidFill>
                  <a:srgbClr val="538DD3"/>
                </a:solidFill>
              </a:rPr>
              <a:t>7</a:t>
            </a:r>
            <a:r>
              <a:rPr lang="es-ES" sz="3600" b="1" kern="0" spc="-5" dirty="0" smtClean="0">
                <a:solidFill>
                  <a:srgbClr val="538DD3"/>
                </a:solidFill>
              </a:rPr>
              <a:t>. </a:t>
            </a:r>
            <a:r>
              <a:rPr lang="es-ES" sz="3600" b="1" spc="-5" dirty="0" smtClean="0">
                <a:solidFill>
                  <a:srgbClr val="538DD3"/>
                </a:solidFill>
              </a:rPr>
              <a:t>Ideas rápidas sobre la arquitectura de MLP</a:t>
            </a:r>
            <a:endParaRPr lang="es-ES" sz="3600" kern="0" dirty="0"/>
          </a:p>
        </p:txBody>
      </p:sp>
      <p:sp>
        <p:nvSpPr>
          <p:cNvPr id="5" name="CuadroTexto 4"/>
          <p:cNvSpPr txBox="1"/>
          <p:nvPr/>
        </p:nvSpPr>
        <p:spPr>
          <a:xfrm>
            <a:off x="1536700" y="2028825"/>
            <a:ext cx="7772399" cy="1200329"/>
          </a:xfrm>
          <a:prstGeom prst="rect">
            <a:avLst/>
          </a:prstGeom>
          <a:noFill/>
        </p:spPr>
        <p:txBody>
          <a:bodyPr wrap="square" rtlCol="0">
            <a:spAutoFit/>
          </a:bodyPr>
          <a:lstStyle/>
          <a:p>
            <a:r>
              <a:rPr lang="es-ES" dirty="0" smtClean="0"/>
              <a:t>En esta sección se presentan algunos conceptos e ideas que pueden servir de guía o punto de partida iniciar la definición de la arquitectura de redes neuronales multicapa conectadas hacia adelante y con una sola capa oculta.</a:t>
            </a:r>
            <a:endParaRPr lang="es-ES" dirty="0"/>
          </a:p>
          <a:p>
            <a:endParaRPr lang="es-ES" dirty="0"/>
          </a:p>
        </p:txBody>
      </p:sp>
    </p:spTree>
    <p:extLst>
      <p:ext uri="{BB962C8B-B14F-4D97-AF65-F5344CB8AC3E}">
        <p14:creationId xmlns:p14="http://schemas.microsoft.com/office/powerpoint/2010/main" val="396083894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699" y="733425"/>
            <a:ext cx="9724137" cy="809196"/>
          </a:xfrm>
          <a:prstGeom prst="rect">
            <a:avLst/>
          </a:prstGeom>
        </p:spPr>
        <p:txBody>
          <a:bodyPr vert="horz" wrap="square" lIns="0" tIns="39370" rIns="0" bIns="0" rtlCol="0">
            <a:spAutoFit/>
          </a:bodyPr>
          <a:lstStyle/>
          <a:p>
            <a:pPr marL="12700" marR="5080" algn="just">
              <a:lnSpc>
                <a:spcPts val="2990"/>
              </a:lnSpc>
              <a:spcBef>
                <a:spcPts val="310"/>
              </a:spcBef>
            </a:pPr>
            <a:r>
              <a:rPr sz="2600" b="1" spc="-5" dirty="0">
                <a:latin typeface="Times New Roman"/>
                <a:cs typeface="Times New Roman"/>
              </a:rPr>
              <a:t>Pre-procesado</a:t>
            </a:r>
            <a:r>
              <a:rPr sz="2600" b="1" spc="15" dirty="0">
                <a:latin typeface="Times New Roman"/>
                <a:cs typeface="Times New Roman"/>
              </a:rPr>
              <a:t> </a:t>
            </a:r>
            <a:r>
              <a:rPr sz="2600" b="1" spc="-5" dirty="0">
                <a:solidFill>
                  <a:srgbClr val="234060"/>
                </a:solidFill>
                <a:latin typeface="Times New Roman"/>
                <a:cs typeface="Times New Roman"/>
              </a:rPr>
              <a:t>de</a:t>
            </a:r>
            <a:r>
              <a:rPr sz="2600" b="1" spc="10" dirty="0">
                <a:solidFill>
                  <a:srgbClr val="234060"/>
                </a:solidFill>
                <a:latin typeface="Times New Roman"/>
                <a:cs typeface="Times New Roman"/>
              </a:rPr>
              <a:t> </a:t>
            </a:r>
            <a:r>
              <a:rPr sz="2600" b="1" dirty="0">
                <a:solidFill>
                  <a:srgbClr val="234060"/>
                </a:solidFill>
                <a:latin typeface="Times New Roman"/>
                <a:cs typeface="Times New Roman"/>
              </a:rPr>
              <a:t>las</a:t>
            </a:r>
            <a:r>
              <a:rPr sz="2600" b="1" spc="-10" dirty="0">
                <a:solidFill>
                  <a:srgbClr val="234060"/>
                </a:solidFill>
                <a:latin typeface="Times New Roman"/>
                <a:cs typeface="Times New Roman"/>
              </a:rPr>
              <a:t> </a:t>
            </a:r>
            <a:r>
              <a:rPr sz="2600" b="1" spc="-5" dirty="0">
                <a:latin typeface="Times New Roman"/>
                <a:cs typeface="Times New Roman"/>
              </a:rPr>
              <a:t>variables </a:t>
            </a:r>
            <a:r>
              <a:rPr sz="2600" b="1" dirty="0">
                <a:latin typeface="Times New Roman"/>
                <a:cs typeface="Times New Roman"/>
              </a:rPr>
              <a:t>input </a:t>
            </a:r>
            <a:r>
              <a:rPr sz="2600" b="1" spc="-5" dirty="0">
                <a:solidFill>
                  <a:srgbClr val="234060"/>
                </a:solidFill>
                <a:latin typeface="Times New Roman"/>
                <a:cs typeface="Times New Roman"/>
              </a:rPr>
              <a:t>para</a:t>
            </a:r>
            <a:r>
              <a:rPr sz="2600" b="1" dirty="0">
                <a:solidFill>
                  <a:srgbClr val="234060"/>
                </a:solidFill>
                <a:latin typeface="Times New Roman"/>
                <a:cs typeface="Times New Roman"/>
              </a:rPr>
              <a:t> la</a:t>
            </a:r>
            <a:r>
              <a:rPr sz="2600" b="1" spc="5" dirty="0">
                <a:solidFill>
                  <a:srgbClr val="234060"/>
                </a:solidFill>
                <a:latin typeface="Times New Roman"/>
                <a:cs typeface="Times New Roman"/>
              </a:rPr>
              <a:t> </a:t>
            </a:r>
            <a:r>
              <a:rPr sz="2600" b="1" spc="-5" dirty="0">
                <a:solidFill>
                  <a:srgbClr val="234060"/>
                </a:solidFill>
                <a:latin typeface="Times New Roman"/>
                <a:cs typeface="Times New Roman"/>
              </a:rPr>
              <a:t>construcción</a:t>
            </a:r>
            <a:r>
              <a:rPr sz="2600" b="1" spc="15" dirty="0">
                <a:solidFill>
                  <a:srgbClr val="234060"/>
                </a:solidFill>
                <a:latin typeface="Times New Roman"/>
                <a:cs typeface="Times New Roman"/>
              </a:rPr>
              <a:t> </a:t>
            </a:r>
            <a:r>
              <a:rPr sz="2600" b="1" spc="-5" dirty="0">
                <a:solidFill>
                  <a:srgbClr val="234060"/>
                </a:solidFill>
                <a:latin typeface="Times New Roman"/>
                <a:cs typeface="Times New Roman"/>
              </a:rPr>
              <a:t>de</a:t>
            </a:r>
            <a:r>
              <a:rPr sz="2600" b="1" spc="10" dirty="0">
                <a:solidFill>
                  <a:srgbClr val="234060"/>
                </a:solidFill>
                <a:latin typeface="Times New Roman"/>
                <a:cs typeface="Times New Roman"/>
              </a:rPr>
              <a:t> </a:t>
            </a:r>
            <a:r>
              <a:rPr sz="2600" b="1" spc="-10" dirty="0">
                <a:solidFill>
                  <a:srgbClr val="234060"/>
                </a:solidFill>
                <a:latin typeface="Times New Roman"/>
                <a:cs typeface="Times New Roman"/>
              </a:rPr>
              <a:t>una</a:t>
            </a:r>
            <a:r>
              <a:rPr sz="2600" b="1" spc="10" dirty="0">
                <a:solidFill>
                  <a:srgbClr val="234060"/>
                </a:solidFill>
                <a:latin typeface="Times New Roman"/>
                <a:cs typeface="Times New Roman"/>
              </a:rPr>
              <a:t> </a:t>
            </a:r>
            <a:r>
              <a:rPr sz="2600" b="1" dirty="0">
                <a:solidFill>
                  <a:srgbClr val="234060"/>
                </a:solidFill>
                <a:latin typeface="Times New Roman"/>
                <a:cs typeface="Times New Roman"/>
              </a:rPr>
              <a:t>red </a:t>
            </a:r>
            <a:r>
              <a:rPr sz="2600" b="1" spc="-635" dirty="0">
                <a:solidFill>
                  <a:srgbClr val="234060"/>
                </a:solidFill>
                <a:latin typeface="Times New Roman"/>
                <a:cs typeface="Times New Roman"/>
              </a:rPr>
              <a:t> </a:t>
            </a:r>
            <a:r>
              <a:rPr sz="2600" b="1" spc="-5" dirty="0">
                <a:solidFill>
                  <a:srgbClr val="234060"/>
                </a:solidFill>
                <a:latin typeface="Times New Roman"/>
                <a:cs typeface="Times New Roman"/>
              </a:rPr>
              <a:t>neuronal</a:t>
            </a:r>
            <a:r>
              <a:rPr sz="2600" b="1" dirty="0">
                <a:solidFill>
                  <a:srgbClr val="234060"/>
                </a:solidFill>
                <a:latin typeface="Times New Roman"/>
                <a:cs typeface="Times New Roman"/>
              </a:rPr>
              <a:t> ,</a:t>
            </a:r>
            <a:r>
              <a:rPr sz="2600" b="1" spc="-20" dirty="0">
                <a:solidFill>
                  <a:srgbClr val="234060"/>
                </a:solidFill>
                <a:latin typeface="Times New Roman"/>
                <a:cs typeface="Times New Roman"/>
              </a:rPr>
              <a:t> </a:t>
            </a:r>
            <a:r>
              <a:rPr sz="2600" b="1" dirty="0">
                <a:solidFill>
                  <a:srgbClr val="234060"/>
                </a:solidFill>
                <a:latin typeface="Times New Roman"/>
                <a:cs typeface="Times New Roman"/>
              </a:rPr>
              <a:t>en general,</a:t>
            </a:r>
            <a:r>
              <a:rPr sz="2600" b="1" spc="-15" dirty="0">
                <a:solidFill>
                  <a:srgbClr val="234060"/>
                </a:solidFill>
                <a:latin typeface="Times New Roman"/>
                <a:cs typeface="Times New Roman"/>
              </a:rPr>
              <a:t> </a:t>
            </a:r>
            <a:r>
              <a:rPr sz="2600" b="1" spc="-5" dirty="0">
                <a:solidFill>
                  <a:srgbClr val="234060"/>
                </a:solidFill>
                <a:latin typeface="Times New Roman"/>
                <a:cs typeface="Times New Roman"/>
              </a:rPr>
              <a:t>pero</a:t>
            </a:r>
            <a:r>
              <a:rPr sz="2600" b="1" dirty="0">
                <a:solidFill>
                  <a:srgbClr val="234060"/>
                </a:solidFill>
                <a:latin typeface="Times New Roman"/>
                <a:cs typeface="Times New Roman"/>
              </a:rPr>
              <a:t> </a:t>
            </a:r>
            <a:r>
              <a:rPr sz="2600" b="1" spc="-5" dirty="0">
                <a:solidFill>
                  <a:srgbClr val="234060"/>
                </a:solidFill>
                <a:latin typeface="Times New Roman"/>
                <a:cs typeface="Times New Roman"/>
              </a:rPr>
              <a:t>sobre</a:t>
            </a:r>
            <a:r>
              <a:rPr sz="2600" b="1" dirty="0">
                <a:solidFill>
                  <a:srgbClr val="234060"/>
                </a:solidFill>
                <a:latin typeface="Times New Roman"/>
                <a:cs typeface="Times New Roman"/>
              </a:rPr>
              <a:t> </a:t>
            </a:r>
            <a:r>
              <a:rPr sz="2600" b="1" spc="-5" dirty="0">
                <a:solidFill>
                  <a:srgbClr val="234060"/>
                </a:solidFill>
                <a:latin typeface="Times New Roman"/>
                <a:cs typeface="Times New Roman"/>
              </a:rPr>
              <a:t>todo</a:t>
            </a:r>
            <a:r>
              <a:rPr sz="2600" b="1" spc="10" dirty="0">
                <a:solidFill>
                  <a:srgbClr val="234060"/>
                </a:solidFill>
                <a:latin typeface="Times New Roman"/>
                <a:cs typeface="Times New Roman"/>
              </a:rPr>
              <a:t> </a:t>
            </a:r>
            <a:r>
              <a:rPr sz="2600" b="1" dirty="0">
                <a:solidFill>
                  <a:srgbClr val="234060"/>
                </a:solidFill>
                <a:latin typeface="Times New Roman"/>
                <a:cs typeface="Times New Roman"/>
              </a:rPr>
              <a:t>en</a:t>
            </a:r>
            <a:r>
              <a:rPr sz="2600" b="1" spc="-10" dirty="0">
                <a:solidFill>
                  <a:srgbClr val="234060"/>
                </a:solidFill>
                <a:latin typeface="Times New Roman"/>
                <a:cs typeface="Times New Roman"/>
              </a:rPr>
              <a:t> </a:t>
            </a:r>
            <a:r>
              <a:rPr sz="2600" b="1" spc="-5" dirty="0">
                <a:solidFill>
                  <a:srgbClr val="234060"/>
                </a:solidFill>
                <a:latin typeface="Times New Roman"/>
                <a:cs typeface="Times New Roman"/>
              </a:rPr>
              <a:t>paquetes</a:t>
            </a:r>
            <a:r>
              <a:rPr sz="2600" b="1" spc="-10" dirty="0">
                <a:solidFill>
                  <a:srgbClr val="234060"/>
                </a:solidFill>
                <a:latin typeface="Times New Roman"/>
                <a:cs typeface="Times New Roman"/>
              </a:rPr>
              <a:t> </a:t>
            </a:r>
            <a:r>
              <a:rPr sz="2600" b="1" spc="-5" dirty="0">
                <a:solidFill>
                  <a:srgbClr val="234060"/>
                </a:solidFill>
                <a:latin typeface="Times New Roman"/>
                <a:cs typeface="Times New Roman"/>
              </a:rPr>
              <a:t>de</a:t>
            </a:r>
            <a:r>
              <a:rPr sz="2600" b="1" dirty="0">
                <a:solidFill>
                  <a:srgbClr val="234060"/>
                </a:solidFill>
                <a:latin typeface="Times New Roman"/>
                <a:cs typeface="Times New Roman"/>
              </a:rPr>
              <a:t> R o</a:t>
            </a:r>
            <a:r>
              <a:rPr sz="2600" b="1" spc="5" dirty="0">
                <a:solidFill>
                  <a:srgbClr val="234060"/>
                </a:solidFill>
                <a:latin typeface="Times New Roman"/>
                <a:cs typeface="Times New Roman"/>
              </a:rPr>
              <a:t> </a:t>
            </a:r>
            <a:r>
              <a:rPr sz="2600" b="1" dirty="0">
                <a:solidFill>
                  <a:srgbClr val="234060"/>
                </a:solidFill>
                <a:latin typeface="Times New Roman"/>
                <a:cs typeface="Times New Roman"/>
              </a:rPr>
              <a:t>Python</a:t>
            </a:r>
            <a:endParaRPr sz="2600" dirty="0">
              <a:latin typeface="Times New Roman"/>
              <a:cs typeface="Times New Roman"/>
            </a:endParaRPr>
          </a:p>
        </p:txBody>
      </p:sp>
      <p:sp>
        <p:nvSpPr>
          <p:cNvPr id="3" name="object 3"/>
          <p:cNvSpPr txBox="1"/>
          <p:nvPr/>
        </p:nvSpPr>
        <p:spPr>
          <a:xfrm>
            <a:off x="927100" y="2257425"/>
            <a:ext cx="8657337" cy="3605474"/>
          </a:xfrm>
          <a:prstGeom prst="rect">
            <a:avLst/>
          </a:prstGeom>
        </p:spPr>
        <p:txBody>
          <a:bodyPr vert="horz" wrap="square" lIns="0" tIns="36830" rIns="0" bIns="0" rtlCol="0">
            <a:spAutoFit/>
          </a:bodyPr>
          <a:lstStyle/>
          <a:p>
            <a:pPr marL="12700" marR="1003300" algn="just">
              <a:lnSpc>
                <a:spcPts val="2760"/>
              </a:lnSpc>
              <a:spcBef>
                <a:spcPts val="290"/>
              </a:spcBef>
              <a:buAutoNum type="arabicParenR"/>
              <a:tabLst>
                <a:tab pos="342900" algn="l"/>
              </a:tabLst>
            </a:pPr>
            <a:r>
              <a:rPr lang="es-ES" sz="2400" spc="-5" dirty="0" smtClean="0">
                <a:latin typeface="Times New Roman"/>
                <a:cs typeface="Times New Roman"/>
              </a:rPr>
              <a:t> </a:t>
            </a:r>
            <a:r>
              <a:rPr sz="2400" spc="-5" dirty="0" smtClean="0">
                <a:latin typeface="Times New Roman"/>
                <a:cs typeface="Times New Roman"/>
              </a:rPr>
              <a:t>Si</a:t>
            </a:r>
            <a:r>
              <a:rPr sz="2400" dirty="0" smtClean="0">
                <a:latin typeface="Times New Roman"/>
                <a:cs typeface="Times New Roman"/>
              </a:rPr>
              <a:t> </a:t>
            </a:r>
            <a:r>
              <a:rPr sz="2400" dirty="0">
                <a:latin typeface="Times New Roman"/>
                <a:cs typeface="Times New Roman"/>
              </a:rPr>
              <a:t>hay valores</a:t>
            </a:r>
            <a:r>
              <a:rPr sz="2400" spc="10" dirty="0">
                <a:latin typeface="Times New Roman"/>
                <a:cs typeface="Times New Roman"/>
              </a:rPr>
              <a:t> </a:t>
            </a:r>
            <a:r>
              <a:rPr sz="2400" b="1" spc="-5" dirty="0">
                <a:latin typeface="Times New Roman"/>
                <a:cs typeface="Times New Roman"/>
              </a:rPr>
              <a:t>missing</a:t>
            </a:r>
            <a:r>
              <a:rPr sz="2400" b="1" dirty="0">
                <a:latin typeface="Times New Roman"/>
                <a:cs typeface="Times New Roman"/>
              </a:rPr>
              <a:t> </a:t>
            </a:r>
            <a:r>
              <a:rPr sz="2400" dirty="0">
                <a:latin typeface="Times New Roman"/>
                <a:cs typeface="Times New Roman"/>
              </a:rPr>
              <a:t>en las variables </a:t>
            </a:r>
            <a:r>
              <a:rPr sz="2400" spc="-5" dirty="0">
                <a:latin typeface="Times New Roman"/>
                <a:cs typeface="Times New Roman"/>
              </a:rPr>
              <a:t>input,</a:t>
            </a:r>
            <a:r>
              <a:rPr sz="2400" spc="-10" dirty="0">
                <a:latin typeface="Times New Roman"/>
                <a:cs typeface="Times New Roman"/>
              </a:rPr>
              <a:t> </a:t>
            </a:r>
            <a:r>
              <a:rPr sz="2400" dirty="0">
                <a:latin typeface="Times New Roman"/>
                <a:cs typeface="Times New Roman"/>
              </a:rPr>
              <a:t>deben </a:t>
            </a:r>
            <a:r>
              <a:rPr sz="2400" spc="-5" dirty="0">
                <a:latin typeface="Times New Roman"/>
                <a:cs typeface="Times New Roman"/>
              </a:rPr>
              <a:t>eliminarse esas </a:t>
            </a:r>
            <a:r>
              <a:rPr sz="2400" spc="-585" dirty="0">
                <a:latin typeface="Times New Roman"/>
                <a:cs typeface="Times New Roman"/>
              </a:rPr>
              <a:t> </a:t>
            </a:r>
            <a:r>
              <a:rPr sz="2400" spc="-5" dirty="0">
                <a:latin typeface="Times New Roman"/>
                <a:cs typeface="Times New Roman"/>
              </a:rPr>
              <a:t>observaciones</a:t>
            </a:r>
            <a:r>
              <a:rPr sz="2400" spc="5" dirty="0">
                <a:latin typeface="Times New Roman"/>
                <a:cs typeface="Times New Roman"/>
              </a:rPr>
              <a:t> </a:t>
            </a:r>
            <a:r>
              <a:rPr sz="2400" dirty="0">
                <a:latin typeface="Times New Roman"/>
                <a:cs typeface="Times New Roman"/>
              </a:rPr>
              <a:t>o </a:t>
            </a:r>
            <a:r>
              <a:rPr sz="2400" spc="-5" dirty="0">
                <a:latin typeface="Times New Roman"/>
                <a:cs typeface="Times New Roman"/>
              </a:rPr>
              <a:t>imputar</a:t>
            </a:r>
            <a:r>
              <a:rPr sz="2400" dirty="0">
                <a:latin typeface="Times New Roman"/>
                <a:cs typeface="Times New Roman"/>
              </a:rPr>
              <a:t> los</a:t>
            </a:r>
            <a:r>
              <a:rPr sz="2400" spc="10" dirty="0">
                <a:latin typeface="Times New Roman"/>
                <a:cs typeface="Times New Roman"/>
              </a:rPr>
              <a:t> </a:t>
            </a:r>
            <a:r>
              <a:rPr sz="2400" spc="-5" dirty="0">
                <a:latin typeface="Times New Roman"/>
                <a:cs typeface="Times New Roman"/>
              </a:rPr>
              <a:t>valores</a:t>
            </a:r>
            <a:r>
              <a:rPr sz="2400" spc="-15" dirty="0">
                <a:latin typeface="Times New Roman"/>
                <a:cs typeface="Times New Roman"/>
              </a:rPr>
              <a:t> </a:t>
            </a:r>
            <a:r>
              <a:rPr sz="2400" spc="-5" dirty="0">
                <a:latin typeface="Times New Roman"/>
                <a:cs typeface="Times New Roman"/>
              </a:rPr>
              <a:t>missing.</a:t>
            </a:r>
            <a:endParaRPr sz="2400" dirty="0">
              <a:latin typeface="Times New Roman"/>
              <a:cs typeface="Times New Roman"/>
            </a:endParaRPr>
          </a:p>
          <a:p>
            <a:pPr algn="just">
              <a:lnSpc>
                <a:spcPct val="100000"/>
              </a:lnSpc>
              <a:spcBef>
                <a:spcPts val="40"/>
              </a:spcBef>
              <a:buClr>
                <a:srgbClr val="FF0000"/>
              </a:buClr>
              <a:buFont typeface="Times New Roman"/>
              <a:buAutoNum type="arabicParenR"/>
            </a:pPr>
            <a:endParaRPr sz="2200" dirty="0">
              <a:latin typeface="Times New Roman"/>
              <a:cs typeface="Times New Roman"/>
            </a:endParaRPr>
          </a:p>
          <a:p>
            <a:pPr marL="342265" indent="-330200" algn="just">
              <a:lnSpc>
                <a:spcPct val="100000"/>
              </a:lnSpc>
              <a:buAutoNum type="arabicParenR"/>
              <a:tabLst>
                <a:tab pos="342900" algn="l"/>
              </a:tabLst>
            </a:pPr>
            <a:r>
              <a:rPr sz="2400" spc="-5" dirty="0">
                <a:latin typeface="Times New Roman"/>
                <a:cs typeface="Times New Roman"/>
              </a:rPr>
              <a:t>Si</a:t>
            </a:r>
            <a:r>
              <a:rPr sz="2400" spc="-10" dirty="0">
                <a:latin typeface="Times New Roman"/>
                <a:cs typeface="Times New Roman"/>
              </a:rPr>
              <a:t> </a:t>
            </a:r>
            <a:r>
              <a:rPr sz="2400" dirty="0">
                <a:latin typeface="Times New Roman"/>
                <a:cs typeface="Times New Roman"/>
              </a:rPr>
              <a:t>hay</a:t>
            </a:r>
            <a:r>
              <a:rPr sz="2400" spc="-5" dirty="0">
                <a:latin typeface="Times New Roman"/>
                <a:cs typeface="Times New Roman"/>
              </a:rPr>
              <a:t> </a:t>
            </a:r>
            <a:r>
              <a:rPr sz="2400" dirty="0">
                <a:latin typeface="Times New Roman"/>
                <a:cs typeface="Times New Roman"/>
              </a:rPr>
              <a:t>variables</a:t>
            </a:r>
            <a:r>
              <a:rPr sz="2400" spc="-5" dirty="0">
                <a:latin typeface="Times New Roman"/>
                <a:cs typeface="Times New Roman"/>
              </a:rPr>
              <a:t> </a:t>
            </a:r>
            <a:r>
              <a:rPr sz="2400" b="1" spc="-5" dirty="0">
                <a:latin typeface="Times New Roman"/>
                <a:cs typeface="Times New Roman"/>
              </a:rPr>
              <a:t>input</a:t>
            </a:r>
            <a:r>
              <a:rPr sz="2400" b="1" spc="-15" dirty="0">
                <a:latin typeface="Times New Roman"/>
                <a:cs typeface="Times New Roman"/>
              </a:rPr>
              <a:t> </a:t>
            </a:r>
            <a:r>
              <a:rPr sz="2400" b="1" dirty="0">
                <a:latin typeface="Times New Roman"/>
                <a:cs typeface="Times New Roman"/>
              </a:rPr>
              <a:t>categóricas</a:t>
            </a:r>
            <a:r>
              <a:rPr sz="2400" dirty="0">
                <a:latin typeface="Times New Roman"/>
                <a:cs typeface="Times New Roman"/>
              </a:rPr>
              <a:t>,</a:t>
            </a:r>
            <a:r>
              <a:rPr sz="2400" spc="-25" dirty="0">
                <a:latin typeface="Times New Roman"/>
                <a:cs typeface="Times New Roman"/>
              </a:rPr>
              <a:t> </a:t>
            </a:r>
            <a:r>
              <a:rPr sz="2400" dirty="0">
                <a:latin typeface="Times New Roman"/>
                <a:cs typeface="Times New Roman"/>
              </a:rPr>
              <a:t>deben</a:t>
            </a:r>
            <a:r>
              <a:rPr sz="2400" spc="-10" dirty="0">
                <a:latin typeface="Times New Roman"/>
                <a:cs typeface="Times New Roman"/>
              </a:rPr>
              <a:t> </a:t>
            </a:r>
            <a:r>
              <a:rPr sz="2400" spc="-5" dirty="0">
                <a:latin typeface="Times New Roman"/>
                <a:cs typeface="Times New Roman"/>
              </a:rPr>
              <a:t>pasarse</a:t>
            </a:r>
            <a:r>
              <a:rPr sz="2400" spc="-10"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b="1" dirty="0">
                <a:latin typeface="Times New Roman"/>
                <a:cs typeface="Times New Roman"/>
              </a:rPr>
              <a:t>dummy</a:t>
            </a:r>
            <a:r>
              <a:rPr sz="2400" dirty="0">
                <a:latin typeface="Times New Roman"/>
                <a:cs typeface="Times New Roman"/>
              </a:rPr>
              <a:t>.</a:t>
            </a:r>
          </a:p>
          <a:p>
            <a:pPr algn="just">
              <a:lnSpc>
                <a:spcPct val="100000"/>
              </a:lnSpc>
              <a:buClr>
                <a:srgbClr val="FF0000"/>
              </a:buClr>
              <a:buFont typeface="Times New Roman"/>
              <a:buAutoNum type="arabicParenR"/>
            </a:pPr>
            <a:endParaRPr sz="2400" dirty="0">
              <a:latin typeface="Times New Roman"/>
              <a:cs typeface="Times New Roman"/>
            </a:endParaRPr>
          </a:p>
          <a:p>
            <a:pPr marL="12700" marR="5080" algn="just">
              <a:lnSpc>
                <a:spcPct val="95900"/>
              </a:lnSpc>
              <a:buAutoNum type="arabicParenR"/>
              <a:tabLst>
                <a:tab pos="343535" algn="l"/>
              </a:tabLst>
            </a:pPr>
            <a:r>
              <a:rPr lang="es-ES" sz="2400" dirty="0" smtClean="0">
                <a:latin typeface="Times New Roman"/>
                <a:cs typeface="Times New Roman"/>
              </a:rPr>
              <a:t> </a:t>
            </a:r>
            <a:r>
              <a:rPr sz="2400" dirty="0" smtClean="0">
                <a:latin typeface="Times New Roman"/>
                <a:cs typeface="Times New Roman"/>
              </a:rPr>
              <a:t>Las </a:t>
            </a:r>
            <a:r>
              <a:rPr sz="2400" spc="-5" dirty="0">
                <a:latin typeface="Times New Roman"/>
                <a:cs typeface="Times New Roman"/>
              </a:rPr>
              <a:t>variables </a:t>
            </a:r>
            <a:r>
              <a:rPr sz="2400" b="1" dirty="0">
                <a:latin typeface="Times New Roman"/>
                <a:cs typeface="Times New Roman"/>
              </a:rPr>
              <a:t>input </a:t>
            </a:r>
            <a:r>
              <a:rPr sz="2400" b="1" spc="-5" dirty="0">
                <a:latin typeface="Times New Roman"/>
                <a:cs typeface="Times New Roman"/>
              </a:rPr>
              <a:t>continuas</a:t>
            </a:r>
            <a:r>
              <a:rPr sz="2400" spc="-5" dirty="0">
                <a:latin typeface="Times New Roman"/>
                <a:cs typeface="Times New Roman"/>
              </a:rPr>
              <a:t> </a:t>
            </a:r>
            <a:r>
              <a:rPr sz="2400" spc="-5" dirty="0" err="1">
                <a:latin typeface="Times New Roman"/>
                <a:cs typeface="Times New Roman"/>
              </a:rPr>
              <a:t>deben</a:t>
            </a:r>
            <a:r>
              <a:rPr sz="2400" spc="-5" dirty="0">
                <a:latin typeface="Times New Roman"/>
                <a:cs typeface="Times New Roman"/>
              </a:rPr>
              <a:t> </a:t>
            </a:r>
            <a:r>
              <a:rPr sz="2400" b="1" spc="-5" dirty="0" err="1" smtClean="0">
                <a:latin typeface="Times New Roman"/>
                <a:cs typeface="Times New Roman"/>
              </a:rPr>
              <a:t>estandarizarse</a:t>
            </a:r>
            <a:r>
              <a:rPr lang="es-ES" sz="2400" b="1" spc="-5" dirty="0" smtClean="0">
                <a:latin typeface="Times New Roman"/>
                <a:cs typeface="Times New Roman"/>
              </a:rPr>
              <a:t> </a:t>
            </a:r>
            <a:r>
              <a:rPr lang="es-ES" sz="2400" spc="-5" dirty="0" smtClean="0">
                <a:latin typeface="Times New Roman"/>
                <a:cs typeface="Times New Roman"/>
              </a:rPr>
              <a:t>(normalización o  cambio de escala)</a:t>
            </a:r>
            <a:r>
              <a:rPr sz="2400" spc="-5" dirty="0" smtClean="0">
                <a:latin typeface="Times New Roman"/>
                <a:cs typeface="Times New Roman"/>
              </a:rPr>
              <a:t>. </a:t>
            </a:r>
            <a:r>
              <a:rPr sz="2400" dirty="0">
                <a:latin typeface="Times New Roman"/>
                <a:cs typeface="Times New Roman"/>
              </a:rPr>
              <a:t>La razón es </a:t>
            </a:r>
            <a:r>
              <a:rPr sz="2400" spc="-5" dirty="0">
                <a:latin typeface="Times New Roman"/>
                <a:cs typeface="Times New Roman"/>
              </a:rPr>
              <a:t>porque </a:t>
            </a:r>
            <a:r>
              <a:rPr sz="2400" dirty="0">
                <a:latin typeface="Times New Roman"/>
                <a:cs typeface="Times New Roman"/>
              </a:rPr>
              <a:t>los </a:t>
            </a:r>
            <a:r>
              <a:rPr sz="2400" spc="-585" dirty="0">
                <a:latin typeface="Times New Roman"/>
                <a:cs typeface="Times New Roman"/>
              </a:rPr>
              <a:t> </a:t>
            </a:r>
            <a:r>
              <a:rPr sz="2400" spc="-5" dirty="0">
                <a:latin typeface="Times New Roman"/>
                <a:cs typeface="Times New Roman"/>
              </a:rPr>
              <a:t>algoritmos </a:t>
            </a:r>
            <a:r>
              <a:rPr sz="2400" spc="5" dirty="0">
                <a:latin typeface="Times New Roman"/>
                <a:cs typeface="Times New Roman"/>
              </a:rPr>
              <a:t>de </a:t>
            </a:r>
            <a:r>
              <a:rPr sz="2400" spc="-5" dirty="0" err="1">
                <a:latin typeface="Times New Roman"/>
                <a:cs typeface="Times New Roman"/>
              </a:rPr>
              <a:t>optimización</a:t>
            </a:r>
            <a:r>
              <a:rPr sz="2400" spc="-5" dirty="0">
                <a:latin typeface="Times New Roman"/>
                <a:cs typeface="Times New Roman"/>
              </a:rPr>
              <a:t> </a:t>
            </a:r>
            <a:r>
              <a:rPr lang="es-ES" sz="2400" spc="-5" dirty="0" smtClean="0">
                <a:latin typeface="Times New Roman"/>
                <a:cs typeface="Times New Roman"/>
              </a:rPr>
              <a:t>(usados para estimar los parámetros de la red) </a:t>
            </a:r>
            <a:r>
              <a:rPr sz="2400" spc="-5" dirty="0" err="1" smtClean="0">
                <a:latin typeface="Times New Roman"/>
                <a:cs typeface="Times New Roman"/>
              </a:rPr>
              <a:t>funcionan</a:t>
            </a:r>
            <a:r>
              <a:rPr sz="2400" spc="-5" dirty="0" smtClean="0">
                <a:latin typeface="Times New Roman"/>
                <a:cs typeface="Times New Roman"/>
              </a:rPr>
              <a:t> </a:t>
            </a:r>
            <a:r>
              <a:rPr sz="2400" dirty="0">
                <a:latin typeface="Times New Roman"/>
                <a:cs typeface="Times New Roman"/>
              </a:rPr>
              <a:t>así </a:t>
            </a:r>
            <a:r>
              <a:rPr sz="2400" spc="-5" dirty="0">
                <a:latin typeface="Times New Roman"/>
                <a:cs typeface="Times New Roman"/>
              </a:rPr>
              <a:t>mejor </a:t>
            </a:r>
            <a:r>
              <a:rPr sz="2400" dirty="0">
                <a:latin typeface="Times New Roman"/>
                <a:cs typeface="Times New Roman"/>
              </a:rPr>
              <a:t>pues están </a:t>
            </a:r>
            <a:r>
              <a:rPr sz="2400" spc="-5" dirty="0">
                <a:latin typeface="Times New Roman"/>
                <a:cs typeface="Times New Roman"/>
              </a:rPr>
              <a:t>menos </a:t>
            </a:r>
            <a:r>
              <a:rPr sz="2400" dirty="0">
                <a:latin typeface="Times New Roman"/>
                <a:cs typeface="Times New Roman"/>
              </a:rPr>
              <a:t>expuestos a </a:t>
            </a:r>
            <a:r>
              <a:rPr sz="2400" spc="-585" dirty="0">
                <a:latin typeface="Times New Roman"/>
                <a:cs typeface="Times New Roman"/>
              </a:rPr>
              <a:t> </a:t>
            </a:r>
            <a:r>
              <a:rPr sz="2400" dirty="0">
                <a:latin typeface="Times New Roman"/>
                <a:cs typeface="Times New Roman"/>
              </a:rPr>
              <a:t>overflow</a:t>
            </a:r>
            <a:r>
              <a:rPr sz="2400" spc="-15" dirty="0">
                <a:latin typeface="Times New Roman"/>
                <a:cs typeface="Times New Roman"/>
              </a:rPr>
              <a:t> </a:t>
            </a:r>
            <a:r>
              <a:rPr lang="es-ES" sz="2400" spc="-15" dirty="0" smtClean="0">
                <a:latin typeface="Times New Roman"/>
                <a:cs typeface="Times New Roman"/>
              </a:rPr>
              <a:t>(desbordamiento computacional) </a:t>
            </a:r>
            <a:r>
              <a:rPr sz="2400" dirty="0" smtClean="0">
                <a:latin typeface="Times New Roman"/>
                <a:cs typeface="Times New Roman"/>
              </a:rPr>
              <a:t>y </a:t>
            </a:r>
            <a:r>
              <a:rPr sz="2400" dirty="0">
                <a:latin typeface="Times New Roman"/>
                <a:cs typeface="Times New Roman"/>
              </a:rPr>
              <a:t>valores</a:t>
            </a:r>
            <a:r>
              <a:rPr sz="2400" spc="-15" dirty="0">
                <a:latin typeface="Times New Roman"/>
                <a:cs typeface="Times New Roman"/>
              </a:rPr>
              <a:t> </a:t>
            </a:r>
            <a:r>
              <a:rPr sz="2400" spc="-5" dirty="0">
                <a:latin typeface="Times New Roman"/>
                <a:cs typeface="Times New Roman"/>
              </a:rPr>
              <a:t>extremos</a:t>
            </a:r>
            <a:r>
              <a:rPr sz="2400" dirty="0">
                <a:latin typeface="Times New Roman"/>
                <a:cs typeface="Times New Roman"/>
              </a:rPr>
              <a:t> de los </a:t>
            </a:r>
            <a:r>
              <a:rPr sz="2400" spc="-5" dirty="0">
                <a:latin typeface="Times New Roman"/>
                <a:cs typeface="Times New Roman"/>
              </a:rPr>
              <a:t>parámetros.</a:t>
            </a:r>
            <a:endParaRPr sz="2400" dirty="0">
              <a:latin typeface="Times New Roman"/>
              <a:cs typeface="Times New Roman"/>
            </a:endParaRPr>
          </a:p>
        </p:txBody>
      </p:sp>
    </p:spTree>
    <p:extLst>
      <p:ext uri="{BB962C8B-B14F-4D97-AF65-F5344CB8AC3E}">
        <p14:creationId xmlns:p14="http://schemas.microsoft.com/office/powerpoint/2010/main" val="257114897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4700" y="733425"/>
            <a:ext cx="8885937" cy="6122189"/>
          </a:xfrm>
          <a:prstGeom prst="rect">
            <a:avLst/>
          </a:prstGeom>
        </p:spPr>
        <p:txBody>
          <a:bodyPr vert="horz" wrap="square" lIns="0" tIns="12700" rIns="0" bIns="0" rtlCol="0">
            <a:spAutoFit/>
          </a:bodyPr>
          <a:lstStyle/>
          <a:p>
            <a:pPr marL="12700" algn="just">
              <a:lnSpc>
                <a:spcPct val="100000"/>
              </a:lnSpc>
              <a:spcBef>
                <a:spcPts val="100"/>
              </a:spcBef>
            </a:pPr>
            <a:r>
              <a:rPr sz="2400" spc="-5" dirty="0">
                <a:solidFill>
                  <a:srgbClr val="FF0000"/>
                </a:solidFill>
                <a:latin typeface="Times New Roman"/>
                <a:cs typeface="Times New Roman"/>
              </a:rPr>
              <a:t>Hay</a:t>
            </a:r>
            <a:r>
              <a:rPr sz="2400" spc="-15" dirty="0">
                <a:solidFill>
                  <a:srgbClr val="FF0000"/>
                </a:solidFill>
                <a:latin typeface="Times New Roman"/>
                <a:cs typeface="Times New Roman"/>
              </a:rPr>
              <a:t> </a:t>
            </a:r>
            <a:r>
              <a:rPr sz="2400" dirty="0">
                <a:solidFill>
                  <a:srgbClr val="FF0000"/>
                </a:solidFill>
                <a:latin typeface="Times New Roman"/>
                <a:cs typeface="Times New Roman"/>
              </a:rPr>
              <a:t>dos</a:t>
            </a:r>
            <a:r>
              <a:rPr sz="2400" spc="-5" dirty="0">
                <a:solidFill>
                  <a:srgbClr val="FF0000"/>
                </a:solidFill>
                <a:latin typeface="Times New Roman"/>
                <a:cs typeface="Times New Roman"/>
              </a:rPr>
              <a:t> modos</a:t>
            </a:r>
            <a:r>
              <a:rPr sz="2400" spc="-10" dirty="0">
                <a:solidFill>
                  <a:srgbClr val="FF0000"/>
                </a:solidFill>
                <a:latin typeface="Times New Roman"/>
                <a:cs typeface="Times New Roman"/>
              </a:rPr>
              <a:t> </a:t>
            </a:r>
            <a:r>
              <a:rPr sz="2400" dirty="0">
                <a:solidFill>
                  <a:srgbClr val="FF0000"/>
                </a:solidFill>
                <a:latin typeface="Times New Roman"/>
                <a:cs typeface="Times New Roman"/>
              </a:rPr>
              <a:t>de </a:t>
            </a:r>
            <a:r>
              <a:rPr sz="2400" b="1" spc="-5" dirty="0">
                <a:solidFill>
                  <a:srgbClr val="FF0000"/>
                </a:solidFill>
                <a:latin typeface="Times New Roman"/>
                <a:cs typeface="Times New Roman"/>
              </a:rPr>
              <a:t>estandarización</a:t>
            </a:r>
            <a:r>
              <a:rPr sz="2400" spc="-5" dirty="0">
                <a:solidFill>
                  <a:srgbClr val="FF0000"/>
                </a:solidFill>
                <a:latin typeface="Times New Roman"/>
                <a:cs typeface="Times New Roman"/>
              </a:rPr>
              <a:t>:</a:t>
            </a:r>
            <a:endParaRPr sz="2400" dirty="0">
              <a:latin typeface="Times New Roman"/>
              <a:cs typeface="Times New Roman"/>
            </a:endParaRPr>
          </a:p>
          <a:p>
            <a:pPr algn="just">
              <a:lnSpc>
                <a:spcPct val="100000"/>
              </a:lnSpc>
              <a:spcBef>
                <a:spcPts val="50"/>
              </a:spcBef>
            </a:pPr>
            <a:endParaRPr sz="2250" dirty="0">
              <a:latin typeface="Times New Roman"/>
              <a:cs typeface="Times New Roman"/>
            </a:endParaRPr>
          </a:p>
          <a:p>
            <a:pPr marL="427990" indent="-415925" algn="just">
              <a:lnSpc>
                <a:spcPts val="2820"/>
              </a:lnSpc>
              <a:spcBef>
                <a:spcPts val="5"/>
              </a:spcBef>
              <a:buAutoNum type="alphaLcParenBoth"/>
              <a:tabLst>
                <a:tab pos="428625" algn="l"/>
              </a:tabLst>
            </a:pPr>
            <a:r>
              <a:rPr sz="2400" b="1" spc="-5" dirty="0">
                <a:solidFill>
                  <a:srgbClr val="FF0000"/>
                </a:solidFill>
                <a:latin typeface="Times New Roman"/>
                <a:cs typeface="Times New Roman"/>
              </a:rPr>
              <a:t>normalización</a:t>
            </a:r>
            <a:r>
              <a:rPr sz="2400" spc="-5" dirty="0">
                <a:latin typeface="Times New Roman"/>
                <a:cs typeface="Times New Roman"/>
              </a:rPr>
              <a:t>:</a:t>
            </a:r>
            <a:r>
              <a:rPr sz="2400" spc="5" dirty="0">
                <a:latin typeface="Times New Roman"/>
                <a:cs typeface="Times New Roman"/>
              </a:rPr>
              <a:t> </a:t>
            </a:r>
            <a:r>
              <a:rPr sz="2400" spc="-5" dirty="0">
                <a:latin typeface="Times New Roman"/>
                <a:cs typeface="Times New Roman"/>
              </a:rPr>
              <a:t>(x-media)/d.típica</a:t>
            </a:r>
            <a:endParaRPr sz="2400" dirty="0">
              <a:latin typeface="Times New Roman"/>
              <a:cs typeface="Times New Roman"/>
            </a:endParaRPr>
          </a:p>
          <a:p>
            <a:pPr marL="12700" marR="193040" algn="just">
              <a:lnSpc>
                <a:spcPts val="2760"/>
              </a:lnSpc>
              <a:spcBef>
                <a:spcPts val="130"/>
              </a:spcBef>
            </a:pPr>
            <a:r>
              <a:rPr sz="2400" dirty="0">
                <a:latin typeface="Times New Roman"/>
                <a:cs typeface="Times New Roman"/>
              </a:rPr>
              <a:t>La</a:t>
            </a:r>
            <a:r>
              <a:rPr sz="2400" spc="5" dirty="0">
                <a:latin typeface="Times New Roman"/>
                <a:cs typeface="Times New Roman"/>
              </a:rPr>
              <a:t> </a:t>
            </a:r>
            <a:r>
              <a:rPr sz="2400" spc="-5" dirty="0">
                <a:latin typeface="Times New Roman"/>
                <a:cs typeface="Times New Roman"/>
              </a:rPr>
              <a:t>variable</a:t>
            </a:r>
            <a:r>
              <a:rPr sz="2400" spc="10" dirty="0">
                <a:latin typeface="Times New Roman"/>
                <a:cs typeface="Times New Roman"/>
              </a:rPr>
              <a:t> </a:t>
            </a:r>
            <a:r>
              <a:rPr sz="2400" spc="-5" dirty="0">
                <a:latin typeface="Times New Roman"/>
                <a:cs typeface="Times New Roman"/>
              </a:rPr>
              <a:t>resultante</a:t>
            </a:r>
            <a:r>
              <a:rPr sz="2400" spc="15" dirty="0">
                <a:latin typeface="Times New Roman"/>
                <a:cs typeface="Times New Roman"/>
              </a:rPr>
              <a:t> </a:t>
            </a:r>
            <a:r>
              <a:rPr sz="2400" spc="-5" dirty="0">
                <a:latin typeface="Times New Roman"/>
                <a:cs typeface="Times New Roman"/>
              </a:rPr>
              <a:t>puede</a:t>
            </a:r>
            <a:r>
              <a:rPr sz="2400" spc="5" dirty="0">
                <a:latin typeface="Times New Roman"/>
                <a:cs typeface="Times New Roman"/>
              </a:rPr>
              <a:t> </a:t>
            </a:r>
            <a:r>
              <a:rPr sz="2400" dirty="0">
                <a:latin typeface="Times New Roman"/>
                <a:cs typeface="Times New Roman"/>
              </a:rPr>
              <a:t>tomar</a:t>
            </a:r>
            <a:r>
              <a:rPr sz="2400" spc="10" dirty="0">
                <a:latin typeface="Times New Roman"/>
                <a:cs typeface="Times New Roman"/>
              </a:rPr>
              <a:t> </a:t>
            </a:r>
            <a:r>
              <a:rPr sz="2400" dirty="0">
                <a:latin typeface="Times New Roman"/>
                <a:cs typeface="Times New Roman"/>
              </a:rPr>
              <a:t>valores</a:t>
            </a:r>
            <a:r>
              <a:rPr sz="2400" spc="5" dirty="0">
                <a:latin typeface="Times New Roman"/>
                <a:cs typeface="Times New Roman"/>
              </a:rPr>
              <a:t> </a:t>
            </a:r>
            <a:r>
              <a:rPr sz="2400" spc="-5" dirty="0">
                <a:latin typeface="Times New Roman"/>
                <a:cs typeface="Times New Roman"/>
              </a:rPr>
              <a:t>negativos,</a:t>
            </a:r>
            <a:r>
              <a:rPr sz="2400" spc="10" dirty="0">
                <a:latin typeface="Times New Roman"/>
                <a:cs typeface="Times New Roman"/>
              </a:rPr>
              <a:t> </a:t>
            </a:r>
            <a:r>
              <a:rPr sz="2400" spc="-5" dirty="0">
                <a:latin typeface="Times New Roman"/>
                <a:cs typeface="Times New Roman"/>
              </a:rPr>
              <a:t>su</a:t>
            </a:r>
            <a:r>
              <a:rPr sz="2400" dirty="0">
                <a:latin typeface="Times New Roman"/>
                <a:cs typeface="Times New Roman"/>
              </a:rPr>
              <a:t> </a:t>
            </a:r>
            <a:r>
              <a:rPr sz="2400" spc="-5" dirty="0">
                <a:latin typeface="Times New Roman"/>
                <a:cs typeface="Times New Roman"/>
              </a:rPr>
              <a:t>rango</a:t>
            </a:r>
            <a:r>
              <a:rPr sz="2400" spc="10" dirty="0">
                <a:latin typeface="Times New Roman"/>
                <a:cs typeface="Times New Roman"/>
              </a:rPr>
              <a:t> </a:t>
            </a:r>
            <a:r>
              <a:rPr sz="2400" dirty="0">
                <a:latin typeface="Times New Roman"/>
                <a:cs typeface="Times New Roman"/>
              </a:rPr>
              <a:t>es</a:t>
            </a:r>
            <a:r>
              <a:rPr sz="2400" spc="5" dirty="0">
                <a:latin typeface="Times New Roman"/>
                <a:cs typeface="Times New Roman"/>
              </a:rPr>
              <a:t> </a:t>
            </a:r>
            <a:r>
              <a:rPr sz="2400" spc="-5" dirty="0">
                <a:latin typeface="Times New Roman"/>
                <a:cs typeface="Times New Roman"/>
              </a:rPr>
              <a:t>habitualmente </a:t>
            </a:r>
            <a:r>
              <a:rPr sz="2400" spc="-585" dirty="0">
                <a:latin typeface="Times New Roman"/>
                <a:cs typeface="Times New Roman"/>
              </a:rPr>
              <a:t> </a:t>
            </a:r>
            <a:r>
              <a:rPr sz="2400" dirty="0">
                <a:latin typeface="Times New Roman"/>
                <a:cs typeface="Times New Roman"/>
              </a:rPr>
              <a:t>entre -3 y 3 para </a:t>
            </a:r>
            <a:r>
              <a:rPr sz="2400" spc="-5" dirty="0">
                <a:latin typeface="Times New Roman"/>
                <a:cs typeface="Times New Roman"/>
              </a:rPr>
              <a:t>variables distribuidas </a:t>
            </a:r>
            <a:r>
              <a:rPr sz="2400" dirty="0">
                <a:latin typeface="Times New Roman"/>
                <a:cs typeface="Times New Roman"/>
              </a:rPr>
              <a:t>normalmente, aunque en variables </a:t>
            </a:r>
            <a:r>
              <a:rPr sz="2400" spc="-10" dirty="0">
                <a:latin typeface="Times New Roman"/>
                <a:cs typeface="Times New Roman"/>
              </a:rPr>
              <a:t>muy </a:t>
            </a:r>
            <a:r>
              <a:rPr sz="2400" spc="-5" dirty="0">
                <a:latin typeface="Times New Roman"/>
                <a:cs typeface="Times New Roman"/>
              </a:rPr>
              <a:t> asimétricas</a:t>
            </a:r>
            <a:r>
              <a:rPr sz="2400" spc="-10" dirty="0">
                <a:latin typeface="Times New Roman"/>
                <a:cs typeface="Times New Roman"/>
              </a:rPr>
              <a:t> </a:t>
            </a:r>
            <a:r>
              <a:rPr sz="2400" dirty="0">
                <a:latin typeface="Times New Roman"/>
                <a:cs typeface="Times New Roman"/>
              </a:rPr>
              <a:t>puede ser</a:t>
            </a:r>
            <a:r>
              <a:rPr sz="2400" spc="5" dirty="0">
                <a:latin typeface="Times New Roman"/>
                <a:cs typeface="Times New Roman"/>
              </a:rPr>
              <a:t> </a:t>
            </a:r>
            <a:r>
              <a:rPr sz="2400" spc="-10" dirty="0">
                <a:latin typeface="Times New Roman"/>
                <a:cs typeface="Times New Roman"/>
              </a:rPr>
              <a:t>más</a:t>
            </a:r>
            <a:r>
              <a:rPr sz="2400" dirty="0">
                <a:latin typeface="Times New Roman"/>
                <a:cs typeface="Times New Roman"/>
              </a:rPr>
              <a:t> alto</a:t>
            </a:r>
            <a:r>
              <a:rPr sz="2400" spc="-15" dirty="0">
                <a:latin typeface="Times New Roman"/>
                <a:cs typeface="Times New Roman"/>
              </a:rPr>
              <a:t> </a:t>
            </a:r>
            <a:r>
              <a:rPr sz="2400" dirty="0">
                <a:latin typeface="Times New Roman"/>
                <a:cs typeface="Times New Roman"/>
              </a:rPr>
              <a:t>en </a:t>
            </a:r>
            <a:r>
              <a:rPr sz="2400" spc="-5" dirty="0">
                <a:latin typeface="Times New Roman"/>
                <a:cs typeface="Times New Roman"/>
              </a:rPr>
              <a:t>valor</a:t>
            </a:r>
            <a:r>
              <a:rPr sz="2400" spc="5" dirty="0">
                <a:latin typeface="Times New Roman"/>
                <a:cs typeface="Times New Roman"/>
              </a:rPr>
              <a:t> </a:t>
            </a:r>
            <a:r>
              <a:rPr sz="2400" dirty="0">
                <a:latin typeface="Times New Roman"/>
                <a:cs typeface="Times New Roman"/>
              </a:rPr>
              <a:t>absoluto.</a:t>
            </a:r>
          </a:p>
          <a:p>
            <a:pPr algn="just">
              <a:lnSpc>
                <a:spcPct val="100000"/>
              </a:lnSpc>
              <a:spcBef>
                <a:spcPts val="40"/>
              </a:spcBef>
            </a:pPr>
            <a:endParaRPr sz="2200" dirty="0">
              <a:latin typeface="Times New Roman"/>
              <a:cs typeface="Times New Roman"/>
            </a:endParaRPr>
          </a:p>
          <a:p>
            <a:pPr marL="445134" indent="-433070" algn="just">
              <a:lnSpc>
                <a:spcPts val="2820"/>
              </a:lnSpc>
              <a:buAutoNum type="alphaLcParenBoth" startAt="2"/>
              <a:tabLst>
                <a:tab pos="445770" algn="l"/>
              </a:tabLst>
            </a:pPr>
            <a:r>
              <a:rPr sz="2400" b="1" dirty="0">
                <a:solidFill>
                  <a:srgbClr val="FF0000"/>
                </a:solidFill>
                <a:latin typeface="Times New Roman"/>
                <a:cs typeface="Times New Roman"/>
              </a:rPr>
              <a:t>Escala</a:t>
            </a:r>
            <a:r>
              <a:rPr sz="2400" spc="-15" dirty="0">
                <a:solidFill>
                  <a:srgbClr val="FF0000"/>
                </a:solidFill>
                <a:latin typeface="Times New Roman"/>
                <a:cs typeface="Times New Roman"/>
              </a:rPr>
              <a:t> </a:t>
            </a:r>
            <a:r>
              <a:rPr sz="2400" dirty="0">
                <a:latin typeface="Times New Roman"/>
                <a:cs typeface="Times New Roman"/>
              </a:rPr>
              <a:t>(0,1):</a:t>
            </a:r>
            <a:r>
              <a:rPr sz="2400" spc="-15" dirty="0">
                <a:latin typeface="Times New Roman"/>
                <a:cs typeface="Times New Roman"/>
              </a:rPr>
              <a:t> </a:t>
            </a:r>
            <a:r>
              <a:rPr sz="2400" spc="-5" dirty="0">
                <a:latin typeface="Times New Roman"/>
                <a:cs typeface="Times New Roman"/>
              </a:rPr>
              <a:t>(x-min)/(max-min)</a:t>
            </a:r>
            <a:endParaRPr sz="2400" dirty="0">
              <a:latin typeface="Times New Roman"/>
              <a:cs typeface="Times New Roman"/>
            </a:endParaRPr>
          </a:p>
          <a:p>
            <a:pPr marL="12700" algn="just">
              <a:lnSpc>
                <a:spcPts val="2820"/>
              </a:lnSpc>
            </a:pPr>
            <a:r>
              <a:rPr sz="2400" dirty="0">
                <a:latin typeface="Times New Roman"/>
                <a:cs typeface="Times New Roman"/>
              </a:rPr>
              <a:t>La</a:t>
            </a:r>
            <a:r>
              <a:rPr sz="2400" spc="-5" dirty="0">
                <a:latin typeface="Times New Roman"/>
                <a:cs typeface="Times New Roman"/>
              </a:rPr>
              <a:t> variable</a:t>
            </a:r>
            <a:r>
              <a:rPr sz="2400" spc="5" dirty="0">
                <a:latin typeface="Times New Roman"/>
                <a:cs typeface="Times New Roman"/>
              </a:rPr>
              <a:t> </a:t>
            </a:r>
            <a:r>
              <a:rPr sz="2400" spc="-5" dirty="0">
                <a:latin typeface="Times New Roman"/>
                <a:cs typeface="Times New Roman"/>
              </a:rPr>
              <a:t>resultante</a:t>
            </a:r>
            <a:r>
              <a:rPr sz="2400" spc="-10" dirty="0">
                <a:latin typeface="Times New Roman"/>
                <a:cs typeface="Times New Roman"/>
              </a:rPr>
              <a:t> toma</a:t>
            </a:r>
            <a:r>
              <a:rPr sz="2400" spc="-5" dirty="0">
                <a:latin typeface="Times New Roman"/>
                <a:cs typeface="Times New Roman"/>
              </a:rPr>
              <a:t> </a:t>
            </a:r>
            <a:r>
              <a:rPr sz="2400" dirty="0">
                <a:latin typeface="Times New Roman"/>
                <a:cs typeface="Times New Roman"/>
              </a:rPr>
              <a:t>valores</a:t>
            </a:r>
            <a:r>
              <a:rPr sz="2400" spc="-5" dirty="0">
                <a:latin typeface="Times New Roman"/>
                <a:cs typeface="Times New Roman"/>
              </a:rPr>
              <a:t> </a:t>
            </a:r>
            <a:r>
              <a:rPr sz="2400" dirty="0">
                <a:latin typeface="Times New Roman"/>
                <a:cs typeface="Times New Roman"/>
              </a:rPr>
              <a:t>entre 0</a:t>
            </a:r>
            <a:r>
              <a:rPr sz="2400" spc="25" dirty="0">
                <a:latin typeface="Times New Roman"/>
                <a:cs typeface="Times New Roman"/>
              </a:rPr>
              <a:t> </a:t>
            </a:r>
            <a:r>
              <a:rPr sz="2400" dirty="0">
                <a:latin typeface="Times New Roman"/>
                <a:cs typeface="Times New Roman"/>
              </a:rPr>
              <a:t>y 1.</a:t>
            </a:r>
          </a:p>
          <a:p>
            <a:pPr algn="just">
              <a:lnSpc>
                <a:spcPct val="100000"/>
              </a:lnSpc>
            </a:pPr>
            <a:endParaRPr sz="2300" dirty="0">
              <a:latin typeface="Times New Roman"/>
              <a:cs typeface="Times New Roman"/>
            </a:endParaRPr>
          </a:p>
          <a:p>
            <a:pPr marL="12700" algn="just">
              <a:lnSpc>
                <a:spcPct val="100000"/>
              </a:lnSpc>
            </a:pPr>
            <a:r>
              <a:rPr sz="2400" dirty="0">
                <a:latin typeface="Times New Roman"/>
                <a:cs typeface="Times New Roman"/>
              </a:rPr>
              <a:t>La</a:t>
            </a:r>
            <a:r>
              <a:rPr sz="2400" spc="5" dirty="0">
                <a:latin typeface="Times New Roman"/>
                <a:cs typeface="Times New Roman"/>
              </a:rPr>
              <a:t> </a:t>
            </a:r>
            <a:r>
              <a:rPr sz="2400" spc="-10" dirty="0">
                <a:latin typeface="Times New Roman"/>
                <a:cs typeface="Times New Roman"/>
              </a:rPr>
              <a:t>más</a:t>
            </a:r>
            <a:r>
              <a:rPr sz="2400" dirty="0">
                <a:latin typeface="Times New Roman"/>
                <a:cs typeface="Times New Roman"/>
              </a:rPr>
              <a:t> </a:t>
            </a:r>
            <a:r>
              <a:rPr sz="2400" spc="-5" dirty="0">
                <a:latin typeface="Times New Roman"/>
                <a:cs typeface="Times New Roman"/>
              </a:rPr>
              <a:t>utilizada</a:t>
            </a:r>
            <a:r>
              <a:rPr sz="2400" spc="5" dirty="0">
                <a:latin typeface="Times New Roman"/>
                <a:cs typeface="Times New Roman"/>
              </a:rPr>
              <a:t> </a:t>
            </a:r>
            <a:r>
              <a:rPr sz="2400" dirty="0">
                <a:latin typeface="Times New Roman"/>
                <a:cs typeface="Times New Roman"/>
              </a:rPr>
              <a:t>es la (a) , aunque muchos </a:t>
            </a:r>
            <a:r>
              <a:rPr sz="2400" spc="-5" dirty="0">
                <a:latin typeface="Times New Roman"/>
                <a:cs typeface="Times New Roman"/>
              </a:rPr>
              <a:t>recomiendan</a:t>
            </a:r>
            <a:r>
              <a:rPr sz="2400" dirty="0">
                <a:latin typeface="Times New Roman"/>
                <a:cs typeface="Times New Roman"/>
              </a:rPr>
              <a:t> la (b).</a:t>
            </a:r>
          </a:p>
          <a:p>
            <a:pPr algn="just">
              <a:lnSpc>
                <a:spcPct val="100000"/>
              </a:lnSpc>
              <a:spcBef>
                <a:spcPts val="55"/>
              </a:spcBef>
            </a:pPr>
            <a:endParaRPr sz="2350" dirty="0">
              <a:latin typeface="Times New Roman"/>
              <a:cs typeface="Times New Roman"/>
            </a:endParaRPr>
          </a:p>
          <a:p>
            <a:pPr marL="12700" marR="5080" algn="just">
              <a:lnSpc>
                <a:spcPct val="95900"/>
              </a:lnSpc>
            </a:pPr>
            <a:r>
              <a:rPr sz="2400" b="1" spc="-5" dirty="0">
                <a:solidFill>
                  <a:srgbClr val="FF0000"/>
                </a:solidFill>
                <a:latin typeface="Times New Roman"/>
                <a:cs typeface="Times New Roman"/>
              </a:rPr>
              <a:t>Nota</a:t>
            </a:r>
            <a:r>
              <a:rPr sz="2400" spc="-5" dirty="0">
                <a:latin typeface="Times New Roman"/>
                <a:cs typeface="Times New Roman"/>
              </a:rPr>
              <a:t>:</a:t>
            </a:r>
            <a:r>
              <a:rPr sz="2400" spc="5" dirty="0">
                <a:latin typeface="Times New Roman"/>
                <a:cs typeface="Times New Roman"/>
              </a:rPr>
              <a:t> </a:t>
            </a:r>
            <a:r>
              <a:rPr sz="2400" dirty="0">
                <a:latin typeface="Times New Roman"/>
                <a:cs typeface="Times New Roman"/>
              </a:rPr>
              <a:t>los</a:t>
            </a:r>
            <a:r>
              <a:rPr sz="2400" spc="10" dirty="0">
                <a:latin typeface="Times New Roman"/>
                <a:cs typeface="Times New Roman"/>
              </a:rPr>
              <a:t> </a:t>
            </a:r>
            <a:r>
              <a:rPr sz="2400" spc="-5" dirty="0">
                <a:latin typeface="Times New Roman"/>
                <a:cs typeface="Times New Roman"/>
              </a:rPr>
              <a:t>paquetes</a:t>
            </a:r>
            <a:r>
              <a:rPr sz="2400" spc="5" dirty="0">
                <a:latin typeface="Times New Roman"/>
                <a:cs typeface="Times New Roman"/>
              </a:rPr>
              <a:t> </a:t>
            </a:r>
            <a:r>
              <a:rPr sz="2400" spc="-5" dirty="0">
                <a:latin typeface="Times New Roman"/>
                <a:cs typeface="Times New Roman"/>
              </a:rPr>
              <a:t>comerciales</a:t>
            </a:r>
            <a:r>
              <a:rPr sz="2400" spc="5" dirty="0">
                <a:latin typeface="Times New Roman"/>
                <a:cs typeface="Times New Roman"/>
              </a:rPr>
              <a:t> </a:t>
            </a:r>
            <a:r>
              <a:rPr sz="2400" spc="-5" dirty="0">
                <a:latin typeface="Times New Roman"/>
                <a:cs typeface="Times New Roman"/>
              </a:rPr>
              <a:t>como</a:t>
            </a:r>
            <a:r>
              <a:rPr sz="2400" spc="5" dirty="0">
                <a:latin typeface="Times New Roman"/>
                <a:cs typeface="Times New Roman"/>
              </a:rPr>
              <a:t> </a:t>
            </a:r>
            <a:r>
              <a:rPr sz="2400" spc="-5" dirty="0">
                <a:latin typeface="Times New Roman"/>
                <a:cs typeface="Times New Roman"/>
              </a:rPr>
              <a:t>SAS,</a:t>
            </a:r>
            <a:r>
              <a:rPr sz="2400" spc="10" dirty="0">
                <a:latin typeface="Times New Roman"/>
                <a:cs typeface="Times New Roman"/>
              </a:rPr>
              <a:t> </a:t>
            </a:r>
            <a:r>
              <a:rPr sz="2400" spc="-5" dirty="0">
                <a:latin typeface="Times New Roman"/>
                <a:cs typeface="Times New Roman"/>
              </a:rPr>
              <a:t>SPSS,</a:t>
            </a:r>
            <a:r>
              <a:rPr sz="2400" spc="15" dirty="0">
                <a:latin typeface="Times New Roman"/>
                <a:cs typeface="Times New Roman"/>
              </a:rPr>
              <a:t> </a:t>
            </a:r>
            <a:r>
              <a:rPr sz="2400" dirty="0">
                <a:latin typeface="Times New Roman"/>
                <a:cs typeface="Times New Roman"/>
              </a:rPr>
              <a:t>etc.</a:t>
            </a:r>
            <a:r>
              <a:rPr sz="2400" spc="10" dirty="0">
                <a:latin typeface="Times New Roman"/>
                <a:cs typeface="Times New Roman"/>
              </a:rPr>
              <a:t> </a:t>
            </a:r>
            <a:r>
              <a:rPr sz="2400" spc="-5" dirty="0">
                <a:latin typeface="Times New Roman"/>
                <a:cs typeface="Times New Roman"/>
              </a:rPr>
              <a:t>realizan</a:t>
            </a:r>
            <a:r>
              <a:rPr sz="2400" dirty="0">
                <a:latin typeface="Times New Roman"/>
                <a:cs typeface="Times New Roman"/>
              </a:rPr>
              <a:t> </a:t>
            </a:r>
            <a:r>
              <a:rPr sz="2400" spc="-5" dirty="0">
                <a:latin typeface="Times New Roman"/>
                <a:cs typeface="Times New Roman"/>
              </a:rPr>
              <a:t>automáticamente </a:t>
            </a:r>
            <a:r>
              <a:rPr sz="2400" dirty="0">
                <a:latin typeface="Times New Roman"/>
                <a:cs typeface="Times New Roman"/>
              </a:rPr>
              <a:t> estas</a:t>
            </a:r>
            <a:r>
              <a:rPr sz="2400" spc="5" dirty="0">
                <a:latin typeface="Times New Roman"/>
                <a:cs typeface="Times New Roman"/>
              </a:rPr>
              <a:t> </a:t>
            </a:r>
            <a:r>
              <a:rPr sz="2400" dirty="0">
                <a:latin typeface="Times New Roman"/>
                <a:cs typeface="Times New Roman"/>
              </a:rPr>
              <a:t>tareas</a:t>
            </a:r>
            <a:r>
              <a:rPr sz="2400" spc="-10" dirty="0">
                <a:latin typeface="Times New Roman"/>
                <a:cs typeface="Times New Roman"/>
              </a:rPr>
              <a:t> </a:t>
            </a:r>
            <a:r>
              <a:rPr sz="2400" dirty="0">
                <a:latin typeface="Times New Roman"/>
                <a:cs typeface="Times New Roman"/>
              </a:rPr>
              <a:t>de</a:t>
            </a:r>
            <a:r>
              <a:rPr sz="2400" spc="10" dirty="0">
                <a:latin typeface="Times New Roman"/>
                <a:cs typeface="Times New Roman"/>
              </a:rPr>
              <a:t> </a:t>
            </a:r>
            <a:r>
              <a:rPr sz="2400" spc="-5" dirty="0">
                <a:latin typeface="Times New Roman"/>
                <a:cs typeface="Times New Roman"/>
              </a:rPr>
              <a:t>preprocesado</a:t>
            </a:r>
            <a:r>
              <a:rPr sz="2400" spc="5" dirty="0">
                <a:latin typeface="Times New Roman"/>
                <a:cs typeface="Times New Roman"/>
              </a:rPr>
              <a:t> </a:t>
            </a:r>
            <a:r>
              <a:rPr sz="2400" spc="-5" dirty="0">
                <a:latin typeface="Times New Roman"/>
                <a:cs typeface="Times New Roman"/>
              </a:rPr>
              <a:t>simplificando</a:t>
            </a:r>
            <a:r>
              <a:rPr sz="2400" spc="10" dirty="0">
                <a:latin typeface="Times New Roman"/>
                <a:cs typeface="Times New Roman"/>
              </a:rPr>
              <a:t> </a:t>
            </a:r>
            <a:r>
              <a:rPr sz="2400" dirty="0">
                <a:latin typeface="Times New Roman"/>
                <a:cs typeface="Times New Roman"/>
              </a:rPr>
              <a:t>la</a:t>
            </a:r>
            <a:r>
              <a:rPr sz="2400" spc="5" dirty="0">
                <a:latin typeface="Times New Roman"/>
                <a:cs typeface="Times New Roman"/>
              </a:rPr>
              <a:t> </a:t>
            </a:r>
            <a:r>
              <a:rPr sz="2400" spc="-5" dirty="0">
                <a:latin typeface="Times New Roman"/>
                <a:cs typeface="Times New Roman"/>
              </a:rPr>
              <a:t>construcción</a:t>
            </a:r>
            <a:r>
              <a:rPr sz="2400" spc="10" dirty="0">
                <a:latin typeface="Times New Roman"/>
                <a:cs typeface="Times New Roman"/>
              </a:rPr>
              <a:t> </a:t>
            </a:r>
            <a:r>
              <a:rPr sz="2400" dirty="0">
                <a:latin typeface="Times New Roman"/>
                <a:cs typeface="Times New Roman"/>
              </a:rPr>
              <a:t>de</a:t>
            </a:r>
            <a:r>
              <a:rPr sz="2400" spc="-5" dirty="0">
                <a:latin typeface="Times New Roman"/>
                <a:cs typeface="Times New Roman"/>
              </a:rPr>
              <a:t> </a:t>
            </a:r>
            <a:r>
              <a:rPr sz="2400" dirty="0">
                <a:latin typeface="Times New Roman"/>
                <a:cs typeface="Times New Roman"/>
              </a:rPr>
              <a:t>modelos</a:t>
            </a:r>
            <a:r>
              <a:rPr sz="2400" spc="10" dirty="0">
                <a:latin typeface="Times New Roman"/>
                <a:cs typeface="Times New Roman"/>
              </a:rPr>
              <a:t> </a:t>
            </a:r>
            <a:r>
              <a:rPr sz="2400" dirty="0">
                <a:latin typeface="Times New Roman"/>
                <a:cs typeface="Times New Roman"/>
              </a:rPr>
              <a:t>al</a:t>
            </a:r>
            <a:r>
              <a:rPr sz="2400" spc="10" dirty="0">
                <a:latin typeface="Times New Roman"/>
                <a:cs typeface="Times New Roman"/>
              </a:rPr>
              <a:t> </a:t>
            </a:r>
            <a:r>
              <a:rPr sz="2400" spc="-5" dirty="0" err="1">
                <a:latin typeface="Times New Roman"/>
                <a:cs typeface="Times New Roman"/>
              </a:rPr>
              <a:t>usuario</a:t>
            </a:r>
            <a:r>
              <a:rPr sz="2400" spc="-5" dirty="0" smtClean="0">
                <a:latin typeface="Times New Roman"/>
                <a:cs typeface="Times New Roman"/>
              </a:rPr>
              <a:t>.</a:t>
            </a:r>
            <a:r>
              <a:rPr sz="2400" spc="-585" dirty="0" smtClean="0">
                <a:latin typeface="Times New Roman"/>
                <a:cs typeface="Times New Roman"/>
              </a:rPr>
              <a:t> </a:t>
            </a:r>
            <a:r>
              <a:rPr sz="2400" b="1" spc="-5" dirty="0">
                <a:latin typeface="Times New Roman"/>
                <a:cs typeface="Times New Roman"/>
              </a:rPr>
              <a:t>Desgraciadamente</a:t>
            </a:r>
            <a:r>
              <a:rPr sz="2400" spc="-5" dirty="0">
                <a:latin typeface="Times New Roman"/>
                <a:cs typeface="Times New Roman"/>
              </a:rPr>
              <a:t>,</a:t>
            </a:r>
            <a:r>
              <a:rPr sz="2400" dirty="0">
                <a:latin typeface="Times New Roman"/>
                <a:cs typeface="Times New Roman"/>
              </a:rPr>
              <a:t> en</a:t>
            </a:r>
            <a:r>
              <a:rPr sz="2400" spc="-10" dirty="0">
                <a:latin typeface="Times New Roman"/>
                <a:cs typeface="Times New Roman"/>
              </a:rPr>
              <a:t> </a:t>
            </a:r>
            <a:r>
              <a:rPr sz="2400" spc="-5" dirty="0">
                <a:latin typeface="Times New Roman"/>
                <a:cs typeface="Times New Roman"/>
              </a:rPr>
              <a:t>software</a:t>
            </a:r>
            <a:r>
              <a:rPr sz="2400" dirty="0">
                <a:latin typeface="Times New Roman"/>
                <a:cs typeface="Times New Roman"/>
              </a:rPr>
              <a:t> </a:t>
            </a:r>
            <a:r>
              <a:rPr sz="2400" spc="-5" dirty="0">
                <a:latin typeface="Times New Roman"/>
                <a:cs typeface="Times New Roman"/>
              </a:rPr>
              <a:t>libre</a:t>
            </a:r>
            <a:r>
              <a:rPr sz="2400" dirty="0">
                <a:latin typeface="Times New Roman"/>
                <a:cs typeface="Times New Roman"/>
              </a:rPr>
              <a:t> tipo R y </a:t>
            </a:r>
            <a:r>
              <a:rPr sz="2400" spc="-5" dirty="0">
                <a:latin typeface="Times New Roman"/>
                <a:cs typeface="Times New Roman"/>
              </a:rPr>
              <a:t>Python tendremos</a:t>
            </a:r>
            <a:r>
              <a:rPr sz="2400" dirty="0">
                <a:latin typeface="Times New Roman"/>
                <a:cs typeface="Times New Roman"/>
              </a:rPr>
              <a:t> que realizarlas </a:t>
            </a:r>
            <a:r>
              <a:rPr sz="2400" spc="5" dirty="0">
                <a:latin typeface="Times New Roman"/>
                <a:cs typeface="Times New Roman"/>
              </a:rPr>
              <a:t> </a:t>
            </a:r>
            <a:r>
              <a:rPr sz="2400" spc="-5" dirty="0">
                <a:latin typeface="Times New Roman"/>
                <a:cs typeface="Times New Roman"/>
              </a:rPr>
              <a:t>semi-manualmente.</a:t>
            </a:r>
            <a:endParaRPr sz="2400" dirty="0">
              <a:latin typeface="Times New Roman"/>
              <a:cs typeface="Times New Roman"/>
            </a:endParaRPr>
          </a:p>
        </p:txBody>
      </p:sp>
    </p:spTree>
    <p:extLst>
      <p:ext uri="{BB962C8B-B14F-4D97-AF65-F5344CB8AC3E}">
        <p14:creationId xmlns:p14="http://schemas.microsoft.com/office/powerpoint/2010/main" val="1544560119"/>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8226" y="314959"/>
            <a:ext cx="4531360"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538DD3"/>
                </a:solidFill>
                <a:latin typeface="Times New Roman"/>
                <a:cs typeface="Times New Roman"/>
              </a:rPr>
              <a:t>Arquitectura</a:t>
            </a:r>
            <a:r>
              <a:rPr sz="3600" b="1" spc="-35" dirty="0">
                <a:solidFill>
                  <a:srgbClr val="538DD3"/>
                </a:solidFill>
                <a:latin typeface="Times New Roman"/>
                <a:cs typeface="Times New Roman"/>
              </a:rPr>
              <a:t> </a:t>
            </a:r>
            <a:r>
              <a:rPr sz="3600" b="1" spc="-5" dirty="0">
                <a:solidFill>
                  <a:srgbClr val="538DD3"/>
                </a:solidFill>
                <a:latin typeface="Times New Roman"/>
                <a:cs typeface="Times New Roman"/>
              </a:rPr>
              <a:t>de</a:t>
            </a:r>
            <a:r>
              <a:rPr sz="3600" b="1" spc="-35" dirty="0">
                <a:solidFill>
                  <a:srgbClr val="538DD3"/>
                </a:solidFill>
                <a:latin typeface="Times New Roman"/>
                <a:cs typeface="Times New Roman"/>
              </a:rPr>
              <a:t> </a:t>
            </a:r>
            <a:r>
              <a:rPr sz="3600" b="1" dirty="0">
                <a:solidFill>
                  <a:srgbClr val="538DD3"/>
                </a:solidFill>
                <a:latin typeface="Times New Roman"/>
                <a:cs typeface="Times New Roman"/>
              </a:rPr>
              <a:t>la</a:t>
            </a:r>
            <a:r>
              <a:rPr sz="3600" b="1" spc="-25" dirty="0">
                <a:solidFill>
                  <a:srgbClr val="538DD3"/>
                </a:solidFill>
                <a:latin typeface="Times New Roman"/>
                <a:cs typeface="Times New Roman"/>
              </a:rPr>
              <a:t> </a:t>
            </a:r>
            <a:r>
              <a:rPr sz="3600" b="1" spc="-5" dirty="0">
                <a:solidFill>
                  <a:srgbClr val="538DD3"/>
                </a:solidFill>
                <a:latin typeface="Times New Roman"/>
                <a:cs typeface="Times New Roman"/>
              </a:rPr>
              <a:t>Red</a:t>
            </a:r>
            <a:endParaRPr sz="3600">
              <a:latin typeface="Times New Roman"/>
              <a:cs typeface="Times New Roman"/>
            </a:endParaRPr>
          </a:p>
        </p:txBody>
      </p:sp>
      <p:sp>
        <p:nvSpPr>
          <p:cNvPr id="3" name="object 3"/>
          <p:cNvSpPr txBox="1"/>
          <p:nvPr/>
        </p:nvSpPr>
        <p:spPr>
          <a:xfrm>
            <a:off x="698500" y="1266825"/>
            <a:ext cx="9642093" cy="5772093"/>
          </a:xfrm>
          <a:prstGeom prst="rect">
            <a:avLst/>
          </a:prstGeom>
        </p:spPr>
        <p:txBody>
          <a:bodyPr vert="horz" wrap="square" lIns="0" tIns="12700" rIns="0" bIns="0" rtlCol="0">
            <a:spAutoFit/>
          </a:bodyPr>
          <a:lstStyle/>
          <a:p>
            <a:pPr marL="3175" algn="ctr">
              <a:lnSpc>
                <a:spcPct val="100000"/>
              </a:lnSpc>
              <a:spcBef>
                <a:spcPts val="100"/>
              </a:spcBef>
            </a:pPr>
            <a:r>
              <a:rPr sz="2400" spc="-5" dirty="0">
                <a:solidFill>
                  <a:srgbClr val="365F91"/>
                </a:solidFill>
                <a:latin typeface="Times New Roman"/>
                <a:cs typeface="Times New Roman"/>
              </a:rPr>
              <a:t>Número</a:t>
            </a:r>
            <a:r>
              <a:rPr sz="2400" spc="-15" dirty="0">
                <a:solidFill>
                  <a:srgbClr val="365F91"/>
                </a:solidFill>
                <a:latin typeface="Times New Roman"/>
                <a:cs typeface="Times New Roman"/>
              </a:rPr>
              <a:t> </a:t>
            </a:r>
            <a:r>
              <a:rPr sz="2400" dirty="0">
                <a:solidFill>
                  <a:srgbClr val="365F91"/>
                </a:solidFill>
                <a:latin typeface="Times New Roman"/>
                <a:cs typeface="Times New Roman"/>
              </a:rPr>
              <a:t>de</a:t>
            </a:r>
            <a:r>
              <a:rPr sz="2400" spc="-15" dirty="0">
                <a:solidFill>
                  <a:srgbClr val="365F91"/>
                </a:solidFill>
                <a:latin typeface="Times New Roman"/>
                <a:cs typeface="Times New Roman"/>
              </a:rPr>
              <a:t> </a:t>
            </a:r>
            <a:r>
              <a:rPr sz="2400" dirty="0">
                <a:solidFill>
                  <a:srgbClr val="365F91"/>
                </a:solidFill>
                <a:latin typeface="Times New Roman"/>
                <a:cs typeface="Times New Roman"/>
              </a:rPr>
              <a:t>capas</a:t>
            </a:r>
            <a:r>
              <a:rPr sz="2400" spc="-15" dirty="0">
                <a:solidFill>
                  <a:srgbClr val="365F91"/>
                </a:solidFill>
                <a:latin typeface="Times New Roman"/>
                <a:cs typeface="Times New Roman"/>
              </a:rPr>
              <a:t> </a:t>
            </a:r>
            <a:r>
              <a:rPr sz="2400" spc="-5" dirty="0">
                <a:solidFill>
                  <a:srgbClr val="365F91"/>
                </a:solidFill>
                <a:latin typeface="Times New Roman"/>
                <a:cs typeface="Times New Roman"/>
              </a:rPr>
              <a:t>ocultas</a:t>
            </a:r>
            <a:endParaRPr sz="2400" dirty="0">
              <a:latin typeface="Times New Roman"/>
              <a:cs typeface="Times New Roman"/>
            </a:endParaRPr>
          </a:p>
          <a:p>
            <a:pPr>
              <a:lnSpc>
                <a:spcPct val="100000"/>
              </a:lnSpc>
              <a:spcBef>
                <a:spcPts val="55"/>
              </a:spcBef>
            </a:pPr>
            <a:endParaRPr sz="2350" dirty="0">
              <a:latin typeface="Times New Roman"/>
              <a:cs typeface="Times New Roman"/>
            </a:endParaRPr>
          </a:p>
          <a:p>
            <a:pPr marL="12700" marR="393065">
              <a:lnSpc>
                <a:spcPct val="95900"/>
              </a:lnSpc>
            </a:pPr>
            <a:r>
              <a:rPr lang="es-ES" sz="2400" spc="-5" dirty="0" smtClean="0">
                <a:latin typeface="Times New Roman"/>
                <a:cs typeface="Times New Roman"/>
              </a:rPr>
              <a:t>C</a:t>
            </a:r>
            <a:r>
              <a:rPr sz="2400" dirty="0" smtClean="0">
                <a:latin typeface="Times New Roman"/>
                <a:cs typeface="Times New Roman"/>
              </a:rPr>
              <a:t>on </a:t>
            </a:r>
            <a:r>
              <a:rPr sz="2400" b="1" dirty="0">
                <a:latin typeface="Times New Roman"/>
                <a:cs typeface="Times New Roman"/>
              </a:rPr>
              <a:t>una capa</a:t>
            </a:r>
            <a:r>
              <a:rPr sz="2400" b="1" spc="5" dirty="0">
                <a:latin typeface="Times New Roman"/>
                <a:cs typeface="Times New Roman"/>
              </a:rPr>
              <a:t> </a:t>
            </a:r>
            <a:r>
              <a:rPr sz="2400" b="1" spc="-5" dirty="0">
                <a:latin typeface="Times New Roman"/>
                <a:cs typeface="Times New Roman"/>
              </a:rPr>
              <a:t>oculta</a:t>
            </a:r>
            <a:r>
              <a:rPr sz="2400" dirty="0">
                <a:latin typeface="Times New Roman"/>
                <a:cs typeface="Times New Roman"/>
              </a:rPr>
              <a:t> en la mayor parte </a:t>
            </a:r>
            <a:r>
              <a:rPr sz="2400" spc="-5" dirty="0">
                <a:latin typeface="Times New Roman"/>
                <a:cs typeface="Times New Roman"/>
              </a:rPr>
              <a:t>de</a:t>
            </a:r>
            <a:r>
              <a:rPr sz="2400" dirty="0">
                <a:latin typeface="Times New Roman"/>
                <a:cs typeface="Times New Roman"/>
              </a:rPr>
              <a:t> </a:t>
            </a:r>
            <a:r>
              <a:rPr sz="2400" dirty="0" err="1">
                <a:latin typeface="Times New Roman"/>
                <a:cs typeface="Times New Roman"/>
              </a:rPr>
              <a:t>los</a:t>
            </a:r>
            <a:r>
              <a:rPr sz="2400" dirty="0">
                <a:latin typeface="Times New Roman"/>
                <a:cs typeface="Times New Roman"/>
              </a:rPr>
              <a:t> </a:t>
            </a:r>
            <a:r>
              <a:rPr lang="es-ES" sz="2400" spc="-5" dirty="0" smtClean="0">
                <a:latin typeface="Times New Roman"/>
                <a:cs typeface="Times New Roman"/>
              </a:rPr>
              <a:t>problemas de clasificación/regresión</a:t>
            </a:r>
            <a:r>
              <a:rPr sz="2400" spc="-5" dirty="0" smtClean="0">
                <a:latin typeface="Times New Roman"/>
                <a:cs typeface="Times New Roman"/>
              </a:rPr>
              <a:t> </a:t>
            </a:r>
            <a:r>
              <a:rPr sz="2400" spc="-5" dirty="0">
                <a:latin typeface="Times New Roman"/>
                <a:cs typeface="Times New Roman"/>
              </a:rPr>
              <a:t>suele</a:t>
            </a:r>
            <a:r>
              <a:rPr sz="2400" dirty="0">
                <a:latin typeface="Times New Roman"/>
                <a:cs typeface="Times New Roman"/>
              </a:rPr>
              <a:t> </a:t>
            </a:r>
            <a:r>
              <a:rPr sz="2400" spc="-5" dirty="0">
                <a:latin typeface="Times New Roman"/>
                <a:cs typeface="Times New Roman"/>
              </a:rPr>
              <a:t>ser suficiente </a:t>
            </a:r>
            <a:r>
              <a:rPr sz="2400" spc="-585" dirty="0">
                <a:latin typeface="Times New Roman"/>
                <a:cs typeface="Times New Roman"/>
              </a:rPr>
              <a:t> </a:t>
            </a:r>
            <a:r>
              <a:rPr sz="2400" dirty="0">
                <a:latin typeface="Times New Roman"/>
                <a:cs typeface="Times New Roman"/>
              </a:rPr>
              <a:t>(los </a:t>
            </a:r>
            <a:r>
              <a:rPr sz="2400" spc="-5" dirty="0">
                <a:latin typeface="Times New Roman"/>
                <a:cs typeface="Times New Roman"/>
              </a:rPr>
              <a:t>teoremas</a:t>
            </a:r>
            <a:r>
              <a:rPr sz="2400" spc="5" dirty="0">
                <a:latin typeface="Times New Roman"/>
                <a:cs typeface="Times New Roman"/>
              </a:rPr>
              <a:t> </a:t>
            </a:r>
            <a:r>
              <a:rPr sz="2400" dirty="0">
                <a:latin typeface="Times New Roman"/>
                <a:cs typeface="Times New Roman"/>
              </a:rPr>
              <a:t>de</a:t>
            </a:r>
            <a:r>
              <a:rPr sz="2400" spc="5" dirty="0">
                <a:latin typeface="Times New Roman"/>
                <a:cs typeface="Times New Roman"/>
              </a:rPr>
              <a:t> </a:t>
            </a:r>
            <a:r>
              <a:rPr sz="2400" spc="-5" dirty="0">
                <a:latin typeface="Times New Roman"/>
                <a:cs typeface="Times New Roman"/>
              </a:rPr>
              <a:t>aproximación</a:t>
            </a:r>
            <a:r>
              <a:rPr sz="2400" dirty="0">
                <a:latin typeface="Times New Roman"/>
                <a:cs typeface="Times New Roman"/>
              </a:rPr>
              <a:t> así</a:t>
            </a:r>
            <a:r>
              <a:rPr sz="2400" spc="10" dirty="0">
                <a:latin typeface="Times New Roman"/>
                <a:cs typeface="Times New Roman"/>
              </a:rPr>
              <a:t> </a:t>
            </a:r>
            <a:r>
              <a:rPr sz="2400" spc="-5" dirty="0">
                <a:latin typeface="Times New Roman"/>
                <a:cs typeface="Times New Roman"/>
              </a:rPr>
              <a:t>lo</a:t>
            </a:r>
            <a:r>
              <a:rPr sz="2400" spc="5" dirty="0">
                <a:latin typeface="Times New Roman"/>
                <a:cs typeface="Times New Roman"/>
              </a:rPr>
              <a:t> </a:t>
            </a:r>
            <a:r>
              <a:rPr sz="2400" spc="-5" dirty="0" err="1">
                <a:latin typeface="Times New Roman"/>
                <a:cs typeface="Times New Roman"/>
              </a:rPr>
              <a:t>aseguran</a:t>
            </a:r>
            <a:r>
              <a:rPr sz="2400" spc="-5" dirty="0" smtClean="0">
                <a:latin typeface="Times New Roman"/>
                <a:cs typeface="Times New Roman"/>
              </a:rPr>
              <a:t>)</a:t>
            </a:r>
            <a:r>
              <a:rPr lang="es-ES" sz="2400" spc="-5" dirty="0" smtClean="0">
                <a:latin typeface="Times New Roman"/>
                <a:cs typeface="Times New Roman"/>
              </a:rPr>
              <a:t>.</a:t>
            </a:r>
          </a:p>
          <a:p>
            <a:pPr marL="12700" marR="393065">
              <a:lnSpc>
                <a:spcPct val="95900"/>
              </a:lnSpc>
            </a:pPr>
            <a:r>
              <a:rPr sz="2400" dirty="0" smtClean="0">
                <a:latin typeface="Times New Roman"/>
                <a:cs typeface="Times New Roman"/>
              </a:rPr>
              <a:t> </a:t>
            </a:r>
            <a:endParaRPr lang="es-ES" sz="2400" dirty="0">
              <a:latin typeface="Times New Roman"/>
              <a:cs typeface="Times New Roman"/>
            </a:endParaRPr>
          </a:p>
          <a:p>
            <a:pPr marL="12700" marR="393065">
              <a:lnSpc>
                <a:spcPct val="95900"/>
              </a:lnSpc>
            </a:pPr>
            <a:r>
              <a:rPr lang="es-ES" sz="2400" dirty="0" smtClean="0">
                <a:latin typeface="Times New Roman"/>
                <a:cs typeface="Times New Roman"/>
              </a:rPr>
              <a:t>C</a:t>
            </a:r>
            <a:r>
              <a:rPr sz="2400" dirty="0" err="1" smtClean="0">
                <a:latin typeface="Times New Roman"/>
                <a:cs typeface="Times New Roman"/>
              </a:rPr>
              <a:t>iertos</a:t>
            </a:r>
            <a:r>
              <a:rPr sz="2400" spc="5" dirty="0" smtClean="0">
                <a:latin typeface="Times New Roman"/>
                <a:cs typeface="Times New Roman"/>
              </a:rPr>
              <a:t> </a:t>
            </a:r>
            <a:r>
              <a:rPr sz="2400" dirty="0" err="1">
                <a:latin typeface="Times New Roman"/>
                <a:cs typeface="Times New Roman"/>
              </a:rPr>
              <a:t>casos</a:t>
            </a:r>
            <a:r>
              <a:rPr sz="2400" dirty="0">
                <a:latin typeface="Times New Roman"/>
                <a:cs typeface="Times New Roman"/>
              </a:rPr>
              <a:t> </a:t>
            </a:r>
            <a:r>
              <a:rPr sz="2400" spc="-5" dirty="0" err="1" smtClean="0">
                <a:latin typeface="Times New Roman"/>
                <a:cs typeface="Times New Roman"/>
              </a:rPr>
              <a:t>complejo</a:t>
            </a:r>
            <a:r>
              <a:rPr lang="es-ES" sz="2400" spc="-5" dirty="0" smtClean="0">
                <a:latin typeface="Times New Roman"/>
                <a:cs typeface="Times New Roman"/>
              </a:rPr>
              <a:t>, sobre todo relacionados con análisis de imagen o texto, pueden preciar de modelos más complejos con una sola capa oculta.</a:t>
            </a:r>
            <a:endParaRPr sz="2400" dirty="0">
              <a:latin typeface="Times New Roman"/>
              <a:cs typeface="Times New Roman"/>
            </a:endParaRPr>
          </a:p>
          <a:p>
            <a:pPr>
              <a:lnSpc>
                <a:spcPct val="100000"/>
              </a:lnSpc>
              <a:spcBef>
                <a:spcPts val="55"/>
              </a:spcBef>
            </a:pPr>
            <a:endParaRPr sz="2350" dirty="0">
              <a:latin typeface="Times New Roman"/>
              <a:cs typeface="Times New Roman"/>
            </a:endParaRPr>
          </a:p>
          <a:p>
            <a:pPr marL="12700" marR="5080">
              <a:lnSpc>
                <a:spcPct val="95900"/>
              </a:lnSpc>
            </a:pPr>
            <a:r>
              <a:rPr sz="2400" spc="-5" dirty="0">
                <a:latin typeface="Times New Roman"/>
                <a:cs typeface="Times New Roman"/>
              </a:rPr>
              <a:t>Recientemente,</a:t>
            </a:r>
            <a:r>
              <a:rPr sz="2400" dirty="0">
                <a:latin typeface="Times New Roman"/>
                <a:cs typeface="Times New Roman"/>
              </a:rPr>
              <a:t> </a:t>
            </a:r>
            <a:r>
              <a:rPr sz="2400" spc="-5" dirty="0">
                <a:latin typeface="Times New Roman"/>
                <a:cs typeface="Times New Roman"/>
              </a:rPr>
              <a:t>se</a:t>
            </a:r>
            <a:r>
              <a:rPr sz="2400" dirty="0">
                <a:latin typeface="Times New Roman"/>
                <a:cs typeface="Times New Roman"/>
              </a:rPr>
              <a:t> ha</a:t>
            </a:r>
            <a:r>
              <a:rPr sz="2400" spc="-10" dirty="0">
                <a:latin typeface="Times New Roman"/>
                <a:cs typeface="Times New Roman"/>
              </a:rPr>
              <a:t> </a:t>
            </a:r>
            <a:r>
              <a:rPr sz="2400" dirty="0">
                <a:latin typeface="Times New Roman"/>
                <a:cs typeface="Times New Roman"/>
              </a:rPr>
              <a:t>impuesto el</a:t>
            </a:r>
            <a:r>
              <a:rPr sz="2400" spc="10" dirty="0">
                <a:latin typeface="Times New Roman"/>
                <a:cs typeface="Times New Roman"/>
              </a:rPr>
              <a:t> </a:t>
            </a:r>
            <a:r>
              <a:rPr sz="2400" spc="-10" dirty="0">
                <a:latin typeface="Times New Roman"/>
                <a:cs typeface="Times New Roman"/>
              </a:rPr>
              <a:t>uso</a:t>
            </a:r>
            <a:r>
              <a:rPr sz="2400" dirty="0">
                <a:latin typeface="Times New Roman"/>
                <a:cs typeface="Times New Roman"/>
              </a:rPr>
              <a:t> de </a:t>
            </a:r>
            <a:r>
              <a:rPr sz="2400" spc="-10" dirty="0">
                <a:latin typeface="Times New Roman"/>
                <a:cs typeface="Times New Roman"/>
              </a:rPr>
              <a:t>más</a:t>
            </a:r>
            <a:r>
              <a:rPr sz="2400" dirty="0">
                <a:latin typeface="Times New Roman"/>
                <a:cs typeface="Times New Roman"/>
              </a:rPr>
              <a:t> capas ocultas</a:t>
            </a:r>
            <a:r>
              <a:rPr sz="2400" spc="-5" dirty="0">
                <a:latin typeface="Times New Roman"/>
                <a:cs typeface="Times New Roman"/>
              </a:rPr>
              <a:t> </a:t>
            </a:r>
            <a:r>
              <a:rPr sz="2400" dirty="0">
                <a:latin typeface="Times New Roman"/>
                <a:cs typeface="Times New Roman"/>
              </a:rPr>
              <a:t>que hace por </a:t>
            </a:r>
            <a:r>
              <a:rPr sz="2400" spc="-5" dirty="0">
                <a:latin typeface="Times New Roman"/>
                <a:cs typeface="Times New Roman"/>
              </a:rPr>
              <a:t>ejemplo </a:t>
            </a:r>
            <a:r>
              <a:rPr sz="2400" dirty="0">
                <a:latin typeface="Times New Roman"/>
                <a:cs typeface="Times New Roman"/>
              </a:rPr>
              <a:t> 5</a:t>
            </a:r>
            <a:r>
              <a:rPr sz="2400" spc="-5" dirty="0">
                <a:latin typeface="Times New Roman"/>
                <a:cs typeface="Times New Roman"/>
              </a:rPr>
              <a:t> </a:t>
            </a:r>
            <a:r>
              <a:rPr sz="2400" dirty="0">
                <a:latin typeface="Times New Roman"/>
                <a:cs typeface="Times New Roman"/>
              </a:rPr>
              <a:t>años, pero </a:t>
            </a:r>
            <a:r>
              <a:rPr sz="2400" spc="-5" dirty="0">
                <a:latin typeface="Times New Roman"/>
                <a:cs typeface="Times New Roman"/>
              </a:rPr>
              <a:t>sobre </a:t>
            </a:r>
            <a:r>
              <a:rPr sz="2400" dirty="0">
                <a:latin typeface="Times New Roman"/>
                <a:cs typeface="Times New Roman"/>
              </a:rPr>
              <a:t>todo </a:t>
            </a:r>
            <a:r>
              <a:rPr sz="2400" spc="-5" dirty="0">
                <a:latin typeface="Times New Roman"/>
                <a:cs typeface="Times New Roman"/>
              </a:rPr>
              <a:t>en</a:t>
            </a:r>
            <a:r>
              <a:rPr sz="2400" dirty="0">
                <a:latin typeface="Times New Roman"/>
                <a:cs typeface="Times New Roman"/>
              </a:rPr>
              <a:t> los</a:t>
            </a:r>
            <a:r>
              <a:rPr sz="2400" spc="5" dirty="0">
                <a:latin typeface="Times New Roman"/>
                <a:cs typeface="Times New Roman"/>
              </a:rPr>
              <a:t> </a:t>
            </a:r>
            <a:r>
              <a:rPr sz="2400" spc="-5" dirty="0">
                <a:latin typeface="Times New Roman"/>
                <a:cs typeface="Times New Roman"/>
              </a:rPr>
              <a:t>problemas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los que </a:t>
            </a:r>
            <a:r>
              <a:rPr sz="2400" spc="-5" dirty="0">
                <a:latin typeface="Times New Roman"/>
                <a:cs typeface="Times New Roman"/>
              </a:rPr>
              <a:t>se</a:t>
            </a:r>
            <a:r>
              <a:rPr sz="2400" dirty="0">
                <a:latin typeface="Times New Roman"/>
                <a:cs typeface="Times New Roman"/>
              </a:rPr>
              <a:t> </a:t>
            </a:r>
            <a:r>
              <a:rPr sz="2400" spc="-5" dirty="0">
                <a:latin typeface="Times New Roman"/>
                <a:cs typeface="Times New Roman"/>
              </a:rPr>
              <a:t>suele aplicar</a:t>
            </a:r>
            <a:r>
              <a:rPr sz="2400" dirty="0">
                <a:latin typeface="Times New Roman"/>
                <a:cs typeface="Times New Roman"/>
              </a:rPr>
              <a:t> </a:t>
            </a:r>
            <a:r>
              <a:rPr sz="2400" i="1" spc="-5" dirty="0">
                <a:latin typeface="Times New Roman"/>
                <a:cs typeface="Times New Roman"/>
              </a:rPr>
              <a:t>Deep Learning </a:t>
            </a:r>
            <a:r>
              <a:rPr sz="2400" i="1" spc="-585" dirty="0">
                <a:latin typeface="Times New Roman"/>
                <a:cs typeface="Times New Roman"/>
              </a:rPr>
              <a:t> </a:t>
            </a:r>
            <a:r>
              <a:rPr sz="2400" dirty="0">
                <a:latin typeface="Times New Roman"/>
                <a:cs typeface="Times New Roman"/>
              </a:rPr>
              <a:t>(proceso </a:t>
            </a:r>
            <a:r>
              <a:rPr sz="2400" spc="-10" dirty="0">
                <a:latin typeface="Times New Roman"/>
                <a:cs typeface="Times New Roman"/>
              </a:rPr>
              <a:t>de </a:t>
            </a:r>
            <a:r>
              <a:rPr sz="2400" spc="-5" dirty="0">
                <a:latin typeface="Times New Roman"/>
                <a:cs typeface="Times New Roman"/>
              </a:rPr>
              <a:t>imágenes, </a:t>
            </a:r>
            <a:r>
              <a:rPr sz="2400" dirty="0">
                <a:latin typeface="Times New Roman"/>
                <a:cs typeface="Times New Roman"/>
              </a:rPr>
              <a:t>texto,</a:t>
            </a:r>
            <a:r>
              <a:rPr sz="2400" spc="5" dirty="0">
                <a:latin typeface="Times New Roman"/>
                <a:cs typeface="Times New Roman"/>
              </a:rPr>
              <a:t> </a:t>
            </a:r>
            <a:r>
              <a:rPr sz="2400" dirty="0">
                <a:latin typeface="Times New Roman"/>
                <a:cs typeface="Times New Roman"/>
              </a:rPr>
              <a:t>sonido, etc.), que</a:t>
            </a:r>
            <a:r>
              <a:rPr sz="2400" spc="5" dirty="0">
                <a:latin typeface="Times New Roman"/>
                <a:cs typeface="Times New Roman"/>
              </a:rPr>
              <a:t> </a:t>
            </a:r>
            <a:r>
              <a:rPr sz="2400" spc="-5" dirty="0">
                <a:latin typeface="Times New Roman"/>
                <a:cs typeface="Times New Roman"/>
              </a:rPr>
              <a:t>por</a:t>
            </a:r>
            <a:r>
              <a:rPr sz="2400" spc="5" dirty="0">
                <a:latin typeface="Times New Roman"/>
                <a:cs typeface="Times New Roman"/>
              </a:rPr>
              <a:t> </a:t>
            </a:r>
            <a:r>
              <a:rPr sz="2400" dirty="0">
                <a:latin typeface="Times New Roman"/>
                <a:cs typeface="Times New Roman"/>
              </a:rPr>
              <a:t>su </a:t>
            </a:r>
            <a:r>
              <a:rPr sz="2400" spc="-5" dirty="0">
                <a:latin typeface="Times New Roman"/>
                <a:cs typeface="Times New Roman"/>
              </a:rPr>
              <a:t>complejidad</a:t>
            </a:r>
            <a:r>
              <a:rPr sz="2400" dirty="0">
                <a:latin typeface="Times New Roman"/>
                <a:cs typeface="Times New Roman"/>
              </a:rPr>
              <a:t> </a:t>
            </a:r>
            <a:r>
              <a:rPr sz="2400" spc="-5" dirty="0">
                <a:latin typeface="Times New Roman"/>
                <a:cs typeface="Times New Roman"/>
              </a:rPr>
              <a:t>necesitan </a:t>
            </a:r>
            <a:r>
              <a:rPr sz="2400" dirty="0">
                <a:latin typeface="Times New Roman"/>
                <a:cs typeface="Times New Roman"/>
              </a:rPr>
              <a:t> varias</a:t>
            </a:r>
            <a:r>
              <a:rPr sz="2400" spc="-20" dirty="0">
                <a:latin typeface="Times New Roman"/>
                <a:cs typeface="Times New Roman"/>
              </a:rPr>
              <a:t> </a:t>
            </a:r>
            <a:r>
              <a:rPr sz="2400" spc="-5" dirty="0">
                <a:latin typeface="Times New Roman"/>
                <a:cs typeface="Times New Roman"/>
              </a:rPr>
              <a:t>capas.</a:t>
            </a:r>
            <a:endParaRPr sz="2400" dirty="0">
              <a:latin typeface="Times New Roman"/>
              <a:cs typeface="Times New Roman"/>
            </a:endParaRPr>
          </a:p>
          <a:p>
            <a:pPr>
              <a:lnSpc>
                <a:spcPct val="100000"/>
              </a:lnSpc>
              <a:spcBef>
                <a:spcPts val="15"/>
              </a:spcBef>
            </a:pPr>
            <a:endParaRPr sz="2450" dirty="0">
              <a:latin typeface="Times New Roman"/>
              <a:cs typeface="Times New Roman"/>
            </a:endParaRPr>
          </a:p>
          <a:p>
            <a:pPr marL="12700" marR="752475">
              <a:lnSpc>
                <a:spcPts val="2760"/>
              </a:lnSpc>
            </a:pPr>
            <a:r>
              <a:rPr sz="2400" dirty="0">
                <a:latin typeface="Times New Roman"/>
                <a:cs typeface="Times New Roman"/>
              </a:rPr>
              <a:t>En</a:t>
            </a:r>
            <a:r>
              <a:rPr sz="2400" spc="-5" dirty="0">
                <a:latin typeface="Times New Roman"/>
                <a:cs typeface="Times New Roman"/>
              </a:rPr>
              <a:t> </a:t>
            </a:r>
            <a:r>
              <a:rPr sz="2400" dirty="0">
                <a:latin typeface="Times New Roman"/>
                <a:cs typeface="Times New Roman"/>
              </a:rPr>
              <a:t>muchas</a:t>
            </a:r>
            <a:r>
              <a:rPr sz="2400" spc="-15" dirty="0">
                <a:latin typeface="Times New Roman"/>
                <a:cs typeface="Times New Roman"/>
              </a:rPr>
              <a:t> </a:t>
            </a:r>
            <a:r>
              <a:rPr sz="2400" dirty="0">
                <a:latin typeface="Times New Roman"/>
                <a:cs typeface="Times New Roman"/>
              </a:rPr>
              <a:t>aplicaciones</a:t>
            </a:r>
            <a:r>
              <a:rPr sz="2400" spc="-30" dirty="0">
                <a:latin typeface="Times New Roman"/>
                <a:cs typeface="Times New Roman"/>
              </a:rPr>
              <a:t> </a:t>
            </a:r>
            <a:r>
              <a:rPr sz="2400" dirty="0">
                <a:latin typeface="Times New Roman"/>
                <a:cs typeface="Times New Roman"/>
              </a:rPr>
              <a:t>de</a:t>
            </a:r>
            <a:r>
              <a:rPr sz="2400" spc="-10" dirty="0">
                <a:latin typeface="Times New Roman"/>
                <a:cs typeface="Times New Roman"/>
              </a:rPr>
              <a:t> </a:t>
            </a:r>
            <a:r>
              <a:rPr sz="2400" dirty="0">
                <a:latin typeface="Times New Roman"/>
                <a:cs typeface="Times New Roman"/>
              </a:rPr>
              <a:t>modelos</a:t>
            </a:r>
            <a:r>
              <a:rPr sz="2400" spc="-5" dirty="0">
                <a:latin typeface="Times New Roman"/>
                <a:cs typeface="Times New Roman"/>
              </a:rPr>
              <a:t> </a:t>
            </a:r>
            <a:r>
              <a:rPr sz="2400" dirty="0">
                <a:latin typeface="Times New Roman"/>
                <a:cs typeface="Times New Roman"/>
              </a:rPr>
              <a:t>predictivos</a:t>
            </a:r>
            <a:r>
              <a:rPr sz="2400" spc="-20" dirty="0">
                <a:latin typeface="Times New Roman"/>
                <a:cs typeface="Times New Roman"/>
              </a:rPr>
              <a:t> </a:t>
            </a:r>
            <a:r>
              <a:rPr sz="2400" dirty="0">
                <a:latin typeface="Times New Roman"/>
                <a:cs typeface="Times New Roman"/>
              </a:rPr>
              <a:t>en</a:t>
            </a:r>
            <a:r>
              <a:rPr sz="2400" spc="-10" dirty="0">
                <a:latin typeface="Times New Roman"/>
                <a:cs typeface="Times New Roman"/>
              </a:rPr>
              <a:t> </a:t>
            </a:r>
            <a:r>
              <a:rPr sz="2400" dirty="0">
                <a:latin typeface="Times New Roman"/>
                <a:cs typeface="Times New Roman"/>
              </a:rPr>
              <a:t>inteligencia</a:t>
            </a:r>
            <a:r>
              <a:rPr sz="2400" spc="-10" dirty="0">
                <a:latin typeface="Times New Roman"/>
                <a:cs typeface="Times New Roman"/>
              </a:rPr>
              <a:t> </a:t>
            </a:r>
            <a:r>
              <a:rPr sz="2400" dirty="0">
                <a:latin typeface="Times New Roman"/>
                <a:cs typeface="Times New Roman"/>
              </a:rPr>
              <a:t>de</a:t>
            </a:r>
            <a:r>
              <a:rPr sz="2400" spc="-10" dirty="0">
                <a:latin typeface="Times New Roman"/>
                <a:cs typeface="Times New Roman"/>
              </a:rPr>
              <a:t> </a:t>
            </a:r>
            <a:r>
              <a:rPr sz="2400" dirty="0">
                <a:latin typeface="Times New Roman"/>
                <a:cs typeface="Times New Roman"/>
              </a:rPr>
              <a:t>negocios </a:t>
            </a:r>
            <a:r>
              <a:rPr sz="2400" spc="-585" dirty="0">
                <a:latin typeface="Times New Roman"/>
                <a:cs typeface="Times New Roman"/>
              </a:rPr>
              <a:t> </a:t>
            </a:r>
            <a:r>
              <a:rPr sz="2400" spc="-5" dirty="0">
                <a:latin typeface="Times New Roman"/>
                <a:cs typeface="Times New Roman"/>
              </a:rPr>
              <a:t>suele</a:t>
            </a:r>
            <a:r>
              <a:rPr sz="2400" spc="-10" dirty="0">
                <a:latin typeface="Times New Roman"/>
                <a:cs typeface="Times New Roman"/>
              </a:rPr>
              <a:t> </a:t>
            </a:r>
            <a:r>
              <a:rPr sz="2400" spc="-5" dirty="0">
                <a:latin typeface="Times New Roman"/>
                <a:cs typeface="Times New Roman"/>
              </a:rPr>
              <a:t>ser suficiente</a:t>
            </a:r>
            <a:r>
              <a:rPr sz="2400" dirty="0">
                <a:latin typeface="Times New Roman"/>
                <a:cs typeface="Times New Roman"/>
              </a:rPr>
              <a:t> una </a:t>
            </a:r>
            <a:r>
              <a:rPr sz="2400" spc="-5" dirty="0">
                <a:latin typeface="Times New Roman"/>
                <a:cs typeface="Times New Roman"/>
              </a:rPr>
              <a:t>sola</a:t>
            </a:r>
            <a:r>
              <a:rPr sz="2400" spc="15" dirty="0">
                <a:latin typeface="Times New Roman"/>
                <a:cs typeface="Times New Roman"/>
              </a:rPr>
              <a:t> </a:t>
            </a:r>
            <a:r>
              <a:rPr sz="2400" dirty="0">
                <a:latin typeface="Times New Roman"/>
                <a:cs typeface="Times New Roman"/>
              </a:rPr>
              <a:t>capa.</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22300" y="504825"/>
            <a:ext cx="9448800" cy="6388928"/>
          </a:xfrm>
          <a:prstGeom prst="rect">
            <a:avLst/>
          </a:prstGeom>
        </p:spPr>
        <p:txBody>
          <a:bodyPr vert="horz" wrap="square" lIns="0" tIns="12700" rIns="0" bIns="0" rtlCol="0">
            <a:spAutoFit/>
          </a:bodyPr>
          <a:lstStyle/>
          <a:p>
            <a:pPr marL="142875" algn="ctr">
              <a:lnSpc>
                <a:spcPct val="100000"/>
              </a:lnSpc>
              <a:spcBef>
                <a:spcPts val="100"/>
              </a:spcBef>
            </a:pPr>
            <a:r>
              <a:rPr sz="2800" b="1" spc="-5" dirty="0">
                <a:solidFill>
                  <a:srgbClr val="365F91"/>
                </a:solidFill>
                <a:latin typeface="Times New Roman"/>
                <a:cs typeface="Times New Roman"/>
              </a:rPr>
              <a:t>Número</a:t>
            </a:r>
            <a:r>
              <a:rPr sz="2800" b="1" spc="-30" dirty="0">
                <a:solidFill>
                  <a:srgbClr val="365F91"/>
                </a:solidFill>
                <a:latin typeface="Times New Roman"/>
                <a:cs typeface="Times New Roman"/>
              </a:rPr>
              <a:t> </a:t>
            </a:r>
            <a:r>
              <a:rPr sz="2800" b="1" dirty="0">
                <a:solidFill>
                  <a:srgbClr val="365F91"/>
                </a:solidFill>
                <a:latin typeface="Times New Roman"/>
                <a:cs typeface="Times New Roman"/>
              </a:rPr>
              <a:t>de</a:t>
            </a:r>
            <a:r>
              <a:rPr sz="2800" b="1" spc="-20" dirty="0">
                <a:solidFill>
                  <a:srgbClr val="365F91"/>
                </a:solidFill>
                <a:latin typeface="Times New Roman"/>
                <a:cs typeface="Times New Roman"/>
              </a:rPr>
              <a:t> </a:t>
            </a:r>
            <a:r>
              <a:rPr sz="2800" b="1" dirty="0">
                <a:solidFill>
                  <a:srgbClr val="365F91"/>
                </a:solidFill>
                <a:latin typeface="Times New Roman"/>
                <a:cs typeface="Times New Roman"/>
              </a:rPr>
              <a:t>nodos</a:t>
            </a:r>
            <a:endParaRPr sz="2800" b="1" dirty="0">
              <a:latin typeface="Times New Roman"/>
              <a:cs typeface="Times New Roman"/>
            </a:endParaRPr>
          </a:p>
          <a:p>
            <a:pPr>
              <a:lnSpc>
                <a:spcPct val="100000"/>
              </a:lnSpc>
              <a:spcBef>
                <a:spcPts val="15"/>
              </a:spcBef>
            </a:pPr>
            <a:endParaRPr sz="2450" dirty="0">
              <a:latin typeface="Times New Roman"/>
              <a:cs typeface="Times New Roman"/>
            </a:endParaRPr>
          </a:p>
          <a:p>
            <a:pPr marL="12700" marR="5080">
              <a:lnSpc>
                <a:spcPts val="2760"/>
              </a:lnSpc>
            </a:pPr>
            <a:r>
              <a:rPr sz="2400" dirty="0">
                <a:latin typeface="Times New Roman"/>
                <a:cs typeface="Times New Roman"/>
              </a:rPr>
              <a:t>El</a:t>
            </a:r>
            <a:r>
              <a:rPr sz="2400" spc="-5" dirty="0">
                <a:latin typeface="Times New Roman"/>
                <a:cs typeface="Times New Roman"/>
              </a:rPr>
              <a:t> mínimo</a:t>
            </a:r>
            <a:r>
              <a:rPr sz="2400" dirty="0">
                <a:latin typeface="Times New Roman"/>
                <a:cs typeface="Times New Roman"/>
              </a:rPr>
              <a:t> </a:t>
            </a:r>
            <a:r>
              <a:rPr sz="2400" spc="-5" dirty="0">
                <a:latin typeface="Times New Roman"/>
                <a:cs typeface="Times New Roman"/>
              </a:rPr>
              <a:t>número</a:t>
            </a:r>
            <a:r>
              <a:rPr sz="2400" dirty="0">
                <a:latin typeface="Times New Roman"/>
                <a:cs typeface="Times New Roman"/>
              </a:rPr>
              <a:t> de nodos</a:t>
            </a:r>
            <a:r>
              <a:rPr sz="2400" spc="15" dirty="0">
                <a:latin typeface="Times New Roman"/>
                <a:cs typeface="Times New Roman"/>
              </a:rPr>
              <a:t> </a:t>
            </a:r>
            <a:r>
              <a:rPr sz="2400" b="1" spc="-5" dirty="0">
                <a:latin typeface="Times New Roman"/>
                <a:cs typeface="Times New Roman"/>
              </a:rPr>
              <a:t>necesario</a:t>
            </a:r>
            <a:r>
              <a:rPr sz="2400" b="1" spc="5" dirty="0">
                <a:latin typeface="Times New Roman"/>
                <a:cs typeface="Times New Roman"/>
              </a:rPr>
              <a:t> </a:t>
            </a:r>
            <a:r>
              <a:rPr sz="2400" dirty="0">
                <a:latin typeface="Times New Roman"/>
                <a:cs typeface="Times New Roman"/>
              </a:rPr>
              <a:t>para un </a:t>
            </a:r>
            <a:r>
              <a:rPr sz="2400" spc="-5" dirty="0">
                <a:latin typeface="Times New Roman"/>
                <a:cs typeface="Times New Roman"/>
              </a:rPr>
              <a:t>buen</a:t>
            </a:r>
            <a:r>
              <a:rPr sz="2400" dirty="0">
                <a:latin typeface="Times New Roman"/>
                <a:cs typeface="Times New Roman"/>
              </a:rPr>
              <a:t> </a:t>
            </a:r>
            <a:r>
              <a:rPr sz="2400" spc="-5" dirty="0">
                <a:latin typeface="Times New Roman"/>
                <a:cs typeface="Times New Roman"/>
              </a:rPr>
              <a:t>modelo</a:t>
            </a:r>
            <a:r>
              <a:rPr sz="2400" spc="5" dirty="0">
                <a:latin typeface="Times New Roman"/>
                <a:cs typeface="Times New Roman"/>
              </a:rPr>
              <a:t> </a:t>
            </a:r>
            <a:r>
              <a:rPr sz="2400" dirty="0">
                <a:latin typeface="Times New Roman"/>
                <a:cs typeface="Times New Roman"/>
              </a:rPr>
              <a:t>predictivo </a:t>
            </a:r>
            <a:r>
              <a:rPr sz="2400" spc="-5" dirty="0">
                <a:latin typeface="Times New Roman"/>
                <a:cs typeface="Times New Roman"/>
              </a:rPr>
              <a:t>aumenta </a:t>
            </a:r>
            <a:r>
              <a:rPr sz="2400" spc="-585" dirty="0">
                <a:latin typeface="Times New Roman"/>
                <a:cs typeface="Times New Roman"/>
              </a:rPr>
              <a:t> </a:t>
            </a:r>
            <a:r>
              <a:rPr sz="2400" dirty="0">
                <a:latin typeface="Times New Roman"/>
                <a:cs typeface="Times New Roman"/>
              </a:rPr>
              <a:t>teniendo</a:t>
            </a:r>
            <a:r>
              <a:rPr sz="2400" spc="-5" dirty="0">
                <a:latin typeface="Times New Roman"/>
                <a:cs typeface="Times New Roman"/>
              </a:rPr>
              <a:t> </a:t>
            </a:r>
            <a:r>
              <a:rPr sz="2400" dirty="0">
                <a:latin typeface="Times New Roman"/>
                <a:cs typeface="Times New Roman"/>
              </a:rPr>
              <a:t>en</a:t>
            </a:r>
            <a:r>
              <a:rPr sz="2400" spc="-10" dirty="0">
                <a:latin typeface="Times New Roman"/>
                <a:cs typeface="Times New Roman"/>
              </a:rPr>
              <a:t> </a:t>
            </a:r>
            <a:r>
              <a:rPr sz="2400" dirty="0">
                <a:latin typeface="Times New Roman"/>
                <a:cs typeface="Times New Roman"/>
              </a:rPr>
              <a:t>cuenta</a:t>
            </a:r>
            <a:r>
              <a:rPr sz="2400" spc="-10" dirty="0">
                <a:latin typeface="Times New Roman"/>
                <a:cs typeface="Times New Roman"/>
              </a:rPr>
              <a:t> </a:t>
            </a:r>
            <a:r>
              <a:rPr sz="2400" dirty="0">
                <a:latin typeface="Times New Roman"/>
                <a:cs typeface="Times New Roman"/>
              </a:rPr>
              <a:t>los </a:t>
            </a:r>
            <a:r>
              <a:rPr sz="2400" spc="-5" dirty="0">
                <a:latin typeface="Times New Roman"/>
                <a:cs typeface="Times New Roman"/>
              </a:rPr>
              <a:t>siguientes</a:t>
            </a:r>
            <a:r>
              <a:rPr sz="2400" spc="-15" dirty="0">
                <a:latin typeface="Times New Roman"/>
                <a:cs typeface="Times New Roman"/>
              </a:rPr>
              <a:t> </a:t>
            </a:r>
            <a:r>
              <a:rPr sz="2400" dirty="0">
                <a:latin typeface="Times New Roman"/>
                <a:cs typeface="Times New Roman"/>
              </a:rPr>
              <a:t>aspectos:</a:t>
            </a:r>
          </a:p>
          <a:p>
            <a:pPr>
              <a:lnSpc>
                <a:spcPct val="100000"/>
              </a:lnSpc>
              <a:spcBef>
                <a:spcPts val="50"/>
              </a:spcBef>
            </a:pPr>
            <a:endParaRPr sz="2350" dirty="0">
              <a:latin typeface="Times New Roman"/>
              <a:cs typeface="Times New Roman"/>
            </a:endParaRPr>
          </a:p>
          <a:p>
            <a:pPr marL="469900" indent="-228600">
              <a:buFont typeface="Symbol"/>
              <a:buChar char=""/>
              <a:tabLst>
                <a:tab pos="469900" algn="l"/>
              </a:tabLst>
            </a:pPr>
            <a:r>
              <a:rPr sz="2400" spc="-5" dirty="0">
                <a:latin typeface="Times New Roman"/>
                <a:cs typeface="Times New Roman"/>
              </a:rPr>
              <a:t>Número</a:t>
            </a:r>
            <a:r>
              <a:rPr sz="2400" spc="-25" dirty="0">
                <a:latin typeface="Times New Roman"/>
                <a:cs typeface="Times New Roman"/>
              </a:rPr>
              <a:t> </a:t>
            </a:r>
            <a:r>
              <a:rPr sz="2400" dirty="0">
                <a:latin typeface="Times New Roman"/>
                <a:cs typeface="Times New Roman"/>
              </a:rPr>
              <a:t>de</a:t>
            </a:r>
            <a:r>
              <a:rPr sz="2400" spc="-20" dirty="0">
                <a:latin typeface="Times New Roman"/>
                <a:cs typeface="Times New Roman"/>
              </a:rPr>
              <a:t> </a:t>
            </a:r>
            <a:r>
              <a:rPr sz="2400" dirty="0">
                <a:latin typeface="Times New Roman"/>
                <a:cs typeface="Times New Roman"/>
              </a:rPr>
              <a:t>variables</a:t>
            </a:r>
            <a:r>
              <a:rPr sz="2400" spc="-25" dirty="0">
                <a:latin typeface="Times New Roman"/>
                <a:cs typeface="Times New Roman"/>
              </a:rPr>
              <a:t> </a:t>
            </a:r>
            <a:r>
              <a:rPr sz="2400" dirty="0">
                <a:latin typeface="Times New Roman"/>
                <a:cs typeface="Times New Roman"/>
              </a:rPr>
              <a:t>input</a:t>
            </a:r>
          </a:p>
          <a:p>
            <a:pPr marL="469900" indent="-228600">
              <a:spcBef>
                <a:spcPts val="45"/>
              </a:spcBef>
              <a:buFont typeface="Symbol"/>
              <a:buChar char=""/>
              <a:tabLst>
                <a:tab pos="469900" algn="l"/>
              </a:tabLst>
            </a:pPr>
            <a:r>
              <a:rPr sz="2400" spc="-5" dirty="0">
                <a:latin typeface="Times New Roman"/>
                <a:cs typeface="Times New Roman"/>
              </a:rPr>
              <a:t>Número</a:t>
            </a:r>
            <a:r>
              <a:rPr sz="2400" spc="-20" dirty="0">
                <a:latin typeface="Times New Roman"/>
                <a:cs typeface="Times New Roman"/>
              </a:rPr>
              <a:t> </a:t>
            </a:r>
            <a:r>
              <a:rPr sz="2400" dirty="0">
                <a:latin typeface="Times New Roman"/>
                <a:cs typeface="Times New Roman"/>
              </a:rPr>
              <a:t>de</a:t>
            </a:r>
            <a:r>
              <a:rPr sz="2400" spc="-15" dirty="0">
                <a:latin typeface="Times New Roman"/>
                <a:cs typeface="Times New Roman"/>
              </a:rPr>
              <a:t> </a:t>
            </a:r>
            <a:r>
              <a:rPr sz="2400" dirty="0">
                <a:latin typeface="Times New Roman"/>
                <a:cs typeface="Times New Roman"/>
              </a:rPr>
              <a:t>variables</a:t>
            </a:r>
            <a:r>
              <a:rPr sz="2400" spc="-20" dirty="0">
                <a:latin typeface="Times New Roman"/>
                <a:cs typeface="Times New Roman"/>
              </a:rPr>
              <a:t> </a:t>
            </a:r>
            <a:r>
              <a:rPr sz="2400" spc="-5" dirty="0" smtClean="0">
                <a:latin typeface="Times New Roman"/>
                <a:cs typeface="Times New Roman"/>
              </a:rPr>
              <a:t>output</a:t>
            </a:r>
            <a:endParaRPr lang="es-ES" sz="2400" spc="-5" dirty="0" smtClean="0">
              <a:latin typeface="Times New Roman"/>
              <a:cs typeface="Times New Roman"/>
            </a:endParaRPr>
          </a:p>
          <a:p>
            <a:pPr marL="469900" indent="-228600">
              <a:spcBef>
                <a:spcPts val="45"/>
              </a:spcBef>
              <a:buFont typeface="Symbol"/>
              <a:buChar char=""/>
              <a:tabLst>
                <a:tab pos="469900" algn="l"/>
              </a:tabLst>
            </a:pPr>
            <a:r>
              <a:rPr lang="es-ES" sz="2400" spc="-5" dirty="0" smtClean="0">
                <a:latin typeface="Times New Roman"/>
                <a:cs typeface="Times New Roman"/>
              </a:rPr>
              <a:t>Función de activación</a:t>
            </a:r>
            <a:endParaRPr sz="2400" dirty="0">
              <a:latin typeface="Times New Roman"/>
              <a:cs typeface="Times New Roman"/>
            </a:endParaRPr>
          </a:p>
          <a:p>
            <a:pPr marL="469265" marR="179705" indent="-228600">
              <a:spcBef>
                <a:spcPts val="260"/>
              </a:spcBef>
              <a:buFont typeface="Symbol"/>
              <a:buChar char=""/>
              <a:tabLst>
                <a:tab pos="469900" algn="l"/>
              </a:tabLst>
            </a:pPr>
            <a:r>
              <a:rPr sz="2400" spc="-5" dirty="0">
                <a:latin typeface="Times New Roman"/>
                <a:cs typeface="Times New Roman"/>
              </a:rPr>
              <a:t>Complejidad</a:t>
            </a:r>
            <a:r>
              <a:rPr sz="2400" dirty="0">
                <a:latin typeface="Times New Roman"/>
                <a:cs typeface="Times New Roman"/>
              </a:rPr>
              <a:t> del </a:t>
            </a:r>
            <a:r>
              <a:rPr sz="2400" spc="-5" dirty="0">
                <a:latin typeface="Times New Roman"/>
                <a:cs typeface="Times New Roman"/>
              </a:rPr>
              <a:t>problema</a:t>
            </a:r>
            <a:r>
              <a:rPr sz="2400" spc="5" dirty="0">
                <a:latin typeface="Times New Roman"/>
                <a:cs typeface="Times New Roman"/>
              </a:rPr>
              <a:t> </a:t>
            </a:r>
            <a:r>
              <a:rPr sz="2400" dirty="0">
                <a:latin typeface="Times New Roman"/>
                <a:cs typeface="Times New Roman"/>
              </a:rPr>
              <a:t>(variables de</a:t>
            </a:r>
            <a:r>
              <a:rPr sz="2400" spc="5" dirty="0">
                <a:latin typeface="Times New Roman"/>
                <a:cs typeface="Times New Roman"/>
              </a:rPr>
              <a:t> </a:t>
            </a:r>
            <a:r>
              <a:rPr sz="2400" dirty="0">
                <a:latin typeface="Times New Roman"/>
                <a:cs typeface="Times New Roman"/>
              </a:rPr>
              <a:t>diferente tipo,</a:t>
            </a:r>
            <a:r>
              <a:rPr sz="2400" spc="5" dirty="0">
                <a:latin typeface="Times New Roman"/>
                <a:cs typeface="Times New Roman"/>
              </a:rPr>
              <a:t> </a:t>
            </a:r>
            <a:r>
              <a:rPr sz="2400" spc="-5" dirty="0">
                <a:latin typeface="Times New Roman"/>
                <a:cs typeface="Times New Roman"/>
              </a:rPr>
              <a:t>fuerte</a:t>
            </a:r>
            <a:r>
              <a:rPr sz="2400" spc="-20" dirty="0">
                <a:latin typeface="Times New Roman"/>
                <a:cs typeface="Times New Roman"/>
              </a:rPr>
              <a:t> </a:t>
            </a:r>
            <a:r>
              <a:rPr sz="2400" dirty="0">
                <a:latin typeface="Times New Roman"/>
                <a:cs typeface="Times New Roman"/>
              </a:rPr>
              <a:t>no </a:t>
            </a:r>
            <a:r>
              <a:rPr sz="2400" spc="-5" dirty="0">
                <a:latin typeface="Times New Roman"/>
                <a:cs typeface="Times New Roman"/>
              </a:rPr>
              <a:t>linealidad, </a:t>
            </a:r>
            <a:r>
              <a:rPr sz="2400" spc="-585" dirty="0">
                <a:latin typeface="Times New Roman"/>
                <a:cs typeface="Times New Roman"/>
              </a:rPr>
              <a:t> </a:t>
            </a:r>
            <a:r>
              <a:rPr sz="2400" dirty="0">
                <a:latin typeface="Times New Roman"/>
                <a:cs typeface="Times New Roman"/>
              </a:rPr>
              <a:t>etc.)</a:t>
            </a:r>
          </a:p>
          <a:p>
            <a:pPr marL="469900" indent="-228600">
              <a:buFont typeface="Symbol"/>
              <a:buChar char=""/>
              <a:tabLst>
                <a:tab pos="469900" algn="l"/>
              </a:tabLst>
            </a:pPr>
            <a:r>
              <a:rPr sz="2400" spc="-5" dirty="0">
                <a:latin typeface="Times New Roman"/>
                <a:cs typeface="Times New Roman"/>
              </a:rPr>
              <a:t>Varianza</a:t>
            </a:r>
            <a:r>
              <a:rPr sz="2400" dirty="0">
                <a:latin typeface="Times New Roman"/>
                <a:cs typeface="Times New Roman"/>
              </a:rPr>
              <a:t> no</a:t>
            </a:r>
            <a:r>
              <a:rPr sz="2400" spc="-15" dirty="0">
                <a:latin typeface="Times New Roman"/>
                <a:cs typeface="Times New Roman"/>
              </a:rPr>
              <a:t> </a:t>
            </a:r>
            <a:r>
              <a:rPr sz="2400" dirty="0">
                <a:latin typeface="Times New Roman"/>
                <a:cs typeface="Times New Roman"/>
              </a:rPr>
              <a:t>explicada </a:t>
            </a:r>
            <a:r>
              <a:rPr sz="2400" spc="-5" dirty="0">
                <a:latin typeface="Times New Roman"/>
                <a:cs typeface="Times New Roman"/>
              </a:rPr>
              <a:t>(no</a:t>
            </a:r>
            <a:r>
              <a:rPr sz="2400" dirty="0">
                <a:latin typeface="Times New Roman"/>
                <a:cs typeface="Times New Roman"/>
              </a:rPr>
              <a:t> </a:t>
            </a:r>
            <a:r>
              <a:rPr sz="2400" spc="-5" dirty="0">
                <a:latin typeface="Times New Roman"/>
                <a:cs typeface="Times New Roman"/>
              </a:rPr>
              <a:t>explicable) </a:t>
            </a:r>
            <a:r>
              <a:rPr sz="2400" dirty="0">
                <a:latin typeface="Times New Roman"/>
                <a:cs typeface="Times New Roman"/>
              </a:rPr>
              <a:t>[“ruido”] del output</a:t>
            </a:r>
          </a:p>
          <a:p>
            <a:pPr marL="469265" marR="684530" indent="-228600">
              <a:spcBef>
                <a:spcPts val="245"/>
              </a:spcBef>
              <a:buFont typeface="Symbol"/>
              <a:buChar char=""/>
              <a:tabLst>
                <a:tab pos="469900" algn="l"/>
              </a:tabLst>
            </a:pPr>
            <a:r>
              <a:rPr sz="2400" dirty="0">
                <a:latin typeface="Times New Roman"/>
                <a:cs typeface="Times New Roman"/>
              </a:rPr>
              <a:t>Tipo de técnica de optimización utilizado en la red: algunas técnicas </a:t>
            </a:r>
            <a:r>
              <a:rPr sz="2400" spc="-5" dirty="0">
                <a:latin typeface="Times New Roman"/>
                <a:cs typeface="Times New Roman"/>
              </a:rPr>
              <a:t>se </a:t>
            </a:r>
            <a:r>
              <a:rPr sz="2400" spc="-585" dirty="0">
                <a:latin typeface="Times New Roman"/>
                <a:cs typeface="Times New Roman"/>
              </a:rPr>
              <a:t> </a:t>
            </a:r>
            <a:r>
              <a:rPr sz="2400" dirty="0">
                <a:latin typeface="Times New Roman"/>
                <a:cs typeface="Times New Roman"/>
              </a:rPr>
              <a:t>pueden (y </a:t>
            </a:r>
            <a:r>
              <a:rPr sz="2400" spc="-5" dirty="0">
                <a:latin typeface="Times New Roman"/>
                <a:cs typeface="Times New Roman"/>
              </a:rPr>
              <a:t>deben)</a:t>
            </a:r>
            <a:r>
              <a:rPr sz="2400" spc="10" dirty="0">
                <a:latin typeface="Times New Roman"/>
                <a:cs typeface="Times New Roman"/>
              </a:rPr>
              <a:t> </a:t>
            </a:r>
            <a:r>
              <a:rPr sz="2400" spc="-5" dirty="0">
                <a:latin typeface="Times New Roman"/>
                <a:cs typeface="Times New Roman"/>
              </a:rPr>
              <a:t>utilizar</a:t>
            </a:r>
            <a:r>
              <a:rPr sz="2400" dirty="0">
                <a:latin typeface="Times New Roman"/>
                <a:cs typeface="Times New Roman"/>
              </a:rPr>
              <a:t> con </a:t>
            </a:r>
            <a:r>
              <a:rPr sz="2400" spc="-5" dirty="0">
                <a:latin typeface="Times New Roman"/>
                <a:cs typeface="Times New Roman"/>
              </a:rPr>
              <a:t>muchos </a:t>
            </a:r>
            <a:r>
              <a:rPr sz="2400" dirty="0">
                <a:latin typeface="Times New Roman"/>
                <a:cs typeface="Times New Roman"/>
              </a:rPr>
              <a:t>nodos,</a:t>
            </a:r>
            <a:r>
              <a:rPr sz="2400" spc="5" dirty="0">
                <a:latin typeface="Times New Roman"/>
                <a:cs typeface="Times New Roman"/>
              </a:rPr>
              <a:t> </a:t>
            </a:r>
            <a:r>
              <a:rPr sz="2400" dirty="0">
                <a:latin typeface="Times New Roman"/>
                <a:cs typeface="Times New Roman"/>
              </a:rPr>
              <a:t>otras </a:t>
            </a:r>
            <a:r>
              <a:rPr sz="2400" spc="-5" dirty="0">
                <a:latin typeface="Times New Roman"/>
                <a:cs typeface="Times New Roman"/>
              </a:rPr>
              <a:t>manifiestamente</a:t>
            </a:r>
            <a:r>
              <a:rPr sz="2400" dirty="0">
                <a:latin typeface="Times New Roman"/>
                <a:cs typeface="Times New Roman"/>
              </a:rPr>
              <a:t> no.</a:t>
            </a:r>
          </a:p>
          <a:p>
            <a:pPr>
              <a:lnSpc>
                <a:spcPct val="100000"/>
              </a:lnSpc>
            </a:pPr>
            <a:endParaRPr sz="2400" dirty="0">
              <a:latin typeface="Times New Roman"/>
              <a:cs typeface="Times New Roman"/>
            </a:endParaRPr>
          </a:p>
          <a:p>
            <a:pPr marL="12700" marR="842644">
              <a:lnSpc>
                <a:spcPts val="2760"/>
              </a:lnSpc>
            </a:pPr>
            <a:r>
              <a:rPr sz="2400" spc="-5" dirty="0">
                <a:latin typeface="Times New Roman"/>
                <a:cs typeface="Times New Roman"/>
              </a:rPr>
              <a:t>Pero…ese</a:t>
            </a:r>
            <a:r>
              <a:rPr sz="2400" dirty="0">
                <a:latin typeface="Times New Roman"/>
                <a:cs typeface="Times New Roman"/>
              </a:rPr>
              <a:t> </a:t>
            </a:r>
            <a:r>
              <a:rPr sz="2400" b="1" spc="-5" dirty="0">
                <a:latin typeface="Times New Roman"/>
                <a:cs typeface="Times New Roman"/>
              </a:rPr>
              <a:t>mínimo</a:t>
            </a:r>
            <a:r>
              <a:rPr sz="2400" b="1" spc="5" dirty="0">
                <a:latin typeface="Times New Roman"/>
                <a:cs typeface="Times New Roman"/>
              </a:rPr>
              <a:t> </a:t>
            </a:r>
            <a:r>
              <a:rPr sz="2400" spc="-5" dirty="0">
                <a:latin typeface="Times New Roman"/>
                <a:cs typeface="Times New Roman"/>
              </a:rPr>
              <a:t>número</a:t>
            </a:r>
            <a:r>
              <a:rPr sz="2400" spc="5" dirty="0">
                <a:latin typeface="Times New Roman"/>
                <a:cs typeface="Times New Roman"/>
              </a:rPr>
              <a:t> </a:t>
            </a:r>
            <a:r>
              <a:rPr sz="2400" dirty="0">
                <a:latin typeface="Times New Roman"/>
                <a:cs typeface="Times New Roman"/>
              </a:rPr>
              <a:t>de nodos</a:t>
            </a:r>
            <a:r>
              <a:rPr sz="2400" spc="5" dirty="0">
                <a:latin typeface="Times New Roman"/>
                <a:cs typeface="Times New Roman"/>
              </a:rPr>
              <a:t> </a:t>
            </a:r>
            <a:r>
              <a:rPr sz="2400" b="1" spc="-5" dirty="0">
                <a:latin typeface="Times New Roman"/>
                <a:cs typeface="Times New Roman"/>
              </a:rPr>
              <a:t>necesario</a:t>
            </a:r>
            <a:r>
              <a:rPr sz="2400" b="1" spc="5" dirty="0">
                <a:latin typeface="Times New Roman"/>
                <a:cs typeface="Times New Roman"/>
              </a:rPr>
              <a:t> </a:t>
            </a:r>
            <a:r>
              <a:rPr sz="2400" dirty="0">
                <a:latin typeface="Times New Roman"/>
                <a:cs typeface="Times New Roman"/>
              </a:rPr>
              <a:t>puede no</a:t>
            </a:r>
            <a:r>
              <a:rPr sz="2400" spc="5" dirty="0">
                <a:latin typeface="Times New Roman"/>
                <a:cs typeface="Times New Roman"/>
              </a:rPr>
              <a:t> </a:t>
            </a:r>
            <a:r>
              <a:rPr sz="2400" spc="-5" dirty="0">
                <a:latin typeface="Times New Roman"/>
                <a:cs typeface="Times New Roman"/>
              </a:rPr>
              <a:t>alcanzarse</a:t>
            </a:r>
            <a:r>
              <a:rPr sz="2400" dirty="0">
                <a:latin typeface="Times New Roman"/>
                <a:cs typeface="Times New Roman"/>
              </a:rPr>
              <a:t> </a:t>
            </a:r>
            <a:r>
              <a:rPr sz="2400" spc="-5" dirty="0">
                <a:latin typeface="Times New Roman"/>
                <a:cs typeface="Times New Roman"/>
              </a:rPr>
              <a:t>si</a:t>
            </a:r>
            <a:r>
              <a:rPr sz="2400" spc="-20" dirty="0">
                <a:latin typeface="Times New Roman"/>
                <a:cs typeface="Times New Roman"/>
              </a:rPr>
              <a:t> </a:t>
            </a:r>
            <a:r>
              <a:rPr sz="2400" dirty="0">
                <a:latin typeface="Times New Roman"/>
                <a:cs typeface="Times New Roman"/>
              </a:rPr>
              <a:t>no </a:t>
            </a:r>
            <a:r>
              <a:rPr sz="2400" spc="-585" dirty="0">
                <a:latin typeface="Times New Roman"/>
                <a:cs typeface="Times New Roman"/>
              </a:rPr>
              <a:t> </a:t>
            </a:r>
            <a:r>
              <a:rPr sz="2400" spc="-5" dirty="0">
                <a:latin typeface="Times New Roman"/>
                <a:cs typeface="Times New Roman"/>
              </a:rPr>
              <a:t>tenemos </a:t>
            </a:r>
            <a:r>
              <a:rPr sz="2400" dirty="0">
                <a:latin typeface="Times New Roman"/>
                <a:cs typeface="Times New Roman"/>
              </a:rPr>
              <a:t>suficientes </a:t>
            </a:r>
            <a:r>
              <a:rPr sz="2400" spc="-5" dirty="0">
                <a:latin typeface="Times New Roman"/>
                <a:cs typeface="Times New Roman"/>
              </a:rPr>
              <a:t>observaciones.</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2300" y="322580"/>
            <a:ext cx="9525000" cy="396262"/>
          </a:xfrm>
          <a:prstGeom prst="rect">
            <a:avLst/>
          </a:prstGeom>
        </p:spPr>
        <p:txBody>
          <a:bodyPr vert="horz" wrap="square" lIns="0" tIns="36830" rIns="0" bIns="0" rtlCol="0">
            <a:spAutoFit/>
          </a:bodyPr>
          <a:lstStyle/>
          <a:p>
            <a:pPr marL="495934" marR="5080" indent="-483870">
              <a:lnSpc>
                <a:spcPts val="2760"/>
              </a:lnSpc>
              <a:spcBef>
                <a:spcPts val="290"/>
              </a:spcBef>
            </a:pPr>
            <a:r>
              <a:rPr lang="es-ES" b="1" spc="-5" dirty="0" smtClean="0">
                <a:solidFill>
                  <a:srgbClr val="365F91"/>
                </a:solidFill>
              </a:rPr>
              <a:t>Algunas r</a:t>
            </a:r>
            <a:r>
              <a:rPr b="1" dirty="0" err="1" smtClean="0">
                <a:solidFill>
                  <a:srgbClr val="365F91"/>
                </a:solidFill>
              </a:rPr>
              <a:t>ecomendaciones</a:t>
            </a:r>
            <a:r>
              <a:rPr b="1" spc="-25" dirty="0" smtClean="0">
                <a:solidFill>
                  <a:srgbClr val="365F91"/>
                </a:solidFill>
              </a:rPr>
              <a:t> </a:t>
            </a:r>
            <a:r>
              <a:rPr b="1" dirty="0">
                <a:solidFill>
                  <a:srgbClr val="365F91"/>
                </a:solidFill>
              </a:rPr>
              <a:t>para</a:t>
            </a:r>
            <a:r>
              <a:rPr b="1" spc="-10" dirty="0">
                <a:solidFill>
                  <a:srgbClr val="365F91"/>
                </a:solidFill>
              </a:rPr>
              <a:t> </a:t>
            </a:r>
            <a:r>
              <a:rPr b="1" dirty="0">
                <a:solidFill>
                  <a:srgbClr val="365F91"/>
                </a:solidFill>
              </a:rPr>
              <a:t>fijar </a:t>
            </a:r>
            <a:r>
              <a:rPr b="1" spc="-585" dirty="0">
                <a:solidFill>
                  <a:srgbClr val="365F91"/>
                </a:solidFill>
              </a:rPr>
              <a:t> </a:t>
            </a:r>
            <a:r>
              <a:rPr b="1" dirty="0">
                <a:solidFill>
                  <a:srgbClr val="365F91"/>
                </a:solidFill>
              </a:rPr>
              <a:t>el </a:t>
            </a:r>
            <a:r>
              <a:rPr b="1" spc="-5" dirty="0">
                <a:solidFill>
                  <a:srgbClr val="365F91"/>
                </a:solidFill>
              </a:rPr>
              <a:t>número </a:t>
            </a:r>
            <a:r>
              <a:rPr b="1" dirty="0">
                <a:solidFill>
                  <a:srgbClr val="365F91"/>
                </a:solidFill>
              </a:rPr>
              <a:t>de</a:t>
            </a:r>
            <a:r>
              <a:rPr b="1" spc="-5" dirty="0">
                <a:solidFill>
                  <a:srgbClr val="365F91"/>
                </a:solidFill>
              </a:rPr>
              <a:t> </a:t>
            </a:r>
            <a:r>
              <a:rPr b="1" dirty="0">
                <a:solidFill>
                  <a:srgbClr val="365F91"/>
                </a:solidFill>
              </a:rPr>
              <a:t>nodos,</a:t>
            </a:r>
            <a:r>
              <a:rPr b="1" spc="-5" dirty="0">
                <a:solidFill>
                  <a:srgbClr val="365F91"/>
                </a:solidFill>
              </a:rPr>
              <a:t> </a:t>
            </a:r>
            <a:r>
              <a:rPr b="1" dirty="0">
                <a:solidFill>
                  <a:srgbClr val="365F91"/>
                </a:solidFill>
              </a:rPr>
              <a:t>dados</a:t>
            </a:r>
            <a:r>
              <a:rPr b="1" spc="-5" dirty="0">
                <a:solidFill>
                  <a:srgbClr val="365F91"/>
                </a:solidFill>
              </a:rPr>
              <a:t> </a:t>
            </a:r>
            <a:r>
              <a:rPr b="1" dirty="0">
                <a:solidFill>
                  <a:srgbClr val="365F91"/>
                </a:solidFill>
              </a:rPr>
              <a:t>los</a:t>
            </a:r>
            <a:r>
              <a:rPr b="1" spc="-5" dirty="0">
                <a:solidFill>
                  <a:srgbClr val="365F91"/>
                </a:solidFill>
              </a:rPr>
              <a:t> datos</a:t>
            </a:r>
          </a:p>
        </p:txBody>
      </p:sp>
      <p:sp>
        <p:nvSpPr>
          <p:cNvPr id="3" name="object 3"/>
          <p:cNvSpPr txBox="1"/>
          <p:nvPr/>
        </p:nvSpPr>
        <p:spPr>
          <a:xfrm>
            <a:off x="393700" y="1343025"/>
            <a:ext cx="9571737" cy="5555110"/>
          </a:xfrm>
          <a:prstGeom prst="rect">
            <a:avLst/>
          </a:prstGeom>
        </p:spPr>
        <p:txBody>
          <a:bodyPr vert="horz" wrap="square" lIns="0" tIns="90170" rIns="0" bIns="0" rtlCol="0">
            <a:spAutoFit/>
          </a:bodyPr>
          <a:lstStyle/>
          <a:p>
            <a:pPr marL="469900" indent="-228600" algn="just">
              <a:lnSpc>
                <a:spcPct val="100000"/>
              </a:lnSpc>
              <a:spcBef>
                <a:spcPts val="710"/>
              </a:spcBef>
              <a:buFont typeface="Symbol"/>
              <a:buChar char=""/>
              <a:tabLst>
                <a:tab pos="469900" algn="l"/>
              </a:tabLst>
            </a:pPr>
            <a:r>
              <a:rPr sz="2400" dirty="0" smtClean="0">
                <a:latin typeface="Times New Roman" panose="02020603050405020304" pitchFamily="18" charset="0"/>
                <a:cs typeface="Times New Roman" panose="02020603050405020304" pitchFamily="18" charset="0"/>
              </a:rPr>
              <a:t>10-20 </a:t>
            </a:r>
            <a:r>
              <a:rPr sz="2400" dirty="0">
                <a:latin typeface="Times New Roman" panose="02020603050405020304" pitchFamily="18" charset="0"/>
                <a:cs typeface="Times New Roman" panose="02020603050405020304" pitchFamily="18" charset="0"/>
              </a:rPr>
              <a:t>observaciones </a:t>
            </a:r>
            <a:r>
              <a:rPr sz="2400" dirty="0" err="1">
                <a:latin typeface="Times New Roman" panose="02020603050405020304" pitchFamily="18" charset="0"/>
                <a:cs typeface="Times New Roman" panose="02020603050405020304" pitchFamily="18" charset="0"/>
              </a:rPr>
              <a:t>por</a:t>
            </a:r>
            <a:r>
              <a:rPr sz="2400" dirty="0">
                <a:latin typeface="Times New Roman" panose="02020603050405020304" pitchFamily="18" charset="0"/>
                <a:cs typeface="Times New Roman" panose="02020603050405020304" pitchFamily="18" charset="0"/>
              </a:rPr>
              <a:t> </a:t>
            </a:r>
            <a:r>
              <a:rPr sz="2400" dirty="0" err="1" smtClean="0">
                <a:latin typeface="Times New Roman" panose="02020603050405020304" pitchFamily="18" charset="0"/>
                <a:cs typeface="Times New Roman" panose="02020603050405020304" pitchFamily="18" charset="0"/>
              </a:rPr>
              <a:t>parámetro</a:t>
            </a:r>
            <a:r>
              <a:rPr lang="es-ES" sz="2400" dirty="0" smtClean="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469265" marR="859790" indent="-228600" algn="just">
              <a:lnSpc>
                <a:spcPct val="109200"/>
              </a:lnSpc>
              <a:spcBef>
                <a:spcPts val="350"/>
              </a:spcBef>
              <a:buFont typeface="Symbol"/>
              <a:buChar char=""/>
              <a:tabLst>
                <a:tab pos="469900" algn="l"/>
              </a:tabLst>
            </a:pPr>
            <a:r>
              <a:rPr sz="2400" dirty="0" smtClean="0">
                <a:latin typeface="Times New Roman" panose="02020603050405020304" pitchFamily="18" charset="0"/>
                <a:cs typeface="Times New Roman" panose="02020603050405020304" pitchFamily="18" charset="0"/>
              </a:rPr>
              <a:t>Para </a:t>
            </a:r>
            <a:r>
              <a:rPr sz="2400" dirty="0">
                <a:latin typeface="Times New Roman" panose="02020603050405020304" pitchFamily="18" charset="0"/>
                <a:cs typeface="Times New Roman" panose="02020603050405020304" pitchFamily="18" charset="0"/>
              </a:rPr>
              <a:t>regresión, entre 5 y 25 observaciones por parámetro; para clasificación, entre 5 y 25  observaciones en la categoría más pequeña, </a:t>
            </a:r>
            <a:r>
              <a:rPr sz="2400" dirty="0" err="1">
                <a:latin typeface="Times New Roman" panose="02020603050405020304" pitchFamily="18" charset="0"/>
                <a:cs typeface="Times New Roman" panose="02020603050405020304" pitchFamily="18" charset="0"/>
              </a:rPr>
              <a:t>por</a:t>
            </a:r>
            <a:r>
              <a:rPr sz="2400" dirty="0">
                <a:latin typeface="Times New Roman" panose="02020603050405020304" pitchFamily="18" charset="0"/>
                <a:cs typeface="Times New Roman" panose="02020603050405020304" pitchFamily="18" charset="0"/>
              </a:rPr>
              <a:t> </a:t>
            </a:r>
            <a:r>
              <a:rPr sz="2400" dirty="0" err="1" smtClean="0">
                <a:latin typeface="Times New Roman" panose="02020603050405020304" pitchFamily="18" charset="0"/>
                <a:cs typeface="Times New Roman" panose="02020603050405020304" pitchFamily="18" charset="0"/>
              </a:rPr>
              <a:t>parámetro</a:t>
            </a:r>
            <a:r>
              <a:rPr sz="2400" dirty="0" smtClean="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(SAS-manual)</a:t>
            </a:r>
          </a:p>
          <a:p>
            <a:pPr marL="469265" marR="232410" indent="-228600" algn="just">
              <a:lnSpc>
                <a:spcPct val="109600"/>
              </a:lnSpc>
              <a:spcBef>
                <a:spcPts val="325"/>
              </a:spcBef>
              <a:buFont typeface="Symbol"/>
              <a:buChar char=""/>
              <a:tabLst>
                <a:tab pos="469900" algn="l"/>
              </a:tabLst>
            </a:pPr>
            <a:r>
              <a:rPr sz="2400" dirty="0" err="1" smtClean="0">
                <a:latin typeface="Times New Roman" panose="02020603050405020304" pitchFamily="18" charset="0"/>
                <a:cs typeface="Times New Roman" panose="02020603050405020304" pitchFamily="18" charset="0"/>
              </a:rPr>
              <a:t>Tantos</a:t>
            </a:r>
            <a:r>
              <a:rPr sz="2400" dirty="0" smtClean="0">
                <a:latin typeface="Times New Roman" panose="02020603050405020304" pitchFamily="18" charset="0"/>
                <a:cs typeface="Times New Roman" panose="02020603050405020304" pitchFamily="18" charset="0"/>
              </a:rPr>
              <a:t> </a:t>
            </a:r>
            <a:r>
              <a:rPr lang="es-ES" sz="2400" dirty="0" smtClean="0">
                <a:latin typeface="Times New Roman" panose="02020603050405020304" pitchFamily="18" charset="0"/>
                <a:cs typeface="Times New Roman" panose="02020603050405020304" pitchFamily="18" charset="0"/>
              </a:rPr>
              <a:t>nodos </a:t>
            </a:r>
            <a:r>
              <a:rPr sz="2400" dirty="0" err="1" smtClean="0">
                <a:latin typeface="Times New Roman" panose="02020603050405020304" pitchFamily="18" charset="0"/>
                <a:cs typeface="Times New Roman" panose="02020603050405020304" pitchFamily="18" charset="0"/>
              </a:rPr>
              <a:t>como</a:t>
            </a:r>
            <a:r>
              <a:rPr sz="2400" dirty="0" smtClean="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dimensiones en componentes principales suficientes para capturar un 70-90 % de la  varianza de </a:t>
            </a:r>
            <a:r>
              <a:rPr sz="2400" dirty="0" err="1">
                <a:latin typeface="Times New Roman" panose="02020603050405020304" pitchFamily="18" charset="0"/>
                <a:cs typeface="Times New Roman" panose="02020603050405020304" pitchFamily="18" charset="0"/>
              </a:rPr>
              <a:t>los</a:t>
            </a:r>
            <a:r>
              <a:rPr sz="2400" dirty="0">
                <a:latin typeface="Times New Roman" panose="02020603050405020304" pitchFamily="18" charset="0"/>
                <a:cs typeface="Times New Roman" panose="02020603050405020304" pitchFamily="18" charset="0"/>
              </a:rPr>
              <a:t> </a:t>
            </a:r>
            <a:r>
              <a:rPr sz="2400" dirty="0" smtClean="0">
                <a:latin typeface="Times New Roman" panose="02020603050405020304" pitchFamily="18" charset="0"/>
                <a:cs typeface="Times New Roman" panose="02020603050405020304" pitchFamily="18" charset="0"/>
              </a:rPr>
              <a:t>inputs</a:t>
            </a:r>
            <a:endParaRPr sz="2400" dirty="0">
              <a:latin typeface="Times New Roman" panose="02020603050405020304" pitchFamily="18" charset="0"/>
              <a:cs typeface="Times New Roman" panose="02020603050405020304" pitchFamily="18" charset="0"/>
            </a:endParaRPr>
          </a:p>
          <a:p>
            <a:pPr marL="469900" indent="-228600" algn="just">
              <a:lnSpc>
                <a:spcPct val="100000"/>
              </a:lnSpc>
              <a:spcBef>
                <a:spcPts val="600"/>
              </a:spcBef>
              <a:buFont typeface="Symbol"/>
              <a:buChar char=""/>
              <a:tabLst>
                <a:tab pos="469900" algn="l"/>
              </a:tabLst>
            </a:pPr>
            <a:r>
              <a:rPr lang="es-ES" sz="2400" dirty="0" smtClean="0">
                <a:latin typeface="Times New Roman" panose="02020603050405020304" pitchFamily="18" charset="0"/>
                <a:cs typeface="Times New Roman" panose="02020603050405020304" pitchFamily="18" charset="0"/>
              </a:rPr>
              <a:t>número de nodos inferior a </a:t>
            </a:r>
            <a:r>
              <a:rPr sz="2400" dirty="0" smtClean="0">
                <a:latin typeface="Times New Roman" panose="02020603050405020304" pitchFamily="18" charset="0"/>
                <a:cs typeface="Times New Roman" panose="02020603050405020304" pitchFamily="18" charset="0"/>
              </a:rPr>
              <a:t>1/30 </a:t>
            </a:r>
            <a:r>
              <a:rPr sz="2400" dirty="0">
                <a:latin typeface="Times New Roman" panose="02020603050405020304" pitchFamily="18" charset="0"/>
                <a:cs typeface="Times New Roman" panose="02020603050405020304" pitchFamily="18" charset="0"/>
              </a:rPr>
              <a:t>de </a:t>
            </a:r>
            <a:r>
              <a:rPr sz="2400" dirty="0" err="1">
                <a:latin typeface="Times New Roman" panose="02020603050405020304" pitchFamily="18" charset="0"/>
                <a:cs typeface="Times New Roman" panose="02020603050405020304" pitchFamily="18" charset="0"/>
              </a:rPr>
              <a:t>los</a:t>
            </a:r>
            <a:r>
              <a:rPr sz="2400" dirty="0">
                <a:latin typeface="Times New Roman" panose="02020603050405020304" pitchFamily="18" charset="0"/>
                <a:cs typeface="Times New Roman" panose="02020603050405020304" pitchFamily="18" charset="0"/>
              </a:rPr>
              <a:t> </a:t>
            </a:r>
            <a:r>
              <a:rPr lang="es-ES" sz="2400" dirty="0" smtClean="0">
                <a:latin typeface="Times New Roman" panose="02020603050405020304" pitchFamily="18" charset="0"/>
                <a:cs typeface="Times New Roman" panose="02020603050405020304" pitchFamily="18" charset="0"/>
              </a:rPr>
              <a:t>datos</a:t>
            </a:r>
            <a:r>
              <a:rPr sz="2400" dirty="0" smtClean="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de </a:t>
            </a:r>
            <a:r>
              <a:rPr sz="2400" dirty="0" err="1" smtClean="0">
                <a:latin typeface="Times New Roman" panose="02020603050405020304" pitchFamily="18" charset="0"/>
                <a:cs typeface="Times New Roman" panose="02020603050405020304" pitchFamily="18" charset="0"/>
              </a:rPr>
              <a:t>entrenamiento</a:t>
            </a:r>
            <a:endParaRPr sz="2400" dirty="0">
              <a:latin typeface="Times New Roman" panose="02020603050405020304" pitchFamily="18" charset="0"/>
              <a:cs typeface="Times New Roman" panose="02020603050405020304" pitchFamily="18" charset="0"/>
            </a:endParaRPr>
          </a:p>
          <a:p>
            <a:pPr marL="469900" indent="-228600" algn="just">
              <a:lnSpc>
                <a:spcPct val="100000"/>
              </a:lnSpc>
              <a:spcBef>
                <a:spcPts val="600"/>
              </a:spcBef>
              <a:buFont typeface="Symbol"/>
              <a:buChar char=""/>
              <a:tabLst>
                <a:tab pos="469900" algn="l"/>
              </a:tabLst>
            </a:pPr>
            <a:r>
              <a:rPr sz="2400" dirty="0" smtClean="0">
                <a:latin typeface="Times New Roman" panose="02020603050405020304" pitchFamily="18" charset="0"/>
                <a:cs typeface="Times New Roman" panose="02020603050405020304" pitchFamily="18" charset="0"/>
              </a:rPr>
              <a:t>Para </a:t>
            </a:r>
            <a:r>
              <a:rPr sz="2400" dirty="0">
                <a:latin typeface="Times New Roman" panose="02020603050405020304" pitchFamily="18" charset="0"/>
                <a:cs typeface="Times New Roman" panose="02020603050405020304" pitchFamily="18" charset="0"/>
              </a:rPr>
              <a:t>ajustar 20 nodos es necesario habitualmente tener entre 150 y 2500 observaciones” (Bishop).</a:t>
            </a:r>
          </a:p>
          <a:p>
            <a:pPr marL="12700" algn="just">
              <a:lnSpc>
                <a:spcPct val="100000"/>
              </a:lnSpc>
              <a:spcBef>
                <a:spcPts val="430"/>
              </a:spcBef>
            </a:pPr>
            <a:endParaRPr sz="2200" dirty="0">
              <a:latin typeface="Times New Roman"/>
              <a:cs typeface="Times New Roman"/>
            </a:endParaRPr>
          </a:p>
          <a:p>
            <a:pPr marL="12700" marR="240029" algn="just">
              <a:lnSpc>
                <a:spcPct val="95900"/>
              </a:lnSpc>
              <a:spcBef>
                <a:spcPts val="2075"/>
              </a:spcBef>
            </a:pPr>
            <a:r>
              <a:rPr sz="2400" b="1" dirty="0">
                <a:latin typeface="Times New Roman"/>
                <a:cs typeface="Times New Roman"/>
              </a:rPr>
              <a:t>Estas </a:t>
            </a:r>
            <a:r>
              <a:rPr sz="2400" b="1" spc="-5" dirty="0">
                <a:latin typeface="Times New Roman"/>
                <a:cs typeface="Times New Roman"/>
              </a:rPr>
              <a:t>recomendaciones </a:t>
            </a:r>
            <a:r>
              <a:rPr sz="2400" b="1" dirty="0">
                <a:latin typeface="Times New Roman"/>
                <a:cs typeface="Times New Roman"/>
              </a:rPr>
              <a:t>tomadas </a:t>
            </a:r>
            <a:r>
              <a:rPr sz="2400" b="1" spc="-10" dirty="0">
                <a:latin typeface="Times New Roman"/>
                <a:cs typeface="Times New Roman"/>
              </a:rPr>
              <a:t>así </a:t>
            </a:r>
            <a:r>
              <a:rPr sz="2400" b="1" spc="-5" dirty="0">
                <a:latin typeface="Times New Roman"/>
                <a:cs typeface="Times New Roman"/>
              </a:rPr>
              <a:t>no suelen tener sentido, pues </a:t>
            </a:r>
            <a:r>
              <a:rPr sz="2400" b="1" dirty="0">
                <a:latin typeface="Times New Roman"/>
                <a:cs typeface="Times New Roman"/>
              </a:rPr>
              <a:t>cada </a:t>
            </a:r>
            <a:r>
              <a:rPr sz="2400" b="1" spc="-5" dirty="0">
                <a:latin typeface="Times New Roman"/>
                <a:cs typeface="Times New Roman"/>
              </a:rPr>
              <a:t>una </a:t>
            </a:r>
            <a:r>
              <a:rPr sz="2400" b="1" spc="-585" dirty="0">
                <a:latin typeface="Times New Roman"/>
                <a:cs typeface="Times New Roman"/>
              </a:rPr>
              <a:t> </a:t>
            </a:r>
            <a:r>
              <a:rPr sz="2400" b="1" spc="-5" dirty="0">
                <a:latin typeface="Times New Roman"/>
                <a:cs typeface="Times New Roman"/>
              </a:rPr>
              <a:t>de </a:t>
            </a:r>
            <a:r>
              <a:rPr sz="2400" b="1" dirty="0">
                <a:latin typeface="Times New Roman"/>
                <a:cs typeface="Times New Roman"/>
              </a:rPr>
              <a:t>ellas </a:t>
            </a:r>
            <a:r>
              <a:rPr sz="2400" b="1" spc="-10" dirty="0">
                <a:latin typeface="Times New Roman"/>
                <a:cs typeface="Times New Roman"/>
              </a:rPr>
              <a:t>deja </a:t>
            </a:r>
            <a:r>
              <a:rPr sz="2400" b="1" spc="-5" dirty="0">
                <a:latin typeface="Times New Roman"/>
                <a:cs typeface="Times New Roman"/>
              </a:rPr>
              <a:t>de tener en </a:t>
            </a:r>
            <a:r>
              <a:rPr sz="2400" b="1" dirty="0">
                <a:latin typeface="Times New Roman"/>
                <a:cs typeface="Times New Roman"/>
              </a:rPr>
              <a:t>cuenta </a:t>
            </a:r>
            <a:r>
              <a:rPr sz="2400" b="1" spc="-5" dirty="0">
                <a:latin typeface="Times New Roman"/>
                <a:cs typeface="Times New Roman"/>
              </a:rPr>
              <a:t>alguna </a:t>
            </a:r>
            <a:r>
              <a:rPr sz="2400" b="1" dirty="0">
                <a:latin typeface="Times New Roman"/>
                <a:cs typeface="Times New Roman"/>
              </a:rPr>
              <a:t>faceta (variables </a:t>
            </a:r>
            <a:r>
              <a:rPr sz="2400" b="1" spc="-5" dirty="0">
                <a:latin typeface="Times New Roman"/>
                <a:cs typeface="Times New Roman"/>
              </a:rPr>
              <a:t>input, </a:t>
            </a:r>
            <a:r>
              <a:rPr sz="2400" b="1" dirty="0">
                <a:latin typeface="Times New Roman"/>
                <a:cs typeface="Times New Roman"/>
              </a:rPr>
              <a:t> </a:t>
            </a:r>
            <a:r>
              <a:rPr sz="2400" b="1" spc="-5" dirty="0">
                <a:latin typeface="Times New Roman"/>
                <a:cs typeface="Times New Roman"/>
              </a:rPr>
              <a:t>observaciones,</a:t>
            </a:r>
            <a:r>
              <a:rPr sz="2400" b="1" dirty="0">
                <a:latin typeface="Times New Roman"/>
                <a:cs typeface="Times New Roman"/>
              </a:rPr>
              <a:t> </a:t>
            </a:r>
            <a:r>
              <a:rPr sz="2400" b="1" spc="-5" dirty="0">
                <a:latin typeface="Times New Roman"/>
                <a:cs typeface="Times New Roman"/>
              </a:rPr>
              <a:t>complejidad,</a:t>
            </a:r>
            <a:r>
              <a:rPr sz="2400" b="1" dirty="0">
                <a:latin typeface="Times New Roman"/>
                <a:cs typeface="Times New Roman"/>
              </a:rPr>
              <a:t> algoritmo,</a:t>
            </a:r>
            <a:r>
              <a:rPr sz="2400" b="1" spc="10" dirty="0">
                <a:latin typeface="Times New Roman"/>
                <a:cs typeface="Times New Roman"/>
              </a:rPr>
              <a:t> </a:t>
            </a:r>
            <a:r>
              <a:rPr sz="2400" b="1" dirty="0">
                <a:latin typeface="Times New Roman"/>
                <a:cs typeface="Times New Roman"/>
              </a:rPr>
              <a:t>ruido,</a:t>
            </a:r>
            <a:r>
              <a:rPr sz="2400" b="1" spc="-5" dirty="0">
                <a:latin typeface="Times New Roman"/>
                <a:cs typeface="Times New Roman"/>
              </a:rPr>
              <a:t> etc.)</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2300" y="322580"/>
            <a:ext cx="9525000" cy="396262"/>
          </a:xfrm>
          <a:prstGeom prst="rect">
            <a:avLst/>
          </a:prstGeom>
        </p:spPr>
        <p:txBody>
          <a:bodyPr vert="horz" wrap="square" lIns="0" tIns="36830" rIns="0" bIns="0" rtlCol="0">
            <a:spAutoFit/>
          </a:bodyPr>
          <a:lstStyle/>
          <a:p>
            <a:pPr marL="495934" marR="5080" indent="-483870">
              <a:lnSpc>
                <a:spcPts val="2760"/>
              </a:lnSpc>
              <a:spcBef>
                <a:spcPts val="290"/>
              </a:spcBef>
            </a:pPr>
            <a:r>
              <a:rPr lang="es-ES" b="1" spc="-5" dirty="0" smtClean="0">
                <a:solidFill>
                  <a:srgbClr val="365F91"/>
                </a:solidFill>
              </a:rPr>
              <a:t>Otros conceptos importantes a tener en cuenta</a:t>
            </a:r>
            <a:endParaRPr b="1" spc="-5" dirty="0">
              <a:solidFill>
                <a:srgbClr val="365F91"/>
              </a:solidFill>
            </a:endParaRPr>
          </a:p>
        </p:txBody>
      </p:sp>
      <p:sp>
        <p:nvSpPr>
          <p:cNvPr id="4" name="Rectángulo 3"/>
          <p:cNvSpPr/>
          <p:nvPr/>
        </p:nvSpPr>
        <p:spPr>
          <a:xfrm>
            <a:off x="277586" y="733425"/>
            <a:ext cx="9564914" cy="6186309"/>
          </a:xfrm>
          <a:prstGeom prst="rect">
            <a:avLst/>
          </a:prstGeom>
        </p:spPr>
        <p:txBody>
          <a:bodyPr wrap="square">
            <a:spAutoFit/>
          </a:bodyPr>
          <a:lstStyle/>
          <a:p>
            <a:pPr algn="just">
              <a:buFont typeface="+mj-lt"/>
              <a:buAutoNum type="arabicPeriod"/>
            </a:pPr>
            <a:r>
              <a:rPr lang="es-ES" sz="2200" b="1" dirty="0" smtClean="0">
                <a:solidFill>
                  <a:srgbClr val="374151"/>
                </a:solidFill>
                <a:latin typeface="+mj-lt"/>
              </a:rPr>
              <a:t> Experimentación</a:t>
            </a:r>
            <a:r>
              <a:rPr lang="es-ES" sz="2200" dirty="0" smtClean="0">
                <a:solidFill>
                  <a:srgbClr val="374151"/>
                </a:solidFill>
                <a:latin typeface="+mj-lt"/>
              </a:rPr>
              <a:t>: se recomienda comenzar </a:t>
            </a:r>
            <a:r>
              <a:rPr lang="es-ES" sz="2200" dirty="0">
                <a:solidFill>
                  <a:srgbClr val="374151"/>
                </a:solidFill>
                <a:latin typeface="+mj-lt"/>
              </a:rPr>
              <a:t>con un número pequeño de nodos y aumentarlo gradualmente, evaluando el rendimiento de la red en un </a:t>
            </a:r>
            <a:r>
              <a:rPr lang="es-ES" sz="2200" b="1" dirty="0">
                <a:solidFill>
                  <a:srgbClr val="374151"/>
                </a:solidFill>
                <a:latin typeface="+mj-lt"/>
              </a:rPr>
              <a:t>conjunto de validación</a:t>
            </a:r>
            <a:r>
              <a:rPr lang="es-ES" sz="2200" dirty="0">
                <a:solidFill>
                  <a:srgbClr val="374151"/>
                </a:solidFill>
                <a:latin typeface="+mj-lt"/>
              </a:rPr>
              <a:t>. </a:t>
            </a:r>
            <a:r>
              <a:rPr lang="es-ES" sz="2200" dirty="0" smtClean="0">
                <a:solidFill>
                  <a:srgbClr val="374151"/>
                </a:solidFill>
                <a:latin typeface="+mj-lt"/>
              </a:rPr>
              <a:t>Se suele observar una </a:t>
            </a:r>
            <a:r>
              <a:rPr lang="es-ES" sz="2200" dirty="0">
                <a:solidFill>
                  <a:srgbClr val="374151"/>
                </a:solidFill>
                <a:latin typeface="+mj-lt"/>
              </a:rPr>
              <a:t>mejora en el rendimiento a medida que </a:t>
            </a:r>
            <a:r>
              <a:rPr lang="es-ES" sz="2200" dirty="0" smtClean="0">
                <a:solidFill>
                  <a:srgbClr val="374151"/>
                </a:solidFill>
                <a:latin typeface="+mj-lt"/>
              </a:rPr>
              <a:t>aumenta </a:t>
            </a:r>
            <a:r>
              <a:rPr lang="es-ES" sz="2200" dirty="0">
                <a:solidFill>
                  <a:srgbClr val="374151"/>
                </a:solidFill>
                <a:latin typeface="+mj-lt"/>
              </a:rPr>
              <a:t>el número de nodos, pero </a:t>
            </a:r>
            <a:r>
              <a:rPr lang="es-ES" sz="2200" dirty="0" smtClean="0">
                <a:solidFill>
                  <a:srgbClr val="C00000"/>
                </a:solidFill>
                <a:latin typeface="+mj-lt"/>
              </a:rPr>
              <a:t>OJO: peligro de </a:t>
            </a:r>
            <a:r>
              <a:rPr lang="es-ES" sz="2200" dirty="0" err="1" smtClean="0">
                <a:solidFill>
                  <a:srgbClr val="C00000"/>
                </a:solidFill>
                <a:latin typeface="+mj-lt"/>
              </a:rPr>
              <a:t>sobreajustar</a:t>
            </a:r>
            <a:r>
              <a:rPr lang="es-ES" sz="2200" dirty="0" smtClean="0">
                <a:solidFill>
                  <a:srgbClr val="374151"/>
                </a:solidFill>
                <a:latin typeface="+mj-lt"/>
              </a:rPr>
              <a:t>.</a:t>
            </a:r>
          </a:p>
          <a:p>
            <a:pPr algn="just">
              <a:buFont typeface="+mj-lt"/>
              <a:buAutoNum type="arabicPeriod"/>
            </a:pPr>
            <a:endParaRPr lang="es-ES" sz="2200" dirty="0">
              <a:solidFill>
                <a:srgbClr val="374151"/>
              </a:solidFill>
              <a:latin typeface="+mj-lt"/>
            </a:endParaRPr>
          </a:p>
          <a:p>
            <a:pPr algn="just">
              <a:buFont typeface="+mj-lt"/>
              <a:buAutoNum type="arabicPeriod"/>
            </a:pPr>
            <a:r>
              <a:rPr lang="es-ES" sz="2200" b="1" dirty="0" smtClean="0">
                <a:solidFill>
                  <a:srgbClr val="374151"/>
                </a:solidFill>
                <a:latin typeface="+mj-lt"/>
              </a:rPr>
              <a:t> Técnicas </a:t>
            </a:r>
            <a:r>
              <a:rPr lang="es-ES" sz="2200" b="1" dirty="0">
                <a:solidFill>
                  <a:srgbClr val="374151"/>
                </a:solidFill>
                <a:latin typeface="+mj-lt"/>
              </a:rPr>
              <a:t>de regularización</a:t>
            </a:r>
            <a:r>
              <a:rPr lang="es-ES" sz="2200" dirty="0">
                <a:solidFill>
                  <a:srgbClr val="374151"/>
                </a:solidFill>
                <a:latin typeface="+mj-lt"/>
              </a:rPr>
              <a:t>: </a:t>
            </a:r>
            <a:r>
              <a:rPr lang="es-ES" sz="2200" dirty="0" smtClean="0">
                <a:solidFill>
                  <a:srgbClr val="374151"/>
                </a:solidFill>
                <a:latin typeface="+mj-lt"/>
              </a:rPr>
              <a:t>en </a:t>
            </a:r>
            <a:r>
              <a:rPr lang="es-ES" sz="2200" dirty="0">
                <a:solidFill>
                  <a:srgbClr val="374151"/>
                </a:solidFill>
                <a:latin typeface="+mj-lt"/>
              </a:rPr>
              <a:t>lugar de fijar el número de nodos de antemano, </a:t>
            </a:r>
            <a:r>
              <a:rPr lang="es-ES" sz="2200" dirty="0" smtClean="0">
                <a:solidFill>
                  <a:srgbClr val="374151"/>
                </a:solidFill>
                <a:latin typeface="+mj-lt"/>
              </a:rPr>
              <a:t>se pueden aplicar técnicas </a:t>
            </a:r>
            <a:r>
              <a:rPr lang="es-ES" sz="2200" dirty="0">
                <a:solidFill>
                  <a:srgbClr val="374151"/>
                </a:solidFill>
                <a:latin typeface="+mj-lt"/>
              </a:rPr>
              <a:t>de </a:t>
            </a:r>
            <a:r>
              <a:rPr lang="es-ES" sz="2200" dirty="0" smtClean="0">
                <a:solidFill>
                  <a:srgbClr val="374151"/>
                </a:solidFill>
                <a:latin typeface="+mj-lt"/>
              </a:rPr>
              <a:t>regularización </a:t>
            </a:r>
            <a:r>
              <a:rPr lang="es-ES" sz="2200" dirty="0">
                <a:solidFill>
                  <a:srgbClr val="374151"/>
                </a:solidFill>
                <a:latin typeface="+mj-lt"/>
              </a:rPr>
              <a:t>para </a:t>
            </a:r>
            <a:r>
              <a:rPr lang="es-ES" sz="2200" b="1" dirty="0">
                <a:solidFill>
                  <a:srgbClr val="374151"/>
                </a:solidFill>
                <a:latin typeface="+mj-lt"/>
              </a:rPr>
              <a:t>penalizar los pesos</a:t>
            </a:r>
            <a:r>
              <a:rPr lang="es-ES" sz="2200" dirty="0">
                <a:solidFill>
                  <a:srgbClr val="374151"/>
                </a:solidFill>
                <a:latin typeface="+mj-lt"/>
              </a:rPr>
              <a:t> de la red y evitar el </a:t>
            </a:r>
            <a:r>
              <a:rPr lang="es-ES" sz="2200" dirty="0" smtClean="0">
                <a:solidFill>
                  <a:srgbClr val="374151"/>
                </a:solidFill>
                <a:latin typeface="+mj-lt"/>
              </a:rPr>
              <a:t>sobreajuste, lo que proporciona mayor </a:t>
            </a:r>
            <a:r>
              <a:rPr lang="es-ES" sz="2200" dirty="0">
                <a:solidFill>
                  <a:srgbClr val="374151"/>
                </a:solidFill>
                <a:latin typeface="+mj-lt"/>
              </a:rPr>
              <a:t>flexibilidad en la elección del número de nodos, ya que </a:t>
            </a:r>
            <a:r>
              <a:rPr lang="es-ES" sz="2200" dirty="0" smtClean="0">
                <a:solidFill>
                  <a:srgbClr val="374151"/>
                </a:solidFill>
                <a:latin typeface="+mj-lt"/>
              </a:rPr>
              <a:t>ayuda </a:t>
            </a:r>
            <a:r>
              <a:rPr lang="es-ES" sz="2200" dirty="0">
                <a:solidFill>
                  <a:srgbClr val="374151"/>
                </a:solidFill>
                <a:latin typeface="+mj-lt"/>
              </a:rPr>
              <a:t>a controlar la complejidad del modelo</a:t>
            </a:r>
            <a:r>
              <a:rPr lang="es-ES" sz="2200" dirty="0" smtClean="0">
                <a:solidFill>
                  <a:srgbClr val="374151"/>
                </a:solidFill>
                <a:latin typeface="+mj-lt"/>
              </a:rPr>
              <a:t>.</a:t>
            </a:r>
          </a:p>
          <a:p>
            <a:pPr algn="just">
              <a:buFont typeface="+mj-lt"/>
              <a:buAutoNum type="arabicPeriod"/>
            </a:pPr>
            <a:endParaRPr lang="es-ES" sz="2200" dirty="0">
              <a:solidFill>
                <a:srgbClr val="374151"/>
              </a:solidFill>
              <a:latin typeface="+mj-lt"/>
            </a:endParaRPr>
          </a:p>
          <a:p>
            <a:pPr algn="just">
              <a:buFont typeface="+mj-lt"/>
              <a:buAutoNum type="arabicPeriod"/>
            </a:pPr>
            <a:r>
              <a:rPr lang="es-ES" sz="2200" b="1" dirty="0" smtClean="0">
                <a:solidFill>
                  <a:srgbClr val="374151"/>
                </a:solidFill>
                <a:latin typeface="+mj-lt"/>
              </a:rPr>
              <a:t> Arquitecturas </a:t>
            </a:r>
            <a:r>
              <a:rPr lang="es-ES" sz="2200" b="1" dirty="0">
                <a:solidFill>
                  <a:srgbClr val="374151"/>
                </a:solidFill>
                <a:latin typeface="+mj-lt"/>
              </a:rPr>
              <a:t>predefinidas</a:t>
            </a:r>
            <a:r>
              <a:rPr lang="es-ES" sz="2200" dirty="0">
                <a:solidFill>
                  <a:srgbClr val="374151"/>
                </a:solidFill>
                <a:latin typeface="+mj-lt"/>
              </a:rPr>
              <a:t>: </a:t>
            </a:r>
            <a:r>
              <a:rPr lang="es-ES" sz="2200" dirty="0" smtClean="0">
                <a:solidFill>
                  <a:srgbClr val="374151"/>
                </a:solidFill>
                <a:latin typeface="+mj-lt"/>
              </a:rPr>
              <a:t>algunas bibliotecas o marcos </a:t>
            </a:r>
            <a:r>
              <a:rPr lang="es-ES" sz="2200" dirty="0">
                <a:solidFill>
                  <a:srgbClr val="374151"/>
                </a:solidFill>
                <a:latin typeface="+mj-lt"/>
              </a:rPr>
              <a:t>de trabajo de </a:t>
            </a:r>
            <a:r>
              <a:rPr lang="es-ES" sz="2200" i="1" dirty="0" smtClean="0">
                <a:solidFill>
                  <a:srgbClr val="374151"/>
                </a:solidFill>
                <a:latin typeface="+mj-lt"/>
              </a:rPr>
              <a:t>Deep </a:t>
            </a:r>
            <a:r>
              <a:rPr lang="es-ES" sz="2200" i="1" dirty="0" err="1" smtClean="0">
                <a:solidFill>
                  <a:srgbClr val="374151"/>
                </a:solidFill>
                <a:latin typeface="+mj-lt"/>
              </a:rPr>
              <a:t>Learning</a:t>
            </a:r>
            <a:r>
              <a:rPr lang="es-ES" sz="2200" i="1" dirty="0" smtClean="0">
                <a:solidFill>
                  <a:srgbClr val="374151"/>
                </a:solidFill>
                <a:latin typeface="+mj-lt"/>
              </a:rPr>
              <a:t> </a:t>
            </a:r>
            <a:r>
              <a:rPr lang="es-ES" sz="2200" dirty="0" smtClean="0">
                <a:solidFill>
                  <a:srgbClr val="374151"/>
                </a:solidFill>
                <a:latin typeface="+mj-lt"/>
              </a:rPr>
              <a:t>incluyen </a:t>
            </a:r>
            <a:r>
              <a:rPr lang="es-ES" sz="2200" dirty="0">
                <a:solidFill>
                  <a:srgbClr val="374151"/>
                </a:solidFill>
                <a:latin typeface="+mj-lt"/>
              </a:rPr>
              <a:t>arquitecturas predefinidas o mejores prácticas para diferentes tipos de problemas</a:t>
            </a:r>
            <a:r>
              <a:rPr lang="es-ES" sz="2200" dirty="0" smtClean="0">
                <a:solidFill>
                  <a:srgbClr val="374151"/>
                </a:solidFill>
                <a:latin typeface="+mj-lt"/>
              </a:rPr>
              <a:t>.</a:t>
            </a:r>
          </a:p>
          <a:p>
            <a:pPr algn="just">
              <a:buFont typeface="+mj-lt"/>
              <a:buAutoNum type="arabicPeriod"/>
            </a:pPr>
            <a:endParaRPr lang="es-ES" sz="2200" dirty="0">
              <a:solidFill>
                <a:srgbClr val="374151"/>
              </a:solidFill>
              <a:latin typeface="+mj-lt"/>
            </a:endParaRPr>
          </a:p>
          <a:p>
            <a:pPr algn="just"/>
            <a:r>
              <a:rPr lang="es-ES" sz="2200" b="1" dirty="0" smtClean="0">
                <a:solidFill>
                  <a:srgbClr val="C00000"/>
                </a:solidFill>
                <a:latin typeface="+mj-lt"/>
              </a:rPr>
              <a:t>Recuerda:</a:t>
            </a:r>
            <a:r>
              <a:rPr lang="es-ES" sz="2200" dirty="0" smtClean="0">
                <a:solidFill>
                  <a:srgbClr val="374151"/>
                </a:solidFill>
                <a:latin typeface="+mj-lt"/>
              </a:rPr>
              <a:t> no </a:t>
            </a:r>
            <a:r>
              <a:rPr lang="es-ES" sz="2200" dirty="0">
                <a:solidFill>
                  <a:srgbClr val="374151"/>
                </a:solidFill>
                <a:latin typeface="+mj-lt"/>
              </a:rPr>
              <a:t>existe una solución única para determinar el número de nodos en una capa oculta, y es probable que debas realizar varias pruebas y ajustes para encontrar el equilibrio adecuado entre el rendimiento y la complejidad del modelo en tu problema específico.</a:t>
            </a:r>
            <a:endParaRPr lang="es-ES" sz="2200" b="0" i="0" dirty="0">
              <a:solidFill>
                <a:srgbClr val="374151"/>
              </a:solidFill>
              <a:effectLst/>
              <a:latin typeface="+mj-lt"/>
            </a:endParaRPr>
          </a:p>
        </p:txBody>
      </p:sp>
    </p:spTree>
    <p:extLst>
      <p:ext uri="{BB962C8B-B14F-4D97-AF65-F5344CB8AC3E}">
        <p14:creationId xmlns:p14="http://schemas.microsoft.com/office/powerpoint/2010/main" val="912259712"/>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6963" y="314959"/>
            <a:ext cx="9999472" cy="369332"/>
          </a:xfrm>
        </p:spPr>
        <p:txBody>
          <a:bodyPr/>
          <a:lstStyle/>
          <a:p>
            <a:r>
              <a:rPr lang="es-ES" b="1" spc="-5" dirty="0" smtClean="0">
                <a:solidFill>
                  <a:srgbClr val="365F91"/>
                </a:solidFill>
              </a:rPr>
              <a:t>Inciso: algunos conceptos teóricos sobre técnicas de regularización</a:t>
            </a:r>
            <a:endParaRPr lang="es-ES" dirty="0"/>
          </a:p>
        </p:txBody>
      </p:sp>
      <p:sp>
        <p:nvSpPr>
          <p:cNvPr id="4" name="Rectángulo 3"/>
          <p:cNvSpPr/>
          <p:nvPr/>
        </p:nvSpPr>
        <p:spPr>
          <a:xfrm>
            <a:off x="241300" y="1724025"/>
            <a:ext cx="9829800" cy="4832092"/>
          </a:xfrm>
          <a:prstGeom prst="rect">
            <a:avLst/>
          </a:prstGeom>
        </p:spPr>
        <p:txBody>
          <a:bodyPr wrap="square">
            <a:spAutoFit/>
          </a:bodyPr>
          <a:lstStyle/>
          <a:p>
            <a:pPr marL="342900" indent="-342900" algn="just">
              <a:buFont typeface="Arial" panose="020B0604020202020204" pitchFamily="34" charset="0"/>
              <a:buChar char="•"/>
            </a:pPr>
            <a:r>
              <a:rPr lang="es-ES" sz="2200" b="1" dirty="0">
                <a:solidFill>
                  <a:srgbClr val="374151"/>
                </a:solidFill>
                <a:latin typeface="+mj-lt"/>
              </a:rPr>
              <a:t>Regularización L1 y L2</a:t>
            </a:r>
            <a:r>
              <a:rPr lang="es-ES" sz="2200" dirty="0">
                <a:solidFill>
                  <a:srgbClr val="374151"/>
                </a:solidFill>
                <a:latin typeface="+mj-lt"/>
              </a:rPr>
              <a:t>: </a:t>
            </a:r>
            <a:r>
              <a:rPr lang="es-ES" sz="2200" dirty="0" smtClean="0">
                <a:solidFill>
                  <a:srgbClr val="374151"/>
                </a:solidFill>
                <a:latin typeface="+mj-lt"/>
              </a:rPr>
              <a:t>se </a:t>
            </a:r>
            <a:r>
              <a:rPr lang="es-ES" sz="2200" dirty="0">
                <a:solidFill>
                  <a:srgbClr val="374151"/>
                </a:solidFill>
                <a:latin typeface="+mj-lt"/>
              </a:rPr>
              <a:t>basan en agregar un término de penalización a la función de pérdida durante el entrenamiento de la red neuronal. Estos términos </a:t>
            </a:r>
            <a:r>
              <a:rPr lang="es-ES" sz="2200" u="sng" dirty="0">
                <a:solidFill>
                  <a:srgbClr val="374151"/>
                </a:solidFill>
                <a:latin typeface="+mj-lt"/>
              </a:rPr>
              <a:t>penalizan</a:t>
            </a:r>
            <a:r>
              <a:rPr lang="es-ES" sz="2200" dirty="0">
                <a:solidFill>
                  <a:srgbClr val="374151"/>
                </a:solidFill>
                <a:latin typeface="+mj-lt"/>
              </a:rPr>
              <a:t> los </a:t>
            </a:r>
            <a:r>
              <a:rPr lang="es-ES" sz="2200" u="sng" dirty="0">
                <a:solidFill>
                  <a:srgbClr val="374151"/>
                </a:solidFill>
                <a:latin typeface="+mj-lt"/>
              </a:rPr>
              <a:t>pesos grandes</a:t>
            </a:r>
            <a:r>
              <a:rPr lang="es-ES" sz="2200" dirty="0">
                <a:solidFill>
                  <a:srgbClr val="374151"/>
                </a:solidFill>
                <a:latin typeface="+mj-lt"/>
              </a:rPr>
              <a:t> y promueven pesos más pequeños. La regularización L1 añade la suma de los valores absolutos de los pesos como término de penalización, mientras que la regularización L2 añade la suma de los cuadrados de los pesos. Esto ayuda a evitar que los pesos se vuelvan demasiado grandes y contribuyan al sobreajuste</a:t>
            </a:r>
            <a:r>
              <a:rPr lang="es-ES" sz="2200" dirty="0" smtClean="0">
                <a:solidFill>
                  <a:srgbClr val="374151"/>
                </a:solidFill>
                <a:latin typeface="+mj-lt"/>
              </a:rPr>
              <a:t>.</a:t>
            </a:r>
          </a:p>
          <a:p>
            <a:pPr marL="342900" indent="-342900" algn="just">
              <a:buFont typeface="Arial" panose="020B0604020202020204" pitchFamily="34" charset="0"/>
              <a:buChar char="•"/>
            </a:pPr>
            <a:endParaRPr lang="es-ES" sz="2200" dirty="0">
              <a:solidFill>
                <a:srgbClr val="374151"/>
              </a:solidFill>
              <a:latin typeface="+mj-lt"/>
            </a:endParaRPr>
          </a:p>
          <a:p>
            <a:pPr marL="342900" indent="-342900" algn="just">
              <a:buFont typeface="Arial" panose="020B0604020202020204" pitchFamily="34" charset="0"/>
              <a:buChar char="•"/>
            </a:pPr>
            <a:r>
              <a:rPr lang="es-ES" sz="2200" b="1" dirty="0" err="1">
                <a:solidFill>
                  <a:srgbClr val="374151"/>
                </a:solidFill>
                <a:latin typeface="+mj-lt"/>
              </a:rPr>
              <a:t>Dropout</a:t>
            </a:r>
            <a:r>
              <a:rPr lang="es-ES" sz="2200" dirty="0">
                <a:solidFill>
                  <a:srgbClr val="374151"/>
                </a:solidFill>
                <a:latin typeface="+mj-lt"/>
              </a:rPr>
              <a:t>: </a:t>
            </a:r>
            <a:r>
              <a:rPr lang="es-ES" sz="2200" dirty="0" smtClean="0">
                <a:solidFill>
                  <a:srgbClr val="374151"/>
                </a:solidFill>
                <a:latin typeface="+mj-lt"/>
              </a:rPr>
              <a:t>es </a:t>
            </a:r>
            <a:r>
              <a:rPr lang="es-ES" sz="2200" dirty="0">
                <a:solidFill>
                  <a:srgbClr val="374151"/>
                </a:solidFill>
                <a:latin typeface="+mj-lt"/>
              </a:rPr>
              <a:t>una técnica de regularización que consiste en </a:t>
            </a:r>
            <a:r>
              <a:rPr lang="es-ES" sz="2200" u="sng" dirty="0">
                <a:solidFill>
                  <a:srgbClr val="374151"/>
                </a:solidFill>
                <a:latin typeface="+mj-lt"/>
              </a:rPr>
              <a:t>desactivar aleatoriamente un porcentaje de las neuronas</a:t>
            </a:r>
            <a:r>
              <a:rPr lang="es-ES" sz="2200" dirty="0">
                <a:solidFill>
                  <a:srgbClr val="374151"/>
                </a:solidFill>
                <a:latin typeface="+mj-lt"/>
              </a:rPr>
              <a:t> (aplicando una probabilidad de "descartar" cada neurona) durante el </a:t>
            </a:r>
            <a:r>
              <a:rPr lang="es-ES" sz="2200" dirty="0" smtClean="0">
                <a:solidFill>
                  <a:srgbClr val="374151"/>
                </a:solidFill>
                <a:latin typeface="+mj-lt"/>
              </a:rPr>
              <a:t>entrenamiento, lo que fuerza </a:t>
            </a:r>
            <a:r>
              <a:rPr lang="es-ES" sz="2200" dirty="0">
                <a:solidFill>
                  <a:srgbClr val="374151"/>
                </a:solidFill>
                <a:latin typeface="+mj-lt"/>
              </a:rPr>
              <a:t>a la red a </a:t>
            </a:r>
            <a:r>
              <a:rPr lang="es-ES" sz="2200" u="sng" dirty="0">
                <a:solidFill>
                  <a:srgbClr val="374151"/>
                </a:solidFill>
                <a:latin typeface="+mj-lt"/>
              </a:rPr>
              <a:t>aprender características más robustas</a:t>
            </a:r>
            <a:r>
              <a:rPr lang="es-ES" sz="2200" dirty="0">
                <a:solidFill>
                  <a:srgbClr val="374151"/>
                </a:solidFill>
                <a:latin typeface="+mj-lt"/>
              </a:rPr>
              <a:t> y </a:t>
            </a:r>
            <a:r>
              <a:rPr lang="es-ES" sz="2200" u="sng" dirty="0">
                <a:solidFill>
                  <a:srgbClr val="374151"/>
                </a:solidFill>
                <a:latin typeface="+mj-lt"/>
              </a:rPr>
              <a:t>reduce </a:t>
            </a:r>
            <a:r>
              <a:rPr lang="es-ES" sz="2200" dirty="0">
                <a:solidFill>
                  <a:srgbClr val="374151"/>
                </a:solidFill>
                <a:latin typeface="+mj-lt"/>
              </a:rPr>
              <a:t>la </a:t>
            </a:r>
            <a:r>
              <a:rPr lang="es-ES" sz="2200" u="sng" dirty="0">
                <a:solidFill>
                  <a:srgbClr val="374151"/>
                </a:solidFill>
                <a:latin typeface="+mj-lt"/>
              </a:rPr>
              <a:t>dependencia </a:t>
            </a:r>
            <a:r>
              <a:rPr lang="es-ES" sz="2200" dirty="0">
                <a:solidFill>
                  <a:srgbClr val="374151"/>
                </a:solidFill>
                <a:latin typeface="+mj-lt"/>
              </a:rPr>
              <a:t>de neuronas individuales. Durante la fase de </a:t>
            </a:r>
            <a:r>
              <a:rPr lang="es-ES" sz="2200" dirty="0" smtClean="0">
                <a:solidFill>
                  <a:srgbClr val="374151"/>
                </a:solidFill>
                <a:latin typeface="+mj-lt"/>
              </a:rPr>
              <a:t>evaluación se utilizan todas las neuronas pero se escala la salida para compensar la desactivación del entrenamiento.</a:t>
            </a:r>
            <a:endParaRPr lang="es-ES" sz="2200" dirty="0">
              <a:solidFill>
                <a:srgbClr val="374151"/>
              </a:solidFill>
              <a:latin typeface="+mj-lt"/>
            </a:endParaRPr>
          </a:p>
        </p:txBody>
      </p:sp>
    </p:spTree>
    <p:extLst>
      <p:ext uri="{BB962C8B-B14F-4D97-AF65-F5344CB8AC3E}">
        <p14:creationId xmlns:p14="http://schemas.microsoft.com/office/powerpoint/2010/main" val="4016053727"/>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6963" y="314959"/>
            <a:ext cx="9999472" cy="369332"/>
          </a:xfrm>
        </p:spPr>
        <p:txBody>
          <a:bodyPr/>
          <a:lstStyle/>
          <a:p>
            <a:r>
              <a:rPr lang="es-ES" b="1" spc="-5" dirty="0" smtClean="0">
                <a:solidFill>
                  <a:srgbClr val="365F91"/>
                </a:solidFill>
              </a:rPr>
              <a:t>Inciso: algunos conceptos teóricos sobre técnicas de regularización</a:t>
            </a:r>
            <a:endParaRPr lang="es-ES" dirty="0"/>
          </a:p>
        </p:txBody>
      </p:sp>
      <p:sp>
        <p:nvSpPr>
          <p:cNvPr id="4" name="Rectángulo 3"/>
          <p:cNvSpPr/>
          <p:nvPr/>
        </p:nvSpPr>
        <p:spPr>
          <a:xfrm>
            <a:off x="546100" y="1266825"/>
            <a:ext cx="9144000" cy="5847755"/>
          </a:xfrm>
          <a:prstGeom prst="rect">
            <a:avLst/>
          </a:prstGeom>
        </p:spPr>
        <p:txBody>
          <a:bodyPr wrap="square">
            <a:spAutoFit/>
          </a:bodyPr>
          <a:lstStyle/>
          <a:p>
            <a:pPr marL="342900" indent="-342900" algn="just">
              <a:buFont typeface="Arial" panose="020B0604020202020204" pitchFamily="34" charset="0"/>
              <a:buChar char="•"/>
            </a:pPr>
            <a:r>
              <a:rPr lang="es-ES" sz="2200" b="1" dirty="0" smtClean="0">
                <a:solidFill>
                  <a:srgbClr val="374151"/>
                </a:solidFill>
                <a:latin typeface="+mj-lt"/>
              </a:rPr>
              <a:t>Data </a:t>
            </a:r>
            <a:r>
              <a:rPr lang="es-ES" sz="2200" b="1" dirty="0" err="1">
                <a:solidFill>
                  <a:srgbClr val="374151"/>
                </a:solidFill>
                <a:latin typeface="+mj-lt"/>
              </a:rPr>
              <a:t>augmentation</a:t>
            </a:r>
            <a:r>
              <a:rPr lang="es-ES" sz="2200" dirty="0">
                <a:solidFill>
                  <a:srgbClr val="374151"/>
                </a:solidFill>
                <a:latin typeface="+mj-lt"/>
              </a:rPr>
              <a:t>: </a:t>
            </a:r>
            <a:r>
              <a:rPr lang="es-ES" sz="2200" dirty="0" smtClean="0">
                <a:solidFill>
                  <a:srgbClr val="374151"/>
                </a:solidFill>
                <a:latin typeface="+mj-lt"/>
              </a:rPr>
              <a:t>implica </a:t>
            </a:r>
            <a:r>
              <a:rPr lang="es-ES" sz="2200" dirty="0">
                <a:solidFill>
                  <a:srgbClr val="374151"/>
                </a:solidFill>
                <a:latin typeface="+mj-lt"/>
              </a:rPr>
              <a:t>aumentar artificialmente la cantidad de datos de entrenamiento mediante transformaciones como rotaciones, traslaciones, zoom, espejado, entre </a:t>
            </a:r>
            <a:r>
              <a:rPr lang="es-ES" sz="2200" dirty="0" smtClean="0">
                <a:solidFill>
                  <a:srgbClr val="374151"/>
                </a:solidFill>
                <a:latin typeface="+mj-lt"/>
              </a:rPr>
              <a:t>otros, lo </a:t>
            </a:r>
            <a:r>
              <a:rPr lang="es-ES" sz="2200" dirty="0" err="1" smtClean="0">
                <a:solidFill>
                  <a:srgbClr val="374151"/>
                </a:solidFill>
                <a:latin typeface="+mj-lt"/>
              </a:rPr>
              <a:t>quecrea</a:t>
            </a:r>
            <a:r>
              <a:rPr lang="es-ES" sz="2200" dirty="0" smtClean="0">
                <a:solidFill>
                  <a:srgbClr val="374151"/>
                </a:solidFill>
                <a:latin typeface="+mj-lt"/>
              </a:rPr>
              <a:t> </a:t>
            </a:r>
            <a:r>
              <a:rPr lang="es-ES" sz="2200" dirty="0">
                <a:solidFill>
                  <a:srgbClr val="374151"/>
                </a:solidFill>
                <a:latin typeface="+mj-lt"/>
              </a:rPr>
              <a:t>una variedad de muestras sintéticas que ayudan a que la red neuronal generalice mejor y evite el sobreajuste</a:t>
            </a:r>
            <a:r>
              <a:rPr lang="es-ES" sz="2200" dirty="0" smtClean="0">
                <a:solidFill>
                  <a:srgbClr val="374151"/>
                </a:solidFill>
                <a:latin typeface="+mj-lt"/>
              </a:rPr>
              <a:t>.</a:t>
            </a:r>
          </a:p>
          <a:p>
            <a:pPr marL="342900" indent="-342900" algn="just">
              <a:buFont typeface="Arial" panose="020B0604020202020204" pitchFamily="34" charset="0"/>
              <a:buChar char="•"/>
            </a:pPr>
            <a:endParaRPr lang="es-ES" sz="2200" dirty="0">
              <a:solidFill>
                <a:srgbClr val="374151"/>
              </a:solidFill>
              <a:latin typeface="+mj-lt"/>
            </a:endParaRPr>
          </a:p>
          <a:p>
            <a:pPr marL="342900" indent="-342900" algn="just">
              <a:buFont typeface="Arial" panose="020B0604020202020204" pitchFamily="34" charset="0"/>
              <a:buChar char="•"/>
            </a:pPr>
            <a:r>
              <a:rPr lang="es-ES" sz="2200" b="1" dirty="0" err="1">
                <a:solidFill>
                  <a:srgbClr val="C00000"/>
                </a:solidFill>
                <a:latin typeface="+mj-lt"/>
              </a:rPr>
              <a:t>Early</a:t>
            </a:r>
            <a:r>
              <a:rPr lang="es-ES" sz="2200" b="1" dirty="0">
                <a:solidFill>
                  <a:srgbClr val="C00000"/>
                </a:solidFill>
                <a:latin typeface="+mj-lt"/>
              </a:rPr>
              <a:t> </a:t>
            </a:r>
            <a:r>
              <a:rPr lang="es-ES" sz="2200" b="1" dirty="0" err="1">
                <a:solidFill>
                  <a:srgbClr val="C00000"/>
                </a:solidFill>
                <a:latin typeface="+mj-lt"/>
              </a:rPr>
              <a:t>stopping</a:t>
            </a:r>
            <a:r>
              <a:rPr lang="es-ES" sz="2200" dirty="0">
                <a:solidFill>
                  <a:srgbClr val="374151"/>
                </a:solidFill>
                <a:latin typeface="+mj-lt"/>
              </a:rPr>
              <a:t>: </a:t>
            </a:r>
            <a:r>
              <a:rPr lang="es-ES" sz="2200" dirty="0" smtClean="0">
                <a:solidFill>
                  <a:srgbClr val="374151"/>
                </a:solidFill>
                <a:latin typeface="+mj-lt"/>
              </a:rPr>
              <a:t>consiste </a:t>
            </a:r>
            <a:r>
              <a:rPr lang="es-ES" sz="2200" dirty="0">
                <a:solidFill>
                  <a:srgbClr val="374151"/>
                </a:solidFill>
                <a:latin typeface="+mj-lt"/>
              </a:rPr>
              <a:t>en </a:t>
            </a:r>
            <a:r>
              <a:rPr lang="es-ES" sz="2200" u="sng" dirty="0">
                <a:solidFill>
                  <a:srgbClr val="374151"/>
                </a:solidFill>
                <a:latin typeface="+mj-lt"/>
              </a:rPr>
              <a:t>detener el entrenamiento de la </a:t>
            </a:r>
            <a:r>
              <a:rPr lang="es-ES" sz="2200" u="sng" dirty="0" smtClean="0">
                <a:solidFill>
                  <a:srgbClr val="374151"/>
                </a:solidFill>
                <a:latin typeface="+mj-lt"/>
              </a:rPr>
              <a:t>red </a:t>
            </a:r>
            <a:r>
              <a:rPr lang="es-ES" sz="2200" dirty="0" smtClean="0">
                <a:solidFill>
                  <a:srgbClr val="374151"/>
                </a:solidFill>
                <a:latin typeface="+mj-lt"/>
              </a:rPr>
              <a:t>antes </a:t>
            </a:r>
            <a:r>
              <a:rPr lang="es-ES" sz="2200" dirty="0">
                <a:solidFill>
                  <a:srgbClr val="374151"/>
                </a:solidFill>
                <a:latin typeface="+mj-lt"/>
              </a:rPr>
              <a:t>de que se alcance el número total de épocas previsto, en función de un criterio de parada. Por lo general, se detiene el entrenamiento cuando el rendimiento en un conjunto de validación comienza a empeorar. Esto evita que la red continúe ajustándose demasiado a los datos de entrenamiento y mejora su capacidad de generalización</a:t>
            </a:r>
            <a:r>
              <a:rPr lang="es-ES" sz="2200" dirty="0" smtClean="0">
                <a:solidFill>
                  <a:srgbClr val="374151"/>
                </a:solidFill>
                <a:latin typeface="+mj-lt"/>
              </a:rPr>
              <a:t>.</a:t>
            </a:r>
          </a:p>
          <a:p>
            <a:pPr algn="just"/>
            <a:endParaRPr lang="es-ES" sz="2200" dirty="0" smtClean="0">
              <a:solidFill>
                <a:srgbClr val="374151"/>
              </a:solidFill>
              <a:latin typeface="+mj-lt"/>
            </a:endParaRPr>
          </a:p>
          <a:p>
            <a:pPr algn="just"/>
            <a:r>
              <a:rPr lang="es-ES" sz="2200" dirty="0" smtClean="0">
                <a:solidFill>
                  <a:srgbClr val="374151"/>
                </a:solidFill>
                <a:latin typeface="+mj-lt"/>
              </a:rPr>
              <a:t>Cada </a:t>
            </a:r>
            <a:r>
              <a:rPr lang="es-ES" sz="2200" dirty="0">
                <a:solidFill>
                  <a:srgbClr val="374151"/>
                </a:solidFill>
                <a:latin typeface="+mj-lt"/>
              </a:rPr>
              <a:t>técnica tiene su propia aplicación y efecto en la red neuronal, y es posible combinar varias técnicas para obtener un mejor rendimiento y evitar el sobreajuste en el modelo. La elección de la técnica de regularización dependerá del problema específico y de las características de los datos.</a:t>
            </a:r>
            <a:endParaRPr lang="es-ES" sz="2200" b="0" i="0" dirty="0">
              <a:solidFill>
                <a:srgbClr val="374151"/>
              </a:solidFill>
              <a:effectLst/>
              <a:latin typeface="+mj-lt"/>
            </a:endParaRPr>
          </a:p>
        </p:txBody>
      </p:sp>
    </p:spTree>
    <p:extLst>
      <p:ext uri="{BB962C8B-B14F-4D97-AF65-F5344CB8AC3E}">
        <p14:creationId xmlns:p14="http://schemas.microsoft.com/office/powerpoint/2010/main" val="67439844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14959"/>
            <a:ext cx="9999472" cy="755335"/>
          </a:xfrm>
          <a:prstGeom prst="rect">
            <a:avLst/>
          </a:prstGeom>
        </p:spPr>
        <p:txBody>
          <a:bodyPr vert="horz" wrap="square" lIns="0" tIns="36830" rIns="0" bIns="0" rtlCol="0">
            <a:spAutoFit/>
          </a:bodyPr>
          <a:lstStyle/>
          <a:p>
            <a:pPr marL="12700" marR="5080">
              <a:lnSpc>
                <a:spcPts val="2760"/>
              </a:lnSpc>
              <a:spcBef>
                <a:spcPts val="290"/>
              </a:spcBef>
            </a:pPr>
            <a:r>
              <a:rPr b="1" dirty="0">
                <a:solidFill>
                  <a:srgbClr val="234060"/>
                </a:solidFill>
              </a:rPr>
              <a:t>Reglas </a:t>
            </a:r>
            <a:r>
              <a:rPr b="1" spc="-5" dirty="0">
                <a:solidFill>
                  <a:srgbClr val="234060"/>
                </a:solidFill>
              </a:rPr>
              <a:t>simples </a:t>
            </a:r>
            <a:r>
              <a:rPr b="1" dirty="0">
                <a:solidFill>
                  <a:srgbClr val="234060"/>
                </a:solidFill>
              </a:rPr>
              <a:t>a tener </a:t>
            </a:r>
            <a:r>
              <a:rPr b="1" spc="-5" dirty="0">
                <a:solidFill>
                  <a:srgbClr val="234060"/>
                </a:solidFill>
              </a:rPr>
              <a:t>en </a:t>
            </a:r>
            <a:r>
              <a:rPr b="1" dirty="0">
                <a:solidFill>
                  <a:srgbClr val="234060"/>
                </a:solidFill>
              </a:rPr>
              <a:t>cuenta </a:t>
            </a:r>
            <a:r>
              <a:rPr b="1" spc="-5" dirty="0">
                <a:solidFill>
                  <a:srgbClr val="234060"/>
                </a:solidFill>
              </a:rPr>
              <a:t>para </a:t>
            </a:r>
            <a:r>
              <a:rPr b="1" dirty="0">
                <a:solidFill>
                  <a:srgbClr val="234060"/>
                </a:solidFill>
              </a:rPr>
              <a:t>decidir el </a:t>
            </a:r>
            <a:r>
              <a:rPr b="1" spc="-5" dirty="0">
                <a:solidFill>
                  <a:srgbClr val="234060"/>
                </a:solidFill>
              </a:rPr>
              <a:t>número </a:t>
            </a:r>
            <a:r>
              <a:rPr b="1" dirty="0">
                <a:solidFill>
                  <a:srgbClr val="234060"/>
                </a:solidFill>
              </a:rPr>
              <a:t>de nodos y para </a:t>
            </a:r>
            <a:r>
              <a:rPr b="1" spc="-585" dirty="0">
                <a:solidFill>
                  <a:srgbClr val="234060"/>
                </a:solidFill>
              </a:rPr>
              <a:t> </a:t>
            </a:r>
            <a:r>
              <a:rPr b="1" spc="-5" dirty="0">
                <a:solidFill>
                  <a:srgbClr val="234060"/>
                </a:solidFill>
              </a:rPr>
              <a:t>comprender su </a:t>
            </a:r>
            <a:r>
              <a:rPr b="1" dirty="0">
                <a:solidFill>
                  <a:srgbClr val="234060"/>
                </a:solidFill>
              </a:rPr>
              <a:t>efecto en</a:t>
            </a:r>
            <a:r>
              <a:rPr b="1" spc="-10" dirty="0">
                <a:solidFill>
                  <a:srgbClr val="234060"/>
                </a:solidFill>
              </a:rPr>
              <a:t> </a:t>
            </a:r>
            <a:r>
              <a:rPr b="1" dirty="0">
                <a:solidFill>
                  <a:srgbClr val="234060"/>
                </a:solidFill>
              </a:rPr>
              <a:t>las</a:t>
            </a:r>
            <a:r>
              <a:rPr b="1" spc="-5" dirty="0">
                <a:solidFill>
                  <a:srgbClr val="234060"/>
                </a:solidFill>
              </a:rPr>
              <a:t> predicciones</a:t>
            </a:r>
          </a:p>
        </p:txBody>
      </p:sp>
      <p:sp>
        <p:nvSpPr>
          <p:cNvPr id="3" name="object 3"/>
          <p:cNvSpPr txBox="1"/>
          <p:nvPr/>
        </p:nvSpPr>
        <p:spPr>
          <a:xfrm>
            <a:off x="346963" y="1377442"/>
            <a:ext cx="9999472" cy="1289456"/>
          </a:xfrm>
          <a:prstGeom prst="rect">
            <a:avLst/>
          </a:prstGeom>
        </p:spPr>
        <p:txBody>
          <a:bodyPr vert="horz" wrap="square" lIns="0" tIns="29845" rIns="0" bIns="0" rtlCol="0">
            <a:spAutoFit/>
          </a:bodyPr>
          <a:lstStyle/>
          <a:p>
            <a:pPr marL="12700" marR="5080">
              <a:lnSpc>
                <a:spcPts val="2080"/>
              </a:lnSpc>
              <a:spcBef>
                <a:spcPts val="235"/>
              </a:spcBef>
            </a:pPr>
            <a:r>
              <a:rPr sz="1800" dirty="0">
                <a:latin typeface="Times New Roman"/>
                <a:cs typeface="Times New Roman"/>
              </a:rPr>
              <a:t>a)</a:t>
            </a:r>
            <a:r>
              <a:rPr sz="1800" spc="10" dirty="0">
                <a:latin typeface="Times New Roman"/>
                <a:cs typeface="Times New Roman"/>
              </a:rPr>
              <a:t> </a:t>
            </a:r>
            <a:r>
              <a:rPr sz="1800" spc="-5" dirty="0">
                <a:latin typeface="Times New Roman"/>
                <a:cs typeface="Times New Roman"/>
              </a:rPr>
              <a:t>Respecto</a:t>
            </a:r>
            <a:r>
              <a:rPr sz="1800" dirty="0">
                <a:latin typeface="Times New Roman"/>
                <a:cs typeface="Times New Roman"/>
              </a:rPr>
              <a:t> a</a:t>
            </a:r>
            <a:r>
              <a:rPr sz="1800" spc="10" dirty="0">
                <a:latin typeface="Times New Roman"/>
                <a:cs typeface="Times New Roman"/>
              </a:rPr>
              <a:t> </a:t>
            </a:r>
            <a:r>
              <a:rPr sz="1800" spc="-5" dirty="0">
                <a:latin typeface="Times New Roman"/>
                <a:cs typeface="Times New Roman"/>
              </a:rPr>
              <a:t>ajuste-sobreajuste:</a:t>
            </a:r>
            <a:r>
              <a:rPr sz="1800" spc="10" dirty="0">
                <a:latin typeface="Times New Roman"/>
                <a:cs typeface="Times New Roman"/>
              </a:rPr>
              <a:t> </a:t>
            </a:r>
            <a:r>
              <a:rPr sz="1800" spc="-5" dirty="0">
                <a:latin typeface="Times New Roman"/>
                <a:cs typeface="Times New Roman"/>
              </a:rPr>
              <a:t>si</a:t>
            </a:r>
            <a:r>
              <a:rPr sz="1800" spc="10" dirty="0">
                <a:latin typeface="Times New Roman"/>
                <a:cs typeface="Times New Roman"/>
              </a:rPr>
              <a:t> </a:t>
            </a:r>
            <a:r>
              <a:rPr sz="1800" spc="-5" dirty="0">
                <a:latin typeface="Times New Roman"/>
                <a:cs typeface="Times New Roman"/>
              </a:rPr>
              <a:t>queremos</a:t>
            </a:r>
            <a:r>
              <a:rPr sz="1800" spc="5" dirty="0">
                <a:latin typeface="Times New Roman"/>
                <a:cs typeface="Times New Roman"/>
              </a:rPr>
              <a:t> </a:t>
            </a:r>
            <a:r>
              <a:rPr sz="1800" b="1" spc="-5" dirty="0">
                <a:latin typeface="Times New Roman"/>
                <a:cs typeface="Times New Roman"/>
              </a:rPr>
              <a:t>menos</a:t>
            </a:r>
            <a:r>
              <a:rPr sz="1800" b="1" spc="15" dirty="0">
                <a:latin typeface="Times New Roman"/>
                <a:cs typeface="Times New Roman"/>
              </a:rPr>
              <a:t> </a:t>
            </a:r>
            <a:r>
              <a:rPr sz="1800" b="1" dirty="0">
                <a:latin typeface="Times New Roman"/>
                <a:cs typeface="Times New Roman"/>
              </a:rPr>
              <a:t>error,</a:t>
            </a:r>
            <a:r>
              <a:rPr sz="1800" b="1" spc="5" dirty="0">
                <a:latin typeface="Times New Roman"/>
                <a:cs typeface="Times New Roman"/>
              </a:rPr>
              <a:t> </a:t>
            </a:r>
            <a:r>
              <a:rPr sz="1800" b="1" spc="-5" dirty="0">
                <a:latin typeface="Times New Roman"/>
                <a:cs typeface="Times New Roman"/>
              </a:rPr>
              <a:t>aumentamos</a:t>
            </a:r>
            <a:r>
              <a:rPr sz="1800" b="1" spc="10" dirty="0">
                <a:latin typeface="Times New Roman"/>
                <a:cs typeface="Times New Roman"/>
              </a:rPr>
              <a:t> </a:t>
            </a:r>
            <a:r>
              <a:rPr sz="1800" b="1" dirty="0">
                <a:latin typeface="Times New Roman"/>
                <a:cs typeface="Times New Roman"/>
              </a:rPr>
              <a:t>el</a:t>
            </a:r>
            <a:r>
              <a:rPr sz="1800" b="1" spc="10" dirty="0">
                <a:latin typeface="Times New Roman"/>
                <a:cs typeface="Times New Roman"/>
              </a:rPr>
              <a:t> </a:t>
            </a:r>
            <a:r>
              <a:rPr sz="1800" b="1" spc="-5" dirty="0">
                <a:latin typeface="Times New Roman"/>
                <a:cs typeface="Times New Roman"/>
              </a:rPr>
              <a:t>número</a:t>
            </a:r>
            <a:r>
              <a:rPr sz="1800" spc="5" dirty="0">
                <a:latin typeface="Times New Roman"/>
                <a:cs typeface="Times New Roman"/>
              </a:rPr>
              <a:t> </a:t>
            </a:r>
            <a:r>
              <a:rPr sz="1800" dirty="0">
                <a:latin typeface="Times New Roman"/>
                <a:cs typeface="Times New Roman"/>
              </a:rPr>
              <a:t>de</a:t>
            </a:r>
            <a:r>
              <a:rPr sz="1800" spc="15" dirty="0">
                <a:latin typeface="Times New Roman"/>
                <a:cs typeface="Times New Roman"/>
              </a:rPr>
              <a:t> </a:t>
            </a:r>
            <a:r>
              <a:rPr sz="1800" spc="-5" dirty="0">
                <a:latin typeface="Times New Roman"/>
                <a:cs typeface="Times New Roman"/>
              </a:rPr>
              <a:t>nodos,</a:t>
            </a:r>
            <a:r>
              <a:rPr sz="1800" spc="15" dirty="0">
                <a:latin typeface="Times New Roman"/>
                <a:cs typeface="Times New Roman"/>
              </a:rPr>
              <a:t> </a:t>
            </a:r>
            <a:r>
              <a:rPr sz="1800" dirty="0">
                <a:latin typeface="Times New Roman"/>
                <a:cs typeface="Times New Roman"/>
              </a:rPr>
              <a:t>pero </a:t>
            </a:r>
            <a:r>
              <a:rPr sz="1800" spc="-5" dirty="0">
                <a:latin typeface="Times New Roman"/>
                <a:cs typeface="Times New Roman"/>
              </a:rPr>
              <a:t>corremos </a:t>
            </a:r>
            <a:r>
              <a:rPr sz="1800" spc="-434" dirty="0">
                <a:latin typeface="Times New Roman"/>
                <a:cs typeface="Times New Roman"/>
              </a:rPr>
              <a:t> </a:t>
            </a:r>
            <a:r>
              <a:rPr sz="1800" dirty="0">
                <a:latin typeface="Times New Roman"/>
                <a:cs typeface="Times New Roman"/>
              </a:rPr>
              <a:t>el</a:t>
            </a:r>
            <a:r>
              <a:rPr sz="1800" spc="10" dirty="0">
                <a:latin typeface="Times New Roman"/>
                <a:cs typeface="Times New Roman"/>
              </a:rPr>
              <a:t> </a:t>
            </a:r>
            <a:r>
              <a:rPr sz="1800" spc="-5" dirty="0">
                <a:latin typeface="Times New Roman"/>
                <a:cs typeface="Times New Roman"/>
              </a:rPr>
              <a:t>riesgo</a:t>
            </a:r>
            <a:r>
              <a:rPr sz="1800" dirty="0">
                <a:latin typeface="Times New Roman"/>
                <a:cs typeface="Times New Roman"/>
              </a:rPr>
              <a:t> </a:t>
            </a:r>
            <a:r>
              <a:rPr sz="1800" spc="-10" dirty="0">
                <a:latin typeface="Times New Roman"/>
                <a:cs typeface="Times New Roman"/>
              </a:rPr>
              <a:t>de</a:t>
            </a:r>
            <a:r>
              <a:rPr sz="1800" spc="5" dirty="0">
                <a:latin typeface="Times New Roman"/>
                <a:cs typeface="Times New Roman"/>
              </a:rPr>
              <a:t> </a:t>
            </a:r>
            <a:r>
              <a:rPr sz="1800" dirty="0">
                <a:latin typeface="Times New Roman"/>
                <a:cs typeface="Times New Roman"/>
              </a:rPr>
              <a:t>que</a:t>
            </a:r>
            <a:r>
              <a:rPr sz="1800" spc="-10" dirty="0">
                <a:latin typeface="Times New Roman"/>
                <a:cs typeface="Times New Roman"/>
              </a:rPr>
              <a:t> </a:t>
            </a:r>
            <a:r>
              <a:rPr sz="1800" dirty="0">
                <a:latin typeface="Times New Roman"/>
                <a:cs typeface="Times New Roman"/>
              </a:rPr>
              <a:t>el</a:t>
            </a:r>
            <a:r>
              <a:rPr sz="1800" spc="10" dirty="0">
                <a:latin typeface="Times New Roman"/>
                <a:cs typeface="Times New Roman"/>
              </a:rPr>
              <a:t> </a:t>
            </a:r>
            <a:r>
              <a:rPr sz="1800" spc="-5" dirty="0" err="1">
                <a:latin typeface="Times New Roman"/>
                <a:cs typeface="Times New Roman"/>
              </a:rPr>
              <a:t>modelo</a:t>
            </a:r>
            <a:r>
              <a:rPr sz="1800" spc="-5" dirty="0">
                <a:latin typeface="Times New Roman"/>
                <a:cs typeface="Times New Roman"/>
              </a:rPr>
              <a:t> </a:t>
            </a:r>
            <a:r>
              <a:rPr sz="1800" dirty="0" smtClean="0">
                <a:latin typeface="Times New Roman"/>
                <a:cs typeface="Times New Roman"/>
              </a:rPr>
              <a:t>s</a:t>
            </a:r>
            <a:r>
              <a:rPr lang="es-ES" sz="1800" dirty="0" err="1" smtClean="0">
                <a:latin typeface="Times New Roman"/>
                <a:cs typeface="Times New Roman"/>
              </a:rPr>
              <a:t>ea</a:t>
            </a:r>
            <a:r>
              <a:rPr sz="1800" spc="5" dirty="0" smtClean="0">
                <a:latin typeface="Times New Roman"/>
                <a:cs typeface="Times New Roman"/>
              </a:rPr>
              <a:t> </a:t>
            </a:r>
            <a:r>
              <a:rPr sz="1800" spc="-5" dirty="0">
                <a:latin typeface="Times New Roman"/>
                <a:cs typeface="Times New Roman"/>
              </a:rPr>
              <a:t>demasiado</a:t>
            </a:r>
            <a:r>
              <a:rPr sz="1800" spc="5" dirty="0">
                <a:latin typeface="Times New Roman"/>
                <a:cs typeface="Times New Roman"/>
              </a:rPr>
              <a:t> </a:t>
            </a:r>
            <a:r>
              <a:rPr sz="1800" dirty="0">
                <a:latin typeface="Times New Roman"/>
                <a:cs typeface="Times New Roman"/>
              </a:rPr>
              <a:t>complejo</a:t>
            </a:r>
            <a:r>
              <a:rPr sz="1800" spc="-10" dirty="0">
                <a:latin typeface="Times New Roman"/>
                <a:cs typeface="Times New Roman"/>
              </a:rPr>
              <a:t> </a:t>
            </a:r>
            <a:r>
              <a:rPr sz="1800" dirty="0">
                <a:latin typeface="Times New Roman"/>
                <a:cs typeface="Times New Roman"/>
              </a:rPr>
              <a:t>y</a:t>
            </a:r>
            <a:r>
              <a:rPr sz="1800" spc="15" dirty="0">
                <a:latin typeface="Times New Roman"/>
                <a:cs typeface="Times New Roman"/>
              </a:rPr>
              <a:t> </a:t>
            </a:r>
            <a:r>
              <a:rPr sz="1800" dirty="0">
                <a:latin typeface="Times New Roman"/>
                <a:cs typeface="Times New Roman"/>
              </a:rPr>
              <a:t>funcione</a:t>
            </a:r>
            <a:r>
              <a:rPr sz="1800" spc="-5" dirty="0">
                <a:latin typeface="Times New Roman"/>
                <a:cs typeface="Times New Roman"/>
              </a:rPr>
              <a:t> mal</a:t>
            </a:r>
            <a:r>
              <a:rPr sz="1800" spc="5" dirty="0">
                <a:latin typeface="Times New Roman"/>
                <a:cs typeface="Times New Roman"/>
              </a:rPr>
              <a:t> </a:t>
            </a:r>
            <a:r>
              <a:rPr sz="1800" dirty="0">
                <a:latin typeface="Times New Roman"/>
                <a:cs typeface="Times New Roman"/>
              </a:rPr>
              <a:t>para</a:t>
            </a:r>
            <a:r>
              <a:rPr sz="1800" spc="-5" dirty="0">
                <a:latin typeface="Times New Roman"/>
                <a:cs typeface="Times New Roman"/>
              </a:rPr>
              <a:t> nuevas</a:t>
            </a:r>
            <a:r>
              <a:rPr sz="1800" spc="10" dirty="0">
                <a:latin typeface="Times New Roman"/>
                <a:cs typeface="Times New Roman"/>
              </a:rPr>
              <a:t> </a:t>
            </a:r>
            <a:r>
              <a:rPr sz="1800" spc="-5" dirty="0">
                <a:latin typeface="Times New Roman"/>
                <a:cs typeface="Times New Roman"/>
              </a:rPr>
              <a:t>observaciones test</a:t>
            </a:r>
            <a:endParaRPr sz="1800" dirty="0">
              <a:latin typeface="Times New Roman"/>
              <a:cs typeface="Times New Roman"/>
            </a:endParaRPr>
          </a:p>
          <a:p>
            <a:pPr>
              <a:lnSpc>
                <a:spcPct val="100000"/>
              </a:lnSpc>
              <a:spcBef>
                <a:spcPts val="50"/>
              </a:spcBef>
            </a:pPr>
            <a:endParaRPr sz="2200" dirty="0">
              <a:latin typeface="Times New Roman"/>
              <a:cs typeface="Times New Roman"/>
            </a:endParaRPr>
          </a:p>
          <a:p>
            <a:pPr marL="121920" algn="ctr">
              <a:lnSpc>
                <a:spcPct val="100000"/>
              </a:lnSpc>
              <a:spcBef>
                <a:spcPts val="5"/>
              </a:spcBef>
            </a:pPr>
            <a:r>
              <a:rPr sz="2400" dirty="0">
                <a:solidFill>
                  <a:srgbClr val="FF0000"/>
                </a:solidFill>
                <a:latin typeface="Times New Roman"/>
                <a:cs typeface="Times New Roman"/>
              </a:rPr>
              <a:t>-</a:t>
            </a:r>
            <a:r>
              <a:rPr sz="2400" spc="-20" dirty="0">
                <a:solidFill>
                  <a:srgbClr val="FF0000"/>
                </a:solidFill>
                <a:latin typeface="Times New Roman"/>
                <a:cs typeface="Times New Roman"/>
              </a:rPr>
              <a:t> </a:t>
            </a:r>
            <a:r>
              <a:rPr sz="2400" spc="-5" dirty="0">
                <a:solidFill>
                  <a:srgbClr val="FF0000"/>
                </a:solidFill>
                <a:latin typeface="Times New Roman"/>
                <a:cs typeface="Times New Roman"/>
              </a:rPr>
              <a:t>Número</a:t>
            </a:r>
            <a:r>
              <a:rPr sz="2400" spc="-15" dirty="0">
                <a:solidFill>
                  <a:srgbClr val="FF0000"/>
                </a:solidFill>
                <a:latin typeface="Times New Roman"/>
                <a:cs typeface="Times New Roman"/>
              </a:rPr>
              <a:t> </a:t>
            </a:r>
            <a:r>
              <a:rPr sz="2400" dirty="0">
                <a:solidFill>
                  <a:srgbClr val="FF0000"/>
                </a:solidFill>
                <a:latin typeface="Times New Roman"/>
                <a:cs typeface="Times New Roman"/>
              </a:rPr>
              <a:t>de</a:t>
            </a:r>
            <a:r>
              <a:rPr sz="2400" spc="-20" dirty="0">
                <a:solidFill>
                  <a:srgbClr val="FF0000"/>
                </a:solidFill>
                <a:latin typeface="Times New Roman"/>
                <a:cs typeface="Times New Roman"/>
              </a:rPr>
              <a:t> </a:t>
            </a:r>
            <a:r>
              <a:rPr sz="2400" dirty="0">
                <a:solidFill>
                  <a:srgbClr val="FF0000"/>
                </a:solidFill>
                <a:latin typeface="Times New Roman"/>
                <a:cs typeface="Times New Roman"/>
              </a:rPr>
              <a:t>nodos</a:t>
            </a:r>
            <a:r>
              <a:rPr sz="2400" spc="-5" dirty="0">
                <a:solidFill>
                  <a:srgbClr val="FF0000"/>
                </a:solidFill>
                <a:latin typeface="Times New Roman"/>
                <a:cs typeface="Times New Roman"/>
              </a:rPr>
              <a:t> </a:t>
            </a:r>
            <a:r>
              <a:rPr sz="2400" dirty="0">
                <a:solidFill>
                  <a:srgbClr val="FF0000"/>
                </a:solidFill>
                <a:latin typeface="Times New Roman"/>
                <a:cs typeface="Times New Roman"/>
              </a:rPr>
              <a:t>+</a:t>
            </a:r>
            <a:endParaRPr sz="2400" dirty="0">
              <a:latin typeface="Times New Roman"/>
              <a:cs typeface="Times New Roman"/>
            </a:endParaRPr>
          </a:p>
        </p:txBody>
      </p:sp>
      <p:sp>
        <p:nvSpPr>
          <p:cNvPr id="4" name="object 4"/>
          <p:cNvSpPr txBox="1"/>
          <p:nvPr/>
        </p:nvSpPr>
        <p:spPr>
          <a:xfrm>
            <a:off x="346963" y="3920109"/>
            <a:ext cx="9589135" cy="1550489"/>
          </a:xfrm>
          <a:prstGeom prst="rect">
            <a:avLst/>
          </a:prstGeom>
        </p:spPr>
        <p:txBody>
          <a:bodyPr vert="horz" wrap="square" lIns="0" tIns="24130" rIns="0" bIns="0" rtlCol="0">
            <a:spAutoFit/>
          </a:bodyPr>
          <a:lstStyle/>
          <a:p>
            <a:pPr marL="12700" marR="5080">
              <a:lnSpc>
                <a:spcPct val="95800"/>
              </a:lnSpc>
              <a:spcBef>
                <a:spcPts val="190"/>
              </a:spcBef>
            </a:pPr>
            <a:r>
              <a:rPr spc="-5" dirty="0">
                <a:latin typeface="Times New Roman"/>
                <a:cs typeface="Times New Roman"/>
              </a:rPr>
              <a:t>b) Respecto a complejidad de los datos (número de variables, relaciones raras, muchas categóricas, etc.).  </a:t>
            </a:r>
            <a:r>
              <a:rPr b="1" spc="-5" dirty="0">
                <a:latin typeface="Times New Roman"/>
                <a:cs typeface="Times New Roman"/>
              </a:rPr>
              <a:t>Más complejidad requiere más nodos</a:t>
            </a:r>
            <a:r>
              <a:rPr spc="-5" dirty="0">
                <a:latin typeface="Times New Roman"/>
                <a:cs typeface="Times New Roman"/>
              </a:rPr>
              <a:t>, porque con pocos nodos la red puede no ajustarse bien.  Recíprocamente, </a:t>
            </a:r>
            <a:r>
              <a:rPr b="1" spc="-5" dirty="0">
                <a:latin typeface="Times New Roman"/>
                <a:cs typeface="Times New Roman"/>
              </a:rPr>
              <a:t>si los datos son simples, demasiados nodos pueden provocar sobreajuste</a:t>
            </a:r>
            <a:r>
              <a:rPr spc="-5" dirty="0">
                <a:latin typeface="Times New Roman"/>
                <a:cs typeface="Times New Roman"/>
              </a:rPr>
              <a:t>.</a:t>
            </a:r>
          </a:p>
          <a:p>
            <a:pPr>
              <a:lnSpc>
                <a:spcPct val="100000"/>
              </a:lnSpc>
              <a:spcBef>
                <a:spcPts val="50"/>
              </a:spcBef>
            </a:pPr>
            <a:endParaRPr sz="2250" dirty="0">
              <a:latin typeface="Times New Roman"/>
              <a:cs typeface="Times New Roman"/>
            </a:endParaRPr>
          </a:p>
          <a:p>
            <a:pPr marL="406400" algn="ctr">
              <a:lnSpc>
                <a:spcPct val="100000"/>
              </a:lnSpc>
            </a:pPr>
            <a:r>
              <a:rPr sz="2400" dirty="0">
                <a:solidFill>
                  <a:srgbClr val="FF0000"/>
                </a:solidFill>
                <a:latin typeface="Times New Roman"/>
                <a:cs typeface="Times New Roman"/>
              </a:rPr>
              <a:t>-</a:t>
            </a:r>
            <a:r>
              <a:rPr sz="2400" spc="-20" dirty="0">
                <a:solidFill>
                  <a:srgbClr val="FF0000"/>
                </a:solidFill>
                <a:latin typeface="Times New Roman"/>
                <a:cs typeface="Times New Roman"/>
              </a:rPr>
              <a:t> </a:t>
            </a:r>
            <a:r>
              <a:rPr sz="2400" spc="-5" dirty="0">
                <a:solidFill>
                  <a:srgbClr val="FF0000"/>
                </a:solidFill>
                <a:latin typeface="Times New Roman"/>
                <a:cs typeface="Times New Roman"/>
              </a:rPr>
              <a:t>Número</a:t>
            </a:r>
            <a:r>
              <a:rPr sz="2400" spc="-15" dirty="0">
                <a:solidFill>
                  <a:srgbClr val="FF0000"/>
                </a:solidFill>
                <a:latin typeface="Times New Roman"/>
                <a:cs typeface="Times New Roman"/>
              </a:rPr>
              <a:t> </a:t>
            </a:r>
            <a:r>
              <a:rPr sz="2400" dirty="0">
                <a:solidFill>
                  <a:srgbClr val="FF0000"/>
                </a:solidFill>
                <a:latin typeface="Times New Roman"/>
                <a:cs typeface="Times New Roman"/>
              </a:rPr>
              <a:t>de</a:t>
            </a:r>
            <a:r>
              <a:rPr sz="2400" spc="-20" dirty="0">
                <a:solidFill>
                  <a:srgbClr val="FF0000"/>
                </a:solidFill>
                <a:latin typeface="Times New Roman"/>
                <a:cs typeface="Times New Roman"/>
              </a:rPr>
              <a:t> </a:t>
            </a:r>
            <a:r>
              <a:rPr sz="2400" dirty="0">
                <a:solidFill>
                  <a:srgbClr val="FF0000"/>
                </a:solidFill>
                <a:latin typeface="Times New Roman"/>
                <a:cs typeface="Times New Roman"/>
              </a:rPr>
              <a:t>nodos</a:t>
            </a:r>
            <a:r>
              <a:rPr sz="2400" spc="-15" dirty="0">
                <a:solidFill>
                  <a:srgbClr val="FF0000"/>
                </a:solidFill>
                <a:latin typeface="Times New Roman"/>
                <a:cs typeface="Times New Roman"/>
              </a:rPr>
              <a:t> </a:t>
            </a:r>
            <a:r>
              <a:rPr sz="2400" dirty="0">
                <a:solidFill>
                  <a:srgbClr val="FF0000"/>
                </a:solidFill>
                <a:latin typeface="Times New Roman"/>
                <a:cs typeface="Times New Roman"/>
              </a:rPr>
              <a:t>+</a:t>
            </a:r>
            <a:endParaRPr sz="2400" dirty="0">
              <a:latin typeface="Times New Roman"/>
              <a:cs typeface="Times New Roman"/>
            </a:endParaRPr>
          </a:p>
        </p:txBody>
      </p:sp>
      <p:sp>
        <p:nvSpPr>
          <p:cNvPr id="5" name="object 5"/>
          <p:cNvSpPr/>
          <p:nvPr/>
        </p:nvSpPr>
        <p:spPr>
          <a:xfrm>
            <a:off x="1085850" y="2868930"/>
            <a:ext cx="8058150" cy="38100"/>
          </a:xfrm>
          <a:custGeom>
            <a:avLst/>
            <a:gdLst/>
            <a:ahLst/>
            <a:cxnLst/>
            <a:rect l="l" t="t" r="r" b="b"/>
            <a:pathLst>
              <a:path w="8058150" h="38100">
                <a:moveTo>
                  <a:pt x="0" y="38100"/>
                </a:moveTo>
                <a:lnTo>
                  <a:pt x="8058150" y="0"/>
                </a:lnTo>
              </a:path>
            </a:pathLst>
          </a:custGeom>
          <a:ln w="9525">
            <a:solidFill>
              <a:srgbClr val="000000"/>
            </a:solidFill>
          </a:ln>
        </p:spPr>
        <p:txBody>
          <a:bodyPr wrap="square" lIns="0" tIns="0" rIns="0" bIns="0" rtlCol="0"/>
          <a:lstStyle/>
          <a:p>
            <a:endParaRPr/>
          </a:p>
        </p:txBody>
      </p:sp>
      <p:sp>
        <p:nvSpPr>
          <p:cNvPr id="6" name="object 6"/>
          <p:cNvSpPr txBox="1"/>
          <p:nvPr/>
        </p:nvSpPr>
        <p:spPr>
          <a:xfrm>
            <a:off x="7872094" y="3103245"/>
            <a:ext cx="1153160" cy="334645"/>
          </a:xfrm>
          <a:prstGeom prst="rect">
            <a:avLst/>
          </a:prstGeom>
          <a:ln w="9525">
            <a:solidFill>
              <a:srgbClr val="000000"/>
            </a:solidFill>
          </a:ln>
        </p:spPr>
        <p:txBody>
          <a:bodyPr vert="horz" wrap="square" lIns="0" tIns="33020" rIns="0" bIns="0" rtlCol="0">
            <a:spAutoFit/>
          </a:bodyPr>
          <a:lstStyle/>
          <a:p>
            <a:pPr marL="97790">
              <a:lnSpc>
                <a:spcPct val="100000"/>
              </a:lnSpc>
              <a:spcBef>
                <a:spcPts val="260"/>
              </a:spcBef>
            </a:pPr>
            <a:r>
              <a:rPr sz="1600" spc="-5" dirty="0">
                <a:solidFill>
                  <a:srgbClr val="FF0000"/>
                </a:solidFill>
                <a:latin typeface="Times New Roman"/>
                <a:cs typeface="Times New Roman"/>
              </a:rPr>
              <a:t>Sobreajuste</a:t>
            </a:r>
            <a:endParaRPr sz="1600">
              <a:latin typeface="Times New Roman"/>
              <a:cs typeface="Times New Roman"/>
            </a:endParaRPr>
          </a:p>
        </p:txBody>
      </p:sp>
      <p:sp>
        <p:nvSpPr>
          <p:cNvPr id="7" name="object 7"/>
          <p:cNvSpPr txBox="1"/>
          <p:nvPr/>
        </p:nvSpPr>
        <p:spPr>
          <a:xfrm>
            <a:off x="1091564" y="3108325"/>
            <a:ext cx="1296035" cy="568325"/>
          </a:xfrm>
          <a:prstGeom prst="rect">
            <a:avLst/>
          </a:prstGeom>
          <a:ln w="9525">
            <a:solidFill>
              <a:srgbClr val="000000"/>
            </a:solidFill>
          </a:ln>
        </p:spPr>
        <p:txBody>
          <a:bodyPr vert="horz" wrap="square" lIns="0" tIns="48895" rIns="0" bIns="0" rtlCol="0">
            <a:spAutoFit/>
          </a:bodyPr>
          <a:lstStyle/>
          <a:p>
            <a:pPr marL="97155" marR="241935">
              <a:lnSpc>
                <a:spcPts val="1839"/>
              </a:lnSpc>
              <a:spcBef>
                <a:spcPts val="385"/>
              </a:spcBef>
            </a:pPr>
            <a:r>
              <a:rPr sz="1600" spc="-10" dirty="0">
                <a:solidFill>
                  <a:srgbClr val="FF0000"/>
                </a:solidFill>
                <a:latin typeface="Times New Roman"/>
                <a:cs typeface="Times New Roman"/>
              </a:rPr>
              <a:t>Ajuste </a:t>
            </a:r>
            <a:r>
              <a:rPr sz="1600" spc="-5" dirty="0">
                <a:solidFill>
                  <a:srgbClr val="FF0000"/>
                </a:solidFill>
                <a:latin typeface="Times New Roman"/>
                <a:cs typeface="Times New Roman"/>
              </a:rPr>
              <a:t> i</a:t>
            </a:r>
            <a:r>
              <a:rPr sz="1600" dirty="0">
                <a:solidFill>
                  <a:srgbClr val="FF0000"/>
                </a:solidFill>
                <a:latin typeface="Times New Roman"/>
                <a:cs typeface="Times New Roman"/>
              </a:rPr>
              <a:t>n</a:t>
            </a:r>
            <a:r>
              <a:rPr sz="1600" spc="-10" dirty="0">
                <a:solidFill>
                  <a:srgbClr val="FF0000"/>
                </a:solidFill>
                <a:latin typeface="Times New Roman"/>
                <a:cs typeface="Times New Roman"/>
              </a:rPr>
              <a:t>s</a:t>
            </a:r>
            <a:r>
              <a:rPr sz="1600" dirty="0">
                <a:solidFill>
                  <a:srgbClr val="FF0000"/>
                </a:solidFill>
                <a:latin typeface="Times New Roman"/>
                <a:cs typeface="Times New Roman"/>
              </a:rPr>
              <a:t>uf</a:t>
            </a:r>
            <a:r>
              <a:rPr sz="1600" spc="-5" dirty="0">
                <a:solidFill>
                  <a:srgbClr val="FF0000"/>
                </a:solidFill>
                <a:latin typeface="Times New Roman"/>
                <a:cs typeface="Times New Roman"/>
              </a:rPr>
              <a:t>iciente</a:t>
            </a:r>
            <a:endParaRPr sz="1600">
              <a:latin typeface="Times New Roman"/>
              <a:cs typeface="Times New Roman"/>
            </a:endParaRPr>
          </a:p>
        </p:txBody>
      </p:sp>
      <p:sp>
        <p:nvSpPr>
          <p:cNvPr id="8" name="object 8"/>
          <p:cNvSpPr/>
          <p:nvPr/>
        </p:nvSpPr>
        <p:spPr>
          <a:xfrm>
            <a:off x="1085850" y="5672454"/>
            <a:ext cx="8058150" cy="38100"/>
          </a:xfrm>
          <a:custGeom>
            <a:avLst/>
            <a:gdLst/>
            <a:ahLst/>
            <a:cxnLst/>
            <a:rect l="l" t="t" r="r" b="b"/>
            <a:pathLst>
              <a:path w="8058150" h="38100">
                <a:moveTo>
                  <a:pt x="0" y="38099"/>
                </a:moveTo>
                <a:lnTo>
                  <a:pt x="8058150" y="0"/>
                </a:lnTo>
              </a:path>
            </a:pathLst>
          </a:custGeom>
          <a:ln w="9525">
            <a:solidFill>
              <a:srgbClr val="000000"/>
            </a:solidFill>
          </a:ln>
        </p:spPr>
        <p:txBody>
          <a:bodyPr wrap="square" lIns="0" tIns="0" rIns="0" bIns="0" rtlCol="0"/>
          <a:lstStyle/>
          <a:p>
            <a:endParaRPr/>
          </a:p>
        </p:txBody>
      </p:sp>
      <p:sp>
        <p:nvSpPr>
          <p:cNvPr id="9" name="object 9"/>
          <p:cNvSpPr txBox="1"/>
          <p:nvPr/>
        </p:nvSpPr>
        <p:spPr>
          <a:xfrm>
            <a:off x="7872094" y="5906770"/>
            <a:ext cx="1153160" cy="568325"/>
          </a:xfrm>
          <a:prstGeom prst="rect">
            <a:avLst/>
          </a:prstGeom>
          <a:ln w="9525">
            <a:solidFill>
              <a:srgbClr val="000000"/>
            </a:solidFill>
          </a:ln>
        </p:spPr>
        <p:txBody>
          <a:bodyPr vert="horz" wrap="square" lIns="0" tIns="48895" rIns="0" bIns="0" rtlCol="0">
            <a:spAutoFit/>
          </a:bodyPr>
          <a:lstStyle/>
          <a:p>
            <a:pPr marL="97790" marR="197485">
              <a:lnSpc>
                <a:spcPts val="1839"/>
              </a:lnSpc>
              <a:spcBef>
                <a:spcPts val="385"/>
              </a:spcBef>
            </a:pPr>
            <a:r>
              <a:rPr sz="1600" spc="-5" dirty="0">
                <a:solidFill>
                  <a:srgbClr val="FF0000"/>
                </a:solidFill>
                <a:latin typeface="Times New Roman"/>
                <a:cs typeface="Times New Roman"/>
              </a:rPr>
              <a:t>Datos</a:t>
            </a:r>
            <a:r>
              <a:rPr sz="1600" spc="-85" dirty="0">
                <a:solidFill>
                  <a:srgbClr val="FF0000"/>
                </a:solidFill>
                <a:latin typeface="Times New Roman"/>
                <a:cs typeface="Times New Roman"/>
              </a:rPr>
              <a:t> </a:t>
            </a:r>
            <a:r>
              <a:rPr sz="1600" spc="-10" dirty="0">
                <a:solidFill>
                  <a:srgbClr val="FF0000"/>
                </a:solidFill>
                <a:latin typeface="Times New Roman"/>
                <a:cs typeface="Times New Roman"/>
              </a:rPr>
              <a:t>más </a:t>
            </a:r>
            <a:r>
              <a:rPr sz="1600" spc="-385" dirty="0">
                <a:solidFill>
                  <a:srgbClr val="FF0000"/>
                </a:solidFill>
                <a:latin typeface="Times New Roman"/>
                <a:cs typeface="Times New Roman"/>
              </a:rPr>
              <a:t> </a:t>
            </a:r>
            <a:r>
              <a:rPr sz="1600" spc="-5" dirty="0">
                <a:solidFill>
                  <a:srgbClr val="FF0000"/>
                </a:solidFill>
                <a:latin typeface="Times New Roman"/>
                <a:cs typeface="Times New Roman"/>
              </a:rPr>
              <a:t>complejos</a:t>
            </a:r>
            <a:endParaRPr sz="1600">
              <a:latin typeface="Times New Roman"/>
              <a:cs typeface="Times New Roman"/>
            </a:endParaRPr>
          </a:p>
        </p:txBody>
      </p:sp>
      <p:sp>
        <p:nvSpPr>
          <p:cNvPr id="10" name="object 10"/>
          <p:cNvSpPr txBox="1"/>
          <p:nvPr/>
        </p:nvSpPr>
        <p:spPr>
          <a:xfrm>
            <a:off x="1091564" y="5911850"/>
            <a:ext cx="1296035" cy="568325"/>
          </a:xfrm>
          <a:prstGeom prst="rect">
            <a:avLst/>
          </a:prstGeom>
          <a:ln w="9525">
            <a:solidFill>
              <a:srgbClr val="000000"/>
            </a:solidFill>
          </a:ln>
        </p:spPr>
        <p:txBody>
          <a:bodyPr vert="horz" wrap="square" lIns="0" tIns="50165" rIns="0" bIns="0" rtlCol="0">
            <a:spAutoFit/>
          </a:bodyPr>
          <a:lstStyle/>
          <a:p>
            <a:pPr marL="97155" marR="137160">
              <a:lnSpc>
                <a:spcPts val="1839"/>
              </a:lnSpc>
              <a:spcBef>
                <a:spcPts val="395"/>
              </a:spcBef>
            </a:pPr>
            <a:r>
              <a:rPr sz="1600" spc="-5" dirty="0">
                <a:solidFill>
                  <a:srgbClr val="FF0000"/>
                </a:solidFill>
                <a:latin typeface="Times New Roman"/>
                <a:cs typeface="Times New Roman"/>
              </a:rPr>
              <a:t>Datos</a:t>
            </a:r>
            <a:r>
              <a:rPr sz="1600" spc="-70" dirty="0">
                <a:solidFill>
                  <a:srgbClr val="FF0000"/>
                </a:solidFill>
                <a:latin typeface="Times New Roman"/>
                <a:cs typeface="Times New Roman"/>
              </a:rPr>
              <a:t> </a:t>
            </a:r>
            <a:r>
              <a:rPr sz="1600" spc="-10" dirty="0">
                <a:solidFill>
                  <a:srgbClr val="FF0000"/>
                </a:solidFill>
                <a:latin typeface="Times New Roman"/>
                <a:cs typeface="Times New Roman"/>
              </a:rPr>
              <a:t>menos </a:t>
            </a:r>
            <a:r>
              <a:rPr sz="1600" spc="-385" dirty="0">
                <a:solidFill>
                  <a:srgbClr val="FF0000"/>
                </a:solidFill>
                <a:latin typeface="Times New Roman"/>
                <a:cs typeface="Times New Roman"/>
              </a:rPr>
              <a:t> </a:t>
            </a:r>
            <a:r>
              <a:rPr sz="1600" spc="-5" dirty="0">
                <a:solidFill>
                  <a:srgbClr val="FF0000"/>
                </a:solidFill>
                <a:latin typeface="Times New Roman"/>
                <a:cs typeface="Times New Roman"/>
              </a:rPr>
              <a:t>complejos</a:t>
            </a:r>
            <a:endParaRPr sz="1600">
              <a:latin typeface="Times New Roman"/>
              <a:cs typeface="Times New Roman"/>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14959"/>
            <a:ext cx="9999472" cy="847923"/>
          </a:xfrm>
          <a:prstGeom prst="rect">
            <a:avLst/>
          </a:prstGeom>
        </p:spPr>
        <p:txBody>
          <a:bodyPr vert="horz" wrap="square" lIns="0" tIns="306323" rIns="0" bIns="0" rtlCol="0">
            <a:spAutoFit/>
          </a:bodyPr>
          <a:lstStyle/>
          <a:p>
            <a:pPr marL="12700" marR="5080">
              <a:lnSpc>
                <a:spcPts val="2060"/>
              </a:lnSpc>
              <a:spcBef>
                <a:spcPts val="250"/>
              </a:spcBef>
            </a:pPr>
            <a:r>
              <a:rPr sz="1800" dirty="0">
                <a:solidFill>
                  <a:schemeClr val="tx1"/>
                </a:solidFill>
              </a:rPr>
              <a:t>c)</a:t>
            </a:r>
            <a:r>
              <a:rPr sz="1800" spc="10" dirty="0">
                <a:solidFill>
                  <a:schemeClr val="tx1"/>
                </a:solidFill>
              </a:rPr>
              <a:t> </a:t>
            </a:r>
            <a:r>
              <a:rPr sz="1800" spc="-5" dirty="0">
                <a:solidFill>
                  <a:schemeClr val="tx1"/>
                </a:solidFill>
              </a:rPr>
              <a:t>Respecto</a:t>
            </a:r>
            <a:r>
              <a:rPr sz="1800" dirty="0">
                <a:solidFill>
                  <a:schemeClr val="tx1"/>
                </a:solidFill>
              </a:rPr>
              <a:t> al</a:t>
            </a:r>
            <a:r>
              <a:rPr sz="1800" spc="10" dirty="0">
                <a:solidFill>
                  <a:schemeClr val="tx1"/>
                </a:solidFill>
              </a:rPr>
              <a:t> </a:t>
            </a:r>
            <a:r>
              <a:rPr sz="1800" spc="-5" dirty="0">
                <a:solidFill>
                  <a:schemeClr val="tx1"/>
                </a:solidFill>
              </a:rPr>
              <a:t>número</a:t>
            </a:r>
            <a:r>
              <a:rPr sz="1800" spc="15" dirty="0">
                <a:solidFill>
                  <a:schemeClr val="tx1"/>
                </a:solidFill>
              </a:rPr>
              <a:t> </a:t>
            </a:r>
            <a:r>
              <a:rPr sz="1800" dirty="0">
                <a:solidFill>
                  <a:schemeClr val="tx1"/>
                </a:solidFill>
              </a:rPr>
              <a:t>de</a:t>
            </a:r>
            <a:r>
              <a:rPr sz="1800" spc="15" dirty="0">
                <a:solidFill>
                  <a:schemeClr val="tx1"/>
                </a:solidFill>
              </a:rPr>
              <a:t> </a:t>
            </a:r>
            <a:r>
              <a:rPr sz="1800" spc="-5" dirty="0">
                <a:solidFill>
                  <a:schemeClr val="tx1"/>
                </a:solidFill>
              </a:rPr>
              <a:t>observaciones.</a:t>
            </a:r>
            <a:r>
              <a:rPr sz="1800" spc="15" dirty="0">
                <a:solidFill>
                  <a:schemeClr val="tx1"/>
                </a:solidFill>
              </a:rPr>
              <a:t> </a:t>
            </a:r>
            <a:r>
              <a:rPr sz="1800" b="1" spc="-5" dirty="0">
                <a:solidFill>
                  <a:schemeClr val="tx1"/>
                </a:solidFill>
              </a:rPr>
              <a:t>Más</a:t>
            </a:r>
            <a:r>
              <a:rPr sz="1800" b="1" spc="5" dirty="0">
                <a:solidFill>
                  <a:schemeClr val="tx1"/>
                </a:solidFill>
              </a:rPr>
              <a:t> </a:t>
            </a:r>
            <a:r>
              <a:rPr sz="1800" b="1" spc="-5" dirty="0">
                <a:solidFill>
                  <a:schemeClr val="tx1"/>
                </a:solidFill>
              </a:rPr>
              <a:t>observaciones</a:t>
            </a:r>
            <a:r>
              <a:rPr sz="1800" spc="45" dirty="0">
                <a:solidFill>
                  <a:schemeClr val="tx1"/>
                </a:solidFill>
              </a:rPr>
              <a:t> </a:t>
            </a:r>
            <a:r>
              <a:rPr sz="1800" dirty="0">
                <a:solidFill>
                  <a:schemeClr val="tx1"/>
                </a:solidFill>
              </a:rPr>
              <a:t>nos</a:t>
            </a:r>
            <a:r>
              <a:rPr sz="1800" spc="-5" dirty="0">
                <a:solidFill>
                  <a:schemeClr val="tx1"/>
                </a:solidFill>
              </a:rPr>
              <a:t> permiten</a:t>
            </a:r>
            <a:r>
              <a:rPr sz="1800" spc="15" dirty="0">
                <a:solidFill>
                  <a:schemeClr val="tx1"/>
                </a:solidFill>
              </a:rPr>
              <a:t> </a:t>
            </a:r>
            <a:r>
              <a:rPr sz="1800" b="1" spc="-5" dirty="0">
                <a:solidFill>
                  <a:schemeClr val="tx1"/>
                </a:solidFill>
              </a:rPr>
              <a:t>más</a:t>
            </a:r>
            <a:r>
              <a:rPr sz="1800" b="1" spc="15" dirty="0">
                <a:solidFill>
                  <a:schemeClr val="tx1"/>
                </a:solidFill>
              </a:rPr>
              <a:t> </a:t>
            </a:r>
            <a:r>
              <a:rPr sz="1800" b="1" spc="-5" dirty="0">
                <a:solidFill>
                  <a:schemeClr val="tx1"/>
                </a:solidFill>
              </a:rPr>
              <a:t>nodos,</a:t>
            </a:r>
            <a:r>
              <a:rPr sz="1800" spc="15" dirty="0">
                <a:solidFill>
                  <a:schemeClr val="tx1"/>
                </a:solidFill>
              </a:rPr>
              <a:t> </a:t>
            </a:r>
            <a:r>
              <a:rPr sz="1800" dirty="0">
                <a:solidFill>
                  <a:schemeClr val="tx1"/>
                </a:solidFill>
              </a:rPr>
              <a:t>pocas</a:t>
            </a:r>
            <a:r>
              <a:rPr sz="1800" spc="-5" dirty="0">
                <a:solidFill>
                  <a:schemeClr val="tx1"/>
                </a:solidFill>
              </a:rPr>
              <a:t> observaciones </a:t>
            </a:r>
            <a:r>
              <a:rPr sz="1800" spc="-434" dirty="0">
                <a:solidFill>
                  <a:schemeClr val="tx1"/>
                </a:solidFill>
              </a:rPr>
              <a:t> </a:t>
            </a:r>
            <a:r>
              <a:rPr sz="1800" spc="-5" dirty="0">
                <a:solidFill>
                  <a:schemeClr val="tx1"/>
                </a:solidFill>
              </a:rPr>
              <a:t>son insuficientes.</a:t>
            </a:r>
            <a:r>
              <a:rPr sz="1800" spc="175" dirty="0">
                <a:solidFill>
                  <a:schemeClr val="tx1"/>
                </a:solidFill>
              </a:rPr>
              <a:t> </a:t>
            </a:r>
            <a:r>
              <a:rPr sz="1800" dirty="0">
                <a:solidFill>
                  <a:schemeClr val="tx1"/>
                </a:solidFill>
              </a:rPr>
              <a:t>La </a:t>
            </a:r>
            <a:r>
              <a:rPr sz="1800" spc="-5" dirty="0">
                <a:solidFill>
                  <a:schemeClr val="tx1"/>
                </a:solidFill>
              </a:rPr>
              <a:t>regla</a:t>
            </a:r>
            <a:r>
              <a:rPr sz="1800" spc="15" dirty="0">
                <a:solidFill>
                  <a:schemeClr val="tx1"/>
                </a:solidFill>
              </a:rPr>
              <a:t> </a:t>
            </a:r>
            <a:r>
              <a:rPr sz="1800" spc="-10" dirty="0">
                <a:solidFill>
                  <a:schemeClr val="tx1"/>
                </a:solidFill>
              </a:rPr>
              <a:t>de</a:t>
            </a:r>
            <a:r>
              <a:rPr sz="1800" spc="10" dirty="0">
                <a:solidFill>
                  <a:schemeClr val="tx1"/>
                </a:solidFill>
              </a:rPr>
              <a:t> </a:t>
            </a:r>
            <a:r>
              <a:rPr sz="1800" b="1" dirty="0">
                <a:solidFill>
                  <a:schemeClr val="tx1"/>
                </a:solidFill>
              </a:rPr>
              <a:t>20</a:t>
            </a:r>
            <a:r>
              <a:rPr sz="1800" b="1" spc="-15" dirty="0">
                <a:solidFill>
                  <a:schemeClr val="tx1"/>
                </a:solidFill>
              </a:rPr>
              <a:t> </a:t>
            </a:r>
            <a:r>
              <a:rPr sz="1800" b="1" spc="-5" dirty="0">
                <a:solidFill>
                  <a:schemeClr val="tx1"/>
                </a:solidFill>
              </a:rPr>
              <a:t>observaciones</a:t>
            </a:r>
            <a:r>
              <a:rPr sz="1800" b="1" spc="10" dirty="0">
                <a:solidFill>
                  <a:schemeClr val="tx1"/>
                </a:solidFill>
              </a:rPr>
              <a:t> </a:t>
            </a:r>
            <a:r>
              <a:rPr sz="1800" b="1" spc="-5" dirty="0">
                <a:solidFill>
                  <a:schemeClr val="tx1"/>
                </a:solidFill>
              </a:rPr>
              <a:t>por</a:t>
            </a:r>
            <a:r>
              <a:rPr sz="1800" b="1" spc="10" dirty="0">
                <a:solidFill>
                  <a:schemeClr val="tx1"/>
                </a:solidFill>
              </a:rPr>
              <a:t> </a:t>
            </a:r>
            <a:r>
              <a:rPr sz="1800" b="1" spc="-5" dirty="0">
                <a:solidFill>
                  <a:schemeClr val="tx1"/>
                </a:solidFill>
              </a:rPr>
              <a:t>parámetro</a:t>
            </a:r>
            <a:r>
              <a:rPr sz="1800" spc="10" dirty="0">
                <a:solidFill>
                  <a:schemeClr val="tx1"/>
                </a:solidFill>
              </a:rPr>
              <a:t> </a:t>
            </a:r>
            <a:r>
              <a:rPr sz="1800" spc="-5" dirty="0">
                <a:solidFill>
                  <a:schemeClr val="tx1"/>
                </a:solidFill>
              </a:rPr>
              <a:t>también</a:t>
            </a:r>
            <a:r>
              <a:rPr sz="1800" dirty="0">
                <a:solidFill>
                  <a:schemeClr val="tx1"/>
                </a:solidFill>
              </a:rPr>
              <a:t> es</a:t>
            </a:r>
            <a:r>
              <a:rPr sz="1800" spc="10" dirty="0">
                <a:solidFill>
                  <a:schemeClr val="tx1"/>
                </a:solidFill>
              </a:rPr>
              <a:t> </a:t>
            </a:r>
            <a:r>
              <a:rPr sz="1800" spc="-5" dirty="0">
                <a:solidFill>
                  <a:schemeClr val="tx1"/>
                </a:solidFill>
              </a:rPr>
              <a:t>algo</a:t>
            </a:r>
            <a:r>
              <a:rPr sz="1800" spc="10" dirty="0">
                <a:solidFill>
                  <a:schemeClr val="tx1"/>
                </a:solidFill>
              </a:rPr>
              <a:t> </a:t>
            </a:r>
            <a:r>
              <a:rPr sz="1800" spc="-5" dirty="0">
                <a:solidFill>
                  <a:schemeClr val="tx1"/>
                </a:solidFill>
              </a:rPr>
              <a:t>razonable</a:t>
            </a:r>
            <a:r>
              <a:rPr sz="1800" spc="10" dirty="0">
                <a:solidFill>
                  <a:schemeClr val="tx1"/>
                </a:solidFill>
              </a:rPr>
              <a:t> </a:t>
            </a:r>
            <a:r>
              <a:rPr sz="1800" dirty="0">
                <a:solidFill>
                  <a:schemeClr val="tx1"/>
                </a:solidFill>
              </a:rPr>
              <a:t>a respetar.</a:t>
            </a:r>
          </a:p>
        </p:txBody>
      </p:sp>
      <p:sp>
        <p:nvSpPr>
          <p:cNvPr id="3" name="object 3"/>
          <p:cNvSpPr txBox="1"/>
          <p:nvPr/>
        </p:nvSpPr>
        <p:spPr>
          <a:xfrm>
            <a:off x="4035678" y="1462785"/>
            <a:ext cx="261810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Times New Roman"/>
                <a:cs typeface="Times New Roman"/>
              </a:rPr>
              <a:t>-</a:t>
            </a:r>
            <a:r>
              <a:rPr sz="2400" spc="-25" dirty="0">
                <a:solidFill>
                  <a:srgbClr val="FF0000"/>
                </a:solidFill>
                <a:latin typeface="Times New Roman"/>
                <a:cs typeface="Times New Roman"/>
              </a:rPr>
              <a:t> </a:t>
            </a:r>
            <a:r>
              <a:rPr sz="2400" spc="-5" dirty="0">
                <a:solidFill>
                  <a:srgbClr val="FF0000"/>
                </a:solidFill>
                <a:latin typeface="Times New Roman"/>
                <a:cs typeface="Times New Roman"/>
              </a:rPr>
              <a:t>Número</a:t>
            </a:r>
            <a:r>
              <a:rPr sz="2400" spc="-20" dirty="0">
                <a:solidFill>
                  <a:srgbClr val="FF0000"/>
                </a:solidFill>
                <a:latin typeface="Times New Roman"/>
                <a:cs typeface="Times New Roman"/>
              </a:rPr>
              <a:t> </a:t>
            </a:r>
            <a:r>
              <a:rPr sz="2400" dirty="0">
                <a:solidFill>
                  <a:srgbClr val="FF0000"/>
                </a:solidFill>
                <a:latin typeface="Times New Roman"/>
                <a:cs typeface="Times New Roman"/>
              </a:rPr>
              <a:t>de</a:t>
            </a:r>
            <a:r>
              <a:rPr sz="2400" spc="-20" dirty="0">
                <a:solidFill>
                  <a:srgbClr val="FF0000"/>
                </a:solidFill>
                <a:latin typeface="Times New Roman"/>
                <a:cs typeface="Times New Roman"/>
              </a:rPr>
              <a:t> </a:t>
            </a:r>
            <a:r>
              <a:rPr sz="2400" dirty="0">
                <a:solidFill>
                  <a:srgbClr val="FF0000"/>
                </a:solidFill>
                <a:latin typeface="Times New Roman"/>
                <a:cs typeface="Times New Roman"/>
              </a:rPr>
              <a:t>nodos</a:t>
            </a:r>
            <a:r>
              <a:rPr sz="2400" spc="-25" dirty="0">
                <a:solidFill>
                  <a:srgbClr val="FF0000"/>
                </a:solidFill>
                <a:latin typeface="Times New Roman"/>
                <a:cs typeface="Times New Roman"/>
              </a:rPr>
              <a:t> </a:t>
            </a:r>
            <a:r>
              <a:rPr sz="2400" dirty="0">
                <a:solidFill>
                  <a:srgbClr val="FF0000"/>
                </a:solidFill>
                <a:latin typeface="Times New Roman"/>
                <a:cs typeface="Times New Roman"/>
              </a:rPr>
              <a:t>+</a:t>
            </a:r>
            <a:endParaRPr sz="2400">
              <a:latin typeface="Times New Roman"/>
              <a:cs typeface="Times New Roman"/>
            </a:endParaRPr>
          </a:p>
        </p:txBody>
      </p:sp>
      <p:sp>
        <p:nvSpPr>
          <p:cNvPr id="4" name="object 4"/>
          <p:cNvSpPr/>
          <p:nvPr/>
        </p:nvSpPr>
        <p:spPr>
          <a:xfrm>
            <a:off x="1085850" y="2080260"/>
            <a:ext cx="8058150" cy="38100"/>
          </a:xfrm>
          <a:custGeom>
            <a:avLst/>
            <a:gdLst/>
            <a:ahLst/>
            <a:cxnLst/>
            <a:rect l="l" t="t" r="r" b="b"/>
            <a:pathLst>
              <a:path w="8058150" h="38100">
                <a:moveTo>
                  <a:pt x="0" y="38100"/>
                </a:moveTo>
                <a:lnTo>
                  <a:pt x="8058150" y="0"/>
                </a:lnTo>
              </a:path>
            </a:pathLst>
          </a:custGeom>
          <a:ln w="9525">
            <a:solidFill>
              <a:srgbClr val="000000"/>
            </a:solidFill>
          </a:ln>
        </p:spPr>
        <p:txBody>
          <a:bodyPr wrap="square" lIns="0" tIns="0" rIns="0" bIns="0" rtlCol="0"/>
          <a:lstStyle/>
          <a:p>
            <a:endParaRPr/>
          </a:p>
        </p:txBody>
      </p:sp>
      <p:sp>
        <p:nvSpPr>
          <p:cNvPr id="5" name="object 5"/>
          <p:cNvSpPr txBox="1"/>
          <p:nvPr/>
        </p:nvSpPr>
        <p:spPr>
          <a:xfrm>
            <a:off x="7878444" y="2319655"/>
            <a:ext cx="1562735" cy="568325"/>
          </a:xfrm>
          <a:prstGeom prst="rect">
            <a:avLst/>
          </a:prstGeom>
          <a:ln w="9525">
            <a:solidFill>
              <a:srgbClr val="000000"/>
            </a:solidFill>
          </a:ln>
        </p:spPr>
        <p:txBody>
          <a:bodyPr vert="horz" wrap="square" lIns="0" tIns="46990" rIns="0" bIns="0" rtlCol="0">
            <a:spAutoFit/>
          </a:bodyPr>
          <a:lstStyle/>
          <a:p>
            <a:pPr marL="97790" marR="306070">
              <a:lnSpc>
                <a:spcPts val="1850"/>
              </a:lnSpc>
              <a:spcBef>
                <a:spcPts val="370"/>
              </a:spcBef>
            </a:pPr>
            <a:r>
              <a:rPr sz="1600" spc="-5" dirty="0">
                <a:solidFill>
                  <a:srgbClr val="FF0000"/>
                </a:solidFill>
                <a:latin typeface="Times New Roman"/>
                <a:cs typeface="Times New Roman"/>
              </a:rPr>
              <a:t>Muchas </a:t>
            </a:r>
            <a:r>
              <a:rPr sz="1600" dirty="0">
                <a:solidFill>
                  <a:srgbClr val="FF0000"/>
                </a:solidFill>
                <a:latin typeface="Times New Roman"/>
                <a:cs typeface="Times New Roman"/>
              </a:rPr>
              <a:t> </a:t>
            </a:r>
            <a:r>
              <a:rPr sz="1600" spc="-5" dirty="0">
                <a:solidFill>
                  <a:srgbClr val="FF0000"/>
                </a:solidFill>
                <a:latin typeface="Times New Roman"/>
                <a:cs typeface="Times New Roman"/>
              </a:rPr>
              <a:t>ob</a:t>
            </a:r>
            <a:r>
              <a:rPr sz="1600" spc="-10" dirty="0">
                <a:solidFill>
                  <a:srgbClr val="FF0000"/>
                </a:solidFill>
                <a:latin typeface="Times New Roman"/>
                <a:cs typeface="Times New Roman"/>
              </a:rPr>
              <a:t>ser</a:t>
            </a:r>
            <a:r>
              <a:rPr sz="1600" spc="-5" dirty="0">
                <a:solidFill>
                  <a:srgbClr val="FF0000"/>
                </a:solidFill>
                <a:latin typeface="Times New Roman"/>
                <a:cs typeface="Times New Roman"/>
              </a:rPr>
              <a:t>vaciones</a:t>
            </a:r>
            <a:endParaRPr sz="1600">
              <a:latin typeface="Times New Roman"/>
              <a:cs typeface="Times New Roman"/>
            </a:endParaRPr>
          </a:p>
        </p:txBody>
      </p:sp>
      <p:sp>
        <p:nvSpPr>
          <p:cNvPr id="6" name="object 6"/>
          <p:cNvSpPr txBox="1"/>
          <p:nvPr/>
        </p:nvSpPr>
        <p:spPr>
          <a:xfrm>
            <a:off x="1091564" y="2319655"/>
            <a:ext cx="1395095" cy="568325"/>
          </a:xfrm>
          <a:prstGeom prst="rect">
            <a:avLst/>
          </a:prstGeom>
          <a:ln w="9525">
            <a:solidFill>
              <a:srgbClr val="000000"/>
            </a:solidFill>
          </a:ln>
        </p:spPr>
        <p:txBody>
          <a:bodyPr vert="horz" wrap="square" lIns="0" tIns="46990" rIns="0" bIns="0" rtlCol="0">
            <a:spAutoFit/>
          </a:bodyPr>
          <a:lstStyle/>
          <a:p>
            <a:pPr marL="97155" marR="139065">
              <a:lnSpc>
                <a:spcPts val="1850"/>
              </a:lnSpc>
              <a:spcBef>
                <a:spcPts val="370"/>
              </a:spcBef>
            </a:pPr>
            <a:r>
              <a:rPr sz="1600" spc="-5" dirty="0">
                <a:solidFill>
                  <a:srgbClr val="FF0000"/>
                </a:solidFill>
                <a:latin typeface="Times New Roman"/>
                <a:cs typeface="Times New Roman"/>
              </a:rPr>
              <a:t>Pocas </a:t>
            </a:r>
            <a:r>
              <a:rPr sz="1600" dirty="0">
                <a:solidFill>
                  <a:srgbClr val="FF0000"/>
                </a:solidFill>
                <a:latin typeface="Times New Roman"/>
                <a:cs typeface="Times New Roman"/>
              </a:rPr>
              <a:t> </a:t>
            </a:r>
            <a:r>
              <a:rPr sz="1600" spc="-5" dirty="0">
                <a:solidFill>
                  <a:srgbClr val="FF0000"/>
                </a:solidFill>
                <a:latin typeface="Times New Roman"/>
                <a:cs typeface="Times New Roman"/>
              </a:rPr>
              <a:t>ob</a:t>
            </a:r>
            <a:r>
              <a:rPr sz="1600" spc="-10" dirty="0">
                <a:solidFill>
                  <a:srgbClr val="FF0000"/>
                </a:solidFill>
                <a:latin typeface="Times New Roman"/>
                <a:cs typeface="Times New Roman"/>
              </a:rPr>
              <a:t>ser</a:t>
            </a:r>
            <a:r>
              <a:rPr sz="1600" spc="-5" dirty="0">
                <a:solidFill>
                  <a:srgbClr val="FF0000"/>
                </a:solidFill>
                <a:latin typeface="Times New Roman"/>
                <a:cs typeface="Times New Roman"/>
              </a:rPr>
              <a:t>vaciones</a:t>
            </a:r>
            <a:endParaRPr sz="1600">
              <a:latin typeface="Times New Roman"/>
              <a:cs typeface="Times New Roman"/>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50901" y="1266825"/>
            <a:ext cx="8915400" cy="3963906"/>
          </a:xfrm>
          <a:prstGeom prst="rect">
            <a:avLst/>
          </a:prstGeom>
        </p:spPr>
        <p:txBody>
          <a:bodyPr vert="horz" wrap="square" lIns="0" tIns="12700" rIns="0" bIns="0" rtlCol="0">
            <a:spAutoFit/>
          </a:bodyPr>
          <a:lstStyle/>
          <a:p>
            <a:pPr marL="12700" algn="just">
              <a:lnSpc>
                <a:spcPct val="100000"/>
              </a:lnSpc>
              <a:spcBef>
                <a:spcPts val="100"/>
              </a:spcBef>
            </a:pPr>
            <a:r>
              <a:rPr sz="2400" b="1" spc="-5" dirty="0">
                <a:solidFill>
                  <a:srgbClr val="FF0000"/>
                </a:solidFill>
                <a:latin typeface="Times New Roman"/>
                <a:cs typeface="Times New Roman"/>
              </a:rPr>
              <a:t>Notas:</a:t>
            </a:r>
            <a:endParaRPr sz="2400" dirty="0">
              <a:latin typeface="Times New Roman"/>
              <a:cs typeface="Times New Roman"/>
            </a:endParaRPr>
          </a:p>
          <a:p>
            <a:pPr algn="just">
              <a:lnSpc>
                <a:spcPct val="100000"/>
              </a:lnSpc>
              <a:spcBef>
                <a:spcPts val="50"/>
              </a:spcBef>
            </a:pPr>
            <a:endParaRPr sz="2400" dirty="0">
              <a:latin typeface="Times New Roman"/>
              <a:cs typeface="Times New Roman"/>
            </a:endParaRPr>
          </a:p>
          <a:p>
            <a:pPr marL="12700" marR="5080" algn="just">
              <a:lnSpc>
                <a:spcPts val="2760"/>
              </a:lnSpc>
              <a:buAutoNum type="arabicParenR"/>
              <a:tabLst>
                <a:tab pos="343535" algn="l"/>
              </a:tabLst>
            </a:pPr>
            <a:r>
              <a:rPr lang="es-ES" sz="2400" spc="-5" dirty="0" smtClean="0">
                <a:latin typeface="Times New Roman"/>
                <a:cs typeface="Times New Roman"/>
              </a:rPr>
              <a:t> Algunos </a:t>
            </a:r>
            <a:r>
              <a:rPr sz="2400" spc="-5" dirty="0" err="1" smtClean="0">
                <a:latin typeface="Times New Roman"/>
                <a:cs typeface="Times New Roman"/>
              </a:rPr>
              <a:t>paquetes</a:t>
            </a:r>
            <a:r>
              <a:rPr sz="2400" spc="10" dirty="0" smtClean="0">
                <a:latin typeface="Times New Roman"/>
                <a:cs typeface="Times New Roman"/>
              </a:rPr>
              <a:t> </a:t>
            </a:r>
            <a:r>
              <a:rPr sz="2400" spc="-5" dirty="0">
                <a:latin typeface="Times New Roman"/>
                <a:cs typeface="Times New Roman"/>
              </a:rPr>
              <a:t>parten</a:t>
            </a:r>
            <a:r>
              <a:rPr sz="2400" dirty="0">
                <a:latin typeface="Times New Roman"/>
                <a:cs typeface="Times New Roman"/>
              </a:rPr>
              <a:t> por </a:t>
            </a:r>
            <a:r>
              <a:rPr sz="2400" spc="-5" dirty="0">
                <a:latin typeface="Times New Roman"/>
                <a:cs typeface="Times New Roman"/>
              </a:rPr>
              <a:t>defecto</a:t>
            </a:r>
            <a:r>
              <a:rPr sz="2400" dirty="0">
                <a:latin typeface="Times New Roman"/>
                <a:cs typeface="Times New Roman"/>
              </a:rPr>
              <a:t> de una</a:t>
            </a:r>
            <a:r>
              <a:rPr sz="2400" spc="5" dirty="0">
                <a:latin typeface="Times New Roman"/>
                <a:cs typeface="Times New Roman"/>
              </a:rPr>
              <a:t> </a:t>
            </a:r>
            <a:r>
              <a:rPr sz="2400" spc="-5" dirty="0">
                <a:latin typeface="Times New Roman"/>
                <a:cs typeface="Times New Roman"/>
              </a:rPr>
              <a:t>red</a:t>
            </a:r>
            <a:r>
              <a:rPr sz="2400" dirty="0">
                <a:latin typeface="Times New Roman"/>
                <a:cs typeface="Times New Roman"/>
              </a:rPr>
              <a:t> con </a:t>
            </a:r>
            <a:r>
              <a:rPr lang="es-ES" sz="2400" dirty="0" smtClean="0">
                <a:latin typeface="Times New Roman"/>
                <a:cs typeface="Times New Roman"/>
              </a:rPr>
              <a:t>una cantidad mínima de nodos</a:t>
            </a:r>
            <a:r>
              <a:rPr sz="2400" dirty="0" smtClean="0">
                <a:latin typeface="Times New Roman"/>
                <a:cs typeface="Times New Roman"/>
              </a:rPr>
              <a:t>.</a:t>
            </a:r>
            <a:endParaRPr sz="2400" dirty="0">
              <a:latin typeface="Times New Roman"/>
              <a:cs typeface="Times New Roman"/>
            </a:endParaRPr>
          </a:p>
          <a:p>
            <a:pPr algn="just">
              <a:lnSpc>
                <a:spcPct val="100000"/>
              </a:lnSpc>
              <a:spcBef>
                <a:spcPts val="40"/>
              </a:spcBef>
              <a:buClr>
                <a:srgbClr val="FF0000"/>
              </a:buClr>
              <a:buFont typeface="Times New Roman"/>
              <a:buAutoNum type="arabicParenR"/>
            </a:pPr>
            <a:endParaRPr sz="2300" dirty="0">
              <a:latin typeface="Times New Roman"/>
              <a:cs typeface="Times New Roman"/>
            </a:endParaRPr>
          </a:p>
          <a:p>
            <a:pPr marL="12700" marR="273685" algn="just">
              <a:lnSpc>
                <a:spcPct val="95900"/>
              </a:lnSpc>
              <a:spcBef>
                <a:spcPts val="5"/>
              </a:spcBef>
              <a:buAutoNum type="arabicParenR"/>
              <a:tabLst>
                <a:tab pos="342900" algn="l"/>
              </a:tabLst>
            </a:pPr>
            <a:r>
              <a:rPr lang="es-ES" sz="2400" dirty="0">
                <a:latin typeface="Times New Roman"/>
                <a:cs typeface="Times New Roman"/>
              </a:rPr>
              <a:t> </a:t>
            </a:r>
            <a:r>
              <a:rPr sz="2400" dirty="0" err="1">
                <a:latin typeface="Times New Roman"/>
                <a:cs typeface="Times New Roman"/>
              </a:rPr>
              <a:t>Nosotros</a:t>
            </a:r>
            <a:r>
              <a:rPr sz="2400" dirty="0">
                <a:latin typeface="Times New Roman"/>
                <a:cs typeface="Times New Roman"/>
              </a:rPr>
              <a:t> utilizaremos el método </a:t>
            </a:r>
            <a:r>
              <a:rPr sz="2400" b="1" dirty="0">
                <a:latin typeface="Times New Roman"/>
                <a:cs typeface="Times New Roman"/>
              </a:rPr>
              <a:t>prueba-error</a:t>
            </a:r>
            <a:r>
              <a:rPr sz="2400" dirty="0">
                <a:latin typeface="Times New Roman"/>
                <a:cs typeface="Times New Roman"/>
              </a:rPr>
              <a:t> sobre datos test, </a:t>
            </a:r>
            <a:r>
              <a:rPr sz="2400" dirty="0" err="1">
                <a:latin typeface="Times New Roman"/>
                <a:cs typeface="Times New Roman"/>
              </a:rPr>
              <a:t>utilizando</a:t>
            </a:r>
            <a:r>
              <a:rPr sz="2400" dirty="0">
                <a:latin typeface="Times New Roman"/>
                <a:cs typeface="Times New Roman"/>
              </a:rPr>
              <a:t> </a:t>
            </a:r>
            <a:r>
              <a:rPr sz="2400" dirty="0" err="1">
                <a:latin typeface="Times New Roman"/>
                <a:cs typeface="Times New Roman"/>
              </a:rPr>
              <a:t>validación</a:t>
            </a:r>
            <a:r>
              <a:rPr sz="2400" dirty="0">
                <a:latin typeface="Times New Roman"/>
                <a:cs typeface="Times New Roman"/>
              </a:rPr>
              <a:t> cruzada, etc.</a:t>
            </a:r>
            <a:r>
              <a:rPr lang="es-ES" sz="2400" dirty="0">
                <a:latin typeface="Times New Roman"/>
                <a:cs typeface="Times New Roman"/>
              </a:rPr>
              <a:t> V</a:t>
            </a:r>
            <a:r>
              <a:rPr sz="2400" dirty="0" err="1">
                <a:latin typeface="Times New Roman"/>
                <a:cs typeface="Times New Roman"/>
              </a:rPr>
              <a:t>ariando</a:t>
            </a:r>
            <a:r>
              <a:rPr sz="2400" dirty="0">
                <a:latin typeface="Times New Roman"/>
                <a:cs typeface="Times New Roman"/>
              </a:rPr>
              <a:t> el número de nodos y observando el </a:t>
            </a:r>
            <a:r>
              <a:rPr lang="es-ES" sz="2400" dirty="0">
                <a:latin typeface="Times New Roman"/>
                <a:cs typeface="Times New Roman"/>
              </a:rPr>
              <a:t>	</a:t>
            </a:r>
            <a:r>
              <a:rPr sz="2400" dirty="0" err="1">
                <a:latin typeface="Times New Roman"/>
                <a:cs typeface="Times New Roman"/>
              </a:rPr>
              <a:t>resultado</a:t>
            </a:r>
            <a:r>
              <a:rPr sz="2400" dirty="0">
                <a:latin typeface="Times New Roman"/>
                <a:cs typeface="Times New Roman"/>
              </a:rPr>
              <a:t>  sobre el error de predicción en datos test, siempre </a:t>
            </a:r>
            <a:r>
              <a:rPr sz="2400" dirty="0" err="1">
                <a:latin typeface="Times New Roman"/>
                <a:cs typeface="Times New Roman"/>
              </a:rPr>
              <a:t>intentando</a:t>
            </a:r>
            <a:r>
              <a:rPr sz="2400" dirty="0">
                <a:latin typeface="Times New Roman"/>
                <a:cs typeface="Times New Roman"/>
              </a:rPr>
              <a:t> </a:t>
            </a:r>
            <a:r>
              <a:rPr sz="2400" dirty="0" err="1">
                <a:latin typeface="Times New Roman"/>
                <a:cs typeface="Times New Roman"/>
              </a:rPr>
              <a:t>comprender</a:t>
            </a:r>
            <a:r>
              <a:rPr sz="2400" dirty="0">
                <a:latin typeface="Times New Roman"/>
                <a:cs typeface="Times New Roman"/>
              </a:rPr>
              <a:t> y  </a:t>
            </a:r>
            <a:r>
              <a:rPr lang="es-ES" sz="2400" dirty="0">
                <a:latin typeface="Times New Roman"/>
                <a:cs typeface="Times New Roman"/>
              </a:rPr>
              <a:t>argumentar </a:t>
            </a:r>
            <a:r>
              <a:rPr sz="2400" dirty="0">
                <a:latin typeface="Times New Roman"/>
                <a:cs typeface="Times New Roman"/>
              </a:rPr>
              <a:t>las razones por las cuales funciona mejor un </a:t>
            </a:r>
            <a:r>
              <a:rPr sz="2400" dirty="0" err="1">
                <a:latin typeface="Times New Roman"/>
                <a:cs typeface="Times New Roman"/>
              </a:rPr>
              <a:t>número</a:t>
            </a:r>
            <a:r>
              <a:rPr sz="2400" dirty="0">
                <a:latin typeface="Times New Roman"/>
                <a:cs typeface="Times New Roman"/>
              </a:rPr>
              <a:t> específico de  nodos que otro, teniendo en cuenta las </a:t>
            </a:r>
            <a:r>
              <a:rPr sz="2400" dirty="0" err="1">
                <a:latin typeface="Times New Roman"/>
                <a:cs typeface="Times New Roman"/>
              </a:rPr>
              <a:t>reglas</a:t>
            </a:r>
            <a:r>
              <a:rPr lang="es-ES" sz="2400" dirty="0">
                <a:latin typeface="Times New Roman"/>
                <a:cs typeface="Times New Roman"/>
              </a:rPr>
              <a:t> </a:t>
            </a:r>
            <a:r>
              <a:rPr sz="2400" dirty="0">
                <a:latin typeface="Times New Roman"/>
                <a:cs typeface="Times New Roman"/>
              </a:rPr>
              <a:t>simples </a:t>
            </a:r>
            <a:r>
              <a:rPr sz="2400" dirty="0" err="1">
                <a:latin typeface="Times New Roman"/>
                <a:cs typeface="Times New Roman"/>
              </a:rPr>
              <a:t>anteriores</a:t>
            </a:r>
            <a:r>
              <a:rPr sz="2400" dirty="0">
                <a:latin typeface="Times New Roman"/>
                <a:cs typeface="Times New Roman"/>
              </a:rPr>
              <a:t>.</a:t>
            </a: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9900" y="657225"/>
            <a:ext cx="9876538" cy="6142707"/>
          </a:xfrm>
          <a:prstGeom prst="rect">
            <a:avLst/>
          </a:prstGeom>
        </p:spPr>
        <p:txBody>
          <a:bodyPr vert="horz" wrap="square" lIns="0" tIns="12700" rIns="0" bIns="0" rtlCol="0">
            <a:spAutoFit/>
          </a:bodyPr>
          <a:lstStyle/>
          <a:p>
            <a:pPr algn="just">
              <a:lnSpc>
                <a:spcPct val="100000"/>
              </a:lnSpc>
              <a:spcBef>
                <a:spcPts val="50"/>
              </a:spcBef>
            </a:pPr>
            <a:endParaRPr sz="2250" dirty="0">
              <a:latin typeface="+mj-lt"/>
              <a:cs typeface="Times New Roman"/>
            </a:endParaRPr>
          </a:p>
          <a:p>
            <a:pPr marL="12700" algn="just">
              <a:lnSpc>
                <a:spcPct val="100000"/>
              </a:lnSpc>
              <a:spcBef>
                <a:spcPts val="5"/>
              </a:spcBef>
            </a:pPr>
            <a:r>
              <a:rPr sz="2400" b="1" dirty="0">
                <a:solidFill>
                  <a:srgbClr val="FF0000"/>
                </a:solidFill>
                <a:latin typeface="+mj-lt"/>
                <a:cs typeface="Times New Roman"/>
              </a:rPr>
              <a:t>Es </a:t>
            </a:r>
            <a:r>
              <a:rPr sz="2400" b="1" spc="-5" dirty="0">
                <a:solidFill>
                  <a:srgbClr val="FF0000"/>
                </a:solidFill>
                <a:latin typeface="+mj-lt"/>
                <a:cs typeface="Times New Roman"/>
              </a:rPr>
              <a:t>bueno</a:t>
            </a:r>
            <a:r>
              <a:rPr sz="2400" b="1" dirty="0">
                <a:solidFill>
                  <a:srgbClr val="FF0000"/>
                </a:solidFill>
                <a:latin typeface="+mj-lt"/>
                <a:cs typeface="Times New Roman"/>
              </a:rPr>
              <a:t> hacer </a:t>
            </a:r>
            <a:r>
              <a:rPr sz="2400" b="1" spc="-5" dirty="0">
                <a:solidFill>
                  <a:srgbClr val="FF0000"/>
                </a:solidFill>
                <a:latin typeface="+mj-lt"/>
                <a:cs typeface="Times New Roman"/>
              </a:rPr>
              <a:t>una reflexión</a:t>
            </a:r>
            <a:r>
              <a:rPr sz="2400" b="1" dirty="0">
                <a:solidFill>
                  <a:srgbClr val="FF0000"/>
                </a:solidFill>
                <a:latin typeface="+mj-lt"/>
                <a:cs typeface="Times New Roman"/>
              </a:rPr>
              <a:t> a</a:t>
            </a:r>
            <a:r>
              <a:rPr sz="2400" b="1" spc="5" dirty="0">
                <a:solidFill>
                  <a:srgbClr val="FF0000"/>
                </a:solidFill>
                <a:latin typeface="+mj-lt"/>
                <a:cs typeface="Times New Roman"/>
              </a:rPr>
              <a:t> </a:t>
            </a:r>
            <a:r>
              <a:rPr sz="2400" b="1" spc="-5" dirty="0">
                <a:solidFill>
                  <a:srgbClr val="FF0000"/>
                </a:solidFill>
                <a:latin typeface="+mj-lt"/>
                <a:cs typeface="Times New Roman"/>
              </a:rPr>
              <a:t>priori</a:t>
            </a:r>
            <a:r>
              <a:rPr sz="2400" b="1" dirty="0">
                <a:solidFill>
                  <a:srgbClr val="FF0000"/>
                </a:solidFill>
                <a:latin typeface="+mj-lt"/>
                <a:cs typeface="Times New Roman"/>
              </a:rPr>
              <a:t> </a:t>
            </a:r>
            <a:r>
              <a:rPr sz="2400" b="1" spc="-5" dirty="0">
                <a:solidFill>
                  <a:srgbClr val="FF0000"/>
                </a:solidFill>
                <a:latin typeface="+mj-lt"/>
                <a:cs typeface="Times New Roman"/>
              </a:rPr>
              <a:t>para desarrollar</a:t>
            </a:r>
            <a:r>
              <a:rPr sz="2400" b="1" dirty="0">
                <a:solidFill>
                  <a:srgbClr val="FF0000"/>
                </a:solidFill>
                <a:latin typeface="+mj-lt"/>
                <a:cs typeface="Times New Roman"/>
              </a:rPr>
              <a:t> </a:t>
            </a:r>
            <a:r>
              <a:rPr sz="2400" b="1" spc="-5" dirty="0">
                <a:solidFill>
                  <a:srgbClr val="FF0000"/>
                </a:solidFill>
                <a:latin typeface="+mj-lt"/>
                <a:cs typeface="Times New Roman"/>
              </a:rPr>
              <a:t>nuestra</a:t>
            </a:r>
            <a:r>
              <a:rPr sz="2400" b="1" dirty="0">
                <a:solidFill>
                  <a:srgbClr val="FF0000"/>
                </a:solidFill>
                <a:latin typeface="+mj-lt"/>
                <a:cs typeface="Times New Roman"/>
              </a:rPr>
              <a:t> intuición</a:t>
            </a:r>
            <a:r>
              <a:rPr sz="2400" dirty="0">
                <a:solidFill>
                  <a:srgbClr val="FF0000"/>
                </a:solidFill>
                <a:latin typeface="+mj-lt"/>
                <a:cs typeface="Times New Roman"/>
              </a:rPr>
              <a:t>:</a:t>
            </a:r>
            <a:endParaRPr sz="2400" dirty="0">
              <a:latin typeface="+mj-lt"/>
              <a:cs typeface="Times New Roman"/>
            </a:endParaRPr>
          </a:p>
          <a:p>
            <a:pPr algn="just">
              <a:lnSpc>
                <a:spcPct val="100000"/>
              </a:lnSpc>
              <a:spcBef>
                <a:spcPts val="50"/>
              </a:spcBef>
            </a:pPr>
            <a:endParaRPr sz="2250" dirty="0">
              <a:latin typeface="+mj-lt"/>
              <a:cs typeface="Times New Roman"/>
            </a:endParaRPr>
          </a:p>
          <a:p>
            <a:pPr marL="342265" indent="-330200" algn="just">
              <a:lnSpc>
                <a:spcPct val="100000"/>
              </a:lnSpc>
              <a:buAutoNum type="arabicParenR"/>
              <a:tabLst>
                <a:tab pos="342900" algn="l"/>
              </a:tabLst>
            </a:pPr>
            <a:r>
              <a:rPr sz="2400" dirty="0">
                <a:latin typeface="+mj-lt"/>
                <a:cs typeface="Times New Roman"/>
              </a:rPr>
              <a:t>Las</a:t>
            </a:r>
            <a:r>
              <a:rPr sz="2400" spc="5" dirty="0">
                <a:latin typeface="+mj-lt"/>
                <a:cs typeface="Times New Roman"/>
              </a:rPr>
              <a:t> </a:t>
            </a:r>
            <a:r>
              <a:rPr sz="2400" spc="-5" dirty="0">
                <a:latin typeface="+mj-lt"/>
                <a:cs typeface="Times New Roman"/>
              </a:rPr>
              <a:t>relaciones</a:t>
            </a:r>
            <a:r>
              <a:rPr sz="2400" dirty="0">
                <a:latin typeface="+mj-lt"/>
                <a:cs typeface="Times New Roman"/>
              </a:rPr>
              <a:t> </a:t>
            </a:r>
            <a:r>
              <a:rPr sz="2400" spc="-5" dirty="0">
                <a:latin typeface="+mj-lt"/>
                <a:cs typeface="Times New Roman"/>
              </a:rPr>
              <a:t>parecen</a:t>
            </a:r>
            <a:r>
              <a:rPr sz="2400" dirty="0">
                <a:latin typeface="+mj-lt"/>
                <a:cs typeface="Times New Roman"/>
              </a:rPr>
              <a:t> no </a:t>
            </a:r>
            <a:r>
              <a:rPr sz="2400" spc="-5" dirty="0">
                <a:latin typeface="+mj-lt"/>
                <a:cs typeface="Times New Roman"/>
              </a:rPr>
              <a:t>lineales:</a:t>
            </a:r>
            <a:r>
              <a:rPr sz="2400" dirty="0">
                <a:latin typeface="+mj-lt"/>
                <a:cs typeface="Times New Roman"/>
              </a:rPr>
              <a:t> la red </a:t>
            </a:r>
            <a:r>
              <a:rPr sz="2400" spc="-5" dirty="0">
                <a:latin typeface="+mj-lt"/>
                <a:cs typeface="Times New Roman"/>
              </a:rPr>
              <a:t>puede</a:t>
            </a:r>
            <a:r>
              <a:rPr sz="2400" dirty="0">
                <a:latin typeface="+mj-lt"/>
                <a:cs typeface="Times New Roman"/>
              </a:rPr>
              <a:t> funcionar</a:t>
            </a:r>
            <a:r>
              <a:rPr sz="2400" spc="-5" dirty="0">
                <a:latin typeface="+mj-lt"/>
                <a:cs typeface="Times New Roman"/>
              </a:rPr>
              <a:t> </a:t>
            </a:r>
            <a:r>
              <a:rPr sz="2400" dirty="0">
                <a:latin typeface="+mj-lt"/>
                <a:cs typeface="Times New Roman"/>
              </a:rPr>
              <a:t>bien</a:t>
            </a:r>
          </a:p>
          <a:p>
            <a:pPr algn="just">
              <a:lnSpc>
                <a:spcPct val="100000"/>
              </a:lnSpc>
              <a:spcBef>
                <a:spcPts val="20"/>
              </a:spcBef>
              <a:buClr>
                <a:srgbClr val="FF0000"/>
              </a:buClr>
              <a:buFont typeface="Times New Roman"/>
              <a:buAutoNum type="arabicParenR"/>
            </a:pPr>
            <a:endParaRPr sz="2450" dirty="0">
              <a:latin typeface="+mj-lt"/>
              <a:cs typeface="Times New Roman"/>
            </a:endParaRPr>
          </a:p>
          <a:p>
            <a:pPr marL="12700" marR="5080" algn="just">
              <a:lnSpc>
                <a:spcPts val="2760"/>
              </a:lnSpc>
              <a:buAutoNum type="arabicParenR"/>
              <a:tabLst>
                <a:tab pos="342900" algn="l"/>
              </a:tabLst>
            </a:pPr>
            <a:r>
              <a:rPr lang="es-ES" sz="2400" dirty="0" smtClean="0">
                <a:latin typeface="+mj-lt"/>
                <a:cs typeface="Times New Roman"/>
              </a:rPr>
              <a:t> Modelo sencillo con</a:t>
            </a:r>
            <a:r>
              <a:rPr sz="2400" dirty="0" smtClean="0">
                <a:latin typeface="+mj-lt"/>
                <a:cs typeface="Times New Roman"/>
              </a:rPr>
              <a:t> </a:t>
            </a:r>
            <a:r>
              <a:rPr sz="2400" dirty="0">
                <a:latin typeface="+mj-lt"/>
                <a:cs typeface="Times New Roman"/>
              </a:rPr>
              <a:t>dos </a:t>
            </a:r>
            <a:r>
              <a:rPr sz="2400" spc="-5" dirty="0" smtClean="0">
                <a:latin typeface="+mj-lt"/>
                <a:cs typeface="Times New Roman"/>
              </a:rPr>
              <a:t>variables</a:t>
            </a:r>
            <a:r>
              <a:rPr lang="es-ES" sz="2400" spc="-5" dirty="0" smtClean="0">
                <a:latin typeface="+mj-lt"/>
                <a:cs typeface="Times New Roman"/>
              </a:rPr>
              <a:t>, ¿cuántos nodos ocultos son necesarios para ajustar la curva?</a:t>
            </a:r>
            <a:endParaRPr sz="2400" dirty="0">
              <a:latin typeface="+mj-lt"/>
              <a:cs typeface="Times New Roman"/>
            </a:endParaRPr>
          </a:p>
          <a:p>
            <a:pPr marL="12700" marR="196215" algn="just">
              <a:lnSpc>
                <a:spcPts val="2760"/>
              </a:lnSpc>
              <a:buAutoNum type="arabicParenR"/>
              <a:tabLst>
                <a:tab pos="342900" algn="l"/>
              </a:tabLst>
            </a:pPr>
            <a:r>
              <a:rPr lang="es-ES" sz="2400" spc="-5" dirty="0" smtClean="0">
                <a:latin typeface="+mj-lt"/>
                <a:cs typeface="Times New Roman"/>
              </a:rPr>
              <a:t> </a:t>
            </a:r>
            <a:r>
              <a:rPr sz="2400" spc="-5" dirty="0" smtClean="0">
                <a:latin typeface="+mj-lt"/>
                <a:cs typeface="Times New Roman"/>
              </a:rPr>
              <a:t>Hay </a:t>
            </a:r>
            <a:r>
              <a:rPr sz="2400" dirty="0">
                <a:latin typeface="+mj-lt"/>
                <a:cs typeface="Times New Roman"/>
              </a:rPr>
              <a:t>1030 </a:t>
            </a:r>
            <a:r>
              <a:rPr sz="2400" spc="-5" dirty="0">
                <a:latin typeface="+mj-lt"/>
                <a:cs typeface="Times New Roman"/>
              </a:rPr>
              <a:t>observaciones.</a:t>
            </a:r>
            <a:r>
              <a:rPr sz="2400" dirty="0">
                <a:latin typeface="+mj-lt"/>
                <a:cs typeface="Times New Roman"/>
              </a:rPr>
              <a:t> </a:t>
            </a:r>
            <a:r>
              <a:rPr sz="2400" spc="-5" dirty="0">
                <a:latin typeface="+mj-lt"/>
                <a:cs typeface="Times New Roman"/>
              </a:rPr>
              <a:t>Según </a:t>
            </a:r>
            <a:r>
              <a:rPr sz="2400" dirty="0">
                <a:latin typeface="+mj-lt"/>
                <a:cs typeface="Times New Roman"/>
              </a:rPr>
              <a:t>la</a:t>
            </a:r>
            <a:r>
              <a:rPr sz="2400" spc="-10" dirty="0">
                <a:latin typeface="+mj-lt"/>
                <a:cs typeface="Times New Roman"/>
              </a:rPr>
              <a:t> </a:t>
            </a:r>
            <a:r>
              <a:rPr sz="2400" spc="-5" dirty="0" err="1" smtClean="0">
                <a:latin typeface="+mj-lt"/>
                <a:cs typeface="Times New Roman"/>
              </a:rPr>
              <a:t>fórmula</a:t>
            </a:r>
            <a:r>
              <a:rPr lang="es-ES" sz="2400" spc="-5" dirty="0" smtClean="0">
                <a:latin typeface="+mj-lt"/>
                <a:cs typeface="Times New Roman"/>
              </a:rPr>
              <a:t> sobre el número de parámetros</a:t>
            </a:r>
            <a:r>
              <a:rPr sz="2400" spc="25" dirty="0" smtClean="0">
                <a:latin typeface="+mj-lt"/>
                <a:cs typeface="Times New Roman"/>
              </a:rPr>
              <a:t> </a:t>
            </a:r>
            <a:r>
              <a:rPr sz="2400" b="1" i="1" dirty="0">
                <a:latin typeface="+mj-lt"/>
                <a:cs typeface="Times New Roman"/>
              </a:rPr>
              <a:t>h(k+1)+h+1</a:t>
            </a:r>
            <a:r>
              <a:rPr sz="2400" b="1" i="1" spc="5" dirty="0">
                <a:latin typeface="+mj-lt"/>
                <a:cs typeface="Times New Roman"/>
              </a:rPr>
              <a:t> </a:t>
            </a:r>
            <a:r>
              <a:rPr lang="es-ES" sz="2400" spc="5" dirty="0">
                <a:latin typeface="+mj-lt"/>
                <a:cs typeface="Times New Roman"/>
              </a:rPr>
              <a:t>(</a:t>
            </a:r>
            <a:r>
              <a:rPr sz="2400" i="1" dirty="0" smtClean="0">
                <a:latin typeface="+mj-lt"/>
                <a:cs typeface="Times New Roman"/>
              </a:rPr>
              <a:t>h</a:t>
            </a:r>
            <a:r>
              <a:rPr sz="2400" dirty="0" smtClean="0">
                <a:latin typeface="+mj-lt"/>
                <a:cs typeface="Times New Roman"/>
              </a:rPr>
              <a:t>=</a:t>
            </a:r>
            <a:r>
              <a:rPr sz="2400" dirty="0" err="1" smtClean="0">
                <a:latin typeface="+mj-lt"/>
                <a:cs typeface="Times New Roman"/>
              </a:rPr>
              <a:t>nodos</a:t>
            </a:r>
            <a:r>
              <a:rPr sz="2400" dirty="0" smtClean="0">
                <a:latin typeface="+mj-lt"/>
                <a:cs typeface="Times New Roman"/>
              </a:rPr>
              <a:t> </a:t>
            </a:r>
            <a:r>
              <a:rPr sz="2400" dirty="0">
                <a:latin typeface="+mj-lt"/>
                <a:cs typeface="Times New Roman"/>
              </a:rPr>
              <a:t>ocultos,</a:t>
            </a:r>
            <a:r>
              <a:rPr sz="2400" spc="5" dirty="0">
                <a:latin typeface="+mj-lt"/>
                <a:cs typeface="Times New Roman"/>
              </a:rPr>
              <a:t> </a:t>
            </a:r>
            <a:r>
              <a:rPr sz="2400" i="1" spc="-5" dirty="0">
                <a:latin typeface="+mj-lt"/>
                <a:cs typeface="Times New Roman"/>
              </a:rPr>
              <a:t>k</a:t>
            </a:r>
            <a:r>
              <a:rPr sz="2400" spc="-5" dirty="0">
                <a:latin typeface="+mj-lt"/>
                <a:cs typeface="Times New Roman"/>
              </a:rPr>
              <a:t>=</a:t>
            </a:r>
            <a:r>
              <a:rPr sz="2400" spc="-5" dirty="0" err="1">
                <a:latin typeface="+mj-lt"/>
                <a:cs typeface="Times New Roman"/>
              </a:rPr>
              <a:t>nodos</a:t>
            </a:r>
            <a:r>
              <a:rPr sz="2400" dirty="0">
                <a:latin typeface="+mj-lt"/>
                <a:cs typeface="Times New Roman"/>
              </a:rPr>
              <a:t> </a:t>
            </a:r>
            <a:r>
              <a:rPr sz="2400" dirty="0" smtClean="0">
                <a:latin typeface="+mj-lt"/>
                <a:cs typeface="Times New Roman"/>
              </a:rPr>
              <a:t>input</a:t>
            </a:r>
            <a:r>
              <a:rPr lang="es-ES" sz="2400" dirty="0" smtClean="0">
                <a:latin typeface="+mj-lt"/>
                <a:cs typeface="Times New Roman"/>
              </a:rPr>
              <a:t>), p</a:t>
            </a:r>
            <a:r>
              <a:rPr sz="2400" spc="5" dirty="0" err="1" smtClean="0">
                <a:latin typeface="+mj-lt"/>
                <a:cs typeface="Times New Roman"/>
              </a:rPr>
              <a:t>ara</a:t>
            </a:r>
            <a:r>
              <a:rPr sz="2400" dirty="0" smtClean="0">
                <a:latin typeface="+mj-lt"/>
                <a:cs typeface="Times New Roman"/>
              </a:rPr>
              <a:t> </a:t>
            </a:r>
            <a:r>
              <a:rPr sz="2400" dirty="0" err="1">
                <a:latin typeface="+mj-lt"/>
                <a:cs typeface="Times New Roman"/>
              </a:rPr>
              <a:t>tener</a:t>
            </a:r>
            <a:r>
              <a:rPr sz="2400" spc="5" dirty="0">
                <a:latin typeface="+mj-lt"/>
                <a:cs typeface="Times New Roman"/>
              </a:rPr>
              <a:t> </a:t>
            </a:r>
            <a:r>
              <a:rPr lang="es-ES" sz="2400" spc="5" dirty="0" smtClean="0">
                <a:latin typeface="+mj-lt"/>
                <a:cs typeface="Times New Roman"/>
              </a:rPr>
              <a:t>al menos </a:t>
            </a:r>
            <a:r>
              <a:rPr sz="2400" dirty="0" smtClean="0">
                <a:latin typeface="+mj-lt"/>
                <a:cs typeface="Times New Roman"/>
              </a:rPr>
              <a:t>20 </a:t>
            </a:r>
            <a:r>
              <a:rPr sz="2400" spc="-5" dirty="0" err="1">
                <a:latin typeface="+mj-lt"/>
                <a:cs typeface="Times New Roman"/>
              </a:rPr>
              <a:t>observaciones</a:t>
            </a:r>
            <a:r>
              <a:rPr sz="2400" spc="5" dirty="0">
                <a:latin typeface="+mj-lt"/>
                <a:cs typeface="Times New Roman"/>
              </a:rPr>
              <a:t> </a:t>
            </a:r>
            <a:r>
              <a:rPr sz="2400" dirty="0" err="1" smtClean="0">
                <a:latin typeface="+mj-lt"/>
                <a:cs typeface="Times New Roman"/>
              </a:rPr>
              <a:t>por</a:t>
            </a:r>
            <a:r>
              <a:rPr sz="2400" spc="5" dirty="0" smtClean="0">
                <a:latin typeface="+mj-lt"/>
                <a:cs typeface="Times New Roman"/>
              </a:rPr>
              <a:t> </a:t>
            </a:r>
            <a:r>
              <a:rPr sz="2400" spc="-5" dirty="0">
                <a:latin typeface="+mj-lt"/>
                <a:cs typeface="Times New Roman"/>
              </a:rPr>
              <a:t>parámetro,</a:t>
            </a:r>
            <a:r>
              <a:rPr sz="2400" spc="15" dirty="0">
                <a:latin typeface="+mj-lt"/>
                <a:cs typeface="Times New Roman"/>
              </a:rPr>
              <a:t> </a:t>
            </a:r>
            <a:r>
              <a:rPr sz="2400" spc="-5" dirty="0">
                <a:latin typeface="+mj-lt"/>
                <a:cs typeface="Times New Roman"/>
              </a:rPr>
              <a:t>podemos</a:t>
            </a:r>
            <a:r>
              <a:rPr sz="2400" dirty="0">
                <a:latin typeface="+mj-lt"/>
                <a:cs typeface="Times New Roman"/>
              </a:rPr>
              <a:t> tener</a:t>
            </a:r>
            <a:r>
              <a:rPr sz="2400" spc="10" dirty="0">
                <a:latin typeface="+mj-lt"/>
                <a:cs typeface="Times New Roman"/>
              </a:rPr>
              <a:t> </a:t>
            </a:r>
            <a:r>
              <a:rPr sz="2400" spc="-5" dirty="0">
                <a:latin typeface="+mj-lt"/>
                <a:cs typeface="Times New Roman"/>
              </a:rPr>
              <a:t>como</a:t>
            </a:r>
            <a:r>
              <a:rPr sz="2400" spc="5" dirty="0">
                <a:latin typeface="+mj-lt"/>
                <a:cs typeface="Times New Roman"/>
              </a:rPr>
              <a:t> </a:t>
            </a:r>
            <a:r>
              <a:rPr sz="2400" dirty="0" err="1">
                <a:latin typeface="+mj-lt"/>
                <a:cs typeface="Times New Roman"/>
              </a:rPr>
              <a:t>máximo</a:t>
            </a:r>
            <a:r>
              <a:rPr sz="2400" dirty="0">
                <a:latin typeface="+mj-lt"/>
                <a:cs typeface="Times New Roman"/>
              </a:rPr>
              <a:t> </a:t>
            </a:r>
            <a:endParaRPr lang="es-ES" sz="2400" dirty="0" smtClean="0">
              <a:latin typeface="+mj-lt"/>
              <a:cs typeface="Times New Roman"/>
            </a:endParaRPr>
          </a:p>
          <a:p>
            <a:pPr marL="12700" marR="196215" algn="just">
              <a:lnSpc>
                <a:spcPts val="2760"/>
              </a:lnSpc>
              <a:tabLst>
                <a:tab pos="342900" algn="l"/>
              </a:tabLst>
            </a:pPr>
            <a:endParaRPr lang="es-ES" sz="2400" dirty="0" smtClean="0">
              <a:latin typeface="+mj-lt"/>
              <a:cs typeface="Times New Roman"/>
            </a:endParaRPr>
          </a:p>
          <a:p>
            <a:pPr marL="469900" marR="196215" lvl="1" algn="just">
              <a:lnSpc>
                <a:spcPts val="2760"/>
              </a:lnSpc>
              <a:tabLst>
                <a:tab pos="342900" algn="l"/>
              </a:tabLst>
            </a:pPr>
            <a:r>
              <a:rPr lang="es-ES" sz="2400" i="1" dirty="0">
                <a:latin typeface="+mj-lt"/>
                <a:cs typeface="Times New Roman"/>
              </a:rPr>
              <a:t>	</a:t>
            </a:r>
            <a:r>
              <a:rPr lang="es-ES" sz="2400" i="1" dirty="0" smtClean="0">
                <a:latin typeface="+mj-lt"/>
                <a:cs typeface="Times New Roman"/>
              </a:rPr>
              <a:t>	</a:t>
            </a:r>
            <a:r>
              <a:rPr sz="2400" i="1" dirty="0" smtClean="0">
                <a:latin typeface="+mj-lt"/>
                <a:cs typeface="Times New Roman"/>
              </a:rPr>
              <a:t>1030/20=51 </a:t>
            </a:r>
            <a:r>
              <a:rPr lang="es-ES" sz="2400" dirty="0" smtClean="0">
                <a:latin typeface="+mj-lt"/>
                <a:cs typeface="Times New Roman"/>
              </a:rPr>
              <a:t>	</a:t>
            </a:r>
            <a:r>
              <a:rPr sz="2400" spc="-5" dirty="0" err="1" smtClean="0">
                <a:latin typeface="+mj-lt"/>
                <a:cs typeface="Times New Roman"/>
              </a:rPr>
              <a:t>parámetros</a:t>
            </a:r>
            <a:r>
              <a:rPr sz="2400" spc="-5" dirty="0">
                <a:latin typeface="+mj-lt"/>
                <a:cs typeface="Times New Roman"/>
              </a:rPr>
              <a:t>. </a:t>
            </a:r>
            <a:endParaRPr lang="es-ES" sz="2400" spc="-5" dirty="0" smtClean="0">
              <a:latin typeface="+mj-lt"/>
              <a:cs typeface="Times New Roman"/>
            </a:endParaRPr>
          </a:p>
          <a:p>
            <a:pPr marL="469900" marR="196215" lvl="1" algn="just">
              <a:lnSpc>
                <a:spcPts val="2760"/>
              </a:lnSpc>
              <a:tabLst>
                <a:tab pos="342900" algn="l"/>
              </a:tabLst>
            </a:pPr>
            <a:r>
              <a:rPr lang="es-ES" sz="2400" spc="-5" dirty="0" smtClean="0">
                <a:latin typeface="+mj-lt"/>
                <a:cs typeface="Times New Roman"/>
              </a:rPr>
              <a:t>Como </a:t>
            </a:r>
            <a:r>
              <a:rPr lang="es-ES" sz="2400" i="1" spc="-5" dirty="0" smtClean="0">
                <a:latin typeface="+mj-lt"/>
                <a:cs typeface="Times New Roman"/>
              </a:rPr>
              <a:t>k=2, </a:t>
            </a:r>
            <a:r>
              <a:rPr lang="es-ES" sz="2400" spc="-5" dirty="0" smtClean="0">
                <a:latin typeface="+mj-lt"/>
                <a:cs typeface="Times New Roman"/>
              </a:rPr>
              <a:t>despejando </a:t>
            </a:r>
            <a:r>
              <a:rPr lang="es-ES" sz="2400" i="1" dirty="0">
                <a:cs typeface="Times New Roman"/>
              </a:rPr>
              <a:t>h(k+1)+</a:t>
            </a:r>
            <a:r>
              <a:rPr lang="es-ES" sz="2400" i="1" dirty="0" smtClean="0">
                <a:cs typeface="Times New Roman"/>
              </a:rPr>
              <a:t>h+1=</a:t>
            </a:r>
            <a:r>
              <a:rPr lang="es-ES" sz="2400" dirty="0" smtClean="0">
                <a:cs typeface="Times New Roman"/>
              </a:rPr>
              <a:t>1030/20 obtenemos</a:t>
            </a:r>
          </a:p>
          <a:p>
            <a:pPr marL="469900" marR="196215" lvl="1" algn="just">
              <a:lnSpc>
                <a:spcPts val="2760"/>
              </a:lnSpc>
              <a:tabLst>
                <a:tab pos="342900" algn="l"/>
              </a:tabLst>
            </a:pPr>
            <a:r>
              <a:rPr sz="2400" dirty="0" smtClean="0">
                <a:latin typeface="+mj-lt"/>
                <a:cs typeface="Times New Roman"/>
              </a:rPr>
              <a:t>4</a:t>
            </a:r>
            <a:r>
              <a:rPr sz="2400" i="1" dirty="0" smtClean="0">
                <a:latin typeface="+mj-lt"/>
                <a:cs typeface="Times New Roman"/>
              </a:rPr>
              <a:t>h</a:t>
            </a:r>
            <a:r>
              <a:rPr sz="2400" dirty="0" smtClean="0">
                <a:latin typeface="+mj-lt"/>
                <a:cs typeface="Times New Roman"/>
              </a:rPr>
              <a:t>+1=51.5</a:t>
            </a:r>
            <a:r>
              <a:rPr lang="es-ES" sz="2400" dirty="0" smtClean="0">
                <a:latin typeface="+mj-lt"/>
                <a:cs typeface="Times New Roman"/>
              </a:rPr>
              <a:t>, por lo que, como </a:t>
            </a:r>
            <a:r>
              <a:rPr sz="2400" spc="-5" dirty="0" err="1" smtClean="0">
                <a:latin typeface="+mj-lt"/>
                <a:cs typeface="Times New Roman"/>
              </a:rPr>
              <a:t>máximo</a:t>
            </a:r>
            <a:r>
              <a:rPr sz="2400" i="1" dirty="0" smtClean="0">
                <a:latin typeface="+mj-lt"/>
                <a:cs typeface="Times New Roman"/>
              </a:rPr>
              <a:t> </a:t>
            </a:r>
            <a:r>
              <a:rPr sz="2400" b="1" i="1" dirty="0">
                <a:latin typeface="+mj-lt"/>
                <a:cs typeface="Times New Roman"/>
              </a:rPr>
              <a:t>h=12 </a:t>
            </a:r>
            <a:r>
              <a:rPr sz="2400" b="1" dirty="0" err="1" smtClean="0">
                <a:latin typeface="+mj-lt"/>
                <a:cs typeface="Times New Roman"/>
              </a:rPr>
              <a:t>nodos</a:t>
            </a:r>
            <a:r>
              <a:rPr lang="es-ES" sz="2400" b="1" dirty="0" smtClean="0">
                <a:latin typeface="+mj-lt"/>
                <a:cs typeface="Times New Roman"/>
              </a:rPr>
              <a:t> ocultos</a:t>
            </a:r>
            <a:r>
              <a:rPr sz="2400" dirty="0" smtClean="0">
                <a:latin typeface="+mj-lt"/>
                <a:cs typeface="Times New Roman"/>
              </a:rPr>
              <a:t>.</a:t>
            </a:r>
            <a:endParaRPr sz="2400" dirty="0">
              <a:latin typeface="+mj-lt"/>
              <a:cs typeface="Times New Roman"/>
            </a:endParaRPr>
          </a:p>
          <a:p>
            <a:pPr marL="12700" marR="477520" algn="just">
              <a:lnSpc>
                <a:spcPts val="2760"/>
              </a:lnSpc>
              <a:spcBef>
                <a:spcPts val="5"/>
              </a:spcBef>
            </a:pPr>
            <a:endParaRPr lang="es-ES" sz="2400" dirty="0" smtClean="0">
              <a:latin typeface="+mj-lt"/>
              <a:cs typeface="Times New Roman"/>
            </a:endParaRPr>
          </a:p>
          <a:p>
            <a:pPr marL="12700" marR="477520" algn="just">
              <a:lnSpc>
                <a:spcPts val="2760"/>
              </a:lnSpc>
              <a:spcBef>
                <a:spcPts val="5"/>
              </a:spcBef>
            </a:pPr>
            <a:r>
              <a:rPr lang="es-ES" sz="2400" dirty="0" smtClean="0">
                <a:latin typeface="+mj-lt"/>
                <a:cs typeface="Times New Roman"/>
              </a:rPr>
              <a:t>    Esto </a:t>
            </a:r>
            <a:r>
              <a:rPr sz="2400" dirty="0" smtClean="0">
                <a:latin typeface="+mj-lt"/>
                <a:cs typeface="Times New Roman"/>
              </a:rPr>
              <a:t>no</a:t>
            </a:r>
            <a:r>
              <a:rPr sz="2400" spc="-5" dirty="0" smtClean="0">
                <a:latin typeface="+mj-lt"/>
                <a:cs typeface="Times New Roman"/>
              </a:rPr>
              <a:t> </a:t>
            </a:r>
            <a:r>
              <a:rPr sz="2400" dirty="0">
                <a:latin typeface="+mj-lt"/>
                <a:cs typeface="Times New Roman"/>
              </a:rPr>
              <a:t>es</a:t>
            </a:r>
            <a:r>
              <a:rPr sz="2400" spc="-5" dirty="0">
                <a:latin typeface="+mj-lt"/>
                <a:cs typeface="Times New Roman"/>
              </a:rPr>
              <a:t> </a:t>
            </a:r>
            <a:r>
              <a:rPr sz="2400" dirty="0">
                <a:latin typeface="+mj-lt"/>
                <a:cs typeface="Times New Roman"/>
              </a:rPr>
              <a:t>una regla </a:t>
            </a:r>
            <a:r>
              <a:rPr sz="2400" spc="-5" dirty="0">
                <a:latin typeface="+mj-lt"/>
                <a:cs typeface="Times New Roman"/>
              </a:rPr>
              <a:t>exacta,</a:t>
            </a:r>
            <a:r>
              <a:rPr sz="2400" spc="-10" dirty="0">
                <a:latin typeface="+mj-lt"/>
                <a:cs typeface="Times New Roman"/>
              </a:rPr>
              <a:t> </a:t>
            </a:r>
            <a:r>
              <a:rPr lang="es-ES" sz="2400" spc="-10" dirty="0" smtClean="0">
                <a:latin typeface="+mj-lt"/>
                <a:cs typeface="Times New Roman"/>
              </a:rPr>
              <a:t>pero </a:t>
            </a:r>
            <a:r>
              <a:rPr sz="2400" spc="-5" dirty="0" err="1" smtClean="0">
                <a:latin typeface="+mj-lt"/>
                <a:cs typeface="Times New Roman"/>
              </a:rPr>
              <a:t>sirve</a:t>
            </a:r>
            <a:r>
              <a:rPr sz="2400" dirty="0" smtClean="0">
                <a:latin typeface="+mj-lt"/>
                <a:cs typeface="Times New Roman"/>
              </a:rPr>
              <a:t> </a:t>
            </a:r>
            <a:r>
              <a:rPr sz="2400" spc="-5" dirty="0">
                <a:latin typeface="+mj-lt"/>
                <a:cs typeface="Times New Roman"/>
              </a:rPr>
              <a:t>como </a:t>
            </a:r>
            <a:r>
              <a:rPr sz="2400" dirty="0" err="1">
                <a:latin typeface="+mj-lt"/>
                <a:cs typeface="Times New Roman"/>
              </a:rPr>
              <a:t>referencia</a:t>
            </a:r>
            <a:r>
              <a:rPr sz="2400" spc="15" dirty="0">
                <a:latin typeface="+mj-lt"/>
                <a:cs typeface="Times New Roman"/>
              </a:rPr>
              <a:t> </a:t>
            </a:r>
            <a:r>
              <a:rPr sz="2400" dirty="0" err="1" smtClean="0">
                <a:latin typeface="+mj-lt"/>
                <a:cs typeface="Times New Roman"/>
              </a:rPr>
              <a:t>inicial</a:t>
            </a:r>
            <a:endParaRPr lang="es-ES" sz="2400" dirty="0" smtClean="0">
              <a:latin typeface="+mj-lt"/>
              <a:cs typeface="Times New Roman"/>
            </a:endParaRPr>
          </a:p>
          <a:p>
            <a:pPr marL="12700" marR="477520" algn="just">
              <a:lnSpc>
                <a:spcPts val="2760"/>
              </a:lnSpc>
              <a:spcBef>
                <a:spcPts val="5"/>
              </a:spcBef>
            </a:pPr>
            <a:r>
              <a:rPr lang="es-ES" sz="2400" dirty="0" smtClean="0">
                <a:latin typeface="+mj-lt"/>
                <a:cs typeface="Times New Roman"/>
              </a:rPr>
              <a:t>En otro ejemplo, fijando </a:t>
            </a:r>
            <a:r>
              <a:rPr sz="2400" i="1" dirty="0" smtClean="0">
                <a:latin typeface="+mj-lt"/>
                <a:cs typeface="Times New Roman"/>
              </a:rPr>
              <a:t>25</a:t>
            </a:r>
            <a:r>
              <a:rPr lang="es-ES" sz="2400" i="1" dirty="0" smtClean="0">
                <a:latin typeface="+mj-lt"/>
                <a:cs typeface="Times New Roman"/>
              </a:rPr>
              <a:t> </a:t>
            </a:r>
            <a:r>
              <a:rPr sz="2400" dirty="0" err="1" smtClean="0">
                <a:latin typeface="+mj-lt"/>
                <a:cs typeface="Times New Roman"/>
              </a:rPr>
              <a:t>obs</a:t>
            </a:r>
            <a:r>
              <a:rPr lang="es-ES" sz="2400" dirty="0" err="1" smtClean="0">
                <a:latin typeface="+mj-lt"/>
                <a:cs typeface="Times New Roman"/>
              </a:rPr>
              <a:t>ervaciones</a:t>
            </a:r>
            <a:r>
              <a:rPr lang="es-ES" sz="2400" dirty="0">
                <a:latin typeface="+mj-lt"/>
                <a:cs typeface="Times New Roman"/>
              </a:rPr>
              <a:t> </a:t>
            </a:r>
            <a:r>
              <a:rPr sz="2400" dirty="0" err="1" smtClean="0">
                <a:latin typeface="+mj-lt"/>
                <a:cs typeface="Times New Roman"/>
              </a:rPr>
              <a:t>po</a:t>
            </a:r>
            <a:r>
              <a:rPr lang="es-ES" sz="2400" dirty="0" smtClean="0">
                <a:latin typeface="+mj-lt"/>
                <a:cs typeface="Times New Roman"/>
              </a:rPr>
              <a:t>r </a:t>
            </a:r>
            <a:r>
              <a:rPr sz="2400" spc="-5" dirty="0" err="1" smtClean="0">
                <a:latin typeface="+mj-lt"/>
                <a:cs typeface="Times New Roman"/>
              </a:rPr>
              <a:t>parámetro</a:t>
            </a:r>
            <a:r>
              <a:rPr lang="es-ES" sz="2400" spc="-5" dirty="0" smtClean="0">
                <a:latin typeface="+mj-lt"/>
                <a:cs typeface="Times New Roman"/>
              </a:rPr>
              <a:t> con </a:t>
            </a:r>
            <a:r>
              <a:rPr lang="es-ES" sz="2400" i="1" spc="-5" dirty="0" smtClean="0">
                <a:latin typeface="+mj-lt"/>
                <a:cs typeface="Times New Roman"/>
              </a:rPr>
              <a:t>k=2,</a:t>
            </a:r>
            <a:r>
              <a:rPr sz="2400" spc="-5" dirty="0" smtClean="0">
                <a:latin typeface="+mj-lt"/>
                <a:cs typeface="Times New Roman"/>
              </a:rPr>
              <a:t> </a:t>
            </a:r>
            <a:r>
              <a:rPr sz="2400" i="1" dirty="0" smtClean="0">
                <a:latin typeface="+mj-lt"/>
                <a:cs typeface="Times New Roman"/>
              </a:rPr>
              <a:t>h=10</a:t>
            </a:r>
            <a:endParaRPr sz="2400" dirty="0">
              <a:latin typeface="+mj-lt"/>
              <a:cs typeface="Times New Roman"/>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6963" y="322580"/>
            <a:ext cx="10105137" cy="2215415"/>
          </a:xfrm>
          <a:prstGeom prst="rect">
            <a:avLst/>
          </a:prstGeom>
        </p:spPr>
        <p:txBody>
          <a:bodyPr vert="horz" wrap="square" lIns="0" tIns="36830" rIns="0" bIns="0" rtlCol="0">
            <a:spAutoFit/>
          </a:bodyPr>
          <a:lstStyle/>
          <a:p>
            <a:pPr marL="12700" marR="5080" algn="just">
              <a:lnSpc>
                <a:spcPts val="2760"/>
              </a:lnSpc>
              <a:spcBef>
                <a:spcPts val="290"/>
              </a:spcBef>
            </a:pPr>
            <a:r>
              <a:rPr sz="2000" spc="-5" dirty="0">
                <a:latin typeface="Times New Roman"/>
                <a:cs typeface="Times New Roman"/>
              </a:rPr>
              <a:t>Se </a:t>
            </a:r>
            <a:r>
              <a:rPr sz="2000" dirty="0">
                <a:latin typeface="Times New Roman"/>
                <a:cs typeface="Times New Roman"/>
              </a:rPr>
              <a:t>puede ir </a:t>
            </a:r>
            <a:r>
              <a:rPr sz="2000" spc="-5" dirty="0">
                <a:latin typeface="Times New Roman"/>
                <a:cs typeface="Times New Roman"/>
              </a:rPr>
              <a:t>cambiando</a:t>
            </a:r>
            <a:r>
              <a:rPr sz="2000" spc="5" dirty="0">
                <a:latin typeface="Times New Roman"/>
                <a:cs typeface="Times New Roman"/>
              </a:rPr>
              <a:t> </a:t>
            </a:r>
            <a:r>
              <a:rPr sz="2000" spc="-5" dirty="0">
                <a:latin typeface="Times New Roman"/>
                <a:cs typeface="Times New Roman"/>
              </a:rPr>
              <a:t>manualmente</a:t>
            </a:r>
            <a:r>
              <a:rPr sz="2000" dirty="0">
                <a:latin typeface="Times New Roman"/>
                <a:cs typeface="Times New Roman"/>
              </a:rPr>
              <a:t> en el </a:t>
            </a:r>
            <a:r>
              <a:rPr sz="2000" spc="-5" dirty="0">
                <a:latin typeface="Times New Roman"/>
                <a:cs typeface="Times New Roman"/>
              </a:rPr>
              <a:t>programa</a:t>
            </a:r>
            <a:r>
              <a:rPr sz="2000" dirty="0">
                <a:latin typeface="Times New Roman"/>
                <a:cs typeface="Times New Roman"/>
              </a:rPr>
              <a:t> básico el</a:t>
            </a:r>
            <a:r>
              <a:rPr sz="2000" spc="5" dirty="0">
                <a:latin typeface="Times New Roman"/>
                <a:cs typeface="Times New Roman"/>
              </a:rPr>
              <a:t> </a:t>
            </a:r>
            <a:r>
              <a:rPr sz="2000" spc="-5" dirty="0">
                <a:latin typeface="Times New Roman"/>
                <a:cs typeface="Times New Roman"/>
              </a:rPr>
              <a:t>número</a:t>
            </a:r>
            <a:r>
              <a:rPr sz="2000" dirty="0">
                <a:latin typeface="Times New Roman"/>
                <a:cs typeface="Times New Roman"/>
              </a:rPr>
              <a:t> de</a:t>
            </a:r>
            <a:r>
              <a:rPr sz="2000" spc="5" dirty="0">
                <a:latin typeface="Times New Roman"/>
                <a:cs typeface="Times New Roman"/>
              </a:rPr>
              <a:t> </a:t>
            </a:r>
            <a:r>
              <a:rPr sz="2000" dirty="0">
                <a:latin typeface="Times New Roman"/>
                <a:cs typeface="Times New Roman"/>
              </a:rPr>
              <a:t>nodos, </a:t>
            </a:r>
            <a:r>
              <a:rPr sz="2000" spc="-585" dirty="0">
                <a:latin typeface="Times New Roman"/>
                <a:cs typeface="Times New Roman"/>
              </a:rPr>
              <a:t> </a:t>
            </a:r>
            <a:r>
              <a:rPr sz="2000" dirty="0">
                <a:latin typeface="Times New Roman"/>
                <a:cs typeface="Times New Roman"/>
              </a:rPr>
              <a:t>pero</a:t>
            </a:r>
            <a:r>
              <a:rPr sz="2000" spc="-5" dirty="0">
                <a:latin typeface="Times New Roman"/>
                <a:cs typeface="Times New Roman"/>
              </a:rPr>
              <a:t> técnicamente</a:t>
            </a:r>
            <a:r>
              <a:rPr sz="2000" dirty="0">
                <a:latin typeface="Times New Roman"/>
                <a:cs typeface="Times New Roman"/>
              </a:rPr>
              <a:t> lo</a:t>
            </a:r>
            <a:r>
              <a:rPr sz="2000" spc="5" dirty="0">
                <a:latin typeface="Times New Roman"/>
                <a:cs typeface="Times New Roman"/>
              </a:rPr>
              <a:t> </a:t>
            </a:r>
            <a:r>
              <a:rPr sz="2000" spc="-5" dirty="0">
                <a:latin typeface="Times New Roman"/>
                <a:cs typeface="Times New Roman"/>
              </a:rPr>
              <a:t>mejor</a:t>
            </a:r>
            <a:r>
              <a:rPr sz="2000" spc="5" dirty="0">
                <a:latin typeface="Times New Roman"/>
                <a:cs typeface="Times New Roman"/>
              </a:rPr>
              <a:t> </a:t>
            </a:r>
            <a:r>
              <a:rPr sz="2000" dirty="0">
                <a:latin typeface="Times New Roman"/>
                <a:cs typeface="Times New Roman"/>
              </a:rPr>
              <a:t>es </a:t>
            </a:r>
            <a:r>
              <a:rPr sz="2000" spc="-5" dirty="0">
                <a:latin typeface="Times New Roman"/>
                <a:cs typeface="Times New Roman"/>
              </a:rPr>
              <a:t>programar</a:t>
            </a:r>
            <a:r>
              <a:rPr sz="2000" spc="5" dirty="0">
                <a:latin typeface="Times New Roman"/>
                <a:cs typeface="Times New Roman"/>
              </a:rPr>
              <a:t> </a:t>
            </a:r>
            <a:r>
              <a:rPr sz="2000" dirty="0">
                <a:latin typeface="Times New Roman"/>
                <a:cs typeface="Times New Roman"/>
              </a:rPr>
              <a:t>un </a:t>
            </a:r>
            <a:r>
              <a:rPr sz="2000" dirty="0" err="1">
                <a:latin typeface="Times New Roman"/>
                <a:cs typeface="Times New Roman"/>
              </a:rPr>
              <a:t>bucle</a:t>
            </a:r>
            <a:r>
              <a:rPr sz="2000" spc="35" dirty="0">
                <a:latin typeface="Times New Roman"/>
                <a:cs typeface="Times New Roman"/>
              </a:rPr>
              <a:t> </a:t>
            </a:r>
            <a:r>
              <a:rPr sz="2000" dirty="0" smtClean="0">
                <a:latin typeface="Times New Roman"/>
                <a:cs typeface="Times New Roman"/>
              </a:rPr>
              <a:t>(</a:t>
            </a:r>
            <a:r>
              <a:rPr lang="es-ES" sz="2000" dirty="0" smtClean="0">
                <a:latin typeface="Times New Roman"/>
                <a:cs typeface="Times New Roman"/>
              </a:rPr>
              <a:t>o similar)</a:t>
            </a:r>
            <a:endParaRPr sz="2000" dirty="0">
              <a:latin typeface="Times New Roman"/>
              <a:cs typeface="Times New Roman"/>
            </a:endParaRPr>
          </a:p>
          <a:p>
            <a:pPr algn="just">
              <a:lnSpc>
                <a:spcPct val="100000"/>
              </a:lnSpc>
              <a:spcBef>
                <a:spcPts val="35"/>
              </a:spcBef>
            </a:pPr>
            <a:endParaRPr sz="2000" dirty="0">
              <a:latin typeface="Times New Roman"/>
              <a:cs typeface="Times New Roman"/>
            </a:endParaRPr>
          </a:p>
          <a:p>
            <a:pPr marL="12700" marR="503555" algn="just">
              <a:lnSpc>
                <a:spcPct val="96100"/>
              </a:lnSpc>
              <a:spcBef>
                <a:spcPts val="5"/>
              </a:spcBef>
            </a:pPr>
            <a:r>
              <a:rPr sz="2000" spc="-5" dirty="0">
                <a:latin typeface="Times New Roman"/>
                <a:cs typeface="Times New Roman"/>
              </a:rPr>
              <a:t>Tomamos</a:t>
            </a:r>
            <a:r>
              <a:rPr sz="2000" dirty="0">
                <a:latin typeface="Times New Roman"/>
                <a:cs typeface="Times New Roman"/>
              </a:rPr>
              <a:t> </a:t>
            </a:r>
            <a:r>
              <a:rPr sz="2000" spc="-5" dirty="0">
                <a:latin typeface="Times New Roman"/>
                <a:cs typeface="Times New Roman"/>
              </a:rPr>
              <a:t>como</a:t>
            </a:r>
            <a:r>
              <a:rPr sz="2000" dirty="0">
                <a:latin typeface="Times New Roman"/>
                <a:cs typeface="Times New Roman"/>
              </a:rPr>
              <a:t> referencia el bucle </a:t>
            </a:r>
            <a:r>
              <a:rPr sz="2000" spc="-5" dirty="0">
                <a:latin typeface="Times New Roman"/>
                <a:cs typeface="Times New Roman"/>
              </a:rPr>
              <a:t>sobre </a:t>
            </a:r>
            <a:r>
              <a:rPr sz="2000" dirty="0">
                <a:latin typeface="Times New Roman"/>
                <a:cs typeface="Times New Roman"/>
              </a:rPr>
              <a:t>la</a:t>
            </a:r>
            <a:r>
              <a:rPr sz="2000" spc="-10" dirty="0">
                <a:latin typeface="Times New Roman"/>
                <a:cs typeface="Times New Roman"/>
              </a:rPr>
              <a:t> </a:t>
            </a:r>
            <a:r>
              <a:rPr sz="2000" dirty="0" err="1">
                <a:latin typeface="Times New Roman"/>
                <a:cs typeface="Times New Roman"/>
              </a:rPr>
              <a:t>semilla</a:t>
            </a:r>
            <a:r>
              <a:rPr sz="2000" dirty="0">
                <a:latin typeface="Times New Roman"/>
                <a:cs typeface="Times New Roman"/>
              </a:rPr>
              <a:t> </a:t>
            </a:r>
            <a:r>
              <a:rPr sz="2000" i="1" spc="-5" dirty="0" smtClean="0">
                <a:latin typeface="Times New Roman"/>
                <a:cs typeface="Times New Roman"/>
              </a:rPr>
              <a:t>train-test</a:t>
            </a:r>
            <a:r>
              <a:rPr sz="2000" dirty="0" smtClean="0">
                <a:latin typeface="Times New Roman"/>
                <a:cs typeface="Times New Roman"/>
              </a:rPr>
              <a:t>. </a:t>
            </a:r>
            <a:r>
              <a:rPr sz="2000" spc="-5" dirty="0">
                <a:latin typeface="Times New Roman"/>
                <a:cs typeface="Times New Roman"/>
              </a:rPr>
              <a:t>Se </a:t>
            </a:r>
            <a:r>
              <a:rPr sz="2000" dirty="0">
                <a:latin typeface="Times New Roman"/>
                <a:cs typeface="Times New Roman"/>
              </a:rPr>
              <a:t>hace el </a:t>
            </a:r>
            <a:r>
              <a:rPr sz="2000" spc="-5" dirty="0">
                <a:latin typeface="Times New Roman"/>
                <a:cs typeface="Times New Roman"/>
              </a:rPr>
              <a:t>bucle sobre </a:t>
            </a:r>
            <a:r>
              <a:rPr sz="2000" dirty="0">
                <a:latin typeface="Times New Roman"/>
                <a:cs typeface="Times New Roman"/>
              </a:rPr>
              <a:t>el </a:t>
            </a:r>
            <a:r>
              <a:rPr sz="2000" spc="-5" dirty="0">
                <a:latin typeface="Times New Roman"/>
                <a:cs typeface="Times New Roman"/>
              </a:rPr>
              <a:t>número </a:t>
            </a:r>
            <a:r>
              <a:rPr sz="2000" dirty="0">
                <a:latin typeface="Times New Roman"/>
                <a:cs typeface="Times New Roman"/>
              </a:rPr>
              <a:t>de nodos , pero hay que tener </a:t>
            </a:r>
            <a:r>
              <a:rPr sz="2000" spc="-5" dirty="0">
                <a:latin typeface="Times New Roman"/>
                <a:cs typeface="Times New Roman"/>
              </a:rPr>
              <a:t>en </a:t>
            </a:r>
            <a:r>
              <a:rPr sz="2000" dirty="0">
                <a:latin typeface="Times New Roman"/>
                <a:cs typeface="Times New Roman"/>
              </a:rPr>
              <a:t> cuenta que </a:t>
            </a:r>
            <a:r>
              <a:rPr sz="2000" spc="-10" dirty="0">
                <a:latin typeface="Times New Roman"/>
                <a:cs typeface="Times New Roman"/>
              </a:rPr>
              <a:t>es </a:t>
            </a:r>
            <a:r>
              <a:rPr sz="2000" spc="-5" dirty="0">
                <a:latin typeface="Times New Roman"/>
                <a:cs typeface="Times New Roman"/>
              </a:rPr>
              <a:t>sobre </a:t>
            </a:r>
            <a:r>
              <a:rPr sz="2000" dirty="0">
                <a:latin typeface="Times New Roman"/>
                <a:cs typeface="Times New Roman"/>
              </a:rPr>
              <a:t>una prueba </a:t>
            </a:r>
            <a:r>
              <a:rPr sz="2000" i="1" dirty="0">
                <a:latin typeface="Times New Roman"/>
                <a:cs typeface="Times New Roman"/>
              </a:rPr>
              <a:t>train-test</a:t>
            </a:r>
            <a:r>
              <a:rPr sz="2000" dirty="0">
                <a:latin typeface="Times New Roman"/>
                <a:cs typeface="Times New Roman"/>
              </a:rPr>
              <a:t>, y </a:t>
            </a:r>
            <a:r>
              <a:rPr sz="2000" spc="-5" dirty="0">
                <a:latin typeface="Times New Roman"/>
                <a:cs typeface="Times New Roman"/>
              </a:rPr>
              <a:t>puede </a:t>
            </a:r>
            <a:r>
              <a:rPr sz="2000" dirty="0">
                <a:latin typeface="Times New Roman"/>
                <a:cs typeface="Times New Roman"/>
              </a:rPr>
              <a:t>depender </a:t>
            </a:r>
            <a:r>
              <a:rPr sz="2000" spc="-10" dirty="0">
                <a:latin typeface="Times New Roman"/>
                <a:cs typeface="Times New Roman"/>
              </a:rPr>
              <a:t>de </a:t>
            </a:r>
            <a:r>
              <a:rPr sz="2000" dirty="0">
                <a:latin typeface="Times New Roman"/>
                <a:cs typeface="Times New Roman"/>
              </a:rPr>
              <a:t>esta </a:t>
            </a:r>
            <a:r>
              <a:rPr sz="2000" spc="-5" dirty="0">
                <a:latin typeface="Times New Roman"/>
                <a:cs typeface="Times New Roman"/>
              </a:rPr>
              <a:t>división. </a:t>
            </a:r>
            <a:r>
              <a:rPr sz="2000" spc="-585" dirty="0">
                <a:latin typeface="Times New Roman"/>
                <a:cs typeface="Times New Roman"/>
              </a:rPr>
              <a:t> </a:t>
            </a:r>
            <a:r>
              <a:rPr b="1" spc="-5" dirty="0">
                <a:latin typeface="Times New Roman"/>
                <a:cs typeface="Times New Roman"/>
              </a:rPr>
              <a:t>Semilla train-test </a:t>
            </a:r>
            <a:r>
              <a:rPr b="1" dirty="0">
                <a:latin typeface="Times New Roman"/>
                <a:cs typeface="Times New Roman"/>
              </a:rPr>
              <a:t>12345: 14 </a:t>
            </a:r>
            <a:r>
              <a:rPr b="1" spc="-5" dirty="0">
                <a:latin typeface="Times New Roman"/>
                <a:cs typeface="Times New Roman"/>
              </a:rPr>
              <a:t>nodos </a:t>
            </a:r>
            <a:r>
              <a:rPr b="1" spc="-5" dirty="0" err="1">
                <a:latin typeface="Times New Roman"/>
                <a:cs typeface="Times New Roman"/>
              </a:rPr>
              <a:t>parece</a:t>
            </a:r>
            <a:r>
              <a:rPr b="1" spc="5" dirty="0">
                <a:latin typeface="Times New Roman"/>
                <a:cs typeface="Times New Roman"/>
              </a:rPr>
              <a:t> </a:t>
            </a:r>
            <a:r>
              <a:rPr b="1" spc="-5" dirty="0" err="1" smtClean="0">
                <a:latin typeface="Times New Roman"/>
                <a:cs typeface="Times New Roman"/>
              </a:rPr>
              <a:t>bien</a:t>
            </a:r>
            <a:r>
              <a:rPr lang="es-ES" b="1" spc="-5" dirty="0" smtClean="0">
                <a:latin typeface="Times New Roman"/>
                <a:cs typeface="Times New Roman"/>
              </a:rPr>
              <a:t>.</a:t>
            </a:r>
          </a:p>
          <a:p>
            <a:pPr marL="12700" marR="503555" algn="just">
              <a:lnSpc>
                <a:spcPct val="96100"/>
              </a:lnSpc>
              <a:spcBef>
                <a:spcPts val="5"/>
              </a:spcBef>
            </a:pPr>
            <a:r>
              <a:rPr lang="es-ES" b="1" spc="-5" dirty="0" smtClean="0">
                <a:latin typeface="Times New Roman"/>
                <a:cs typeface="Times New Roman"/>
              </a:rPr>
              <a:t>OJO:</a:t>
            </a:r>
            <a:r>
              <a:rPr lang="es-ES" b="1" spc="-5" dirty="0" smtClean="0">
                <a:solidFill>
                  <a:srgbClr val="FF0000"/>
                </a:solidFill>
                <a:latin typeface="Times New Roman"/>
                <a:cs typeface="Times New Roman"/>
              </a:rPr>
              <a:t> </a:t>
            </a:r>
            <a:r>
              <a:rPr lang="es-ES" spc="-5" dirty="0" smtClean="0">
                <a:solidFill>
                  <a:srgbClr val="FF0000"/>
                </a:solidFill>
                <a:latin typeface="Times New Roman"/>
                <a:cs typeface="Times New Roman"/>
              </a:rPr>
              <a:t>el error en datos test siempre está subestimado; al aplicar en datos nuevos será mayor</a:t>
            </a:r>
            <a:endParaRPr dirty="0">
              <a:solidFill>
                <a:srgbClr val="FF0000"/>
              </a:solidFill>
              <a:latin typeface="Times New Roman"/>
              <a:cs typeface="Times New Roman"/>
            </a:endParaRPr>
          </a:p>
        </p:txBody>
      </p:sp>
      <p:pic>
        <p:nvPicPr>
          <p:cNvPr id="3" name="object 3"/>
          <p:cNvPicPr/>
          <p:nvPr/>
        </p:nvPicPr>
        <p:blipFill>
          <a:blip r:embed="rId2" cstate="print"/>
          <a:stretch>
            <a:fillRect/>
          </a:stretch>
        </p:blipFill>
        <p:spPr>
          <a:xfrm>
            <a:off x="1993900" y="2734926"/>
            <a:ext cx="6066155" cy="4209177"/>
          </a:xfrm>
          <a:prstGeom prst="rect">
            <a:avLst/>
          </a:prstGeom>
        </p:spPr>
      </p:pic>
      <p:sp>
        <p:nvSpPr>
          <p:cNvPr id="4" name="CuadroTexto 3"/>
          <p:cNvSpPr txBox="1"/>
          <p:nvPr/>
        </p:nvSpPr>
        <p:spPr>
          <a:xfrm>
            <a:off x="7480300" y="6372225"/>
            <a:ext cx="2208425" cy="369332"/>
          </a:xfrm>
          <a:prstGeom prst="rect">
            <a:avLst/>
          </a:prstGeom>
          <a:noFill/>
        </p:spPr>
        <p:txBody>
          <a:bodyPr wrap="none" rtlCol="0">
            <a:spAutoFit/>
          </a:bodyPr>
          <a:lstStyle/>
          <a:p>
            <a:r>
              <a:rPr lang="es-ES" dirty="0" smtClean="0"/>
              <a:t>Error de cada modelo</a:t>
            </a:r>
            <a:endParaRPr lang="es-ES" dirty="0"/>
          </a:p>
        </p:txBody>
      </p:sp>
      <p:sp>
        <p:nvSpPr>
          <p:cNvPr id="5" name="Elipse 4"/>
          <p:cNvSpPr/>
          <p:nvPr/>
        </p:nvSpPr>
        <p:spPr>
          <a:xfrm>
            <a:off x="7099300" y="6741557"/>
            <a:ext cx="1219200" cy="316468"/>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4175" y="315689"/>
            <a:ext cx="442912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0000"/>
                </a:solidFill>
                <a:latin typeface="Times New Roman"/>
                <a:cs typeface="Times New Roman"/>
              </a:rPr>
              <a:t>Semilla</a:t>
            </a:r>
            <a:r>
              <a:rPr sz="2400" b="1" spc="-15" dirty="0">
                <a:solidFill>
                  <a:srgbClr val="FF0000"/>
                </a:solidFill>
                <a:latin typeface="Times New Roman"/>
                <a:cs typeface="Times New Roman"/>
              </a:rPr>
              <a:t> </a:t>
            </a:r>
            <a:r>
              <a:rPr sz="2400" b="1" spc="-5" dirty="0">
                <a:solidFill>
                  <a:srgbClr val="FF0000"/>
                </a:solidFill>
                <a:latin typeface="Times New Roman"/>
                <a:cs typeface="Times New Roman"/>
              </a:rPr>
              <a:t>train-test</a:t>
            </a:r>
            <a:r>
              <a:rPr sz="2400" b="1" spc="-15" dirty="0">
                <a:solidFill>
                  <a:srgbClr val="FF0000"/>
                </a:solidFill>
                <a:latin typeface="Times New Roman"/>
                <a:cs typeface="Times New Roman"/>
              </a:rPr>
              <a:t> </a:t>
            </a:r>
            <a:r>
              <a:rPr sz="2400" b="1" dirty="0">
                <a:solidFill>
                  <a:srgbClr val="FF0000"/>
                </a:solidFill>
                <a:latin typeface="Times New Roman"/>
                <a:cs typeface="Times New Roman"/>
              </a:rPr>
              <a:t>12346:</a:t>
            </a:r>
            <a:r>
              <a:rPr sz="2400" b="1" spc="-10" dirty="0">
                <a:solidFill>
                  <a:srgbClr val="FF0000"/>
                </a:solidFill>
                <a:latin typeface="Times New Roman"/>
                <a:cs typeface="Times New Roman"/>
              </a:rPr>
              <a:t> </a:t>
            </a:r>
            <a:r>
              <a:rPr sz="2400" b="1" dirty="0">
                <a:solidFill>
                  <a:srgbClr val="FF0000"/>
                </a:solidFill>
                <a:latin typeface="Times New Roman"/>
                <a:cs typeface="Times New Roman"/>
              </a:rPr>
              <a:t>19</a:t>
            </a:r>
            <a:r>
              <a:rPr sz="2400" b="1" spc="-10" dirty="0">
                <a:solidFill>
                  <a:srgbClr val="FF0000"/>
                </a:solidFill>
                <a:latin typeface="Times New Roman"/>
                <a:cs typeface="Times New Roman"/>
              </a:rPr>
              <a:t> </a:t>
            </a:r>
            <a:r>
              <a:rPr sz="2400" b="1" spc="-5" dirty="0">
                <a:solidFill>
                  <a:srgbClr val="FF0000"/>
                </a:solidFill>
                <a:latin typeface="Times New Roman"/>
                <a:cs typeface="Times New Roman"/>
              </a:rPr>
              <a:t>nodos</a:t>
            </a:r>
            <a:endParaRPr sz="2400">
              <a:latin typeface="Times New Roman"/>
              <a:cs typeface="Times New Roman"/>
            </a:endParaRPr>
          </a:p>
        </p:txBody>
      </p:sp>
      <p:sp>
        <p:nvSpPr>
          <p:cNvPr id="3" name="object 3"/>
          <p:cNvSpPr txBox="1">
            <a:spLocks noGrp="1"/>
          </p:cNvSpPr>
          <p:nvPr>
            <p:ph type="title"/>
          </p:nvPr>
        </p:nvSpPr>
        <p:spPr>
          <a:xfrm>
            <a:off x="5293233" y="342265"/>
            <a:ext cx="4428490" cy="391160"/>
          </a:xfrm>
          <a:prstGeom prst="rect">
            <a:avLst/>
          </a:prstGeom>
        </p:spPr>
        <p:txBody>
          <a:bodyPr vert="horz" wrap="square" lIns="0" tIns="12700" rIns="0" bIns="0" rtlCol="0">
            <a:spAutoFit/>
          </a:bodyPr>
          <a:lstStyle/>
          <a:p>
            <a:pPr marL="12700">
              <a:lnSpc>
                <a:spcPct val="100000"/>
              </a:lnSpc>
              <a:spcBef>
                <a:spcPts val="100"/>
              </a:spcBef>
            </a:pPr>
            <a:r>
              <a:rPr b="1" spc="-5" dirty="0">
                <a:latin typeface="Times New Roman"/>
                <a:cs typeface="Times New Roman"/>
              </a:rPr>
              <a:t>Semilla</a:t>
            </a:r>
            <a:r>
              <a:rPr b="1" spc="-15" dirty="0">
                <a:latin typeface="Times New Roman"/>
                <a:cs typeface="Times New Roman"/>
              </a:rPr>
              <a:t> </a:t>
            </a:r>
            <a:r>
              <a:rPr b="1" spc="-5" dirty="0">
                <a:latin typeface="Times New Roman"/>
                <a:cs typeface="Times New Roman"/>
              </a:rPr>
              <a:t>train-test</a:t>
            </a:r>
            <a:r>
              <a:rPr b="1" spc="-15" dirty="0">
                <a:latin typeface="Times New Roman"/>
                <a:cs typeface="Times New Roman"/>
              </a:rPr>
              <a:t> </a:t>
            </a:r>
            <a:r>
              <a:rPr b="1" dirty="0">
                <a:latin typeface="Times New Roman"/>
                <a:cs typeface="Times New Roman"/>
              </a:rPr>
              <a:t>12347:</a:t>
            </a:r>
            <a:r>
              <a:rPr b="1" spc="-10" dirty="0">
                <a:latin typeface="Times New Roman"/>
                <a:cs typeface="Times New Roman"/>
              </a:rPr>
              <a:t> </a:t>
            </a:r>
            <a:r>
              <a:rPr b="1" dirty="0">
                <a:latin typeface="Times New Roman"/>
                <a:cs typeface="Times New Roman"/>
              </a:rPr>
              <a:t>31</a:t>
            </a:r>
            <a:r>
              <a:rPr b="1" spc="-15" dirty="0">
                <a:latin typeface="Times New Roman"/>
                <a:cs typeface="Times New Roman"/>
              </a:rPr>
              <a:t> </a:t>
            </a:r>
            <a:r>
              <a:rPr b="1" spc="-5" dirty="0">
                <a:latin typeface="Times New Roman"/>
                <a:cs typeface="Times New Roman"/>
              </a:rPr>
              <a:t>nodos</a:t>
            </a:r>
          </a:p>
        </p:txBody>
      </p:sp>
      <p:sp>
        <p:nvSpPr>
          <p:cNvPr id="4" name="object 4"/>
          <p:cNvSpPr txBox="1"/>
          <p:nvPr/>
        </p:nvSpPr>
        <p:spPr>
          <a:xfrm>
            <a:off x="622300" y="4182236"/>
            <a:ext cx="9601199" cy="2915925"/>
          </a:xfrm>
          <a:prstGeom prst="rect">
            <a:avLst/>
          </a:prstGeom>
        </p:spPr>
        <p:txBody>
          <a:bodyPr vert="horz" wrap="square" lIns="0" tIns="29209" rIns="0" bIns="0" rtlCol="0">
            <a:spAutoFit/>
          </a:bodyPr>
          <a:lstStyle/>
          <a:p>
            <a:pPr marL="12700" marR="681990" algn="just">
              <a:lnSpc>
                <a:spcPct val="95400"/>
              </a:lnSpc>
              <a:spcBef>
                <a:spcPts val="229"/>
              </a:spcBef>
            </a:pPr>
            <a:r>
              <a:rPr sz="2400" b="1" spc="-5" dirty="0">
                <a:latin typeface="Times New Roman"/>
                <a:cs typeface="Times New Roman"/>
              </a:rPr>
              <a:t>Obviamente hay variabilidad dependiendo del </a:t>
            </a:r>
            <a:r>
              <a:rPr sz="2400" b="1" dirty="0">
                <a:latin typeface="Times New Roman"/>
                <a:cs typeface="Times New Roman"/>
              </a:rPr>
              <a:t>reparto </a:t>
            </a:r>
            <a:r>
              <a:rPr sz="2400" b="1" i="1" dirty="0">
                <a:latin typeface="Times New Roman"/>
                <a:cs typeface="Times New Roman"/>
              </a:rPr>
              <a:t>train-test</a:t>
            </a:r>
            <a:r>
              <a:rPr sz="2400" b="1" dirty="0">
                <a:latin typeface="Times New Roman"/>
                <a:cs typeface="Times New Roman"/>
              </a:rPr>
              <a:t> </a:t>
            </a:r>
            <a:r>
              <a:rPr sz="2400" b="1" spc="-585" dirty="0">
                <a:latin typeface="Times New Roman"/>
                <a:cs typeface="Times New Roman"/>
              </a:rPr>
              <a:t> </a:t>
            </a:r>
            <a:r>
              <a:rPr sz="2400" spc="-5" dirty="0">
                <a:latin typeface="Times New Roman"/>
                <a:cs typeface="Times New Roman"/>
              </a:rPr>
              <a:t>Parece </a:t>
            </a:r>
            <a:r>
              <a:rPr sz="2400" dirty="0">
                <a:latin typeface="Times New Roman"/>
                <a:cs typeface="Times New Roman"/>
              </a:rPr>
              <a:t>que </a:t>
            </a:r>
            <a:r>
              <a:rPr sz="2400" spc="-5" dirty="0">
                <a:latin typeface="Times New Roman"/>
                <a:cs typeface="Times New Roman"/>
              </a:rPr>
              <a:t>necesita </a:t>
            </a:r>
            <a:r>
              <a:rPr sz="2400" dirty="0">
                <a:latin typeface="Times New Roman"/>
                <a:cs typeface="Times New Roman"/>
              </a:rPr>
              <a:t>un </a:t>
            </a:r>
            <a:r>
              <a:rPr sz="2400" spc="-5" dirty="0">
                <a:latin typeface="Times New Roman"/>
                <a:cs typeface="Times New Roman"/>
              </a:rPr>
              <a:t>cierto número </a:t>
            </a:r>
            <a:r>
              <a:rPr sz="2400" dirty="0">
                <a:latin typeface="Times New Roman"/>
                <a:cs typeface="Times New Roman"/>
              </a:rPr>
              <a:t>de nodos para ajustar la </a:t>
            </a:r>
            <a:r>
              <a:rPr sz="2400" spc="-5" dirty="0">
                <a:latin typeface="Times New Roman"/>
                <a:cs typeface="Times New Roman"/>
              </a:rPr>
              <a:t>curva. </a:t>
            </a:r>
            <a:r>
              <a:rPr sz="2400" spc="-585" dirty="0">
                <a:latin typeface="Times New Roman"/>
                <a:cs typeface="Times New Roman"/>
              </a:rPr>
              <a:t> </a:t>
            </a:r>
            <a:r>
              <a:rPr sz="2400" spc="-5" dirty="0">
                <a:latin typeface="Times New Roman"/>
                <a:cs typeface="Times New Roman"/>
              </a:rPr>
              <a:t>Normalmente </a:t>
            </a:r>
            <a:r>
              <a:rPr sz="2400" dirty="0">
                <a:latin typeface="Times New Roman"/>
                <a:cs typeface="Times New Roman"/>
              </a:rPr>
              <a:t>nos </a:t>
            </a:r>
            <a:r>
              <a:rPr sz="2400" spc="-5" dirty="0">
                <a:latin typeface="Times New Roman"/>
                <a:cs typeface="Times New Roman"/>
              </a:rPr>
              <a:t>quedaríamos</a:t>
            </a:r>
            <a:r>
              <a:rPr sz="2400" dirty="0">
                <a:latin typeface="Times New Roman"/>
                <a:cs typeface="Times New Roman"/>
              </a:rPr>
              <a:t> con </a:t>
            </a:r>
            <a:r>
              <a:rPr sz="2400" spc="5" dirty="0">
                <a:latin typeface="Times New Roman"/>
                <a:cs typeface="Times New Roman"/>
              </a:rPr>
              <a:t>12-13</a:t>
            </a:r>
            <a:r>
              <a:rPr sz="2400" spc="-5" dirty="0">
                <a:latin typeface="Times New Roman"/>
                <a:cs typeface="Times New Roman"/>
              </a:rPr>
              <a:t> </a:t>
            </a:r>
            <a:r>
              <a:rPr sz="2400" dirty="0">
                <a:latin typeface="Times New Roman"/>
                <a:cs typeface="Times New Roman"/>
              </a:rPr>
              <a:t>nodos </a:t>
            </a:r>
            <a:r>
              <a:rPr sz="2400" spc="-5" dirty="0">
                <a:latin typeface="Times New Roman"/>
                <a:cs typeface="Times New Roman"/>
              </a:rPr>
              <a:t>como</a:t>
            </a:r>
            <a:r>
              <a:rPr sz="2400" spc="5" dirty="0">
                <a:latin typeface="Times New Roman"/>
                <a:cs typeface="Times New Roman"/>
              </a:rPr>
              <a:t> </a:t>
            </a:r>
            <a:r>
              <a:rPr sz="2400" dirty="0">
                <a:latin typeface="Times New Roman"/>
                <a:cs typeface="Times New Roman"/>
              </a:rPr>
              <a:t>mucho.</a:t>
            </a:r>
          </a:p>
          <a:p>
            <a:pPr marL="12700" marR="5080" algn="just">
              <a:lnSpc>
                <a:spcPts val="2760"/>
              </a:lnSpc>
              <a:spcBef>
                <a:spcPts val="75"/>
              </a:spcBef>
            </a:pPr>
            <a:r>
              <a:rPr sz="2400" dirty="0">
                <a:latin typeface="Times New Roman"/>
                <a:cs typeface="Times New Roman"/>
              </a:rPr>
              <a:t>Con estos </a:t>
            </a:r>
            <a:r>
              <a:rPr sz="2400" spc="-5" dirty="0">
                <a:latin typeface="Times New Roman"/>
                <a:cs typeface="Times New Roman"/>
              </a:rPr>
              <a:t>nodos se mejorará mucho </a:t>
            </a:r>
            <a:r>
              <a:rPr sz="2400" dirty="0">
                <a:latin typeface="Times New Roman"/>
                <a:cs typeface="Times New Roman"/>
              </a:rPr>
              <a:t>a la </a:t>
            </a:r>
            <a:r>
              <a:rPr sz="2400" spc="-5" dirty="0">
                <a:latin typeface="Times New Roman"/>
                <a:cs typeface="Times New Roman"/>
              </a:rPr>
              <a:t>regresión, sin riesgos </a:t>
            </a:r>
            <a:r>
              <a:rPr sz="2400" dirty="0">
                <a:latin typeface="Times New Roman"/>
                <a:cs typeface="Times New Roman"/>
              </a:rPr>
              <a:t>de modelos </a:t>
            </a:r>
            <a:r>
              <a:rPr sz="2400" spc="-585" dirty="0">
                <a:latin typeface="Times New Roman"/>
                <a:cs typeface="Times New Roman"/>
              </a:rPr>
              <a:t> </a:t>
            </a:r>
            <a:r>
              <a:rPr sz="2400" spc="-5" dirty="0">
                <a:latin typeface="Times New Roman"/>
                <a:cs typeface="Times New Roman"/>
              </a:rPr>
              <a:t>exageradamente</a:t>
            </a:r>
            <a:r>
              <a:rPr sz="2400" dirty="0">
                <a:latin typeface="Times New Roman"/>
                <a:cs typeface="Times New Roman"/>
              </a:rPr>
              <a:t> </a:t>
            </a:r>
            <a:r>
              <a:rPr sz="2400" spc="-5" dirty="0" err="1">
                <a:latin typeface="Times New Roman"/>
                <a:cs typeface="Times New Roman"/>
              </a:rPr>
              <a:t>complicados</a:t>
            </a:r>
            <a:r>
              <a:rPr sz="2400" spc="-5" dirty="0" smtClean="0">
                <a:latin typeface="Times New Roman"/>
                <a:cs typeface="Times New Roman"/>
              </a:rPr>
              <a:t>.</a:t>
            </a:r>
            <a:endParaRPr lang="es-ES" sz="2400" spc="-5" dirty="0" smtClean="0">
              <a:latin typeface="Times New Roman"/>
              <a:cs typeface="Times New Roman"/>
            </a:endParaRPr>
          </a:p>
          <a:p>
            <a:pPr marL="12700" marR="5080" algn="just">
              <a:lnSpc>
                <a:spcPts val="2760"/>
              </a:lnSpc>
              <a:spcBef>
                <a:spcPts val="75"/>
              </a:spcBef>
            </a:pPr>
            <a:endParaRPr lang="es-ES" sz="2400" spc="-5" dirty="0" smtClean="0">
              <a:latin typeface="Times New Roman"/>
              <a:cs typeface="Times New Roman"/>
            </a:endParaRPr>
          </a:p>
          <a:p>
            <a:pPr marL="12700" marR="5080" algn="just">
              <a:lnSpc>
                <a:spcPts val="2760"/>
              </a:lnSpc>
              <a:spcBef>
                <a:spcPts val="75"/>
              </a:spcBef>
            </a:pPr>
            <a:r>
              <a:rPr lang="es-ES" sz="2400" b="1" spc="-5" dirty="0" smtClean="0">
                <a:solidFill>
                  <a:srgbClr val="FF0000"/>
                </a:solidFill>
                <a:latin typeface="Times New Roman"/>
                <a:cs typeface="Times New Roman"/>
              </a:rPr>
              <a:t>NUNCA HAY UN MODELO ÓPTIMO</a:t>
            </a:r>
            <a:r>
              <a:rPr lang="es-ES" sz="2400" b="1" spc="-5" dirty="0" smtClean="0">
                <a:latin typeface="Times New Roman"/>
                <a:cs typeface="Times New Roman"/>
              </a:rPr>
              <a:t>. </a:t>
            </a:r>
            <a:r>
              <a:rPr lang="es-ES" sz="2400" spc="-5" dirty="0" smtClean="0">
                <a:latin typeface="Times New Roman"/>
                <a:cs typeface="Times New Roman"/>
              </a:rPr>
              <a:t>Prueba-error, validación cruzada y elegir un modelo bueno con poca variabilidad.</a:t>
            </a:r>
            <a:endParaRPr sz="2400" dirty="0">
              <a:latin typeface="Times New Roman"/>
              <a:cs typeface="Times New Roman"/>
            </a:endParaRPr>
          </a:p>
        </p:txBody>
      </p:sp>
      <p:pic>
        <p:nvPicPr>
          <p:cNvPr id="5" name="object 5"/>
          <p:cNvPicPr/>
          <p:nvPr/>
        </p:nvPicPr>
        <p:blipFill>
          <a:blip r:embed="rId2" cstate="print"/>
          <a:stretch>
            <a:fillRect/>
          </a:stretch>
        </p:blipFill>
        <p:spPr>
          <a:xfrm>
            <a:off x="659694" y="1084307"/>
            <a:ext cx="4001206" cy="3007378"/>
          </a:xfrm>
          <a:prstGeom prst="rect">
            <a:avLst/>
          </a:prstGeom>
        </p:spPr>
      </p:pic>
      <p:pic>
        <p:nvPicPr>
          <p:cNvPr id="6" name="object 6"/>
          <p:cNvPicPr/>
          <p:nvPr/>
        </p:nvPicPr>
        <p:blipFill>
          <a:blip r:embed="rId3" cstate="print"/>
          <a:stretch>
            <a:fillRect/>
          </a:stretch>
        </p:blipFill>
        <p:spPr>
          <a:xfrm>
            <a:off x="5410200" y="1016727"/>
            <a:ext cx="4267200" cy="3206149"/>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833" y="0"/>
            <a:ext cx="11307233" cy="756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hape 49">
            <a:extLst>
              <a:ext uri="{FF2B5EF4-FFF2-40B4-BE49-F238E27FC236}">
                <a16:creationId xmlns="" xmlns:a16="http://schemas.microsoft.com/office/drawing/2014/main" id="{24A6ABCE-206C-4C33-940C-027B2CD6E148}"/>
              </a:ext>
            </a:extLst>
          </p:cNvPr>
          <p:cNvSpPr txBox="1">
            <a:spLocks/>
          </p:cNvSpPr>
          <p:nvPr/>
        </p:nvSpPr>
        <p:spPr bwMode="auto">
          <a:xfrm>
            <a:off x="1814638" y="3295487"/>
            <a:ext cx="5455812"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3508" kern="0" dirty="0">
                <a:solidFill>
                  <a:srgbClr val="0972CB"/>
                </a:solidFill>
                <a:latin typeface="Oxygen"/>
                <a:ea typeface="Oxygen"/>
                <a:cs typeface="Oxygen"/>
                <a:sym typeface="Oxygen"/>
              </a:rPr>
              <a:t>Machine </a:t>
            </a:r>
            <a:r>
              <a:rPr lang="es-ES" altLang="es-ES" sz="3508" kern="0" dirty="0" err="1">
                <a:solidFill>
                  <a:srgbClr val="0972CB"/>
                </a:solidFill>
                <a:latin typeface="Oxygen"/>
                <a:ea typeface="Oxygen"/>
                <a:cs typeface="Oxygen"/>
                <a:sym typeface="Oxygen"/>
              </a:rPr>
              <a:t>Learning</a:t>
            </a:r>
            <a:endParaRPr lang="es-ES" altLang="es-ES" sz="3508" kern="0" dirty="0">
              <a:solidFill>
                <a:srgbClr val="0972CB"/>
              </a:solidFill>
              <a:latin typeface="Oxygen"/>
              <a:ea typeface="Oxygen"/>
              <a:cs typeface="Oxygen"/>
              <a:sym typeface="Oxygen"/>
            </a:endParaRPr>
          </a:p>
          <a:p>
            <a:pPr marL="300758" indent="-133670" eaLnBrk="1" hangingPunct="1">
              <a:spcBef>
                <a:spcPct val="0"/>
              </a:spcBef>
              <a:buClr>
                <a:srgbClr val="000000"/>
              </a:buClr>
              <a:defRPr/>
            </a:pPr>
            <a:r>
              <a:rPr lang="es-ES" altLang="es-ES" sz="3508" kern="0" dirty="0" smtClean="0">
                <a:solidFill>
                  <a:srgbClr val="0972CB"/>
                </a:solidFill>
                <a:latin typeface="Oxygen"/>
                <a:ea typeface="Oxygen"/>
                <a:cs typeface="Oxygen"/>
                <a:sym typeface="Oxygen"/>
              </a:rPr>
              <a:t>Redes Neuronales</a:t>
            </a:r>
            <a:endParaRPr lang="es-ES" altLang="es-ES" sz="3508" kern="0" dirty="0">
              <a:solidFill>
                <a:srgbClr val="0972CB"/>
              </a:solidFill>
              <a:latin typeface="Oxygen"/>
              <a:ea typeface="Oxygen"/>
              <a:cs typeface="Oxygen"/>
              <a:sym typeface="Oxygen"/>
            </a:endParaRPr>
          </a:p>
        </p:txBody>
      </p:sp>
      <p:sp>
        <p:nvSpPr>
          <p:cNvPr id="6" name="Shape 49">
            <a:extLst>
              <a:ext uri="{FF2B5EF4-FFF2-40B4-BE49-F238E27FC236}">
                <a16:creationId xmlns="" xmlns:a16="http://schemas.microsoft.com/office/drawing/2014/main" id="{3B39229B-4789-4E5F-A863-803DF35813F8}"/>
              </a:ext>
            </a:extLst>
          </p:cNvPr>
          <p:cNvSpPr txBox="1">
            <a:spLocks/>
          </p:cNvSpPr>
          <p:nvPr/>
        </p:nvSpPr>
        <p:spPr bwMode="auto">
          <a:xfrm>
            <a:off x="3027140" y="5126330"/>
            <a:ext cx="3327866"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1403" kern="0" dirty="0">
                <a:solidFill>
                  <a:srgbClr val="0972CB"/>
                </a:solidFill>
                <a:latin typeface="Oxygen"/>
                <a:ea typeface="Oxygen"/>
                <a:cs typeface="Oxygen"/>
                <a:sym typeface="Oxygen"/>
              </a:rPr>
              <a:t>Inmaculada Gutiérrez García-Pardo</a:t>
            </a:r>
          </a:p>
        </p:txBody>
      </p:sp>
      <p:pic>
        <p:nvPicPr>
          <p:cNvPr id="7"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4645" y="1246805"/>
            <a:ext cx="2884990" cy="10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741" y="1134024"/>
            <a:ext cx="1294904" cy="129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9298179"/>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xfrm>
            <a:off x="774700" y="276225"/>
            <a:ext cx="7543800" cy="1120820"/>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lgn="just">
              <a:spcBef>
                <a:spcPts val="100"/>
              </a:spcBef>
            </a:pPr>
            <a:r>
              <a:rPr lang="es-ES" sz="3600" b="1" spc="-5" dirty="0" smtClean="0">
                <a:solidFill>
                  <a:srgbClr val="538DD3"/>
                </a:solidFill>
              </a:rPr>
              <a:t>8</a:t>
            </a:r>
            <a:r>
              <a:rPr lang="es-ES" sz="3600" b="1" kern="0" spc="-5" dirty="0" smtClean="0">
                <a:solidFill>
                  <a:srgbClr val="538DD3"/>
                </a:solidFill>
              </a:rPr>
              <a:t>. </a:t>
            </a:r>
            <a:r>
              <a:rPr lang="es-ES" sz="3600" b="1" spc="-5" dirty="0" smtClean="0">
                <a:solidFill>
                  <a:srgbClr val="538DD3"/>
                </a:solidFill>
              </a:rPr>
              <a:t>Redes neuronales para clasificación binaria y regresión</a:t>
            </a:r>
            <a:endParaRPr lang="es-ES" sz="3600" kern="0" dirty="0"/>
          </a:p>
        </p:txBody>
      </p:sp>
      <p:sp>
        <p:nvSpPr>
          <p:cNvPr id="5" name="CuadroTexto 4"/>
          <p:cNvSpPr txBox="1"/>
          <p:nvPr/>
        </p:nvSpPr>
        <p:spPr>
          <a:xfrm>
            <a:off x="1536700" y="2028825"/>
            <a:ext cx="7772399" cy="1200329"/>
          </a:xfrm>
          <a:prstGeom prst="rect">
            <a:avLst/>
          </a:prstGeom>
          <a:noFill/>
        </p:spPr>
        <p:txBody>
          <a:bodyPr wrap="square" rtlCol="0">
            <a:spAutoFit/>
          </a:bodyPr>
          <a:lstStyle/>
          <a:p>
            <a:r>
              <a:rPr lang="es-ES" dirty="0" smtClean="0"/>
              <a:t>En esta sección se presentan las especificaciones propias de los problemas de predicción más sencillos: clasificación de variable binaria o regresión de variable continua, explicando las peculiaridades de cada uno y las medidas de bondad consideradas.</a:t>
            </a:r>
            <a:endParaRPr lang="es-ES" dirty="0"/>
          </a:p>
        </p:txBody>
      </p:sp>
    </p:spTree>
    <p:extLst>
      <p:ext uri="{BB962C8B-B14F-4D97-AF65-F5344CB8AC3E}">
        <p14:creationId xmlns:p14="http://schemas.microsoft.com/office/powerpoint/2010/main" val="345526187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6100" y="428625"/>
            <a:ext cx="9372600" cy="6385338"/>
          </a:xfrm>
          <a:prstGeom prst="rect">
            <a:avLst/>
          </a:prstGeom>
        </p:spPr>
        <p:txBody>
          <a:bodyPr vert="horz" wrap="square" lIns="0" tIns="12700" rIns="0" bIns="0" rtlCol="0">
            <a:spAutoFit/>
          </a:bodyPr>
          <a:lstStyle/>
          <a:p>
            <a:pPr marL="108585" algn="ctr">
              <a:lnSpc>
                <a:spcPct val="100000"/>
              </a:lnSpc>
              <a:spcBef>
                <a:spcPts val="100"/>
              </a:spcBef>
            </a:pPr>
            <a:r>
              <a:rPr sz="2800" b="1" dirty="0">
                <a:solidFill>
                  <a:schemeClr val="tx2"/>
                </a:solidFill>
                <a:latin typeface="Times New Roman"/>
                <a:cs typeface="Times New Roman"/>
              </a:rPr>
              <a:t>El</a:t>
            </a:r>
            <a:r>
              <a:rPr sz="2800" b="1" spc="-5" dirty="0">
                <a:solidFill>
                  <a:schemeClr val="tx2"/>
                </a:solidFill>
                <a:latin typeface="Times New Roman"/>
                <a:cs typeface="Times New Roman"/>
              </a:rPr>
              <a:t> problema de </a:t>
            </a:r>
            <a:r>
              <a:rPr sz="2800" b="1" dirty="0">
                <a:solidFill>
                  <a:schemeClr val="tx2"/>
                </a:solidFill>
                <a:latin typeface="Times New Roman"/>
                <a:cs typeface="Times New Roman"/>
              </a:rPr>
              <a:t>la</a:t>
            </a:r>
            <a:r>
              <a:rPr sz="2800" b="1" spc="-5" dirty="0">
                <a:solidFill>
                  <a:schemeClr val="tx2"/>
                </a:solidFill>
                <a:latin typeface="Times New Roman"/>
                <a:cs typeface="Times New Roman"/>
              </a:rPr>
              <a:t> clasificación</a:t>
            </a:r>
            <a:r>
              <a:rPr sz="2800" b="1" dirty="0">
                <a:solidFill>
                  <a:schemeClr val="tx2"/>
                </a:solidFill>
                <a:latin typeface="Times New Roman"/>
                <a:cs typeface="Times New Roman"/>
              </a:rPr>
              <a:t> </a:t>
            </a:r>
            <a:r>
              <a:rPr sz="2800" b="1" spc="-5" dirty="0">
                <a:solidFill>
                  <a:schemeClr val="tx2"/>
                </a:solidFill>
                <a:latin typeface="Times New Roman"/>
                <a:cs typeface="Times New Roman"/>
              </a:rPr>
              <a:t>supervisada</a:t>
            </a:r>
            <a:endParaRPr sz="2400" dirty="0">
              <a:solidFill>
                <a:schemeClr val="tx2"/>
              </a:solidFill>
              <a:latin typeface="Times New Roman"/>
              <a:cs typeface="Times New Roman"/>
            </a:endParaRPr>
          </a:p>
          <a:p>
            <a:pPr marL="12700" marR="5080" indent="449580" algn="just">
              <a:lnSpc>
                <a:spcPts val="2760"/>
              </a:lnSpc>
            </a:pPr>
            <a:endParaRPr lang="es-ES" sz="2400" dirty="0">
              <a:latin typeface="Times New Roman"/>
              <a:cs typeface="Times New Roman"/>
            </a:endParaRPr>
          </a:p>
          <a:p>
            <a:pPr marL="12700" marR="5080" indent="449580" algn="just">
              <a:lnSpc>
                <a:spcPts val="2760"/>
              </a:lnSpc>
            </a:pPr>
            <a:r>
              <a:rPr sz="2000" spc="-5" dirty="0" smtClean="0">
                <a:latin typeface="Times New Roman"/>
                <a:cs typeface="Times New Roman"/>
              </a:rPr>
              <a:t>Dado</a:t>
            </a:r>
            <a:r>
              <a:rPr sz="2000" dirty="0" smtClean="0">
                <a:latin typeface="Times New Roman"/>
                <a:cs typeface="Times New Roman"/>
              </a:rPr>
              <a:t> </a:t>
            </a:r>
            <a:r>
              <a:rPr sz="2000" dirty="0">
                <a:latin typeface="Times New Roman"/>
                <a:cs typeface="Times New Roman"/>
              </a:rPr>
              <a:t>un</a:t>
            </a:r>
            <a:r>
              <a:rPr sz="2000" spc="5" dirty="0">
                <a:latin typeface="Times New Roman"/>
                <a:cs typeface="Times New Roman"/>
              </a:rPr>
              <a:t> </a:t>
            </a:r>
            <a:r>
              <a:rPr sz="2000" dirty="0">
                <a:latin typeface="Times New Roman"/>
                <a:cs typeface="Times New Roman"/>
              </a:rPr>
              <a:t>conjunto</a:t>
            </a:r>
            <a:r>
              <a:rPr sz="2000" spc="5" dirty="0">
                <a:latin typeface="Times New Roman"/>
                <a:cs typeface="Times New Roman"/>
              </a:rPr>
              <a:t> </a:t>
            </a:r>
            <a:r>
              <a:rPr sz="2000" dirty="0">
                <a:latin typeface="Times New Roman"/>
                <a:cs typeface="Times New Roman"/>
              </a:rPr>
              <a:t>de</a:t>
            </a:r>
            <a:r>
              <a:rPr sz="2000" spc="5" dirty="0">
                <a:latin typeface="Times New Roman"/>
                <a:cs typeface="Times New Roman"/>
              </a:rPr>
              <a:t> </a:t>
            </a:r>
            <a:r>
              <a:rPr sz="2000" spc="-5" dirty="0">
                <a:latin typeface="Times New Roman"/>
                <a:cs typeface="Times New Roman"/>
              </a:rPr>
              <a:t>variables</a:t>
            </a:r>
            <a:r>
              <a:rPr sz="2000" spc="5" dirty="0">
                <a:latin typeface="Times New Roman"/>
                <a:cs typeface="Times New Roman"/>
              </a:rPr>
              <a:t> </a:t>
            </a:r>
            <a:r>
              <a:rPr sz="2000" spc="-5" dirty="0">
                <a:latin typeface="Times New Roman"/>
                <a:cs typeface="Times New Roman"/>
              </a:rPr>
              <a:t>independientes</a:t>
            </a:r>
            <a:r>
              <a:rPr sz="2000" dirty="0">
                <a:latin typeface="Times New Roman"/>
                <a:cs typeface="Times New Roman"/>
              </a:rPr>
              <a:t> </a:t>
            </a:r>
            <a:r>
              <a:rPr sz="2000" spc="-5" dirty="0">
                <a:latin typeface="Times New Roman"/>
                <a:cs typeface="Times New Roman"/>
              </a:rPr>
              <a:t>X1,…,Xk,</a:t>
            </a:r>
            <a:r>
              <a:rPr sz="2000" spc="5" dirty="0">
                <a:latin typeface="Times New Roman"/>
                <a:cs typeface="Times New Roman"/>
              </a:rPr>
              <a:t> </a:t>
            </a:r>
            <a:r>
              <a:rPr sz="2000" dirty="0">
                <a:latin typeface="Times New Roman"/>
                <a:cs typeface="Times New Roman"/>
              </a:rPr>
              <a:t>plantear</a:t>
            </a:r>
            <a:r>
              <a:rPr sz="2000" spc="5" dirty="0">
                <a:latin typeface="Times New Roman"/>
                <a:cs typeface="Times New Roman"/>
              </a:rPr>
              <a:t> </a:t>
            </a:r>
            <a:r>
              <a:rPr sz="2000" dirty="0">
                <a:latin typeface="Times New Roman"/>
                <a:cs typeface="Times New Roman"/>
              </a:rPr>
              <a:t>un</a:t>
            </a:r>
            <a:r>
              <a:rPr sz="2000" spc="30" dirty="0">
                <a:latin typeface="Times New Roman"/>
                <a:cs typeface="Times New Roman"/>
              </a:rPr>
              <a:t> </a:t>
            </a:r>
            <a:r>
              <a:rPr sz="2000" spc="-5" dirty="0" err="1">
                <a:latin typeface="Times New Roman"/>
                <a:cs typeface="Times New Roman"/>
              </a:rPr>
              <a:t>modelo</a:t>
            </a:r>
            <a:r>
              <a:rPr sz="2000" spc="-5" dirty="0">
                <a:latin typeface="Times New Roman"/>
                <a:cs typeface="Times New Roman"/>
              </a:rPr>
              <a:t> </a:t>
            </a:r>
            <a:r>
              <a:rPr sz="2000" spc="-585" dirty="0">
                <a:latin typeface="Times New Roman"/>
                <a:cs typeface="Times New Roman"/>
              </a:rPr>
              <a:t> </a:t>
            </a:r>
            <a:r>
              <a:rPr lang="es-ES" sz="2000" spc="-585" dirty="0">
                <a:latin typeface="Times New Roman"/>
                <a:cs typeface="Times New Roman"/>
              </a:rPr>
              <a:t> </a:t>
            </a:r>
            <a:r>
              <a:rPr sz="2000" dirty="0" err="1" smtClean="0">
                <a:latin typeface="Times New Roman"/>
                <a:cs typeface="Times New Roman"/>
              </a:rPr>
              <a:t>predictivo</a:t>
            </a:r>
            <a:r>
              <a:rPr sz="2000" dirty="0" smtClean="0">
                <a:latin typeface="Times New Roman"/>
                <a:cs typeface="Times New Roman"/>
              </a:rPr>
              <a:t> </a:t>
            </a:r>
            <a:r>
              <a:rPr sz="2000" dirty="0">
                <a:latin typeface="Times New Roman"/>
                <a:cs typeface="Times New Roman"/>
              </a:rPr>
              <a:t>para</a:t>
            </a:r>
            <a:r>
              <a:rPr sz="2000" spc="5" dirty="0">
                <a:latin typeface="Times New Roman"/>
                <a:cs typeface="Times New Roman"/>
              </a:rPr>
              <a:t> </a:t>
            </a:r>
            <a:r>
              <a:rPr sz="2000" dirty="0">
                <a:latin typeface="Times New Roman"/>
                <a:cs typeface="Times New Roman"/>
              </a:rPr>
              <a:t>la</a:t>
            </a:r>
            <a:r>
              <a:rPr sz="2000" spc="5" dirty="0">
                <a:latin typeface="Times New Roman"/>
                <a:cs typeface="Times New Roman"/>
              </a:rPr>
              <a:t> </a:t>
            </a:r>
            <a:r>
              <a:rPr sz="2000" spc="-5" dirty="0">
                <a:latin typeface="Times New Roman"/>
                <a:cs typeface="Times New Roman"/>
              </a:rPr>
              <a:t>variable</a:t>
            </a:r>
            <a:r>
              <a:rPr sz="2000" spc="5" dirty="0">
                <a:latin typeface="Times New Roman"/>
                <a:cs typeface="Times New Roman"/>
              </a:rPr>
              <a:t> </a:t>
            </a:r>
            <a:r>
              <a:rPr sz="2000" spc="-5" dirty="0">
                <a:latin typeface="Times New Roman"/>
                <a:cs typeface="Times New Roman"/>
              </a:rPr>
              <a:t>dependiente</a:t>
            </a:r>
            <a:r>
              <a:rPr sz="2000" spc="10" dirty="0">
                <a:latin typeface="Times New Roman"/>
                <a:cs typeface="Times New Roman"/>
              </a:rPr>
              <a:t> </a:t>
            </a:r>
            <a:r>
              <a:rPr sz="2000" spc="-5" dirty="0">
                <a:latin typeface="Times New Roman"/>
                <a:cs typeface="Times New Roman"/>
              </a:rPr>
              <a:t>Y,</a:t>
            </a:r>
            <a:r>
              <a:rPr sz="2000" dirty="0">
                <a:latin typeface="Times New Roman"/>
                <a:cs typeface="Times New Roman"/>
              </a:rPr>
              <a:t> </a:t>
            </a:r>
            <a:r>
              <a:rPr sz="2000" spc="-5" dirty="0">
                <a:latin typeface="Times New Roman"/>
                <a:cs typeface="Times New Roman"/>
              </a:rPr>
              <a:t>categórica,</a:t>
            </a:r>
            <a:r>
              <a:rPr sz="2000" dirty="0">
                <a:latin typeface="Times New Roman"/>
                <a:cs typeface="Times New Roman"/>
              </a:rPr>
              <a:t> con</a:t>
            </a:r>
            <a:r>
              <a:rPr sz="2000" spc="5" dirty="0">
                <a:latin typeface="Times New Roman"/>
                <a:cs typeface="Times New Roman"/>
              </a:rPr>
              <a:t> </a:t>
            </a:r>
            <a:r>
              <a:rPr sz="2000" spc="-5" dirty="0">
                <a:latin typeface="Times New Roman"/>
                <a:cs typeface="Times New Roman"/>
              </a:rPr>
              <a:t>valores</a:t>
            </a:r>
            <a:r>
              <a:rPr sz="2000" spc="5" dirty="0">
                <a:latin typeface="Times New Roman"/>
                <a:cs typeface="Times New Roman"/>
              </a:rPr>
              <a:t> </a:t>
            </a:r>
            <a:r>
              <a:rPr sz="2000" dirty="0">
                <a:latin typeface="Times New Roman"/>
                <a:cs typeface="Times New Roman"/>
              </a:rPr>
              <a:t>codificados </a:t>
            </a:r>
            <a:r>
              <a:rPr sz="2000" spc="5" dirty="0">
                <a:latin typeface="Times New Roman"/>
                <a:cs typeface="Times New Roman"/>
              </a:rPr>
              <a:t> </a:t>
            </a:r>
            <a:r>
              <a:rPr sz="2000" dirty="0">
                <a:latin typeface="Times New Roman"/>
                <a:cs typeface="Times New Roman"/>
              </a:rPr>
              <a:t>0,1,2,…</a:t>
            </a:r>
          </a:p>
          <a:p>
            <a:pPr marL="462280" algn="just">
              <a:lnSpc>
                <a:spcPts val="2630"/>
              </a:lnSpc>
            </a:pPr>
            <a:endParaRPr lang="es-ES" sz="2000" dirty="0">
              <a:latin typeface="Times New Roman"/>
              <a:cs typeface="Times New Roman"/>
            </a:endParaRPr>
          </a:p>
          <a:p>
            <a:pPr marL="462280" algn="just">
              <a:lnSpc>
                <a:spcPts val="2630"/>
              </a:lnSpc>
            </a:pPr>
            <a:r>
              <a:rPr sz="2000" dirty="0" err="1" smtClean="0">
                <a:latin typeface="Times New Roman"/>
                <a:cs typeface="Times New Roman"/>
              </a:rPr>
              <a:t>Es</a:t>
            </a:r>
            <a:r>
              <a:rPr sz="2000" spc="-5" dirty="0" smtClean="0">
                <a:latin typeface="Times New Roman"/>
                <a:cs typeface="Times New Roman"/>
              </a:rPr>
              <a:t> </a:t>
            </a:r>
            <a:r>
              <a:rPr sz="2000" dirty="0">
                <a:latin typeface="Times New Roman"/>
                <a:cs typeface="Times New Roman"/>
              </a:rPr>
              <a:t>uno de los </a:t>
            </a:r>
            <a:r>
              <a:rPr sz="2000" spc="-5" dirty="0">
                <a:latin typeface="Times New Roman"/>
                <a:cs typeface="Times New Roman"/>
              </a:rPr>
              <a:t>problemas</a:t>
            </a:r>
            <a:r>
              <a:rPr sz="2000" dirty="0">
                <a:latin typeface="Times New Roman"/>
                <a:cs typeface="Times New Roman"/>
              </a:rPr>
              <a:t> </a:t>
            </a:r>
            <a:r>
              <a:rPr sz="2000" spc="-5" dirty="0">
                <a:latin typeface="Times New Roman"/>
                <a:cs typeface="Times New Roman"/>
              </a:rPr>
              <a:t>más</a:t>
            </a:r>
            <a:r>
              <a:rPr sz="2000" dirty="0">
                <a:latin typeface="Times New Roman"/>
                <a:cs typeface="Times New Roman"/>
              </a:rPr>
              <a:t> habituales en Business </a:t>
            </a:r>
            <a:r>
              <a:rPr sz="2000" spc="-5" dirty="0">
                <a:latin typeface="Times New Roman"/>
                <a:cs typeface="Times New Roman"/>
              </a:rPr>
              <a:t>Intelligence.</a:t>
            </a:r>
            <a:endParaRPr sz="2000" dirty="0">
              <a:latin typeface="Times New Roman"/>
              <a:cs typeface="Times New Roman"/>
            </a:endParaRPr>
          </a:p>
          <a:p>
            <a:pPr marL="462280" algn="just">
              <a:lnSpc>
                <a:spcPts val="2820"/>
              </a:lnSpc>
            </a:pPr>
            <a:r>
              <a:rPr sz="2000" b="1" dirty="0">
                <a:latin typeface="Times New Roman"/>
                <a:cs typeface="Times New Roman"/>
              </a:rPr>
              <a:t>Hay</a:t>
            </a:r>
            <a:r>
              <a:rPr sz="2000" b="1" spc="-20" dirty="0">
                <a:latin typeface="Times New Roman"/>
                <a:cs typeface="Times New Roman"/>
              </a:rPr>
              <a:t> </a:t>
            </a:r>
            <a:r>
              <a:rPr sz="2000" b="1" spc="-5" dirty="0">
                <a:latin typeface="Times New Roman"/>
                <a:cs typeface="Times New Roman"/>
              </a:rPr>
              <a:t>muchos</a:t>
            </a:r>
            <a:r>
              <a:rPr sz="2000" b="1" spc="-20" dirty="0">
                <a:latin typeface="Times New Roman"/>
                <a:cs typeface="Times New Roman"/>
              </a:rPr>
              <a:t> </a:t>
            </a:r>
            <a:r>
              <a:rPr sz="2000" b="1" dirty="0">
                <a:latin typeface="Times New Roman"/>
                <a:cs typeface="Times New Roman"/>
              </a:rPr>
              <a:t>métodos.</a:t>
            </a:r>
            <a:r>
              <a:rPr sz="2000" b="1" spc="-20" dirty="0">
                <a:latin typeface="Times New Roman"/>
                <a:cs typeface="Times New Roman"/>
              </a:rPr>
              <a:t> </a:t>
            </a:r>
            <a:r>
              <a:rPr sz="2000" spc="-5" dirty="0">
                <a:latin typeface="Times New Roman"/>
                <a:cs typeface="Times New Roman"/>
              </a:rPr>
              <a:t>Algunos</a:t>
            </a:r>
            <a:r>
              <a:rPr sz="2000" spc="-20" dirty="0">
                <a:latin typeface="Times New Roman"/>
                <a:cs typeface="Times New Roman"/>
              </a:rPr>
              <a:t> </a:t>
            </a:r>
            <a:r>
              <a:rPr sz="2000" spc="-5" dirty="0">
                <a:latin typeface="Times New Roman"/>
                <a:cs typeface="Times New Roman"/>
              </a:rPr>
              <a:t>son</a:t>
            </a:r>
            <a:r>
              <a:rPr sz="2000" spc="-5" dirty="0" smtClean="0">
                <a:latin typeface="Times New Roman"/>
                <a:cs typeface="Times New Roman"/>
              </a:rPr>
              <a:t>:</a:t>
            </a:r>
            <a:endParaRPr lang="es-ES" sz="2000" spc="-5" dirty="0" smtClean="0">
              <a:latin typeface="Times New Roman"/>
              <a:cs typeface="Times New Roman"/>
            </a:endParaRPr>
          </a:p>
          <a:p>
            <a:pPr marL="462280" algn="just">
              <a:lnSpc>
                <a:spcPts val="2820"/>
              </a:lnSpc>
            </a:pPr>
            <a:endParaRPr sz="2000" dirty="0">
              <a:latin typeface="Times New Roman"/>
              <a:cs typeface="Times New Roman"/>
            </a:endParaRPr>
          </a:p>
          <a:p>
            <a:pPr marL="469900" indent="-228600" algn="just">
              <a:lnSpc>
                <a:spcPct val="100000"/>
              </a:lnSpc>
              <a:spcBef>
                <a:spcPts val="60"/>
              </a:spcBef>
              <a:buFont typeface="Symbol"/>
              <a:buChar char=""/>
              <a:tabLst>
                <a:tab pos="469900" algn="l"/>
              </a:tabLst>
            </a:pPr>
            <a:r>
              <a:rPr sz="2400" dirty="0">
                <a:latin typeface="Times New Roman"/>
                <a:cs typeface="Times New Roman"/>
              </a:rPr>
              <a:t>Regresión</a:t>
            </a:r>
            <a:r>
              <a:rPr sz="2400" spc="-30" dirty="0">
                <a:latin typeface="Times New Roman"/>
                <a:cs typeface="Times New Roman"/>
              </a:rPr>
              <a:t> </a:t>
            </a:r>
            <a:r>
              <a:rPr sz="2400" spc="-5" dirty="0">
                <a:latin typeface="Times New Roman"/>
                <a:cs typeface="Times New Roman"/>
              </a:rPr>
              <a:t>logística</a:t>
            </a:r>
            <a:endParaRPr sz="2400" dirty="0">
              <a:latin typeface="Times New Roman"/>
              <a:cs typeface="Times New Roman"/>
            </a:endParaRPr>
          </a:p>
          <a:p>
            <a:pPr marL="469900" indent="-228600" algn="just">
              <a:lnSpc>
                <a:spcPct val="100000"/>
              </a:lnSpc>
              <a:spcBef>
                <a:spcPts val="45"/>
              </a:spcBef>
              <a:buFont typeface="Symbol"/>
              <a:buChar char=""/>
              <a:tabLst>
                <a:tab pos="469900" algn="l"/>
              </a:tabLst>
            </a:pPr>
            <a:r>
              <a:rPr sz="2400" dirty="0">
                <a:latin typeface="Times New Roman"/>
                <a:cs typeface="Times New Roman"/>
              </a:rPr>
              <a:t>Redes</a:t>
            </a:r>
            <a:r>
              <a:rPr sz="2400" spc="-35" dirty="0">
                <a:latin typeface="Times New Roman"/>
                <a:cs typeface="Times New Roman"/>
              </a:rPr>
              <a:t> </a:t>
            </a:r>
            <a:r>
              <a:rPr sz="2400" spc="-5" dirty="0">
                <a:latin typeface="Times New Roman"/>
                <a:cs typeface="Times New Roman"/>
              </a:rPr>
              <a:t>Neuronales</a:t>
            </a:r>
            <a:endParaRPr sz="2400" dirty="0">
              <a:latin typeface="Times New Roman"/>
              <a:cs typeface="Times New Roman"/>
            </a:endParaRPr>
          </a:p>
          <a:p>
            <a:pPr marL="469900" indent="-228600" algn="just">
              <a:lnSpc>
                <a:spcPct val="100000"/>
              </a:lnSpc>
              <a:spcBef>
                <a:spcPts val="60"/>
              </a:spcBef>
              <a:buFont typeface="Symbol"/>
              <a:buChar char=""/>
              <a:tabLst>
                <a:tab pos="469900" algn="l"/>
              </a:tabLst>
            </a:pPr>
            <a:r>
              <a:rPr sz="2400" spc="-5" dirty="0">
                <a:latin typeface="Times New Roman"/>
                <a:cs typeface="Times New Roman"/>
              </a:rPr>
              <a:t>Árboles</a:t>
            </a:r>
            <a:r>
              <a:rPr sz="2400" dirty="0">
                <a:latin typeface="Times New Roman"/>
                <a:cs typeface="Times New Roman"/>
              </a:rPr>
              <a:t> de</a:t>
            </a:r>
            <a:r>
              <a:rPr sz="2400" spc="-5" dirty="0">
                <a:latin typeface="Times New Roman"/>
                <a:cs typeface="Times New Roman"/>
              </a:rPr>
              <a:t> </a:t>
            </a:r>
            <a:r>
              <a:rPr sz="2400" dirty="0">
                <a:latin typeface="Times New Roman"/>
                <a:cs typeface="Times New Roman"/>
              </a:rPr>
              <a:t>regresión,</a:t>
            </a:r>
            <a:r>
              <a:rPr sz="2400" spc="10" dirty="0">
                <a:latin typeface="Times New Roman"/>
                <a:cs typeface="Times New Roman"/>
              </a:rPr>
              <a:t> </a:t>
            </a:r>
            <a:r>
              <a:rPr sz="2400" spc="-5" dirty="0">
                <a:latin typeface="Times New Roman"/>
                <a:cs typeface="Times New Roman"/>
              </a:rPr>
              <a:t>gradient boosting, </a:t>
            </a:r>
            <a:r>
              <a:rPr sz="2400" dirty="0">
                <a:latin typeface="Times New Roman"/>
                <a:cs typeface="Times New Roman"/>
              </a:rPr>
              <a:t>etc.</a:t>
            </a:r>
          </a:p>
          <a:p>
            <a:pPr marL="469900" indent="-228600" algn="just">
              <a:lnSpc>
                <a:spcPct val="100000"/>
              </a:lnSpc>
              <a:spcBef>
                <a:spcPts val="50"/>
              </a:spcBef>
              <a:buFont typeface="Symbol"/>
              <a:buChar char=""/>
              <a:tabLst>
                <a:tab pos="469900" algn="l"/>
              </a:tabLst>
            </a:pPr>
            <a:r>
              <a:rPr sz="2400" spc="-5" dirty="0">
                <a:latin typeface="Times New Roman"/>
                <a:cs typeface="Times New Roman"/>
              </a:rPr>
              <a:t>Análisis</a:t>
            </a:r>
            <a:r>
              <a:rPr sz="2400" spc="-20" dirty="0">
                <a:latin typeface="Times New Roman"/>
                <a:cs typeface="Times New Roman"/>
              </a:rPr>
              <a:t> </a:t>
            </a:r>
            <a:r>
              <a:rPr sz="2400" spc="-5" dirty="0">
                <a:latin typeface="Times New Roman"/>
                <a:cs typeface="Times New Roman"/>
              </a:rPr>
              <a:t>discriminante</a:t>
            </a:r>
            <a:endParaRPr sz="2400" dirty="0">
              <a:latin typeface="Times New Roman"/>
              <a:cs typeface="Times New Roman"/>
            </a:endParaRPr>
          </a:p>
          <a:p>
            <a:pPr marL="469900" indent="-228600" algn="just">
              <a:lnSpc>
                <a:spcPct val="100000"/>
              </a:lnSpc>
              <a:spcBef>
                <a:spcPts val="50"/>
              </a:spcBef>
              <a:buFont typeface="Symbol"/>
              <a:buChar char=""/>
              <a:tabLst>
                <a:tab pos="469900" algn="l"/>
              </a:tabLst>
            </a:pPr>
            <a:r>
              <a:rPr sz="2400" spc="-10" dirty="0">
                <a:latin typeface="Times New Roman"/>
                <a:cs typeface="Times New Roman"/>
              </a:rPr>
              <a:t>K-NN</a:t>
            </a:r>
            <a:endParaRPr sz="2400" dirty="0">
              <a:latin typeface="Times New Roman"/>
              <a:cs typeface="Times New Roman"/>
            </a:endParaRPr>
          </a:p>
          <a:p>
            <a:pPr marL="469900" indent="-228600" algn="just">
              <a:lnSpc>
                <a:spcPts val="2815"/>
              </a:lnSpc>
              <a:spcBef>
                <a:spcPts val="60"/>
              </a:spcBef>
              <a:buFont typeface="Symbol"/>
              <a:buChar char=""/>
              <a:tabLst>
                <a:tab pos="469900" algn="l"/>
              </a:tabLst>
            </a:pPr>
            <a:r>
              <a:rPr sz="2400" dirty="0">
                <a:latin typeface="Times New Roman"/>
                <a:cs typeface="Times New Roman"/>
              </a:rPr>
              <a:t>Etc</a:t>
            </a:r>
            <a:r>
              <a:rPr sz="2400" dirty="0" smtClean="0">
                <a:latin typeface="Times New Roman"/>
                <a:cs typeface="Times New Roman"/>
              </a:rPr>
              <a:t>.</a:t>
            </a:r>
            <a:endParaRPr lang="es-ES" sz="2400" dirty="0" smtClean="0">
              <a:latin typeface="Times New Roman"/>
              <a:cs typeface="Times New Roman"/>
            </a:endParaRPr>
          </a:p>
          <a:p>
            <a:pPr marL="469900" indent="-228600" algn="just">
              <a:lnSpc>
                <a:spcPts val="2815"/>
              </a:lnSpc>
              <a:spcBef>
                <a:spcPts val="60"/>
              </a:spcBef>
              <a:buFont typeface="Symbol"/>
              <a:buChar char=""/>
              <a:tabLst>
                <a:tab pos="469900" algn="l"/>
              </a:tabLst>
            </a:pPr>
            <a:endParaRPr sz="2400" dirty="0">
              <a:latin typeface="Times New Roman"/>
              <a:cs typeface="Times New Roman"/>
            </a:endParaRPr>
          </a:p>
          <a:p>
            <a:pPr marL="12700" marR="97155" indent="449580" algn="just">
              <a:lnSpc>
                <a:spcPct val="95900"/>
              </a:lnSpc>
              <a:spcBef>
                <a:spcPts val="50"/>
              </a:spcBef>
            </a:pPr>
            <a:r>
              <a:rPr sz="2000" b="1" spc="-5" dirty="0" err="1" smtClean="0">
                <a:latin typeface="Times New Roman"/>
                <a:cs typeface="Times New Roman"/>
              </a:rPr>
              <a:t>Inicialmente</a:t>
            </a:r>
            <a:r>
              <a:rPr sz="2000" b="1" dirty="0" smtClean="0">
                <a:latin typeface="Times New Roman"/>
                <a:cs typeface="Times New Roman"/>
              </a:rPr>
              <a:t> </a:t>
            </a:r>
            <a:r>
              <a:rPr sz="2000" spc="-5" dirty="0">
                <a:latin typeface="Times New Roman"/>
                <a:cs typeface="Times New Roman"/>
              </a:rPr>
              <a:t>se</a:t>
            </a:r>
            <a:r>
              <a:rPr sz="2000" dirty="0">
                <a:latin typeface="Times New Roman"/>
                <a:cs typeface="Times New Roman"/>
              </a:rPr>
              <a:t> </a:t>
            </a:r>
            <a:r>
              <a:rPr sz="2000" spc="-5" dirty="0">
                <a:latin typeface="Times New Roman"/>
                <a:cs typeface="Times New Roman"/>
              </a:rPr>
              <a:t>estudiará</a:t>
            </a:r>
            <a:r>
              <a:rPr sz="2000" dirty="0">
                <a:latin typeface="Times New Roman"/>
                <a:cs typeface="Times New Roman"/>
              </a:rPr>
              <a:t> el</a:t>
            </a:r>
            <a:r>
              <a:rPr sz="2000" spc="5" dirty="0">
                <a:latin typeface="Times New Roman"/>
                <a:cs typeface="Times New Roman"/>
              </a:rPr>
              <a:t> </a:t>
            </a:r>
            <a:r>
              <a:rPr sz="2000" dirty="0">
                <a:latin typeface="Times New Roman"/>
                <a:cs typeface="Times New Roman"/>
              </a:rPr>
              <a:t>caso</a:t>
            </a:r>
            <a:r>
              <a:rPr sz="2000" spc="15" dirty="0">
                <a:latin typeface="Times New Roman"/>
                <a:cs typeface="Times New Roman"/>
              </a:rPr>
              <a:t> </a:t>
            </a:r>
            <a:r>
              <a:rPr sz="2000" spc="-10" dirty="0">
                <a:latin typeface="Times New Roman"/>
                <a:cs typeface="Times New Roman"/>
              </a:rPr>
              <a:t>de</a:t>
            </a:r>
            <a:r>
              <a:rPr sz="2000" dirty="0">
                <a:latin typeface="Times New Roman"/>
                <a:cs typeface="Times New Roman"/>
              </a:rPr>
              <a:t> </a:t>
            </a:r>
            <a:r>
              <a:rPr sz="2000" b="1" spc="-5" dirty="0">
                <a:latin typeface="Times New Roman"/>
                <a:cs typeface="Times New Roman"/>
              </a:rPr>
              <a:t>clasificación</a:t>
            </a:r>
            <a:r>
              <a:rPr sz="2000" b="1" dirty="0">
                <a:latin typeface="Times New Roman"/>
                <a:cs typeface="Times New Roman"/>
              </a:rPr>
              <a:t> </a:t>
            </a:r>
            <a:r>
              <a:rPr sz="2000" b="1" spc="-5" dirty="0">
                <a:latin typeface="Times New Roman"/>
                <a:cs typeface="Times New Roman"/>
              </a:rPr>
              <a:t>binaria</a:t>
            </a:r>
            <a:r>
              <a:rPr sz="2000" spc="-5" dirty="0">
                <a:latin typeface="Times New Roman"/>
                <a:cs typeface="Times New Roman"/>
              </a:rPr>
              <a:t>,</a:t>
            </a:r>
            <a:r>
              <a:rPr sz="2000" spc="5" dirty="0">
                <a:latin typeface="Times New Roman"/>
                <a:cs typeface="Times New Roman"/>
              </a:rPr>
              <a:t> </a:t>
            </a:r>
            <a:r>
              <a:rPr sz="2000" spc="-5" dirty="0">
                <a:latin typeface="Times New Roman"/>
                <a:cs typeface="Times New Roman"/>
              </a:rPr>
              <a:t>en</a:t>
            </a:r>
            <a:r>
              <a:rPr sz="2000" spc="5" dirty="0">
                <a:latin typeface="Times New Roman"/>
                <a:cs typeface="Times New Roman"/>
              </a:rPr>
              <a:t> </a:t>
            </a:r>
            <a:r>
              <a:rPr sz="2000" dirty="0">
                <a:latin typeface="Times New Roman"/>
                <a:cs typeface="Times New Roman"/>
              </a:rPr>
              <a:t>el</a:t>
            </a:r>
            <a:r>
              <a:rPr sz="2000" spc="10" dirty="0">
                <a:latin typeface="Times New Roman"/>
                <a:cs typeface="Times New Roman"/>
              </a:rPr>
              <a:t> </a:t>
            </a:r>
            <a:r>
              <a:rPr sz="2000" dirty="0">
                <a:latin typeface="Times New Roman"/>
                <a:cs typeface="Times New Roman"/>
              </a:rPr>
              <a:t>que Y tiene </a:t>
            </a:r>
            <a:r>
              <a:rPr sz="2000" spc="-585" dirty="0">
                <a:latin typeface="Times New Roman"/>
                <a:cs typeface="Times New Roman"/>
              </a:rPr>
              <a:t> </a:t>
            </a:r>
            <a:r>
              <a:rPr sz="2000" b="1" spc="-5" dirty="0">
                <a:latin typeface="Times New Roman"/>
                <a:cs typeface="Times New Roman"/>
              </a:rPr>
              <a:t>dos </a:t>
            </a:r>
            <a:r>
              <a:rPr sz="2000" b="1" dirty="0">
                <a:latin typeface="Times New Roman"/>
                <a:cs typeface="Times New Roman"/>
              </a:rPr>
              <a:t>categorías, 0 y 1</a:t>
            </a:r>
            <a:r>
              <a:rPr sz="2000" dirty="0">
                <a:latin typeface="Times New Roman"/>
                <a:cs typeface="Times New Roman"/>
              </a:rPr>
              <a:t>. El</a:t>
            </a:r>
            <a:r>
              <a:rPr sz="2000" spc="-10" dirty="0">
                <a:latin typeface="Times New Roman"/>
                <a:cs typeface="Times New Roman"/>
              </a:rPr>
              <a:t> </a:t>
            </a:r>
            <a:r>
              <a:rPr sz="2000" dirty="0">
                <a:latin typeface="Times New Roman"/>
                <a:cs typeface="Times New Roman"/>
              </a:rPr>
              <a:t>valor </a:t>
            </a:r>
            <a:r>
              <a:rPr sz="2000" b="1" dirty="0">
                <a:latin typeface="Times New Roman"/>
                <a:cs typeface="Times New Roman"/>
              </a:rPr>
              <a:t>1</a:t>
            </a:r>
            <a:r>
              <a:rPr sz="2000" dirty="0">
                <a:latin typeface="Times New Roman"/>
                <a:cs typeface="Times New Roman"/>
              </a:rPr>
              <a:t> </a:t>
            </a:r>
            <a:r>
              <a:rPr sz="2000" spc="-5" dirty="0">
                <a:latin typeface="Times New Roman"/>
                <a:cs typeface="Times New Roman"/>
              </a:rPr>
              <a:t>suele</a:t>
            </a:r>
            <a:r>
              <a:rPr sz="2000" dirty="0">
                <a:latin typeface="Times New Roman"/>
                <a:cs typeface="Times New Roman"/>
              </a:rPr>
              <a:t> </a:t>
            </a:r>
            <a:r>
              <a:rPr sz="2000" spc="-5" dirty="0">
                <a:latin typeface="Times New Roman"/>
                <a:cs typeface="Times New Roman"/>
              </a:rPr>
              <a:t>representar</a:t>
            </a:r>
            <a:r>
              <a:rPr sz="2000" dirty="0">
                <a:latin typeface="Times New Roman"/>
                <a:cs typeface="Times New Roman"/>
              </a:rPr>
              <a:t> el </a:t>
            </a:r>
            <a:r>
              <a:rPr sz="2000" b="1" spc="-5" dirty="0">
                <a:latin typeface="Times New Roman"/>
                <a:cs typeface="Times New Roman"/>
              </a:rPr>
              <a:t>evento</a:t>
            </a:r>
            <a:r>
              <a:rPr sz="2000" b="1" dirty="0">
                <a:latin typeface="Times New Roman"/>
                <a:cs typeface="Times New Roman"/>
              </a:rPr>
              <a:t> </a:t>
            </a:r>
            <a:r>
              <a:rPr sz="2000" b="1" spc="-5" dirty="0">
                <a:latin typeface="Times New Roman"/>
                <a:cs typeface="Times New Roman"/>
              </a:rPr>
              <a:t>de</a:t>
            </a:r>
            <a:r>
              <a:rPr sz="2000" b="1" dirty="0">
                <a:latin typeface="Times New Roman"/>
                <a:cs typeface="Times New Roman"/>
              </a:rPr>
              <a:t> interés</a:t>
            </a:r>
            <a:r>
              <a:rPr sz="2000" dirty="0">
                <a:latin typeface="Times New Roman"/>
                <a:cs typeface="Times New Roman"/>
              </a:rPr>
              <a:t> </a:t>
            </a:r>
            <a:r>
              <a:rPr sz="2000" spc="-5" dirty="0">
                <a:latin typeface="Times New Roman"/>
                <a:cs typeface="Times New Roman"/>
              </a:rPr>
              <a:t>(personas </a:t>
            </a:r>
            <a:r>
              <a:rPr sz="2000" spc="-585" dirty="0">
                <a:latin typeface="Times New Roman"/>
                <a:cs typeface="Times New Roman"/>
              </a:rPr>
              <a:t> </a:t>
            </a:r>
            <a:r>
              <a:rPr sz="2000" dirty="0">
                <a:latin typeface="Times New Roman"/>
                <a:cs typeface="Times New Roman"/>
              </a:rPr>
              <a:t>que </a:t>
            </a:r>
            <a:r>
              <a:rPr sz="2000" spc="-5" dirty="0">
                <a:latin typeface="Times New Roman"/>
                <a:cs typeface="Times New Roman"/>
              </a:rPr>
              <a:t>consumen</a:t>
            </a:r>
            <a:r>
              <a:rPr sz="2000" dirty="0">
                <a:latin typeface="Times New Roman"/>
                <a:cs typeface="Times New Roman"/>
              </a:rPr>
              <a:t> un </a:t>
            </a:r>
            <a:r>
              <a:rPr sz="2000" spc="-5" dirty="0">
                <a:latin typeface="Times New Roman"/>
                <a:cs typeface="Times New Roman"/>
              </a:rPr>
              <a:t>producto,</a:t>
            </a:r>
            <a:r>
              <a:rPr sz="2000" dirty="0">
                <a:latin typeface="Times New Roman"/>
                <a:cs typeface="Times New Roman"/>
              </a:rPr>
              <a:t> que</a:t>
            </a:r>
            <a:r>
              <a:rPr sz="2000" spc="5" dirty="0">
                <a:latin typeface="Times New Roman"/>
                <a:cs typeface="Times New Roman"/>
              </a:rPr>
              <a:t> </a:t>
            </a:r>
            <a:r>
              <a:rPr sz="2000" spc="-5" dirty="0">
                <a:latin typeface="Times New Roman"/>
                <a:cs typeface="Times New Roman"/>
              </a:rPr>
              <a:t>cometen</a:t>
            </a:r>
            <a:r>
              <a:rPr sz="2000" spc="15" dirty="0">
                <a:latin typeface="Times New Roman"/>
                <a:cs typeface="Times New Roman"/>
              </a:rPr>
              <a:t> </a:t>
            </a:r>
            <a:r>
              <a:rPr sz="2000" dirty="0">
                <a:latin typeface="Times New Roman"/>
                <a:cs typeface="Times New Roman"/>
              </a:rPr>
              <a:t>fraude, que </a:t>
            </a:r>
            <a:r>
              <a:rPr sz="2000" spc="-5" dirty="0">
                <a:latin typeface="Times New Roman"/>
                <a:cs typeface="Times New Roman"/>
              </a:rPr>
              <a:t>aceptan</a:t>
            </a:r>
            <a:r>
              <a:rPr sz="2000" spc="5" dirty="0">
                <a:latin typeface="Times New Roman"/>
                <a:cs typeface="Times New Roman"/>
              </a:rPr>
              <a:t> </a:t>
            </a:r>
            <a:r>
              <a:rPr sz="2000" dirty="0">
                <a:latin typeface="Times New Roman"/>
                <a:cs typeface="Times New Roman"/>
              </a:rPr>
              <a:t>un </a:t>
            </a:r>
            <a:r>
              <a:rPr sz="2000" spc="-5" dirty="0">
                <a:latin typeface="Times New Roman"/>
                <a:cs typeface="Times New Roman"/>
              </a:rPr>
              <a:t>seguro</a:t>
            </a:r>
            <a:r>
              <a:rPr sz="2000" spc="-10" dirty="0">
                <a:latin typeface="Times New Roman"/>
                <a:cs typeface="Times New Roman"/>
              </a:rPr>
              <a:t> </a:t>
            </a:r>
            <a:r>
              <a:rPr sz="2000" dirty="0">
                <a:latin typeface="Times New Roman"/>
                <a:cs typeface="Times New Roman"/>
              </a:rPr>
              <a:t>o un </a:t>
            </a:r>
            <a:r>
              <a:rPr sz="2000" spc="5" dirty="0">
                <a:latin typeface="Times New Roman"/>
                <a:cs typeface="Times New Roman"/>
              </a:rPr>
              <a:t> </a:t>
            </a:r>
            <a:r>
              <a:rPr sz="2000" dirty="0">
                <a:latin typeface="Times New Roman"/>
                <a:cs typeface="Times New Roman"/>
              </a:rPr>
              <a:t>crédito,</a:t>
            </a:r>
            <a:r>
              <a:rPr sz="2000" spc="-5" dirty="0">
                <a:latin typeface="Times New Roman"/>
                <a:cs typeface="Times New Roman"/>
              </a:rPr>
              <a:t> etc.).</a:t>
            </a:r>
            <a:endParaRPr sz="2000" dirty="0">
              <a:latin typeface="Times New Roman"/>
              <a:cs typeface="Times New Roman"/>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6100" y="581025"/>
            <a:ext cx="9495537" cy="6147837"/>
          </a:xfrm>
          <a:prstGeom prst="rect">
            <a:avLst/>
          </a:prstGeom>
        </p:spPr>
        <p:txBody>
          <a:bodyPr vert="horz" wrap="square" lIns="0" tIns="12700" rIns="0" bIns="0" rtlCol="0">
            <a:spAutoFit/>
          </a:bodyPr>
          <a:lstStyle/>
          <a:p>
            <a:pPr marL="154940" algn="ctr">
              <a:lnSpc>
                <a:spcPct val="100000"/>
              </a:lnSpc>
              <a:spcBef>
                <a:spcPts val="100"/>
              </a:spcBef>
            </a:pPr>
            <a:r>
              <a:rPr sz="2400" b="1" spc="-5" dirty="0">
                <a:solidFill>
                  <a:srgbClr val="FF0000"/>
                </a:solidFill>
                <a:latin typeface="Times New Roman"/>
                <a:cs typeface="Times New Roman"/>
              </a:rPr>
              <a:t>Funcionamiento</a:t>
            </a:r>
            <a:r>
              <a:rPr sz="2400" b="1" spc="10" dirty="0">
                <a:solidFill>
                  <a:srgbClr val="FF0000"/>
                </a:solidFill>
                <a:latin typeface="Times New Roman"/>
                <a:cs typeface="Times New Roman"/>
              </a:rPr>
              <a:t> </a:t>
            </a:r>
            <a:r>
              <a:rPr sz="2400" b="1" spc="-5" dirty="0">
                <a:solidFill>
                  <a:srgbClr val="FF0000"/>
                </a:solidFill>
                <a:latin typeface="Times New Roman"/>
                <a:cs typeface="Times New Roman"/>
              </a:rPr>
              <a:t>general</a:t>
            </a:r>
            <a:r>
              <a:rPr sz="2400" b="1" spc="10" dirty="0">
                <a:solidFill>
                  <a:srgbClr val="FF0000"/>
                </a:solidFill>
                <a:latin typeface="Times New Roman"/>
                <a:cs typeface="Times New Roman"/>
              </a:rPr>
              <a:t> </a:t>
            </a:r>
            <a:r>
              <a:rPr sz="2400" b="1" spc="-5" dirty="0">
                <a:solidFill>
                  <a:srgbClr val="FF0000"/>
                </a:solidFill>
                <a:latin typeface="Times New Roman"/>
                <a:cs typeface="Times New Roman"/>
              </a:rPr>
              <a:t>de</a:t>
            </a:r>
            <a:r>
              <a:rPr sz="2400" b="1" spc="10" dirty="0">
                <a:solidFill>
                  <a:srgbClr val="FF0000"/>
                </a:solidFill>
                <a:latin typeface="Times New Roman"/>
                <a:cs typeface="Times New Roman"/>
              </a:rPr>
              <a:t> </a:t>
            </a:r>
            <a:r>
              <a:rPr sz="2400" b="1" dirty="0">
                <a:solidFill>
                  <a:srgbClr val="FF0000"/>
                </a:solidFill>
                <a:latin typeface="Times New Roman"/>
                <a:cs typeface="Times New Roman"/>
              </a:rPr>
              <a:t>los</a:t>
            </a:r>
            <a:r>
              <a:rPr sz="2400" b="1" spc="10" dirty="0">
                <a:solidFill>
                  <a:srgbClr val="FF0000"/>
                </a:solidFill>
                <a:latin typeface="Times New Roman"/>
                <a:cs typeface="Times New Roman"/>
              </a:rPr>
              <a:t> </a:t>
            </a:r>
            <a:r>
              <a:rPr sz="2400" b="1" spc="-5" dirty="0">
                <a:solidFill>
                  <a:srgbClr val="FF0000"/>
                </a:solidFill>
                <a:latin typeface="Times New Roman"/>
                <a:cs typeface="Times New Roman"/>
              </a:rPr>
              <a:t>métodos</a:t>
            </a:r>
            <a:r>
              <a:rPr sz="2400" b="1" spc="15" dirty="0">
                <a:solidFill>
                  <a:srgbClr val="FF0000"/>
                </a:solidFill>
                <a:latin typeface="Times New Roman"/>
                <a:cs typeface="Times New Roman"/>
              </a:rPr>
              <a:t> </a:t>
            </a:r>
            <a:r>
              <a:rPr sz="2400" b="1" spc="-5" dirty="0">
                <a:solidFill>
                  <a:srgbClr val="FF0000"/>
                </a:solidFill>
                <a:latin typeface="Times New Roman"/>
                <a:cs typeface="Times New Roman"/>
              </a:rPr>
              <a:t>de</a:t>
            </a:r>
            <a:r>
              <a:rPr sz="2400" b="1" spc="5" dirty="0">
                <a:solidFill>
                  <a:srgbClr val="FF0000"/>
                </a:solidFill>
                <a:latin typeface="Times New Roman"/>
                <a:cs typeface="Times New Roman"/>
              </a:rPr>
              <a:t> </a:t>
            </a:r>
            <a:r>
              <a:rPr sz="2400" b="1" spc="-5" dirty="0">
                <a:solidFill>
                  <a:srgbClr val="FF0000"/>
                </a:solidFill>
                <a:latin typeface="Times New Roman"/>
                <a:cs typeface="Times New Roman"/>
              </a:rPr>
              <a:t>clasificación</a:t>
            </a:r>
            <a:endParaRPr sz="2400" dirty="0">
              <a:latin typeface="Times New Roman"/>
              <a:cs typeface="Times New Roman"/>
            </a:endParaRPr>
          </a:p>
          <a:p>
            <a:pPr>
              <a:lnSpc>
                <a:spcPct val="100000"/>
              </a:lnSpc>
              <a:spcBef>
                <a:spcPts val="50"/>
              </a:spcBef>
            </a:pPr>
            <a:endParaRPr sz="2400" dirty="0">
              <a:latin typeface="Times New Roman"/>
              <a:cs typeface="Times New Roman"/>
            </a:endParaRPr>
          </a:p>
          <a:p>
            <a:pPr marL="12700" marR="1028065" algn="just">
              <a:lnSpc>
                <a:spcPts val="2760"/>
              </a:lnSpc>
              <a:buAutoNum type="arabicParenR"/>
              <a:tabLst>
                <a:tab pos="342900" algn="l"/>
              </a:tabLst>
            </a:pPr>
            <a:r>
              <a:rPr lang="es-ES" sz="2400" spc="-5" dirty="0" smtClean="0">
                <a:latin typeface="Times New Roman"/>
                <a:cs typeface="Times New Roman"/>
              </a:rPr>
              <a:t> </a:t>
            </a:r>
            <a:r>
              <a:rPr sz="2400" spc="-5" dirty="0" smtClean="0">
                <a:latin typeface="Times New Roman"/>
                <a:cs typeface="Times New Roman"/>
              </a:rPr>
              <a:t>Se </a:t>
            </a:r>
            <a:r>
              <a:rPr sz="2400" dirty="0">
                <a:latin typeface="Times New Roman"/>
                <a:cs typeface="Times New Roman"/>
              </a:rPr>
              <a:t>define una función objetivo </a:t>
            </a:r>
            <a:r>
              <a:rPr sz="2400" spc="-5" dirty="0">
                <a:latin typeface="Times New Roman"/>
                <a:cs typeface="Times New Roman"/>
              </a:rPr>
              <a:t>para seleccionar </a:t>
            </a:r>
            <a:r>
              <a:rPr sz="2400" dirty="0">
                <a:latin typeface="Times New Roman"/>
                <a:cs typeface="Times New Roman"/>
              </a:rPr>
              <a:t>los </a:t>
            </a:r>
            <a:r>
              <a:rPr sz="2400" spc="-5" dirty="0">
                <a:latin typeface="Times New Roman"/>
                <a:cs typeface="Times New Roman"/>
              </a:rPr>
              <a:t>parámetros </a:t>
            </a:r>
            <a:r>
              <a:rPr sz="2400" dirty="0">
                <a:latin typeface="Times New Roman"/>
                <a:cs typeface="Times New Roman"/>
              </a:rPr>
              <a:t>que la </a:t>
            </a:r>
            <a:r>
              <a:rPr sz="2400" spc="-585" dirty="0">
                <a:latin typeface="Times New Roman"/>
                <a:cs typeface="Times New Roman"/>
              </a:rPr>
              <a:t> </a:t>
            </a:r>
            <a:r>
              <a:rPr sz="2400" spc="-5" dirty="0" err="1">
                <a:latin typeface="Times New Roman"/>
                <a:cs typeface="Times New Roman"/>
              </a:rPr>
              <a:t>optimicen</a:t>
            </a:r>
            <a:r>
              <a:rPr sz="2400" spc="-5" dirty="0" smtClean="0">
                <a:latin typeface="Times New Roman"/>
                <a:cs typeface="Times New Roman"/>
              </a:rPr>
              <a:t>:</a:t>
            </a:r>
            <a:endParaRPr lang="es-ES" sz="2400" spc="-5" dirty="0" smtClean="0">
              <a:latin typeface="Times New Roman"/>
              <a:cs typeface="Times New Roman"/>
            </a:endParaRPr>
          </a:p>
          <a:p>
            <a:pPr marL="12700" marR="1028065" algn="just">
              <a:lnSpc>
                <a:spcPts val="2760"/>
              </a:lnSpc>
              <a:buAutoNum type="arabicParenR"/>
              <a:tabLst>
                <a:tab pos="342900" algn="l"/>
              </a:tabLst>
            </a:pPr>
            <a:endParaRPr sz="2400" dirty="0">
              <a:latin typeface="Times New Roman"/>
              <a:cs typeface="Times New Roman"/>
            </a:endParaRPr>
          </a:p>
          <a:p>
            <a:pPr marL="12700" marR="5080" algn="just">
              <a:lnSpc>
                <a:spcPts val="2760"/>
              </a:lnSpc>
            </a:pPr>
            <a:r>
              <a:rPr sz="2400" b="1" spc="-5" dirty="0">
                <a:latin typeface="Times New Roman"/>
                <a:cs typeface="Times New Roman"/>
              </a:rPr>
              <a:t>Regresión </a:t>
            </a:r>
            <a:r>
              <a:rPr sz="2400" b="1" dirty="0">
                <a:latin typeface="Times New Roman"/>
                <a:cs typeface="Times New Roman"/>
              </a:rPr>
              <a:t>logística</a:t>
            </a:r>
            <a:r>
              <a:rPr sz="2400" dirty="0">
                <a:latin typeface="Times New Roman"/>
                <a:cs typeface="Times New Roman"/>
              </a:rPr>
              <a:t>: </a:t>
            </a:r>
            <a:r>
              <a:rPr sz="2400" spc="-5" dirty="0">
                <a:latin typeface="Times New Roman"/>
                <a:cs typeface="Times New Roman"/>
              </a:rPr>
              <a:t>máxima </a:t>
            </a:r>
            <a:r>
              <a:rPr sz="2400" dirty="0">
                <a:latin typeface="Times New Roman"/>
                <a:cs typeface="Times New Roman"/>
              </a:rPr>
              <a:t>verosimilitud del </a:t>
            </a:r>
            <a:r>
              <a:rPr sz="2400" spc="-5" dirty="0">
                <a:latin typeface="Times New Roman"/>
                <a:cs typeface="Times New Roman"/>
              </a:rPr>
              <a:t>modelo </a:t>
            </a:r>
            <a:r>
              <a:rPr sz="2400" dirty="0">
                <a:latin typeface="Times New Roman"/>
                <a:cs typeface="Times New Roman"/>
              </a:rPr>
              <a:t>suponiendo la </a:t>
            </a:r>
            <a:r>
              <a:rPr sz="2400" spc="-5" dirty="0" err="1" smtClean="0">
                <a:latin typeface="Times New Roman"/>
                <a:cs typeface="Times New Roman"/>
              </a:rPr>
              <a:t>función</a:t>
            </a:r>
            <a:r>
              <a:rPr sz="2400" dirty="0" smtClean="0">
                <a:latin typeface="Times New Roman"/>
                <a:cs typeface="Times New Roman"/>
              </a:rPr>
              <a:t> </a:t>
            </a:r>
            <a:r>
              <a:rPr sz="2400" b="1" dirty="0" smtClean="0">
                <a:latin typeface="Times New Roman"/>
                <a:cs typeface="Times New Roman"/>
              </a:rPr>
              <a:t>logit</a:t>
            </a:r>
            <a:r>
              <a:rPr lang="es-ES" sz="2400" dirty="0" smtClean="0">
                <a:latin typeface="Times New Roman"/>
                <a:cs typeface="Times New Roman"/>
              </a:rPr>
              <a:t>; </a:t>
            </a:r>
            <a:r>
              <a:rPr sz="2400" b="1" dirty="0" smtClean="0">
                <a:latin typeface="Times New Roman"/>
                <a:cs typeface="Times New Roman"/>
              </a:rPr>
              <a:t>logit</a:t>
            </a:r>
            <a:r>
              <a:rPr sz="2400" b="1" spc="10" dirty="0" smtClean="0">
                <a:latin typeface="Times New Roman"/>
                <a:cs typeface="Times New Roman"/>
              </a:rPr>
              <a:t> </a:t>
            </a:r>
            <a:r>
              <a:rPr sz="2400" b="1" spc="-5" dirty="0">
                <a:latin typeface="Times New Roman"/>
                <a:cs typeface="Times New Roman"/>
              </a:rPr>
              <a:t>generalizada</a:t>
            </a:r>
            <a:r>
              <a:rPr sz="2400" spc="5" dirty="0">
                <a:latin typeface="Times New Roman"/>
                <a:cs typeface="Times New Roman"/>
              </a:rPr>
              <a:t> </a:t>
            </a:r>
            <a:r>
              <a:rPr sz="2400" spc="-5" dirty="0">
                <a:latin typeface="Times New Roman"/>
                <a:cs typeface="Times New Roman"/>
              </a:rPr>
              <a:t>(variable</a:t>
            </a:r>
            <a:r>
              <a:rPr sz="2400" spc="5" dirty="0">
                <a:latin typeface="Times New Roman"/>
                <a:cs typeface="Times New Roman"/>
              </a:rPr>
              <a:t> </a:t>
            </a:r>
            <a:r>
              <a:rPr sz="2400" spc="-5" dirty="0">
                <a:latin typeface="Times New Roman"/>
                <a:cs typeface="Times New Roman"/>
              </a:rPr>
              <a:t>dependiente</a:t>
            </a:r>
            <a:r>
              <a:rPr sz="2400" spc="10" dirty="0">
                <a:latin typeface="Times New Roman"/>
                <a:cs typeface="Times New Roman"/>
              </a:rPr>
              <a:t> </a:t>
            </a:r>
            <a:r>
              <a:rPr sz="2400" dirty="0">
                <a:latin typeface="Times New Roman"/>
                <a:cs typeface="Times New Roman"/>
              </a:rPr>
              <a:t>con</a:t>
            </a:r>
            <a:r>
              <a:rPr sz="2400" spc="5" dirty="0">
                <a:latin typeface="Times New Roman"/>
                <a:cs typeface="Times New Roman"/>
              </a:rPr>
              <a:t> </a:t>
            </a:r>
            <a:r>
              <a:rPr sz="2400" spc="-10" dirty="0">
                <a:latin typeface="Times New Roman"/>
                <a:cs typeface="Times New Roman"/>
              </a:rPr>
              <a:t>más</a:t>
            </a:r>
            <a:r>
              <a:rPr sz="2400" spc="5" dirty="0">
                <a:latin typeface="Times New Roman"/>
                <a:cs typeface="Times New Roman"/>
              </a:rPr>
              <a:t> </a:t>
            </a:r>
            <a:r>
              <a:rPr sz="2400" dirty="0">
                <a:latin typeface="Times New Roman"/>
                <a:cs typeface="Times New Roman"/>
              </a:rPr>
              <a:t>de</a:t>
            </a:r>
            <a:r>
              <a:rPr sz="2400" spc="10" dirty="0">
                <a:latin typeface="Times New Roman"/>
                <a:cs typeface="Times New Roman"/>
              </a:rPr>
              <a:t> </a:t>
            </a:r>
            <a:r>
              <a:rPr sz="2400" dirty="0">
                <a:latin typeface="Times New Roman"/>
                <a:cs typeface="Times New Roman"/>
              </a:rPr>
              <a:t>2</a:t>
            </a:r>
            <a:r>
              <a:rPr sz="2400" spc="5" dirty="0">
                <a:latin typeface="Times New Roman"/>
                <a:cs typeface="Times New Roman"/>
              </a:rPr>
              <a:t> </a:t>
            </a:r>
            <a:r>
              <a:rPr sz="2400" spc="-5" dirty="0" err="1" smtClean="0">
                <a:latin typeface="Times New Roman"/>
                <a:cs typeface="Times New Roman"/>
              </a:rPr>
              <a:t>categorías</a:t>
            </a:r>
            <a:r>
              <a:rPr sz="2400" spc="-5" dirty="0" smtClean="0">
                <a:latin typeface="Times New Roman"/>
                <a:cs typeface="Times New Roman"/>
              </a:rPr>
              <a:t>)</a:t>
            </a:r>
            <a:r>
              <a:rPr lang="es-ES" sz="2400" spc="-5" dirty="0" smtClean="0">
                <a:latin typeface="Times New Roman"/>
                <a:cs typeface="Times New Roman"/>
              </a:rPr>
              <a:t>; </a:t>
            </a:r>
            <a:r>
              <a:rPr sz="2400" b="1" dirty="0" smtClean="0">
                <a:latin typeface="Times New Roman"/>
                <a:cs typeface="Times New Roman"/>
              </a:rPr>
              <a:t>logit</a:t>
            </a:r>
            <a:r>
              <a:rPr sz="2400" b="1" spc="5" dirty="0" smtClean="0">
                <a:latin typeface="Times New Roman"/>
                <a:cs typeface="Times New Roman"/>
              </a:rPr>
              <a:t> </a:t>
            </a:r>
            <a:r>
              <a:rPr sz="2400" b="1" spc="-5" dirty="0">
                <a:latin typeface="Times New Roman"/>
                <a:cs typeface="Times New Roman"/>
              </a:rPr>
              <a:t>acumulativa </a:t>
            </a:r>
            <a:r>
              <a:rPr sz="2400" spc="-5" dirty="0">
                <a:latin typeface="Times New Roman"/>
                <a:cs typeface="Times New Roman"/>
              </a:rPr>
              <a:t>(variable</a:t>
            </a:r>
            <a:r>
              <a:rPr sz="2400" spc="15" dirty="0">
                <a:latin typeface="Times New Roman"/>
                <a:cs typeface="Times New Roman"/>
              </a:rPr>
              <a:t> </a:t>
            </a:r>
            <a:r>
              <a:rPr sz="2400" spc="-5" dirty="0">
                <a:latin typeface="Times New Roman"/>
                <a:cs typeface="Times New Roman"/>
              </a:rPr>
              <a:t>dependiente</a:t>
            </a:r>
            <a:r>
              <a:rPr sz="2400" spc="5" dirty="0">
                <a:latin typeface="Times New Roman"/>
                <a:cs typeface="Times New Roman"/>
              </a:rPr>
              <a:t> </a:t>
            </a:r>
            <a:r>
              <a:rPr sz="2400" spc="-5" dirty="0">
                <a:latin typeface="Times New Roman"/>
                <a:cs typeface="Times New Roman"/>
              </a:rPr>
              <a:t>ordinal),</a:t>
            </a:r>
            <a:r>
              <a:rPr sz="2400" spc="5" dirty="0">
                <a:latin typeface="Times New Roman"/>
                <a:cs typeface="Times New Roman"/>
              </a:rPr>
              <a:t> </a:t>
            </a:r>
            <a:r>
              <a:rPr sz="2400" dirty="0">
                <a:latin typeface="Times New Roman"/>
                <a:cs typeface="Times New Roman"/>
              </a:rPr>
              <a:t>o</a:t>
            </a:r>
            <a:r>
              <a:rPr sz="2400" spc="10" dirty="0">
                <a:latin typeface="Times New Roman"/>
                <a:cs typeface="Times New Roman"/>
              </a:rPr>
              <a:t> </a:t>
            </a:r>
            <a:r>
              <a:rPr sz="2400" dirty="0" err="1">
                <a:latin typeface="Times New Roman"/>
                <a:cs typeface="Times New Roman"/>
              </a:rPr>
              <a:t>bien</a:t>
            </a:r>
            <a:r>
              <a:rPr sz="2400" spc="-15" dirty="0">
                <a:latin typeface="Times New Roman"/>
                <a:cs typeface="Times New Roman"/>
              </a:rPr>
              <a:t> </a:t>
            </a:r>
            <a:r>
              <a:rPr sz="2400" b="1" dirty="0" err="1" smtClean="0">
                <a:latin typeface="Times New Roman"/>
                <a:cs typeface="Times New Roman"/>
              </a:rPr>
              <a:t>probit</a:t>
            </a:r>
            <a:r>
              <a:rPr lang="es-ES" sz="2400" b="1" dirty="0" smtClean="0">
                <a:latin typeface="Times New Roman"/>
                <a:cs typeface="Times New Roman"/>
              </a:rPr>
              <a:t> </a:t>
            </a:r>
            <a:r>
              <a:rPr lang="es-ES" sz="2400" spc="-5" dirty="0" smtClean="0">
                <a:latin typeface="Times New Roman"/>
                <a:cs typeface="Times New Roman"/>
              </a:rPr>
              <a:t>(para estimar </a:t>
            </a:r>
            <a:r>
              <a:rPr lang="es-ES" sz="2400" spc="-5" dirty="0">
                <a:latin typeface="Times New Roman"/>
                <a:cs typeface="Times New Roman"/>
              </a:rPr>
              <a:t>la probabilidad de que una observación con características particulares caerá en una categoría específica)</a:t>
            </a:r>
            <a:r>
              <a:rPr sz="2400" spc="-5" dirty="0">
                <a:latin typeface="Times New Roman"/>
                <a:cs typeface="Times New Roman"/>
              </a:rPr>
              <a:t>.</a:t>
            </a:r>
            <a:endParaRPr lang="es-ES" sz="2400" spc="-5" dirty="0">
              <a:latin typeface="Times New Roman"/>
              <a:cs typeface="Times New Roman"/>
            </a:endParaRPr>
          </a:p>
          <a:p>
            <a:pPr marL="12700" algn="just">
              <a:lnSpc>
                <a:spcPts val="2630"/>
              </a:lnSpc>
            </a:pPr>
            <a:endParaRPr sz="2400" dirty="0">
              <a:latin typeface="Times New Roman"/>
              <a:cs typeface="Times New Roman"/>
            </a:endParaRPr>
          </a:p>
          <a:p>
            <a:pPr marL="12700" marR="678815" algn="just">
              <a:lnSpc>
                <a:spcPts val="2760"/>
              </a:lnSpc>
              <a:spcBef>
                <a:spcPts val="130"/>
              </a:spcBef>
            </a:pPr>
            <a:r>
              <a:rPr sz="2400" b="1" spc="-5" dirty="0">
                <a:latin typeface="Times New Roman"/>
                <a:cs typeface="Times New Roman"/>
              </a:rPr>
              <a:t>Red Neuronal: </a:t>
            </a:r>
            <a:r>
              <a:rPr sz="2400" spc="-5" dirty="0">
                <a:latin typeface="Times New Roman"/>
                <a:cs typeface="Times New Roman"/>
              </a:rPr>
              <a:t>máxima</a:t>
            </a:r>
            <a:r>
              <a:rPr sz="2400" spc="15" dirty="0">
                <a:latin typeface="Times New Roman"/>
                <a:cs typeface="Times New Roman"/>
              </a:rPr>
              <a:t> </a:t>
            </a:r>
            <a:r>
              <a:rPr sz="2400" spc="-5" dirty="0">
                <a:latin typeface="Times New Roman"/>
                <a:cs typeface="Times New Roman"/>
              </a:rPr>
              <a:t>verosimilitud</a:t>
            </a:r>
            <a:r>
              <a:rPr sz="2400" spc="5" dirty="0">
                <a:latin typeface="Times New Roman"/>
                <a:cs typeface="Times New Roman"/>
              </a:rPr>
              <a:t> </a:t>
            </a:r>
            <a:r>
              <a:rPr sz="2400" spc="-5" dirty="0">
                <a:latin typeface="Times New Roman"/>
                <a:cs typeface="Times New Roman"/>
              </a:rPr>
              <a:t>suponiendo</a:t>
            </a:r>
            <a:r>
              <a:rPr sz="2400" spc="10" dirty="0">
                <a:latin typeface="Times New Roman"/>
                <a:cs typeface="Times New Roman"/>
              </a:rPr>
              <a:t> </a:t>
            </a:r>
            <a:r>
              <a:rPr sz="2400" dirty="0">
                <a:latin typeface="Times New Roman"/>
                <a:cs typeface="Times New Roman"/>
              </a:rPr>
              <a:t>la</a:t>
            </a:r>
            <a:r>
              <a:rPr sz="2400" spc="10" dirty="0">
                <a:latin typeface="Times New Roman"/>
                <a:cs typeface="Times New Roman"/>
              </a:rPr>
              <a:t> </a:t>
            </a:r>
            <a:r>
              <a:rPr sz="2400" spc="-5" dirty="0">
                <a:latin typeface="Times New Roman"/>
                <a:cs typeface="Times New Roman"/>
              </a:rPr>
              <a:t>función</a:t>
            </a:r>
            <a:r>
              <a:rPr sz="2400" spc="-10" dirty="0">
                <a:latin typeface="Times New Roman"/>
                <a:cs typeface="Times New Roman"/>
              </a:rPr>
              <a:t> </a:t>
            </a:r>
            <a:r>
              <a:rPr sz="2400" spc="-5" dirty="0">
                <a:latin typeface="Times New Roman"/>
                <a:cs typeface="Times New Roman"/>
              </a:rPr>
              <a:t>Binomial</a:t>
            </a:r>
            <a:r>
              <a:rPr sz="2400" spc="5" dirty="0">
                <a:latin typeface="Times New Roman"/>
                <a:cs typeface="Times New Roman"/>
              </a:rPr>
              <a:t> </a:t>
            </a:r>
            <a:r>
              <a:rPr sz="2400" dirty="0">
                <a:latin typeface="Times New Roman"/>
                <a:cs typeface="Times New Roman"/>
              </a:rPr>
              <a:t>por </a:t>
            </a:r>
            <a:r>
              <a:rPr sz="2400" spc="-585" dirty="0">
                <a:latin typeface="Times New Roman"/>
                <a:cs typeface="Times New Roman"/>
              </a:rPr>
              <a:t> </a:t>
            </a:r>
            <a:r>
              <a:rPr sz="2400" dirty="0">
                <a:latin typeface="Times New Roman"/>
                <a:cs typeface="Times New Roman"/>
              </a:rPr>
              <a:t>defecto,</a:t>
            </a:r>
            <a:r>
              <a:rPr sz="2400" spc="-5" dirty="0">
                <a:latin typeface="Times New Roman"/>
                <a:cs typeface="Times New Roman"/>
              </a:rPr>
              <a:t> </a:t>
            </a:r>
            <a:r>
              <a:rPr sz="2400" dirty="0">
                <a:latin typeface="Times New Roman"/>
                <a:cs typeface="Times New Roman"/>
              </a:rPr>
              <a:t>o bien función</a:t>
            </a:r>
            <a:r>
              <a:rPr sz="2400" spc="-5" dirty="0">
                <a:latin typeface="Times New Roman"/>
                <a:cs typeface="Times New Roman"/>
              </a:rPr>
              <a:t> </a:t>
            </a:r>
            <a:r>
              <a:rPr sz="2400" dirty="0">
                <a:latin typeface="Times New Roman"/>
                <a:cs typeface="Times New Roman"/>
              </a:rPr>
              <a:t>de coste</a:t>
            </a:r>
            <a:r>
              <a:rPr sz="2400" spc="5" dirty="0">
                <a:latin typeface="Times New Roman"/>
                <a:cs typeface="Times New Roman"/>
              </a:rPr>
              <a:t> </a:t>
            </a:r>
            <a:r>
              <a:rPr sz="2400" dirty="0">
                <a:latin typeface="Times New Roman"/>
                <a:cs typeface="Times New Roman"/>
              </a:rPr>
              <a:t>.</a:t>
            </a:r>
          </a:p>
          <a:p>
            <a:pPr algn="just">
              <a:lnSpc>
                <a:spcPct val="100000"/>
              </a:lnSpc>
            </a:pPr>
            <a:endParaRPr sz="2400" dirty="0">
              <a:latin typeface="Times New Roman"/>
              <a:cs typeface="Times New Roman"/>
            </a:endParaRPr>
          </a:p>
          <a:p>
            <a:pPr marL="12700" marR="1421765" algn="just">
              <a:lnSpc>
                <a:spcPts val="2760"/>
              </a:lnSpc>
              <a:spcBef>
                <a:spcPts val="5"/>
              </a:spcBef>
              <a:buAutoNum type="arabicParenR" startAt="2"/>
              <a:tabLst>
                <a:tab pos="343535" algn="l"/>
              </a:tabLst>
            </a:pPr>
            <a:r>
              <a:rPr lang="es-ES" sz="2400" dirty="0" smtClean="0">
                <a:latin typeface="Times New Roman"/>
                <a:cs typeface="Times New Roman"/>
              </a:rPr>
              <a:t> </a:t>
            </a:r>
            <a:r>
              <a:rPr sz="2400" dirty="0" smtClean="0">
                <a:latin typeface="Times New Roman"/>
                <a:cs typeface="Times New Roman"/>
              </a:rPr>
              <a:t>El</a:t>
            </a:r>
            <a:r>
              <a:rPr sz="2400" spc="5" dirty="0" smtClean="0">
                <a:latin typeface="Times New Roman"/>
                <a:cs typeface="Times New Roman"/>
              </a:rPr>
              <a:t> </a:t>
            </a:r>
            <a:r>
              <a:rPr sz="2400" spc="-5" dirty="0">
                <a:latin typeface="Times New Roman"/>
                <a:cs typeface="Times New Roman"/>
              </a:rPr>
              <a:t>algoritmo</a:t>
            </a:r>
            <a:r>
              <a:rPr sz="2400" spc="10" dirty="0">
                <a:latin typeface="Times New Roman"/>
                <a:cs typeface="Times New Roman"/>
              </a:rPr>
              <a:t> </a:t>
            </a:r>
            <a:r>
              <a:rPr sz="2400" spc="-5" dirty="0">
                <a:latin typeface="Times New Roman"/>
                <a:cs typeface="Times New Roman"/>
              </a:rPr>
              <a:t>optimiza</a:t>
            </a:r>
            <a:r>
              <a:rPr sz="2400" spc="5" dirty="0">
                <a:latin typeface="Times New Roman"/>
                <a:cs typeface="Times New Roman"/>
              </a:rPr>
              <a:t> </a:t>
            </a:r>
            <a:r>
              <a:rPr sz="2400" dirty="0">
                <a:latin typeface="Times New Roman"/>
                <a:cs typeface="Times New Roman"/>
              </a:rPr>
              <a:t>los</a:t>
            </a:r>
            <a:r>
              <a:rPr sz="2400" spc="10" dirty="0">
                <a:latin typeface="Times New Roman"/>
                <a:cs typeface="Times New Roman"/>
              </a:rPr>
              <a:t> </a:t>
            </a:r>
            <a:r>
              <a:rPr sz="2400" spc="-5" dirty="0">
                <a:latin typeface="Times New Roman"/>
                <a:cs typeface="Times New Roman"/>
              </a:rPr>
              <a:t>parámetros</a:t>
            </a:r>
            <a:r>
              <a:rPr sz="2400" spc="5" dirty="0">
                <a:latin typeface="Times New Roman"/>
                <a:cs typeface="Times New Roman"/>
              </a:rPr>
              <a:t> </a:t>
            </a:r>
            <a:r>
              <a:rPr sz="2400" dirty="0">
                <a:latin typeface="Times New Roman"/>
                <a:cs typeface="Times New Roman"/>
              </a:rPr>
              <a:t>y</a:t>
            </a:r>
            <a:r>
              <a:rPr sz="2400" spc="10" dirty="0">
                <a:latin typeface="Times New Roman"/>
                <a:cs typeface="Times New Roman"/>
              </a:rPr>
              <a:t> </a:t>
            </a:r>
            <a:r>
              <a:rPr sz="2400" spc="-5" dirty="0">
                <a:latin typeface="Times New Roman"/>
                <a:cs typeface="Times New Roman"/>
              </a:rPr>
              <a:t>se</a:t>
            </a:r>
            <a:r>
              <a:rPr sz="2400" spc="5" dirty="0">
                <a:latin typeface="Times New Roman"/>
                <a:cs typeface="Times New Roman"/>
              </a:rPr>
              <a:t> </a:t>
            </a:r>
            <a:r>
              <a:rPr sz="2400" spc="-5" dirty="0">
                <a:latin typeface="Times New Roman"/>
                <a:cs typeface="Times New Roman"/>
              </a:rPr>
              <a:t>obtienen</a:t>
            </a:r>
            <a:r>
              <a:rPr sz="2400" spc="5" dirty="0">
                <a:latin typeface="Times New Roman"/>
                <a:cs typeface="Times New Roman"/>
              </a:rPr>
              <a:t> </a:t>
            </a:r>
            <a:r>
              <a:rPr sz="2400" spc="-5" dirty="0">
                <a:latin typeface="Times New Roman"/>
                <a:cs typeface="Times New Roman"/>
              </a:rPr>
              <a:t>predicciones. </a:t>
            </a:r>
            <a:r>
              <a:rPr sz="2400" dirty="0">
                <a:latin typeface="Times New Roman"/>
                <a:cs typeface="Times New Roman"/>
              </a:rPr>
              <a:t> Éstas</a:t>
            </a:r>
            <a:r>
              <a:rPr sz="2400" spc="-5" dirty="0">
                <a:latin typeface="Times New Roman"/>
                <a:cs typeface="Times New Roman"/>
              </a:rPr>
              <a:t> suelen ser</a:t>
            </a:r>
            <a:r>
              <a:rPr sz="2400" spc="15" dirty="0">
                <a:latin typeface="Times New Roman"/>
                <a:cs typeface="Times New Roman"/>
              </a:rPr>
              <a:t> </a:t>
            </a:r>
            <a:r>
              <a:rPr sz="2400" dirty="0">
                <a:latin typeface="Times New Roman"/>
                <a:cs typeface="Times New Roman"/>
              </a:rPr>
              <a:t>en</a:t>
            </a:r>
            <a:r>
              <a:rPr sz="2400" spc="5" dirty="0">
                <a:latin typeface="Times New Roman"/>
                <a:cs typeface="Times New Roman"/>
              </a:rPr>
              <a:t> </a:t>
            </a:r>
            <a:r>
              <a:rPr sz="2400" dirty="0">
                <a:latin typeface="Times New Roman"/>
                <a:cs typeface="Times New Roman"/>
              </a:rPr>
              <a:t>forma de</a:t>
            </a:r>
            <a:r>
              <a:rPr sz="2400" spc="5" dirty="0">
                <a:latin typeface="Times New Roman"/>
                <a:cs typeface="Times New Roman"/>
              </a:rPr>
              <a:t> </a:t>
            </a:r>
            <a:r>
              <a:rPr sz="2400" spc="-5" dirty="0">
                <a:latin typeface="Times New Roman"/>
                <a:cs typeface="Times New Roman"/>
              </a:rPr>
              <a:t>probabilidad</a:t>
            </a:r>
            <a:r>
              <a:rPr sz="2400" spc="10" dirty="0">
                <a:latin typeface="Times New Roman"/>
                <a:cs typeface="Times New Roman"/>
              </a:rPr>
              <a:t> </a:t>
            </a:r>
            <a:r>
              <a:rPr sz="2400" dirty="0">
                <a:latin typeface="Times New Roman"/>
                <a:cs typeface="Times New Roman"/>
              </a:rPr>
              <a:t>de</a:t>
            </a:r>
            <a:r>
              <a:rPr sz="2400" spc="5" dirty="0">
                <a:latin typeface="Times New Roman"/>
                <a:cs typeface="Times New Roman"/>
              </a:rPr>
              <a:t> </a:t>
            </a:r>
            <a:r>
              <a:rPr sz="2400" spc="-5" dirty="0">
                <a:latin typeface="Times New Roman"/>
                <a:cs typeface="Times New Roman"/>
              </a:rPr>
              <a:t>pertenecer</a:t>
            </a:r>
            <a:r>
              <a:rPr sz="2400" spc="5" dirty="0">
                <a:latin typeface="Times New Roman"/>
                <a:cs typeface="Times New Roman"/>
              </a:rPr>
              <a:t> </a:t>
            </a:r>
            <a:r>
              <a:rPr sz="2400" dirty="0">
                <a:latin typeface="Times New Roman"/>
                <a:cs typeface="Times New Roman"/>
              </a:rPr>
              <a:t>a</a:t>
            </a:r>
            <a:r>
              <a:rPr sz="2400" spc="-5" dirty="0">
                <a:latin typeface="Times New Roman"/>
                <a:cs typeface="Times New Roman"/>
              </a:rPr>
              <a:t> cada</a:t>
            </a:r>
            <a:r>
              <a:rPr sz="2400" dirty="0">
                <a:latin typeface="Times New Roman"/>
                <a:cs typeface="Times New Roman"/>
              </a:rPr>
              <a:t> clase.</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22300" y="809625"/>
            <a:ext cx="9266937" cy="4695516"/>
          </a:xfrm>
          <a:prstGeom prst="rect">
            <a:avLst/>
          </a:prstGeom>
        </p:spPr>
        <p:txBody>
          <a:bodyPr vert="horz" wrap="square" lIns="0" tIns="27305" rIns="0" bIns="0" rtlCol="0">
            <a:spAutoFit/>
          </a:bodyPr>
          <a:lstStyle/>
          <a:p>
            <a:pPr marL="12700" marR="5080" algn="just">
              <a:lnSpc>
                <a:spcPct val="95900"/>
              </a:lnSpc>
              <a:spcBef>
                <a:spcPts val="215"/>
              </a:spcBef>
              <a:buAutoNum type="arabicParenR" startAt="3"/>
              <a:tabLst>
                <a:tab pos="342900" algn="l"/>
              </a:tabLst>
            </a:pPr>
            <a:r>
              <a:rPr lang="es-ES" sz="2400" spc="-5" dirty="0" smtClean="0">
                <a:latin typeface="Times New Roman"/>
                <a:cs typeface="Times New Roman"/>
              </a:rPr>
              <a:t> </a:t>
            </a:r>
            <a:r>
              <a:rPr sz="2400" spc="-5" dirty="0" smtClean="0">
                <a:latin typeface="Times New Roman"/>
                <a:cs typeface="Times New Roman"/>
              </a:rPr>
              <a:t>Si</a:t>
            </a:r>
            <a:r>
              <a:rPr sz="2400" dirty="0" smtClean="0">
                <a:latin typeface="Times New Roman"/>
                <a:cs typeface="Times New Roman"/>
              </a:rPr>
              <a:t> </a:t>
            </a:r>
            <a:r>
              <a:rPr sz="2400" dirty="0">
                <a:latin typeface="Times New Roman"/>
                <a:cs typeface="Times New Roman"/>
              </a:rPr>
              <a:t>las</a:t>
            </a:r>
            <a:r>
              <a:rPr sz="2400" spc="5" dirty="0">
                <a:latin typeface="Times New Roman"/>
                <a:cs typeface="Times New Roman"/>
              </a:rPr>
              <a:t> </a:t>
            </a:r>
            <a:r>
              <a:rPr sz="2400" spc="-5" dirty="0">
                <a:latin typeface="Times New Roman"/>
                <a:cs typeface="Times New Roman"/>
              </a:rPr>
              <a:t>predicciones</a:t>
            </a:r>
            <a:r>
              <a:rPr sz="2400" dirty="0">
                <a:latin typeface="Times New Roman"/>
                <a:cs typeface="Times New Roman"/>
              </a:rPr>
              <a:t> </a:t>
            </a:r>
            <a:r>
              <a:rPr sz="2400" spc="-5" dirty="0">
                <a:latin typeface="Times New Roman"/>
                <a:cs typeface="Times New Roman"/>
              </a:rPr>
              <a:t>son</a:t>
            </a:r>
            <a:r>
              <a:rPr sz="2400" dirty="0">
                <a:latin typeface="Times New Roman"/>
                <a:cs typeface="Times New Roman"/>
              </a:rPr>
              <a:t> en </a:t>
            </a:r>
            <a:r>
              <a:rPr sz="2400" spc="-5" dirty="0">
                <a:latin typeface="Times New Roman"/>
                <a:cs typeface="Times New Roman"/>
              </a:rPr>
              <a:t>forma</a:t>
            </a:r>
            <a:r>
              <a:rPr sz="2400" dirty="0">
                <a:latin typeface="Times New Roman"/>
                <a:cs typeface="Times New Roman"/>
              </a:rPr>
              <a:t> de probabilidad, es </a:t>
            </a:r>
            <a:r>
              <a:rPr sz="2400" dirty="0" err="1">
                <a:latin typeface="Times New Roman"/>
                <a:cs typeface="Times New Roman"/>
              </a:rPr>
              <a:t>necesario</a:t>
            </a:r>
            <a:r>
              <a:rPr sz="2400" dirty="0">
                <a:latin typeface="Times New Roman"/>
                <a:cs typeface="Times New Roman"/>
              </a:rPr>
              <a:t> </a:t>
            </a:r>
            <a:r>
              <a:rPr sz="2400" b="1" spc="-5" dirty="0" err="1" smtClean="0">
                <a:latin typeface="Times New Roman"/>
                <a:cs typeface="Times New Roman"/>
              </a:rPr>
              <a:t>determina</a:t>
            </a:r>
            <a:r>
              <a:rPr lang="es-ES" sz="2400" b="1" spc="-5" dirty="0" smtClean="0">
                <a:latin typeface="Times New Roman"/>
                <a:cs typeface="Times New Roman"/>
              </a:rPr>
              <a:t>r </a:t>
            </a:r>
            <a:r>
              <a:rPr sz="2400" b="1" dirty="0" smtClean="0">
                <a:latin typeface="Times New Roman"/>
                <a:cs typeface="Times New Roman"/>
              </a:rPr>
              <a:t>el </a:t>
            </a:r>
            <a:r>
              <a:rPr sz="2400" b="1" spc="-5" dirty="0">
                <a:latin typeface="Times New Roman"/>
                <a:cs typeface="Times New Roman"/>
              </a:rPr>
              <a:t>criterio </a:t>
            </a:r>
            <a:r>
              <a:rPr sz="2400" b="1" dirty="0">
                <a:latin typeface="Times New Roman"/>
                <a:cs typeface="Times New Roman"/>
              </a:rPr>
              <a:t>o punto de corte </a:t>
            </a:r>
            <a:r>
              <a:rPr sz="2400" spc="-5" dirty="0">
                <a:latin typeface="Times New Roman"/>
                <a:cs typeface="Times New Roman"/>
              </a:rPr>
              <a:t>(threshold) </a:t>
            </a:r>
            <a:r>
              <a:rPr sz="2400" dirty="0">
                <a:latin typeface="Times New Roman"/>
                <a:cs typeface="Times New Roman"/>
              </a:rPr>
              <a:t>para asignar cada </a:t>
            </a:r>
            <a:r>
              <a:rPr sz="2400" spc="-5" dirty="0">
                <a:latin typeface="Times New Roman"/>
                <a:cs typeface="Times New Roman"/>
              </a:rPr>
              <a:t>observación </a:t>
            </a:r>
            <a:r>
              <a:rPr sz="2400" dirty="0">
                <a:latin typeface="Times New Roman"/>
                <a:cs typeface="Times New Roman"/>
              </a:rPr>
              <a:t>a una </a:t>
            </a:r>
            <a:r>
              <a:rPr sz="2400" spc="5" dirty="0">
                <a:latin typeface="Times New Roman"/>
                <a:cs typeface="Times New Roman"/>
              </a:rPr>
              <a:t> </a:t>
            </a:r>
            <a:r>
              <a:rPr sz="2400" dirty="0">
                <a:latin typeface="Times New Roman"/>
                <a:cs typeface="Times New Roman"/>
              </a:rPr>
              <a:t>clase. </a:t>
            </a:r>
            <a:r>
              <a:rPr sz="2400" b="1" dirty="0">
                <a:latin typeface="Times New Roman"/>
                <a:cs typeface="Times New Roman"/>
              </a:rPr>
              <a:t>Por </a:t>
            </a:r>
            <a:r>
              <a:rPr sz="2400" b="1" spc="-5" dirty="0">
                <a:latin typeface="Times New Roman"/>
                <a:cs typeface="Times New Roman"/>
              </a:rPr>
              <a:t>defecto,</a:t>
            </a:r>
            <a:r>
              <a:rPr sz="2400" b="1" spc="-15" dirty="0">
                <a:latin typeface="Times New Roman"/>
                <a:cs typeface="Times New Roman"/>
              </a:rPr>
              <a:t> </a:t>
            </a:r>
            <a:r>
              <a:rPr sz="2400" b="1" dirty="0">
                <a:latin typeface="Times New Roman"/>
                <a:cs typeface="Times New Roman"/>
              </a:rPr>
              <a:t>el</a:t>
            </a:r>
            <a:r>
              <a:rPr sz="2400" b="1" spc="5" dirty="0">
                <a:latin typeface="Times New Roman"/>
                <a:cs typeface="Times New Roman"/>
              </a:rPr>
              <a:t> </a:t>
            </a:r>
            <a:r>
              <a:rPr sz="2400" b="1" spc="-10" dirty="0">
                <a:latin typeface="Times New Roman"/>
                <a:cs typeface="Times New Roman"/>
              </a:rPr>
              <a:t>punto</a:t>
            </a:r>
            <a:r>
              <a:rPr sz="2400" b="1" spc="-5" dirty="0">
                <a:latin typeface="Times New Roman"/>
                <a:cs typeface="Times New Roman"/>
              </a:rPr>
              <a:t> de</a:t>
            </a:r>
            <a:r>
              <a:rPr sz="2400" b="1" spc="-10" dirty="0">
                <a:latin typeface="Times New Roman"/>
                <a:cs typeface="Times New Roman"/>
              </a:rPr>
              <a:t> </a:t>
            </a:r>
            <a:r>
              <a:rPr sz="2400" b="1" dirty="0">
                <a:latin typeface="Times New Roman"/>
                <a:cs typeface="Times New Roman"/>
              </a:rPr>
              <a:t>corte</a:t>
            </a:r>
            <a:r>
              <a:rPr sz="2400" b="1" spc="-10" dirty="0">
                <a:latin typeface="Times New Roman"/>
                <a:cs typeface="Times New Roman"/>
              </a:rPr>
              <a:t> </a:t>
            </a:r>
            <a:r>
              <a:rPr sz="2400" b="1" dirty="0">
                <a:latin typeface="Times New Roman"/>
                <a:cs typeface="Times New Roman"/>
              </a:rPr>
              <a:t>es </a:t>
            </a:r>
            <a:r>
              <a:rPr sz="2400" b="1" spc="-5" dirty="0">
                <a:latin typeface="Times New Roman"/>
                <a:cs typeface="Times New Roman"/>
              </a:rPr>
              <a:t>p=0.5</a:t>
            </a:r>
            <a:r>
              <a:rPr sz="2400" b="1" spc="15" dirty="0">
                <a:latin typeface="Times New Roman"/>
                <a:cs typeface="Times New Roman"/>
              </a:rPr>
              <a:t> </a:t>
            </a:r>
            <a:r>
              <a:rPr sz="2400" dirty="0" smtClean="0">
                <a:latin typeface="Times New Roman"/>
                <a:cs typeface="Times New Roman"/>
              </a:rPr>
              <a:t>(a</a:t>
            </a:r>
            <a:r>
              <a:rPr sz="2400" spc="-5" dirty="0" smtClean="0">
                <a:latin typeface="Times New Roman"/>
                <a:cs typeface="Times New Roman"/>
              </a:rPr>
              <a:t> </a:t>
            </a:r>
            <a:r>
              <a:rPr sz="2400" dirty="0">
                <a:latin typeface="Times New Roman"/>
                <a:cs typeface="Times New Roman"/>
              </a:rPr>
              <a:t>partir de </a:t>
            </a:r>
            <a:r>
              <a:rPr sz="2400" spc="-5" dirty="0">
                <a:latin typeface="Times New Roman"/>
                <a:cs typeface="Times New Roman"/>
              </a:rPr>
              <a:t>una</a:t>
            </a:r>
            <a:r>
              <a:rPr sz="2400" dirty="0">
                <a:latin typeface="Times New Roman"/>
                <a:cs typeface="Times New Roman"/>
              </a:rPr>
              <a:t> probabilidad </a:t>
            </a:r>
            <a:r>
              <a:rPr sz="2400" spc="5" dirty="0">
                <a:latin typeface="Times New Roman"/>
                <a:cs typeface="Times New Roman"/>
              </a:rPr>
              <a:t> </a:t>
            </a:r>
            <a:r>
              <a:rPr sz="2400" dirty="0">
                <a:latin typeface="Times New Roman"/>
                <a:cs typeface="Times New Roman"/>
              </a:rPr>
              <a:t>predicha </a:t>
            </a:r>
            <a:r>
              <a:rPr sz="2400" spc="-5" dirty="0">
                <a:latin typeface="Times New Roman"/>
                <a:cs typeface="Times New Roman"/>
              </a:rPr>
              <a:t>de</a:t>
            </a:r>
            <a:r>
              <a:rPr sz="2400" spc="-10" dirty="0">
                <a:latin typeface="Times New Roman"/>
                <a:cs typeface="Times New Roman"/>
              </a:rPr>
              <a:t> </a:t>
            </a:r>
            <a:r>
              <a:rPr sz="2400" spc="-5" dirty="0">
                <a:latin typeface="Times New Roman"/>
                <a:cs typeface="Times New Roman"/>
              </a:rPr>
              <a:t>pertenecer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la</a:t>
            </a:r>
            <a:r>
              <a:rPr sz="2400" spc="10" dirty="0">
                <a:latin typeface="Times New Roman"/>
                <a:cs typeface="Times New Roman"/>
              </a:rPr>
              <a:t> </a:t>
            </a:r>
            <a:r>
              <a:rPr sz="2400" dirty="0">
                <a:latin typeface="Times New Roman"/>
                <a:cs typeface="Times New Roman"/>
              </a:rPr>
              <a:t>clase A</a:t>
            </a:r>
            <a:r>
              <a:rPr sz="2400" spc="-5" dirty="0">
                <a:latin typeface="Times New Roman"/>
                <a:cs typeface="Times New Roman"/>
              </a:rPr>
              <a:t> </a:t>
            </a:r>
            <a:r>
              <a:rPr sz="2400" dirty="0">
                <a:latin typeface="Times New Roman"/>
                <a:cs typeface="Times New Roman"/>
              </a:rPr>
              <a:t>de 0.5</a:t>
            </a:r>
            <a:r>
              <a:rPr sz="2400" spc="5" dirty="0">
                <a:latin typeface="Times New Roman"/>
                <a:cs typeface="Times New Roman"/>
              </a:rPr>
              <a:t> </a:t>
            </a:r>
            <a:r>
              <a:rPr sz="2400" spc="-5" dirty="0">
                <a:latin typeface="Times New Roman"/>
                <a:cs typeface="Times New Roman"/>
              </a:rPr>
              <a:t>se asigna</a:t>
            </a:r>
            <a:r>
              <a:rPr sz="2400" dirty="0">
                <a:latin typeface="Times New Roman"/>
                <a:cs typeface="Times New Roman"/>
              </a:rPr>
              <a:t> la</a:t>
            </a:r>
            <a:r>
              <a:rPr sz="2400" spc="5" dirty="0">
                <a:latin typeface="Times New Roman"/>
                <a:cs typeface="Times New Roman"/>
              </a:rPr>
              <a:t> </a:t>
            </a:r>
            <a:r>
              <a:rPr sz="2400" spc="-5" dirty="0">
                <a:latin typeface="Times New Roman"/>
                <a:cs typeface="Times New Roman"/>
              </a:rPr>
              <a:t>observación</a:t>
            </a:r>
            <a:r>
              <a:rPr sz="2400" dirty="0">
                <a:latin typeface="Times New Roman"/>
                <a:cs typeface="Times New Roman"/>
              </a:rPr>
              <a:t> a</a:t>
            </a:r>
            <a:r>
              <a:rPr sz="2400" spc="-5" dirty="0">
                <a:latin typeface="Times New Roman"/>
                <a:cs typeface="Times New Roman"/>
              </a:rPr>
              <a:t> </a:t>
            </a:r>
            <a:r>
              <a:rPr sz="2400" dirty="0">
                <a:latin typeface="Times New Roman"/>
                <a:cs typeface="Times New Roman"/>
              </a:rPr>
              <a:t>la</a:t>
            </a:r>
            <a:r>
              <a:rPr sz="2400" spc="5" dirty="0">
                <a:latin typeface="Times New Roman"/>
                <a:cs typeface="Times New Roman"/>
              </a:rPr>
              <a:t> </a:t>
            </a:r>
            <a:r>
              <a:rPr sz="2400" dirty="0" err="1">
                <a:latin typeface="Times New Roman"/>
                <a:cs typeface="Times New Roman"/>
              </a:rPr>
              <a:t>clase</a:t>
            </a:r>
            <a:r>
              <a:rPr sz="2400" dirty="0">
                <a:latin typeface="Times New Roman"/>
                <a:cs typeface="Times New Roman"/>
              </a:rPr>
              <a:t> </a:t>
            </a:r>
            <a:r>
              <a:rPr sz="2400" spc="-5" dirty="0" smtClean="0">
                <a:latin typeface="Times New Roman"/>
                <a:cs typeface="Times New Roman"/>
              </a:rPr>
              <a:t>A)</a:t>
            </a:r>
            <a:r>
              <a:rPr lang="es-ES" sz="2400" spc="-5" dirty="0">
                <a:latin typeface="Times New Roman"/>
                <a:cs typeface="Times New Roman"/>
              </a:rPr>
              <a:t> </a:t>
            </a:r>
            <a:r>
              <a:rPr lang="es-ES" sz="2400" b="1" spc="-5" dirty="0" smtClean="0">
                <a:latin typeface="Times New Roman"/>
                <a:cs typeface="Times New Roman"/>
              </a:rPr>
              <a:t>OJO:</a:t>
            </a:r>
            <a:r>
              <a:rPr lang="es-ES" sz="2400" spc="-5" dirty="0" smtClean="0">
                <a:latin typeface="Times New Roman"/>
                <a:cs typeface="Times New Roman"/>
              </a:rPr>
              <a:t> este punto de corte se puede modificar.</a:t>
            </a:r>
            <a:endParaRPr sz="2400" b="1" dirty="0">
              <a:latin typeface="Times New Roman"/>
              <a:cs typeface="Times New Roman"/>
            </a:endParaRPr>
          </a:p>
          <a:p>
            <a:pPr algn="just">
              <a:lnSpc>
                <a:spcPct val="100000"/>
              </a:lnSpc>
              <a:buClr>
                <a:srgbClr val="003366"/>
              </a:buClr>
              <a:buFont typeface="Times New Roman"/>
              <a:buAutoNum type="arabicParenR" startAt="3"/>
            </a:pPr>
            <a:endParaRPr sz="2400" dirty="0">
              <a:latin typeface="Times New Roman"/>
              <a:cs typeface="Times New Roman"/>
            </a:endParaRPr>
          </a:p>
          <a:p>
            <a:pPr marL="12700" marR="96520" algn="just">
              <a:lnSpc>
                <a:spcPct val="95900"/>
              </a:lnSpc>
              <a:buAutoNum type="arabicParenR" startAt="3"/>
              <a:tabLst>
                <a:tab pos="342900" algn="l"/>
              </a:tabLst>
            </a:pPr>
            <a:r>
              <a:rPr lang="es-ES" sz="2400" spc="-5" dirty="0" smtClean="0">
                <a:latin typeface="Times New Roman"/>
                <a:cs typeface="Times New Roman"/>
              </a:rPr>
              <a:t> </a:t>
            </a:r>
            <a:r>
              <a:rPr sz="2400" spc="-5" dirty="0" smtClean="0">
                <a:latin typeface="Times New Roman"/>
                <a:cs typeface="Times New Roman"/>
              </a:rPr>
              <a:t>Una </a:t>
            </a:r>
            <a:r>
              <a:rPr sz="2400" dirty="0">
                <a:latin typeface="Times New Roman"/>
                <a:cs typeface="Times New Roman"/>
              </a:rPr>
              <a:t>vez asignadas</a:t>
            </a:r>
            <a:r>
              <a:rPr sz="2400" spc="-15" dirty="0">
                <a:latin typeface="Times New Roman"/>
                <a:cs typeface="Times New Roman"/>
              </a:rPr>
              <a:t> </a:t>
            </a:r>
            <a:r>
              <a:rPr sz="2400" dirty="0">
                <a:latin typeface="Times New Roman"/>
                <a:cs typeface="Times New Roman"/>
              </a:rPr>
              <a:t>las</a:t>
            </a:r>
            <a:r>
              <a:rPr sz="2400" spc="-10" dirty="0">
                <a:latin typeface="Times New Roman"/>
                <a:cs typeface="Times New Roman"/>
              </a:rPr>
              <a:t> </a:t>
            </a:r>
            <a:r>
              <a:rPr sz="2400" spc="-5" dirty="0">
                <a:latin typeface="Times New Roman"/>
                <a:cs typeface="Times New Roman"/>
              </a:rPr>
              <a:t>observaciones</a:t>
            </a:r>
            <a:r>
              <a:rPr sz="2400" dirty="0">
                <a:latin typeface="Times New Roman"/>
                <a:cs typeface="Times New Roman"/>
              </a:rPr>
              <a:t> a</a:t>
            </a:r>
            <a:r>
              <a:rPr sz="2400" spc="5" dirty="0">
                <a:latin typeface="Times New Roman"/>
                <a:cs typeface="Times New Roman"/>
              </a:rPr>
              <a:t> </a:t>
            </a:r>
            <a:r>
              <a:rPr sz="2400" dirty="0">
                <a:latin typeface="Times New Roman"/>
                <a:cs typeface="Times New Roman"/>
              </a:rPr>
              <a:t>las clases, </a:t>
            </a:r>
            <a:r>
              <a:rPr sz="2400" spc="-5" dirty="0">
                <a:latin typeface="Times New Roman"/>
                <a:cs typeface="Times New Roman"/>
              </a:rPr>
              <a:t>se obtienen</a:t>
            </a:r>
            <a:r>
              <a:rPr sz="2400" spc="5" dirty="0">
                <a:latin typeface="Times New Roman"/>
                <a:cs typeface="Times New Roman"/>
              </a:rPr>
              <a:t> </a:t>
            </a:r>
            <a:r>
              <a:rPr sz="2400" spc="-5" dirty="0">
                <a:latin typeface="Times New Roman"/>
                <a:cs typeface="Times New Roman"/>
              </a:rPr>
              <a:t>medidas</a:t>
            </a:r>
            <a:r>
              <a:rPr sz="2400" dirty="0">
                <a:latin typeface="Times New Roman"/>
                <a:cs typeface="Times New Roman"/>
              </a:rPr>
              <a:t> de </a:t>
            </a:r>
            <a:r>
              <a:rPr sz="2400" spc="5" dirty="0">
                <a:latin typeface="Times New Roman"/>
                <a:cs typeface="Times New Roman"/>
              </a:rPr>
              <a:t> </a:t>
            </a:r>
            <a:r>
              <a:rPr sz="2400" dirty="0">
                <a:latin typeface="Times New Roman"/>
                <a:cs typeface="Times New Roman"/>
              </a:rPr>
              <a:t>eficacia</a:t>
            </a:r>
            <a:r>
              <a:rPr sz="2400" spc="-10" dirty="0">
                <a:latin typeface="Times New Roman"/>
                <a:cs typeface="Times New Roman"/>
              </a:rPr>
              <a:t> </a:t>
            </a:r>
            <a:r>
              <a:rPr sz="2400" dirty="0">
                <a:latin typeface="Times New Roman"/>
                <a:cs typeface="Times New Roman"/>
              </a:rPr>
              <a:t>en</a:t>
            </a:r>
            <a:r>
              <a:rPr sz="2400" spc="5" dirty="0">
                <a:latin typeface="Times New Roman"/>
                <a:cs typeface="Times New Roman"/>
              </a:rPr>
              <a:t> </a:t>
            </a:r>
            <a:r>
              <a:rPr sz="2400" dirty="0">
                <a:latin typeface="Times New Roman"/>
                <a:cs typeface="Times New Roman"/>
              </a:rPr>
              <a:t>la</a:t>
            </a:r>
            <a:r>
              <a:rPr sz="2400" spc="5" dirty="0">
                <a:latin typeface="Times New Roman"/>
                <a:cs typeface="Times New Roman"/>
              </a:rPr>
              <a:t> </a:t>
            </a:r>
            <a:r>
              <a:rPr sz="2400" spc="-5" dirty="0">
                <a:latin typeface="Times New Roman"/>
                <a:cs typeface="Times New Roman"/>
              </a:rPr>
              <a:t>clasificación</a:t>
            </a:r>
            <a:r>
              <a:rPr sz="2400" spc="5" dirty="0">
                <a:latin typeface="Times New Roman"/>
                <a:cs typeface="Times New Roman"/>
              </a:rPr>
              <a:t> </a:t>
            </a:r>
            <a:r>
              <a:rPr sz="2400" spc="-5" dirty="0">
                <a:latin typeface="Times New Roman"/>
                <a:cs typeface="Times New Roman"/>
              </a:rPr>
              <a:t>como</a:t>
            </a:r>
            <a:r>
              <a:rPr sz="2400" dirty="0">
                <a:latin typeface="Times New Roman"/>
                <a:cs typeface="Times New Roman"/>
              </a:rPr>
              <a:t> la</a:t>
            </a:r>
            <a:r>
              <a:rPr sz="2400" spc="30" dirty="0">
                <a:latin typeface="Times New Roman"/>
                <a:cs typeface="Times New Roman"/>
              </a:rPr>
              <a:t> </a:t>
            </a:r>
            <a:r>
              <a:rPr sz="2400" spc="-5" dirty="0">
                <a:latin typeface="Times New Roman"/>
                <a:cs typeface="Times New Roman"/>
              </a:rPr>
              <a:t>matriz</a:t>
            </a:r>
            <a:r>
              <a:rPr sz="2400" spc="5" dirty="0">
                <a:latin typeface="Times New Roman"/>
                <a:cs typeface="Times New Roman"/>
              </a:rPr>
              <a:t> </a:t>
            </a:r>
            <a:r>
              <a:rPr sz="2400" dirty="0">
                <a:latin typeface="Times New Roman"/>
                <a:cs typeface="Times New Roman"/>
              </a:rPr>
              <a:t>de</a:t>
            </a:r>
            <a:r>
              <a:rPr sz="2400" spc="5" dirty="0">
                <a:latin typeface="Times New Roman"/>
                <a:cs typeface="Times New Roman"/>
              </a:rPr>
              <a:t> </a:t>
            </a:r>
            <a:r>
              <a:rPr sz="2400" spc="-5" dirty="0">
                <a:latin typeface="Times New Roman"/>
                <a:cs typeface="Times New Roman"/>
              </a:rPr>
              <a:t>confusión,</a:t>
            </a:r>
            <a:r>
              <a:rPr sz="2400" dirty="0">
                <a:latin typeface="Times New Roman"/>
                <a:cs typeface="Times New Roman"/>
              </a:rPr>
              <a:t> </a:t>
            </a:r>
            <a:r>
              <a:rPr sz="2400" spc="-5" dirty="0">
                <a:latin typeface="Times New Roman"/>
                <a:cs typeface="Times New Roman"/>
              </a:rPr>
              <a:t>área</a:t>
            </a:r>
            <a:r>
              <a:rPr sz="2400" spc="5" dirty="0">
                <a:latin typeface="Times New Roman"/>
                <a:cs typeface="Times New Roman"/>
              </a:rPr>
              <a:t> </a:t>
            </a:r>
            <a:r>
              <a:rPr sz="2400" dirty="0">
                <a:latin typeface="Times New Roman"/>
                <a:cs typeface="Times New Roman"/>
              </a:rPr>
              <a:t>bajo</a:t>
            </a:r>
            <a:r>
              <a:rPr sz="2400" spc="5" dirty="0">
                <a:latin typeface="Times New Roman"/>
                <a:cs typeface="Times New Roman"/>
              </a:rPr>
              <a:t> </a:t>
            </a:r>
            <a:r>
              <a:rPr sz="2400" spc="-5" dirty="0">
                <a:latin typeface="Times New Roman"/>
                <a:cs typeface="Times New Roman"/>
              </a:rPr>
              <a:t>la</a:t>
            </a:r>
            <a:r>
              <a:rPr sz="2400" spc="15" dirty="0">
                <a:latin typeface="Times New Roman"/>
                <a:cs typeface="Times New Roman"/>
              </a:rPr>
              <a:t> </a:t>
            </a:r>
            <a:r>
              <a:rPr sz="2400" dirty="0">
                <a:latin typeface="Times New Roman"/>
                <a:cs typeface="Times New Roman"/>
              </a:rPr>
              <a:t>curva </a:t>
            </a:r>
            <a:r>
              <a:rPr sz="2400" spc="-10" dirty="0">
                <a:latin typeface="Times New Roman"/>
                <a:cs typeface="Times New Roman"/>
              </a:rPr>
              <a:t>ROC </a:t>
            </a:r>
            <a:r>
              <a:rPr sz="2400" spc="-585" dirty="0">
                <a:latin typeface="Times New Roman"/>
                <a:cs typeface="Times New Roman"/>
              </a:rPr>
              <a:t> </a:t>
            </a:r>
            <a:r>
              <a:rPr sz="2400" spc="-5" dirty="0">
                <a:latin typeface="Times New Roman"/>
                <a:cs typeface="Times New Roman"/>
              </a:rPr>
              <a:t>(AUC), </a:t>
            </a:r>
            <a:r>
              <a:rPr sz="2400" dirty="0">
                <a:latin typeface="Times New Roman"/>
                <a:cs typeface="Times New Roman"/>
              </a:rPr>
              <a:t>etc.</a:t>
            </a:r>
          </a:p>
          <a:p>
            <a:pPr marL="12700" marR="130175" indent="76200" algn="just">
              <a:lnSpc>
                <a:spcPts val="2760"/>
              </a:lnSpc>
              <a:spcBef>
                <a:spcPts val="70"/>
              </a:spcBef>
            </a:pPr>
            <a:endParaRPr lang="es-ES" sz="2400" dirty="0" smtClean="0">
              <a:solidFill>
                <a:srgbClr val="FF0000"/>
              </a:solidFill>
              <a:latin typeface="Times New Roman"/>
              <a:cs typeface="Times New Roman"/>
            </a:endParaRPr>
          </a:p>
          <a:p>
            <a:pPr marL="12700" marR="130175" indent="76200" algn="just">
              <a:lnSpc>
                <a:spcPts val="2760"/>
              </a:lnSpc>
              <a:spcBef>
                <a:spcPts val="70"/>
              </a:spcBef>
            </a:pPr>
            <a:r>
              <a:rPr sz="2400" dirty="0" err="1" smtClean="0">
                <a:latin typeface="Times New Roman"/>
                <a:cs typeface="Times New Roman"/>
              </a:rPr>
              <a:t>En</a:t>
            </a:r>
            <a:r>
              <a:rPr sz="2400" dirty="0" smtClean="0">
                <a:latin typeface="Times New Roman"/>
                <a:cs typeface="Times New Roman"/>
              </a:rPr>
              <a:t> </a:t>
            </a:r>
            <a:r>
              <a:rPr sz="2400" dirty="0">
                <a:latin typeface="Times New Roman"/>
                <a:cs typeface="Times New Roman"/>
              </a:rPr>
              <a:t>general, para evitar </a:t>
            </a:r>
            <a:r>
              <a:rPr sz="2400" spc="-10" dirty="0">
                <a:latin typeface="Times New Roman"/>
                <a:cs typeface="Times New Roman"/>
              </a:rPr>
              <a:t>el </a:t>
            </a:r>
            <a:r>
              <a:rPr sz="2400" spc="-5" dirty="0">
                <a:latin typeface="Times New Roman"/>
                <a:cs typeface="Times New Roman"/>
              </a:rPr>
              <a:t>sobreajuste, </a:t>
            </a:r>
            <a:r>
              <a:rPr sz="2400" dirty="0">
                <a:latin typeface="Times New Roman"/>
                <a:cs typeface="Times New Roman"/>
              </a:rPr>
              <a:t>las </a:t>
            </a:r>
            <a:r>
              <a:rPr sz="2400" spc="-5" dirty="0">
                <a:latin typeface="Times New Roman"/>
                <a:cs typeface="Times New Roman"/>
              </a:rPr>
              <a:t>medidas </a:t>
            </a:r>
            <a:r>
              <a:rPr sz="2400" dirty="0">
                <a:latin typeface="Times New Roman"/>
                <a:cs typeface="Times New Roman"/>
              </a:rPr>
              <a:t>de eficacia </a:t>
            </a:r>
            <a:r>
              <a:rPr sz="2400" spc="-5" dirty="0">
                <a:latin typeface="Times New Roman"/>
                <a:cs typeface="Times New Roman"/>
              </a:rPr>
              <a:t>se calcularán </a:t>
            </a:r>
            <a:r>
              <a:rPr sz="2400" dirty="0">
                <a:latin typeface="Times New Roman"/>
                <a:cs typeface="Times New Roman"/>
              </a:rPr>
              <a:t> </a:t>
            </a:r>
            <a:r>
              <a:rPr sz="2400" spc="-5" dirty="0">
                <a:latin typeface="Times New Roman"/>
                <a:cs typeface="Times New Roman"/>
              </a:rPr>
              <a:t>siempre</a:t>
            </a:r>
            <a:r>
              <a:rPr sz="2400" dirty="0">
                <a:latin typeface="Times New Roman"/>
                <a:cs typeface="Times New Roman"/>
              </a:rPr>
              <a:t> </a:t>
            </a:r>
            <a:r>
              <a:rPr sz="2400" spc="-5" dirty="0">
                <a:latin typeface="Times New Roman"/>
                <a:cs typeface="Times New Roman"/>
              </a:rPr>
              <a:t>sobre</a:t>
            </a:r>
            <a:r>
              <a:rPr sz="2400" dirty="0">
                <a:latin typeface="Times New Roman"/>
                <a:cs typeface="Times New Roman"/>
              </a:rPr>
              <a:t> datos </a:t>
            </a:r>
            <a:r>
              <a:rPr sz="2400" spc="-5" dirty="0">
                <a:latin typeface="Times New Roman"/>
                <a:cs typeface="Times New Roman"/>
              </a:rPr>
              <a:t>de</a:t>
            </a:r>
            <a:r>
              <a:rPr sz="2400" spc="20" dirty="0">
                <a:latin typeface="Times New Roman"/>
                <a:cs typeface="Times New Roman"/>
              </a:rPr>
              <a:t> </a:t>
            </a:r>
            <a:r>
              <a:rPr sz="2400" b="1" spc="-5" dirty="0">
                <a:solidFill>
                  <a:srgbClr val="FF0000"/>
                </a:solidFill>
                <a:latin typeface="Times New Roman"/>
                <a:cs typeface="Times New Roman"/>
              </a:rPr>
              <a:t>validación</a:t>
            </a:r>
            <a:r>
              <a:rPr sz="2400" b="1" spc="10" dirty="0">
                <a:solidFill>
                  <a:srgbClr val="FF0000"/>
                </a:solidFill>
                <a:latin typeface="Times New Roman"/>
                <a:cs typeface="Times New Roman"/>
              </a:rPr>
              <a:t> </a:t>
            </a:r>
            <a:r>
              <a:rPr sz="2400" dirty="0">
                <a:latin typeface="Times New Roman"/>
                <a:cs typeface="Times New Roman"/>
              </a:rPr>
              <a:t>o</a:t>
            </a:r>
            <a:r>
              <a:rPr sz="2400" spc="-15" dirty="0">
                <a:latin typeface="Times New Roman"/>
                <a:cs typeface="Times New Roman"/>
              </a:rPr>
              <a:t> </a:t>
            </a:r>
            <a:r>
              <a:rPr sz="2400" b="1" dirty="0">
                <a:solidFill>
                  <a:srgbClr val="FF0000"/>
                </a:solidFill>
                <a:latin typeface="Times New Roman"/>
                <a:cs typeface="Times New Roman"/>
              </a:rPr>
              <a:t>test</a:t>
            </a:r>
            <a:r>
              <a:rPr sz="2400" dirty="0">
                <a:latin typeface="Times New Roman"/>
                <a:cs typeface="Times New Roman"/>
              </a:rPr>
              <a:t>, </a:t>
            </a:r>
            <a:r>
              <a:rPr sz="2400" spc="-5" dirty="0">
                <a:latin typeface="Times New Roman"/>
                <a:cs typeface="Times New Roman"/>
              </a:rPr>
              <a:t>al</a:t>
            </a:r>
            <a:r>
              <a:rPr sz="2400" dirty="0">
                <a:latin typeface="Times New Roman"/>
                <a:cs typeface="Times New Roman"/>
              </a:rPr>
              <a:t> </a:t>
            </a:r>
            <a:r>
              <a:rPr sz="2400" spc="-5" dirty="0">
                <a:latin typeface="Times New Roman"/>
                <a:cs typeface="Times New Roman"/>
              </a:rPr>
              <a:t>igual </a:t>
            </a:r>
            <a:r>
              <a:rPr sz="2400" dirty="0">
                <a:latin typeface="Times New Roman"/>
                <a:cs typeface="Times New Roman"/>
              </a:rPr>
              <a:t>que </a:t>
            </a:r>
            <a:r>
              <a:rPr sz="2400" spc="-5" dirty="0">
                <a:latin typeface="Times New Roman"/>
                <a:cs typeface="Times New Roman"/>
              </a:rPr>
              <a:t>se</a:t>
            </a:r>
            <a:r>
              <a:rPr sz="2400" dirty="0">
                <a:latin typeface="Times New Roman"/>
                <a:cs typeface="Times New Roman"/>
              </a:rPr>
              <a:t> </a:t>
            </a:r>
            <a:r>
              <a:rPr sz="2400" spc="-5" dirty="0">
                <a:latin typeface="Times New Roman"/>
                <a:cs typeface="Times New Roman"/>
              </a:rPr>
              <a:t>observaba</a:t>
            </a:r>
            <a:r>
              <a:rPr sz="2400" dirty="0">
                <a:latin typeface="Times New Roman"/>
                <a:cs typeface="Times New Roman"/>
              </a:rPr>
              <a:t> en </a:t>
            </a:r>
            <a:r>
              <a:rPr sz="2400" spc="-5" dirty="0">
                <a:latin typeface="Times New Roman"/>
                <a:cs typeface="Times New Roman"/>
              </a:rPr>
              <a:t>regresión </a:t>
            </a:r>
            <a:r>
              <a:rPr sz="2400" spc="-585" dirty="0">
                <a:latin typeface="Times New Roman"/>
                <a:cs typeface="Times New Roman"/>
              </a:rPr>
              <a:t> </a:t>
            </a:r>
            <a:r>
              <a:rPr sz="2400" dirty="0">
                <a:latin typeface="Times New Roman"/>
                <a:cs typeface="Times New Roman"/>
              </a:rPr>
              <a:t>el </a:t>
            </a:r>
            <a:r>
              <a:rPr sz="2400" spc="-5" dirty="0">
                <a:latin typeface="Times New Roman"/>
                <a:cs typeface="Times New Roman"/>
              </a:rPr>
              <a:t>MSE </a:t>
            </a:r>
            <a:r>
              <a:rPr sz="2400" dirty="0">
                <a:latin typeface="Times New Roman"/>
                <a:cs typeface="Times New Roman"/>
              </a:rPr>
              <a:t>para</a:t>
            </a:r>
            <a:r>
              <a:rPr sz="2400" spc="-10" dirty="0">
                <a:latin typeface="Times New Roman"/>
                <a:cs typeface="Times New Roman"/>
              </a:rPr>
              <a:t> </a:t>
            </a:r>
            <a:r>
              <a:rPr sz="2400" dirty="0">
                <a:latin typeface="Times New Roman"/>
                <a:cs typeface="Times New Roman"/>
              </a:rPr>
              <a:t>validación</a:t>
            </a:r>
            <a:r>
              <a:rPr sz="2400" spc="-10" dirty="0">
                <a:latin typeface="Times New Roman"/>
                <a:cs typeface="Times New Roman"/>
              </a:rPr>
              <a:t> </a:t>
            </a:r>
            <a:r>
              <a:rPr sz="2400" dirty="0">
                <a:latin typeface="Times New Roman"/>
                <a:cs typeface="Times New Roman"/>
              </a:rPr>
              <a:t>o </a:t>
            </a:r>
            <a:r>
              <a:rPr sz="2400" spc="-5" dirty="0">
                <a:latin typeface="Times New Roman"/>
                <a:cs typeface="Times New Roman"/>
              </a:rPr>
              <a:t>test.</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25628"/>
            <a:ext cx="6604000" cy="681990"/>
          </a:xfrm>
          <a:prstGeom prst="rect">
            <a:avLst/>
          </a:prstGeom>
        </p:spPr>
        <p:txBody>
          <a:bodyPr vert="horz" wrap="square" lIns="0" tIns="12700" rIns="0" bIns="0" rtlCol="0">
            <a:spAutoFit/>
          </a:bodyPr>
          <a:lstStyle/>
          <a:p>
            <a:pPr marL="12700">
              <a:lnSpc>
                <a:spcPts val="2825"/>
              </a:lnSpc>
              <a:spcBef>
                <a:spcPts val="100"/>
              </a:spcBef>
            </a:pPr>
            <a:r>
              <a:rPr b="1" u="sng" dirty="0">
                <a:uFill>
                  <a:solidFill>
                    <a:srgbClr val="FF0000"/>
                  </a:solidFill>
                </a:uFill>
                <a:latin typeface="Times New Roman"/>
                <a:cs typeface="Times New Roman"/>
              </a:rPr>
              <a:t>Matriz</a:t>
            </a:r>
            <a:r>
              <a:rPr b="1" u="sng" spc="-35" dirty="0">
                <a:uFill>
                  <a:solidFill>
                    <a:srgbClr val="FF0000"/>
                  </a:solidFill>
                </a:uFill>
                <a:latin typeface="Times New Roman"/>
                <a:cs typeface="Times New Roman"/>
              </a:rPr>
              <a:t> </a:t>
            </a:r>
            <a:r>
              <a:rPr b="1" u="sng" spc="-5" dirty="0">
                <a:uFill>
                  <a:solidFill>
                    <a:srgbClr val="FF0000"/>
                  </a:solidFill>
                </a:uFill>
                <a:latin typeface="Times New Roman"/>
                <a:cs typeface="Times New Roman"/>
              </a:rPr>
              <a:t>de</a:t>
            </a:r>
            <a:r>
              <a:rPr b="1" u="sng" dirty="0">
                <a:uFill>
                  <a:solidFill>
                    <a:srgbClr val="FF0000"/>
                  </a:solidFill>
                </a:uFill>
                <a:latin typeface="Times New Roman"/>
                <a:cs typeface="Times New Roman"/>
              </a:rPr>
              <a:t> </a:t>
            </a:r>
            <a:r>
              <a:rPr b="1" u="sng" spc="-5" dirty="0">
                <a:uFill>
                  <a:solidFill>
                    <a:srgbClr val="FF0000"/>
                  </a:solidFill>
                </a:uFill>
                <a:latin typeface="Times New Roman"/>
                <a:cs typeface="Times New Roman"/>
              </a:rPr>
              <a:t>Confusión de</a:t>
            </a:r>
            <a:r>
              <a:rPr b="1" u="sng" spc="-10" dirty="0">
                <a:uFill>
                  <a:solidFill>
                    <a:srgbClr val="FF0000"/>
                  </a:solidFill>
                </a:uFill>
                <a:latin typeface="Times New Roman"/>
                <a:cs typeface="Times New Roman"/>
              </a:rPr>
              <a:t> </a:t>
            </a:r>
            <a:r>
              <a:rPr b="1" u="sng" spc="-5" dirty="0">
                <a:uFill>
                  <a:solidFill>
                    <a:srgbClr val="FF0000"/>
                  </a:solidFill>
                </a:uFill>
                <a:latin typeface="Times New Roman"/>
                <a:cs typeface="Times New Roman"/>
              </a:rPr>
              <a:t>un</a:t>
            </a:r>
            <a:r>
              <a:rPr b="1" u="sng" spc="-15" dirty="0">
                <a:uFill>
                  <a:solidFill>
                    <a:srgbClr val="FF0000"/>
                  </a:solidFill>
                </a:uFill>
                <a:latin typeface="Times New Roman"/>
                <a:cs typeface="Times New Roman"/>
              </a:rPr>
              <a:t> </a:t>
            </a:r>
            <a:r>
              <a:rPr b="1" u="sng" dirty="0">
                <a:uFill>
                  <a:solidFill>
                    <a:srgbClr val="FF0000"/>
                  </a:solidFill>
                </a:uFill>
                <a:latin typeface="Times New Roman"/>
                <a:cs typeface="Times New Roman"/>
              </a:rPr>
              <a:t>método</a:t>
            </a:r>
            <a:r>
              <a:rPr b="1" u="sng" spc="-5" dirty="0">
                <a:uFill>
                  <a:solidFill>
                    <a:srgbClr val="FF0000"/>
                  </a:solidFill>
                </a:uFill>
                <a:latin typeface="Times New Roman"/>
                <a:cs typeface="Times New Roman"/>
              </a:rPr>
              <a:t> de</a:t>
            </a:r>
            <a:r>
              <a:rPr b="1" u="sng" spc="-10" dirty="0">
                <a:uFill>
                  <a:solidFill>
                    <a:srgbClr val="FF0000"/>
                  </a:solidFill>
                </a:uFill>
                <a:latin typeface="Times New Roman"/>
                <a:cs typeface="Times New Roman"/>
              </a:rPr>
              <a:t> </a:t>
            </a:r>
            <a:r>
              <a:rPr b="1" u="sng" dirty="0">
                <a:uFill>
                  <a:solidFill>
                    <a:srgbClr val="FF0000"/>
                  </a:solidFill>
                </a:uFill>
                <a:latin typeface="Times New Roman"/>
                <a:cs typeface="Times New Roman"/>
              </a:rPr>
              <a:t>clasificación</a:t>
            </a:r>
          </a:p>
          <a:p>
            <a:pPr marL="4059554">
              <a:lnSpc>
                <a:spcPts val="2345"/>
              </a:lnSpc>
            </a:pPr>
            <a:r>
              <a:rPr sz="2000" spc="-5" dirty="0">
                <a:solidFill>
                  <a:srgbClr val="003366"/>
                </a:solidFill>
              </a:rPr>
              <a:t>Observados</a:t>
            </a:r>
            <a:endParaRPr sz="2000" dirty="0"/>
          </a:p>
        </p:txBody>
      </p:sp>
      <p:sp>
        <p:nvSpPr>
          <p:cNvPr id="3" name="object 3"/>
          <p:cNvSpPr txBox="1"/>
          <p:nvPr/>
        </p:nvSpPr>
        <p:spPr>
          <a:xfrm>
            <a:off x="346963" y="1319530"/>
            <a:ext cx="1028065" cy="330835"/>
          </a:xfrm>
          <a:prstGeom prst="rect">
            <a:avLst/>
          </a:prstGeom>
        </p:spPr>
        <p:txBody>
          <a:bodyPr vert="horz" wrap="square" lIns="0" tIns="13335" rIns="0" bIns="0" rtlCol="0">
            <a:spAutoFit/>
          </a:bodyPr>
          <a:lstStyle/>
          <a:p>
            <a:pPr marL="12700">
              <a:lnSpc>
                <a:spcPct val="100000"/>
              </a:lnSpc>
              <a:spcBef>
                <a:spcPts val="105"/>
              </a:spcBef>
            </a:pPr>
            <a:r>
              <a:rPr sz="2000" spc="-5" dirty="0">
                <a:solidFill>
                  <a:srgbClr val="003366"/>
                </a:solidFill>
                <a:latin typeface="Times New Roman"/>
                <a:cs typeface="Times New Roman"/>
              </a:rPr>
              <a:t>Predichos</a:t>
            </a:r>
            <a:endParaRPr sz="2000">
              <a:latin typeface="Times New Roman"/>
              <a:cs typeface="Times New Roman"/>
            </a:endParaRPr>
          </a:p>
        </p:txBody>
      </p:sp>
      <p:sp>
        <p:nvSpPr>
          <p:cNvPr id="4" name="object 4"/>
          <p:cNvSpPr txBox="1"/>
          <p:nvPr/>
        </p:nvSpPr>
        <p:spPr>
          <a:xfrm>
            <a:off x="346963" y="2312035"/>
            <a:ext cx="3132455" cy="1207135"/>
          </a:xfrm>
          <a:prstGeom prst="rect">
            <a:avLst/>
          </a:prstGeom>
        </p:spPr>
        <p:txBody>
          <a:bodyPr vert="horz" wrap="square" lIns="0" tIns="13335" rIns="0" bIns="0" rtlCol="0">
            <a:spAutoFit/>
          </a:bodyPr>
          <a:lstStyle/>
          <a:p>
            <a:pPr marL="12700">
              <a:lnSpc>
                <a:spcPts val="2350"/>
              </a:lnSpc>
              <a:spcBef>
                <a:spcPts val="105"/>
              </a:spcBef>
            </a:pPr>
            <a:r>
              <a:rPr sz="2000" spc="-5" dirty="0">
                <a:latin typeface="Times New Roman"/>
                <a:cs typeface="Times New Roman"/>
              </a:rPr>
              <a:t>VP=Verdaderos</a:t>
            </a:r>
            <a:r>
              <a:rPr sz="2000" spc="-15" dirty="0">
                <a:latin typeface="Times New Roman"/>
                <a:cs typeface="Times New Roman"/>
              </a:rPr>
              <a:t> </a:t>
            </a:r>
            <a:r>
              <a:rPr sz="2000" spc="-5" dirty="0">
                <a:latin typeface="Times New Roman"/>
                <a:cs typeface="Times New Roman"/>
              </a:rPr>
              <a:t>positivos:</a:t>
            </a:r>
            <a:r>
              <a:rPr sz="2000" spc="-25" dirty="0">
                <a:latin typeface="Times New Roman"/>
                <a:cs typeface="Times New Roman"/>
              </a:rPr>
              <a:t> </a:t>
            </a:r>
            <a:r>
              <a:rPr sz="2000" dirty="0">
                <a:latin typeface="Times New Roman"/>
                <a:cs typeface="Times New Roman"/>
              </a:rPr>
              <a:t>15</a:t>
            </a:r>
          </a:p>
          <a:p>
            <a:pPr marL="12700">
              <a:lnSpc>
                <a:spcPts val="2305"/>
              </a:lnSpc>
            </a:pPr>
            <a:r>
              <a:rPr sz="2000" spc="-5" dirty="0">
                <a:latin typeface="Times New Roman"/>
                <a:cs typeface="Times New Roman"/>
              </a:rPr>
              <a:t>VN=Verdaderos</a:t>
            </a:r>
            <a:r>
              <a:rPr sz="2000" spc="-10" dirty="0">
                <a:latin typeface="Times New Roman"/>
                <a:cs typeface="Times New Roman"/>
              </a:rPr>
              <a:t> </a:t>
            </a:r>
            <a:r>
              <a:rPr sz="2000" spc="-5" dirty="0">
                <a:latin typeface="Times New Roman"/>
                <a:cs typeface="Times New Roman"/>
              </a:rPr>
              <a:t>negativos:</a:t>
            </a:r>
            <a:r>
              <a:rPr sz="2000" spc="-20" dirty="0">
                <a:latin typeface="Times New Roman"/>
                <a:cs typeface="Times New Roman"/>
              </a:rPr>
              <a:t> </a:t>
            </a:r>
            <a:r>
              <a:rPr sz="2000" dirty="0">
                <a:latin typeface="Times New Roman"/>
                <a:cs typeface="Times New Roman"/>
              </a:rPr>
              <a:t>25</a:t>
            </a:r>
          </a:p>
          <a:p>
            <a:pPr marL="12700">
              <a:lnSpc>
                <a:spcPts val="2300"/>
              </a:lnSpc>
            </a:pPr>
            <a:r>
              <a:rPr sz="2000" spc="-5" dirty="0">
                <a:latin typeface="Times New Roman"/>
                <a:cs typeface="Times New Roman"/>
              </a:rPr>
              <a:t>FP=Falsos</a:t>
            </a:r>
            <a:r>
              <a:rPr sz="2000" spc="-25" dirty="0">
                <a:latin typeface="Times New Roman"/>
                <a:cs typeface="Times New Roman"/>
              </a:rPr>
              <a:t> </a:t>
            </a:r>
            <a:r>
              <a:rPr sz="2000" spc="-5" dirty="0">
                <a:latin typeface="Times New Roman"/>
                <a:cs typeface="Times New Roman"/>
              </a:rPr>
              <a:t>positivos:</a:t>
            </a:r>
            <a:r>
              <a:rPr sz="2000" spc="-10" dirty="0">
                <a:latin typeface="Times New Roman"/>
                <a:cs typeface="Times New Roman"/>
              </a:rPr>
              <a:t> </a:t>
            </a:r>
            <a:r>
              <a:rPr sz="2000" dirty="0">
                <a:latin typeface="Times New Roman"/>
                <a:cs typeface="Times New Roman"/>
              </a:rPr>
              <a:t>6</a:t>
            </a:r>
          </a:p>
          <a:p>
            <a:pPr marL="12700">
              <a:lnSpc>
                <a:spcPts val="2345"/>
              </a:lnSpc>
            </a:pPr>
            <a:r>
              <a:rPr sz="2000" spc="-5" dirty="0">
                <a:latin typeface="Times New Roman"/>
                <a:cs typeface="Times New Roman"/>
              </a:rPr>
              <a:t>FN=Falsos</a:t>
            </a:r>
            <a:r>
              <a:rPr sz="2000" spc="-15" dirty="0">
                <a:latin typeface="Times New Roman"/>
                <a:cs typeface="Times New Roman"/>
              </a:rPr>
              <a:t> </a:t>
            </a:r>
            <a:r>
              <a:rPr sz="2000" spc="-5" dirty="0">
                <a:latin typeface="Times New Roman"/>
                <a:cs typeface="Times New Roman"/>
              </a:rPr>
              <a:t>negativos:</a:t>
            </a:r>
            <a:r>
              <a:rPr sz="2000" spc="-20" dirty="0">
                <a:latin typeface="Times New Roman"/>
                <a:cs typeface="Times New Roman"/>
              </a:rPr>
              <a:t> </a:t>
            </a:r>
            <a:r>
              <a:rPr sz="2000" dirty="0">
                <a:latin typeface="Times New Roman"/>
                <a:cs typeface="Times New Roman"/>
              </a:rPr>
              <a:t>8</a:t>
            </a:r>
          </a:p>
        </p:txBody>
      </p:sp>
      <p:sp>
        <p:nvSpPr>
          <p:cNvPr id="5" name="object 5"/>
          <p:cNvSpPr txBox="1"/>
          <p:nvPr/>
        </p:nvSpPr>
        <p:spPr>
          <a:xfrm>
            <a:off x="3594100" y="2312035"/>
            <a:ext cx="2359660" cy="1206099"/>
          </a:xfrm>
          <a:prstGeom prst="rect">
            <a:avLst/>
          </a:prstGeom>
        </p:spPr>
        <p:txBody>
          <a:bodyPr vert="horz" wrap="square" lIns="0" tIns="13335" rIns="0" bIns="0" rtlCol="0">
            <a:spAutoFit/>
          </a:bodyPr>
          <a:lstStyle/>
          <a:p>
            <a:pPr marL="12700">
              <a:lnSpc>
                <a:spcPts val="2350"/>
              </a:lnSpc>
              <a:spcBef>
                <a:spcPts val="105"/>
              </a:spcBef>
            </a:pP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27.7%</a:t>
            </a:r>
            <a:r>
              <a:rPr sz="2000" spc="-30" dirty="0">
                <a:latin typeface="Times New Roman"/>
                <a:cs typeface="Times New Roman"/>
              </a:rPr>
              <a:t> </a:t>
            </a:r>
            <a:r>
              <a:rPr sz="2000" dirty="0">
                <a:latin typeface="Times New Roman"/>
                <a:cs typeface="Times New Roman"/>
              </a:rPr>
              <a:t>(sobre</a:t>
            </a:r>
            <a:r>
              <a:rPr sz="2000" spc="-35" dirty="0">
                <a:latin typeface="Times New Roman"/>
                <a:cs typeface="Times New Roman"/>
              </a:rPr>
              <a:t> </a:t>
            </a:r>
            <a:r>
              <a:rPr sz="2000" dirty="0">
                <a:latin typeface="Times New Roman"/>
                <a:cs typeface="Times New Roman"/>
              </a:rPr>
              <a:t>el</a:t>
            </a:r>
            <a:r>
              <a:rPr sz="2000" spc="-15" dirty="0">
                <a:latin typeface="Times New Roman"/>
                <a:cs typeface="Times New Roman"/>
              </a:rPr>
              <a:t> </a:t>
            </a:r>
            <a:r>
              <a:rPr sz="2000" spc="-5" dirty="0">
                <a:latin typeface="Times New Roman"/>
                <a:cs typeface="Times New Roman"/>
              </a:rPr>
              <a:t>total)</a:t>
            </a:r>
            <a:endParaRPr sz="2000" dirty="0">
              <a:latin typeface="Times New Roman"/>
              <a:cs typeface="Times New Roman"/>
            </a:endParaRPr>
          </a:p>
          <a:p>
            <a:pPr marL="12700">
              <a:lnSpc>
                <a:spcPts val="2305"/>
              </a:lnSpc>
            </a:pPr>
            <a:r>
              <a:rPr sz="2000" dirty="0">
                <a:latin typeface="Times New Roman"/>
                <a:cs typeface="Times New Roman"/>
              </a:rPr>
              <a:t>:</a:t>
            </a:r>
            <a:r>
              <a:rPr sz="2000" spc="-40" dirty="0">
                <a:latin typeface="Times New Roman"/>
                <a:cs typeface="Times New Roman"/>
              </a:rPr>
              <a:t> </a:t>
            </a:r>
            <a:r>
              <a:rPr sz="2000" dirty="0">
                <a:latin typeface="Times New Roman"/>
                <a:cs typeface="Times New Roman"/>
              </a:rPr>
              <a:t>46.3</a:t>
            </a:r>
            <a:r>
              <a:rPr sz="2000" dirty="0" smtClean="0">
                <a:latin typeface="Times New Roman"/>
                <a:cs typeface="Times New Roman"/>
              </a:rPr>
              <a:t>%</a:t>
            </a:r>
            <a:endParaRPr lang="es-ES" sz="2000" dirty="0" smtClean="0">
              <a:latin typeface="Times New Roman"/>
              <a:cs typeface="Times New Roman"/>
            </a:endParaRPr>
          </a:p>
          <a:p>
            <a:pPr marL="12700">
              <a:lnSpc>
                <a:spcPts val="2305"/>
              </a:lnSpc>
            </a:pPr>
            <a:r>
              <a:rPr sz="2000" dirty="0" smtClean="0">
                <a:latin typeface="Times New Roman"/>
                <a:cs typeface="Times New Roman"/>
              </a:rPr>
              <a:t>:</a:t>
            </a:r>
            <a:r>
              <a:rPr sz="2000" spc="-90" dirty="0" smtClean="0">
                <a:latin typeface="Times New Roman"/>
                <a:cs typeface="Times New Roman"/>
              </a:rPr>
              <a:t> </a:t>
            </a:r>
            <a:r>
              <a:rPr sz="2000" dirty="0">
                <a:latin typeface="Times New Roman"/>
                <a:cs typeface="Times New Roman"/>
              </a:rPr>
              <a:t>11.1</a:t>
            </a:r>
            <a:r>
              <a:rPr sz="2000" dirty="0" smtClean="0">
                <a:latin typeface="Times New Roman"/>
                <a:cs typeface="Times New Roman"/>
              </a:rPr>
              <a:t>%</a:t>
            </a:r>
            <a:endParaRPr lang="es-ES" sz="2000" dirty="0" smtClean="0">
              <a:latin typeface="Times New Roman"/>
              <a:cs typeface="Times New Roman"/>
            </a:endParaRPr>
          </a:p>
          <a:p>
            <a:pPr marL="12700">
              <a:lnSpc>
                <a:spcPts val="2305"/>
              </a:lnSpc>
            </a:pPr>
            <a:r>
              <a:rPr sz="2000" dirty="0" smtClean="0">
                <a:latin typeface="Times New Roman"/>
                <a:cs typeface="Times New Roman"/>
              </a:rPr>
              <a:t>:</a:t>
            </a:r>
            <a:r>
              <a:rPr sz="2000" spc="-90" dirty="0" smtClean="0">
                <a:latin typeface="Times New Roman"/>
                <a:cs typeface="Times New Roman"/>
              </a:rPr>
              <a:t> </a:t>
            </a:r>
            <a:r>
              <a:rPr sz="2000" dirty="0">
                <a:latin typeface="Times New Roman"/>
                <a:cs typeface="Times New Roman"/>
              </a:rPr>
              <a:t>14.8%</a:t>
            </a:r>
          </a:p>
        </p:txBody>
      </p:sp>
      <p:sp>
        <p:nvSpPr>
          <p:cNvPr id="6" name="object 6"/>
          <p:cNvSpPr txBox="1">
            <a:spLocks noGrp="1"/>
          </p:cNvSpPr>
          <p:nvPr>
            <p:ph type="body" idx="1"/>
          </p:nvPr>
        </p:nvSpPr>
        <p:spPr>
          <a:xfrm>
            <a:off x="346963" y="3856355"/>
            <a:ext cx="10028937" cy="3283591"/>
          </a:xfrm>
          <a:prstGeom prst="rect">
            <a:avLst/>
          </a:prstGeom>
        </p:spPr>
        <p:txBody>
          <a:bodyPr vert="horz" wrap="square" lIns="0" tIns="13335" rIns="0" bIns="0" rtlCol="0">
            <a:spAutoFit/>
          </a:bodyPr>
          <a:lstStyle/>
          <a:p>
            <a:pPr marL="355600" indent="-342900" algn="l">
              <a:lnSpc>
                <a:spcPts val="2355"/>
              </a:lnSpc>
              <a:spcBef>
                <a:spcPts val="105"/>
              </a:spcBef>
              <a:buFont typeface="Arial" panose="020B0604020202020204" pitchFamily="34" charset="0"/>
              <a:buChar char="•"/>
            </a:pPr>
            <a:r>
              <a:rPr b="1" spc="-5" dirty="0" err="1" smtClean="0">
                <a:solidFill>
                  <a:schemeClr val="tx1"/>
                </a:solidFill>
              </a:rPr>
              <a:t>Sensi</a:t>
            </a:r>
            <a:r>
              <a:rPr lang="es-ES" b="1" spc="-5" dirty="0" err="1" smtClean="0">
                <a:solidFill>
                  <a:schemeClr val="tx1"/>
                </a:solidFill>
              </a:rPr>
              <a:t>bilidad</a:t>
            </a:r>
            <a:r>
              <a:rPr lang="es-ES" b="1" spc="-5" dirty="0" smtClean="0">
                <a:solidFill>
                  <a:schemeClr val="tx1"/>
                </a:solidFill>
              </a:rPr>
              <a:t> </a:t>
            </a:r>
            <a:r>
              <a:rPr spc="-5" dirty="0" smtClean="0">
                <a:solidFill>
                  <a:schemeClr val="tx1"/>
                </a:solidFill>
              </a:rPr>
              <a:t>=</a:t>
            </a:r>
            <a:r>
              <a:rPr lang="es-ES" spc="-5" dirty="0" smtClean="0">
                <a:solidFill>
                  <a:schemeClr val="tx1"/>
                </a:solidFill>
              </a:rPr>
              <a:t> </a:t>
            </a:r>
            <a:r>
              <a:rPr spc="-5" dirty="0" err="1" smtClean="0">
                <a:solidFill>
                  <a:schemeClr val="tx1"/>
                </a:solidFill>
              </a:rPr>
              <a:t>Probabilidad</a:t>
            </a:r>
            <a:r>
              <a:rPr spc="10" dirty="0" smtClean="0">
                <a:solidFill>
                  <a:schemeClr val="tx1"/>
                </a:solidFill>
              </a:rPr>
              <a:t> </a:t>
            </a:r>
            <a:r>
              <a:rPr dirty="0">
                <a:solidFill>
                  <a:schemeClr val="tx1"/>
                </a:solidFill>
              </a:rPr>
              <a:t>de </a:t>
            </a:r>
            <a:r>
              <a:rPr spc="5" dirty="0">
                <a:solidFill>
                  <a:schemeClr val="tx1"/>
                </a:solidFill>
              </a:rPr>
              <a:t>que</a:t>
            </a:r>
            <a:r>
              <a:rPr spc="-5" dirty="0">
                <a:solidFill>
                  <a:schemeClr val="tx1"/>
                </a:solidFill>
              </a:rPr>
              <a:t> </a:t>
            </a:r>
            <a:r>
              <a:rPr dirty="0">
                <a:solidFill>
                  <a:schemeClr val="tx1"/>
                </a:solidFill>
              </a:rPr>
              <a:t>la</a:t>
            </a:r>
            <a:r>
              <a:rPr spc="10" dirty="0">
                <a:solidFill>
                  <a:schemeClr val="tx1"/>
                </a:solidFill>
              </a:rPr>
              <a:t> </a:t>
            </a:r>
            <a:r>
              <a:rPr spc="-5" dirty="0">
                <a:solidFill>
                  <a:schemeClr val="tx1"/>
                </a:solidFill>
              </a:rPr>
              <a:t>predicción</a:t>
            </a:r>
            <a:r>
              <a:rPr spc="10" dirty="0">
                <a:solidFill>
                  <a:schemeClr val="tx1"/>
                </a:solidFill>
              </a:rPr>
              <a:t> </a:t>
            </a:r>
            <a:r>
              <a:rPr spc="-5" dirty="0">
                <a:solidFill>
                  <a:schemeClr val="tx1"/>
                </a:solidFill>
              </a:rPr>
              <a:t>sea</a:t>
            </a:r>
            <a:r>
              <a:rPr dirty="0">
                <a:solidFill>
                  <a:schemeClr val="tx1"/>
                </a:solidFill>
              </a:rPr>
              <a:t> 1,</a:t>
            </a:r>
            <a:r>
              <a:rPr spc="5" dirty="0">
                <a:solidFill>
                  <a:schemeClr val="tx1"/>
                </a:solidFill>
              </a:rPr>
              <a:t> </a:t>
            </a:r>
            <a:r>
              <a:rPr spc="-5" dirty="0">
                <a:solidFill>
                  <a:schemeClr val="tx1"/>
                </a:solidFill>
              </a:rPr>
              <a:t>dado</a:t>
            </a:r>
            <a:r>
              <a:rPr dirty="0">
                <a:solidFill>
                  <a:schemeClr val="tx1"/>
                </a:solidFill>
              </a:rPr>
              <a:t> </a:t>
            </a:r>
            <a:r>
              <a:rPr spc="5" dirty="0">
                <a:solidFill>
                  <a:schemeClr val="tx1"/>
                </a:solidFill>
              </a:rPr>
              <a:t>que</a:t>
            </a:r>
            <a:r>
              <a:rPr spc="-5" dirty="0">
                <a:solidFill>
                  <a:schemeClr val="tx1"/>
                </a:solidFill>
              </a:rPr>
              <a:t> </a:t>
            </a:r>
            <a:r>
              <a:rPr dirty="0">
                <a:solidFill>
                  <a:schemeClr val="tx1"/>
                </a:solidFill>
              </a:rPr>
              <a:t>la</a:t>
            </a:r>
            <a:r>
              <a:rPr spc="15" dirty="0">
                <a:solidFill>
                  <a:schemeClr val="tx1"/>
                </a:solidFill>
              </a:rPr>
              <a:t> </a:t>
            </a:r>
            <a:r>
              <a:rPr spc="-5" dirty="0">
                <a:solidFill>
                  <a:schemeClr val="tx1"/>
                </a:solidFill>
              </a:rPr>
              <a:t>observación</a:t>
            </a:r>
            <a:r>
              <a:rPr spc="20" dirty="0">
                <a:solidFill>
                  <a:schemeClr val="tx1"/>
                </a:solidFill>
              </a:rPr>
              <a:t> </a:t>
            </a:r>
            <a:r>
              <a:rPr spc="-5" dirty="0">
                <a:solidFill>
                  <a:schemeClr val="tx1"/>
                </a:solidFill>
              </a:rPr>
              <a:t>es</a:t>
            </a:r>
            <a:r>
              <a:rPr spc="10" dirty="0">
                <a:solidFill>
                  <a:schemeClr val="tx1"/>
                </a:solidFill>
              </a:rPr>
              <a:t> </a:t>
            </a:r>
            <a:r>
              <a:rPr spc="-5" dirty="0" err="1">
                <a:solidFill>
                  <a:schemeClr val="tx1"/>
                </a:solidFill>
              </a:rPr>
              <a:t>realmente</a:t>
            </a:r>
            <a:r>
              <a:rPr spc="10" dirty="0">
                <a:solidFill>
                  <a:schemeClr val="tx1"/>
                </a:solidFill>
              </a:rPr>
              <a:t> </a:t>
            </a:r>
            <a:r>
              <a:rPr dirty="0" smtClean="0">
                <a:solidFill>
                  <a:schemeClr val="tx1"/>
                </a:solidFill>
              </a:rPr>
              <a:t>1</a:t>
            </a:r>
            <a:r>
              <a:rPr lang="es-ES" dirty="0" smtClean="0">
                <a:solidFill>
                  <a:schemeClr val="tx1"/>
                </a:solidFill>
              </a:rPr>
              <a:t>: </a:t>
            </a:r>
            <a:r>
              <a:rPr spc="-5" dirty="0" smtClean="0">
                <a:solidFill>
                  <a:schemeClr val="tx1"/>
                </a:solidFill>
              </a:rPr>
              <a:t>VP</a:t>
            </a:r>
            <a:r>
              <a:rPr spc="-5" dirty="0">
                <a:solidFill>
                  <a:schemeClr val="tx1"/>
                </a:solidFill>
              </a:rPr>
              <a:t>/(VP+FN)=0.65</a:t>
            </a:r>
          </a:p>
          <a:p>
            <a:pPr marL="355600" indent="-342900" algn="l">
              <a:lnSpc>
                <a:spcPts val="2300"/>
              </a:lnSpc>
              <a:buFont typeface="Arial" panose="020B0604020202020204" pitchFamily="34" charset="0"/>
              <a:buChar char="•"/>
            </a:pPr>
            <a:r>
              <a:rPr b="1" spc="-5" dirty="0" err="1" smtClean="0">
                <a:solidFill>
                  <a:schemeClr val="tx1"/>
                </a:solidFill>
              </a:rPr>
              <a:t>Especificidad</a:t>
            </a:r>
            <a:r>
              <a:rPr lang="es-ES" b="1" spc="-5" dirty="0" smtClean="0">
                <a:solidFill>
                  <a:schemeClr val="tx1"/>
                </a:solidFill>
              </a:rPr>
              <a:t> </a:t>
            </a:r>
            <a:r>
              <a:rPr spc="-5" dirty="0" smtClean="0">
                <a:solidFill>
                  <a:schemeClr val="tx1"/>
                </a:solidFill>
              </a:rPr>
              <a:t>=</a:t>
            </a:r>
            <a:r>
              <a:rPr lang="es-ES" spc="-5" dirty="0" smtClean="0">
                <a:solidFill>
                  <a:schemeClr val="tx1"/>
                </a:solidFill>
              </a:rPr>
              <a:t> </a:t>
            </a:r>
            <a:r>
              <a:rPr spc="-5" dirty="0" err="1" smtClean="0">
                <a:solidFill>
                  <a:schemeClr val="tx1"/>
                </a:solidFill>
              </a:rPr>
              <a:t>Probabilidad</a:t>
            </a:r>
            <a:r>
              <a:rPr spc="10" dirty="0" smtClean="0">
                <a:solidFill>
                  <a:schemeClr val="tx1"/>
                </a:solidFill>
              </a:rPr>
              <a:t> </a:t>
            </a:r>
            <a:r>
              <a:rPr dirty="0">
                <a:solidFill>
                  <a:schemeClr val="tx1"/>
                </a:solidFill>
              </a:rPr>
              <a:t>de</a:t>
            </a:r>
            <a:r>
              <a:rPr spc="10" dirty="0">
                <a:solidFill>
                  <a:schemeClr val="tx1"/>
                </a:solidFill>
              </a:rPr>
              <a:t> </a:t>
            </a:r>
            <a:r>
              <a:rPr dirty="0">
                <a:solidFill>
                  <a:schemeClr val="tx1"/>
                </a:solidFill>
              </a:rPr>
              <a:t>que</a:t>
            </a:r>
            <a:r>
              <a:rPr spc="15" dirty="0">
                <a:solidFill>
                  <a:schemeClr val="tx1"/>
                </a:solidFill>
              </a:rPr>
              <a:t> </a:t>
            </a:r>
            <a:r>
              <a:rPr dirty="0">
                <a:solidFill>
                  <a:schemeClr val="tx1"/>
                </a:solidFill>
              </a:rPr>
              <a:t>la</a:t>
            </a:r>
            <a:r>
              <a:rPr spc="-5" dirty="0">
                <a:solidFill>
                  <a:schemeClr val="tx1"/>
                </a:solidFill>
              </a:rPr>
              <a:t> predicción</a:t>
            </a:r>
            <a:r>
              <a:rPr spc="25" dirty="0">
                <a:solidFill>
                  <a:schemeClr val="tx1"/>
                </a:solidFill>
              </a:rPr>
              <a:t> </a:t>
            </a:r>
            <a:r>
              <a:rPr spc="-5" dirty="0">
                <a:solidFill>
                  <a:schemeClr val="tx1"/>
                </a:solidFill>
              </a:rPr>
              <a:t>sea</a:t>
            </a:r>
            <a:r>
              <a:rPr dirty="0">
                <a:solidFill>
                  <a:schemeClr val="tx1"/>
                </a:solidFill>
              </a:rPr>
              <a:t> 0,</a:t>
            </a:r>
            <a:r>
              <a:rPr spc="5" dirty="0">
                <a:solidFill>
                  <a:schemeClr val="tx1"/>
                </a:solidFill>
              </a:rPr>
              <a:t> </a:t>
            </a:r>
            <a:r>
              <a:rPr spc="-5" dirty="0">
                <a:solidFill>
                  <a:schemeClr val="tx1"/>
                </a:solidFill>
              </a:rPr>
              <a:t>dado</a:t>
            </a:r>
            <a:r>
              <a:rPr spc="5" dirty="0">
                <a:solidFill>
                  <a:schemeClr val="tx1"/>
                </a:solidFill>
              </a:rPr>
              <a:t> que</a:t>
            </a:r>
            <a:r>
              <a:rPr spc="-5" dirty="0">
                <a:solidFill>
                  <a:schemeClr val="tx1"/>
                </a:solidFill>
              </a:rPr>
              <a:t> </a:t>
            </a:r>
            <a:r>
              <a:rPr dirty="0">
                <a:solidFill>
                  <a:schemeClr val="tx1"/>
                </a:solidFill>
              </a:rPr>
              <a:t>la</a:t>
            </a:r>
            <a:r>
              <a:rPr spc="15" dirty="0">
                <a:solidFill>
                  <a:schemeClr val="tx1"/>
                </a:solidFill>
              </a:rPr>
              <a:t> </a:t>
            </a:r>
            <a:r>
              <a:rPr spc="-5" dirty="0">
                <a:solidFill>
                  <a:schemeClr val="tx1"/>
                </a:solidFill>
              </a:rPr>
              <a:t>observación</a:t>
            </a:r>
            <a:r>
              <a:rPr spc="25" dirty="0">
                <a:solidFill>
                  <a:schemeClr val="tx1"/>
                </a:solidFill>
              </a:rPr>
              <a:t> </a:t>
            </a:r>
            <a:r>
              <a:rPr spc="-5" dirty="0">
                <a:solidFill>
                  <a:schemeClr val="tx1"/>
                </a:solidFill>
              </a:rPr>
              <a:t>es</a:t>
            </a:r>
            <a:r>
              <a:rPr spc="15" dirty="0">
                <a:solidFill>
                  <a:schemeClr val="tx1"/>
                </a:solidFill>
              </a:rPr>
              <a:t> </a:t>
            </a:r>
            <a:r>
              <a:rPr spc="-5" dirty="0" err="1">
                <a:solidFill>
                  <a:schemeClr val="tx1"/>
                </a:solidFill>
              </a:rPr>
              <a:t>realmente</a:t>
            </a:r>
            <a:r>
              <a:rPr spc="10" dirty="0">
                <a:solidFill>
                  <a:schemeClr val="tx1"/>
                </a:solidFill>
              </a:rPr>
              <a:t> </a:t>
            </a:r>
            <a:r>
              <a:rPr dirty="0" smtClean="0">
                <a:solidFill>
                  <a:schemeClr val="tx1"/>
                </a:solidFill>
              </a:rPr>
              <a:t>0</a:t>
            </a:r>
            <a:r>
              <a:rPr lang="es-ES" dirty="0" smtClean="0">
                <a:solidFill>
                  <a:schemeClr val="tx1"/>
                </a:solidFill>
              </a:rPr>
              <a:t>: </a:t>
            </a:r>
            <a:r>
              <a:rPr spc="-5" dirty="0" smtClean="0">
                <a:solidFill>
                  <a:schemeClr val="tx1"/>
                </a:solidFill>
              </a:rPr>
              <a:t>VN</a:t>
            </a:r>
            <a:r>
              <a:rPr spc="-5" dirty="0">
                <a:solidFill>
                  <a:schemeClr val="tx1"/>
                </a:solidFill>
              </a:rPr>
              <a:t>/(VN+FP)=0.80</a:t>
            </a:r>
          </a:p>
          <a:p>
            <a:pPr marL="355600" marR="5887720" indent="-342900" algn="l">
              <a:lnSpc>
                <a:spcPts val="2300"/>
              </a:lnSpc>
              <a:spcBef>
                <a:spcPts val="105"/>
              </a:spcBef>
              <a:buFont typeface="Arial" panose="020B0604020202020204" pitchFamily="34" charset="0"/>
              <a:buChar char="•"/>
            </a:pPr>
            <a:r>
              <a:rPr b="1" dirty="0">
                <a:solidFill>
                  <a:schemeClr val="tx1"/>
                </a:solidFill>
              </a:rPr>
              <a:t>Tasa de </a:t>
            </a:r>
            <a:r>
              <a:rPr b="1" spc="-5" dirty="0" err="1" smtClean="0">
                <a:solidFill>
                  <a:schemeClr val="tx1"/>
                </a:solidFill>
              </a:rPr>
              <a:t>aciertos</a:t>
            </a:r>
            <a:r>
              <a:rPr lang="es-ES" b="1" spc="-5" dirty="0" smtClean="0">
                <a:solidFill>
                  <a:schemeClr val="tx1"/>
                </a:solidFill>
              </a:rPr>
              <a:t> </a:t>
            </a:r>
            <a:r>
              <a:rPr spc="-5" dirty="0" smtClean="0">
                <a:solidFill>
                  <a:schemeClr val="tx1"/>
                </a:solidFill>
              </a:rPr>
              <a:t>=</a:t>
            </a:r>
            <a:r>
              <a:rPr lang="es-ES" spc="-5" dirty="0" smtClean="0">
                <a:solidFill>
                  <a:schemeClr val="tx1"/>
                </a:solidFill>
              </a:rPr>
              <a:t> </a:t>
            </a:r>
            <a:r>
              <a:rPr spc="-5" dirty="0" smtClean="0">
                <a:solidFill>
                  <a:schemeClr val="tx1"/>
                </a:solidFill>
              </a:rPr>
              <a:t>(</a:t>
            </a:r>
            <a:r>
              <a:rPr spc="-5" dirty="0">
                <a:solidFill>
                  <a:schemeClr val="tx1"/>
                </a:solidFill>
              </a:rPr>
              <a:t>VP+VN)/N=0.747 </a:t>
            </a:r>
            <a:r>
              <a:rPr spc="-484" dirty="0">
                <a:solidFill>
                  <a:schemeClr val="tx1"/>
                </a:solidFill>
              </a:rPr>
              <a:t> </a:t>
            </a:r>
            <a:r>
              <a:rPr b="1" dirty="0">
                <a:solidFill>
                  <a:schemeClr val="tx1"/>
                </a:solidFill>
              </a:rPr>
              <a:t>Tasa</a:t>
            </a:r>
            <a:r>
              <a:rPr b="1" spc="5" dirty="0">
                <a:solidFill>
                  <a:schemeClr val="tx1"/>
                </a:solidFill>
              </a:rPr>
              <a:t> </a:t>
            </a:r>
            <a:r>
              <a:rPr b="1" dirty="0">
                <a:solidFill>
                  <a:schemeClr val="tx1"/>
                </a:solidFill>
              </a:rPr>
              <a:t>de</a:t>
            </a:r>
            <a:r>
              <a:rPr b="1" spc="-5" dirty="0">
                <a:solidFill>
                  <a:schemeClr val="tx1"/>
                </a:solidFill>
              </a:rPr>
              <a:t> </a:t>
            </a:r>
            <a:r>
              <a:rPr b="1" spc="-5" dirty="0" err="1" smtClean="0">
                <a:solidFill>
                  <a:schemeClr val="tx1"/>
                </a:solidFill>
              </a:rPr>
              <a:t>fallos</a:t>
            </a:r>
            <a:r>
              <a:rPr lang="es-ES" b="1" spc="-5" dirty="0" smtClean="0">
                <a:solidFill>
                  <a:schemeClr val="tx1"/>
                </a:solidFill>
              </a:rPr>
              <a:t> </a:t>
            </a:r>
            <a:r>
              <a:rPr spc="-5" dirty="0" smtClean="0">
                <a:solidFill>
                  <a:schemeClr val="tx1"/>
                </a:solidFill>
              </a:rPr>
              <a:t>=</a:t>
            </a:r>
            <a:r>
              <a:rPr lang="es-ES" spc="-5" dirty="0" smtClean="0">
                <a:solidFill>
                  <a:schemeClr val="tx1"/>
                </a:solidFill>
              </a:rPr>
              <a:t> </a:t>
            </a:r>
            <a:r>
              <a:rPr spc="-5" dirty="0" smtClean="0">
                <a:solidFill>
                  <a:schemeClr val="tx1"/>
                </a:solidFill>
              </a:rPr>
              <a:t>1-</a:t>
            </a:r>
            <a:r>
              <a:rPr spc="-5" dirty="0">
                <a:solidFill>
                  <a:schemeClr val="tx1"/>
                </a:solidFill>
              </a:rPr>
              <a:t>(VP+VN)/N=0.253</a:t>
            </a:r>
          </a:p>
          <a:p>
            <a:pPr marL="355600" marR="663575" indent="-342900" algn="l">
              <a:lnSpc>
                <a:spcPts val="2300"/>
              </a:lnSpc>
              <a:buFont typeface="Arial" panose="020B0604020202020204" pitchFamily="34" charset="0"/>
              <a:buChar char="•"/>
            </a:pPr>
            <a:r>
              <a:rPr b="1" dirty="0">
                <a:solidFill>
                  <a:schemeClr val="tx1"/>
                </a:solidFill>
              </a:rPr>
              <a:t>Tasa de </a:t>
            </a:r>
            <a:r>
              <a:rPr b="1" dirty="0" err="1">
                <a:solidFill>
                  <a:schemeClr val="tx1"/>
                </a:solidFill>
              </a:rPr>
              <a:t>verdaderos</a:t>
            </a:r>
            <a:r>
              <a:rPr b="1" dirty="0">
                <a:solidFill>
                  <a:schemeClr val="tx1"/>
                </a:solidFill>
              </a:rPr>
              <a:t> </a:t>
            </a:r>
            <a:r>
              <a:rPr b="1" dirty="0" err="1" smtClean="0">
                <a:solidFill>
                  <a:schemeClr val="tx1"/>
                </a:solidFill>
              </a:rPr>
              <a:t>positivos</a:t>
            </a:r>
            <a:r>
              <a:rPr lang="es-ES" b="1" dirty="0" smtClean="0">
                <a:solidFill>
                  <a:schemeClr val="tx1"/>
                </a:solidFill>
              </a:rPr>
              <a:t> </a:t>
            </a:r>
            <a:r>
              <a:rPr dirty="0" smtClean="0">
                <a:solidFill>
                  <a:schemeClr val="tx1"/>
                </a:solidFill>
              </a:rPr>
              <a:t>=</a:t>
            </a:r>
            <a:r>
              <a:rPr lang="es-ES" dirty="0" smtClean="0">
                <a:solidFill>
                  <a:schemeClr val="tx1"/>
                </a:solidFill>
              </a:rPr>
              <a:t> </a:t>
            </a:r>
            <a:r>
              <a:rPr dirty="0" smtClean="0">
                <a:solidFill>
                  <a:schemeClr val="tx1"/>
                </a:solidFill>
              </a:rPr>
              <a:t>VP</a:t>
            </a:r>
            <a:r>
              <a:rPr dirty="0">
                <a:solidFill>
                  <a:schemeClr val="tx1"/>
                </a:solidFill>
              </a:rPr>
              <a:t>/(VP+FP)=0.71 (cuando digo positivo, </a:t>
            </a:r>
            <a:r>
              <a:rPr dirty="0" err="1" smtClean="0">
                <a:solidFill>
                  <a:schemeClr val="tx1"/>
                </a:solidFill>
              </a:rPr>
              <a:t>qu</a:t>
            </a:r>
            <a:r>
              <a:rPr lang="es-ES" dirty="0" smtClean="0">
                <a:solidFill>
                  <a:schemeClr val="tx1"/>
                </a:solidFill>
              </a:rPr>
              <a:t>é</a:t>
            </a:r>
            <a:r>
              <a:rPr dirty="0" smtClean="0">
                <a:solidFill>
                  <a:schemeClr val="tx1"/>
                </a:solidFill>
              </a:rPr>
              <a:t> </a:t>
            </a:r>
            <a:r>
              <a:rPr dirty="0" err="1">
                <a:solidFill>
                  <a:schemeClr val="tx1"/>
                </a:solidFill>
              </a:rPr>
              <a:t>proporción</a:t>
            </a:r>
            <a:r>
              <a:rPr dirty="0">
                <a:solidFill>
                  <a:schemeClr val="tx1"/>
                </a:solidFill>
              </a:rPr>
              <a:t> </a:t>
            </a:r>
            <a:r>
              <a:rPr spc="-484" dirty="0">
                <a:solidFill>
                  <a:schemeClr val="tx1"/>
                </a:solidFill>
              </a:rPr>
              <a:t> </a:t>
            </a:r>
            <a:r>
              <a:rPr dirty="0" err="1" smtClean="0">
                <a:solidFill>
                  <a:schemeClr val="tx1"/>
                </a:solidFill>
              </a:rPr>
              <a:t>acierto</a:t>
            </a:r>
            <a:r>
              <a:rPr lang="es-ES" dirty="0" smtClean="0">
                <a:solidFill>
                  <a:schemeClr val="tx1"/>
                </a:solidFill>
              </a:rPr>
              <a:t>?</a:t>
            </a:r>
            <a:r>
              <a:rPr dirty="0" smtClean="0">
                <a:solidFill>
                  <a:schemeClr val="tx1"/>
                </a:solidFill>
              </a:rPr>
              <a:t>) </a:t>
            </a:r>
            <a:endParaRPr lang="es-ES" dirty="0" smtClean="0">
              <a:solidFill>
                <a:schemeClr val="tx1"/>
              </a:solidFill>
            </a:endParaRPr>
          </a:p>
          <a:p>
            <a:pPr marL="355600" marR="663575" indent="-342900" algn="l">
              <a:lnSpc>
                <a:spcPts val="2300"/>
              </a:lnSpc>
              <a:buFont typeface="Arial" panose="020B0604020202020204" pitchFamily="34" charset="0"/>
              <a:buChar char="•"/>
            </a:pPr>
            <a:r>
              <a:rPr b="1" dirty="0" err="1" smtClean="0">
                <a:solidFill>
                  <a:schemeClr val="tx1"/>
                </a:solidFill>
              </a:rPr>
              <a:t>Tasa</a:t>
            </a:r>
            <a:r>
              <a:rPr b="1" dirty="0" smtClean="0">
                <a:solidFill>
                  <a:schemeClr val="tx1"/>
                </a:solidFill>
              </a:rPr>
              <a:t> </a:t>
            </a:r>
            <a:r>
              <a:rPr b="1" dirty="0">
                <a:solidFill>
                  <a:schemeClr val="tx1"/>
                </a:solidFill>
              </a:rPr>
              <a:t>de </a:t>
            </a:r>
            <a:r>
              <a:rPr b="1" dirty="0" err="1">
                <a:solidFill>
                  <a:schemeClr val="tx1"/>
                </a:solidFill>
              </a:rPr>
              <a:t>verdaderos</a:t>
            </a:r>
            <a:r>
              <a:rPr b="1" dirty="0">
                <a:solidFill>
                  <a:schemeClr val="tx1"/>
                </a:solidFill>
              </a:rPr>
              <a:t> </a:t>
            </a:r>
            <a:r>
              <a:rPr b="1" dirty="0" err="1" smtClean="0">
                <a:solidFill>
                  <a:schemeClr val="tx1"/>
                </a:solidFill>
              </a:rPr>
              <a:t>negativos</a:t>
            </a:r>
            <a:r>
              <a:rPr lang="es-ES" b="1" dirty="0" smtClean="0">
                <a:solidFill>
                  <a:schemeClr val="tx1"/>
                </a:solidFill>
              </a:rPr>
              <a:t> </a:t>
            </a:r>
            <a:r>
              <a:rPr dirty="0" smtClean="0">
                <a:solidFill>
                  <a:schemeClr val="tx1"/>
                </a:solidFill>
              </a:rPr>
              <a:t>=</a:t>
            </a:r>
            <a:r>
              <a:rPr lang="es-ES" dirty="0" smtClean="0">
                <a:solidFill>
                  <a:schemeClr val="tx1"/>
                </a:solidFill>
              </a:rPr>
              <a:t> </a:t>
            </a:r>
            <a:r>
              <a:rPr dirty="0" smtClean="0">
                <a:solidFill>
                  <a:schemeClr val="tx1"/>
                </a:solidFill>
              </a:rPr>
              <a:t>VN</a:t>
            </a:r>
            <a:r>
              <a:rPr dirty="0">
                <a:solidFill>
                  <a:schemeClr val="tx1"/>
                </a:solidFill>
              </a:rPr>
              <a:t>/(VN+FN)=0.757 (cuando digo negativo, </a:t>
            </a:r>
            <a:r>
              <a:rPr dirty="0" err="1" smtClean="0">
                <a:solidFill>
                  <a:schemeClr val="tx1"/>
                </a:solidFill>
              </a:rPr>
              <a:t>qu</a:t>
            </a:r>
            <a:r>
              <a:rPr lang="es-ES" dirty="0" smtClean="0">
                <a:solidFill>
                  <a:schemeClr val="tx1"/>
                </a:solidFill>
              </a:rPr>
              <a:t>é </a:t>
            </a:r>
            <a:r>
              <a:rPr dirty="0" err="1" smtClean="0">
                <a:solidFill>
                  <a:schemeClr val="tx1"/>
                </a:solidFill>
              </a:rPr>
              <a:t>proporción</a:t>
            </a:r>
            <a:r>
              <a:rPr spc="-5" dirty="0" smtClean="0">
                <a:solidFill>
                  <a:schemeClr val="tx1"/>
                </a:solidFill>
              </a:rPr>
              <a:t> </a:t>
            </a:r>
            <a:r>
              <a:rPr dirty="0" err="1" smtClean="0">
                <a:solidFill>
                  <a:schemeClr val="tx1"/>
                </a:solidFill>
              </a:rPr>
              <a:t>acierto</a:t>
            </a:r>
            <a:r>
              <a:rPr lang="es-ES" dirty="0" smtClean="0">
                <a:solidFill>
                  <a:schemeClr val="tx1"/>
                </a:solidFill>
              </a:rPr>
              <a:t>?</a:t>
            </a:r>
            <a:r>
              <a:rPr dirty="0" smtClean="0">
                <a:solidFill>
                  <a:schemeClr val="tx1"/>
                </a:solidFill>
              </a:rPr>
              <a:t>)</a:t>
            </a:r>
            <a:endParaRPr dirty="0">
              <a:solidFill>
                <a:schemeClr val="tx1"/>
              </a:solidFill>
            </a:endParaRPr>
          </a:p>
        </p:txBody>
      </p:sp>
      <p:graphicFrame>
        <p:nvGraphicFramePr>
          <p:cNvPr id="7" name="object 7"/>
          <p:cNvGraphicFramePr>
            <a:graphicFrameLocks noGrp="1"/>
          </p:cNvGraphicFramePr>
          <p:nvPr/>
        </p:nvGraphicFramePr>
        <p:xfrm>
          <a:off x="1934210" y="1202690"/>
          <a:ext cx="4960620" cy="1069846"/>
        </p:xfrm>
        <a:graphic>
          <a:graphicData uri="http://schemas.openxmlformats.org/drawingml/2006/table">
            <a:tbl>
              <a:tblPr firstRow="1" bandRow="1">
                <a:tableStyleId>{2D5ABB26-0587-4C30-8999-92F81FD0307C}</a:tableStyleId>
              </a:tblPr>
              <a:tblGrid>
                <a:gridCol w="1456055"/>
                <a:gridCol w="1859915"/>
                <a:gridCol w="1644650"/>
              </a:tblGrid>
              <a:tr h="356615">
                <a:tc>
                  <a:txBody>
                    <a:bodyPr/>
                    <a:lstStyle/>
                    <a:p>
                      <a:pPr>
                        <a:lnSpc>
                          <a:spcPct val="100000"/>
                        </a:lnSpc>
                      </a:pPr>
                      <a:endParaRPr sz="20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2710"/>
                        </a:lnSpc>
                      </a:pPr>
                      <a:r>
                        <a:rPr sz="2400" dirty="0">
                          <a:solidFill>
                            <a:srgbClr val="FF0000"/>
                          </a:solidFill>
                          <a:latin typeface="Times New Roman"/>
                          <a:cs typeface="Times New Roman"/>
                        </a:rPr>
                        <a:t>0</a:t>
                      </a:r>
                      <a:endParaRPr sz="2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2710"/>
                        </a:lnSpc>
                      </a:pPr>
                      <a:r>
                        <a:rPr sz="2400" dirty="0">
                          <a:solidFill>
                            <a:srgbClr val="FF0000"/>
                          </a:solidFill>
                          <a:latin typeface="Times New Roman"/>
                          <a:cs typeface="Times New Roman"/>
                        </a:rPr>
                        <a:t>1</a:t>
                      </a:r>
                      <a:endParaRPr sz="2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56615">
                <a:tc>
                  <a:txBody>
                    <a:bodyPr/>
                    <a:lstStyle/>
                    <a:p>
                      <a:pPr marL="67945">
                        <a:lnSpc>
                          <a:spcPts val="2710"/>
                        </a:lnSpc>
                      </a:pPr>
                      <a:r>
                        <a:rPr sz="2400" dirty="0">
                          <a:solidFill>
                            <a:srgbClr val="FF0000"/>
                          </a:solidFill>
                          <a:latin typeface="Times New Roman"/>
                          <a:cs typeface="Times New Roman"/>
                        </a:rPr>
                        <a:t>0</a:t>
                      </a:r>
                      <a:endParaRPr sz="2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2710"/>
                        </a:lnSpc>
                      </a:pPr>
                      <a:r>
                        <a:rPr sz="2400" dirty="0">
                          <a:solidFill>
                            <a:srgbClr val="FF0000"/>
                          </a:solidFill>
                          <a:latin typeface="Times New Roman"/>
                          <a:cs typeface="Times New Roman"/>
                        </a:rPr>
                        <a:t>25</a:t>
                      </a:r>
                      <a:endParaRPr sz="24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2710"/>
                        </a:lnSpc>
                      </a:pPr>
                      <a:r>
                        <a:rPr sz="2400" dirty="0">
                          <a:solidFill>
                            <a:srgbClr val="FF0000"/>
                          </a:solidFill>
                          <a:latin typeface="Times New Roman"/>
                          <a:cs typeface="Times New Roman"/>
                        </a:rPr>
                        <a:t>8</a:t>
                      </a:r>
                      <a:endParaRPr sz="24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56616">
                <a:tc>
                  <a:txBody>
                    <a:bodyPr/>
                    <a:lstStyle/>
                    <a:p>
                      <a:pPr marL="67945">
                        <a:lnSpc>
                          <a:spcPts val="2710"/>
                        </a:lnSpc>
                      </a:pPr>
                      <a:r>
                        <a:rPr sz="2400" dirty="0">
                          <a:solidFill>
                            <a:srgbClr val="FF0000"/>
                          </a:solidFill>
                          <a:latin typeface="Times New Roman"/>
                          <a:cs typeface="Times New Roman"/>
                        </a:rPr>
                        <a:t>1</a:t>
                      </a:r>
                      <a:endParaRPr sz="24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2710"/>
                        </a:lnSpc>
                      </a:pPr>
                      <a:r>
                        <a:rPr sz="2400" dirty="0">
                          <a:solidFill>
                            <a:srgbClr val="FF0000"/>
                          </a:solidFill>
                          <a:latin typeface="Times New Roman"/>
                          <a:cs typeface="Times New Roman"/>
                        </a:rPr>
                        <a:t>6</a:t>
                      </a:r>
                      <a:endParaRPr sz="24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2710"/>
                        </a:lnSpc>
                      </a:pPr>
                      <a:r>
                        <a:rPr sz="2400" dirty="0">
                          <a:solidFill>
                            <a:srgbClr val="FF0000"/>
                          </a:solidFill>
                          <a:latin typeface="Times New Roman"/>
                          <a:cs typeface="Times New Roman"/>
                        </a:rPr>
                        <a:t>15</a:t>
                      </a:r>
                      <a:endParaRPr sz="24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6963" y="123825"/>
            <a:ext cx="9999345" cy="7235314"/>
          </a:xfrm>
          <a:prstGeom prst="rect">
            <a:avLst/>
          </a:prstGeom>
        </p:spPr>
        <p:txBody>
          <a:bodyPr vert="horz" wrap="square" lIns="0" tIns="12700" rIns="0" bIns="0" rtlCol="0">
            <a:spAutoFit/>
          </a:bodyPr>
          <a:lstStyle/>
          <a:p>
            <a:pPr algn="ctr">
              <a:lnSpc>
                <a:spcPts val="2820"/>
              </a:lnSpc>
              <a:spcBef>
                <a:spcPts val="100"/>
              </a:spcBef>
            </a:pPr>
            <a:r>
              <a:rPr sz="2400" b="1" spc="-5" dirty="0">
                <a:solidFill>
                  <a:srgbClr val="FF0000"/>
                </a:solidFill>
                <a:latin typeface="Times New Roman"/>
                <a:cs typeface="Times New Roman"/>
              </a:rPr>
              <a:t>CURVA</a:t>
            </a:r>
            <a:r>
              <a:rPr sz="2400" b="1" spc="-40" dirty="0">
                <a:solidFill>
                  <a:srgbClr val="FF0000"/>
                </a:solidFill>
                <a:latin typeface="Times New Roman"/>
                <a:cs typeface="Times New Roman"/>
              </a:rPr>
              <a:t> </a:t>
            </a:r>
            <a:r>
              <a:rPr sz="2400" b="1" dirty="0">
                <a:solidFill>
                  <a:srgbClr val="FF0000"/>
                </a:solidFill>
                <a:latin typeface="Times New Roman"/>
                <a:cs typeface="Times New Roman"/>
              </a:rPr>
              <a:t>ROC</a:t>
            </a:r>
            <a:endParaRPr sz="2400" dirty="0">
              <a:latin typeface="Times New Roman"/>
              <a:cs typeface="Times New Roman"/>
            </a:endParaRPr>
          </a:p>
          <a:p>
            <a:pPr algn="ctr">
              <a:lnSpc>
                <a:spcPts val="2820"/>
              </a:lnSpc>
            </a:pPr>
            <a:r>
              <a:rPr sz="2400" b="1" dirty="0">
                <a:solidFill>
                  <a:srgbClr val="FF0000"/>
                </a:solidFill>
                <a:latin typeface="Times New Roman"/>
                <a:cs typeface="Times New Roman"/>
              </a:rPr>
              <a:t>(Receiver</a:t>
            </a:r>
            <a:r>
              <a:rPr sz="2400" b="1" spc="-10" dirty="0">
                <a:solidFill>
                  <a:srgbClr val="FF0000"/>
                </a:solidFill>
                <a:latin typeface="Times New Roman"/>
                <a:cs typeface="Times New Roman"/>
              </a:rPr>
              <a:t> </a:t>
            </a:r>
            <a:r>
              <a:rPr sz="2400" b="1" spc="-5" dirty="0">
                <a:solidFill>
                  <a:srgbClr val="FF0000"/>
                </a:solidFill>
                <a:latin typeface="Times New Roman"/>
                <a:cs typeface="Times New Roman"/>
              </a:rPr>
              <a:t>Operating</a:t>
            </a:r>
            <a:r>
              <a:rPr sz="2400" b="1" dirty="0">
                <a:solidFill>
                  <a:srgbClr val="FF0000"/>
                </a:solidFill>
                <a:latin typeface="Times New Roman"/>
                <a:cs typeface="Times New Roman"/>
              </a:rPr>
              <a:t> </a:t>
            </a:r>
            <a:r>
              <a:rPr sz="2400" b="1" spc="-5" dirty="0">
                <a:solidFill>
                  <a:srgbClr val="FF0000"/>
                </a:solidFill>
                <a:latin typeface="Times New Roman"/>
                <a:cs typeface="Times New Roman"/>
              </a:rPr>
              <a:t>Characteristic</a:t>
            </a:r>
            <a:r>
              <a:rPr sz="2400" b="1" dirty="0">
                <a:solidFill>
                  <a:srgbClr val="FF0000"/>
                </a:solidFill>
                <a:latin typeface="Times New Roman"/>
                <a:cs typeface="Times New Roman"/>
              </a:rPr>
              <a:t> </a:t>
            </a:r>
            <a:r>
              <a:rPr sz="2400" b="1" spc="-10" dirty="0">
                <a:solidFill>
                  <a:srgbClr val="FF0000"/>
                </a:solidFill>
                <a:latin typeface="Times New Roman"/>
                <a:cs typeface="Times New Roman"/>
              </a:rPr>
              <a:t>Curve)</a:t>
            </a:r>
            <a:endParaRPr sz="2400" dirty="0">
              <a:latin typeface="Times New Roman"/>
              <a:cs typeface="Times New Roman"/>
            </a:endParaRPr>
          </a:p>
          <a:p>
            <a:pPr>
              <a:lnSpc>
                <a:spcPct val="100000"/>
              </a:lnSpc>
              <a:spcBef>
                <a:spcPts val="45"/>
              </a:spcBef>
            </a:pPr>
            <a:endParaRPr sz="2400" dirty="0">
              <a:latin typeface="Times New Roman"/>
              <a:cs typeface="Times New Roman"/>
            </a:endParaRPr>
          </a:p>
          <a:p>
            <a:pPr marL="12700" marR="5080" algn="just">
              <a:lnSpc>
                <a:spcPts val="2760"/>
              </a:lnSpc>
              <a:tabLst>
                <a:tab pos="2932430" algn="l"/>
              </a:tabLst>
            </a:pPr>
            <a:r>
              <a:rPr sz="2400" dirty="0">
                <a:latin typeface="Times New Roman"/>
                <a:cs typeface="Times New Roman"/>
              </a:rPr>
              <a:t>En general,</a:t>
            </a:r>
            <a:r>
              <a:rPr sz="2400" spc="-15" dirty="0">
                <a:latin typeface="Times New Roman"/>
                <a:cs typeface="Times New Roman"/>
              </a:rPr>
              <a:t> </a:t>
            </a:r>
            <a:r>
              <a:rPr sz="2400" dirty="0">
                <a:latin typeface="Times New Roman"/>
                <a:cs typeface="Times New Roman"/>
              </a:rPr>
              <a:t>cada</a:t>
            </a:r>
            <a:r>
              <a:rPr sz="2400" spc="5" dirty="0">
                <a:latin typeface="Times New Roman"/>
                <a:cs typeface="Times New Roman"/>
              </a:rPr>
              <a:t> </a:t>
            </a:r>
            <a:r>
              <a:rPr sz="2400" dirty="0">
                <a:latin typeface="Times New Roman"/>
                <a:cs typeface="Times New Roman"/>
              </a:rPr>
              <a:t>punto </a:t>
            </a:r>
            <a:r>
              <a:rPr sz="2400" spc="-5" dirty="0">
                <a:latin typeface="Times New Roman"/>
                <a:cs typeface="Times New Roman"/>
              </a:rPr>
              <a:t>corresponde </a:t>
            </a:r>
            <a:r>
              <a:rPr sz="2400" dirty="0">
                <a:latin typeface="Times New Roman"/>
                <a:cs typeface="Times New Roman"/>
              </a:rPr>
              <a:t>a un</a:t>
            </a:r>
            <a:r>
              <a:rPr sz="2400" spc="15" dirty="0">
                <a:latin typeface="Times New Roman"/>
                <a:cs typeface="Times New Roman"/>
              </a:rPr>
              <a:t> </a:t>
            </a:r>
            <a:r>
              <a:rPr sz="2400" dirty="0">
                <a:latin typeface="Times New Roman"/>
                <a:cs typeface="Times New Roman"/>
              </a:rPr>
              <a:t>punto de</a:t>
            </a:r>
            <a:r>
              <a:rPr sz="2400" spc="5" dirty="0">
                <a:latin typeface="Times New Roman"/>
                <a:cs typeface="Times New Roman"/>
              </a:rPr>
              <a:t> </a:t>
            </a:r>
            <a:r>
              <a:rPr sz="2400" dirty="0">
                <a:latin typeface="Times New Roman"/>
                <a:cs typeface="Times New Roman"/>
              </a:rPr>
              <a:t>corte </a:t>
            </a:r>
            <a:r>
              <a:rPr sz="2400" spc="-5" dirty="0">
                <a:latin typeface="Times New Roman"/>
                <a:cs typeface="Times New Roman"/>
              </a:rPr>
              <a:t>de</a:t>
            </a:r>
            <a:r>
              <a:rPr sz="2400" spc="5" dirty="0">
                <a:latin typeface="Times New Roman"/>
                <a:cs typeface="Times New Roman"/>
              </a:rPr>
              <a:t> </a:t>
            </a:r>
            <a:r>
              <a:rPr sz="2400" spc="-5" dirty="0">
                <a:latin typeface="Times New Roman"/>
                <a:cs typeface="Times New Roman"/>
              </a:rPr>
              <a:t>probabilidad.</a:t>
            </a:r>
            <a:r>
              <a:rPr sz="2400" spc="-10" dirty="0">
                <a:latin typeface="Times New Roman"/>
                <a:cs typeface="Times New Roman"/>
              </a:rPr>
              <a:t> </a:t>
            </a:r>
            <a:r>
              <a:rPr sz="2400" dirty="0">
                <a:latin typeface="Times New Roman"/>
                <a:cs typeface="Times New Roman"/>
              </a:rPr>
              <a:t>En</a:t>
            </a:r>
            <a:r>
              <a:rPr sz="2400" spc="5" dirty="0">
                <a:latin typeface="Times New Roman"/>
                <a:cs typeface="Times New Roman"/>
              </a:rPr>
              <a:t> </a:t>
            </a:r>
            <a:r>
              <a:rPr sz="2400" dirty="0">
                <a:latin typeface="Times New Roman"/>
                <a:cs typeface="Times New Roman"/>
              </a:rPr>
              <a:t>el </a:t>
            </a:r>
            <a:r>
              <a:rPr sz="2400" dirty="0" err="1">
                <a:latin typeface="Times New Roman"/>
                <a:cs typeface="Times New Roman"/>
              </a:rPr>
              <a:t>eje</a:t>
            </a:r>
            <a:r>
              <a:rPr sz="2400" dirty="0">
                <a:latin typeface="Times New Roman"/>
                <a:cs typeface="Times New Roman"/>
              </a:rPr>
              <a:t> </a:t>
            </a:r>
            <a:r>
              <a:rPr sz="2400" spc="-585" dirty="0">
                <a:latin typeface="Times New Roman"/>
                <a:cs typeface="Times New Roman"/>
              </a:rPr>
              <a:t> </a:t>
            </a:r>
            <a:r>
              <a:rPr lang="es-ES" sz="2400" dirty="0" smtClean="0">
                <a:latin typeface="Times New Roman"/>
                <a:cs typeface="Times New Roman"/>
              </a:rPr>
              <a:t>X</a:t>
            </a:r>
            <a:r>
              <a:rPr sz="2400" spc="15" dirty="0" smtClean="0">
                <a:latin typeface="Times New Roman"/>
                <a:cs typeface="Times New Roman"/>
              </a:rPr>
              <a:t> </a:t>
            </a:r>
            <a:r>
              <a:rPr sz="2400" dirty="0" err="1">
                <a:latin typeface="Times New Roman"/>
                <a:cs typeface="Times New Roman"/>
              </a:rPr>
              <a:t>está</a:t>
            </a:r>
            <a:r>
              <a:rPr sz="2400" spc="20" dirty="0">
                <a:latin typeface="Times New Roman"/>
                <a:cs typeface="Times New Roman"/>
              </a:rPr>
              <a:t> </a:t>
            </a:r>
            <a:r>
              <a:rPr lang="es-ES" sz="2400" b="1" spc="20" dirty="0" smtClean="0">
                <a:latin typeface="Times New Roman"/>
                <a:cs typeface="Times New Roman"/>
              </a:rPr>
              <a:t>(</a:t>
            </a:r>
            <a:r>
              <a:rPr sz="2400" b="1" i="1" spc="-5" dirty="0" smtClean="0">
                <a:latin typeface="Times New Roman"/>
                <a:cs typeface="Times New Roman"/>
              </a:rPr>
              <a:t>1-Especificidad</a:t>
            </a:r>
            <a:r>
              <a:rPr lang="es-ES" sz="2400" b="1" spc="-5" dirty="0" smtClean="0">
                <a:latin typeface="Times New Roman"/>
                <a:cs typeface="Times New Roman"/>
              </a:rPr>
              <a:t>)</a:t>
            </a:r>
            <a:r>
              <a:rPr sz="2400" spc="-5" dirty="0" smtClean="0">
                <a:latin typeface="Times New Roman"/>
                <a:cs typeface="Times New Roman"/>
              </a:rPr>
              <a:t>, </a:t>
            </a:r>
            <a:r>
              <a:rPr sz="2400" dirty="0" err="1" smtClean="0">
                <a:latin typeface="Times New Roman"/>
                <a:cs typeface="Times New Roman"/>
              </a:rPr>
              <a:t>en</a:t>
            </a:r>
            <a:r>
              <a:rPr sz="2400" spc="-5" dirty="0" smtClean="0">
                <a:latin typeface="Times New Roman"/>
                <a:cs typeface="Times New Roman"/>
              </a:rPr>
              <a:t> </a:t>
            </a:r>
            <a:r>
              <a:rPr sz="2400" dirty="0">
                <a:latin typeface="Times New Roman"/>
                <a:cs typeface="Times New Roman"/>
              </a:rPr>
              <a:t>el</a:t>
            </a:r>
            <a:r>
              <a:rPr sz="2400" spc="5" dirty="0">
                <a:latin typeface="Times New Roman"/>
                <a:cs typeface="Times New Roman"/>
              </a:rPr>
              <a:t> </a:t>
            </a:r>
            <a:r>
              <a:rPr sz="2400" spc="-5" dirty="0" err="1">
                <a:latin typeface="Times New Roman"/>
                <a:cs typeface="Times New Roman"/>
              </a:rPr>
              <a:t>eje</a:t>
            </a:r>
            <a:r>
              <a:rPr sz="2400" spc="5" dirty="0">
                <a:latin typeface="Times New Roman"/>
                <a:cs typeface="Times New Roman"/>
              </a:rPr>
              <a:t> </a:t>
            </a:r>
            <a:r>
              <a:rPr lang="es-ES" sz="2400" dirty="0">
                <a:latin typeface="Times New Roman"/>
                <a:cs typeface="Times New Roman"/>
              </a:rPr>
              <a:t>Y</a:t>
            </a:r>
            <a:r>
              <a:rPr sz="2400" dirty="0" smtClean="0">
                <a:latin typeface="Times New Roman"/>
                <a:cs typeface="Times New Roman"/>
              </a:rPr>
              <a:t> </a:t>
            </a:r>
            <a:r>
              <a:rPr sz="2400" dirty="0">
                <a:latin typeface="Times New Roman"/>
                <a:cs typeface="Times New Roman"/>
              </a:rPr>
              <a:t>la </a:t>
            </a:r>
            <a:r>
              <a:rPr lang="es-ES" sz="2400" b="1" i="1" spc="-5" dirty="0" smtClean="0">
                <a:latin typeface="Times New Roman"/>
                <a:cs typeface="Times New Roman"/>
              </a:rPr>
              <a:t>Sensibilidad</a:t>
            </a:r>
            <a:r>
              <a:rPr sz="2400" spc="-5" dirty="0" smtClean="0">
                <a:latin typeface="Times New Roman"/>
                <a:cs typeface="Times New Roman"/>
              </a:rPr>
              <a:t>.</a:t>
            </a:r>
            <a:r>
              <a:rPr lang="es-ES" sz="2400" spc="-5" dirty="0" smtClean="0">
                <a:latin typeface="Times New Roman"/>
                <a:cs typeface="Times New Roman"/>
              </a:rPr>
              <a:t> Esta representación se hace lo para todos los posibles puntos de corte.</a:t>
            </a:r>
            <a:endParaRPr sz="2400" dirty="0">
              <a:latin typeface="Times New Roman"/>
              <a:cs typeface="Times New Roman"/>
            </a:endParaRPr>
          </a:p>
          <a:p>
            <a:pPr algn="just">
              <a:lnSpc>
                <a:spcPct val="100000"/>
              </a:lnSpc>
              <a:spcBef>
                <a:spcPts val="5"/>
              </a:spcBef>
            </a:pPr>
            <a:endParaRPr sz="2400" dirty="0">
              <a:latin typeface="Times New Roman"/>
              <a:cs typeface="Times New Roman"/>
            </a:endParaRPr>
          </a:p>
          <a:p>
            <a:pPr marL="12700" marR="90805" algn="just">
              <a:lnSpc>
                <a:spcPts val="2760"/>
              </a:lnSpc>
            </a:pPr>
            <a:r>
              <a:rPr sz="2400" dirty="0">
                <a:latin typeface="Times New Roman"/>
                <a:cs typeface="Times New Roman"/>
              </a:rPr>
              <a:t>La</a:t>
            </a:r>
            <a:r>
              <a:rPr sz="2400" spc="-5" dirty="0">
                <a:latin typeface="Times New Roman"/>
                <a:cs typeface="Times New Roman"/>
              </a:rPr>
              <a:t> </a:t>
            </a:r>
            <a:r>
              <a:rPr sz="2400" dirty="0">
                <a:latin typeface="Times New Roman"/>
                <a:cs typeface="Times New Roman"/>
              </a:rPr>
              <a:t>clasificación trivial es la </a:t>
            </a:r>
            <a:r>
              <a:rPr sz="2400" spc="-5" dirty="0">
                <a:latin typeface="Times New Roman"/>
                <a:cs typeface="Times New Roman"/>
              </a:rPr>
              <a:t>recta</a:t>
            </a:r>
            <a:r>
              <a:rPr sz="2400" spc="5" dirty="0">
                <a:latin typeface="Times New Roman"/>
                <a:cs typeface="Times New Roman"/>
              </a:rPr>
              <a:t> </a:t>
            </a:r>
            <a:r>
              <a:rPr sz="2400" spc="-5" dirty="0">
                <a:latin typeface="Times New Roman"/>
                <a:cs typeface="Times New Roman"/>
              </a:rPr>
              <a:t>diagonal.</a:t>
            </a:r>
            <a:r>
              <a:rPr sz="2400" dirty="0">
                <a:latin typeface="Times New Roman"/>
                <a:cs typeface="Times New Roman"/>
              </a:rPr>
              <a:t> </a:t>
            </a:r>
            <a:r>
              <a:rPr sz="2400" spc="-5" dirty="0">
                <a:latin typeface="Times New Roman"/>
                <a:cs typeface="Times New Roman"/>
              </a:rPr>
              <a:t>Si</a:t>
            </a:r>
            <a:r>
              <a:rPr sz="2400" spc="-10" dirty="0">
                <a:latin typeface="Times New Roman"/>
                <a:cs typeface="Times New Roman"/>
              </a:rPr>
              <a:t> </a:t>
            </a:r>
            <a:r>
              <a:rPr sz="2400" dirty="0">
                <a:latin typeface="Times New Roman"/>
                <a:cs typeface="Times New Roman"/>
              </a:rPr>
              <a:t>un </a:t>
            </a:r>
            <a:r>
              <a:rPr sz="2400" spc="-5" dirty="0">
                <a:latin typeface="Times New Roman"/>
                <a:cs typeface="Times New Roman"/>
              </a:rPr>
              <a:t>método</a:t>
            </a:r>
            <a:r>
              <a:rPr sz="2400" dirty="0">
                <a:latin typeface="Times New Roman"/>
                <a:cs typeface="Times New Roman"/>
              </a:rPr>
              <a:t> </a:t>
            </a:r>
            <a:r>
              <a:rPr sz="2400" spc="-5" dirty="0">
                <a:latin typeface="Times New Roman"/>
                <a:cs typeface="Times New Roman"/>
              </a:rPr>
              <a:t>clasifica</a:t>
            </a:r>
            <a:r>
              <a:rPr sz="2400" dirty="0">
                <a:latin typeface="Times New Roman"/>
                <a:cs typeface="Times New Roman"/>
              </a:rPr>
              <a:t> bien, la</a:t>
            </a:r>
            <a:r>
              <a:rPr sz="2400" spc="-15" dirty="0">
                <a:latin typeface="Times New Roman"/>
                <a:cs typeface="Times New Roman"/>
              </a:rPr>
              <a:t> </a:t>
            </a:r>
            <a:r>
              <a:rPr sz="2400" dirty="0">
                <a:latin typeface="Times New Roman"/>
                <a:cs typeface="Times New Roman"/>
              </a:rPr>
              <a:t>curva </a:t>
            </a:r>
            <a:r>
              <a:rPr sz="2400" spc="5" dirty="0">
                <a:latin typeface="Times New Roman"/>
                <a:cs typeface="Times New Roman"/>
              </a:rPr>
              <a:t> </a:t>
            </a:r>
            <a:r>
              <a:rPr sz="2400" dirty="0">
                <a:latin typeface="Times New Roman"/>
                <a:cs typeface="Times New Roman"/>
              </a:rPr>
              <a:t>tocará cerca de la </a:t>
            </a:r>
            <a:r>
              <a:rPr sz="2400" spc="-5" dirty="0">
                <a:latin typeface="Times New Roman"/>
                <a:cs typeface="Times New Roman"/>
              </a:rPr>
              <a:t>esquina superior izquierda. </a:t>
            </a:r>
            <a:r>
              <a:rPr sz="2400" dirty="0">
                <a:latin typeface="Times New Roman"/>
                <a:cs typeface="Times New Roman"/>
              </a:rPr>
              <a:t>Los puntos de corte </a:t>
            </a:r>
            <a:r>
              <a:rPr sz="2400" spc="-5" dirty="0">
                <a:latin typeface="Times New Roman"/>
                <a:cs typeface="Times New Roman"/>
              </a:rPr>
              <a:t>más </a:t>
            </a:r>
            <a:r>
              <a:rPr sz="2400" spc="5" dirty="0">
                <a:latin typeface="Times New Roman"/>
                <a:cs typeface="Times New Roman"/>
              </a:rPr>
              <a:t>cercanos </a:t>
            </a:r>
            <a:r>
              <a:rPr sz="2400" dirty="0">
                <a:latin typeface="Times New Roman"/>
                <a:cs typeface="Times New Roman"/>
              </a:rPr>
              <a:t>a </a:t>
            </a:r>
            <a:r>
              <a:rPr sz="2400" spc="-585" dirty="0">
                <a:latin typeface="Times New Roman"/>
                <a:cs typeface="Times New Roman"/>
              </a:rPr>
              <a:t> </a:t>
            </a:r>
            <a:r>
              <a:rPr sz="2400" dirty="0">
                <a:latin typeface="Times New Roman"/>
                <a:cs typeface="Times New Roman"/>
              </a:rPr>
              <a:t>esa </a:t>
            </a:r>
            <a:r>
              <a:rPr sz="2400" spc="-5" dirty="0">
                <a:latin typeface="Times New Roman"/>
                <a:cs typeface="Times New Roman"/>
              </a:rPr>
              <a:t>esquina</a:t>
            </a:r>
            <a:r>
              <a:rPr sz="2400" spc="-10" dirty="0">
                <a:latin typeface="Times New Roman"/>
                <a:cs typeface="Times New Roman"/>
              </a:rPr>
              <a:t> </a:t>
            </a:r>
            <a:r>
              <a:rPr sz="2400" spc="-5" dirty="0">
                <a:latin typeface="Times New Roman"/>
                <a:cs typeface="Times New Roman"/>
              </a:rPr>
              <a:t>son </a:t>
            </a:r>
            <a:r>
              <a:rPr sz="2400" dirty="0">
                <a:latin typeface="Times New Roman"/>
                <a:cs typeface="Times New Roman"/>
              </a:rPr>
              <a:t>los </a:t>
            </a:r>
            <a:r>
              <a:rPr sz="2400" spc="-5" dirty="0" err="1">
                <a:latin typeface="Times New Roman"/>
                <a:cs typeface="Times New Roman"/>
              </a:rPr>
              <a:t>mejores</a:t>
            </a:r>
            <a:r>
              <a:rPr sz="2400" spc="-5" dirty="0" smtClean="0">
                <a:latin typeface="Times New Roman"/>
                <a:cs typeface="Times New Roman"/>
              </a:rPr>
              <a:t>.</a:t>
            </a:r>
            <a:r>
              <a:rPr lang="es-ES" sz="2400" spc="-5" dirty="0">
                <a:latin typeface="Times New Roman"/>
                <a:cs typeface="Times New Roman"/>
              </a:rPr>
              <a:t> Lo ideal es que la curva está lo más próxima posible a los "bordes" (valor de X próximo a 0, para que la </a:t>
            </a:r>
            <a:r>
              <a:rPr lang="es-ES" sz="2400" spc="-5" dirty="0" smtClean="0">
                <a:latin typeface="Times New Roman"/>
                <a:cs typeface="Times New Roman"/>
              </a:rPr>
              <a:t>sensibilidad </a:t>
            </a:r>
            <a:r>
              <a:rPr lang="es-ES" sz="2400" spc="-5" dirty="0">
                <a:latin typeface="Times New Roman"/>
                <a:cs typeface="Times New Roman"/>
              </a:rPr>
              <a:t>sea grande, y valor de Y próximo a 1, para garantizar que cierto</a:t>
            </a:r>
            <a:endParaRPr sz="2400" dirty="0">
              <a:latin typeface="Times New Roman"/>
              <a:cs typeface="Times New Roman"/>
            </a:endParaRPr>
          </a:p>
          <a:p>
            <a:pPr algn="just">
              <a:lnSpc>
                <a:spcPct val="100000"/>
              </a:lnSpc>
            </a:pPr>
            <a:endParaRPr sz="2400" dirty="0">
              <a:latin typeface="Times New Roman"/>
              <a:cs typeface="Times New Roman"/>
            </a:endParaRPr>
          </a:p>
          <a:p>
            <a:pPr marL="12700" marR="641985" algn="just">
              <a:lnSpc>
                <a:spcPts val="2760"/>
              </a:lnSpc>
            </a:pPr>
            <a:r>
              <a:rPr lang="es-ES" sz="2400" dirty="0" smtClean="0">
                <a:latin typeface="Times New Roman"/>
                <a:cs typeface="Times New Roman"/>
              </a:rPr>
              <a:t>C</a:t>
            </a:r>
            <a:r>
              <a:rPr sz="2400" dirty="0" err="1" smtClean="0">
                <a:latin typeface="Times New Roman"/>
                <a:cs typeface="Times New Roman"/>
              </a:rPr>
              <a:t>ada</a:t>
            </a:r>
            <a:r>
              <a:rPr sz="2400" spc="-10" dirty="0" smtClean="0">
                <a:latin typeface="Times New Roman"/>
                <a:cs typeface="Times New Roman"/>
              </a:rPr>
              <a:t> </a:t>
            </a:r>
            <a:r>
              <a:rPr sz="2400" dirty="0">
                <a:latin typeface="Times New Roman"/>
                <a:cs typeface="Times New Roman"/>
              </a:rPr>
              <a:t>punto</a:t>
            </a:r>
            <a:r>
              <a:rPr sz="2400" spc="-5" dirty="0">
                <a:latin typeface="Times New Roman"/>
                <a:cs typeface="Times New Roman"/>
              </a:rPr>
              <a:t> </a:t>
            </a:r>
            <a:r>
              <a:rPr sz="2400" dirty="0">
                <a:latin typeface="Times New Roman"/>
                <a:cs typeface="Times New Roman"/>
              </a:rPr>
              <a:t>de</a:t>
            </a:r>
            <a:r>
              <a:rPr sz="2400" spc="-10" dirty="0">
                <a:latin typeface="Times New Roman"/>
                <a:cs typeface="Times New Roman"/>
              </a:rPr>
              <a:t> </a:t>
            </a:r>
            <a:r>
              <a:rPr sz="2400" dirty="0">
                <a:latin typeface="Times New Roman"/>
                <a:cs typeface="Times New Roman"/>
              </a:rPr>
              <a:t>la</a:t>
            </a:r>
            <a:r>
              <a:rPr sz="2400" spc="-5" dirty="0">
                <a:latin typeface="Times New Roman"/>
                <a:cs typeface="Times New Roman"/>
              </a:rPr>
              <a:t> </a:t>
            </a:r>
            <a:r>
              <a:rPr sz="2400" dirty="0">
                <a:latin typeface="Times New Roman"/>
                <a:cs typeface="Times New Roman"/>
              </a:rPr>
              <a:t>curva</a:t>
            </a:r>
            <a:r>
              <a:rPr sz="2400" spc="-5" dirty="0">
                <a:latin typeface="Times New Roman"/>
                <a:cs typeface="Times New Roman"/>
              </a:rPr>
              <a:t> </a:t>
            </a:r>
            <a:r>
              <a:rPr sz="2400" dirty="0">
                <a:latin typeface="Times New Roman"/>
                <a:cs typeface="Times New Roman"/>
              </a:rPr>
              <a:t>ROC</a:t>
            </a:r>
            <a:r>
              <a:rPr sz="2400" spc="-10" dirty="0">
                <a:latin typeface="Times New Roman"/>
                <a:cs typeface="Times New Roman"/>
              </a:rPr>
              <a:t> </a:t>
            </a:r>
            <a:r>
              <a:rPr sz="2400" dirty="0">
                <a:latin typeface="Times New Roman"/>
                <a:cs typeface="Times New Roman"/>
              </a:rPr>
              <a:t>corresponde</a:t>
            </a:r>
            <a:r>
              <a:rPr sz="2400" spc="-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un</a:t>
            </a:r>
            <a:r>
              <a:rPr sz="2400" spc="-5" dirty="0">
                <a:latin typeface="Times New Roman"/>
                <a:cs typeface="Times New Roman"/>
              </a:rPr>
              <a:t> </a:t>
            </a:r>
            <a:r>
              <a:rPr sz="2400" dirty="0">
                <a:latin typeface="Times New Roman"/>
                <a:cs typeface="Times New Roman"/>
              </a:rPr>
              <a:t>punto</a:t>
            </a:r>
            <a:r>
              <a:rPr sz="2400" spc="-10" dirty="0">
                <a:latin typeface="Times New Roman"/>
                <a:cs typeface="Times New Roman"/>
              </a:rPr>
              <a:t> </a:t>
            </a:r>
            <a:r>
              <a:rPr sz="2400" dirty="0">
                <a:latin typeface="Times New Roman"/>
                <a:cs typeface="Times New Roman"/>
              </a:rPr>
              <a:t>de</a:t>
            </a:r>
            <a:r>
              <a:rPr sz="2400" spc="-5" dirty="0">
                <a:latin typeface="Times New Roman"/>
                <a:cs typeface="Times New Roman"/>
              </a:rPr>
              <a:t> </a:t>
            </a:r>
            <a:r>
              <a:rPr sz="2400" dirty="0">
                <a:latin typeface="Times New Roman"/>
                <a:cs typeface="Times New Roman"/>
              </a:rPr>
              <a:t>corte</a:t>
            </a:r>
            <a:r>
              <a:rPr sz="2400" spc="-5" dirty="0">
                <a:latin typeface="Times New Roman"/>
                <a:cs typeface="Times New Roman"/>
              </a:rPr>
              <a:t> </a:t>
            </a:r>
            <a:r>
              <a:rPr sz="2400" dirty="0">
                <a:latin typeface="Times New Roman"/>
                <a:cs typeface="Times New Roman"/>
              </a:rPr>
              <a:t>de </a:t>
            </a:r>
            <a:r>
              <a:rPr sz="2400" spc="-585" dirty="0">
                <a:latin typeface="Times New Roman"/>
                <a:cs typeface="Times New Roman"/>
              </a:rPr>
              <a:t> </a:t>
            </a:r>
            <a:r>
              <a:rPr sz="2400" dirty="0">
                <a:latin typeface="Times New Roman"/>
                <a:cs typeface="Times New Roman"/>
              </a:rPr>
              <a:t>probabilidad.</a:t>
            </a:r>
          </a:p>
          <a:p>
            <a:pPr algn="just">
              <a:lnSpc>
                <a:spcPct val="100000"/>
              </a:lnSpc>
            </a:pPr>
            <a:endParaRPr sz="2400" dirty="0">
              <a:latin typeface="Times New Roman"/>
              <a:cs typeface="Times New Roman"/>
            </a:endParaRPr>
          </a:p>
          <a:p>
            <a:pPr marL="12700" marR="442595" algn="just">
              <a:lnSpc>
                <a:spcPts val="2760"/>
              </a:lnSpc>
            </a:pPr>
            <a:r>
              <a:rPr sz="2400" dirty="0">
                <a:latin typeface="Times New Roman"/>
                <a:cs typeface="Times New Roman"/>
              </a:rPr>
              <a:t>En</a:t>
            </a:r>
            <a:r>
              <a:rPr sz="2400" spc="-10" dirty="0">
                <a:latin typeface="Times New Roman"/>
                <a:cs typeface="Times New Roman"/>
              </a:rPr>
              <a:t> </a:t>
            </a:r>
            <a:r>
              <a:rPr sz="2400" dirty="0">
                <a:latin typeface="Times New Roman"/>
                <a:cs typeface="Times New Roman"/>
              </a:rPr>
              <a:t>general,</a:t>
            </a:r>
            <a:r>
              <a:rPr sz="2400" spc="-20" dirty="0">
                <a:latin typeface="Times New Roman"/>
                <a:cs typeface="Times New Roman"/>
              </a:rPr>
              <a:t> </a:t>
            </a:r>
            <a:r>
              <a:rPr sz="2400" dirty="0">
                <a:latin typeface="Times New Roman"/>
                <a:cs typeface="Times New Roman"/>
              </a:rPr>
              <a:t>para</a:t>
            </a:r>
            <a:r>
              <a:rPr sz="2400" spc="-10" dirty="0">
                <a:latin typeface="Times New Roman"/>
                <a:cs typeface="Times New Roman"/>
              </a:rPr>
              <a:t> </a:t>
            </a:r>
            <a:r>
              <a:rPr sz="2400" dirty="0">
                <a:latin typeface="Times New Roman"/>
                <a:cs typeface="Times New Roman"/>
              </a:rPr>
              <a:t>evitar</a:t>
            </a:r>
            <a:r>
              <a:rPr sz="2400" spc="-5" dirty="0">
                <a:latin typeface="Times New Roman"/>
                <a:cs typeface="Times New Roman"/>
              </a:rPr>
              <a:t> </a:t>
            </a:r>
            <a:r>
              <a:rPr sz="2400" dirty="0">
                <a:latin typeface="Times New Roman"/>
                <a:cs typeface="Times New Roman"/>
              </a:rPr>
              <a:t>el</a:t>
            </a:r>
            <a:r>
              <a:rPr sz="2400" spc="-10" dirty="0">
                <a:latin typeface="Times New Roman"/>
                <a:cs typeface="Times New Roman"/>
              </a:rPr>
              <a:t> </a:t>
            </a:r>
            <a:r>
              <a:rPr sz="2400" spc="-5" dirty="0">
                <a:latin typeface="Times New Roman"/>
                <a:cs typeface="Times New Roman"/>
              </a:rPr>
              <a:t>sobreajuste,</a:t>
            </a:r>
            <a:r>
              <a:rPr sz="2400" spc="-10" dirty="0">
                <a:latin typeface="Times New Roman"/>
                <a:cs typeface="Times New Roman"/>
              </a:rPr>
              <a:t> </a:t>
            </a:r>
            <a:r>
              <a:rPr sz="2400" dirty="0">
                <a:latin typeface="Times New Roman"/>
                <a:cs typeface="Times New Roman"/>
              </a:rPr>
              <a:t>la</a:t>
            </a:r>
            <a:r>
              <a:rPr sz="2400" spc="-10" dirty="0">
                <a:latin typeface="Times New Roman"/>
                <a:cs typeface="Times New Roman"/>
              </a:rPr>
              <a:t> </a:t>
            </a:r>
            <a:r>
              <a:rPr sz="2400" dirty="0">
                <a:latin typeface="Times New Roman"/>
                <a:cs typeface="Times New Roman"/>
              </a:rPr>
              <a:t>tabla</a:t>
            </a:r>
            <a:r>
              <a:rPr sz="2400" spc="-5" dirty="0">
                <a:latin typeface="Times New Roman"/>
                <a:cs typeface="Times New Roman"/>
              </a:rPr>
              <a:t> </a:t>
            </a:r>
            <a:r>
              <a:rPr sz="2400" dirty="0">
                <a:latin typeface="Times New Roman"/>
                <a:cs typeface="Times New Roman"/>
              </a:rPr>
              <a:t>de</a:t>
            </a:r>
            <a:r>
              <a:rPr sz="2400" spc="-15" dirty="0">
                <a:latin typeface="Times New Roman"/>
                <a:cs typeface="Times New Roman"/>
              </a:rPr>
              <a:t> </a:t>
            </a:r>
            <a:r>
              <a:rPr sz="2400" dirty="0">
                <a:latin typeface="Times New Roman"/>
                <a:cs typeface="Times New Roman"/>
              </a:rPr>
              <a:t>clasificación</a:t>
            </a:r>
            <a:r>
              <a:rPr sz="2400" spc="-20" dirty="0">
                <a:latin typeface="Times New Roman"/>
                <a:cs typeface="Times New Roman"/>
              </a:rPr>
              <a:t> </a:t>
            </a:r>
            <a:r>
              <a:rPr sz="2400" dirty="0">
                <a:latin typeface="Times New Roman"/>
                <a:cs typeface="Times New Roman"/>
              </a:rPr>
              <a:t>y</a:t>
            </a:r>
            <a:r>
              <a:rPr sz="2400" spc="-5" dirty="0">
                <a:latin typeface="Times New Roman"/>
                <a:cs typeface="Times New Roman"/>
              </a:rPr>
              <a:t> </a:t>
            </a:r>
            <a:r>
              <a:rPr sz="2400" dirty="0">
                <a:latin typeface="Times New Roman"/>
                <a:cs typeface="Times New Roman"/>
              </a:rPr>
              <a:t>curva</a:t>
            </a:r>
            <a:r>
              <a:rPr sz="2400" spc="-10" dirty="0">
                <a:latin typeface="Times New Roman"/>
                <a:cs typeface="Times New Roman"/>
              </a:rPr>
              <a:t> </a:t>
            </a:r>
            <a:r>
              <a:rPr sz="2400" dirty="0">
                <a:latin typeface="Times New Roman"/>
                <a:cs typeface="Times New Roman"/>
              </a:rPr>
              <a:t>ROC</a:t>
            </a:r>
            <a:r>
              <a:rPr sz="2400" spc="-5" dirty="0">
                <a:latin typeface="Times New Roman"/>
                <a:cs typeface="Times New Roman"/>
              </a:rPr>
              <a:t> se </a:t>
            </a:r>
            <a:r>
              <a:rPr sz="2400" spc="-585" dirty="0">
                <a:latin typeface="Times New Roman"/>
                <a:cs typeface="Times New Roman"/>
              </a:rPr>
              <a:t> </a:t>
            </a:r>
            <a:r>
              <a:rPr sz="2400" dirty="0">
                <a:latin typeface="Times New Roman"/>
                <a:cs typeface="Times New Roman"/>
              </a:rPr>
              <a:t>calcularán</a:t>
            </a:r>
            <a:r>
              <a:rPr sz="2400" spc="-20" dirty="0">
                <a:latin typeface="Times New Roman"/>
                <a:cs typeface="Times New Roman"/>
              </a:rPr>
              <a:t> </a:t>
            </a:r>
            <a:r>
              <a:rPr sz="2400" spc="-5" dirty="0">
                <a:latin typeface="Times New Roman"/>
                <a:cs typeface="Times New Roman"/>
              </a:rPr>
              <a:t>siempre</a:t>
            </a:r>
            <a:r>
              <a:rPr sz="2400" dirty="0">
                <a:latin typeface="Times New Roman"/>
                <a:cs typeface="Times New Roman"/>
              </a:rPr>
              <a:t> </a:t>
            </a:r>
            <a:r>
              <a:rPr sz="2400" spc="-5" dirty="0">
                <a:latin typeface="Times New Roman"/>
                <a:cs typeface="Times New Roman"/>
              </a:rPr>
              <a:t>sobre </a:t>
            </a:r>
            <a:r>
              <a:rPr sz="2400" dirty="0">
                <a:latin typeface="Times New Roman"/>
                <a:cs typeface="Times New Roman"/>
              </a:rPr>
              <a:t>datos de</a:t>
            </a:r>
            <a:r>
              <a:rPr sz="2400" spc="15" dirty="0">
                <a:latin typeface="Times New Roman"/>
                <a:cs typeface="Times New Roman"/>
              </a:rPr>
              <a:t> </a:t>
            </a:r>
            <a:r>
              <a:rPr sz="2400" b="1" dirty="0">
                <a:latin typeface="Times New Roman"/>
                <a:cs typeface="Times New Roman"/>
              </a:rPr>
              <a:t>validación</a:t>
            </a:r>
            <a:r>
              <a:rPr sz="2400" b="1" spc="-5" dirty="0">
                <a:latin typeface="Times New Roman"/>
                <a:cs typeface="Times New Roman"/>
              </a:rPr>
              <a:t> </a:t>
            </a:r>
            <a:r>
              <a:rPr sz="2400" dirty="0">
                <a:latin typeface="Times New Roman"/>
                <a:cs typeface="Times New Roman"/>
              </a:rPr>
              <a:t>o </a:t>
            </a:r>
            <a:r>
              <a:rPr sz="2400" b="1" dirty="0">
                <a:latin typeface="Times New Roman"/>
                <a:cs typeface="Times New Roman"/>
              </a:rPr>
              <a:t>test</a:t>
            </a:r>
            <a:r>
              <a:rPr sz="2400" dirty="0" smtClean="0">
                <a:latin typeface="Times New Roman"/>
                <a:cs typeface="Times New Roman"/>
              </a:rPr>
              <a:t>.</a:t>
            </a:r>
            <a:endParaRPr lang="es-ES" sz="2400" dirty="0" smtClean="0">
              <a:latin typeface="Times New Roman"/>
              <a:cs typeface="Times New Roman"/>
            </a:endParaRPr>
          </a:p>
          <a:p>
            <a:pPr marL="12700" marR="442595" algn="just">
              <a:lnSpc>
                <a:spcPts val="2760"/>
              </a:lnSpc>
            </a:pPr>
            <a:endParaRPr lang="es-ES" sz="2400" spc="-5" dirty="0" smtClean="0">
              <a:latin typeface="Times New Roman"/>
              <a:cs typeface="Times New Roman"/>
            </a:endParaRPr>
          </a:p>
          <a:p>
            <a:pPr marL="12700" marR="442595" algn="just">
              <a:lnSpc>
                <a:spcPts val="2760"/>
              </a:lnSpc>
            </a:pPr>
            <a:r>
              <a:rPr lang="es-ES" sz="2400" spc="-5" dirty="0" smtClean="0">
                <a:latin typeface="Times New Roman"/>
                <a:cs typeface="Times New Roman"/>
              </a:rPr>
              <a:t>Cuando </a:t>
            </a:r>
            <a:r>
              <a:rPr lang="es-ES" sz="2400" b="1" spc="-5" dirty="0">
                <a:latin typeface="Times New Roman"/>
                <a:cs typeface="Times New Roman"/>
              </a:rPr>
              <a:t>mayor </a:t>
            </a:r>
            <a:r>
              <a:rPr lang="es-ES" sz="2400" spc="-5" dirty="0">
                <a:latin typeface="Times New Roman"/>
                <a:cs typeface="Times New Roman"/>
              </a:rPr>
              <a:t>sea el </a:t>
            </a:r>
            <a:r>
              <a:rPr lang="es-ES" sz="2400" b="1" spc="-5" dirty="0">
                <a:latin typeface="Times New Roman"/>
                <a:cs typeface="Times New Roman"/>
              </a:rPr>
              <a:t>área</a:t>
            </a:r>
            <a:r>
              <a:rPr lang="es-ES" sz="2400" spc="-5" dirty="0">
                <a:latin typeface="Times New Roman"/>
                <a:cs typeface="Times New Roman"/>
              </a:rPr>
              <a:t> de la curva </a:t>
            </a:r>
            <a:r>
              <a:rPr lang="es-ES" sz="2400" b="1" spc="-5" dirty="0">
                <a:latin typeface="Times New Roman"/>
                <a:cs typeface="Times New Roman"/>
              </a:rPr>
              <a:t>ROC</a:t>
            </a:r>
            <a:r>
              <a:rPr lang="es-ES" sz="2400" spc="-5" dirty="0">
                <a:latin typeface="Times New Roman"/>
                <a:cs typeface="Times New Roman"/>
              </a:rPr>
              <a:t>, </a:t>
            </a:r>
            <a:r>
              <a:rPr lang="es-ES" sz="2400" b="1" spc="-5" dirty="0" smtClean="0">
                <a:latin typeface="Times New Roman"/>
                <a:cs typeface="Times New Roman"/>
              </a:rPr>
              <a:t>mejor </a:t>
            </a:r>
            <a:r>
              <a:rPr lang="es-ES" sz="2400" spc="-5" dirty="0" smtClean="0">
                <a:latin typeface="Times New Roman"/>
                <a:cs typeface="Times New Roman"/>
              </a:rPr>
              <a:t>será </a:t>
            </a:r>
            <a:r>
              <a:rPr lang="es-ES" sz="2400" spc="-5" dirty="0">
                <a:latin typeface="Times New Roman"/>
                <a:cs typeface="Times New Roman"/>
              </a:rPr>
              <a:t>el modelo.</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4229" y="435488"/>
            <a:ext cx="9884106" cy="5601646"/>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79500" y="2486025"/>
            <a:ext cx="9123045" cy="1819729"/>
          </a:xfrm>
          <a:prstGeom prst="rect">
            <a:avLst/>
          </a:prstGeom>
        </p:spPr>
        <p:txBody>
          <a:bodyPr vert="horz" wrap="square" lIns="0" tIns="27305" rIns="0" bIns="0" rtlCol="0">
            <a:spAutoFit/>
          </a:bodyPr>
          <a:lstStyle/>
          <a:p>
            <a:pPr marL="12700" marR="238760">
              <a:lnSpc>
                <a:spcPct val="95900"/>
              </a:lnSpc>
              <a:spcBef>
                <a:spcPts val="215"/>
              </a:spcBef>
            </a:pPr>
            <a:r>
              <a:rPr sz="2400" dirty="0">
                <a:latin typeface="Times New Roman"/>
                <a:cs typeface="Times New Roman"/>
              </a:rPr>
              <a:t>El </a:t>
            </a:r>
            <a:r>
              <a:rPr sz="2400" spc="-5" dirty="0">
                <a:latin typeface="Times New Roman"/>
                <a:cs typeface="Times New Roman"/>
              </a:rPr>
              <a:t>Área </a:t>
            </a:r>
            <a:r>
              <a:rPr sz="2400" dirty="0">
                <a:latin typeface="Times New Roman"/>
                <a:cs typeface="Times New Roman"/>
              </a:rPr>
              <a:t>bajo</a:t>
            </a:r>
            <a:r>
              <a:rPr sz="2400" spc="-10" dirty="0">
                <a:latin typeface="Times New Roman"/>
                <a:cs typeface="Times New Roman"/>
              </a:rPr>
              <a:t> </a:t>
            </a:r>
            <a:r>
              <a:rPr sz="2400" dirty="0">
                <a:latin typeface="Times New Roman"/>
                <a:cs typeface="Times New Roman"/>
              </a:rPr>
              <a:t>la curva </a:t>
            </a:r>
            <a:r>
              <a:rPr sz="2400" spc="-10" dirty="0">
                <a:latin typeface="Times New Roman"/>
                <a:cs typeface="Times New Roman"/>
              </a:rPr>
              <a:t>ROC</a:t>
            </a:r>
            <a:r>
              <a:rPr sz="2400" dirty="0">
                <a:latin typeface="Times New Roman"/>
                <a:cs typeface="Times New Roman"/>
              </a:rPr>
              <a:t> es uno de los </a:t>
            </a:r>
            <a:r>
              <a:rPr sz="2400" spc="-5" dirty="0">
                <a:latin typeface="Times New Roman"/>
                <a:cs typeface="Times New Roman"/>
              </a:rPr>
              <a:t>estadísticos</a:t>
            </a:r>
            <a:r>
              <a:rPr sz="2400" dirty="0">
                <a:latin typeface="Times New Roman"/>
                <a:cs typeface="Times New Roman"/>
              </a:rPr>
              <a:t> </a:t>
            </a:r>
            <a:r>
              <a:rPr sz="2400" spc="-10" dirty="0">
                <a:latin typeface="Times New Roman"/>
                <a:cs typeface="Times New Roman"/>
              </a:rPr>
              <a:t>más</a:t>
            </a:r>
            <a:r>
              <a:rPr sz="2400" dirty="0">
                <a:latin typeface="Times New Roman"/>
                <a:cs typeface="Times New Roman"/>
              </a:rPr>
              <a:t> utilizados para </a:t>
            </a:r>
            <a:r>
              <a:rPr sz="2400" spc="-585" dirty="0">
                <a:latin typeface="Times New Roman"/>
                <a:cs typeface="Times New Roman"/>
              </a:rPr>
              <a:t> </a:t>
            </a:r>
            <a:r>
              <a:rPr sz="2400" spc="-5" dirty="0">
                <a:latin typeface="Times New Roman"/>
                <a:cs typeface="Times New Roman"/>
              </a:rPr>
              <a:t>comparar</a:t>
            </a:r>
            <a:r>
              <a:rPr sz="2400" spc="10" dirty="0">
                <a:latin typeface="Times New Roman"/>
                <a:cs typeface="Times New Roman"/>
              </a:rPr>
              <a:t> </a:t>
            </a:r>
            <a:r>
              <a:rPr sz="2400" dirty="0">
                <a:latin typeface="Times New Roman"/>
                <a:cs typeface="Times New Roman"/>
              </a:rPr>
              <a:t>modelos</a:t>
            </a:r>
            <a:r>
              <a:rPr sz="2400" spc="5" dirty="0">
                <a:latin typeface="Times New Roman"/>
                <a:cs typeface="Times New Roman"/>
              </a:rPr>
              <a:t> </a:t>
            </a:r>
            <a:r>
              <a:rPr sz="2400" dirty="0">
                <a:latin typeface="Times New Roman"/>
                <a:cs typeface="Times New Roman"/>
              </a:rPr>
              <a:t>de</a:t>
            </a:r>
            <a:r>
              <a:rPr sz="2400" spc="5" dirty="0">
                <a:latin typeface="Times New Roman"/>
                <a:cs typeface="Times New Roman"/>
              </a:rPr>
              <a:t> </a:t>
            </a:r>
            <a:r>
              <a:rPr sz="2400" spc="-5" dirty="0">
                <a:latin typeface="Times New Roman"/>
                <a:cs typeface="Times New Roman"/>
              </a:rPr>
              <a:t>clasificación</a:t>
            </a:r>
            <a:r>
              <a:rPr sz="2400" spc="5" dirty="0">
                <a:latin typeface="Times New Roman"/>
                <a:cs typeface="Times New Roman"/>
              </a:rPr>
              <a:t> </a:t>
            </a:r>
            <a:r>
              <a:rPr sz="2400" spc="-5" dirty="0">
                <a:latin typeface="Times New Roman"/>
                <a:cs typeface="Times New Roman"/>
              </a:rPr>
              <a:t>binaria.</a:t>
            </a:r>
            <a:r>
              <a:rPr sz="2400" dirty="0">
                <a:latin typeface="Times New Roman"/>
                <a:cs typeface="Times New Roman"/>
              </a:rPr>
              <a:t> En</a:t>
            </a:r>
            <a:r>
              <a:rPr sz="2400" spc="5" dirty="0">
                <a:latin typeface="Times New Roman"/>
                <a:cs typeface="Times New Roman"/>
              </a:rPr>
              <a:t> </a:t>
            </a:r>
            <a:r>
              <a:rPr sz="2400" dirty="0">
                <a:latin typeface="Times New Roman"/>
                <a:cs typeface="Times New Roman"/>
              </a:rPr>
              <a:t>el</a:t>
            </a:r>
            <a:r>
              <a:rPr sz="2400" spc="-5" dirty="0">
                <a:latin typeface="Times New Roman"/>
                <a:cs typeface="Times New Roman"/>
              </a:rPr>
              <a:t> ejemplo</a:t>
            </a:r>
            <a:r>
              <a:rPr sz="2400" spc="5" dirty="0">
                <a:latin typeface="Times New Roman"/>
                <a:cs typeface="Times New Roman"/>
              </a:rPr>
              <a:t> </a:t>
            </a:r>
            <a:r>
              <a:rPr sz="2400" dirty="0">
                <a:latin typeface="Times New Roman"/>
                <a:cs typeface="Times New Roman"/>
              </a:rPr>
              <a:t>anterior, es </a:t>
            </a:r>
            <a:r>
              <a:rPr sz="2400" spc="5" dirty="0">
                <a:latin typeface="Times New Roman"/>
                <a:cs typeface="Times New Roman"/>
              </a:rPr>
              <a:t> </a:t>
            </a:r>
            <a:r>
              <a:rPr sz="2400" spc="-5" dirty="0">
                <a:latin typeface="Times New Roman"/>
                <a:cs typeface="Times New Roman"/>
              </a:rPr>
              <a:t>AUC=0.889</a:t>
            </a:r>
            <a:endParaRPr sz="2400" dirty="0">
              <a:latin typeface="Times New Roman"/>
              <a:cs typeface="Times New Roman"/>
            </a:endParaRPr>
          </a:p>
          <a:p>
            <a:pPr>
              <a:lnSpc>
                <a:spcPct val="100000"/>
              </a:lnSpc>
              <a:spcBef>
                <a:spcPts val="55"/>
              </a:spcBef>
            </a:pPr>
            <a:endParaRPr sz="2250" dirty="0">
              <a:latin typeface="Times New Roman"/>
              <a:cs typeface="Times New Roman"/>
            </a:endParaRPr>
          </a:p>
          <a:p>
            <a:pPr marL="12700">
              <a:lnSpc>
                <a:spcPct val="100000"/>
              </a:lnSpc>
            </a:pPr>
            <a:r>
              <a:rPr sz="2400" dirty="0">
                <a:latin typeface="Times New Roman"/>
                <a:cs typeface="Times New Roman"/>
              </a:rPr>
              <a:t>Cuanto</a:t>
            </a:r>
            <a:r>
              <a:rPr sz="2400" spc="-5" dirty="0">
                <a:latin typeface="Times New Roman"/>
                <a:cs typeface="Times New Roman"/>
              </a:rPr>
              <a:t> </a:t>
            </a:r>
            <a:r>
              <a:rPr sz="2400" spc="-10" dirty="0">
                <a:latin typeface="Times New Roman"/>
                <a:cs typeface="Times New Roman"/>
              </a:rPr>
              <a:t>más</a:t>
            </a:r>
            <a:r>
              <a:rPr sz="2400" spc="10" dirty="0">
                <a:latin typeface="Times New Roman"/>
                <a:cs typeface="Times New Roman"/>
              </a:rPr>
              <a:t> </a:t>
            </a:r>
            <a:r>
              <a:rPr sz="2400" dirty="0">
                <a:latin typeface="Times New Roman"/>
                <a:cs typeface="Times New Roman"/>
              </a:rPr>
              <a:t>cerca del</a:t>
            </a:r>
            <a:r>
              <a:rPr sz="2400" spc="-5" dirty="0">
                <a:latin typeface="Times New Roman"/>
                <a:cs typeface="Times New Roman"/>
              </a:rPr>
              <a:t> valor</a:t>
            </a:r>
            <a:r>
              <a:rPr sz="2400" dirty="0">
                <a:latin typeface="Times New Roman"/>
                <a:cs typeface="Times New Roman"/>
              </a:rPr>
              <a:t> 1</a:t>
            </a:r>
            <a:r>
              <a:rPr sz="2400" spc="-5" dirty="0">
                <a:latin typeface="Times New Roman"/>
                <a:cs typeface="Times New Roman"/>
              </a:rPr>
              <a:t> </a:t>
            </a:r>
            <a:r>
              <a:rPr sz="2400" dirty="0">
                <a:latin typeface="Times New Roman"/>
                <a:cs typeface="Times New Roman"/>
              </a:rPr>
              <a:t>(área total</a:t>
            </a:r>
            <a:r>
              <a:rPr sz="2400" spc="-5" dirty="0">
                <a:latin typeface="Times New Roman"/>
                <a:cs typeface="Times New Roman"/>
              </a:rPr>
              <a:t> </a:t>
            </a:r>
            <a:r>
              <a:rPr sz="2400" dirty="0">
                <a:latin typeface="Times New Roman"/>
                <a:cs typeface="Times New Roman"/>
              </a:rPr>
              <a:t>del </a:t>
            </a:r>
            <a:r>
              <a:rPr sz="2400" spc="-5" dirty="0">
                <a:latin typeface="Times New Roman"/>
                <a:cs typeface="Times New Roman"/>
              </a:rPr>
              <a:t>cuadrado) </a:t>
            </a:r>
            <a:r>
              <a:rPr sz="2400" dirty="0">
                <a:latin typeface="Times New Roman"/>
                <a:cs typeface="Times New Roman"/>
              </a:rPr>
              <a:t>esté el</a:t>
            </a:r>
            <a:r>
              <a:rPr sz="2400" spc="-15" dirty="0">
                <a:latin typeface="Times New Roman"/>
                <a:cs typeface="Times New Roman"/>
              </a:rPr>
              <a:t> </a:t>
            </a:r>
            <a:r>
              <a:rPr sz="2400" spc="-5" dirty="0">
                <a:latin typeface="Times New Roman"/>
                <a:cs typeface="Times New Roman"/>
              </a:rPr>
              <a:t>AUC,</a:t>
            </a:r>
            <a:r>
              <a:rPr sz="2400" dirty="0">
                <a:latin typeface="Times New Roman"/>
                <a:cs typeface="Times New Roman"/>
              </a:rPr>
              <a:t> mejor</a:t>
            </a:r>
            <a:r>
              <a:rPr sz="2400" dirty="0">
                <a:solidFill>
                  <a:srgbClr val="FF0000"/>
                </a:solidFill>
                <a:latin typeface="Times New Roman"/>
                <a:cs typeface="Times New Roman"/>
              </a:rPr>
              <a:t>.</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22300" y="428625"/>
            <a:ext cx="9266937" cy="6540252"/>
          </a:xfrm>
          <a:prstGeom prst="rect">
            <a:avLst/>
          </a:prstGeom>
        </p:spPr>
        <p:txBody>
          <a:bodyPr vert="horz" wrap="square" lIns="0" tIns="12700" rIns="0" bIns="0" rtlCol="0">
            <a:spAutoFit/>
          </a:bodyPr>
          <a:lstStyle/>
          <a:p>
            <a:pPr marL="654050">
              <a:lnSpc>
                <a:spcPct val="100000"/>
              </a:lnSpc>
              <a:spcBef>
                <a:spcPts val="100"/>
              </a:spcBef>
            </a:pPr>
            <a:r>
              <a:rPr sz="2400" b="1" spc="-5" dirty="0">
                <a:solidFill>
                  <a:srgbClr val="003366"/>
                </a:solidFill>
                <a:latin typeface="Times New Roman"/>
                <a:cs typeface="Times New Roman"/>
              </a:rPr>
              <a:t>Planteamiento de </a:t>
            </a:r>
            <a:r>
              <a:rPr sz="2400" b="1" dirty="0">
                <a:solidFill>
                  <a:srgbClr val="003366"/>
                </a:solidFill>
                <a:latin typeface="Times New Roman"/>
                <a:cs typeface="Times New Roman"/>
              </a:rPr>
              <a:t>la</a:t>
            </a:r>
            <a:r>
              <a:rPr sz="2400" b="1" spc="5" dirty="0">
                <a:solidFill>
                  <a:srgbClr val="003366"/>
                </a:solidFill>
                <a:latin typeface="Times New Roman"/>
                <a:cs typeface="Times New Roman"/>
              </a:rPr>
              <a:t> </a:t>
            </a:r>
            <a:r>
              <a:rPr sz="2400" b="1" dirty="0">
                <a:solidFill>
                  <a:srgbClr val="003366"/>
                </a:solidFill>
                <a:latin typeface="Times New Roman"/>
                <a:cs typeface="Times New Roman"/>
              </a:rPr>
              <a:t>red</a:t>
            </a:r>
            <a:r>
              <a:rPr sz="2400" b="1" spc="-10" dirty="0">
                <a:solidFill>
                  <a:srgbClr val="003366"/>
                </a:solidFill>
                <a:latin typeface="Times New Roman"/>
                <a:cs typeface="Times New Roman"/>
              </a:rPr>
              <a:t> </a:t>
            </a:r>
            <a:r>
              <a:rPr sz="2400" b="1" spc="-5" dirty="0">
                <a:solidFill>
                  <a:srgbClr val="003366"/>
                </a:solidFill>
                <a:latin typeface="Times New Roman"/>
                <a:cs typeface="Times New Roman"/>
              </a:rPr>
              <a:t>neuronal</a:t>
            </a:r>
            <a:r>
              <a:rPr sz="2400" b="1" dirty="0">
                <a:solidFill>
                  <a:srgbClr val="003366"/>
                </a:solidFill>
                <a:latin typeface="Times New Roman"/>
                <a:cs typeface="Times New Roman"/>
              </a:rPr>
              <a:t> con </a:t>
            </a:r>
            <a:r>
              <a:rPr sz="2400" b="1" spc="-5" dirty="0">
                <a:solidFill>
                  <a:srgbClr val="003366"/>
                </a:solidFill>
                <a:latin typeface="Times New Roman"/>
                <a:cs typeface="Times New Roman"/>
              </a:rPr>
              <a:t>variable</a:t>
            </a:r>
            <a:r>
              <a:rPr sz="2400" b="1" spc="5" dirty="0">
                <a:solidFill>
                  <a:srgbClr val="003366"/>
                </a:solidFill>
                <a:latin typeface="Times New Roman"/>
                <a:cs typeface="Times New Roman"/>
              </a:rPr>
              <a:t> </a:t>
            </a:r>
            <a:r>
              <a:rPr sz="2400" b="1" spc="-5" dirty="0">
                <a:solidFill>
                  <a:srgbClr val="003366"/>
                </a:solidFill>
                <a:latin typeface="Times New Roman"/>
                <a:cs typeface="Times New Roman"/>
              </a:rPr>
              <a:t>dependiente</a:t>
            </a:r>
            <a:r>
              <a:rPr sz="2400" b="1" dirty="0">
                <a:solidFill>
                  <a:srgbClr val="003366"/>
                </a:solidFill>
                <a:latin typeface="Times New Roman"/>
                <a:cs typeface="Times New Roman"/>
              </a:rPr>
              <a:t> </a:t>
            </a:r>
            <a:r>
              <a:rPr sz="2400" b="1" spc="-5" dirty="0">
                <a:solidFill>
                  <a:srgbClr val="003366"/>
                </a:solidFill>
                <a:latin typeface="Times New Roman"/>
                <a:cs typeface="Times New Roman"/>
              </a:rPr>
              <a:t>binaria</a:t>
            </a:r>
            <a:endParaRPr sz="2400" dirty="0">
              <a:latin typeface="Times New Roman"/>
              <a:cs typeface="Times New Roman"/>
            </a:endParaRPr>
          </a:p>
          <a:p>
            <a:pPr>
              <a:lnSpc>
                <a:spcPct val="100000"/>
              </a:lnSpc>
              <a:spcBef>
                <a:spcPts val="50"/>
              </a:spcBef>
            </a:pPr>
            <a:endParaRPr sz="2400" dirty="0">
              <a:latin typeface="Times New Roman"/>
              <a:cs typeface="Times New Roman"/>
            </a:endParaRPr>
          </a:p>
          <a:p>
            <a:pPr marL="12700" marR="5080" algn="just">
              <a:lnSpc>
                <a:spcPts val="2760"/>
              </a:lnSpc>
              <a:buAutoNum type="arabicParenR"/>
              <a:tabLst>
                <a:tab pos="419734" algn="l"/>
              </a:tabLst>
            </a:pPr>
            <a:r>
              <a:rPr lang="es-ES" sz="2400" dirty="0" smtClean="0">
                <a:latin typeface="Times New Roman"/>
                <a:cs typeface="Times New Roman"/>
              </a:rPr>
              <a:t> </a:t>
            </a:r>
            <a:r>
              <a:rPr sz="2400" dirty="0" err="1" smtClean="0">
                <a:latin typeface="Times New Roman"/>
                <a:cs typeface="Times New Roman"/>
              </a:rPr>
              <a:t>Cuando</a:t>
            </a:r>
            <a:r>
              <a:rPr sz="2400" spc="5" dirty="0" smtClean="0">
                <a:latin typeface="Times New Roman"/>
                <a:cs typeface="Times New Roman"/>
              </a:rPr>
              <a:t> </a:t>
            </a:r>
            <a:r>
              <a:rPr sz="2400" dirty="0">
                <a:latin typeface="Times New Roman"/>
                <a:cs typeface="Times New Roman"/>
              </a:rPr>
              <a:t>la</a:t>
            </a:r>
            <a:r>
              <a:rPr sz="2400" spc="5" dirty="0">
                <a:latin typeface="Times New Roman"/>
                <a:cs typeface="Times New Roman"/>
              </a:rPr>
              <a:t> </a:t>
            </a:r>
            <a:r>
              <a:rPr sz="2400" b="1" spc="-5" dirty="0">
                <a:latin typeface="Times New Roman"/>
                <a:cs typeface="Times New Roman"/>
              </a:rPr>
              <a:t>variable</a:t>
            </a:r>
            <a:r>
              <a:rPr sz="2400" b="1" dirty="0">
                <a:latin typeface="Times New Roman"/>
                <a:cs typeface="Times New Roman"/>
              </a:rPr>
              <a:t> dependiente</a:t>
            </a:r>
            <a:r>
              <a:rPr sz="2400" spc="5" dirty="0">
                <a:latin typeface="Times New Roman"/>
                <a:cs typeface="Times New Roman"/>
              </a:rPr>
              <a:t> </a:t>
            </a:r>
            <a:r>
              <a:rPr sz="2400" dirty="0">
                <a:latin typeface="Times New Roman"/>
                <a:cs typeface="Times New Roman"/>
              </a:rPr>
              <a:t>es</a:t>
            </a:r>
            <a:r>
              <a:rPr sz="2400" spc="5" dirty="0">
                <a:latin typeface="Times New Roman"/>
                <a:cs typeface="Times New Roman"/>
              </a:rPr>
              <a:t> </a:t>
            </a:r>
            <a:r>
              <a:rPr sz="2400" spc="-5" dirty="0">
                <a:latin typeface="Times New Roman"/>
                <a:cs typeface="Times New Roman"/>
              </a:rPr>
              <a:t>categórica</a:t>
            </a:r>
            <a:r>
              <a:rPr sz="2400" dirty="0">
                <a:latin typeface="Times New Roman"/>
                <a:cs typeface="Times New Roman"/>
              </a:rPr>
              <a:t> con</a:t>
            </a:r>
            <a:r>
              <a:rPr sz="2400" spc="5" dirty="0">
                <a:latin typeface="Times New Roman"/>
                <a:cs typeface="Times New Roman"/>
              </a:rPr>
              <a:t> </a:t>
            </a:r>
            <a:r>
              <a:rPr sz="2400" b="1" i="1" dirty="0">
                <a:latin typeface="Times New Roman"/>
                <a:cs typeface="Times New Roman"/>
              </a:rPr>
              <a:t>k</a:t>
            </a:r>
            <a:r>
              <a:rPr sz="2400" b="1" spc="5" dirty="0">
                <a:latin typeface="Times New Roman"/>
                <a:cs typeface="Times New Roman"/>
              </a:rPr>
              <a:t> </a:t>
            </a:r>
            <a:r>
              <a:rPr sz="2400" b="1" spc="-5" dirty="0">
                <a:latin typeface="Times New Roman"/>
                <a:cs typeface="Times New Roman"/>
              </a:rPr>
              <a:t>categorías</a:t>
            </a:r>
            <a:r>
              <a:rPr sz="2400" spc="-5" dirty="0">
                <a:latin typeface="Times New Roman"/>
                <a:cs typeface="Times New Roman"/>
              </a:rPr>
              <a:t>,</a:t>
            </a:r>
            <a:r>
              <a:rPr sz="2400" dirty="0">
                <a:latin typeface="Times New Roman"/>
                <a:cs typeface="Times New Roman"/>
              </a:rPr>
              <a:t> la</a:t>
            </a:r>
            <a:r>
              <a:rPr sz="2400" spc="5" dirty="0">
                <a:latin typeface="Times New Roman"/>
                <a:cs typeface="Times New Roman"/>
              </a:rPr>
              <a:t> </a:t>
            </a:r>
            <a:r>
              <a:rPr sz="2400" dirty="0">
                <a:latin typeface="Times New Roman"/>
                <a:cs typeface="Times New Roman"/>
              </a:rPr>
              <a:t>red</a:t>
            </a:r>
            <a:r>
              <a:rPr sz="2400" spc="5" dirty="0">
                <a:latin typeface="Times New Roman"/>
                <a:cs typeface="Times New Roman"/>
              </a:rPr>
              <a:t> </a:t>
            </a:r>
            <a:r>
              <a:rPr sz="2400" spc="-5" dirty="0">
                <a:latin typeface="Times New Roman"/>
                <a:cs typeface="Times New Roman"/>
              </a:rPr>
              <a:t>se </a:t>
            </a:r>
            <a:r>
              <a:rPr sz="2400" spc="-585" dirty="0">
                <a:latin typeface="Times New Roman"/>
                <a:cs typeface="Times New Roman"/>
              </a:rPr>
              <a:t> </a:t>
            </a:r>
            <a:r>
              <a:rPr sz="2400" dirty="0">
                <a:latin typeface="Times New Roman"/>
                <a:cs typeface="Times New Roman"/>
              </a:rPr>
              <a:t>plantea </a:t>
            </a:r>
            <a:r>
              <a:rPr sz="2400" spc="-5" dirty="0">
                <a:latin typeface="Times New Roman"/>
                <a:cs typeface="Times New Roman"/>
              </a:rPr>
              <a:t>simplemente </a:t>
            </a:r>
            <a:r>
              <a:rPr sz="2400" dirty="0">
                <a:latin typeface="Times New Roman"/>
                <a:cs typeface="Times New Roman"/>
              </a:rPr>
              <a:t>poniendo </a:t>
            </a:r>
            <a:r>
              <a:rPr sz="2400" b="1" i="1" spc="5" dirty="0">
                <a:latin typeface="Times New Roman"/>
                <a:cs typeface="Times New Roman"/>
              </a:rPr>
              <a:t>k-1</a:t>
            </a:r>
            <a:r>
              <a:rPr sz="2400" b="1" spc="5" dirty="0">
                <a:latin typeface="Times New Roman"/>
                <a:cs typeface="Times New Roman"/>
              </a:rPr>
              <a:t> </a:t>
            </a:r>
            <a:r>
              <a:rPr sz="2400" b="1" spc="-5" dirty="0">
                <a:latin typeface="Times New Roman"/>
                <a:cs typeface="Times New Roman"/>
              </a:rPr>
              <a:t>nodos </a:t>
            </a:r>
            <a:r>
              <a:rPr sz="2400" b="1" dirty="0">
                <a:latin typeface="Times New Roman"/>
                <a:cs typeface="Times New Roman"/>
              </a:rPr>
              <a:t>output</a:t>
            </a:r>
            <a:r>
              <a:rPr sz="2400" dirty="0">
                <a:latin typeface="Times New Roman"/>
                <a:cs typeface="Times New Roman"/>
              </a:rPr>
              <a:t> (cada uno </a:t>
            </a:r>
            <a:r>
              <a:rPr sz="2400" spc="-5" dirty="0">
                <a:latin typeface="Times New Roman"/>
                <a:cs typeface="Times New Roman"/>
              </a:rPr>
              <a:t>correspondiente </a:t>
            </a:r>
            <a:r>
              <a:rPr sz="2400" dirty="0">
                <a:latin typeface="Times New Roman"/>
                <a:cs typeface="Times New Roman"/>
              </a:rPr>
              <a:t>a </a:t>
            </a:r>
            <a:r>
              <a:rPr sz="2400" spc="-5" dirty="0">
                <a:latin typeface="Times New Roman"/>
                <a:cs typeface="Times New Roman"/>
              </a:rPr>
              <a:t>una </a:t>
            </a:r>
            <a:r>
              <a:rPr sz="2400" dirty="0">
                <a:latin typeface="Times New Roman"/>
                <a:cs typeface="Times New Roman"/>
              </a:rPr>
              <a:t> </a:t>
            </a:r>
            <a:r>
              <a:rPr sz="2400" spc="-5" dirty="0">
                <a:latin typeface="Times New Roman"/>
                <a:cs typeface="Times New Roman"/>
              </a:rPr>
              <a:t>categoría). </a:t>
            </a:r>
            <a:r>
              <a:rPr sz="2400" dirty="0">
                <a:latin typeface="Times New Roman"/>
                <a:cs typeface="Times New Roman"/>
              </a:rPr>
              <a:t>Esto lo </a:t>
            </a:r>
            <a:r>
              <a:rPr sz="2400" spc="-5" dirty="0">
                <a:latin typeface="Times New Roman"/>
                <a:cs typeface="Times New Roman"/>
              </a:rPr>
              <a:t>hace </a:t>
            </a:r>
            <a:r>
              <a:rPr sz="2400" dirty="0">
                <a:latin typeface="Times New Roman"/>
                <a:cs typeface="Times New Roman"/>
              </a:rPr>
              <a:t>el </a:t>
            </a:r>
            <a:r>
              <a:rPr sz="2400" spc="-5" dirty="0">
                <a:latin typeface="Times New Roman"/>
                <a:cs typeface="Times New Roman"/>
              </a:rPr>
              <a:t>paquete-programa automáticamente, </a:t>
            </a:r>
            <a:r>
              <a:rPr sz="2400" dirty="0">
                <a:latin typeface="Times New Roman"/>
                <a:cs typeface="Times New Roman"/>
              </a:rPr>
              <a:t>no es </a:t>
            </a:r>
            <a:r>
              <a:rPr sz="2400" spc="-5" dirty="0">
                <a:latin typeface="Times New Roman"/>
                <a:cs typeface="Times New Roman"/>
              </a:rPr>
              <a:t>necesario </a:t>
            </a:r>
            <a:r>
              <a:rPr sz="2400" dirty="0">
                <a:latin typeface="Times New Roman"/>
                <a:cs typeface="Times New Roman"/>
              </a:rPr>
              <a:t> crear </a:t>
            </a:r>
            <a:r>
              <a:rPr sz="2400" spc="-5" dirty="0">
                <a:latin typeface="Times New Roman"/>
                <a:cs typeface="Times New Roman"/>
              </a:rPr>
              <a:t>dummies </a:t>
            </a:r>
            <a:r>
              <a:rPr sz="2400" dirty="0">
                <a:latin typeface="Times New Roman"/>
                <a:cs typeface="Times New Roman"/>
              </a:rPr>
              <a:t>en la variable </a:t>
            </a:r>
            <a:r>
              <a:rPr sz="2400" spc="-5" dirty="0">
                <a:latin typeface="Times New Roman"/>
                <a:cs typeface="Times New Roman"/>
              </a:rPr>
              <a:t>output.</a:t>
            </a:r>
            <a:endParaRPr sz="2400" dirty="0">
              <a:latin typeface="Times New Roman"/>
              <a:cs typeface="Times New Roman"/>
            </a:endParaRPr>
          </a:p>
          <a:p>
            <a:pPr>
              <a:lnSpc>
                <a:spcPct val="100000"/>
              </a:lnSpc>
              <a:buClr>
                <a:srgbClr val="365F91"/>
              </a:buClr>
              <a:buFont typeface="Times New Roman"/>
              <a:buAutoNum type="arabicParenR"/>
            </a:pPr>
            <a:endParaRPr sz="2400" dirty="0">
              <a:latin typeface="Times New Roman"/>
              <a:cs typeface="Times New Roman"/>
            </a:endParaRPr>
          </a:p>
          <a:p>
            <a:pPr marL="12700" marR="10160" algn="just">
              <a:lnSpc>
                <a:spcPts val="2760"/>
              </a:lnSpc>
            </a:pPr>
            <a:r>
              <a:rPr sz="2400" spc="-5" dirty="0">
                <a:latin typeface="Times New Roman"/>
                <a:cs typeface="Times New Roman"/>
              </a:rPr>
              <a:t>Si</a:t>
            </a:r>
            <a:r>
              <a:rPr sz="2400" spc="80" dirty="0">
                <a:latin typeface="Times New Roman"/>
                <a:cs typeface="Times New Roman"/>
              </a:rPr>
              <a:t> </a:t>
            </a:r>
            <a:r>
              <a:rPr sz="2400" dirty="0">
                <a:latin typeface="Times New Roman"/>
                <a:cs typeface="Times New Roman"/>
              </a:rPr>
              <a:t>la</a:t>
            </a:r>
            <a:r>
              <a:rPr sz="2400" spc="85" dirty="0">
                <a:latin typeface="Times New Roman"/>
                <a:cs typeface="Times New Roman"/>
              </a:rPr>
              <a:t> </a:t>
            </a:r>
            <a:r>
              <a:rPr sz="2400" spc="-5" dirty="0">
                <a:latin typeface="Times New Roman"/>
                <a:cs typeface="Times New Roman"/>
              </a:rPr>
              <a:t>variable</a:t>
            </a:r>
            <a:r>
              <a:rPr sz="2400" spc="80" dirty="0">
                <a:latin typeface="Times New Roman"/>
                <a:cs typeface="Times New Roman"/>
              </a:rPr>
              <a:t> </a:t>
            </a:r>
            <a:r>
              <a:rPr sz="2400" dirty="0" smtClean="0">
                <a:latin typeface="Times New Roman"/>
                <a:cs typeface="Times New Roman"/>
              </a:rPr>
              <a:t>output</a:t>
            </a:r>
            <a:r>
              <a:rPr sz="2400" spc="65" dirty="0" smtClean="0">
                <a:latin typeface="Times New Roman"/>
                <a:cs typeface="Times New Roman"/>
              </a:rPr>
              <a:t> </a:t>
            </a:r>
            <a:r>
              <a:rPr sz="2400" spc="-5" dirty="0">
                <a:latin typeface="Times New Roman"/>
                <a:cs typeface="Times New Roman"/>
              </a:rPr>
              <a:t>es</a:t>
            </a:r>
            <a:r>
              <a:rPr sz="2400" spc="85" dirty="0">
                <a:latin typeface="Times New Roman"/>
                <a:cs typeface="Times New Roman"/>
              </a:rPr>
              <a:t> </a:t>
            </a:r>
            <a:r>
              <a:rPr sz="2400" dirty="0">
                <a:latin typeface="Times New Roman"/>
                <a:cs typeface="Times New Roman"/>
              </a:rPr>
              <a:t>binaria</a:t>
            </a:r>
            <a:r>
              <a:rPr sz="2400" spc="80" dirty="0">
                <a:latin typeface="Times New Roman"/>
                <a:cs typeface="Times New Roman"/>
              </a:rPr>
              <a:t> </a:t>
            </a:r>
            <a:r>
              <a:rPr sz="2400" dirty="0">
                <a:latin typeface="Times New Roman"/>
                <a:cs typeface="Times New Roman"/>
              </a:rPr>
              <a:t>(dos</a:t>
            </a:r>
            <a:r>
              <a:rPr sz="2400" spc="80" dirty="0">
                <a:latin typeface="Times New Roman"/>
                <a:cs typeface="Times New Roman"/>
              </a:rPr>
              <a:t> </a:t>
            </a:r>
            <a:r>
              <a:rPr sz="2400" spc="-5" dirty="0">
                <a:latin typeface="Times New Roman"/>
                <a:cs typeface="Times New Roman"/>
              </a:rPr>
              <a:t>categorías)</a:t>
            </a:r>
            <a:r>
              <a:rPr sz="2400" spc="75" dirty="0">
                <a:latin typeface="Times New Roman"/>
                <a:cs typeface="Times New Roman"/>
              </a:rPr>
              <a:t> </a:t>
            </a:r>
            <a:r>
              <a:rPr sz="2400" dirty="0">
                <a:latin typeface="Times New Roman"/>
                <a:cs typeface="Times New Roman"/>
              </a:rPr>
              <a:t>,</a:t>
            </a:r>
            <a:r>
              <a:rPr sz="2400" spc="80" dirty="0">
                <a:latin typeface="Times New Roman"/>
                <a:cs typeface="Times New Roman"/>
              </a:rPr>
              <a:t> </a:t>
            </a:r>
            <a:r>
              <a:rPr sz="2400" spc="-5" dirty="0">
                <a:latin typeface="Times New Roman"/>
                <a:cs typeface="Times New Roman"/>
              </a:rPr>
              <a:t>normalmente</a:t>
            </a:r>
            <a:r>
              <a:rPr sz="2400" spc="90" dirty="0">
                <a:latin typeface="Times New Roman"/>
                <a:cs typeface="Times New Roman"/>
              </a:rPr>
              <a:t> </a:t>
            </a:r>
            <a:r>
              <a:rPr sz="2400" spc="-5" dirty="0">
                <a:latin typeface="Times New Roman"/>
                <a:cs typeface="Times New Roman"/>
              </a:rPr>
              <a:t>daremos</a:t>
            </a:r>
            <a:r>
              <a:rPr sz="2400" spc="90" dirty="0">
                <a:latin typeface="Times New Roman"/>
                <a:cs typeface="Times New Roman"/>
              </a:rPr>
              <a:t> </a:t>
            </a:r>
            <a:r>
              <a:rPr sz="2400" dirty="0">
                <a:latin typeface="Times New Roman"/>
                <a:cs typeface="Times New Roman"/>
              </a:rPr>
              <a:t>valor</a:t>
            </a:r>
            <a:r>
              <a:rPr sz="2400" spc="70" dirty="0">
                <a:latin typeface="Times New Roman"/>
                <a:cs typeface="Times New Roman"/>
              </a:rPr>
              <a:t> </a:t>
            </a:r>
            <a:r>
              <a:rPr sz="2400" dirty="0">
                <a:latin typeface="Times New Roman"/>
                <a:cs typeface="Times New Roman"/>
              </a:rPr>
              <a:t>1 </a:t>
            </a:r>
            <a:r>
              <a:rPr sz="2400" spc="-585" dirty="0">
                <a:latin typeface="Times New Roman"/>
                <a:cs typeface="Times New Roman"/>
              </a:rPr>
              <a:t> </a:t>
            </a:r>
            <a:r>
              <a:rPr sz="2400" dirty="0">
                <a:latin typeface="Times New Roman"/>
                <a:cs typeface="Times New Roman"/>
              </a:rPr>
              <a:t>a la </a:t>
            </a:r>
            <a:r>
              <a:rPr sz="2400" spc="-5" dirty="0">
                <a:latin typeface="Times New Roman"/>
                <a:cs typeface="Times New Roman"/>
              </a:rPr>
              <a:t>categoría </a:t>
            </a:r>
            <a:r>
              <a:rPr sz="2400" dirty="0">
                <a:latin typeface="Times New Roman"/>
                <a:cs typeface="Times New Roman"/>
              </a:rPr>
              <a:t>de </a:t>
            </a:r>
            <a:r>
              <a:rPr sz="2400" spc="-5" dirty="0">
                <a:latin typeface="Times New Roman"/>
                <a:cs typeface="Times New Roman"/>
              </a:rPr>
              <a:t>interés </a:t>
            </a:r>
            <a:r>
              <a:rPr sz="2400" dirty="0">
                <a:latin typeface="Times New Roman"/>
                <a:cs typeface="Times New Roman"/>
              </a:rPr>
              <a:t>(suele </a:t>
            </a:r>
            <a:r>
              <a:rPr sz="2400" spc="-5" dirty="0">
                <a:latin typeface="Times New Roman"/>
                <a:cs typeface="Times New Roman"/>
              </a:rPr>
              <a:t>ser </a:t>
            </a:r>
            <a:r>
              <a:rPr sz="2400" dirty="0">
                <a:latin typeface="Times New Roman"/>
                <a:cs typeface="Times New Roman"/>
              </a:rPr>
              <a:t>la </a:t>
            </a:r>
            <a:r>
              <a:rPr sz="2400" b="1" spc="-5" dirty="0">
                <a:latin typeface="Times New Roman"/>
                <a:cs typeface="Times New Roman"/>
              </a:rPr>
              <a:t>menos </a:t>
            </a:r>
            <a:r>
              <a:rPr sz="2400" b="1" dirty="0">
                <a:latin typeface="Times New Roman"/>
                <a:cs typeface="Times New Roman"/>
              </a:rPr>
              <a:t>numerosa</a:t>
            </a:r>
            <a:r>
              <a:rPr sz="2400" dirty="0">
                <a:latin typeface="Times New Roman"/>
                <a:cs typeface="Times New Roman"/>
              </a:rPr>
              <a:t>) y </a:t>
            </a:r>
            <a:r>
              <a:rPr sz="2400" spc="-5" dirty="0">
                <a:latin typeface="Times New Roman"/>
                <a:cs typeface="Times New Roman"/>
              </a:rPr>
              <a:t>automáticamente </a:t>
            </a:r>
            <a:r>
              <a:rPr sz="2400" dirty="0">
                <a:latin typeface="Times New Roman"/>
                <a:cs typeface="Times New Roman"/>
              </a:rPr>
              <a:t>la red </a:t>
            </a:r>
            <a:r>
              <a:rPr sz="2400" spc="5" dirty="0">
                <a:latin typeface="Times New Roman"/>
                <a:cs typeface="Times New Roman"/>
              </a:rPr>
              <a:t> </a:t>
            </a:r>
            <a:r>
              <a:rPr sz="2400" dirty="0">
                <a:latin typeface="Times New Roman"/>
                <a:cs typeface="Times New Roman"/>
              </a:rPr>
              <a:t>modeliza</a:t>
            </a:r>
            <a:r>
              <a:rPr sz="2400" spc="-5" dirty="0">
                <a:latin typeface="Times New Roman"/>
                <a:cs typeface="Times New Roman"/>
              </a:rPr>
              <a:t> </a:t>
            </a:r>
            <a:r>
              <a:rPr sz="2400" dirty="0">
                <a:latin typeface="Times New Roman"/>
                <a:cs typeface="Times New Roman"/>
              </a:rPr>
              <a:t>la</a:t>
            </a:r>
            <a:r>
              <a:rPr sz="2400" spc="-15" dirty="0">
                <a:latin typeface="Times New Roman"/>
                <a:cs typeface="Times New Roman"/>
              </a:rPr>
              <a:t> </a:t>
            </a:r>
            <a:r>
              <a:rPr sz="2400" dirty="0">
                <a:latin typeface="Times New Roman"/>
                <a:cs typeface="Times New Roman"/>
              </a:rPr>
              <a:t>probabilidad de y=1.</a:t>
            </a:r>
          </a:p>
          <a:p>
            <a:pPr>
              <a:lnSpc>
                <a:spcPct val="100000"/>
              </a:lnSpc>
              <a:spcBef>
                <a:spcPts val="5"/>
              </a:spcBef>
            </a:pPr>
            <a:endParaRPr sz="2400" dirty="0">
              <a:latin typeface="Times New Roman"/>
              <a:cs typeface="Times New Roman"/>
            </a:endParaRPr>
          </a:p>
          <a:p>
            <a:pPr marL="12700" marR="5715" algn="just">
              <a:lnSpc>
                <a:spcPts val="2760"/>
              </a:lnSpc>
              <a:buAutoNum type="arabicParenR" startAt="2"/>
              <a:tabLst>
                <a:tab pos="346710" algn="l"/>
              </a:tabLst>
            </a:pPr>
            <a:r>
              <a:rPr lang="es-ES" sz="2400" dirty="0" smtClean="0">
                <a:latin typeface="Times New Roman"/>
                <a:cs typeface="Times New Roman"/>
              </a:rPr>
              <a:t> </a:t>
            </a:r>
            <a:r>
              <a:rPr sz="2400" dirty="0" smtClean="0">
                <a:latin typeface="Times New Roman"/>
                <a:cs typeface="Times New Roman"/>
              </a:rPr>
              <a:t>La </a:t>
            </a:r>
            <a:r>
              <a:rPr sz="2400" dirty="0">
                <a:latin typeface="Times New Roman"/>
                <a:cs typeface="Times New Roman"/>
              </a:rPr>
              <a:t>red </a:t>
            </a:r>
            <a:r>
              <a:rPr sz="2400" spc="-5" dirty="0">
                <a:latin typeface="Times New Roman"/>
                <a:cs typeface="Times New Roman"/>
              </a:rPr>
              <a:t>se </a:t>
            </a:r>
            <a:r>
              <a:rPr sz="2400" dirty="0">
                <a:latin typeface="Times New Roman"/>
                <a:cs typeface="Times New Roman"/>
              </a:rPr>
              <a:t>plantea </a:t>
            </a:r>
            <a:r>
              <a:rPr sz="2400" spc="-5" dirty="0">
                <a:latin typeface="Times New Roman"/>
                <a:cs typeface="Times New Roman"/>
              </a:rPr>
              <a:t>técnicamente </a:t>
            </a:r>
            <a:r>
              <a:rPr sz="2400" dirty="0">
                <a:latin typeface="Times New Roman"/>
                <a:cs typeface="Times New Roman"/>
              </a:rPr>
              <a:t>añadiendo una función de activación de la capa </a:t>
            </a:r>
            <a:r>
              <a:rPr sz="2400" spc="-585" dirty="0">
                <a:latin typeface="Times New Roman"/>
                <a:cs typeface="Times New Roman"/>
              </a:rPr>
              <a:t> </a:t>
            </a:r>
            <a:r>
              <a:rPr sz="2400" dirty="0">
                <a:latin typeface="Times New Roman"/>
                <a:cs typeface="Times New Roman"/>
              </a:rPr>
              <a:t>oculta al </a:t>
            </a:r>
            <a:r>
              <a:rPr sz="2400" spc="-5" dirty="0" err="1">
                <a:latin typeface="Times New Roman"/>
                <a:cs typeface="Times New Roman"/>
              </a:rPr>
              <a:t>nodo</a:t>
            </a:r>
            <a:r>
              <a:rPr sz="2400" spc="-5" dirty="0">
                <a:latin typeface="Times New Roman"/>
                <a:cs typeface="Times New Roman"/>
              </a:rPr>
              <a:t> </a:t>
            </a:r>
            <a:r>
              <a:rPr sz="2400" dirty="0" smtClean="0">
                <a:latin typeface="Times New Roman"/>
                <a:cs typeface="Times New Roman"/>
              </a:rPr>
              <a:t>output, </a:t>
            </a:r>
            <a:r>
              <a:rPr sz="2400" dirty="0">
                <a:latin typeface="Times New Roman"/>
                <a:cs typeface="Times New Roman"/>
              </a:rPr>
              <a:t>para que el valor </a:t>
            </a:r>
            <a:r>
              <a:rPr sz="2400" spc="-5" dirty="0">
                <a:latin typeface="Times New Roman"/>
                <a:cs typeface="Times New Roman"/>
              </a:rPr>
              <a:t>resultante (probabilidad estimada </a:t>
            </a:r>
            <a:r>
              <a:rPr sz="2400" dirty="0">
                <a:latin typeface="Times New Roman"/>
                <a:cs typeface="Times New Roman"/>
              </a:rPr>
              <a:t>de </a:t>
            </a:r>
            <a:r>
              <a:rPr sz="2400" spc="-10" dirty="0">
                <a:latin typeface="Times New Roman"/>
                <a:cs typeface="Times New Roman"/>
              </a:rPr>
              <a:t>1) </a:t>
            </a:r>
            <a:r>
              <a:rPr sz="2400" spc="-5" dirty="0">
                <a:latin typeface="Times New Roman"/>
                <a:cs typeface="Times New Roman"/>
              </a:rPr>
              <a:t> tome </a:t>
            </a:r>
            <a:r>
              <a:rPr sz="2400" dirty="0">
                <a:latin typeface="Times New Roman"/>
                <a:cs typeface="Times New Roman"/>
              </a:rPr>
              <a:t>valores</a:t>
            </a:r>
            <a:r>
              <a:rPr sz="2400" spc="-5" dirty="0">
                <a:latin typeface="Times New Roman"/>
                <a:cs typeface="Times New Roman"/>
              </a:rPr>
              <a:t> </a:t>
            </a:r>
            <a:r>
              <a:rPr sz="2400" dirty="0">
                <a:latin typeface="Times New Roman"/>
                <a:cs typeface="Times New Roman"/>
              </a:rPr>
              <a:t>en el </a:t>
            </a:r>
            <a:r>
              <a:rPr sz="2400" spc="-5" dirty="0">
                <a:latin typeface="Times New Roman"/>
                <a:cs typeface="Times New Roman"/>
              </a:rPr>
              <a:t>intervalo</a:t>
            </a:r>
            <a:r>
              <a:rPr sz="2400" dirty="0">
                <a:latin typeface="Times New Roman"/>
                <a:cs typeface="Times New Roman"/>
              </a:rPr>
              <a:t> (0,1</a:t>
            </a:r>
            <a:r>
              <a:rPr sz="2400" dirty="0" smtClean="0">
                <a:latin typeface="Times New Roman"/>
                <a:cs typeface="Times New Roman"/>
              </a:rPr>
              <a:t>).</a:t>
            </a:r>
            <a:r>
              <a:rPr lang="es-ES" sz="2400" dirty="0" smtClean="0">
                <a:latin typeface="Times New Roman"/>
                <a:cs typeface="Times New Roman"/>
              </a:rPr>
              <a:t> Necesitamos esta función de activación (</a:t>
            </a:r>
            <a:r>
              <a:rPr lang="es-ES" sz="2400" i="1" dirty="0" err="1" smtClean="0">
                <a:latin typeface="Times New Roman"/>
                <a:cs typeface="Times New Roman"/>
              </a:rPr>
              <a:t>tanh</a:t>
            </a:r>
            <a:r>
              <a:rPr lang="es-ES" sz="2400" dirty="0" smtClean="0">
                <a:latin typeface="Times New Roman"/>
                <a:cs typeface="Times New Roman"/>
              </a:rPr>
              <a:t> en general), para convertir el resultado de la red neuronal en un valor 0-1. Este paso no es necesario cuando la variable de salida es continua.</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25628"/>
            <a:ext cx="2277745" cy="371897"/>
          </a:xfrm>
          <a:prstGeom prst="rect">
            <a:avLst/>
          </a:prstGeom>
        </p:spPr>
        <p:txBody>
          <a:bodyPr vert="horz" wrap="square" lIns="0" tIns="12700" rIns="0" bIns="0" rtlCol="0">
            <a:spAutoFit/>
          </a:bodyPr>
          <a:lstStyle/>
          <a:p>
            <a:pPr marL="12700">
              <a:lnSpc>
                <a:spcPts val="2810"/>
              </a:lnSpc>
              <a:spcBef>
                <a:spcPts val="100"/>
              </a:spcBef>
            </a:pPr>
            <a:r>
              <a:rPr b="1" spc="-5" dirty="0" err="1">
                <a:latin typeface="Times New Roman"/>
                <a:cs typeface="Times New Roman"/>
              </a:rPr>
              <a:t>Ejemplo</a:t>
            </a:r>
            <a:r>
              <a:rPr b="1" spc="-35" dirty="0">
                <a:latin typeface="Times New Roman"/>
                <a:cs typeface="Times New Roman"/>
              </a:rPr>
              <a:t> </a:t>
            </a:r>
            <a:r>
              <a:rPr b="1" spc="-5" dirty="0" err="1" smtClean="0">
                <a:latin typeface="Times New Roman"/>
                <a:cs typeface="Times New Roman"/>
              </a:rPr>
              <a:t>básico</a:t>
            </a:r>
            <a:endParaRPr b="1" spc="-5" dirty="0">
              <a:latin typeface="Times New Roman"/>
              <a:cs typeface="Times New Roman"/>
            </a:endParaRPr>
          </a:p>
        </p:txBody>
      </p:sp>
      <p:sp>
        <p:nvSpPr>
          <p:cNvPr id="3" name="object 3"/>
          <p:cNvSpPr txBox="1"/>
          <p:nvPr/>
        </p:nvSpPr>
        <p:spPr>
          <a:xfrm>
            <a:off x="346963" y="1031494"/>
            <a:ext cx="1803400"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FF0000"/>
                </a:solidFill>
                <a:latin typeface="Times New Roman"/>
                <a:cs typeface="Times New Roman"/>
              </a:rPr>
              <a:t>chd</a:t>
            </a:r>
            <a:r>
              <a:rPr sz="1400" spc="-15" dirty="0">
                <a:solidFill>
                  <a:srgbClr val="FF0000"/>
                </a:solidFill>
                <a:latin typeface="Times New Roman"/>
                <a:cs typeface="Times New Roman"/>
              </a:rPr>
              <a:t> </a:t>
            </a:r>
            <a:r>
              <a:rPr sz="1400" spc="-5" dirty="0">
                <a:solidFill>
                  <a:srgbClr val="FF0000"/>
                </a:solidFill>
                <a:latin typeface="Times New Roman"/>
                <a:cs typeface="Times New Roman"/>
              </a:rPr>
              <a:t>variable</a:t>
            </a:r>
            <a:r>
              <a:rPr sz="1400" spc="-20" dirty="0">
                <a:solidFill>
                  <a:srgbClr val="FF0000"/>
                </a:solidFill>
                <a:latin typeface="Times New Roman"/>
                <a:cs typeface="Times New Roman"/>
              </a:rPr>
              <a:t> </a:t>
            </a:r>
            <a:r>
              <a:rPr sz="1400" spc="-5" dirty="0">
                <a:solidFill>
                  <a:srgbClr val="FF0000"/>
                </a:solidFill>
                <a:latin typeface="Times New Roman"/>
                <a:cs typeface="Times New Roman"/>
              </a:rPr>
              <a:t>dependiente</a:t>
            </a:r>
            <a:endParaRPr sz="1400">
              <a:latin typeface="Times New Roman"/>
              <a:cs typeface="Times New Roman"/>
            </a:endParaRPr>
          </a:p>
        </p:txBody>
      </p:sp>
      <p:sp>
        <p:nvSpPr>
          <p:cNvPr id="4" name="object 4"/>
          <p:cNvSpPr txBox="1"/>
          <p:nvPr/>
        </p:nvSpPr>
        <p:spPr>
          <a:xfrm>
            <a:off x="346963" y="4042029"/>
            <a:ext cx="4694937" cy="1109278"/>
          </a:xfrm>
          <a:prstGeom prst="rect">
            <a:avLst/>
          </a:prstGeom>
          <a:ln>
            <a:solidFill>
              <a:schemeClr val="tx1"/>
            </a:solidFill>
          </a:ln>
        </p:spPr>
        <p:txBody>
          <a:bodyPr vert="horz" wrap="square" lIns="0" tIns="31750" rIns="0" bIns="0" rtlCol="0">
            <a:spAutoFit/>
          </a:bodyPr>
          <a:lstStyle/>
          <a:p>
            <a:pPr marL="70485" marR="184785" indent="-58419">
              <a:lnSpc>
                <a:spcPts val="2060"/>
              </a:lnSpc>
              <a:spcBef>
                <a:spcPts val="250"/>
              </a:spcBef>
            </a:pPr>
            <a:r>
              <a:rPr dirty="0">
                <a:latin typeface="Times New Roman"/>
                <a:cs typeface="Times New Roman"/>
              </a:rPr>
              <a:t>La</a:t>
            </a:r>
            <a:r>
              <a:rPr spc="10" dirty="0">
                <a:latin typeface="Times New Roman"/>
                <a:cs typeface="Times New Roman"/>
              </a:rPr>
              <a:t> </a:t>
            </a:r>
            <a:r>
              <a:rPr spc="-5" dirty="0">
                <a:latin typeface="Times New Roman"/>
                <a:cs typeface="Times New Roman"/>
              </a:rPr>
              <a:t>variable</a:t>
            </a:r>
            <a:r>
              <a:rPr dirty="0">
                <a:latin typeface="Times New Roman"/>
                <a:cs typeface="Times New Roman"/>
              </a:rPr>
              <a:t> </a:t>
            </a:r>
            <a:r>
              <a:rPr spc="-5" dirty="0">
                <a:latin typeface="Times New Roman"/>
                <a:cs typeface="Times New Roman"/>
              </a:rPr>
              <a:t>dependiente</a:t>
            </a:r>
            <a:r>
              <a:rPr dirty="0">
                <a:latin typeface="Times New Roman"/>
                <a:cs typeface="Times New Roman"/>
              </a:rPr>
              <a:t> chd</a:t>
            </a:r>
            <a:r>
              <a:rPr spc="-10" dirty="0">
                <a:latin typeface="Times New Roman"/>
                <a:cs typeface="Times New Roman"/>
              </a:rPr>
              <a:t> </a:t>
            </a:r>
            <a:r>
              <a:rPr dirty="0">
                <a:latin typeface="Times New Roman"/>
                <a:cs typeface="Times New Roman"/>
              </a:rPr>
              <a:t>es</a:t>
            </a:r>
            <a:r>
              <a:rPr spc="-5" dirty="0">
                <a:latin typeface="Times New Roman"/>
                <a:cs typeface="Times New Roman"/>
              </a:rPr>
              <a:t> categórica, </a:t>
            </a:r>
            <a:r>
              <a:rPr spc="-434" dirty="0">
                <a:latin typeface="Times New Roman"/>
                <a:cs typeface="Times New Roman"/>
              </a:rPr>
              <a:t> </a:t>
            </a:r>
            <a:r>
              <a:rPr dirty="0">
                <a:latin typeface="Times New Roman"/>
                <a:cs typeface="Times New Roman"/>
              </a:rPr>
              <a:t>con</a:t>
            </a:r>
            <a:r>
              <a:rPr spc="5" dirty="0">
                <a:latin typeface="Times New Roman"/>
                <a:cs typeface="Times New Roman"/>
              </a:rPr>
              <a:t> </a:t>
            </a:r>
            <a:r>
              <a:rPr i="1" spc="-5" dirty="0">
                <a:latin typeface="Times New Roman"/>
                <a:cs typeface="Times New Roman"/>
              </a:rPr>
              <a:t>k=2</a:t>
            </a:r>
            <a:r>
              <a:rPr dirty="0">
                <a:latin typeface="Times New Roman"/>
                <a:cs typeface="Times New Roman"/>
              </a:rPr>
              <a:t> </a:t>
            </a:r>
            <a:r>
              <a:rPr spc="-5" dirty="0">
                <a:latin typeface="Times New Roman"/>
                <a:cs typeface="Times New Roman"/>
              </a:rPr>
              <a:t>categorías (chd=1,chd=0).</a:t>
            </a:r>
            <a:endParaRPr dirty="0">
              <a:latin typeface="Times New Roman"/>
              <a:cs typeface="Times New Roman"/>
            </a:endParaRPr>
          </a:p>
          <a:p>
            <a:pPr marL="12700" marR="5080">
              <a:lnSpc>
                <a:spcPts val="2060"/>
              </a:lnSpc>
              <a:spcBef>
                <a:spcPts val="20"/>
              </a:spcBef>
            </a:pPr>
            <a:r>
              <a:rPr dirty="0">
                <a:latin typeface="Times New Roman"/>
                <a:cs typeface="Times New Roman"/>
              </a:rPr>
              <a:t>El</a:t>
            </a:r>
            <a:r>
              <a:rPr spc="-10" dirty="0">
                <a:latin typeface="Times New Roman"/>
                <a:cs typeface="Times New Roman"/>
              </a:rPr>
              <a:t> </a:t>
            </a:r>
            <a:r>
              <a:rPr dirty="0">
                <a:latin typeface="Times New Roman"/>
                <a:cs typeface="Times New Roman"/>
              </a:rPr>
              <a:t>nodo</a:t>
            </a:r>
            <a:r>
              <a:rPr spc="-20" dirty="0">
                <a:latin typeface="Times New Roman"/>
                <a:cs typeface="Times New Roman"/>
              </a:rPr>
              <a:t> </a:t>
            </a:r>
            <a:r>
              <a:rPr dirty="0">
                <a:latin typeface="Times New Roman"/>
                <a:cs typeface="Times New Roman"/>
              </a:rPr>
              <a:t>output</a:t>
            </a:r>
            <a:r>
              <a:rPr spc="-15" dirty="0">
                <a:latin typeface="Times New Roman"/>
                <a:cs typeface="Times New Roman"/>
              </a:rPr>
              <a:t> </a:t>
            </a:r>
            <a:r>
              <a:rPr spc="-5" dirty="0">
                <a:latin typeface="Times New Roman"/>
                <a:cs typeface="Times New Roman"/>
              </a:rPr>
              <a:t>se</a:t>
            </a:r>
            <a:r>
              <a:rPr spc="-10" dirty="0">
                <a:latin typeface="Times New Roman"/>
                <a:cs typeface="Times New Roman"/>
              </a:rPr>
              <a:t> </a:t>
            </a:r>
            <a:r>
              <a:rPr dirty="0">
                <a:latin typeface="Times New Roman"/>
                <a:cs typeface="Times New Roman"/>
              </a:rPr>
              <a:t>construye</a:t>
            </a:r>
            <a:r>
              <a:rPr spc="-25" dirty="0">
                <a:latin typeface="Times New Roman"/>
                <a:cs typeface="Times New Roman"/>
              </a:rPr>
              <a:t> </a:t>
            </a:r>
            <a:r>
              <a:rPr dirty="0">
                <a:latin typeface="Times New Roman"/>
                <a:cs typeface="Times New Roman"/>
              </a:rPr>
              <a:t>con</a:t>
            </a:r>
            <a:r>
              <a:rPr spc="-15" dirty="0">
                <a:latin typeface="Times New Roman"/>
                <a:cs typeface="Times New Roman"/>
              </a:rPr>
              <a:t> </a:t>
            </a:r>
            <a:r>
              <a:rPr i="1" dirty="0">
                <a:latin typeface="Times New Roman"/>
                <a:cs typeface="Times New Roman"/>
              </a:rPr>
              <a:t>k-1=1</a:t>
            </a:r>
            <a:r>
              <a:rPr spc="-5" dirty="0">
                <a:latin typeface="Times New Roman"/>
                <a:cs typeface="Times New Roman"/>
              </a:rPr>
              <a:t> </a:t>
            </a:r>
            <a:r>
              <a:rPr dirty="0">
                <a:latin typeface="Times New Roman"/>
                <a:cs typeface="Times New Roman"/>
              </a:rPr>
              <a:t>nodo </a:t>
            </a:r>
            <a:r>
              <a:rPr spc="-434" dirty="0">
                <a:latin typeface="Times New Roman"/>
                <a:cs typeface="Times New Roman"/>
              </a:rPr>
              <a:t> </a:t>
            </a:r>
            <a:r>
              <a:rPr dirty="0">
                <a:latin typeface="Times New Roman"/>
                <a:cs typeface="Times New Roman"/>
              </a:rPr>
              <a:t>con</a:t>
            </a:r>
            <a:r>
              <a:rPr spc="-5" dirty="0">
                <a:latin typeface="Times New Roman"/>
                <a:cs typeface="Times New Roman"/>
              </a:rPr>
              <a:t> valor</a:t>
            </a:r>
            <a:r>
              <a:rPr spc="5" dirty="0">
                <a:latin typeface="Times New Roman"/>
                <a:cs typeface="Times New Roman"/>
              </a:rPr>
              <a:t> </a:t>
            </a:r>
            <a:r>
              <a:rPr dirty="0">
                <a:latin typeface="Times New Roman"/>
                <a:cs typeface="Times New Roman"/>
              </a:rPr>
              <a:t>1</a:t>
            </a:r>
            <a:r>
              <a:rPr spc="-10" dirty="0">
                <a:latin typeface="Times New Roman"/>
                <a:cs typeface="Times New Roman"/>
              </a:rPr>
              <a:t> </a:t>
            </a:r>
            <a:r>
              <a:rPr dirty="0">
                <a:latin typeface="Times New Roman"/>
                <a:cs typeface="Times New Roman"/>
              </a:rPr>
              <a:t>o</a:t>
            </a:r>
            <a:r>
              <a:rPr spc="-5" dirty="0">
                <a:latin typeface="Times New Roman"/>
                <a:cs typeface="Times New Roman"/>
              </a:rPr>
              <a:t> </a:t>
            </a:r>
            <a:r>
              <a:rPr dirty="0">
                <a:latin typeface="Times New Roman"/>
                <a:cs typeface="Times New Roman"/>
              </a:rPr>
              <a:t>0</a:t>
            </a:r>
          </a:p>
        </p:txBody>
      </p:sp>
      <p:pic>
        <p:nvPicPr>
          <p:cNvPr id="5" name="object 5"/>
          <p:cNvPicPr/>
          <p:nvPr/>
        </p:nvPicPr>
        <p:blipFill>
          <a:blip r:embed="rId2" cstate="print"/>
          <a:stretch>
            <a:fillRect/>
          </a:stretch>
        </p:blipFill>
        <p:spPr>
          <a:xfrm>
            <a:off x="5648325" y="438150"/>
            <a:ext cx="4030039" cy="2809874"/>
          </a:xfrm>
          <a:prstGeom prst="rect">
            <a:avLst/>
          </a:prstGeom>
        </p:spPr>
      </p:pic>
      <p:sp>
        <p:nvSpPr>
          <p:cNvPr id="6" name="object 6"/>
          <p:cNvSpPr txBox="1"/>
          <p:nvPr/>
        </p:nvSpPr>
        <p:spPr>
          <a:xfrm>
            <a:off x="5270500" y="3212465"/>
            <a:ext cx="5257800" cy="879087"/>
          </a:xfrm>
          <a:prstGeom prst="rect">
            <a:avLst/>
          </a:prstGeom>
          <a:ln w="9525">
            <a:solidFill>
              <a:srgbClr val="000000"/>
            </a:solidFill>
          </a:ln>
        </p:spPr>
        <p:txBody>
          <a:bodyPr vert="horz" wrap="square" lIns="0" tIns="47625" rIns="0" bIns="0" rtlCol="0">
            <a:spAutoFit/>
          </a:bodyPr>
          <a:lstStyle/>
          <a:p>
            <a:pPr marL="96520" marR="385445">
              <a:spcBef>
                <a:spcPts val="375"/>
              </a:spcBef>
            </a:pPr>
            <a:r>
              <a:rPr dirty="0">
                <a:latin typeface="Times New Roman"/>
                <a:cs typeface="Times New Roman"/>
              </a:rPr>
              <a:t>En </a:t>
            </a:r>
            <a:r>
              <a:rPr spc="-5" dirty="0">
                <a:latin typeface="Times New Roman"/>
                <a:cs typeface="Times New Roman"/>
              </a:rPr>
              <a:t>variables </a:t>
            </a:r>
            <a:r>
              <a:rPr dirty="0">
                <a:latin typeface="Times New Roman"/>
                <a:cs typeface="Times New Roman"/>
              </a:rPr>
              <a:t>output </a:t>
            </a:r>
            <a:r>
              <a:rPr spc="-5" dirty="0">
                <a:latin typeface="Times New Roman"/>
                <a:cs typeface="Times New Roman"/>
              </a:rPr>
              <a:t>categóricas </a:t>
            </a:r>
            <a:r>
              <a:rPr spc="5" dirty="0">
                <a:latin typeface="Times New Roman"/>
                <a:cs typeface="Times New Roman"/>
              </a:rPr>
              <a:t>SÍ </a:t>
            </a:r>
            <a:r>
              <a:rPr spc="-5" dirty="0">
                <a:latin typeface="Times New Roman"/>
                <a:cs typeface="Times New Roman"/>
              </a:rPr>
              <a:t>se aplica </a:t>
            </a:r>
            <a:r>
              <a:rPr dirty="0">
                <a:latin typeface="Times New Roman"/>
                <a:cs typeface="Times New Roman"/>
              </a:rPr>
              <a:t>función de </a:t>
            </a:r>
            <a:r>
              <a:rPr spc="5" dirty="0">
                <a:latin typeface="Times New Roman"/>
                <a:cs typeface="Times New Roman"/>
              </a:rPr>
              <a:t> </a:t>
            </a:r>
            <a:r>
              <a:rPr spc="-5" dirty="0">
                <a:latin typeface="Times New Roman"/>
                <a:cs typeface="Times New Roman"/>
              </a:rPr>
              <a:t>activación </a:t>
            </a:r>
            <a:r>
              <a:rPr dirty="0">
                <a:latin typeface="Times New Roman"/>
                <a:cs typeface="Times New Roman"/>
              </a:rPr>
              <a:t>al</a:t>
            </a:r>
            <a:r>
              <a:rPr spc="-5" dirty="0">
                <a:latin typeface="Times New Roman"/>
                <a:cs typeface="Times New Roman"/>
              </a:rPr>
              <a:t> </a:t>
            </a:r>
            <a:r>
              <a:rPr dirty="0">
                <a:latin typeface="Times New Roman"/>
                <a:cs typeface="Times New Roman"/>
              </a:rPr>
              <a:t>nodo</a:t>
            </a:r>
            <a:r>
              <a:rPr spc="-5" dirty="0">
                <a:latin typeface="Times New Roman"/>
                <a:cs typeface="Times New Roman"/>
              </a:rPr>
              <a:t> </a:t>
            </a:r>
            <a:r>
              <a:rPr dirty="0">
                <a:latin typeface="Times New Roman"/>
                <a:cs typeface="Times New Roman"/>
              </a:rPr>
              <a:t>output</a:t>
            </a:r>
            <a:r>
              <a:rPr spc="15" dirty="0">
                <a:latin typeface="Times New Roman"/>
                <a:cs typeface="Times New Roman"/>
              </a:rPr>
              <a:t> </a:t>
            </a:r>
            <a:r>
              <a:rPr spc="-5" dirty="0">
                <a:latin typeface="Times New Roman"/>
                <a:cs typeface="Times New Roman"/>
              </a:rPr>
              <a:t>para</a:t>
            </a:r>
            <a:r>
              <a:rPr spc="-15" dirty="0">
                <a:latin typeface="Times New Roman"/>
                <a:cs typeface="Times New Roman"/>
              </a:rPr>
              <a:t> </a:t>
            </a:r>
            <a:r>
              <a:rPr dirty="0">
                <a:latin typeface="Times New Roman"/>
                <a:cs typeface="Times New Roman"/>
              </a:rPr>
              <a:t>que </a:t>
            </a:r>
            <a:r>
              <a:rPr spc="-5" dirty="0">
                <a:latin typeface="Times New Roman"/>
                <a:cs typeface="Times New Roman"/>
              </a:rPr>
              <a:t>estén en</a:t>
            </a:r>
            <a:r>
              <a:rPr spc="5" dirty="0">
                <a:latin typeface="Times New Roman"/>
                <a:cs typeface="Times New Roman"/>
              </a:rPr>
              <a:t> </a:t>
            </a:r>
            <a:r>
              <a:rPr spc="-5" dirty="0">
                <a:latin typeface="Times New Roman"/>
                <a:cs typeface="Times New Roman"/>
              </a:rPr>
              <a:t>rango</a:t>
            </a:r>
            <a:r>
              <a:rPr spc="5" dirty="0">
                <a:latin typeface="Times New Roman"/>
                <a:cs typeface="Times New Roman"/>
              </a:rPr>
              <a:t> </a:t>
            </a:r>
            <a:r>
              <a:rPr dirty="0">
                <a:latin typeface="Times New Roman"/>
                <a:cs typeface="Times New Roman"/>
              </a:rPr>
              <a:t>0-1; en </a:t>
            </a:r>
            <a:r>
              <a:rPr spc="-285" dirty="0">
                <a:latin typeface="Times New Roman"/>
                <a:cs typeface="Times New Roman"/>
              </a:rPr>
              <a:t> </a:t>
            </a:r>
            <a:r>
              <a:rPr spc="-5" dirty="0">
                <a:latin typeface="Times New Roman"/>
                <a:cs typeface="Times New Roman"/>
              </a:rPr>
              <a:t>variables </a:t>
            </a:r>
            <a:r>
              <a:rPr dirty="0">
                <a:latin typeface="Times New Roman"/>
                <a:cs typeface="Times New Roman"/>
              </a:rPr>
              <a:t>output continuas</a:t>
            </a:r>
            <a:r>
              <a:rPr spc="-5" dirty="0">
                <a:latin typeface="Times New Roman"/>
                <a:cs typeface="Times New Roman"/>
              </a:rPr>
              <a:t> NO</a:t>
            </a:r>
            <a:endParaRPr dirty="0">
              <a:latin typeface="Times New Roman"/>
              <a:cs typeface="Times New Roman"/>
            </a:endParaRPr>
          </a:p>
        </p:txBody>
      </p:sp>
      <p:grpSp>
        <p:nvGrpSpPr>
          <p:cNvPr id="7" name="object 7"/>
          <p:cNvGrpSpPr/>
          <p:nvPr/>
        </p:nvGrpSpPr>
        <p:grpSpPr>
          <a:xfrm>
            <a:off x="161925" y="1273175"/>
            <a:ext cx="9036685" cy="1943100"/>
            <a:chOff x="161925" y="1273175"/>
            <a:chExt cx="9036685" cy="1943100"/>
          </a:xfrm>
        </p:grpSpPr>
        <p:sp>
          <p:nvSpPr>
            <p:cNvPr id="8" name="object 8"/>
            <p:cNvSpPr/>
            <p:nvPr/>
          </p:nvSpPr>
          <p:spPr>
            <a:xfrm>
              <a:off x="8954516" y="1510284"/>
              <a:ext cx="243840" cy="1553845"/>
            </a:xfrm>
            <a:custGeom>
              <a:avLst/>
              <a:gdLst/>
              <a:ahLst/>
              <a:cxnLst/>
              <a:rect l="l" t="t" r="r" b="b"/>
              <a:pathLst>
                <a:path w="243840" h="1553845">
                  <a:moveTo>
                    <a:pt x="0" y="1472945"/>
                  </a:moveTo>
                  <a:lnTo>
                    <a:pt x="27558" y="1553590"/>
                  </a:lnTo>
                  <a:lnTo>
                    <a:pt x="65859" y="1497456"/>
                  </a:lnTo>
                  <a:lnTo>
                    <a:pt x="38734" y="1497456"/>
                  </a:lnTo>
                  <a:lnTo>
                    <a:pt x="31750" y="1496440"/>
                  </a:lnTo>
                  <a:lnTo>
                    <a:pt x="29336" y="1493265"/>
                  </a:lnTo>
                  <a:lnTo>
                    <a:pt x="29844" y="1489837"/>
                  </a:lnTo>
                  <a:lnTo>
                    <a:pt x="31550" y="1477241"/>
                  </a:lnTo>
                  <a:lnTo>
                    <a:pt x="0" y="1472945"/>
                  </a:lnTo>
                  <a:close/>
                </a:path>
                <a:path w="243840" h="1553845">
                  <a:moveTo>
                    <a:pt x="31550" y="1477241"/>
                  </a:moveTo>
                  <a:lnTo>
                    <a:pt x="29844" y="1489837"/>
                  </a:lnTo>
                  <a:lnTo>
                    <a:pt x="29336" y="1493265"/>
                  </a:lnTo>
                  <a:lnTo>
                    <a:pt x="31750" y="1496440"/>
                  </a:lnTo>
                  <a:lnTo>
                    <a:pt x="38734" y="1497456"/>
                  </a:lnTo>
                  <a:lnTo>
                    <a:pt x="41909" y="1495043"/>
                  </a:lnTo>
                  <a:lnTo>
                    <a:pt x="42417" y="1491488"/>
                  </a:lnTo>
                  <a:lnTo>
                    <a:pt x="44116" y="1478951"/>
                  </a:lnTo>
                  <a:lnTo>
                    <a:pt x="31550" y="1477241"/>
                  </a:lnTo>
                  <a:close/>
                </a:path>
                <a:path w="243840" h="1553845">
                  <a:moveTo>
                    <a:pt x="44116" y="1478951"/>
                  </a:moveTo>
                  <a:lnTo>
                    <a:pt x="42417" y="1491488"/>
                  </a:lnTo>
                  <a:lnTo>
                    <a:pt x="41909" y="1495043"/>
                  </a:lnTo>
                  <a:lnTo>
                    <a:pt x="38734" y="1497456"/>
                  </a:lnTo>
                  <a:lnTo>
                    <a:pt x="65859" y="1497456"/>
                  </a:lnTo>
                  <a:lnTo>
                    <a:pt x="75564" y="1483232"/>
                  </a:lnTo>
                  <a:lnTo>
                    <a:pt x="44116" y="1478951"/>
                  </a:lnTo>
                  <a:close/>
                </a:path>
                <a:path w="243840" h="1553845">
                  <a:moveTo>
                    <a:pt x="234441" y="0"/>
                  </a:moveTo>
                  <a:lnTo>
                    <a:pt x="231266" y="2412"/>
                  </a:lnTo>
                  <a:lnTo>
                    <a:pt x="230758" y="5841"/>
                  </a:lnTo>
                  <a:lnTo>
                    <a:pt x="31550" y="1477241"/>
                  </a:lnTo>
                  <a:lnTo>
                    <a:pt x="44116" y="1478951"/>
                  </a:lnTo>
                  <a:lnTo>
                    <a:pt x="243458" y="7619"/>
                  </a:lnTo>
                  <a:lnTo>
                    <a:pt x="243839" y="4063"/>
                  </a:lnTo>
                  <a:lnTo>
                    <a:pt x="241426" y="888"/>
                  </a:lnTo>
                  <a:lnTo>
                    <a:pt x="237998" y="380"/>
                  </a:lnTo>
                  <a:lnTo>
                    <a:pt x="234441" y="0"/>
                  </a:lnTo>
                  <a:close/>
                </a:path>
              </a:pathLst>
            </a:custGeom>
            <a:solidFill>
              <a:srgbClr val="000000"/>
            </a:solidFill>
          </p:spPr>
          <p:txBody>
            <a:bodyPr wrap="square" lIns="0" tIns="0" rIns="0" bIns="0" rtlCol="0"/>
            <a:lstStyle/>
            <a:p>
              <a:endParaRPr/>
            </a:p>
          </p:txBody>
        </p:sp>
        <p:pic>
          <p:nvPicPr>
            <p:cNvPr id="9" name="object 9"/>
            <p:cNvPicPr/>
            <p:nvPr/>
          </p:nvPicPr>
          <p:blipFill>
            <a:blip r:embed="rId3" cstate="print"/>
            <a:stretch>
              <a:fillRect/>
            </a:stretch>
          </p:blipFill>
          <p:spPr>
            <a:xfrm>
              <a:off x="161925" y="1720723"/>
              <a:ext cx="5610225" cy="1495425"/>
            </a:xfrm>
            <a:prstGeom prst="rect">
              <a:avLst/>
            </a:prstGeom>
          </p:spPr>
        </p:pic>
        <p:sp>
          <p:nvSpPr>
            <p:cNvPr id="10" name="object 10"/>
            <p:cNvSpPr/>
            <p:nvPr/>
          </p:nvSpPr>
          <p:spPr>
            <a:xfrm>
              <a:off x="603872" y="1298575"/>
              <a:ext cx="313690" cy="347345"/>
            </a:xfrm>
            <a:custGeom>
              <a:avLst/>
              <a:gdLst/>
              <a:ahLst/>
              <a:cxnLst/>
              <a:rect l="l" t="t" r="r" b="b"/>
              <a:pathLst>
                <a:path w="313690" h="347344">
                  <a:moveTo>
                    <a:pt x="225602" y="0"/>
                  </a:moveTo>
                  <a:lnTo>
                    <a:pt x="87477" y="0"/>
                  </a:lnTo>
                  <a:lnTo>
                    <a:pt x="87477" y="228091"/>
                  </a:lnTo>
                  <a:lnTo>
                    <a:pt x="0" y="228091"/>
                  </a:lnTo>
                  <a:lnTo>
                    <a:pt x="156540" y="347090"/>
                  </a:lnTo>
                  <a:lnTo>
                    <a:pt x="187948" y="323214"/>
                  </a:lnTo>
                  <a:lnTo>
                    <a:pt x="156540" y="323214"/>
                  </a:lnTo>
                  <a:lnTo>
                    <a:pt x="56527" y="247141"/>
                  </a:lnTo>
                  <a:lnTo>
                    <a:pt x="106527" y="247141"/>
                  </a:lnTo>
                  <a:lnTo>
                    <a:pt x="106527" y="19050"/>
                  </a:lnTo>
                  <a:lnTo>
                    <a:pt x="225602" y="19050"/>
                  </a:lnTo>
                  <a:lnTo>
                    <a:pt x="225602" y="0"/>
                  </a:lnTo>
                  <a:close/>
                </a:path>
                <a:path w="313690" h="347344">
                  <a:moveTo>
                    <a:pt x="206552" y="19050"/>
                  </a:moveTo>
                  <a:lnTo>
                    <a:pt x="106527" y="19050"/>
                  </a:lnTo>
                  <a:lnTo>
                    <a:pt x="106527" y="247141"/>
                  </a:lnTo>
                  <a:lnTo>
                    <a:pt x="56527" y="247141"/>
                  </a:lnTo>
                  <a:lnTo>
                    <a:pt x="156540" y="323214"/>
                  </a:lnTo>
                  <a:lnTo>
                    <a:pt x="187929" y="299338"/>
                  </a:lnTo>
                  <a:lnTo>
                    <a:pt x="156540" y="299338"/>
                  </a:lnTo>
                  <a:lnTo>
                    <a:pt x="113055" y="266191"/>
                  </a:lnTo>
                  <a:lnTo>
                    <a:pt x="125577" y="266191"/>
                  </a:lnTo>
                  <a:lnTo>
                    <a:pt x="125577" y="38100"/>
                  </a:lnTo>
                  <a:lnTo>
                    <a:pt x="206552" y="38100"/>
                  </a:lnTo>
                  <a:lnTo>
                    <a:pt x="206552" y="19050"/>
                  </a:lnTo>
                  <a:close/>
                </a:path>
                <a:path w="313690" h="347344">
                  <a:moveTo>
                    <a:pt x="225602" y="19050"/>
                  </a:moveTo>
                  <a:lnTo>
                    <a:pt x="206552" y="19050"/>
                  </a:lnTo>
                  <a:lnTo>
                    <a:pt x="206552" y="247141"/>
                  </a:lnTo>
                  <a:lnTo>
                    <a:pt x="256552" y="247141"/>
                  </a:lnTo>
                  <a:lnTo>
                    <a:pt x="156540" y="323214"/>
                  </a:lnTo>
                  <a:lnTo>
                    <a:pt x="187948" y="323214"/>
                  </a:lnTo>
                  <a:lnTo>
                    <a:pt x="313080" y="228091"/>
                  </a:lnTo>
                  <a:lnTo>
                    <a:pt x="225602" y="228091"/>
                  </a:lnTo>
                  <a:lnTo>
                    <a:pt x="225602" y="19050"/>
                  </a:lnTo>
                  <a:close/>
                </a:path>
                <a:path w="313690" h="347344">
                  <a:moveTo>
                    <a:pt x="200025" y="266191"/>
                  </a:moveTo>
                  <a:lnTo>
                    <a:pt x="113055" y="266191"/>
                  </a:lnTo>
                  <a:lnTo>
                    <a:pt x="156540" y="299338"/>
                  </a:lnTo>
                  <a:lnTo>
                    <a:pt x="200025" y="266191"/>
                  </a:lnTo>
                  <a:close/>
                </a:path>
                <a:path w="313690" h="347344">
                  <a:moveTo>
                    <a:pt x="206552" y="38100"/>
                  </a:moveTo>
                  <a:lnTo>
                    <a:pt x="187502" y="38100"/>
                  </a:lnTo>
                  <a:lnTo>
                    <a:pt x="187502" y="266191"/>
                  </a:lnTo>
                  <a:lnTo>
                    <a:pt x="200025" y="266191"/>
                  </a:lnTo>
                  <a:lnTo>
                    <a:pt x="156540" y="299338"/>
                  </a:lnTo>
                  <a:lnTo>
                    <a:pt x="187929" y="299338"/>
                  </a:lnTo>
                  <a:lnTo>
                    <a:pt x="256552" y="247141"/>
                  </a:lnTo>
                  <a:lnTo>
                    <a:pt x="206552" y="247141"/>
                  </a:lnTo>
                  <a:lnTo>
                    <a:pt x="206552" y="38100"/>
                  </a:lnTo>
                  <a:close/>
                </a:path>
                <a:path w="313690" h="347344">
                  <a:moveTo>
                    <a:pt x="187502" y="38100"/>
                  </a:moveTo>
                  <a:lnTo>
                    <a:pt x="125577" y="38100"/>
                  </a:lnTo>
                  <a:lnTo>
                    <a:pt x="125577" y="266191"/>
                  </a:lnTo>
                  <a:lnTo>
                    <a:pt x="187502" y="266191"/>
                  </a:lnTo>
                  <a:lnTo>
                    <a:pt x="187502" y="38100"/>
                  </a:lnTo>
                  <a:close/>
                </a:path>
              </a:pathLst>
            </a:custGeom>
            <a:solidFill>
              <a:srgbClr val="612322"/>
            </a:solidFill>
          </p:spPr>
          <p:txBody>
            <a:bodyPr wrap="square" lIns="0" tIns="0" rIns="0" bIns="0" rtlCol="0"/>
            <a:lstStyle/>
            <a:p>
              <a:endParaRPr/>
            </a:p>
          </p:txBody>
        </p:sp>
        <p:sp>
          <p:nvSpPr>
            <p:cNvPr id="11" name="object 11"/>
            <p:cNvSpPr/>
            <p:nvPr/>
          </p:nvSpPr>
          <p:spPr>
            <a:xfrm>
              <a:off x="647700" y="1292225"/>
              <a:ext cx="200025" cy="304165"/>
            </a:xfrm>
            <a:custGeom>
              <a:avLst/>
              <a:gdLst/>
              <a:ahLst/>
              <a:cxnLst/>
              <a:rect l="l" t="t" r="r" b="b"/>
              <a:pathLst>
                <a:path w="200025" h="304165">
                  <a:moveTo>
                    <a:pt x="150012" y="0"/>
                  </a:moveTo>
                  <a:lnTo>
                    <a:pt x="49999" y="0"/>
                  </a:lnTo>
                  <a:lnTo>
                    <a:pt x="49999" y="228091"/>
                  </a:lnTo>
                  <a:lnTo>
                    <a:pt x="0" y="228091"/>
                  </a:lnTo>
                  <a:lnTo>
                    <a:pt x="100012" y="304164"/>
                  </a:lnTo>
                  <a:lnTo>
                    <a:pt x="200025" y="228091"/>
                  </a:lnTo>
                  <a:lnTo>
                    <a:pt x="150012" y="228091"/>
                  </a:lnTo>
                  <a:lnTo>
                    <a:pt x="150012" y="0"/>
                  </a:lnTo>
                  <a:close/>
                </a:path>
              </a:pathLst>
            </a:custGeom>
            <a:solidFill>
              <a:srgbClr val="C0504D"/>
            </a:solidFill>
          </p:spPr>
          <p:txBody>
            <a:bodyPr wrap="square" lIns="0" tIns="0" rIns="0" bIns="0" rtlCol="0"/>
            <a:lstStyle/>
            <a:p>
              <a:endParaRPr/>
            </a:p>
          </p:txBody>
        </p:sp>
        <p:sp>
          <p:nvSpPr>
            <p:cNvPr id="12" name="object 12"/>
            <p:cNvSpPr/>
            <p:nvPr/>
          </p:nvSpPr>
          <p:spPr>
            <a:xfrm>
              <a:off x="647700" y="1292225"/>
              <a:ext cx="200025" cy="304165"/>
            </a:xfrm>
            <a:custGeom>
              <a:avLst/>
              <a:gdLst/>
              <a:ahLst/>
              <a:cxnLst/>
              <a:rect l="l" t="t" r="r" b="b"/>
              <a:pathLst>
                <a:path w="200025" h="304165">
                  <a:moveTo>
                    <a:pt x="0" y="228091"/>
                  </a:moveTo>
                  <a:lnTo>
                    <a:pt x="49999" y="228091"/>
                  </a:lnTo>
                  <a:lnTo>
                    <a:pt x="49999" y="0"/>
                  </a:lnTo>
                  <a:lnTo>
                    <a:pt x="150012" y="0"/>
                  </a:lnTo>
                  <a:lnTo>
                    <a:pt x="150012" y="228091"/>
                  </a:lnTo>
                  <a:lnTo>
                    <a:pt x="200025" y="228091"/>
                  </a:lnTo>
                  <a:lnTo>
                    <a:pt x="100012" y="304164"/>
                  </a:lnTo>
                  <a:lnTo>
                    <a:pt x="0" y="228091"/>
                  </a:lnTo>
                  <a:close/>
                </a:path>
              </a:pathLst>
            </a:custGeom>
            <a:ln w="38100">
              <a:solidFill>
                <a:srgbClr val="F1F1F1"/>
              </a:solidFill>
            </a:ln>
          </p:spPr>
          <p:txBody>
            <a:bodyPr wrap="square" lIns="0" tIns="0" rIns="0" bIns="0" rtlCol="0"/>
            <a:lstStyle/>
            <a:p>
              <a:endParaRPr/>
            </a:p>
          </p:txBody>
        </p:sp>
      </p:grpSp>
      <p:pic>
        <p:nvPicPr>
          <p:cNvPr id="13" name="object 13"/>
          <p:cNvPicPr/>
          <p:nvPr/>
        </p:nvPicPr>
        <p:blipFill>
          <a:blip r:embed="rId4" cstate="print"/>
          <a:stretch>
            <a:fillRect/>
          </a:stretch>
        </p:blipFill>
        <p:spPr>
          <a:xfrm>
            <a:off x="5374641" y="4239888"/>
            <a:ext cx="5153659" cy="3132693"/>
          </a:xfrm>
          <a:prstGeom prst="rect">
            <a:avLst/>
          </a:prstGeom>
        </p:spPr>
      </p:pic>
      <p:sp>
        <p:nvSpPr>
          <p:cNvPr id="14" name="CuadroTexto 13"/>
          <p:cNvSpPr txBox="1"/>
          <p:nvPr/>
        </p:nvSpPr>
        <p:spPr>
          <a:xfrm>
            <a:off x="603873" y="5915025"/>
            <a:ext cx="3904628" cy="923330"/>
          </a:xfrm>
          <a:prstGeom prst="rect">
            <a:avLst/>
          </a:prstGeom>
          <a:noFill/>
        </p:spPr>
        <p:txBody>
          <a:bodyPr wrap="square" rtlCol="0">
            <a:spAutoFit/>
          </a:bodyPr>
          <a:lstStyle/>
          <a:p>
            <a:r>
              <a:rPr lang="es-ES" dirty="0">
                <a:solidFill>
                  <a:srgbClr val="FF0000"/>
                </a:solidFill>
                <a:latin typeface="Times New Roman"/>
                <a:cs typeface="Times New Roman"/>
              </a:rPr>
              <a:t>Estas son las únicas diferencias con respecto al tratamiento necesario cuando la variable output es continua</a:t>
            </a:r>
            <a:r>
              <a:rPr lang="es-ES" dirty="0" smtClean="0">
                <a:solidFill>
                  <a:srgbClr val="FF0000"/>
                </a:solidFill>
              </a:rPr>
              <a:t>.</a:t>
            </a:r>
            <a:endParaRPr lang="es-ES" dirty="0">
              <a:solidFill>
                <a:srgbClr val="FF0000"/>
              </a:solidFill>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46963" y="1290574"/>
            <a:ext cx="2945130" cy="1002030"/>
          </a:xfrm>
          <a:prstGeom prst="rect">
            <a:avLst/>
          </a:prstGeom>
        </p:spPr>
        <p:txBody>
          <a:bodyPr vert="horz" wrap="square" lIns="0" tIns="26669" rIns="0" bIns="0" rtlCol="0">
            <a:spAutoFit/>
          </a:bodyPr>
          <a:lstStyle/>
          <a:p>
            <a:pPr marL="12700" marR="5080">
              <a:lnSpc>
                <a:spcPct val="95700"/>
              </a:lnSpc>
              <a:spcBef>
                <a:spcPts val="209"/>
              </a:spcBef>
              <a:tabLst>
                <a:tab pos="1731645" algn="l"/>
              </a:tabLst>
            </a:pPr>
            <a:r>
              <a:rPr sz="2200" spc="-5" dirty="0">
                <a:solidFill>
                  <a:srgbClr val="FF0000"/>
                </a:solidFill>
                <a:latin typeface="Times New Roman"/>
                <a:cs typeface="Times New Roman"/>
              </a:rPr>
              <a:t>i1=nodo</a:t>
            </a:r>
            <a:r>
              <a:rPr sz="2200" spc="5" dirty="0">
                <a:solidFill>
                  <a:srgbClr val="FF0000"/>
                </a:solidFill>
                <a:latin typeface="Times New Roman"/>
                <a:cs typeface="Times New Roman"/>
              </a:rPr>
              <a:t> </a:t>
            </a:r>
            <a:r>
              <a:rPr sz="2200" spc="-5" dirty="0">
                <a:solidFill>
                  <a:srgbClr val="FF0000"/>
                </a:solidFill>
                <a:latin typeface="Times New Roman"/>
                <a:cs typeface="Times New Roman"/>
              </a:rPr>
              <a:t>input	1 (age) </a:t>
            </a:r>
            <a:r>
              <a:rPr sz="2200" dirty="0">
                <a:solidFill>
                  <a:srgbClr val="FF0000"/>
                </a:solidFill>
                <a:latin typeface="Times New Roman"/>
                <a:cs typeface="Times New Roman"/>
              </a:rPr>
              <a:t> </a:t>
            </a:r>
            <a:r>
              <a:rPr sz="2200" spc="-5" dirty="0">
                <a:solidFill>
                  <a:srgbClr val="FF0000"/>
                </a:solidFill>
                <a:latin typeface="Times New Roman"/>
                <a:cs typeface="Times New Roman"/>
              </a:rPr>
              <a:t>i2=nodo</a:t>
            </a:r>
            <a:r>
              <a:rPr sz="2200" spc="10" dirty="0">
                <a:solidFill>
                  <a:srgbClr val="FF0000"/>
                </a:solidFill>
                <a:latin typeface="Times New Roman"/>
                <a:cs typeface="Times New Roman"/>
              </a:rPr>
              <a:t> </a:t>
            </a:r>
            <a:r>
              <a:rPr sz="2200" spc="-5" dirty="0">
                <a:solidFill>
                  <a:srgbClr val="FF0000"/>
                </a:solidFill>
                <a:latin typeface="Times New Roman"/>
                <a:cs typeface="Times New Roman"/>
              </a:rPr>
              <a:t>input	2 (water) </a:t>
            </a:r>
            <a:r>
              <a:rPr sz="2200" dirty="0">
                <a:solidFill>
                  <a:srgbClr val="FF0000"/>
                </a:solidFill>
                <a:latin typeface="Times New Roman"/>
                <a:cs typeface="Times New Roman"/>
              </a:rPr>
              <a:t> </a:t>
            </a:r>
            <a:r>
              <a:rPr sz="2200" spc="-5" dirty="0">
                <a:solidFill>
                  <a:srgbClr val="FF0000"/>
                </a:solidFill>
                <a:latin typeface="Times New Roman"/>
                <a:cs typeface="Times New Roman"/>
              </a:rPr>
              <a:t>o=nodo</a:t>
            </a:r>
            <a:r>
              <a:rPr sz="2200" spc="-10" dirty="0">
                <a:solidFill>
                  <a:srgbClr val="FF0000"/>
                </a:solidFill>
                <a:latin typeface="Times New Roman"/>
                <a:cs typeface="Times New Roman"/>
              </a:rPr>
              <a:t> </a:t>
            </a:r>
            <a:r>
              <a:rPr sz="2200" spc="-5" dirty="0">
                <a:solidFill>
                  <a:srgbClr val="FF0000"/>
                </a:solidFill>
                <a:latin typeface="Times New Roman"/>
                <a:cs typeface="Times New Roman"/>
              </a:rPr>
              <a:t>output</a:t>
            </a:r>
            <a:r>
              <a:rPr sz="2200" spc="-10" dirty="0">
                <a:solidFill>
                  <a:srgbClr val="FF0000"/>
                </a:solidFill>
                <a:latin typeface="Times New Roman"/>
                <a:cs typeface="Times New Roman"/>
              </a:rPr>
              <a:t> </a:t>
            </a:r>
            <a:r>
              <a:rPr sz="2200" spc="-5" dirty="0">
                <a:solidFill>
                  <a:srgbClr val="FF0000"/>
                </a:solidFill>
                <a:latin typeface="Times New Roman"/>
                <a:cs typeface="Times New Roman"/>
              </a:rPr>
              <a:t>(cstrength)</a:t>
            </a:r>
            <a:endParaRPr sz="2200" dirty="0">
              <a:latin typeface="Times New Roman"/>
              <a:cs typeface="Times New Roman"/>
            </a:endParaRPr>
          </a:p>
        </p:txBody>
      </p:sp>
      <p:sp>
        <p:nvSpPr>
          <p:cNvPr id="4" name="object 4"/>
          <p:cNvSpPr txBox="1"/>
          <p:nvPr/>
        </p:nvSpPr>
        <p:spPr>
          <a:xfrm>
            <a:off x="346963" y="2584831"/>
            <a:ext cx="2625725" cy="1033780"/>
          </a:xfrm>
          <a:prstGeom prst="rect">
            <a:avLst/>
          </a:prstGeom>
        </p:spPr>
        <p:txBody>
          <a:bodyPr vert="horz" wrap="square" lIns="0" tIns="24130" rIns="0" bIns="0" rtlCol="0">
            <a:spAutoFit/>
          </a:bodyPr>
          <a:lstStyle/>
          <a:p>
            <a:pPr marL="12700" marR="5080">
              <a:lnSpc>
                <a:spcPts val="1130"/>
              </a:lnSpc>
              <a:spcBef>
                <a:spcPts val="190"/>
              </a:spcBef>
            </a:pPr>
            <a:r>
              <a:rPr sz="1000" spc="-5" dirty="0">
                <a:latin typeface="Lucida Console"/>
                <a:cs typeface="Lucida Console"/>
              </a:rPr>
              <a:t>a</a:t>
            </a:r>
            <a:r>
              <a:rPr sz="1000" spc="-10" dirty="0">
                <a:latin typeface="Lucida Console"/>
                <a:cs typeface="Lucida Console"/>
              </a:rPr>
              <a:t> </a:t>
            </a:r>
            <a:r>
              <a:rPr sz="1000" spc="-5" dirty="0">
                <a:latin typeface="Lucida Console"/>
                <a:cs typeface="Lucida Console"/>
              </a:rPr>
              <a:t>2-3-1</a:t>
            </a:r>
            <a:r>
              <a:rPr sz="1000" spc="-10" dirty="0">
                <a:latin typeface="Lucida Console"/>
                <a:cs typeface="Lucida Console"/>
              </a:rPr>
              <a:t> </a:t>
            </a:r>
            <a:r>
              <a:rPr sz="1000" spc="-5" dirty="0">
                <a:latin typeface="Lucida Console"/>
                <a:cs typeface="Lucida Console"/>
              </a:rPr>
              <a:t>network</a:t>
            </a:r>
            <a:r>
              <a:rPr sz="1000" spc="10" dirty="0">
                <a:latin typeface="Lucida Console"/>
                <a:cs typeface="Lucida Console"/>
              </a:rPr>
              <a:t> </a:t>
            </a:r>
            <a:r>
              <a:rPr sz="1000" spc="-10" dirty="0">
                <a:latin typeface="Lucida Console"/>
                <a:cs typeface="Lucida Console"/>
              </a:rPr>
              <a:t>with</a:t>
            </a:r>
            <a:r>
              <a:rPr sz="1000" dirty="0">
                <a:latin typeface="Lucida Console"/>
                <a:cs typeface="Lucida Console"/>
              </a:rPr>
              <a:t> </a:t>
            </a:r>
            <a:r>
              <a:rPr sz="1000" spc="-5" dirty="0">
                <a:latin typeface="Lucida Console"/>
                <a:cs typeface="Lucida Console"/>
              </a:rPr>
              <a:t>13 weights </a:t>
            </a:r>
            <a:r>
              <a:rPr sz="1000" dirty="0">
                <a:latin typeface="Lucida Console"/>
                <a:cs typeface="Lucida Console"/>
              </a:rPr>
              <a:t> </a:t>
            </a:r>
            <a:r>
              <a:rPr sz="1000" spc="-5" dirty="0">
                <a:latin typeface="Lucida Console"/>
                <a:cs typeface="Lucida Console"/>
              </a:rPr>
              <a:t>options</a:t>
            </a:r>
            <a:r>
              <a:rPr sz="1000" spc="-10" dirty="0">
                <a:latin typeface="Lucida Console"/>
                <a:cs typeface="Lucida Console"/>
              </a:rPr>
              <a:t> </a:t>
            </a:r>
            <a:r>
              <a:rPr sz="1000" spc="-5" dirty="0">
                <a:latin typeface="Lucida Console"/>
                <a:cs typeface="Lucida Console"/>
              </a:rPr>
              <a:t>were - </a:t>
            </a:r>
            <a:r>
              <a:rPr sz="1000" dirty="0">
                <a:latin typeface="Lucida Console"/>
                <a:cs typeface="Lucida Console"/>
              </a:rPr>
              <a:t>linear</a:t>
            </a:r>
            <a:r>
              <a:rPr sz="1000" spc="-10" dirty="0">
                <a:latin typeface="Lucida Console"/>
                <a:cs typeface="Lucida Console"/>
              </a:rPr>
              <a:t> </a:t>
            </a:r>
            <a:r>
              <a:rPr sz="1000" spc="-5" dirty="0">
                <a:latin typeface="Lucida Console"/>
                <a:cs typeface="Lucida Console"/>
              </a:rPr>
              <a:t>output units</a:t>
            </a:r>
            <a:endParaRPr sz="1000" dirty="0">
              <a:latin typeface="Lucida Console"/>
              <a:cs typeface="Lucida Console"/>
            </a:endParaRPr>
          </a:p>
          <a:p>
            <a:pPr marR="1076325" algn="r">
              <a:lnSpc>
                <a:spcPts val="1050"/>
              </a:lnSpc>
            </a:pPr>
            <a:r>
              <a:rPr sz="1000" spc="-10" dirty="0">
                <a:latin typeface="Lucida Console"/>
                <a:cs typeface="Lucida Console"/>
              </a:rPr>
              <a:t>b-&gt;h1</a:t>
            </a:r>
            <a:r>
              <a:rPr sz="1000" spc="-30" dirty="0">
                <a:latin typeface="Lucida Console"/>
                <a:cs typeface="Lucida Console"/>
              </a:rPr>
              <a:t> </a:t>
            </a:r>
            <a:r>
              <a:rPr sz="1000" spc="-5" dirty="0">
                <a:latin typeface="Lucida Console"/>
                <a:cs typeface="Lucida Console"/>
              </a:rPr>
              <a:t>i1-&gt;h1</a:t>
            </a:r>
            <a:r>
              <a:rPr sz="1000" spc="-40" dirty="0">
                <a:latin typeface="Lucida Console"/>
                <a:cs typeface="Lucida Console"/>
              </a:rPr>
              <a:t> </a:t>
            </a:r>
            <a:r>
              <a:rPr sz="1000" spc="-5" dirty="0">
                <a:latin typeface="Lucida Console"/>
                <a:cs typeface="Lucida Console"/>
              </a:rPr>
              <a:t>i2-&gt;h1</a:t>
            </a:r>
            <a:endParaRPr sz="1000" dirty="0">
              <a:latin typeface="Lucida Console"/>
              <a:cs typeface="Lucida Console"/>
            </a:endParaRPr>
          </a:p>
          <a:p>
            <a:pPr marR="1076325" algn="r">
              <a:lnSpc>
                <a:spcPts val="1130"/>
              </a:lnSpc>
              <a:tabLst>
                <a:tab pos="534670" algn="l"/>
                <a:tab pos="1071245" algn="l"/>
              </a:tabLst>
            </a:pPr>
            <a:r>
              <a:rPr sz="1000" spc="-10" dirty="0">
                <a:latin typeface="Lucida Console"/>
                <a:cs typeface="Lucida Console"/>
              </a:rPr>
              <a:t>3.05	</a:t>
            </a:r>
            <a:r>
              <a:rPr sz="1000" dirty="0">
                <a:latin typeface="Lucida Console"/>
                <a:cs typeface="Lucida Console"/>
              </a:rPr>
              <a:t>3.31	</a:t>
            </a:r>
            <a:r>
              <a:rPr sz="1000" spc="-10" dirty="0">
                <a:latin typeface="Lucida Console"/>
                <a:cs typeface="Lucida Console"/>
              </a:rPr>
              <a:t>0.13</a:t>
            </a:r>
            <a:endParaRPr sz="1000" dirty="0">
              <a:latin typeface="Lucida Console"/>
              <a:cs typeface="Lucida Console"/>
            </a:endParaRPr>
          </a:p>
          <a:p>
            <a:pPr marR="1076325" algn="r">
              <a:lnSpc>
                <a:spcPts val="1130"/>
              </a:lnSpc>
            </a:pPr>
            <a:r>
              <a:rPr sz="1000" spc="-10" dirty="0">
                <a:latin typeface="Lucida Console"/>
                <a:cs typeface="Lucida Console"/>
              </a:rPr>
              <a:t>b-&gt;h2</a:t>
            </a:r>
            <a:r>
              <a:rPr sz="1000" spc="-30" dirty="0">
                <a:latin typeface="Lucida Console"/>
                <a:cs typeface="Lucida Console"/>
              </a:rPr>
              <a:t> </a:t>
            </a:r>
            <a:r>
              <a:rPr sz="1000" spc="-5" dirty="0">
                <a:latin typeface="Lucida Console"/>
                <a:cs typeface="Lucida Console"/>
              </a:rPr>
              <a:t>i1-&gt;h2</a:t>
            </a:r>
            <a:r>
              <a:rPr sz="1000" spc="-40" dirty="0">
                <a:latin typeface="Lucida Console"/>
                <a:cs typeface="Lucida Console"/>
              </a:rPr>
              <a:t> </a:t>
            </a:r>
            <a:r>
              <a:rPr sz="1000" spc="-5" dirty="0">
                <a:latin typeface="Lucida Console"/>
                <a:cs typeface="Lucida Console"/>
              </a:rPr>
              <a:t>i2-&gt;h2</a:t>
            </a:r>
            <a:endParaRPr sz="1000" dirty="0">
              <a:latin typeface="Lucida Console"/>
              <a:cs typeface="Lucida Console"/>
            </a:endParaRPr>
          </a:p>
          <a:p>
            <a:pPr marR="1076325" algn="r">
              <a:lnSpc>
                <a:spcPts val="1120"/>
              </a:lnSpc>
              <a:tabLst>
                <a:tab pos="610870" algn="l"/>
                <a:tab pos="1069975" algn="l"/>
              </a:tabLst>
            </a:pPr>
            <a:r>
              <a:rPr sz="1000" spc="-10" dirty="0">
                <a:latin typeface="Lucida Console"/>
                <a:cs typeface="Lucida Console"/>
              </a:rPr>
              <a:t>-0.96	</a:t>
            </a:r>
            <a:r>
              <a:rPr sz="1000" dirty="0">
                <a:latin typeface="Lucida Console"/>
                <a:cs typeface="Lucida Console"/>
              </a:rPr>
              <a:t>0.13	</a:t>
            </a:r>
            <a:r>
              <a:rPr sz="1000" spc="-5" dirty="0">
                <a:latin typeface="Lucida Console"/>
                <a:cs typeface="Lucida Console"/>
              </a:rPr>
              <a:t>-1.89</a:t>
            </a:r>
            <a:endParaRPr sz="1000" dirty="0">
              <a:latin typeface="Lucida Console"/>
              <a:cs typeface="Lucida Console"/>
            </a:endParaRPr>
          </a:p>
          <a:p>
            <a:pPr marR="1076325" algn="r">
              <a:lnSpc>
                <a:spcPts val="1160"/>
              </a:lnSpc>
            </a:pPr>
            <a:r>
              <a:rPr sz="1000" spc="-10" dirty="0">
                <a:latin typeface="Lucida Console"/>
                <a:cs typeface="Lucida Console"/>
              </a:rPr>
              <a:t>b-&gt;h3</a:t>
            </a:r>
            <a:r>
              <a:rPr sz="1000" spc="-30" dirty="0">
                <a:latin typeface="Lucida Console"/>
                <a:cs typeface="Lucida Console"/>
              </a:rPr>
              <a:t> </a:t>
            </a:r>
            <a:r>
              <a:rPr sz="1000" spc="-5" dirty="0">
                <a:latin typeface="Lucida Console"/>
                <a:cs typeface="Lucida Console"/>
              </a:rPr>
              <a:t>i1-&gt;h3</a:t>
            </a:r>
            <a:r>
              <a:rPr sz="1000" spc="-40" dirty="0">
                <a:latin typeface="Lucida Console"/>
                <a:cs typeface="Lucida Console"/>
              </a:rPr>
              <a:t> </a:t>
            </a:r>
            <a:r>
              <a:rPr sz="1000" spc="-5" dirty="0">
                <a:latin typeface="Lucida Console"/>
                <a:cs typeface="Lucida Console"/>
              </a:rPr>
              <a:t>i2-&gt;h3</a:t>
            </a:r>
            <a:endParaRPr sz="1000" dirty="0">
              <a:latin typeface="Lucida Console"/>
              <a:cs typeface="Lucida Console"/>
            </a:endParaRPr>
          </a:p>
        </p:txBody>
      </p:sp>
      <p:sp>
        <p:nvSpPr>
          <p:cNvPr id="5" name="object 5"/>
          <p:cNvSpPr txBox="1"/>
          <p:nvPr/>
        </p:nvSpPr>
        <p:spPr>
          <a:xfrm>
            <a:off x="346963" y="3584575"/>
            <a:ext cx="482600" cy="464184"/>
          </a:xfrm>
          <a:prstGeom prst="rect">
            <a:avLst/>
          </a:prstGeom>
        </p:spPr>
        <p:txBody>
          <a:bodyPr vert="horz" wrap="square" lIns="0" tIns="12065" rIns="0" bIns="0" rtlCol="0">
            <a:spAutoFit/>
          </a:bodyPr>
          <a:lstStyle/>
          <a:p>
            <a:pPr marR="5080" algn="r">
              <a:lnSpc>
                <a:spcPts val="1165"/>
              </a:lnSpc>
              <a:spcBef>
                <a:spcPts val="95"/>
              </a:spcBef>
            </a:pPr>
            <a:r>
              <a:rPr sz="1000" spc="-10" dirty="0">
                <a:latin typeface="Lucida Console"/>
                <a:cs typeface="Lucida Console"/>
              </a:rPr>
              <a:t>-73.01</a:t>
            </a:r>
            <a:endParaRPr sz="1000">
              <a:latin typeface="Lucida Console"/>
              <a:cs typeface="Lucida Console"/>
            </a:endParaRPr>
          </a:p>
          <a:p>
            <a:pPr marR="5080" algn="r">
              <a:lnSpc>
                <a:spcPts val="1130"/>
              </a:lnSpc>
            </a:pPr>
            <a:r>
              <a:rPr sz="1000" spc="-10" dirty="0">
                <a:latin typeface="Lucida Console"/>
                <a:cs typeface="Lucida Console"/>
              </a:rPr>
              <a:t>b-&gt;o</a:t>
            </a:r>
            <a:endParaRPr sz="1000">
              <a:latin typeface="Lucida Console"/>
              <a:cs typeface="Lucida Console"/>
            </a:endParaRPr>
          </a:p>
          <a:p>
            <a:pPr marR="5080" algn="r">
              <a:lnSpc>
                <a:spcPts val="1165"/>
              </a:lnSpc>
            </a:pPr>
            <a:r>
              <a:rPr sz="1000" spc="-10" dirty="0">
                <a:latin typeface="Lucida Console"/>
                <a:cs typeface="Lucida Console"/>
              </a:rPr>
              <a:t>-51.42</a:t>
            </a:r>
            <a:endParaRPr sz="1000">
              <a:latin typeface="Lucida Console"/>
              <a:cs typeface="Lucida Console"/>
            </a:endParaRPr>
          </a:p>
        </p:txBody>
      </p:sp>
      <p:sp>
        <p:nvSpPr>
          <p:cNvPr id="6" name="object 6"/>
          <p:cNvSpPr txBox="1"/>
          <p:nvPr/>
        </p:nvSpPr>
        <p:spPr>
          <a:xfrm>
            <a:off x="958088" y="3584575"/>
            <a:ext cx="408305" cy="464184"/>
          </a:xfrm>
          <a:prstGeom prst="rect">
            <a:avLst/>
          </a:prstGeom>
        </p:spPr>
        <p:txBody>
          <a:bodyPr vert="horz" wrap="square" lIns="0" tIns="12065" rIns="0" bIns="0" rtlCol="0">
            <a:spAutoFit/>
          </a:bodyPr>
          <a:lstStyle/>
          <a:p>
            <a:pPr marL="88900">
              <a:lnSpc>
                <a:spcPts val="1165"/>
              </a:lnSpc>
              <a:spcBef>
                <a:spcPts val="95"/>
              </a:spcBef>
            </a:pPr>
            <a:r>
              <a:rPr sz="1000" spc="-5" dirty="0">
                <a:latin typeface="Lucida Console"/>
                <a:cs typeface="Lucida Console"/>
              </a:rPr>
              <a:t>0</a:t>
            </a:r>
            <a:r>
              <a:rPr sz="1000" spc="5" dirty="0">
                <a:latin typeface="Lucida Console"/>
                <a:cs typeface="Lucida Console"/>
              </a:rPr>
              <a:t>.</a:t>
            </a:r>
            <a:r>
              <a:rPr sz="1000" spc="-5" dirty="0">
                <a:latin typeface="Lucida Console"/>
                <a:cs typeface="Lucida Console"/>
              </a:rPr>
              <a:t>02</a:t>
            </a:r>
            <a:endParaRPr sz="1000" dirty="0">
              <a:latin typeface="Lucida Console"/>
              <a:cs typeface="Lucida Console"/>
            </a:endParaRPr>
          </a:p>
          <a:p>
            <a:pPr marL="12700" marR="5080">
              <a:lnSpc>
                <a:spcPts val="1130"/>
              </a:lnSpc>
              <a:spcBef>
                <a:spcPts val="60"/>
              </a:spcBef>
            </a:pPr>
            <a:r>
              <a:rPr sz="1000" spc="-10" dirty="0">
                <a:latin typeface="Lucida Console"/>
                <a:cs typeface="Lucida Console"/>
              </a:rPr>
              <a:t>h</a:t>
            </a:r>
            <a:r>
              <a:rPr sz="1000" spc="-5" dirty="0">
                <a:latin typeface="Lucida Console"/>
                <a:cs typeface="Lucida Console"/>
              </a:rPr>
              <a:t>1</a:t>
            </a:r>
            <a:r>
              <a:rPr sz="1000" spc="5" dirty="0">
                <a:latin typeface="Lucida Console"/>
                <a:cs typeface="Lucida Console"/>
              </a:rPr>
              <a:t>-</a:t>
            </a:r>
            <a:r>
              <a:rPr sz="1000" spc="-10" dirty="0">
                <a:latin typeface="Lucida Console"/>
                <a:cs typeface="Lucida Console"/>
              </a:rPr>
              <a:t>&gt;o  </a:t>
            </a:r>
            <a:r>
              <a:rPr sz="1000" spc="-5" dirty="0">
                <a:latin typeface="Lucida Console"/>
                <a:cs typeface="Lucida Console"/>
              </a:rPr>
              <a:t>88</a:t>
            </a:r>
            <a:r>
              <a:rPr sz="1000" dirty="0">
                <a:latin typeface="Lucida Console"/>
                <a:cs typeface="Lucida Console"/>
              </a:rPr>
              <a:t>.</a:t>
            </a:r>
            <a:r>
              <a:rPr sz="1000" spc="-5" dirty="0">
                <a:latin typeface="Lucida Console"/>
                <a:cs typeface="Lucida Console"/>
              </a:rPr>
              <a:t>52</a:t>
            </a:r>
            <a:endParaRPr sz="1000" dirty="0">
              <a:latin typeface="Lucida Console"/>
              <a:cs typeface="Lucida Console"/>
            </a:endParaRPr>
          </a:p>
        </p:txBody>
      </p:sp>
      <p:sp>
        <p:nvSpPr>
          <p:cNvPr id="7" name="object 7"/>
          <p:cNvSpPr txBox="1"/>
          <p:nvPr/>
        </p:nvSpPr>
        <p:spPr>
          <a:xfrm>
            <a:off x="1493266" y="3584575"/>
            <a:ext cx="408305" cy="464184"/>
          </a:xfrm>
          <a:prstGeom prst="rect">
            <a:avLst/>
          </a:prstGeom>
        </p:spPr>
        <p:txBody>
          <a:bodyPr vert="horz" wrap="square" lIns="0" tIns="12065" rIns="0" bIns="0" rtlCol="0">
            <a:spAutoFit/>
          </a:bodyPr>
          <a:lstStyle/>
          <a:p>
            <a:pPr marL="12700">
              <a:lnSpc>
                <a:spcPts val="1165"/>
              </a:lnSpc>
              <a:spcBef>
                <a:spcPts val="95"/>
              </a:spcBef>
            </a:pPr>
            <a:r>
              <a:rPr sz="1000" spc="5" dirty="0">
                <a:latin typeface="Lucida Console"/>
                <a:cs typeface="Lucida Console"/>
              </a:rPr>
              <a:t>3</a:t>
            </a:r>
            <a:r>
              <a:rPr sz="1000" spc="-5" dirty="0">
                <a:latin typeface="Lucida Console"/>
                <a:cs typeface="Lucida Console"/>
              </a:rPr>
              <a:t>6.16</a:t>
            </a:r>
            <a:endParaRPr sz="1000">
              <a:latin typeface="Lucida Console"/>
              <a:cs typeface="Lucida Console"/>
            </a:endParaRPr>
          </a:p>
          <a:p>
            <a:pPr marL="12700" marR="5080">
              <a:lnSpc>
                <a:spcPts val="1130"/>
              </a:lnSpc>
              <a:spcBef>
                <a:spcPts val="60"/>
              </a:spcBef>
            </a:pPr>
            <a:r>
              <a:rPr sz="1000" spc="5" dirty="0">
                <a:latin typeface="Lucida Console"/>
                <a:cs typeface="Lucida Console"/>
              </a:rPr>
              <a:t>h</a:t>
            </a:r>
            <a:r>
              <a:rPr sz="1000" spc="-10" dirty="0">
                <a:latin typeface="Lucida Console"/>
                <a:cs typeface="Lucida Console"/>
              </a:rPr>
              <a:t>2-&gt;o  </a:t>
            </a:r>
            <a:r>
              <a:rPr sz="1000" spc="5" dirty="0">
                <a:latin typeface="Lucida Console"/>
                <a:cs typeface="Lucida Console"/>
              </a:rPr>
              <a:t>2</a:t>
            </a:r>
            <a:r>
              <a:rPr sz="1000" spc="-5" dirty="0">
                <a:latin typeface="Lucida Console"/>
                <a:cs typeface="Lucida Console"/>
              </a:rPr>
              <a:t>8.69</a:t>
            </a:r>
            <a:endParaRPr sz="1000">
              <a:latin typeface="Lucida Console"/>
              <a:cs typeface="Lucida Console"/>
            </a:endParaRPr>
          </a:p>
        </p:txBody>
      </p:sp>
      <p:sp>
        <p:nvSpPr>
          <p:cNvPr id="8" name="object 8"/>
          <p:cNvSpPr txBox="1"/>
          <p:nvPr/>
        </p:nvSpPr>
        <p:spPr>
          <a:xfrm>
            <a:off x="2029714" y="3727831"/>
            <a:ext cx="409575" cy="320675"/>
          </a:xfrm>
          <a:prstGeom prst="rect">
            <a:avLst/>
          </a:prstGeom>
        </p:spPr>
        <p:txBody>
          <a:bodyPr vert="horz" wrap="square" lIns="0" tIns="24130" rIns="0" bIns="0" rtlCol="0">
            <a:spAutoFit/>
          </a:bodyPr>
          <a:lstStyle/>
          <a:p>
            <a:pPr marL="88900" marR="5080" indent="-76200">
              <a:lnSpc>
                <a:spcPts val="1130"/>
              </a:lnSpc>
              <a:spcBef>
                <a:spcPts val="190"/>
              </a:spcBef>
            </a:pPr>
            <a:r>
              <a:rPr sz="1000" spc="-10" dirty="0">
                <a:latin typeface="Lucida Console"/>
                <a:cs typeface="Lucida Console"/>
              </a:rPr>
              <a:t>h3-</a:t>
            </a:r>
            <a:r>
              <a:rPr sz="1000" spc="5" dirty="0">
                <a:latin typeface="Lucida Console"/>
                <a:cs typeface="Lucida Console"/>
              </a:rPr>
              <a:t>&gt;o  </a:t>
            </a:r>
            <a:r>
              <a:rPr sz="1000" spc="-5" dirty="0">
                <a:latin typeface="Lucida Console"/>
                <a:cs typeface="Lucida Console"/>
              </a:rPr>
              <a:t>8.</a:t>
            </a:r>
            <a:r>
              <a:rPr sz="1000" dirty="0">
                <a:latin typeface="Lucida Console"/>
                <a:cs typeface="Lucida Console"/>
              </a:rPr>
              <a:t>5</a:t>
            </a:r>
            <a:r>
              <a:rPr sz="1000" spc="-5" dirty="0">
                <a:latin typeface="Lucida Console"/>
                <a:cs typeface="Lucida Console"/>
              </a:rPr>
              <a:t>1</a:t>
            </a:r>
            <a:endParaRPr sz="1000" dirty="0">
              <a:latin typeface="Lucida Console"/>
              <a:cs typeface="Lucida Console"/>
            </a:endParaRPr>
          </a:p>
        </p:txBody>
      </p:sp>
      <p:sp>
        <p:nvSpPr>
          <p:cNvPr id="9" name="object 9"/>
          <p:cNvSpPr txBox="1"/>
          <p:nvPr/>
        </p:nvSpPr>
        <p:spPr>
          <a:xfrm>
            <a:off x="346963" y="4299585"/>
            <a:ext cx="2090420" cy="2177415"/>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FF0000"/>
                </a:solidFill>
                <a:latin typeface="Lucida Console"/>
                <a:cs typeface="Lucida Console"/>
              </a:rPr>
              <a:t>Todo</a:t>
            </a:r>
            <a:r>
              <a:rPr sz="1000" spc="-15" dirty="0">
                <a:solidFill>
                  <a:srgbClr val="FF0000"/>
                </a:solidFill>
                <a:latin typeface="Lucida Console"/>
                <a:cs typeface="Lucida Console"/>
              </a:rPr>
              <a:t> </a:t>
            </a:r>
            <a:r>
              <a:rPr sz="1000" dirty="0">
                <a:solidFill>
                  <a:srgbClr val="FF0000"/>
                </a:solidFill>
                <a:latin typeface="Lucida Console"/>
                <a:cs typeface="Lucida Console"/>
              </a:rPr>
              <a:t>lo</a:t>
            </a:r>
            <a:r>
              <a:rPr sz="1000" spc="-15" dirty="0">
                <a:solidFill>
                  <a:srgbClr val="FF0000"/>
                </a:solidFill>
                <a:latin typeface="Lucida Console"/>
                <a:cs typeface="Lucida Console"/>
              </a:rPr>
              <a:t> </a:t>
            </a:r>
            <a:r>
              <a:rPr sz="1000" spc="-10" dirty="0">
                <a:solidFill>
                  <a:srgbClr val="FF0000"/>
                </a:solidFill>
                <a:latin typeface="Lucida Console"/>
                <a:cs typeface="Lucida Console"/>
              </a:rPr>
              <a:t>que</a:t>
            </a:r>
            <a:r>
              <a:rPr sz="1000" dirty="0">
                <a:solidFill>
                  <a:srgbClr val="FF0000"/>
                </a:solidFill>
                <a:latin typeface="Lucida Console"/>
                <a:cs typeface="Lucida Console"/>
              </a:rPr>
              <a:t> </a:t>
            </a:r>
            <a:r>
              <a:rPr sz="1000" spc="-5" dirty="0">
                <a:solidFill>
                  <a:srgbClr val="FF0000"/>
                </a:solidFill>
                <a:latin typeface="Lucida Console"/>
                <a:cs typeface="Lucida Console"/>
              </a:rPr>
              <a:t>va</a:t>
            </a:r>
            <a:r>
              <a:rPr sz="1000" spc="-10" dirty="0">
                <a:solidFill>
                  <a:srgbClr val="FF0000"/>
                </a:solidFill>
                <a:latin typeface="Lucida Console"/>
                <a:cs typeface="Lucida Console"/>
              </a:rPr>
              <a:t> </a:t>
            </a:r>
            <a:r>
              <a:rPr sz="1000" dirty="0">
                <a:solidFill>
                  <a:srgbClr val="FF0000"/>
                </a:solidFill>
                <a:latin typeface="Lucida Console"/>
                <a:cs typeface="Lucida Console"/>
              </a:rPr>
              <a:t>al</a:t>
            </a:r>
            <a:r>
              <a:rPr sz="1000" spc="-15" dirty="0">
                <a:solidFill>
                  <a:srgbClr val="FF0000"/>
                </a:solidFill>
                <a:latin typeface="Lucida Console"/>
                <a:cs typeface="Lucida Console"/>
              </a:rPr>
              <a:t> </a:t>
            </a:r>
            <a:r>
              <a:rPr sz="1000" dirty="0">
                <a:solidFill>
                  <a:srgbClr val="FF0000"/>
                </a:solidFill>
                <a:latin typeface="Lucida Console"/>
                <a:cs typeface="Lucida Console"/>
              </a:rPr>
              <a:t>nodo</a:t>
            </a:r>
            <a:r>
              <a:rPr sz="1000" spc="-15" dirty="0">
                <a:solidFill>
                  <a:srgbClr val="FF0000"/>
                </a:solidFill>
                <a:latin typeface="Lucida Console"/>
                <a:cs typeface="Lucida Console"/>
              </a:rPr>
              <a:t> </a:t>
            </a:r>
            <a:r>
              <a:rPr sz="1000" spc="-10" dirty="0">
                <a:solidFill>
                  <a:srgbClr val="FF0000"/>
                </a:solidFill>
                <a:latin typeface="Lucida Console"/>
                <a:cs typeface="Lucida Console"/>
              </a:rPr>
              <a:t>1:</a:t>
            </a:r>
            <a:endParaRPr sz="1000" dirty="0">
              <a:latin typeface="Lucida Console"/>
              <a:cs typeface="Lucida Console"/>
            </a:endParaRPr>
          </a:p>
          <a:p>
            <a:pPr>
              <a:lnSpc>
                <a:spcPct val="100000"/>
              </a:lnSpc>
              <a:spcBef>
                <a:spcPts val="40"/>
              </a:spcBef>
            </a:pPr>
            <a:endParaRPr sz="1100" dirty="0">
              <a:latin typeface="Lucida Console"/>
              <a:cs typeface="Lucida Console"/>
            </a:endParaRPr>
          </a:p>
          <a:p>
            <a:pPr marL="165100" marR="540385" indent="-76200">
              <a:lnSpc>
                <a:spcPts val="1130"/>
              </a:lnSpc>
              <a:tabLst>
                <a:tab pos="699770" algn="l"/>
                <a:tab pos="1236345" algn="l"/>
              </a:tabLst>
            </a:pPr>
            <a:r>
              <a:rPr sz="1000" spc="-10" dirty="0">
                <a:latin typeface="Lucida Console"/>
                <a:cs typeface="Lucida Console"/>
              </a:rPr>
              <a:t>b-&gt;h1 </a:t>
            </a:r>
            <a:r>
              <a:rPr sz="1000" spc="-5" dirty="0">
                <a:latin typeface="Lucida Console"/>
                <a:cs typeface="Lucida Console"/>
              </a:rPr>
              <a:t>i1-&gt;h1 i2-&gt;h1 </a:t>
            </a:r>
            <a:r>
              <a:rPr sz="1000" spc="-590" dirty="0">
                <a:latin typeface="Lucida Console"/>
                <a:cs typeface="Lucida Console"/>
              </a:rPr>
              <a:t> </a:t>
            </a:r>
            <a:r>
              <a:rPr sz="1000" spc="-10" dirty="0">
                <a:latin typeface="Lucida Console"/>
                <a:cs typeface="Lucida Console"/>
              </a:rPr>
              <a:t>3.0</a:t>
            </a:r>
            <a:r>
              <a:rPr sz="1000" spc="-5" dirty="0">
                <a:latin typeface="Lucida Console"/>
                <a:cs typeface="Lucida Console"/>
              </a:rPr>
              <a:t>5</a:t>
            </a:r>
            <a:r>
              <a:rPr sz="1000" dirty="0">
                <a:latin typeface="Lucida Console"/>
                <a:cs typeface="Lucida Console"/>
              </a:rPr>
              <a:t>	</a:t>
            </a:r>
            <a:r>
              <a:rPr sz="1000" spc="-5" dirty="0">
                <a:latin typeface="Lucida Console"/>
                <a:cs typeface="Lucida Console"/>
              </a:rPr>
              <a:t>3</a:t>
            </a:r>
            <a:r>
              <a:rPr sz="1000" spc="5" dirty="0">
                <a:latin typeface="Lucida Console"/>
                <a:cs typeface="Lucida Console"/>
              </a:rPr>
              <a:t>.</a:t>
            </a:r>
            <a:r>
              <a:rPr sz="1000" spc="-5" dirty="0">
                <a:latin typeface="Lucida Console"/>
                <a:cs typeface="Lucida Console"/>
              </a:rPr>
              <a:t>31</a:t>
            </a:r>
            <a:r>
              <a:rPr sz="1000" dirty="0">
                <a:latin typeface="Lucida Console"/>
                <a:cs typeface="Lucida Console"/>
              </a:rPr>
              <a:t>	</a:t>
            </a:r>
            <a:r>
              <a:rPr sz="1000" spc="-10" dirty="0">
                <a:latin typeface="Lucida Console"/>
                <a:cs typeface="Lucida Console"/>
              </a:rPr>
              <a:t>0.13</a:t>
            </a:r>
            <a:endParaRPr sz="1000" dirty="0">
              <a:latin typeface="Lucida Console"/>
              <a:cs typeface="Lucida Console"/>
            </a:endParaRPr>
          </a:p>
          <a:p>
            <a:pPr>
              <a:lnSpc>
                <a:spcPct val="100000"/>
              </a:lnSpc>
              <a:spcBef>
                <a:spcPts val="25"/>
              </a:spcBef>
            </a:pPr>
            <a:endParaRPr sz="1000" dirty="0">
              <a:latin typeface="Lucida Console"/>
              <a:cs typeface="Lucida Console"/>
            </a:endParaRPr>
          </a:p>
          <a:p>
            <a:pPr marL="12700">
              <a:lnSpc>
                <a:spcPct val="100000"/>
              </a:lnSpc>
            </a:pPr>
            <a:r>
              <a:rPr sz="1000" spc="-10" dirty="0">
                <a:solidFill>
                  <a:srgbClr val="FF0000"/>
                </a:solidFill>
                <a:latin typeface="Lucida Console"/>
                <a:cs typeface="Lucida Console"/>
              </a:rPr>
              <a:t>Esto</a:t>
            </a:r>
            <a:r>
              <a:rPr sz="1000" spc="-35" dirty="0">
                <a:solidFill>
                  <a:srgbClr val="FF0000"/>
                </a:solidFill>
                <a:latin typeface="Lucida Console"/>
                <a:cs typeface="Lucida Console"/>
              </a:rPr>
              <a:t> </a:t>
            </a:r>
            <a:r>
              <a:rPr sz="1000" spc="-5" dirty="0">
                <a:solidFill>
                  <a:srgbClr val="FF0000"/>
                </a:solidFill>
                <a:latin typeface="Lucida Console"/>
                <a:cs typeface="Lucida Console"/>
              </a:rPr>
              <a:t>significa:</a:t>
            </a:r>
            <a:endParaRPr sz="1000" dirty="0">
              <a:latin typeface="Lucida Console"/>
              <a:cs typeface="Lucida Console"/>
            </a:endParaRPr>
          </a:p>
          <a:p>
            <a:pPr>
              <a:lnSpc>
                <a:spcPct val="100000"/>
              </a:lnSpc>
              <a:spcBef>
                <a:spcPts val="40"/>
              </a:spcBef>
            </a:pPr>
            <a:endParaRPr sz="1100" dirty="0">
              <a:latin typeface="Lucida Console"/>
              <a:cs typeface="Lucida Console"/>
            </a:endParaRPr>
          </a:p>
          <a:p>
            <a:pPr marL="12700" marR="5080">
              <a:lnSpc>
                <a:spcPts val="1130"/>
              </a:lnSpc>
              <a:spcBef>
                <a:spcPts val="5"/>
              </a:spcBef>
            </a:pPr>
            <a:r>
              <a:rPr sz="1000" spc="-5" dirty="0">
                <a:latin typeface="Lucida Console"/>
                <a:cs typeface="Lucida Console"/>
              </a:rPr>
              <a:t>h1=w11*age+w21*water+b1 </a:t>
            </a:r>
            <a:r>
              <a:rPr sz="1000" dirty="0">
                <a:latin typeface="Lucida Console"/>
                <a:cs typeface="Lucida Console"/>
              </a:rPr>
              <a:t> </a:t>
            </a:r>
            <a:r>
              <a:rPr sz="1000" spc="-5" dirty="0">
                <a:latin typeface="Lucida Console"/>
                <a:cs typeface="Lucida Console"/>
              </a:rPr>
              <a:t>h1=3.31*age+0.13*water+3.05</a:t>
            </a:r>
            <a:endParaRPr sz="1000" dirty="0">
              <a:latin typeface="Lucida Console"/>
              <a:cs typeface="Lucida Console"/>
            </a:endParaRPr>
          </a:p>
          <a:p>
            <a:pPr marL="12700" marR="769620">
              <a:lnSpc>
                <a:spcPts val="2260"/>
              </a:lnSpc>
              <a:spcBef>
                <a:spcPts val="210"/>
              </a:spcBef>
            </a:pPr>
            <a:r>
              <a:rPr sz="1000" spc="-10" dirty="0">
                <a:latin typeface="Lucida Console"/>
                <a:cs typeface="Lucida Console"/>
              </a:rPr>
              <a:t>luego </a:t>
            </a:r>
            <a:r>
              <a:rPr sz="1000" spc="-5" dirty="0">
                <a:latin typeface="Lucida Console"/>
                <a:cs typeface="Lucida Console"/>
              </a:rPr>
              <a:t>activación: </a:t>
            </a:r>
            <a:r>
              <a:rPr sz="1000" spc="-590" dirty="0">
                <a:latin typeface="Lucida Console"/>
                <a:cs typeface="Lucida Console"/>
              </a:rPr>
              <a:t> </a:t>
            </a:r>
            <a:r>
              <a:rPr sz="1000" spc="-5" dirty="0">
                <a:latin typeface="Lucida Console"/>
                <a:cs typeface="Lucida Console"/>
              </a:rPr>
              <a:t>h1=tanh(h1)</a:t>
            </a:r>
            <a:endParaRPr sz="1000" dirty="0">
              <a:latin typeface="Lucida Console"/>
              <a:cs typeface="Lucida Console"/>
            </a:endParaRPr>
          </a:p>
          <a:p>
            <a:pPr marL="12700">
              <a:lnSpc>
                <a:spcPct val="100000"/>
              </a:lnSpc>
              <a:spcBef>
                <a:spcPts val="785"/>
              </a:spcBef>
            </a:pPr>
            <a:r>
              <a:rPr sz="1000" spc="-5" dirty="0">
                <a:solidFill>
                  <a:srgbClr val="FF0000"/>
                </a:solidFill>
                <a:latin typeface="Lucida Console"/>
                <a:cs typeface="Lucida Console"/>
              </a:rPr>
              <a:t>El</a:t>
            </a:r>
            <a:r>
              <a:rPr sz="1000" spc="-15" dirty="0">
                <a:solidFill>
                  <a:srgbClr val="FF0000"/>
                </a:solidFill>
                <a:latin typeface="Lucida Console"/>
                <a:cs typeface="Lucida Console"/>
              </a:rPr>
              <a:t> </a:t>
            </a:r>
            <a:r>
              <a:rPr sz="1000" spc="-5" dirty="0">
                <a:solidFill>
                  <a:srgbClr val="FF0000"/>
                </a:solidFill>
                <a:latin typeface="Lucida Console"/>
                <a:cs typeface="Lucida Console"/>
              </a:rPr>
              <a:t>resto</a:t>
            </a:r>
            <a:r>
              <a:rPr sz="1000" spc="-10" dirty="0">
                <a:solidFill>
                  <a:srgbClr val="FF0000"/>
                </a:solidFill>
                <a:latin typeface="Lucida Console"/>
                <a:cs typeface="Lucida Console"/>
              </a:rPr>
              <a:t> </a:t>
            </a:r>
            <a:r>
              <a:rPr sz="1000" spc="-5" dirty="0">
                <a:solidFill>
                  <a:srgbClr val="FF0000"/>
                </a:solidFill>
                <a:latin typeface="Lucida Console"/>
                <a:cs typeface="Lucida Console"/>
              </a:rPr>
              <a:t>de nodos</a:t>
            </a:r>
            <a:r>
              <a:rPr sz="1000" spc="-15" dirty="0">
                <a:solidFill>
                  <a:srgbClr val="FF0000"/>
                </a:solidFill>
                <a:latin typeface="Lucida Console"/>
                <a:cs typeface="Lucida Console"/>
              </a:rPr>
              <a:t> </a:t>
            </a:r>
            <a:r>
              <a:rPr sz="1000" spc="-5" dirty="0">
                <a:solidFill>
                  <a:srgbClr val="FF0000"/>
                </a:solidFill>
                <a:latin typeface="Lucida Console"/>
                <a:cs typeface="Lucida Console"/>
              </a:rPr>
              <a:t>igual</a:t>
            </a:r>
            <a:endParaRPr sz="1000" dirty="0">
              <a:latin typeface="Lucida Console"/>
              <a:cs typeface="Lucida Console"/>
            </a:endParaRPr>
          </a:p>
        </p:txBody>
      </p:sp>
      <p:pic>
        <p:nvPicPr>
          <p:cNvPr id="10" name="object 10"/>
          <p:cNvPicPr/>
          <p:nvPr/>
        </p:nvPicPr>
        <p:blipFill>
          <a:blip r:embed="rId2" cstate="print"/>
          <a:stretch>
            <a:fillRect/>
          </a:stretch>
        </p:blipFill>
        <p:spPr>
          <a:xfrm>
            <a:off x="4514850" y="1012190"/>
            <a:ext cx="4391025" cy="2657475"/>
          </a:xfrm>
          <a:prstGeom prst="rect">
            <a:avLst/>
          </a:prstGeom>
        </p:spPr>
      </p:pic>
      <p:pic>
        <p:nvPicPr>
          <p:cNvPr id="11" name="object 11"/>
          <p:cNvPicPr/>
          <p:nvPr/>
        </p:nvPicPr>
        <p:blipFill>
          <a:blip r:embed="rId3" cstate="print"/>
          <a:stretch>
            <a:fillRect/>
          </a:stretch>
        </p:blipFill>
        <p:spPr>
          <a:xfrm>
            <a:off x="4371975" y="3955224"/>
            <a:ext cx="4011251" cy="2800350"/>
          </a:xfrm>
          <a:prstGeom prst="rect">
            <a:avLst/>
          </a:prstGeom>
        </p:spPr>
      </p:pic>
      <p:sp>
        <p:nvSpPr>
          <p:cNvPr id="12" name="Título 11"/>
          <p:cNvSpPr>
            <a:spLocks noGrp="1"/>
          </p:cNvSpPr>
          <p:nvPr>
            <p:ph type="title"/>
          </p:nvPr>
        </p:nvSpPr>
        <p:spPr>
          <a:xfrm>
            <a:off x="346963" y="314959"/>
            <a:ext cx="9999472" cy="553998"/>
          </a:xfrm>
        </p:spPr>
        <p:txBody>
          <a:bodyPr/>
          <a:lstStyle/>
          <a:p>
            <a:r>
              <a:rPr lang="es-ES" sz="3600" b="1" dirty="0" smtClean="0">
                <a:solidFill>
                  <a:schemeClr val="tx2"/>
                </a:solidFill>
              </a:rPr>
              <a:t>Problema de regresión</a:t>
            </a:r>
            <a:endParaRPr lang="es-ES" sz="3600" b="1" dirty="0">
              <a:solidFill>
                <a:schemeClr val="tx2"/>
              </a:solidFill>
            </a:endParaRPr>
          </a:p>
        </p:txBody>
      </p:sp>
    </p:spTree>
    <p:extLst>
      <p:ext uri="{BB962C8B-B14F-4D97-AF65-F5344CB8AC3E}">
        <p14:creationId xmlns:p14="http://schemas.microsoft.com/office/powerpoint/2010/main" val="704585717"/>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63" y="325628"/>
            <a:ext cx="4694937" cy="381515"/>
          </a:xfrm>
          <a:prstGeom prst="rect">
            <a:avLst/>
          </a:prstGeom>
        </p:spPr>
        <p:txBody>
          <a:bodyPr vert="horz" wrap="square" lIns="0" tIns="12065" rIns="0" bIns="0" rtlCol="0">
            <a:spAutoFit/>
          </a:bodyPr>
          <a:lstStyle/>
          <a:p>
            <a:pPr marL="12700">
              <a:lnSpc>
                <a:spcPct val="100000"/>
              </a:lnSpc>
              <a:spcBef>
                <a:spcPts val="95"/>
              </a:spcBef>
            </a:pPr>
            <a:r>
              <a:rPr lang="es-ES" b="1" spc="-5" dirty="0" smtClean="0">
                <a:solidFill>
                  <a:schemeClr val="tx2"/>
                </a:solidFill>
                <a:latin typeface="+mj-lt"/>
              </a:rPr>
              <a:t>Red neuronal para regresión</a:t>
            </a:r>
            <a:endParaRPr b="1" dirty="0">
              <a:solidFill>
                <a:schemeClr val="tx2"/>
              </a:solidFill>
              <a:latin typeface="+mj-lt"/>
            </a:endParaRPr>
          </a:p>
        </p:txBody>
      </p:sp>
      <p:sp>
        <p:nvSpPr>
          <p:cNvPr id="3" name="object 3"/>
          <p:cNvSpPr txBox="1"/>
          <p:nvPr/>
        </p:nvSpPr>
        <p:spPr>
          <a:xfrm>
            <a:off x="321563" y="747004"/>
            <a:ext cx="10371837" cy="1317027"/>
          </a:xfrm>
          <a:prstGeom prst="rect">
            <a:avLst/>
          </a:prstGeom>
        </p:spPr>
        <p:txBody>
          <a:bodyPr vert="horz" wrap="square" lIns="0" tIns="34290" rIns="0" bIns="0" rtlCol="0">
            <a:spAutoFit/>
          </a:bodyPr>
          <a:lstStyle/>
          <a:p>
            <a:pPr marL="12700" marR="123189" algn="just">
              <a:lnSpc>
                <a:spcPts val="2530"/>
              </a:lnSpc>
              <a:spcBef>
                <a:spcPts val="270"/>
              </a:spcBef>
            </a:pPr>
            <a:r>
              <a:rPr sz="2000" b="1" dirty="0">
                <a:latin typeface="Times New Roman"/>
                <a:cs typeface="Times New Roman"/>
              </a:rPr>
              <a:t>(1)</a:t>
            </a:r>
            <a:r>
              <a:rPr sz="2000" b="1" spc="10" dirty="0">
                <a:latin typeface="Times New Roman"/>
                <a:cs typeface="Times New Roman"/>
              </a:rPr>
              <a:t> </a:t>
            </a:r>
            <a:r>
              <a:rPr sz="2000" spc="-5" dirty="0">
                <a:latin typeface="Times New Roman"/>
                <a:cs typeface="Times New Roman"/>
              </a:rPr>
              <a:t>Proceso</a:t>
            </a:r>
            <a:r>
              <a:rPr sz="2000" spc="15" dirty="0">
                <a:latin typeface="Times New Roman"/>
                <a:cs typeface="Times New Roman"/>
              </a:rPr>
              <a:t> </a:t>
            </a:r>
            <a:r>
              <a:rPr sz="2000" spc="-5" dirty="0">
                <a:latin typeface="Times New Roman"/>
                <a:cs typeface="Times New Roman"/>
              </a:rPr>
              <a:t>de</a:t>
            </a:r>
            <a:r>
              <a:rPr sz="2000" spc="5" dirty="0">
                <a:latin typeface="Times New Roman"/>
                <a:cs typeface="Times New Roman"/>
              </a:rPr>
              <a:t> </a:t>
            </a:r>
            <a:r>
              <a:rPr sz="2000" spc="-5" dirty="0">
                <a:latin typeface="Times New Roman"/>
                <a:cs typeface="Times New Roman"/>
              </a:rPr>
              <a:t>optimización-estimación</a:t>
            </a:r>
            <a:r>
              <a:rPr sz="2000" spc="20" dirty="0">
                <a:latin typeface="Times New Roman"/>
                <a:cs typeface="Times New Roman"/>
              </a:rPr>
              <a:t> </a:t>
            </a:r>
            <a:r>
              <a:rPr sz="2000" dirty="0">
                <a:latin typeface="Times New Roman"/>
                <a:cs typeface="Times New Roman"/>
              </a:rPr>
              <a:t>de</a:t>
            </a:r>
            <a:r>
              <a:rPr sz="2000" spc="5" dirty="0">
                <a:latin typeface="Times New Roman"/>
                <a:cs typeface="Times New Roman"/>
              </a:rPr>
              <a:t> </a:t>
            </a:r>
            <a:r>
              <a:rPr sz="2000" spc="-5" dirty="0">
                <a:latin typeface="Times New Roman"/>
                <a:cs typeface="Times New Roman"/>
              </a:rPr>
              <a:t>los</a:t>
            </a:r>
            <a:r>
              <a:rPr sz="2000" spc="5" dirty="0">
                <a:latin typeface="Times New Roman"/>
                <a:cs typeface="Times New Roman"/>
              </a:rPr>
              <a:t> </a:t>
            </a:r>
            <a:r>
              <a:rPr sz="2000" spc="-5" dirty="0">
                <a:latin typeface="Times New Roman"/>
                <a:cs typeface="Times New Roman"/>
              </a:rPr>
              <a:t>pesos.</a:t>
            </a:r>
            <a:r>
              <a:rPr sz="2000" spc="10" dirty="0">
                <a:latin typeface="Times New Roman"/>
                <a:cs typeface="Times New Roman"/>
              </a:rPr>
              <a:t> </a:t>
            </a:r>
            <a:r>
              <a:rPr sz="2000" spc="-5" dirty="0">
                <a:latin typeface="Times New Roman"/>
                <a:cs typeface="Times New Roman"/>
              </a:rPr>
              <a:t>Se</a:t>
            </a:r>
            <a:r>
              <a:rPr sz="2000" spc="5" dirty="0">
                <a:latin typeface="Times New Roman"/>
                <a:cs typeface="Times New Roman"/>
              </a:rPr>
              <a:t> </a:t>
            </a:r>
            <a:r>
              <a:rPr sz="2000" spc="-5" dirty="0" err="1">
                <a:latin typeface="Times New Roman"/>
                <a:cs typeface="Times New Roman"/>
              </a:rPr>
              <a:t>observa</a:t>
            </a:r>
            <a:r>
              <a:rPr sz="2000" spc="5" dirty="0">
                <a:latin typeface="Times New Roman"/>
                <a:cs typeface="Times New Roman"/>
              </a:rPr>
              <a:t> </a:t>
            </a:r>
            <a:r>
              <a:rPr sz="2000" spc="-10" dirty="0" smtClean="0">
                <a:latin typeface="Times New Roman"/>
                <a:cs typeface="Times New Roman"/>
              </a:rPr>
              <a:t>c</a:t>
            </a:r>
            <a:r>
              <a:rPr lang="es-ES" sz="2000" spc="-10" smtClean="0">
                <a:latin typeface="Times New Roman"/>
                <a:cs typeface="Times New Roman"/>
              </a:rPr>
              <a:t>ó</a:t>
            </a:r>
            <a:r>
              <a:rPr sz="2000" spc="-10" smtClean="0">
                <a:latin typeface="Times New Roman"/>
                <a:cs typeface="Times New Roman"/>
              </a:rPr>
              <a:t>mo</a:t>
            </a:r>
            <a:r>
              <a:rPr sz="2000" spc="20" smtClean="0">
                <a:latin typeface="Times New Roman"/>
                <a:cs typeface="Times New Roman"/>
              </a:rPr>
              <a:t> </a:t>
            </a:r>
            <a:r>
              <a:rPr sz="2000" spc="-5" dirty="0">
                <a:latin typeface="Times New Roman"/>
                <a:cs typeface="Times New Roman"/>
              </a:rPr>
              <a:t>va</a:t>
            </a:r>
            <a:r>
              <a:rPr sz="2000" spc="5" dirty="0">
                <a:latin typeface="Times New Roman"/>
                <a:cs typeface="Times New Roman"/>
              </a:rPr>
              <a:t> </a:t>
            </a:r>
            <a:r>
              <a:rPr sz="2000" spc="-5" dirty="0">
                <a:latin typeface="Times New Roman"/>
                <a:cs typeface="Times New Roman"/>
              </a:rPr>
              <a:t>descendiendo </a:t>
            </a:r>
            <a:r>
              <a:rPr sz="2000" spc="-535" dirty="0">
                <a:latin typeface="Times New Roman"/>
                <a:cs typeface="Times New Roman"/>
              </a:rPr>
              <a:t> </a:t>
            </a:r>
            <a:r>
              <a:rPr sz="2000" spc="-5" dirty="0">
                <a:latin typeface="Times New Roman"/>
                <a:cs typeface="Times New Roman"/>
              </a:rPr>
              <a:t>el valor</a:t>
            </a:r>
            <a:r>
              <a:rPr sz="2000" spc="10" dirty="0">
                <a:latin typeface="Times New Roman"/>
                <a:cs typeface="Times New Roman"/>
              </a:rPr>
              <a:t> </a:t>
            </a:r>
            <a:r>
              <a:rPr sz="2000" spc="-5" dirty="0">
                <a:latin typeface="Times New Roman"/>
                <a:cs typeface="Times New Roman"/>
              </a:rPr>
              <a:t>de</a:t>
            </a:r>
            <a:r>
              <a:rPr sz="2000" dirty="0">
                <a:latin typeface="Times New Roman"/>
                <a:cs typeface="Times New Roman"/>
              </a:rPr>
              <a:t> </a:t>
            </a:r>
            <a:r>
              <a:rPr sz="2000" spc="-5" dirty="0">
                <a:latin typeface="Times New Roman"/>
                <a:cs typeface="Times New Roman"/>
              </a:rPr>
              <a:t>la</a:t>
            </a:r>
            <a:r>
              <a:rPr sz="2000" dirty="0">
                <a:latin typeface="Times New Roman"/>
                <a:cs typeface="Times New Roman"/>
              </a:rPr>
              <a:t> </a:t>
            </a:r>
            <a:r>
              <a:rPr sz="2000" spc="-5" dirty="0">
                <a:latin typeface="Times New Roman"/>
                <a:cs typeface="Times New Roman"/>
              </a:rPr>
              <a:t>función</a:t>
            </a:r>
            <a:r>
              <a:rPr sz="2000" spc="10" dirty="0">
                <a:latin typeface="Times New Roman"/>
                <a:cs typeface="Times New Roman"/>
              </a:rPr>
              <a:t> </a:t>
            </a:r>
            <a:r>
              <a:rPr sz="2000" spc="-5" dirty="0">
                <a:latin typeface="Times New Roman"/>
                <a:cs typeface="Times New Roman"/>
              </a:rPr>
              <a:t>objetivo</a:t>
            </a:r>
            <a:r>
              <a:rPr sz="2000" spc="10" dirty="0">
                <a:latin typeface="Times New Roman"/>
                <a:cs typeface="Times New Roman"/>
              </a:rPr>
              <a:t> </a:t>
            </a:r>
            <a:r>
              <a:rPr sz="2000" spc="-5" dirty="0">
                <a:latin typeface="Times New Roman"/>
                <a:cs typeface="Times New Roman"/>
              </a:rPr>
              <a:t>a</a:t>
            </a:r>
            <a:r>
              <a:rPr sz="2000" dirty="0">
                <a:latin typeface="Times New Roman"/>
                <a:cs typeface="Times New Roman"/>
              </a:rPr>
              <a:t> </a:t>
            </a:r>
            <a:r>
              <a:rPr sz="2000" spc="-5" dirty="0">
                <a:latin typeface="Times New Roman"/>
                <a:cs typeface="Times New Roman"/>
              </a:rPr>
              <a:t>medida</a:t>
            </a:r>
            <a:r>
              <a:rPr sz="2000" spc="10" dirty="0">
                <a:latin typeface="Times New Roman"/>
                <a:cs typeface="Times New Roman"/>
              </a:rPr>
              <a:t> </a:t>
            </a:r>
            <a:r>
              <a:rPr sz="2000" spc="-5" dirty="0">
                <a:latin typeface="Times New Roman"/>
                <a:cs typeface="Times New Roman"/>
              </a:rPr>
              <a:t>que</a:t>
            </a:r>
            <a:r>
              <a:rPr sz="2000" dirty="0">
                <a:latin typeface="Times New Roman"/>
                <a:cs typeface="Times New Roman"/>
              </a:rPr>
              <a:t> </a:t>
            </a:r>
            <a:r>
              <a:rPr sz="2000" spc="-5" dirty="0">
                <a:latin typeface="Times New Roman"/>
                <a:cs typeface="Times New Roman"/>
              </a:rPr>
              <a:t>los</a:t>
            </a:r>
            <a:r>
              <a:rPr sz="2000" dirty="0">
                <a:latin typeface="Times New Roman"/>
                <a:cs typeface="Times New Roman"/>
              </a:rPr>
              <a:t> </a:t>
            </a:r>
            <a:r>
              <a:rPr sz="2000" spc="-5" dirty="0">
                <a:latin typeface="Times New Roman"/>
                <a:cs typeface="Times New Roman"/>
              </a:rPr>
              <a:t>pesos</a:t>
            </a:r>
            <a:r>
              <a:rPr sz="2000" dirty="0">
                <a:latin typeface="Times New Roman"/>
                <a:cs typeface="Times New Roman"/>
              </a:rPr>
              <a:t> </a:t>
            </a:r>
            <a:r>
              <a:rPr sz="2000" spc="-5" dirty="0">
                <a:latin typeface="Times New Roman"/>
                <a:cs typeface="Times New Roman"/>
              </a:rPr>
              <a:t>se</a:t>
            </a:r>
            <a:r>
              <a:rPr sz="2000" dirty="0">
                <a:latin typeface="Times New Roman"/>
                <a:cs typeface="Times New Roman"/>
              </a:rPr>
              <a:t> </a:t>
            </a:r>
            <a:r>
              <a:rPr sz="2000" spc="-5" dirty="0">
                <a:latin typeface="Times New Roman"/>
                <a:cs typeface="Times New Roman"/>
              </a:rPr>
              <a:t>estiman</a:t>
            </a:r>
            <a:r>
              <a:rPr sz="2000" spc="15" dirty="0">
                <a:latin typeface="Times New Roman"/>
                <a:cs typeface="Times New Roman"/>
              </a:rPr>
              <a:t> </a:t>
            </a:r>
            <a:r>
              <a:rPr sz="2000" spc="-5" dirty="0">
                <a:latin typeface="Times New Roman"/>
                <a:cs typeface="Times New Roman"/>
              </a:rPr>
              <a:t>mejor</a:t>
            </a:r>
            <a:r>
              <a:rPr sz="2000" dirty="0">
                <a:latin typeface="Times New Roman"/>
                <a:cs typeface="Times New Roman"/>
              </a:rPr>
              <a:t> </a:t>
            </a:r>
            <a:r>
              <a:rPr sz="2000" spc="-5" dirty="0">
                <a:latin typeface="Times New Roman"/>
                <a:cs typeface="Times New Roman"/>
              </a:rPr>
              <a:t>según</a:t>
            </a:r>
            <a:r>
              <a:rPr sz="2000" spc="10" dirty="0">
                <a:latin typeface="Times New Roman"/>
                <a:cs typeface="Times New Roman"/>
              </a:rPr>
              <a:t> </a:t>
            </a:r>
            <a:r>
              <a:rPr sz="2000" spc="-5" dirty="0">
                <a:latin typeface="Times New Roman"/>
                <a:cs typeface="Times New Roman"/>
              </a:rPr>
              <a:t>avanzan </a:t>
            </a:r>
            <a:r>
              <a:rPr sz="2000" dirty="0">
                <a:latin typeface="Times New Roman"/>
                <a:cs typeface="Times New Roman"/>
              </a:rPr>
              <a:t> </a:t>
            </a:r>
            <a:r>
              <a:rPr sz="2000" spc="-5" dirty="0">
                <a:latin typeface="Times New Roman"/>
                <a:cs typeface="Times New Roman"/>
              </a:rPr>
              <a:t>las</a:t>
            </a:r>
            <a:r>
              <a:rPr sz="2000" spc="-10" dirty="0">
                <a:latin typeface="Times New Roman"/>
                <a:cs typeface="Times New Roman"/>
              </a:rPr>
              <a:t> </a:t>
            </a:r>
            <a:r>
              <a:rPr sz="2000" spc="-5" dirty="0">
                <a:latin typeface="Times New Roman"/>
                <a:cs typeface="Times New Roman"/>
              </a:rPr>
              <a:t>iteraciones.</a:t>
            </a:r>
            <a:endParaRPr sz="2000" dirty="0">
              <a:latin typeface="Times New Roman"/>
              <a:cs typeface="Times New Roman"/>
            </a:endParaRPr>
          </a:p>
          <a:p>
            <a:pPr marL="12700" algn="just">
              <a:lnSpc>
                <a:spcPts val="2405"/>
              </a:lnSpc>
            </a:pPr>
            <a:r>
              <a:rPr sz="2000" b="1" spc="-10" dirty="0">
                <a:latin typeface="Times New Roman"/>
                <a:cs typeface="Times New Roman"/>
              </a:rPr>
              <a:t>Cuando</a:t>
            </a:r>
            <a:r>
              <a:rPr sz="2000" b="1" spc="20" dirty="0">
                <a:latin typeface="Times New Roman"/>
                <a:cs typeface="Times New Roman"/>
              </a:rPr>
              <a:t> </a:t>
            </a:r>
            <a:r>
              <a:rPr sz="2000" b="1" spc="-5" dirty="0">
                <a:latin typeface="Times New Roman"/>
                <a:cs typeface="Times New Roman"/>
              </a:rPr>
              <a:t>el</a:t>
            </a:r>
            <a:r>
              <a:rPr sz="2000" b="1" spc="10" dirty="0">
                <a:latin typeface="Times New Roman"/>
                <a:cs typeface="Times New Roman"/>
              </a:rPr>
              <a:t> </a:t>
            </a:r>
            <a:r>
              <a:rPr sz="2000" b="1" spc="-5" dirty="0">
                <a:latin typeface="Times New Roman"/>
                <a:cs typeface="Times New Roman"/>
              </a:rPr>
              <a:t>output</a:t>
            </a:r>
            <a:r>
              <a:rPr sz="2000" b="1" spc="5" dirty="0">
                <a:latin typeface="Times New Roman"/>
                <a:cs typeface="Times New Roman"/>
              </a:rPr>
              <a:t> </a:t>
            </a:r>
            <a:r>
              <a:rPr sz="2000" b="1" spc="-5" dirty="0">
                <a:latin typeface="Times New Roman"/>
                <a:cs typeface="Times New Roman"/>
              </a:rPr>
              <a:t>es</a:t>
            </a:r>
            <a:r>
              <a:rPr sz="2000" b="1" spc="5" dirty="0">
                <a:latin typeface="Times New Roman"/>
                <a:cs typeface="Times New Roman"/>
              </a:rPr>
              <a:t> </a:t>
            </a:r>
            <a:r>
              <a:rPr sz="2000" b="1" spc="-10" dirty="0">
                <a:latin typeface="Times New Roman"/>
                <a:cs typeface="Times New Roman"/>
              </a:rPr>
              <a:t>una</a:t>
            </a:r>
            <a:r>
              <a:rPr sz="2000" b="1" spc="15" dirty="0">
                <a:latin typeface="Times New Roman"/>
                <a:cs typeface="Times New Roman"/>
              </a:rPr>
              <a:t> </a:t>
            </a:r>
            <a:r>
              <a:rPr sz="2000" b="1" spc="-5" dirty="0">
                <a:latin typeface="Times New Roman"/>
                <a:cs typeface="Times New Roman"/>
              </a:rPr>
              <a:t>variable</a:t>
            </a:r>
            <a:r>
              <a:rPr sz="2000" b="1" dirty="0">
                <a:latin typeface="Times New Roman"/>
                <a:cs typeface="Times New Roman"/>
              </a:rPr>
              <a:t> continua</a:t>
            </a:r>
            <a:r>
              <a:rPr sz="2000" dirty="0">
                <a:latin typeface="Times New Roman"/>
                <a:cs typeface="Times New Roman"/>
              </a:rPr>
              <a:t>,</a:t>
            </a:r>
            <a:r>
              <a:rPr sz="2000" spc="5" dirty="0">
                <a:latin typeface="Times New Roman"/>
                <a:cs typeface="Times New Roman"/>
              </a:rPr>
              <a:t> </a:t>
            </a:r>
            <a:r>
              <a:rPr sz="2000" spc="-5" dirty="0">
                <a:latin typeface="Times New Roman"/>
                <a:cs typeface="Times New Roman"/>
              </a:rPr>
              <a:t>la</a:t>
            </a:r>
            <a:r>
              <a:rPr sz="2000" dirty="0">
                <a:latin typeface="Times New Roman"/>
                <a:cs typeface="Times New Roman"/>
              </a:rPr>
              <a:t> </a:t>
            </a:r>
            <a:r>
              <a:rPr sz="2000" spc="-5" dirty="0">
                <a:latin typeface="Times New Roman"/>
                <a:cs typeface="Times New Roman"/>
              </a:rPr>
              <a:t>función</a:t>
            </a:r>
            <a:r>
              <a:rPr sz="2000" spc="15" dirty="0">
                <a:latin typeface="Times New Roman"/>
                <a:cs typeface="Times New Roman"/>
              </a:rPr>
              <a:t> </a:t>
            </a:r>
            <a:r>
              <a:rPr sz="2000" spc="-5" dirty="0">
                <a:latin typeface="Times New Roman"/>
                <a:cs typeface="Times New Roman"/>
              </a:rPr>
              <a:t>de</a:t>
            </a:r>
            <a:r>
              <a:rPr sz="2000" spc="5" dirty="0">
                <a:latin typeface="Times New Roman"/>
                <a:cs typeface="Times New Roman"/>
              </a:rPr>
              <a:t> </a:t>
            </a:r>
            <a:r>
              <a:rPr sz="2000" spc="-5" dirty="0">
                <a:latin typeface="Times New Roman"/>
                <a:cs typeface="Times New Roman"/>
              </a:rPr>
              <a:t>error</a:t>
            </a:r>
            <a:r>
              <a:rPr sz="2000" spc="20" dirty="0">
                <a:latin typeface="Times New Roman"/>
                <a:cs typeface="Times New Roman"/>
              </a:rPr>
              <a:t> </a:t>
            </a:r>
            <a:r>
              <a:rPr sz="2000" spc="-5" dirty="0">
                <a:latin typeface="Times New Roman"/>
                <a:cs typeface="Times New Roman"/>
              </a:rPr>
              <a:t>habitual</a:t>
            </a:r>
            <a:r>
              <a:rPr sz="2000" spc="15" dirty="0">
                <a:latin typeface="Times New Roman"/>
                <a:cs typeface="Times New Roman"/>
              </a:rPr>
              <a:t> </a:t>
            </a:r>
            <a:r>
              <a:rPr sz="2000" spc="-5" dirty="0">
                <a:latin typeface="Times New Roman"/>
                <a:cs typeface="Times New Roman"/>
              </a:rPr>
              <a:t>a</a:t>
            </a:r>
            <a:r>
              <a:rPr sz="2000" spc="10" dirty="0">
                <a:latin typeface="Times New Roman"/>
                <a:cs typeface="Times New Roman"/>
              </a:rPr>
              <a:t> </a:t>
            </a:r>
            <a:r>
              <a:rPr sz="2000" spc="-10" dirty="0">
                <a:latin typeface="Times New Roman"/>
                <a:cs typeface="Times New Roman"/>
              </a:rPr>
              <a:t>minimizar</a:t>
            </a:r>
            <a:r>
              <a:rPr sz="2000" spc="20" dirty="0">
                <a:latin typeface="Times New Roman"/>
                <a:cs typeface="Times New Roman"/>
              </a:rPr>
              <a:t> </a:t>
            </a:r>
            <a:r>
              <a:rPr sz="2000" spc="-5" dirty="0">
                <a:latin typeface="Times New Roman"/>
                <a:cs typeface="Times New Roman"/>
              </a:rPr>
              <a:t>es</a:t>
            </a:r>
            <a:endParaRPr sz="2000" dirty="0">
              <a:latin typeface="Times New Roman"/>
              <a:cs typeface="Times New Roman"/>
            </a:endParaRPr>
          </a:p>
          <a:p>
            <a:pPr marL="12700" algn="just">
              <a:lnSpc>
                <a:spcPts val="2590"/>
              </a:lnSpc>
            </a:pPr>
            <a:r>
              <a:rPr sz="2000" spc="-5" dirty="0">
                <a:latin typeface="Times New Roman"/>
                <a:cs typeface="Times New Roman"/>
              </a:rPr>
              <a:t>el</a:t>
            </a:r>
            <a:r>
              <a:rPr sz="2000" spc="-10" dirty="0">
                <a:latin typeface="Times New Roman"/>
                <a:cs typeface="Times New Roman"/>
              </a:rPr>
              <a:t> Mean</a:t>
            </a:r>
            <a:r>
              <a:rPr sz="2000" dirty="0">
                <a:latin typeface="Times New Roman"/>
                <a:cs typeface="Times New Roman"/>
              </a:rPr>
              <a:t> </a:t>
            </a:r>
            <a:r>
              <a:rPr sz="2000" spc="-5" dirty="0">
                <a:latin typeface="Times New Roman"/>
                <a:cs typeface="Times New Roman"/>
              </a:rPr>
              <a:t>Squared</a:t>
            </a:r>
            <a:r>
              <a:rPr sz="2000" spc="-10" dirty="0">
                <a:latin typeface="Times New Roman"/>
                <a:cs typeface="Times New Roman"/>
              </a:rPr>
              <a:t> </a:t>
            </a:r>
            <a:r>
              <a:rPr sz="2000" spc="-5" dirty="0">
                <a:latin typeface="Times New Roman"/>
                <a:cs typeface="Times New Roman"/>
              </a:rPr>
              <a:t>Error</a:t>
            </a:r>
            <a:endParaRPr sz="2000" dirty="0">
              <a:latin typeface="Times New Roman"/>
              <a:cs typeface="Times New Roman"/>
            </a:endParaRPr>
          </a:p>
        </p:txBody>
      </p:sp>
      <mc:AlternateContent xmlns:mc="http://schemas.openxmlformats.org/markup-compatibility/2006" xmlns:a14="http://schemas.microsoft.com/office/drawing/2010/main">
        <mc:Choice Requires="a14">
          <p:sp>
            <p:nvSpPr>
              <p:cNvPr id="10" name="object 10"/>
              <p:cNvSpPr txBox="1"/>
              <p:nvPr/>
            </p:nvSpPr>
            <p:spPr>
              <a:xfrm>
                <a:off x="465154" y="6263585"/>
                <a:ext cx="9103360" cy="904735"/>
              </a:xfrm>
              <a:prstGeom prst="rect">
                <a:avLst/>
              </a:prstGeom>
            </p:spPr>
            <p:txBody>
              <a:bodyPr vert="horz" wrap="square" lIns="0" tIns="146685" rIns="0" bIns="0" rtlCol="0">
                <a:spAutoFit/>
              </a:bodyPr>
              <a:lstStyle/>
              <a:p>
                <a:pPr marL="38100">
                  <a:lnSpc>
                    <a:spcPct val="100000"/>
                  </a:lnSpc>
                  <a:spcBef>
                    <a:spcPts val="1155"/>
                  </a:spcBef>
                </a:pPr>
                <a:r>
                  <a:rPr lang="es-ES" sz="2000" spc="-5" dirty="0" smtClean="0">
                    <a:solidFill>
                      <a:schemeClr val="tx1"/>
                    </a:solidFill>
                    <a:latin typeface="Times New Roman"/>
                    <a:cs typeface="Times New Roman"/>
                  </a:rPr>
                  <a:t>La</a:t>
                </a:r>
                <a:r>
                  <a:rPr lang="es-ES" sz="2000" dirty="0" smtClean="0">
                    <a:solidFill>
                      <a:schemeClr val="tx1"/>
                    </a:solidFill>
                    <a:latin typeface="Times New Roman"/>
                    <a:cs typeface="Times New Roman"/>
                  </a:rPr>
                  <a:t> </a:t>
                </a:r>
                <a:r>
                  <a:rPr lang="es-ES" sz="2000" i="1" spc="-5" dirty="0" err="1">
                    <a:solidFill>
                      <a:schemeClr val="tx1"/>
                    </a:solidFill>
                    <a:latin typeface="Times New Roman"/>
                    <a:cs typeface="Times New Roman"/>
                  </a:rPr>
                  <a:t>i</a:t>
                </a:r>
                <a:r>
                  <a:rPr lang="es-ES" sz="2000" spc="5" dirty="0">
                    <a:solidFill>
                      <a:schemeClr val="tx1"/>
                    </a:solidFill>
                    <a:latin typeface="Times New Roman"/>
                    <a:cs typeface="Times New Roman"/>
                  </a:rPr>
                  <a:t> </a:t>
                </a:r>
                <a:r>
                  <a:rPr lang="es-ES" sz="2000" spc="-5" dirty="0" smtClean="0">
                    <a:solidFill>
                      <a:schemeClr val="tx1"/>
                    </a:solidFill>
                    <a:latin typeface="Times New Roman"/>
                    <a:cs typeface="Times New Roman"/>
                  </a:rPr>
                  <a:t>se</a:t>
                </a:r>
                <a:r>
                  <a:rPr lang="es-ES" sz="2000" spc="5" dirty="0" smtClean="0">
                    <a:solidFill>
                      <a:schemeClr val="tx1"/>
                    </a:solidFill>
                    <a:latin typeface="Times New Roman"/>
                    <a:cs typeface="Times New Roman"/>
                  </a:rPr>
                  <a:t> </a:t>
                </a:r>
                <a:r>
                  <a:rPr lang="es-ES" sz="2000" spc="-5" dirty="0">
                    <a:solidFill>
                      <a:schemeClr val="tx1"/>
                    </a:solidFill>
                    <a:latin typeface="Times New Roman"/>
                    <a:cs typeface="Times New Roman"/>
                  </a:rPr>
                  <a:t>refiere</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a</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cada</a:t>
                </a:r>
                <a:r>
                  <a:rPr lang="es-ES" sz="2000" spc="15" dirty="0">
                    <a:solidFill>
                      <a:schemeClr val="tx1"/>
                    </a:solidFill>
                    <a:latin typeface="Times New Roman"/>
                    <a:cs typeface="Times New Roman"/>
                  </a:rPr>
                  <a:t> </a:t>
                </a:r>
                <a:r>
                  <a:rPr lang="es-ES" sz="2000" spc="-5" dirty="0">
                    <a:solidFill>
                      <a:schemeClr val="tx1"/>
                    </a:solidFill>
                    <a:latin typeface="Times New Roman"/>
                    <a:cs typeface="Times New Roman"/>
                  </a:rPr>
                  <a:t>observación,</a:t>
                </a:r>
                <a:r>
                  <a:rPr lang="es-ES" sz="2000" dirty="0">
                    <a:solidFill>
                      <a:schemeClr val="tx1"/>
                    </a:solidFill>
                    <a:latin typeface="Times New Roman"/>
                    <a:cs typeface="Times New Roman"/>
                  </a:rPr>
                  <a:t> </a:t>
                </a:r>
                <a:r>
                  <a:rPr lang="es-ES" sz="2000" spc="-10" dirty="0">
                    <a:solidFill>
                      <a:schemeClr val="tx1"/>
                    </a:solidFill>
                    <a:latin typeface="Times New Roman"/>
                    <a:cs typeface="Times New Roman"/>
                  </a:rPr>
                  <a:t>con</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sus</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valores</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de</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age</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y</a:t>
                </a:r>
                <a:r>
                  <a:rPr lang="es-ES" sz="2000" spc="15" dirty="0">
                    <a:solidFill>
                      <a:schemeClr val="tx1"/>
                    </a:solidFill>
                    <a:latin typeface="Times New Roman"/>
                    <a:cs typeface="Times New Roman"/>
                  </a:rPr>
                  <a:t> </a:t>
                </a:r>
                <a:r>
                  <a:rPr lang="es-ES" sz="2000" spc="-10" dirty="0">
                    <a:solidFill>
                      <a:schemeClr val="tx1"/>
                    </a:solidFill>
                    <a:latin typeface="Times New Roman"/>
                    <a:cs typeface="Times New Roman"/>
                  </a:rPr>
                  <a:t>water.</a:t>
                </a:r>
                <a:endParaRPr lang="es-ES" sz="2000" dirty="0">
                  <a:solidFill>
                    <a:schemeClr val="tx1"/>
                  </a:solidFill>
                  <a:latin typeface="Times New Roman"/>
                  <a:cs typeface="Times New Roman"/>
                </a:endParaRPr>
              </a:p>
              <a:p>
                <a:pPr marL="38100">
                  <a:lnSpc>
                    <a:spcPct val="100000"/>
                  </a:lnSpc>
                  <a:spcBef>
                    <a:spcPts val="1055"/>
                  </a:spcBef>
                </a:pPr>
                <a:r>
                  <a:rPr lang="es-ES" sz="2000" spc="-5" dirty="0">
                    <a:solidFill>
                      <a:schemeClr val="tx1"/>
                    </a:solidFill>
                    <a:latin typeface="Times New Roman"/>
                    <a:cs typeface="Times New Roman"/>
                  </a:rPr>
                  <a:t>En</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el</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ejemplo,</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cstrength</a:t>
                </a:r>
                <a:r>
                  <a:rPr lang="es-ES" sz="2000" spc="10" dirty="0">
                    <a:solidFill>
                      <a:schemeClr val="tx1"/>
                    </a:solidFill>
                    <a:latin typeface="Times New Roman"/>
                    <a:cs typeface="Times New Roman"/>
                  </a:rPr>
                  <a:t> </a:t>
                </a:r>
                <a:r>
                  <a:rPr lang="es-ES" sz="2000" spc="-5" dirty="0" err="1">
                    <a:solidFill>
                      <a:schemeClr val="tx1"/>
                    </a:solidFill>
                    <a:latin typeface="Times New Roman"/>
                    <a:cs typeface="Times New Roman"/>
                  </a:rPr>
                  <a:t>es</a:t>
                </a:r>
                <a:r>
                  <a:rPr lang="es-ES" sz="2000" dirty="0">
                    <a:solidFill>
                      <a:schemeClr val="tx1"/>
                    </a:solidFill>
                    <a:latin typeface="Times New Roman"/>
                    <a:cs typeface="Times New Roman"/>
                  </a:rPr>
                  <a:t> </a:t>
                </a:r>
                <a:r>
                  <a:rPr lang="es-ES" sz="2000" i="1" spc="5" dirty="0">
                    <a:solidFill>
                      <a:schemeClr val="tx1"/>
                    </a:solidFill>
                    <a:latin typeface="Times New Roman"/>
                    <a:cs typeface="Times New Roman"/>
                  </a:rPr>
                  <a:t>Y</a:t>
                </a:r>
                <a:r>
                  <a:rPr lang="es-ES" sz="2000" spc="5" dirty="0" smtClean="0">
                    <a:solidFill>
                      <a:schemeClr val="tx1"/>
                    </a:solidFill>
                    <a:latin typeface="Times New Roman"/>
                    <a:cs typeface="Times New Roman"/>
                  </a:rPr>
                  <a:t>,</a:t>
                </a:r>
                <a:r>
                  <a:rPr lang="es-ES" sz="2000" spc="-5" dirty="0" smtClean="0">
                    <a:solidFill>
                      <a:schemeClr val="tx1"/>
                    </a:solidFill>
                    <a:latin typeface="Times New Roman"/>
                    <a:cs typeface="Times New Roman"/>
                  </a:rPr>
                  <a:t> </a:t>
                </a:r>
                <a:r>
                  <a:rPr lang="es-ES" sz="2000" spc="-5" dirty="0">
                    <a:solidFill>
                      <a:schemeClr val="tx1"/>
                    </a:solidFill>
                    <a:latin typeface="Times New Roman"/>
                    <a:cs typeface="Times New Roman"/>
                  </a:rPr>
                  <a:t>predi</a:t>
                </a:r>
                <a:r>
                  <a:rPr lang="es-ES" sz="2000" spc="15" dirty="0">
                    <a:solidFill>
                      <a:schemeClr val="tx1"/>
                    </a:solidFill>
                    <a:latin typeface="Times New Roman"/>
                    <a:cs typeface="Times New Roman"/>
                  </a:rPr>
                  <a:t> </a:t>
                </a:r>
                <a:r>
                  <a:rPr lang="es-ES" sz="2000" spc="-5" dirty="0" err="1">
                    <a:solidFill>
                      <a:schemeClr val="tx1"/>
                    </a:solidFill>
                    <a:latin typeface="Times New Roman"/>
                    <a:cs typeface="Times New Roman"/>
                  </a:rPr>
                  <a:t>es</a:t>
                </a:r>
                <a:r>
                  <a:rPr lang="es-ES" sz="2000" spc="10" dirty="0">
                    <a:solidFill>
                      <a:schemeClr val="tx1"/>
                    </a:solidFill>
                    <a:latin typeface="Times New Roman"/>
                    <a:cs typeface="Times New Roman"/>
                  </a:rPr>
                  <a:t> </a:t>
                </a:r>
                <a14:m>
                  <m:oMath xmlns:m="http://schemas.openxmlformats.org/officeDocument/2006/math">
                    <m:sSub>
                      <m:sSubPr>
                        <m:ctrlPr>
                          <a:rPr lang="ar-AE" sz="2000" i="1" spc="-5">
                            <a:solidFill>
                              <a:schemeClr val="tx1"/>
                            </a:solidFill>
                            <a:latin typeface="Cambria Math" panose="02040503050406030204" pitchFamily="18" charset="0"/>
                            <a:cs typeface="Times New Roman"/>
                          </a:rPr>
                        </m:ctrlPr>
                      </m:sSubPr>
                      <m:e>
                        <m:acc>
                          <m:accPr>
                            <m:chr m:val="̂"/>
                            <m:ctrlPr>
                              <a:rPr lang="ar-AE" sz="2000" i="1" spc="-5">
                                <a:solidFill>
                                  <a:schemeClr val="tx1"/>
                                </a:solidFill>
                                <a:latin typeface="Cambria Math" panose="02040503050406030204" pitchFamily="18" charset="0"/>
                                <a:cs typeface="Times New Roman"/>
                              </a:rPr>
                            </m:ctrlPr>
                          </m:accPr>
                          <m:e>
                            <m:r>
                              <a:rPr lang="ar-AE" sz="2000" i="1" spc="-5">
                                <a:solidFill>
                                  <a:schemeClr val="tx1"/>
                                </a:solidFill>
                                <a:latin typeface="Cambria Math" panose="02040503050406030204" pitchFamily="18" charset="0"/>
                                <a:cs typeface="Times New Roman"/>
                              </a:rPr>
                              <m:t>𝑌</m:t>
                            </m:r>
                          </m:e>
                        </m:acc>
                      </m:e>
                      <m:sub>
                        <m:r>
                          <a:rPr lang="ar-AE" sz="2000" i="1" spc="-5">
                            <a:solidFill>
                              <a:schemeClr val="tx1"/>
                            </a:solidFill>
                            <a:latin typeface="Cambria Math" panose="02040503050406030204" pitchFamily="18" charset="0"/>
                            <a:cs typeface="Times New Roman"/>
                          </a:rPr>
                          <m:t>𝑖</m:t>
                        </m:r>
                      </m:sub>
                    </m:sSub>
                  </m:oMath>
                </a14:m>
                <a:r>
                  <a:rPr lang="ar-AE" sz="2000" dirty="0" smtClean="0">
                    <a:solidFill>
                      <a:schemeClr val="tx1"/>
                    </a:solidFill>
                    <a:latin typeface="Times New Roman"/>
                    <a:cs typeface="Times New Roman"/>
                  </a:rPr>
                  <a:t> </a:t>
                </a:r>
                <a:r>
                  <a:rPr lang="es-ES" sz="2000" dirty="0" smtClean="0">
                    <a:solidFill>
                      <a:schemeClr val="tx1"/>
                    </a:solidFill>
                    <a:latin typeface="Times New Roman"/>
                    <a:cs typeface="Times New Roman"/>
                  </a:rPr>
                  <a:t>con</a:t>
                </a:r>
                <a:r>
                  <a:rPr lang="es-ES" sz="2000" spc="10" dirty="0" smtClean="0">
                    <a:solidFill>
                      <a:schemeClr val="tx1"/>
                    </a:solidFill>
                    <a:latin typeface="Times New Roman"/>
                    <a:cs typeface="Times New Roman"/>
                  </a:rPr>
                  <a:t> </a:t>
                </a:r>
                <a:r>
                  <a:rPr lang="es-ES" sz="2000" dirty="0">
                    <a:solidFill>
                      <a:schemeClr val="tx1"/>
                    </a:solidFill>
                    <a:latin typeface="Times New Roman"/>
                    <a:cs typeface="Times New Roman"/>
                  </a:rPr>
                  <a:t>los </a:t>
                </a:r>
                <a:r>
                  <a:rPr lang="es-ES" sz="2000" spc="-5" dirty="0">
                    <a:solidFill>
                      <a:schemeClr val="tx1"/>
                    </a:solidFill>
                    <a:latin typeface="Times New Roman"/>
                    <a:cs typeface="Times New Roman"/>
                  </a:rPr>
                  <a:t>estimadores</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finales</a:t>
                </a:r>
                <a:r>
                  <a:rPr lang="es-ES" sz="2000" spc="15" dirty="0">
                    <a:solidFill>
                      <a:schemeClr val="tx1"/>
                    </a:solidFill>
                    <a:latin typeface="Times New Roman"/>
                    <a:cs typeface="Times New Roman"/>
                  </a:rPr>
                  <a:t> </a:t>
                </a:r>
                <a:r>
                  <a:rPr lang="es-ES" sz="2000" spc="-5" dirty="0">
                    <a:solidFill>
                      <a:schemeClr val="tx1"/>
                    </a:solidFill>
                    <a:latin typeface="Times New Roman"/>
                    <a:cs typeface="Times New Roman"/>
                  </a:rPr>
                  <a:t>del</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modelo</a:t>
                </a:r>
                <a:endParaRPr lang="es-ES" sz="2000" dirty="0">
                  <a:solidFill>
                    <a:schemeClr val="tx1"/>
                  </a:solidFill>
                  <a:latin typeface="Times New Roman"/>
                  <a:cs typeface="Times New Roman"/>
                </a:endParaRPr>
              </a:p>
            </p:txBody>
          </p:sp>
        </mc:Choice>
        <mc:Fallback xmlns="">
          <p:sp>
            <p:nvSpPr>
              <p:cNvPr id="10" name="object 10"/>
              <p:cNvSpPr txBox="1">
                <a:spLocks noRot="1" noChangeAspect="1" noMove="1" noResize="1" noEditPoints="1" noAdjustHandles="1" noChangeArrowheads="1" noChangeShapeType="1" noTextEdit="1"/>
              </p:cNvSpPr>
              <p:nvPr/>
            </p:nvSpPr>
            <p:spPr>
              <a:xfrm>
                <a:off x="465154" y="6263585"/>
                <a:ext cx="9103360" cy="904735"/>
              </a:xfrm>
              <a:prstGeom prst="rect">
                <a:avLst/>
              </a:prstGeom>
              <a:blipFill rotWithShape="0">
                <a:blip r:embed="rId2"/>
                <a:stretch>
                  <a:fillRect l="-1272" b="-1745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3898900" y="2005621"/>
                <a:ext cx="2235868"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𝑀𝑆𝐸</m:t>
                      </m:r>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𝑛</m:t>
                          </m:r>
                        </m:den>
                      </m:f>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m:t>
                          </m:r>
                          <m:r>
                            <m:rPr>
                              <m:brk m:alnAt="23"/>
                            </m:rPr>
                            <a:rPr lang="es-ES" b="0" i="1" smtClean="0">
                              <a:latin typeface="Cambria Math" panose="02040503050406030204" pitchFamily="18" charset="0"/>
                            </a:rPr>
                            <m:t>1</m:t>
                          </m:r>
                        </m:sub>
                        <m:sup>
                          <m:r>
                            <a:rPr lang="es-ES" b="0" i="1" smtClean="0">
                              <a:latin typeface="Cambria Math" panose="02040503050406030204" pitchFamily="18" charset="0"/>
                            </a:rPr>
                            <m:t>𝑛</m:t>
                          </m:r>
                        </m:sup>
                        <m:e>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𝑌</m:t>
                              </m:r>
                            </m:e>
                            <m:sub>
                              <m:r>
                                <a:rPr lang="es-ES" b="0" i="1" smtClean="0">
                                  <a:latin typeface="Cambria Math" panose="02040503050406030204" pitchFamily="18" charset="0"/>
                                </a:rPr>
                                <m:t>𝑖</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𝑌</m:t>
                                  </m:r>
                                </m:e>
                              </m:acc>
                            </m:e>
                            <m:sub>
                              <m:r>
                                <a:rPr lang="es-ES" b="0" i="1" smtClean="0">
                                  <a:latin typeface="Cambria Math" panose="02040503050406030204" pitchFamily="18" charset="0"/>
                                </a:rPr>
                                <m:t>𝑖</m:t>
                              </m:r>
                            </m:sub>
                          </m:sSub>
                          <m:sSup>
                            <m:sSupPr>
                              <m:ctrlPr>
                                <a:rPr lang="es-ES" b="0" i="1" smtClean="0">
                                  <a:latin typeface="Cambria Math" panose="02040503050406030204" pitchFamily="18" charset="0"/>
                                </a:rPr>
                              </m:ctrlPr>
                            </m:sSupPr>
                            <m:e>
                              <m:r>
                                <a:rPr lang="es-ES" b="0" i="1" smtClean="0">
                                  <a:latin typeface="Cambria Math" panose="02040503050406030204" pitchFamily="18" charset="0"/>
                                </a:rPr>
                                <m:t>)</m:t>
                              </m:r>
                            </m:e>
                            <m:sup>
                              <m:r>
                                <a:rPr lang="es-ES" b="0" i="1" smtClean="0">
                                  <a:latin typeface="Cambria Math" panose="02040503050406030204" pitchFamily="18" charset="0"/>
                                </a:rPr>
                                <m:t>2</m:t>
                              </m:r>
                            </m:sup>
                          </m:sSup>
                        </m:e>
                      </m:nary>
                    </m:oMath>
                  </m:oMathPara>
                </a14:m>
                <a:endParaRPr lang="es-ES"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3898900" y="2005621"/>
                <a:ext cx="2235868" cy="756233"/>
              </a:xfrm>
              <a:prstGeom prst="rect">
                <a:avLst/>
              </a:prstGeom>
              <a:blipFill rotWithShape="0">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p:cNvSpPr txBox="1"/>
              <p:nvPr/>
            </p:nvSpPr>
            <p:spPr>
              <a:xfrm>
                <a:off x="346963" y="2761854"/>
                <a:ext cx="10511537" cy="4067524"/>
              </a:xfrm>
              <a:prstGeom prst="rect">
                <a:avLst/>
              </a:prstGeom>
              <a:noFill/>
            </p:spPr>
            <p:txBody>
              <a:bodyPr wrap="square" rtlCol="0">
                <a:spAutoFit/>
              </a:bodyPr>
              <a:lstStyle/>
              <a:p>
                <a:pPr marL="50800" marR="1585595">
                  <a:lnSpc>
                    <a:spcPts val="2530"/>
                  </a:lnSpc>
                  <a:spcBef>
                    <a:spcPts val="270"/>
                  </a:spcBef>
                  <a:tabLst>
                    <a:tab pos="2299970" algn="l"/>
                  </a:tabLst>
                </a:pPr>
                <a:r>
                  <a:rPr lang="es-ES" sz="2000" spc="-5" dirty="0" smtClean="0">
                    <a:solidFill>
                      <a:schemeClr val="tx1"/>
                    </a:solidFill>
                    <a:latin typeface="Times New Roman"/>
                    <a:cs typeface="Times New Roman"/>
                  </a:rPr>
                  <a:t>(algunos paquetes </a:t>
                </a:r>
                <a:r>
                  <a:rPr lang="es-ES" sz="2000" spc="-10" dirty="0" smtClean="0">
                    <a:solidFill>
                      <a:schemeClr val="tx1"/>
                    </a:solidFill>
                    <a:latin typeface="Times New Roman"/>
                    <a:cs typeface="Times New Roman"/>
                  </a:rPr>
                  <a:t>presentan </a:t>
                </a:r>
                <a:r>
                  <a:rPr lang="es-ES" sz="2000" spc="-5" dirty="0">
                    <a:solidFill>
                      <a:schemeClr val="tx1"/>
                    </a:solidFill>
                    <a:latin typeface="Times New Roman"/>
                    <a:cs typeface="Times New Roman"/>
                  </a:rPr>
                  <a:t>el </a:t>
                </a:r>
                <a:r>
                  <a:rPr lang="es-ES" sz="2000" dirty="0">
                    <a:solidFill>
                      <a:schemeClr val="tx1"/>
                    </a:solidFill>
                    <a:latin typeface="Times New Roman"/>
                    <a:cs typeface="Times New Roman"/>
                  </a:rPr>
                  <a:t>valor de </a:t>
                </a:r>
                <a:r>
                  <a:rPr lang="es-ES" sz="2000" dirty="0" smtClean="0">
                    <a:solidFill>
                      <a:schemeClr val="tx1"/>
                    </a:solidFill>
                    <a:latin typeface="Times New Roman"/>
                    <a:cs typeface="Times New Roman"/>
                  </a:rPr>
                  <a:t>SSE (sum of </a:t>
                </a:r>
                <a:r>
                  <a:rPr lang="es-ES" sz="2000" dirty="0" err="1" smtClean="0">
                    <a:solidFill>
                      <a:schemeClr val="tx1"/>
                    </a:solidFill>
                    <a:latin typeface="Times New Roman"/>
                    <a:cs typeface="Times New Roman"/>
                  </a:rPr>
                  <a:t>squared</a:t>
                </a:r>
                <a:r>
                  <a:rPr lang="es-ES" sz="2000" dirty="0" smtClean="0">
                    <a:solidFill>
                      <a:schemeClr val="tx1"/>
                    </a:solidFill>
                    <a:latin typeface="Times New Roman"/>
                    <a:cs typeface="Times New Roman"/>
                  </a:rPr>
                  <a:t> </a:t>
                </a:r>
                <a:r>
                  <a:rPr lang="es-ES" sz="2000" dirty="0" err="1" smtClean="0">
                    <a:solidFill>
                      <a:schemeClr val="tx1"/>
                    </a:solidFill>
                    <a:latin typeface="Times New Roman"/>
                    <a:cs typeface="Times New Roman"/>
                  </a:rPr>
                  <a:t>errors</a:t>
                </a:r>
                <a:r>
                  <a:rPr lang="es-ES" sz="2000" dirty="0" smtClean="0">
                    <a:solidFill>
                      <a:schemeClr val="tx1"/>
                    </a:solidFill>
                    <a:latin typeface="Times New Roman"/>
                    <a:cs typeface="Times New Roman"/>
                  </a:rPr>
                  <a:t>)=n*MSE</a:t>
                </a:r>
                <a:r>
                  <a:rPr lang="es-ES" sz="2000" dirty="0">
                    <a:solidFill>
                      <a:schemeClr val="tx1"/>
                    </a:solidFill>
                    <a:latin typeface="Times New Roman"/>
                    <a:cs typeface="Times New Roman"/>
                  </a:rPr>
                  <a:t>) </a:t>
                </a:r>
                <a:r>
                  <a:rPr lang="es-ES" sz="2000" spc="-535" dirty="0">
                    <a:solidFill>
                      <a:schemeClr val="tx1"/>
                    </a:solidFill>
                    <a:latin typeface="Times New Roman"/>
                    <a:cs typeface="Times New Roman"/>
                  </a:rPr>
                  <a:t> </a:t>
                </a:r>
                <a:r>
                  <a:rPr lang="es-ES" sz="2000" spc="-5" dirty="0">
                    <a:solidFill>
                      <a:schemeClr val="tx1"/>
                    </a:solidFill>
                    <a:latin typeface="Times New Roman"/>
                    <a:cs typeface="Times New Roman"/>
                  </a:rPr>
                  <a:t>Recordemos:</a:t>
                </a:r>
                <a:endParaRPr lang="es-ES" sz="2000" dirty="0">
                  <a:solidFill>
                    <a:schemeClr val="tx1"/>
                  </a:solidFill>
                  <a:latin typeface="Times New Roman"/>
                  <a:cs typeface="Times New Roman"/>
                </a:endParaRPr>
              </a:p>
              <a:p>
                <a:pPr>
                  <a:lnSpc>
                    <a:spcPct val="100000"/>
                  </a:lnSpc>
                  <a:spcBef>
                    <a:spcPts val="50"/>
                  </a:spcBef>
                </a:pPr>
                <a:endParaRPr lang="es-ES" sz="2000" dirty="0">
                  <a:solidFill>
                    <a:schemeClr val="tx1"/>
                  </a:solidFill>
                  <a:latin typeface="Times New Roman"/>
                  <a:cs typeface="Times New Roman"/>
                </a:endParaRPr>
              </a:p>
              <a:p>
                <a:pPr marL="50800">
                  <a:lnSpc>
                    <a:spcPts val="2605"/>
                  </a:lnSpc>
                  <a:spcBef>
                    <a:spcPts val="5"/>
                  </a:spcBef>
                </a:pPr>
                <a14:m>
                  <m:oMath xmlns:m="http://schemas.openxmlformats.org/officeDocument/2006/math">
                    <m:sSub>
                      <m:sSubPr>
                        <m:ctrlPr>
                          <a:rPr lang="ar-AE" sz="2000" i="1">
                            <a:solidFill>
                              <a:schemeClr val="tx1"/>
                            </a:solidFill>
                            <a:latin typeface="Cambria Math" panose="02040503050406030204" pitchFamily="18" charset="0"/>
                          </a:rPr>
                        </m:ctrlPr>
                      </m:sSubPr>
                      <m:e>
                        <m:r>
                          <a:rPr lang="es-ES" sz="2000" i="1">
                            <a:solidFill>
                              <a:schemeClr val="tx1"/>
                            </a:solidFill>
                            <a:latin typeface="Cambria Math" panose="02040503050406030204" pitchFamily="18" charset="0"/>
                          </a:rPr>
                          <m:t>𝑌</m:t>
                        </m:r>
                      </m:e>
                      <m:sub>
                        <m:r>
                          <a:rPr lang="ar-AE" sz="2000" i="1">
                            <a:solidFill>
                              <a:schemeClr val="tx1"/>
                            </a:solidFill>
                            <a:latin typeface="Cambria Math" panose="02040503050406030204" pitchFamily="18" charset="0"/>
                          </a:rPr>
                          <m:t>𝑖</m:t>
                        </m:r>
                      </m:sub>
                    </m:sSub>
                  </m:oMath>
                </a14:m>
                <a:r>
                  <a:rPr lang="ar-AE" sz="2000" spc="179" baseline="-15625" dirty="0">
                    <a:solidFill>
                      <a:schemeClr val="tx1"/>
                    </a:solidFill>
                    <a:latin typeface="Cambria Math"/>
                    <a:cs typeface="Cambria Math"/>
                  </a:rPr>
                  <a:t> </a:t>
                </a:r>
                <a:r>
                  <a:rPr lang="es-ES" sz="2000" spc="-10" dirty="0">
                    <a:solidFill>
                      <a:schemeClr val="tx1"/>
                    </a:solidFill>
                    <a:latin typeface="Times New Roman"/>
                    <a:cs typeface="Times New Roman"/>
                  </a:rPr>
                  <a:t>son</a:t>
                </a:r>
                <a:r>
                  <a:rPr lang="es-ES" sz="2000" spc="10" dirty="0">
                    <a:solidFill>
                      <a:schemeClr val="tx1"/>
                    </a:solidFill>
                    <a:latin typeface="Times New Roman"/>
                    <a:cs typeface="Times New Roman"/>
                  </a:rPr>
                  <a:t> </a:t>
                </a:r>
                <a:r>
                  <a:rPr lang="es-ES" sz="2000" dirty="0">
                    <a:solidFill>
                      <a:schemeClr val="tx1"/>
                    </a:solidFill>
                    <a:latin typeface="Times New Roman"/>
                    <a:cs typeface="Times New Roman"/>
                  </a:rPr>
                  <a:t>los </a:t>
                </a:r>
                <a:r>
                  <a:rPr lang="es-ES" sz="2000" spc="-5" dirty="0">
                    <a:solidFill>
                      <a:schemeClr val="tx1"/>
                    </a:solidFill>
                    <a:latin typeface="Times New Roman"/>
                    <a:cs typeface="Times New Roman"/>
                  </a:rPr>
                  <a:t>valores</a:t>
                </a:r>
                <a:r>
                  <a:rPr lang="es-ES" sz="2000" spc="15" dirty="0">
                    <a:solidFill>
                      <a:schemeClr val="tx1"/>
                    </a:solidFill>
                    <a:latin typeface="Times New Roman"/>
                    <a:cs typeface="Times New Roman"/>
                  </a:rPr>
                  <a:t> </a:t>
                </a:r>
                <a:r>
                  <a:rPr lang="es-ES" sz="2000" b="1" spc="-5" dirty="0">
                    <a:solidFill>
                      <a:schemeClr val="tx1"/>
                    </a:solidFill>
                    <a:latin typeface="Times New Roman"/>
                    <a:cs typeface="Times New Roman"/>
                  </a:rPr>
                  <a:t>reales</a:t>
                </a:r>
                <a:r>
                  <a:rPr lang="es-ES" sz="2000" b="1" spc="5" dirty="0">
                    <a:solidFill>
                      <a:schemeClr val="tx1"/>
                    </a:solidFill>
                    <a:latin typeface="Times New Roman"/>
                    <a:cs typeface="Times New Roman"/>
                  </a:rPr>
                  <a:t> </a:t>
                </a:r>
                <a:r>
                  <a:rPr lang="es-ES" sz="2000" spc="-5" dirty="0">
                    <a:solidFill>
                      <a:schemeClr val="tx1"/>
                    </a:solidFill>
                    <a:latin typeface="Times New Roman"/>
                    <a:cs typeface="Times New Roman"/>
                  </a:rPr>
                  <a:t>de</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la</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variable</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output</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para</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cada</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observación</a:t>
                </a:r>
                <a:endParaRPr lang="es-ES" sz="2000" dirty="0">
                  <a:solidFill>
                    <a:schemeClr val="tx1"/>
                  </a:solidFill>
                  <a:latin typeface="Times New Roman"/>
                  <a:cs typeface="Times New Roman"/>
                </a:endParaRPr>
              </a:p>
              <a:p>
                <a:pPr marL="50800">
                  <a:lnSpc>
                    <a:spcPts val="2605"/>
                  </a:lnSpc>
                </a:pPr>
                <a14:m>
                  <m:oMath xmlns:m="http://schemas.openxmlformats.org/officeDocument/2006/math">
                    <m:sSub>
                      <m:sSubPr>
                        <m:ctrlPr>
                          <a:rPr lang="es-ES" sz="2000" i="1" spc="-10">
                            <a:solidFill>
                              <a:schemeClr val="tx1"/>
                            </a:solidFill>
                            <a:latin typeface="Cambria Math" panose="02040503050406030204" pitchFamily="18" charset="0"/>
                            <a:cs typeface="Times New Roman"/>
                          </a:rPr>
                        </m:ctrlPr>
                      </m:sSubPr>
                      <m:e>
                        <m:acc>
                          <m:accPr>
                            <m:chr m:val="̂"/>
                            <m:ctrlPr>
                              <a:rPr lang="es-ES" sz="2000" i="1" spc="-10">
                                <a:solidFill>
                                  <a:schemeClr val="tx1"/>
                                </a:solidFill>
                                <a:latin typeface="Cambria Math" panose="02040503050406030204" pitchFamily="18" charset="0"/>
                                <a:cs typeface="Times New Roman"/>
                              </a:rPr>
                            </m:ctrlPr>
                          </m:accPr>
                          <m:e>
                            <m:r>
                              <a:rPr lang="es-ES" sz="2000" i="1" spc="-10">
                                <a:solidFill>
                                  <a:schemeClr val="tx1"/>
                                </a:solidFill>
                                <a:latin typeface="Cambria Math" panose="02040503050406030204" pitchFamily="18" charset="0"/>
                                <a:cs typeface="Times New Roman"/>
                              </a:rPr>
                              <m:t>𝑌</m:t>
                            </m:r>
                          </m:e>
                        </m:acc>
                      </m:e>
                      <m:sub>
                        <m:r>
                          <a:rPr lang="es-ES" sz="2000" i="1" spc="-10">
                            <a:solidFill>
                              <a:schemeClr val="tx1"/>
                            </a:solidFill>
                            <a:latin typeface="Cambria Math" panose="02040503050406030204" pitchFamily="18" charset="0"/>
                            <a:cs typeface="Times New Roman"/>
                          </a:rPr>
                          <m:t>𝑖</m:t>
                        </m:r>
                      </m:sub>
                    </m:sSub>
                  </m:oMath>
                </a14:m>
                <a:r>
                  <a:rPr lang="es-ES" sz="2000" spc="-10" dirty="0">
                    <a:solidFill>
                      <a:schemeClr val="tx1"/>
                    </a:solidFill>
                    <a:latin typeface="Times New Roman"/>
                    <a:cs typeface="Times New Roman"/>
                  </a:rPr>
                  <a:t> son</a:t>
                </a:r>
                <a:r>
                  <a:rPr lang="es-ES" sz="2000" spc="15" dirty="0">
                    <a:solidFill>
                      <a:schemeClr val="tx1"/>
                    </a:solidFill>
                    <a:latin typeface="Times New Roman"/>
                    <a:cs typeface="Times New Roman"/>
                  </a:rPr>
                  <a:t> </a:t>
                </a:r>
                <a:r>
                  <a:rPr lang="es-ES" sz="2000" dirty="0">
                    <a:solidFill>
                      <a:schemeClr val="tx1"/>
                    </a:solidFill>
                    <a:latin typeface="Times New Roman"/>
                    <a:cs typeface="Times New Roman"/>
                  </a:rPr>
                  <a:t>los </a:t>
                </a:r>
                <a:r>
                  <a:rPr lang="es-ES" sz="2000" spc="-5" dirty="0">
                    <a:solidFill>
                      <a:schemeClr val="tx1"/>
                    </a:solidFill>
                    <a:latin typeface="Times New Roman"/>
                    <a:cs typeface="Times New Roman"/>
                  </a:rPr>
                  <a:t>valores</a:t>
                </a:r>
                <a:r>
                  <a:rPr lang="es-ES" sz="2000" spc="10" dirty="0">
                    <a:solidFill>
                      <a:schemeClr val="tx1"/>
                    </a:solidFill>
                    <a:latin typeface="Times New Roman"/>
                    <a:cs typeface="Times New Roman"/>
                  </a:rPr>
                  <a:t> </a:t>
                </a:r>
                <a:r>
                  <a:rPr lang="es-ES" sz="2000" b="1" spc="-5" dirty="0">
                    <a:solidFill>
                      <a:schemeClr val="tx1"/>
                    </a:solidFill>
                    <a:latin typeface="Times New Roman"/>
                    <a:cs typeface="Times New Roman"/>
                  </a:rPr>
                  <a:t>predichos</a:t>
                </a:r>
                <a:r>
                  <a:rPr lang="es-ES" sz="2000" b="1" spc="20" dirty="0">
                    <a:solidFill>
                      <a:schemeClr val="tx1"/>
                    </a:solidFill>
                    <a:latin typeface="Times New Roman"/>
                    <a:cs typeface="Times New Roman"/>
                  </a:rPr>
                  <a:t> </a:t>
                </a:r>
                <a:r>
                  <a:rPr lang="es-ES" sz="2000" spc="-5" dirty="0">
                    <a:solidFill>
                      <a:schemeClr val="tx1"/>
                    </a:solidFill>
                    <a:latin typeface="Times New Roman"/>
                    <a:cs typeface="Times New Roman"/>
                  </a:rPr>
                  <a:t>de</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la</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variable</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output</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para</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cada</a:t>
                </a:r>
                <a:r>
                  <a:rPr lang="es-ES" sz="2000" spc="5" dirty="0">
                    <a:solidFill>
                      <a:schemeClr val="tx1"/>
                    </a:solidFill>
                    <a:latin typeface="Times New Roman"/>
                    <a:cs typeface="Times New Roman"/>
                  </a:rPr>
                  <a:t> </a:t>
                </a:r>
                <a:r>
                  <a:rPr lang="es-ES" sz="2000" spc="-5" dirty="0">
                    <a:solidFill>
                      <a:schemeClr val="tx1"/>
                    </a:solidFill>
                    <a:latin typeface="Times New Roman"/>
                    <a:cs typeface="Times New Roman"/>
                  </a:rPr>
                  <a:t>observación.</a:t>
                </a:r>
                <a:endParaRPr lang="es-ES" sz="2000" dirty="0">
                  <a:solidFill>
                    <a:schemeClr val="tx1"/>
                  </a:solidFill>
                  <a:latin typeface="Times New Roman"/>
                  <a:cs typeface="Times New Roman"/>
                </a:endParaRPr>
              </a:p>
              <a:p>
                <a:pPr marL="50800">
                  <a:lnSpc>
                    <a:spcPct val="100000"/>
                  </a:lnSpc>
                  <a:spcBef>
                    <a:spcPts val="2420"/>
                  </a:spcBef>
                </a:pPr>
                <a:r>
                  <a:rPr lang="es-ES" sz="2000" spc="-5" dirty="0">
                    <a:solidFill>
                      <a:schemeClr val="tx1"/>
                    </a:solidFill>
                    <a:latin typeface="Times New Roman"/>
                    <a:cs typeface="Times New Roman"/>
                  </a:rPr>
                  <a:t>Por</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ejemplo,</a:t>
                </a:r>
                <a:r>
                  <a:rPr lang="es-ES" sz="2000" dirty="0">
                    <a:solidFill>
                      <a:schemeClr val="tx1"/>
                    </a:solidFill>
                    <a:latin typeface="Times New Roman"/>
                    <a:cs typeface="Times New Roman"/>
                  </a:rPr>
                  <a:t> </a:t>
                </a:r>
                <a:r>
                  <a:rPr lang="es-ES" sz="2000" spc="-5" dirty="0">
                    <a:solidFill>
                      <a:schemeClr val="tx1"/>
                    </a:solidFill>
                    <a:latin typeface="Times New Roman"/>
                    <a:cs typeface="Times New Roman"/>
                  </a:rPr>
                  <a:t>con</a:t>
                </a:r>
                <a:r>
                  <a:rPr lang="es-ES" sz="2000" dirty="0">
                    <a:solidFill>
                      <a:schemeClr val="tx1"/>
                    </a:solidFill>
                    <a:latin typeface="Times New Roman"/>
                    <a:cs typeface="Times New Roman"/>
                  </a:rPr>
                  <a:t> los</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parámetros</a:t>
                </a:r>
                <a:r>
                  <a:rPr lang="es-ES" sz="2000" spc="-10" dirty="0">
                    <a:solidFill>
                      <a:schemeClr val="tx1"/>
                    </a:solidFill>
                    <a:latin typeface="Times New Roman"/>
                    <a:cs typeface="Times New Roman"/>
                  </a:rPr>
                  <a:t> </a:t>
                </a:r>
                <a:r>
                  <a:rPr lang="es-ES" sz="2000" spc="-5" dirty="0">
                    <a:solidFill>
                      <a:schemeClr val="tx1"/>
                    </a:solidFill>
                    <a:latin typeface="Times New Roman"/>
                    <a:cs typeface="Times New Roman"/>
                  </a:rPr>
                  <a:t>finales</a:t>
                </a:r>
                <a:r>
                  <a:rPr lang="es-ES" sz="2000" spc="-5" dirty="0" smtClean="0">
                    <a:solidFill>
                      <a:schemeClr val="tx1"/>
                    </a:solidFill>
                    <a:latin typeface="Times New Roman"/>
                    <a:cs typeface="Times New Roman"/>
                  </a:rPr>
                  <a:t>,</a:t>
                </a:r>
              </a:p>
              <a:p>
                <a:pPr marL="50800">
                  <a:lnSpc>
                    <a:spcPct val="100000"/>
                  </a:lnSpc>
                  <a:spcBef>
                    <a:spcPts val="2420"/>
                  </a:spcBef>
                </a:pPr>
                <a:endParaRPr lang="es-ES" spc="-5" dirty="0" smtClean="0">
                  <a:solidFill>
                    <a:schemeClr val="tx1"/>
                  </a:solidFill>
                  <a:latin typeface="Times New Roman"/>
                  <a:cs typeface="Times New Roman"/>
                </a:endParaRPr>
              </a:p>
              <a:p>
                <a:pPr marL="50800">
                  <a:lnSpc>
                    <a:spcPct val="100000"/>
                  </a:lnSpc>
                  <a:spcBef>
                    <a:spcPts val="2420"/>
                  </a:spcBef>
                </a:pPr>
                <a14:m>
                  <m:oMathPara xmlns:m="http://schemas.openxmlformats.org/officeDocument/2006/math">
                    <m:oMathParaPr>
                      <m:jc m:val="centerGroup"/>
                    </m:oMathParaPr>
                    <m:oMath xmlns:m="http://schemas.openxmlformats.org/officeDocument/2006/math">
                      <m:sSub>
                        <m:sSubPr>
                          <m:ctrlPr>
                            <a:rPr lang="es-ES" i="1" spc="-5" smtClean="0">
                              <a:solidFill>
                                <a:schemeClr val="tx1"/>
                              </a:solidFill>
                              <a:latin typeface="Cambria Math" panose="02040503050406030204" pitchFamily="18" charset="0"/>
                              <a:cs typeface="Times New Roman"/>
                            </a:rPr>
                          </m:ctrlPr>
                        </m:sSubPr>
                        <m:e>
                          <m:acc>
                            <m:accPr>
                              <m:chr m:val="̂"/>
                              <m:ctrlPr>
                                <a:rPr lang="es-ES" i="1" spc="-5" smtClean="0">
                                  <a:solidFill>
                                    <a:schemeClr val="tx1"/>
                                  </a:solidFill>
                                  <a:latin typeface="Cambria Math" panose="02040503050406030204" pitchFamily="18" charset="0"/>
                                  <a:cs typeface="Times New Roman"/>
                                </a:rPr>
                              </m:ctrlPr>
                            </m:accPr>
                            <m:e>
                              <m:r>
                                <a:rPr lang="es-ES" b="0" i="1" spc="-5" smtClean="0">
                                  <a:solidFill>
                                    <a:schemeClr val="tx1"/>
                                  </a:solidFill>
                                  <a:latin typeface="Cambria Math" panose="02040503050406030204" pitchFamily="18" charset="0"/>
                                  <a:cs typeface="Times New Roman"/>
                                </a:rPr>
                                <m:t>𝑌</m:t>
                              </m:r>
                            </m:e>
                          </m:acc>
                        </m:e>
                        <m:sub>
                          <m:r>
                            <a:rPr lang="es-ES" b="0" i="1" spc="-5" smtClean="0">
                              <a:solidFill>
                                <a:schemeClr val="tx1"/>
                              </a:solidFill>
                              <a:latin typeface="Cambria Math" panose="02040503050406030204" pitchFamily="18" charset="0"/>
                              <a:cs typeface="Times New Roman"/>
                            </a:rPr>
                            <m:t>𝑖</m:t>
                          </m:r>
                        </m:sub>
                      </m:sSub>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88</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52</m:t>
                      </m:r>
                      <m:r>
                        <a:rPr lang="es-ES" b="0" i="1" spc="-5" smtClean="0">
                          <a:solidFill>
                            <a:schemeClr val="tx1"/>
                          </a:solidFill>
                          <a:latin typeface="Cambria Math" panose="02040503050406030204" pitchFamily="18" charset="0"/>
                          <a:cs typeface="Times New Roman"/>
                        </a:rPr>
                        <m:t>∗</m:t>
                      </m:r>
                      <m:func>
                        <m:funcPr>
                          <m:ctrlPr>
                            <a:rPr lang="es-ES" b="0" i="1" spc="-5" smtClean="0">
                              <a:solidFill>
                                <a:schemeClr val="tx1"/>
                              </a:solidFill>
                              <a:latin typeface="Cambria Math" panose="02040503050406030204" pitchFamily="18" charset="0"/>
                              <a:cs typeface="Times New Roman"/>
                            </a:rPr>
                          </m:ctrlPr>
                        </m:funcPr>
                        <m:fName>
                          <m:r>
                            <m:rPr>
                              <m:sty m:val="p"/>
                            </m:rPr>
                            <a:rPr lang="es-ES" b="0" i="0" spc="-5" smtClean="0">
                              <a:solidFill>
                                <a:schemeClr val="tx1"/>
                              </a:solidFill>
                              <a:latin typeface="Cambria Math" panose="02040503050406030204" pitchFamily="18" charset="0"/>
                              <a:cs typeface="Times New Roman"/>
                            </a:rPr>
                            <m:t>tanh</m:t>
                          </m:r>
                        </m:fName>
                        <m:e>
                          <m:d>
                            <m:dPr>
                              <m:ctrlPr>
                                <a:rPr lang="es-ES" b="0" i="1" spc="-5" smtClean="0">
                                  <a:solidFill>
                                    <a:schemeClr val="tx1"/>
                                  </a:solidFill>
                                  <a:latin typeface="Cambria Math" panose="02040503050406030204" pitchFamily="18" charset="0"/>
                                  <a:cs typeface="Times New Roman"/>
                                </a:rPr>
                              </m:ctrlPr>
                            </m:dPr>
                            <m:e>
                              <m:r>
                                <a:rPr lang="es-ES" b="0" i="1" spc="-5" smtClean="0">
                                  <a:solidFill>
                                    <a:schemeClr val="tx1"/>
                                  </a:solidFill>
                                  <a:latin typeface="Cambria Math" panose="02040503050406030204" pitchFamily="18" charset="0"/>
                                  <a:cs typeface="Times New Roman"/>
                                </a:rPr>
                                <m:t>𝐻</m:t>
                              </m:r>
                              <m:r>
                                <a:rPr lang="es-ES" b="0" i="1" spc="-5" smtClean="0">
                                  <a:solidFill>
                                    <a:schemeClr val="tx1"/>
                                  </a:solidFill>
                                  <a:latin typeface="Cambria Math" panose="02040503050406030204" pitchFamily="18" charset="0"/>
                                  <a:cs typeface="Times New Roman"/>
                                </a:rPr>
                                <m:t>1</m:t>
                              </m:r>
                            </m:e>
                          </m:d>
                        </m:e>
                      </m:func>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28</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69</m:t>
                      </m:r>
                      <m:r>
                        <a:rPr lang="es-ES" b="0" i="1" spc="-5" smtClean="0">
                          <a:solidFill>
                            <a:schemeClr val="tx1"/>
                          </a:solidFill>
                          <a:latin typeface="Cambria Math" panose="02040503050406030204" pitchFamily="18" charset="0"/>
                          <a:cs typeface="Times New Roman"/>
                        </a:rPr>
                        <m:t>∗</m:t>
                      </m:r>
                      <m:func>
                        <m:funcPr>
                          <m:ctrlPr>
                            <a:rPr lang="es-ES" b="0" i="1" spc="-5" smtClean="0">
                              <a:solidFill>
                                <a:schemeClr val="tx1"/>
                              </a:solidFill>
                              <a:latin typeface="Cambria Math" panose="02040503050406030204" pitchFamily="18" charset="0"/>
                              <a:cs typeface="Times New Roman"/>
                            </a:rPr>
                          </m:ctrlPr>
                        </m:funcPr>
                        <m:fName>
                          <m:r>
                            <m:rPr>
                              <m:sty m:val="p"/>
                            </m:rPr>
                            <a:rPr lang="es-ES" b="0" i="0" spc="-5" smtClean="0">
                              <a:solidFill>
                                <a:schemeClr val="tx1"/>
                              </a:solidFill>
                              <a:latin typeface="Cambria Math" panose="02040503050406030204" pitchFamily="18" charset="0"/>
                              <a:cs typeface="Times New Roman"/>
                            </a:rPr>
                            <m:t>tanh</m:t>
                          </m:r>
                        </m:fName>
                        <m:e>
                          <m:d>
                            <m:dPr>
                              <m:ctrlPr>
                                <a:rPr lang="es-ES" b="0" i="1" spc="-5" smtClean="0">
                                  <a:solidFill>
                                    <a:schemeClr val="tx1"/>
                                  </a:solidFill>
                                  <a:latin typeface="Cambria Math" panose="02040503050406030204" pitchFamily="18" charset="0"/>
                                  <a:cs typeface="Times New Roman"/>
                                </a:rPr>
                              </m:ctrlPr>
                            </m:dPr>
                            <m:e>
                              <m:r>
                                <a:rPr lang="es-ES" b="0" i="1" spc="-5" smtClean="0">
                                  <a:solidFill>
                                    <a:schemeClr val="tx1"/>
                                  </a:solidFill>
                                  <a:latin typeface="Cambria Math" panose="02040503050406030204" pitchFamily="18" charset="0"/>
                                  <a:cs typeface="Times New Roman"/>
                                </a:rPr>
                                <m:t>𝐻</m:t>
                              </m:r>
                              <m:r>
                                <a:rPr lang="es-ES" b="0" i="1" spc="-5" smtClean="0">
                                  <a:solidFill>
                                    <a:schemeClr val="tx1"/>
                                  </a:solidFill>
                                  <a:latin typeface="Cambria Math" panose="02040503050406030204" pitchFamily="18" charset="0"/>
                                  <a:cs typeface="Times New Roman"/>
                                </a:rPr>
                                <m:t>2</m:t>
                              </m:r>
                            </m:e>
                          </m:d>
                        </m:e>
                      </m:func>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8</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51</m:t>
                      </m:r>
                      <m:r>
                        <a:rPr lang="es-ES" b="0" i="1" spc="-5" smtClean="0">
                          <a:solidFill>
                            <a:schemeClr val="tx1"/>
                          </a:solidFill>
                          <a:latin typeface="Cambria Math" panose="02040503050406030204" pitchFamily="18" charset="0"/>
                          <a:cs typeface="Times New Roman"/>
                        </a:rPr>
                        <m:t>∗</m:t>
                      </m:r>
                      <m:func>
                        <m:funcPr>
                          <m:ctrlPr>
                            <a:rPr lang="es-ES" b="0" i="1" spc="-5" smtClean="0">
                              <a:solidFill>
                                <a:schemeClr val="tx1"/>
                              </a:solidFill>
                              <a:latin typeface="Cambria Math" panose="02040503050406030204" pitchFamily="18" charset="0"/>
                              <a:cs typeface="Times New Roman"/>
                            </a:rPr>
                          </m:ctrlPr>
                        </m:funcPr>
                        <m:fName>
                          <m:r>
                            <m:rPr>
                              <m:sty m:val="p"/>
                            </m:rPr>
                            <a:rPr lang="es-ES" b="0" i="0" spc="-5" smtClean="0">
                              <a:solidFill>
                                <a:schemeClr val="tx1"/>
                              </a:solidFill>
                              <a:latin typeface="Cambria Math" panose="02040503050406030204" pitchFamily="18" charset="0"/>
                              <a:cs typeface="Times New Roman"/>
                            </a:rPr>
                            <m:t>tanh</m:t>
                          </m:r>
                        </m:fName>
                        <m:e>
                          <m:d>
                            <m:dPr>
                              <m:ctrlPr>
                                <a:rPr lang="es-ES" b="0" i="1" spc="-5" smtClean="0">
                                  <a:solidFill>
                                    <a:schemeClr val="tx1"/>
                                  </a:solidFill>
                                  <a:latin typeface="Cambria Math" panose="02040503050406030204" pitchFamily="18" charset="0"/>
                                  <a:cs typeface="Times New Roman"/>
                                </a:rPr>
                              </m:ctrlPr>
                            </m:dPr>
                            <m:e>
                              <m:r>
                                <a:rPr lang="es-ES" b="0" i="1" spc="-5" smtClean="0">
                                  <a:solidFill>
                                    <a:schemeClr val="tx1"/>
                                  </a:solidFill>
                                  <a:latin typeface="Cambria Math" panose="02040503050406030204" pitchFamily="18" charset="0"/>
                                  <a:cs typeface="Times New Roman"/>
                                </a:rPr>
                                <m:t>𝐻</m:t>
                              </m:r>
                              <m:r>
                                <a:rPr lang="es-ES" b="0" i="1" spc="-5" smtClean="0">
                                  <a:solidFill>
                                    <a:schemeClr val="tx1"/>
                                  </a:solidFill>
                                  <a:latin typeface="Cambria Math" panose="02040503050406030204" pitchFamily="18" charset="0"/>
                                  <a:cs typeface="Times New Roman"/>
                                </a:rPr>
                                <m:t>3</m:t>
                              </m:r>
                            </m:e>
                          </m:d>
                        </m:e>
                      </m:func>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51</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42</m:t>
                      </m:r>
                    </m:oMath>
                  </m:oMathPara>
                </a14:m>
                <a:endParaRPr lang="es-ES" b="0" spc="-5" dirty="0" smtClean="0">
                  <a:solidFill>
                    <a:schemeClr val="tx1"/>
                  </a:solidFill>
                  <a:latin typeface="Times New Roman"/>
                  <a:cs typeface="Times New Roman"/>
                </a:endParaRPr>
              </a:p>
              <a:p>
                <a:pPr marL="50800">
                  <a:lnSpc>
                    <a:spcPct val="100000"/>
                  </a:lnSpc>
                  <a:spcBef>
                    <a:spcPts val="2420"/>
                  </a:spcBef>
                </a:pPr>
                <a:r>
                  <a:rPr lang="es-ES" spc="-5" dirty="0" smtClean="0">
                    <a:solidFill>
                      <a:schemeClr val="tx1"/>
                    </a:solidFill>
                    <a:latin typeface="Times New Roman"/>
                    <a:cs typeface="Times New Roman"/>
                  </a:rPr>
                  <a:t>Donde </a:t>
                </a:r>
                <a14:m>
                  <m:oMath xmlns:m="http://schemas.openxmlformats.org/officeDocument/2006/math">
                    <m:r>
                      <a:rPr lang="es-ES" b="0" i="1" spc="-5" smtClean="0">
                        <a:solidFill>
                          <a:schemeClr val="tx1"/>
                        </a:solidFill>
                        <a:latin typeface="Cambria Math" panose="02040503050406030204" pitchFamily="18" charset="0"/>
                        <a:cs typeface="Times New Roman"/>
                      </a:rPr>
                      <m:t>𝐻</m:t>
                    </m:r>
                    <m:r>
                      <a:rPr lang="es-ES" b="0" i="1" spc="-5" smtClean="0">
                        <a:solidFill>
                          <a:schemeClr val="tx1"/>
                        </a:solidFill>
                        <a:latin typeface="Cambria Math" panose="02040503050406030204" pitchFamily="18" charset="0"/>
                        <a:cs typeface="Times New Roman"/>
                      </a:rPr>
                      <m:t>1</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3</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31</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𝑎𝑔𝑟𝑒</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0</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13</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𝑤𝑎𝑡𝑒𝑟</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3</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05</m:t>
                    </m:r>
                    <m:r>
                      <a:rPr lang="es-ES" b="0" i="1" spc="-5" smtClean="0">
                        <a:solidFill>
                          <a:schemeClr val="tx1"/>
                        </a:solidFill>
                        <a:latin typeface="Cambria Math" panose="02040503050406030204" pitchFamily="18" charset="0"/>
                        <a:cs typeface="Times New Roman"/>
                      </a:rPr>
                      <m:t>; </m:t>
                    </m:r>
                    <m:r>
                      <a:rPr lang="es-ES" b="0" i="1" spc="-5" smtClean="0">
                        <a:solidFill>
                          <a:schemeClr val="tx1"/>
                        </a:solidFill>
                        <a:latin typeface="Cambria Math" panose="02040503050406030204" pitchFamily="18" charset="0"/>
                        <a:cs typeface="Times New Roman"/>
                      </a:rPr>
                      <m:t>𝐻</m:t>
                    </m:r>
                    <m:r>
                      <a:rPr lang="es-ES" b="0" i="1" spc="-5" smtClean="0">
                        <a:solidFill>
                          <a:schemeClr val="tx1"/>
                        </a:solidFill>
                        <a:latin typeface="Cambria Math" panose="02040503050406030204" pitchFamily="18" charset="0"/>
                        <a:cs typeface="Times New Roman"/>
                      </a:rPr>
                      <m:t>2</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0</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13</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𝑎𝑔𝑒</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1</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89</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𝑤𝑎𝑡𝑒𝑟</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0</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96</m:t>
                    </m:r>
                    <m:r>
                      <a:rPr lang="es-ES" b="0" i="1" spc="-5" smtClean="0">
                        <a:solidFill>
                          <a:schemeClr val="tx1"/>
                        </a:solidFill>
                        <a:latin typeface="Cambria Math" panose="02040503050406030204" pitchFamily="18" charset="0"/>
                        <a:cs typeface="Times New Roman"/>
                      </a:rPr>
                      <m:t>…</m:t>
                    </m:r>
                    <m:r>
                      <a:rPr lang="es-ES" b="0" i="1" spc="-5" smtClean="0">
                        <a:solidFill>
                          <a:schemeClr val="tx1"/>
                        </a:solidFill>
                        <a:latin typeface="Cambria Math" panose="02040503050406030204" pitchFamily="18" charset="0"/>
                        <a:cs typeface="Times New Roman"/>
                      </a:rPr>
                      <m:t>𝑒𝑡𝑐</m:t>
                    </m:r>
                    <m:r>
                      <a:rPr lang="es-ES" b="0" i="1" spc="-5" smtClean="0">
                        <a:solidFill>
                          <a:schemeClr val="tx1"/>
                        </a:solidFill>
                        <a:latin typeface="Cambria Math" panose="02040503050406030204" pitchFamily="18" charset="0"/>
                        <a:cs typeface="Times New Roman"/>
                      </a:rPr>
                      <m:t>.</m:t>
                    </m:r>
                  </m:oMath>
                </a14:m>
                <a:endParaRPr lang="es-ES" spc="-5" dirty="0">
                  <a:solidFill>
                    <a:schemeClr val="tx1"/>
                  </a:solidFill>
                  <a:latin typeface="Times New Roman"/>
                  <a:cs typeface="Times New Roman"/>
                </a:endParaRPr>
              </a:p>
              <a:p>
                <a:endParaRPr lang="es-ES" dirty="0"/>
              </a:p>
            </p:txBody>
          </p:sp>
        </mc:Choice>
        <mc:Fallback xmlns="">
          <p:sp>
            <p:nvSpPr>
              <p:cNvPr id="12" name="CuadroTexto 11"/>
              <p:cNvSpPr txBox="1">
                <a:spLocks noRot="1" noChangeAspect="1" noMove="1" noResize="1" noEditPoints="1" noAdjustHandles="1" noChangeArrowheads="1" noChangeShapeType="1" noTextEdit="1"/>
              </p:cNvSpPr>
              <p:nvPr/>
            </p:nvSpPr>
            <p:spPr>
              <a:xfrm>
                <a:off x="346963" y="2761854"/>
                <a:ext cx="10511537" cy="4067524"/>
              </a:xfrm>
              <a:prstGeom prst="rect">
                <a:avLst/>
              </a:prstGeom>
              <a:blipFill rotWithShape="0">
                <a:blip r:embed="rId4"/>
                <a:stretch>
                  <a:fillRect l="-174" t="-900"/>
                </a:stretch>
              </a:blipFill>
            </p:spPr>
            <p:txBody>
              <a:bodyPr/>
              <a:lstStyle/>
              <a:p>
                <a:r>
                  <a:rPr lang="es-ES">
                    <a:noFill/>
                  </a:rPr>
                  <a:t> </a:t>
                </a:r>
              </a:p>
            </p:txBody>
          </p:sp>
        </mc:Fallback>
      </mc:AlternateContent>
    </p:spTree>
    <p:extLst>
      <p:ext uri="{BB962C8B-B14F-4D97-AF65-F5344CB8AC3E}">
        <p14:creationId xmlns:p14="http://schemas.microsoft.com/office/powerpoint/2010/main" val="225367514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object 2"/>
              <p:cNvSpPr txBox="1">
                <a:spLocks noGrp="1"/>
              </p:cNvSpPr>
              <p:nvPr>
                <p:ph type="title"/>
              </p:nvPr>
            </p:nvSpPr>
            <p:spPr>
              <a:xfrm>
                <a:off x="317500" y="261965"/>
                <a:ext cx="9999472" cy="675826"/>
              </a:xfrm>
              <a:prstGeom prst="rect">
                <a:avLst/>
              </a:prstGeom>
            </p:spPr>
            <p:txBody>
              <a:bodyPr vert="horz" wrap="square" lIns="0" tIns="34290" rIns="0" bIns="0" rtlCol="0">
                <a:spAutoFit/>
              </a:bodyPr>
              <a:lstStyle/>
              <a:p>
                <a:pPr marL="12700" marR="30480">
                  <a:lnSpc>
                    <a:spcPts val="2530"/>
                  </a:lnSpc>
                  <a:spcBef>
                    <a:spcPts val="270"/>
                  </a:spcBef>
                </a:pPr>
                <a:r>
                  <a:rPr lang="es-ES" sz="2200" spc="-5" dirty="0" smtClean="0">
                    <a:solidFill>
                      <a:schemeClr val="tx1"/>
                    </a:solidFill>
                  </a:rPr>
                  <a:t>En</a:t>
                </a:r>
                <a:r>
                  <a:rPr lang="es-ES" sz="2200" spc="10" dirty="0">
                    <a:solidFill>
                      <a:schemeClr val="tx1"/>
                    </a:solidFill>
                  </a:rPr>
                  <a:t> </a:t>
                </a:r>
                <a:r>
                  <a:rPr lang="es-ES" sz="2200" spc="-5" dirty="0">
                    <a:solidFill>
                      <a:schemeClr val="tx1"/>
                    </a:solidFill>
                  </a:rPr>
                  <a:t>el</a:t>
                </a:r>
                <a:r>
                  <a:rPr lang="es-ES" sz="2200" dirty="0">
                    <a:solidFill>
                      <a:schemeClr val="tx1"/>
                    </a:solidFill>
                  </a:rPr>
                  <a:t> </a:t>
                </a:r>
                <a:r>
                  <a:rPr lang="es-ES" sz="2200" spc="-5" dirty="0">
                    <a:solidFill>
                      <a:schemeClr val="tx1"/>
                    </a:solidFill>
                  </a:rPr>
                  <a:t>proceso</a:t>
                </a:r>
                <a:r>
                  <a:rPr lang="es-ES" sz="2200" spc="15" dirty="0">
                    <a:solidFill>
                      <a:schemeClr val="tx1"/>
                    </a:solidFill>
                  </a:rPr>
                  <a:t> </a:t>
                </a:r>
                <a:r>
                  <a:rPr lang="es-ES" sz="2200" spc="-5" dirty="0">
                    <a:solidFill>
                      <a:schemeClr val="tx1"/>
                    </a:solidFill>
                  </a:rPr>
                  <a:t>de</a:t>
                </a:r>
                <a:r>
                  <a:rPr lang="es-ES" sz="2200" dirty="0">
                    <a:solidFill>
                      <a:schemeClr val="tx1"/>
                    </a:solidFill>
                  </a:rPr>
                  <a:t> </a:t>
                </a:r>
                <a:r>
                  <a:rPr lang="es-ES" sz="2200" spc="-5" dirty="0">
                    <a:solidFill>
                      <a:schemeClr val="tx1"/>
                    </a:solidFill>
                  </a:rPr>
                  <a:t>optimización,</a:t>
                </a:r>
                <a:r>
                  <a:rPr lang="es-ES" sz="2200" spc="15" dirty="0">
                    <a:solidFill>
                      <a:schemeClr val="tx1"/>
                    </a:solidFill>
                  </a:rPr>
                  <a:t> </a:t>
                </a:r>
                <a:r>
                  <a:rPr lang="es-ES" sz="2200" spc="-5" dirty="0">
                    <a:solidFill>
                      <a:schemeClr val="tx1"/>
                    </a:solidFill>
                  </a:rPr>
                  <a:t>en</a:t>
                </a:r>
                <a:r>
                  <a:rPr lang="es-ES" sz="2200" spc="10" dirty="0">
                    <a:solidFill>
                      <a:schemeClr val="tx1"/>
                    </a:solidFill>
                  </a:rPr>
                  <a:t> </a:t>
                </a:r>
                <a:r>
                  <a:rPr lang="es-ES" sz="2200" spc="-5" dirty="0">
                    <a:solidFill>
                      <a:schemeClr val="tx1"/>
                    </a:solidFill>
                  </a:rPr>
                  <a:t>cada</a:t>
                </a:r>
                <a:r>
                  <a:rPr lang="es-ES" sz="2200" spc="5" dirty="0">
                    <a:solidFill>
                      <a:schemeClr val="tx1"/>
                    </a:solidFill>
                  </a:rPr>
                  <a:t> </a:t>
                </a:r>
                <a:r>
                  <a:rPr lang="es-ES" sz="2200" spc="-5" dirty="0">
                    <a:solidFill>
                      <a:schemeClr val="tx1"/>
                    </a:solidFill>
                  </a:rPr>
                  <a:t>iteración</a:t>
                </a:r>
                <a:r>
                  <a:rPr lang="es-ES" sz="2200" spc="10" dirty="0">
                    <a:solidFill>
                      <a:schemeClr val="tx1"/>
                    </a:solidFill>
                  </a:rPr>
                  <a:t> </a:t>
                </a:r>
                <a:r>
                  <a:rPr lang="es-ES" sz="2200" spc="-5" dirty="0">
                    <a:solidFill>
                      <a:schemeClr val="tx1"/>
                    </a:solidFill>
                  </a:rPr>
                  <a:t>los</a:t>
                </a:r>
                <a:r>
                  <a:rPr lang="es-ES" sz="2200" spc="5" dirty="0">
                    <a:solidFill>
                      <a:schemeClr val="tx1"/>
                    </a:solidFill>
                  </a:rPr>
                  <a:t> </a:t>
                </a:r>
                <a:r>
                  <a:rPr lang="es-ES" sz="2200" spc="-5" dirty="0">
                    <a:solidFill>
                      <a:schemeClr val="tx1"/>
                    </a:solidFill>
                  </a:rPr>
                  <a:t>pesos</a:t>
                </a:r>
                <a:r>
                  <a:rPr lang="es-ES" sz="2200" dirty="0">
                    <a:solidFill>
                      <a:schemeClr val="tx1"/>
                    </a:solidFill>
                  </a:rPr>
                  <a:t> </a:t>
                </a:r>
                <a:r>
                  <a:rPr lang="es-ES" sz="2200" spc="-10" dirty="0">
                    <a:solidFill>
                      <a:schemeClr val="tx1"/>
                    </a:solidFill>
                  </a:rPr>
                  <a:t>son</a:t>
                </a:r>
                <a:r>
                  <a:rPr lang="es-ES" sz="2200" spc="10" dirty="0">
                    <a:solidFill>
                      <a:schemeClr val="tx1"/>
                    </a:solidFill>
                  </a:rPr>
                  <a:t> </a:t>
                </a:r>
                <a:r>
                  <a:rPr lang="es-ES" sz="2200" spc="-5" dirty="0">
                    <a:solidFill>
                      <a:schemeClr val="tx1"/>
                    </a:solidFill>
                  </a:rPr>
                  <a:t>diferentes,</a:t>
                </a:r>
                <a:r>
                  <a:rPr lang="es-ES" sz="2200" spc="5" dirty="0">
                    <a:solidFill>
                      <a:schemeClr val="tx1"/>
                    </a:solidFill>
                  </a:rPr>
                  <a:t> </a:t>
                </a:r>
                <a:r>
                  <a:rPr lang="es-ES" sz="2200" spc="-5" dirty="0">
                    <a:solidFill>
                      <a:schemeClr val="tx1"/>
                    </a:solidFill>
                  </a:rPr>
                  <a:t>la</a:t>
                </a:r>
                <a:r>
                  <a:rPr lang="es-ES" sz="2200" spc="60" dirty="0">
                    <a:solidFill>
                      <a:schemeClr val="tx1"/>
                    </a:solidFill>
                  </a:rPr>
                  <a:t> </a:t>
                </a:r>
                <a14:m>
                  <m:oMath xmlns:m="http://schemas.openxmlformats.org/officeDocument/2006/math">
                    <m:sSub>
                      <m:sSubPr>
                        <m:ctrlPr>
                          <a:rPr lang="ar-AE" sz="2200" i="1" spc="60" smtClean="0">
                            <a:solidFill>
                              <a:schemeClr val="tx1"/>
                            </a:solidFill>
                            <a:latin typeface="Cambria Math" panose="02040503050406030204" pitchFamily="18" charset="0"/>
                          </a:rPr>
                        </m:ctrlPr>
                      </m:sSubPr>
                      <m:e>
                        <m:acc>
                          <m:accPr>
                            <m:chr m:val="̂"/>
                            <m:ctrlPr>
                              <a:rPr lang="ar-AE" sz="2200" i="1" spc="60" smtClean="0">
                                <a:solidFill>
                                  <a:schemeClr val="tx1"/>
                                </a:solidFill>
                                <a:latin typeface="Cambria Math" panose="02040503050406030204" pitchFamily="18" charset="0"/>
                              </a:rPr>
                            </m:ctrlPr>
                          </m:accPr>
                          <m:e>
                            <m:r>
                              <a:rPr lang="ar-AE" sz="2200" b="0" i="1" spc="60" smtClean="0">
                                <a:solidFill>
                                  <a:schemeClr val="tx1"/>
                                </a:solidFill>
                                <a:latin typeface="Cambria Math" panose="02040503050406030204" pitchFamily="18" charset="0"/>
                              </a:rPr>
                              <m:t>𝑌</m:t>
                            </m:r>
                          </m:e>
                        </m:acc>
                      </m:e>
                      <m:sub>
                        <m:r>
                          <a:rPr lang="ar-AE" sz="2200" b="0" i="1" spc="60" smtClean="0">
                            <a:solidFill>
                              <a:schemeClr val="tx1"/>
                            </a:solidFill>
                            <a:latin typeface="Cambria Math" panose="02040503050406030204" pitchFamily="18" charset="0"/>
                          </a:rPr>
                          <m:t>𝑖</m:t>
                        </m:r>
                      </m:sub>
                    </m:sSub>
                  </m:oMath>
                </a14:m>
                <a:r>
                  <a:rPr lang="es-ES" sz="2200" spc="-10" dirty="0" smtClean="0">
                    <a:solidFill>
                      <a:schemeClr val="tx1"/>
                    </a:solidFill>
                  </a:rPr>
                  <a:t> es </a:t>
                </a:r>
                <a:r>
                  <a:rPr lang="es-ES" sz="2200" spc="-535" dirty="0" smtClean="0">
                    <a:solidFill>
                      <a:schemeClr val="tx1"/>
                    </a:solidFill>
                  </a:rPr>
                  <a:t> </a:t>
                </a:r>
                <a:r>
                  <a:rPr lang="es-ES" sz="2200" spc="-5" dirty="0">
                    <a:solidFill>
                      <a:schemeClr val="tx1"/>
                    </a:solidFill>
                  </a:rPr>
                  <a:t>diferente y</a:t>
                </a:r>
                <a:r>
                  <a:rPr lang="es-ES" sz="2200" spc="10" dirty="0">
                    <a:solidFill>
                      <a:schemeClr val="tx1"/>
                    </a:solidFill>
                  </a:rPr>
                  <a:t> </a:t>
                </a:r>
                <a:r>
                  <a:rPr lang="es-ES" sz="2200" spc="-5" dirty="0">
                    <a:solidFill>
                      <a:schemeClr val="tx1"/>
                    </a:solidFill>
                  </a:rPr>
                  <a:t>da lugar</a:t>
                </a:r>
                <a:r>
                  <a:rPr lang="es-ES" sz="2200" dirty="0">
                    <a:solidFill>
                      <a:schemeClr val="tx1"/>
                    </a:solidFill>
                  </a:rPr>
                  <a:t> </a:t>
                </a:r>
                <a:r>
                  <a:rPr lang="es-ES" sz="2200" spc="-5" dirty="0">
                    <a:solidFill>
                      <a:schemeClr val="tx1"/>
                    </a:solidFill>
                  </a:rPr>
                  <a:t>a diferente valor</a:t>
                </a:r>
                <a:r>
                  <a:rPr lang="es-ES" sz="2200" spc="10" dirty="0">
                    <a:solidFill>
                      <a:schemeClr val="tx1"/>
                    </a:solidFill>
                  </a:rPr>
                  <a:t> </a:t>
                </a:r>
                <a:r>
                  <a:rPr lang="es-ES" sz="2200" spc="-5" dirty="0">
                    <a:solidFill>
                      <a:schemeClr val="tx1"/>
                    </a:solidFill>
                  </a:rPr>
                  <a:t>de la</a:t>
                </a:r>
                <a:r>
                  <a:rPr lang="es-ES" sz="2200" spc="-10" dirty="0">
                    <a:solidFill>
                      <a:schemeClr val="tx1"/>
                    </a:solidFill>
                  </a:rPr>
                  <a:t> </a:t>
                </a:r>
                <a:r>
                  <a:rPr lang="es-ES" sz="2200" spc="-5" dirty="0">
                    <a:solidFill>
                      <a:schemeClr val="tx1"/>
                    </a:solidFill>
                  </a:rPr>
                  <a:t>función</a:t>
                </a:r>
                <a:r>
                  <a:rPr lang="es-ES" sz="2200" spc="10" dirty="0">
                    <a:solidFill>
                      <a:schemeClr val="tx1"/>
                    </a:solidFill>
                  </a:rPr>
                  <a:t> </a:t>
                </a:r>
                <a:r>
                  <a:rPr lang="es-ES" sz="2200" spc="-5" dirty="0">
                    <a:solidFill>
                      <a:schemeClr val="tx1"/>
                    </a:solidFill>
                  </a:rPr>
                  <a:t>de error</a:t>
                </a:r>
                <a:endParaRPr lang="es-ES" sz="2200" dirty="0">
                  <a:solidFill>
                    <a:schemeClr val="tx1"/>
                  </a:solidFill>
                  <a:latin typeface="Cambria Math"/>
                  <a:cs typeface="Cambria Math"/>
                </a:endParaRPr>
              </a:p>
            </p:txBody>
          </p:sp>
        </mc:Choice>
        <mc:Fallback xmlns="">
          <p:sp>
            <p:nvSpPr>
              <p:cNvPr id="2" name="object 2"/>
              <p:cNvSpPr txBox="1">
                <a:spLocks noGrp="1" noRot="1" noChangeAspect="1" noMove="1" noResize="1" noEditPoints="1" noAdjustHandles="1" noChangeArrowheads="1" noChangeShapeType="1" noTextEdit="1"/>
              </p:cNvSpPr>
              <p:nvPr>
                <p:ph type="title"/>
              </p:nvPr>
            </p:nvSpPr>
            <p:spPr>
              <a:xfrm>
                <a:off x="317500" y="261965"/>
                <a:ext cx="9999472" cy="675826"/>
              </a:xfrm>
              <a:prstGeom prst="rect">
                <a:avLst/>
              </a:prstGeom>
              <a:blipFill rotWithShape="0">
                <a:blip r:embed="rId2"/>
                <a:stretch>
                  <a:fillRect l="-1585" t="-10811" b="-2432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object 3"/>
              <p:cNvSpPr txBox="1"/>
              <p:nvPr/>
            </p:nvSpPr>
            <p:spPr>
              <a:xfrm>
                <a:off x="2908300" y="1133602"/>
                <a:ext cx="8377937" cy="359970"/>
              </a:xfrm>
              <a:prstGeom prst="rect">
                <a:avLst/>
              </a:prstGeom>
            </p:spPr>
            <p:txBody>
              <a:bodyPr vert="horz" wrap="square" lIns="0" tIns="12065" rIns="0" bIns="0" rtlCol="0">
                <a:spAutoFit/>
              </a:bodyPr>
              <a:lstStyle/>
              <a:p>
                <a:pPr marL="38100">
                  <a:lnSpc>
                    <a:spcPct val="100000"/>
                  </a:lnSpc>
                  <a:spcBef>
                    <a:spcPts val="95"/>
                  </a:spcBef>
                  <a:tabLst>
                    <a:tab pos="2229485" algn="l"/>
                  </a:tabLst>
                </a:pPr>
                <a:r>
                  <a:rPr lang="es-ES" sz="2200" spc="-10" dirty="0" smtClean="0">
                    <a:solidFill>
                      <a:srgbClr val="FF0000"/>
                    </a:solidFill>
                    <a:latin typeface="Times New Roman"/>
                    <a:cs typeface="Times New Roman"/>
                  </a:rPr>
                  <a:t>SS</a:t>
                </a:r>
                <a:r>
                  <a:rPr lang="es-ES" sz="2200" dirty="0" smtClean="0">
                    <a:solidFill>
                      <a:srgbClr val="FF0000"/>
                    </a:solidFill>
                    <a:latin typeface="Times New Roman"/>
                    <a:cs typeface="Times New Roman"/>
                  </a:rPr>
                  <a:t>E</a:t>
                </a:r>
                <a:r>
                  <a:rPr lang="es-ES" sz="2200" spc="-5" dirty="0" smtClean="0">
                    <a:solidFill>
                      <a:srgbClr val="FF0000"/>
                    </a:solidFill>
                    <a:latin typeface="Times New Roman"/>
                    <a:cs typeface="Times New Roman"/>
                  </a:rPr>
                  <a:t>=n</a:t>
                </a:r>
                <a:r>
                  <a:rPr lang="es-ES" sz="2200" spc="5" dirty="0" smtClean="0">
                    <a:solidFill>
                      <a:srgbClr val="FF0000"/>
                    </a:solidFill>
                    <a:latin typeface="Times New Roman"/>
                    <a:cs typeface="Times New Roman"/>
                  </a:rPr>
                  <a:t>*</a:t>
                </a:r>
                <a:r>
                  <a:rPr lang="es-ES" sz="2200" spc="-5" dirty="0" smtClean="0">
                    <a:solidFill>
                      <a:srgbClr val="FF0000"/>
                    </a:solidFill>
                    <a:latin typeface="Times New Roman"/>
                    <a:cs typeface="Times New Roman"/>
                  </a:rPr>
                  <a:t>MSE</a:t>
                </a:r>
                <a:r>
                  <a:rPr lang="es-ES" sz="2200" spc="-10" dirty="0" smtClean="0">
                    <a:solidFill>
                      <a:srgbClr val="FF0000"/>
                    </a:solidFill>
                    <a:latin typeface="Times New Roman"/>
                    <a:cs typeface="Times New Roman"/>
                  </a:rPr>
                  <a:t>=</a:t>
                </a:r>
                <a:r>
                  <a:rPr lang="es-ES" sz="3300" spc="-7" baseline="2525" dirty="0" smtClean="0">
                    <a:solidFill>
                      <a:srgbClr val="FF0000"/>
                    </a:solidFill>
                    <a:latin typeface="Cambria Math"/>
                    <a:cs typeface="Cambria Math"/>
                  </a:rPr>
                  <a:t>∑</a:t>
                </a:r>
                <a:r>
                  <a:rPr lang="es-ES" sz="2400" spc="-7" baseline="31250" dirty="0" smtClean="0">
                    <a:solidFill>
                      <a:srgbClr val="FF0000"/>
                    </a:solidFill>
                    <a:latin typeface="Cambria Math"/>
                    <a:cs typeface="Cambria Math"/>
                  </a:rPr>
                  <a:t>𝑛</a:t>
                </a:r>
                <a:r>
                  <a:rPr lang="es-ES" sz="3300" spc="-7" baseline="2525" dirty="0" smtClean="0">
                    <a:solidFill>
                      <a:srgbClr val="FF0000"/>
                    </a:solidFill>
                    <a:latin typeface="Cambria Math"/>
                    <a:cs typeface="Cambria Math"/>
                  </a:rPr>
                  <a:t>(</a:t>
                </a:r>
                <a14:m>
                  <m:oMath xmlns:m="http://schemas.openxmlformats.org/officeDocument/2006/math">
                    <m:sSub>
                      <m:sSubPr>
                        <m:ctrlPr>
                          <a:rPr lang="ar-AE" sz="2200" i="1" spc="-85" smtClean="0">
                            <a:solidFill>
                              <a:srgbClr val="FF0000"/>
                            </a:solidFill>
                            <a:latin typeface="Cambria Math" panose="02040503050406030204" pitchFamily="18" charset="0"/>
                          </a:rPr>
                        </m:ctrlPr>
                      </m:sSubPr>
                      <m:e>
                        <m:r>
                          <a:rPr lang="es-ES" sz="2200" b="0" i="1" spc="-85" smtClean="0">
                            <a:solidFill>
                              <a:srgbClr val="FF0000"/>
                            </a:solidFill>
                            <a:latin typeface="Cambria Math" panose="02040503050406030204" pitchFamily="18" charset="0"/>
                          </a:rPr>
                          <m:t>𝑌</m:t>
                        </m:r>
                      </m:e>
                      <m:sub>
                        <m:r>
                          <a:rPr lang="ar-AE" sz="2200" b="0" i="1" spc="-85" smtClean="0">
                            <a:solidFill>
                              <a:srgbClr val="FF0000"/>
                            </a:solidFill>
                            <a:latin typeface="Cambria Math" panose="02040503050406030204" pitchFamily="18" charset="0"/>
                          </a:rPr>
                          <m:t>𝑖</m:t>
                        </m:r>
                      </m:sub>
                    </m:sSub>
                    <m:r>
                      <a:rPr lang="es-ES" sz="2200" b="0" i="1" spc="-85" smtClean="0">
                        <a:solidFill>
                          <a:srgbClr val="FF0000"/>
                        </a:solidFill>
                        <a:latin typeface="Cambria Math" panose="02040503050406030204" pitchFamily="18" charset="0"/>
                      </a:rPr>
                      <m:t>−</m:t>
                    </m:r>
                    <m:sSub>
                      <m:sSubPr>
                        <m:ctrlPr>
                          <a:rPr lang="es-ES" sz="2200" b="0" i="1" spc="-85" smtClean="0">
                            <a:solidFill>
                              <a:srgbClr val="FF0000"/>
                            </a:solidFill>
                            <a:latin typeface="Cambria Math" panose="02040503050406030204" pitchFamily="18" charset="0"/>
                          </a:rPr>
                        </m:ctrlPr>
                      </m:sSubPr>
                      <m:e>
                        <m:acc>
                          <m:accPr>
                            <m:chr m:val="̂"/>
                            <m:ctrlPr>
                              <a:rPr lang="es-ES" sz="2200" b="0" i="1" spc="-85" smtClean="0">
                                <a:solidFill>
                                  <a:srgbClr val="FF0000"/>
                                </a:solidFill>
                                <a:latin typeface="Cambria Math" panose="02040503050406030204" pitchFamily="18" charset="0"/>
                              </a:rPr>
                            </m:ctrlPr>
                          </m:accPr>
                          <m:e>
                            <m:r>
                              <a:rPr lang="es-ES" sz="2200" b="0" i="1" spc="-85" smtClean="0">
                                <a:solidFill>
                                  <a:srgbClr val="FF0000"/>
                                </a:solidFill>
                                <a:latin typeface="Cambria Math" panose="02040503050406030204" pitchFamily="18" charset="0"/>
                              </a:rPr>
                              <m:t>𝑌</m:t>
                            </m:r>
                          </m:e>
                        </m:acc>
                      </m:e>
                      <m:sub>
                        <m:r>
                          <a:rPr lang="es-ES" sz="2200" b="0" i="1" spc="-85" smtClean="0">
                            <a:solidFill>
                              <a:srgbClr val="FF0000"/>
                            </a:solidFill>
                            <a:latin typeface="Cambria Math" panose="02040503050406030204" pitchFamily="18" charset="0"/>
                          </a:rPr>
                          <m:t>𝑖</m:t>
                        </m:r>
                      </m:sub>
                    </m:sSub>
                    <m:r>
                      <a:rPr lang="es-ES" sz="2200" b="0" i="0" spc="-85" smtClean="0">
                        <a:solidFill>
                          <a:srgbClr val="FF0000"/>
                        </a:solidFill>
                        <a:latin typeface="Cambria Math" panose="02040503050406030204" pitchFamily="18" charset="0"/>
                      </a:rPr>
                      <m:t>)</m:t>
                    </m:r>
                  </m:oMath>
                </a14:m>
                <a:r>
                  <a:rPr lang="ar-AE" sz="3300" spc="-7" baseline="2525" dirty="0" smtClean="0">
                    <a:solidFill>
                      <a:schemeClr val="bg1"/>
                    </a:solidFill>
                    <a:latin typeface="Cambria Math"/>
                    <a:cs typeface="Cambria Math"/>
                  </a:rPr>
                  <a:t>)</a:t>
                </a:r>
                <a:r>
                  <a:rPr lang="ar-AE" sz="2400" spc="-7" baseline="27777" dirty="0" smtClean="0">
                    <a:solidFill>
                      <a:srgbClr val="FF0000"/>
                    </a:solidFill>
                    <a:latin typeface="Cambria Math"/>
                    <a:cs typeface="Cambria Math"/>
                  </a:rPr>
                  <a:t>2</a:t>
                </a:r>
                <a:endParaRPr sz="2400" baseline="27777" dirty="0">
                  <a:latin typeface="Cambria Math"/>
                  <a:cs typeface="Cambria Math"/>
                </a:endParaRPr>
              </a:p>
            </p:txBody>
          </p:sp>
        </mc:Choice>
        <mc:Fallback xmlns="">
          <p:sp>
            <p:nvSpPr>
              <p:cNvPr id="3" name="object 3"/>
              <p:cNvSpPr txBox="1">
                <a:spLocks noRot="1" noChangeAspect="1" noMove="1" noResize="1" noEditPoints="1" noAdjustHandles="1" noChangeArrowheads="1" noChangeShapeType="1" noTextEdit="1"/>
              </p:cNvSpPr>
              <p:nvPr/>
            </p:nvSpPr>
            <p:spPr>
              <a:xfrm>
                <a:off x="2908300" y="1133602"/>
                <a:ext cx="8377937" cy="359970"/>
              </a:xfrm>
              <a:prstGeom prst="rect">
                <a:avLst/>
              </a:prstGeom>
              <a:blipFill rotWithShape="0">
                <a:blip r:embed="rId3"/>
                <a:stretch>
                  <a:fillRect l="-1601" t="-22034" b="-47458"/>
                </a:stretch>
              </a:blipFill>
            </p:spPr>
            <p:txBody>
              <a:bodyPr/>
              <a:lstStyle/>
              <a:p>
                <a:r>
                  <a:rPr lang="es-ES">
                    <a:noFill/>
                  </a:rPr>
                  <a:t> </a:t>
                </a:r>
              </a:p>
            </p:txBody>
          </p:sp>
        </mc:Fallback>
      </mc:AlternateContent>
      <p:sp>
        <p:nvSpPr>
          <p:cNvPr id="4" name="object 4"/>
          <p:cNvSpPr txBox="1"/>
          <p:nvPr/>
        </p:nvSpPr>
        <p:spPr>
          <a:xfrm>
            <a:off x="4519548" y="1416709"/>
            <a:ext cx="363220" cy="269240"/>
          </a:xfrm>
          <a:prstGeom prst="rect">
            <a:avLst/>
          </a:prstGeom>
        </p:spPr>
        <p:txBody>
          <a:bodyPr vert="horz" wrap="square" lIns="0" tIns="12065" rIns="0" bIns="0" rtlCol="0">
            <a:spAutoFit/>
          </a:bodyPr>
          <a:lstStyle/>
          <a:p>
            <a:pPr marL="12700">
              <a:lnSpc>
                <a:spcPct val="100000"/>
              </a:lnSpc>
              <a:spcBef>
                <a:spcPts val="95"/>
              </a:spcBef>
            </a:pPr>
            <a:r>
              <a:rPr sz="1600" spc="100" dirty="0">
                <a:solidFill>
                  <a:srgbClr val="FF0000"/>
                </a:solidFill>
                <a:latin typeface="Cambria Math"/>
                <a:cs typeface="Cambria Math"/>
              </a:rPr>
              <a:t>𝑖</a:t>
            </a:r>
            <a:r>
              <a:rPr sz="1600" spc="-35" dirty="0">
                <a:solidFill>
                  <a:srgbClr val="FF0000"/>
                </a:solidFill>
                <a:latin typeface="Cambria Math"/>
                <a:cs typeface="Cambria Math"/>
              </a:rPr>
              <a:t>=</a:t>
            </a:r>
            <a:r>
              <a:rPr sz="1600" spc="-5" dirty="0">
                <a:solidFill>
                  <a:srgbClr val="FF0000"/>
                </a:solidFill>
                <a:latin typeface="Cambria Math"/>
                <a:cs typeface="Cambria Math"/>
              </a:rPr>
              <a:t>1</a:t>
            </a:r>
            <a:endParaRPr sz="1600" dirty="0">
              <a:latin typeface="Cambria Math"/>
              <a:cs typeface="Cambria Math"/>
            </a:endParaRPr>
          </a:p>
        </p:txBody>
      </p:sp>
      <p:sp>
        <p:nvSpPr>
          <p:cNvPr id="5" name="object 5"/>
          <p:cNvSpPr txBox="1"/>
          <p:nvPr/>
        </p:nvSpPr>
        <p:spPr>
          <a:xfrm>
            <a:off x="346963" y="1647189"/>
            <a:ext cx="2243455" cy="320675"/>
          </a:xfrm>
          <a:prstGeom prst="rect">
            <a:avLst/>
          </a:prstGeom>
        </p:spPr>
        <p:txBody>
          <a:bodyPr vert="horz" wrap="square" lIns="0" tIns="12065" rIns="0" bIns="0" rtlCol="0">
            <a:spAutoFit/>
          </a:bodyPr>
          <a:lstStyle/>
          <a:p>
            <a:pPr marL="12700">
              <a:lnSpc>
                <a:spcPts val="1165"/>
              </a:lnSpc>
              <a:spcBef>
                <a:spcPts val="95"/>
              </a:spcBef>
              <a:tabLst>
                <a:tab pos="930275" algn="l"/>
              </a:tabLst>
            </a:pPr>
            <a:r>
              <a:rPr sz="1000" spc="-5" dirty="0">
                <a:latin typeface="Lucida Console"/>
                <a:cs typeface="Lucida Console"/>
              </a:rPr>
              <a:t>#</a:t>
            </a:r>
            <a:r>
              <a:rPr sz="1000" spc="10" dirty="0">
                <a:latin typeface="Lucida Console"/>
                <a:cs typeface="Lucida Console"/>
              </a:rPr>
              <a:t> </a:t>
            </a:r>
            <a:r>
              <a:rPr sz="1000" spc="-5" dirty="0">
                <a:latin typeface="Lucida Console"/>
                <a:cs typeface="Lucida Console"/>
              </a:rPr>
              <a:t>weights:	</a:t>
            </a:r>
            <a:r>
              <a:rPr sz="1000" spc="-10" dirty="0">
                <a:latin typeface="Lucida Console"/>
                <a:cs typeface="Lucida Console"/>
              </a:rPr>
              <a:t>13</a:t>
            </a:r>
            <a:endParaRPr sz="1000" dirty="0">
              <a:latin typeface="Lucida Console"/>
              <a:cs typeface="Lucida Console"/>
            </a:endParaRPr>
          </a:p>
          <a:p>
            <a:pPr marL="12700">
              <a:lnSpc>
                <a:spcPts val="1165"/>
              </a:lnSpc>
              <a:tabLst>
                <a:tab pos="699770" algn="l"/>
              </a:tabLst>
            </a:pPr>
            <a:r>
              <a:rPr sz="1000" spc="-5" dirty="0">
                <a:latin typeface="Lucida Console"/>
                <a:cs typeface="Lucida Console"/>
              </a:rPr>
              <a:t>initial	value</a:t>
            </a:r>
            <a:r>
              <a:rPr sz="1000" spc="-25" dirty="0">
                <a:latin typeface="Lucida Console"/>
                <a:cs typeface="Lucida Console"/>
              </a:rPr>
              <a:t> </a:t>
            </a:r>
            <a:r>
              <a:rPr sz="1000" spc="-5" dirty="0">
                <a:latin typeface="Lucida Console"/>
                <a:cs typeface="Lucida Console"/>
              </a:rPr>
              <a:t>1601216.121533</a:t>
            </a:r>
            <a:endParaRPr sz="1000" dirty="0">
              <a:latin typeface="Lucida Console"/>
              <a:cs typeface="Lucida Console"/>
            </a:endParaRPr>
          </a:p>
        </p:txBody>
      </p:sp>
      <p:sp>
        <p:nvSpPr>
          <p:cNvPr id="6" name="object 6"/>
          <p:cNvSpPr txBox="1"/>
          <p:nvPr/>
        </p:nvSpPr>
        <p:spPr>
          <a:xfrm>
            <a:off x="346963" y="1933701"/>
            <a:ext cx="330200" cy="1320800"/>
          </a:xfrm>
          <a:prstGeom prst="rect">
            <a:avLst/>
          </a:prstGeom>
        </p:spPr>
        <p:txBody>
          <a:bodyPr vert="horz" wrap="square" lIns="0" tIns="21590" rIns="0" bIns="0" rtlCol="0">
            <a:spAutoFit/>
          </a:bodyPr>
          <a:lstStyle/>
          <a:p>
            <a:pPr marL="12700" marR="5080" algn="just">
              <a:lnSpc>
                <a:spcPct val="93800"/>
              </a:lnSpc>
              <a:spcBef>
                <a:spcPts val="170"/>
              </a:spcBef>
            </a:pPr>
            <a:r>
              <a:rPr sz="1000" spc="-10" dirty="0">
                <a:latin typeface="Lucida Console"/>
                <a:cs typeface="Lucida Console"/>
              </a:rPr>
              <a:t>iter  iter  iter  iter  iter  iter  iter  iter  iter</a:t>
            </a:r>
            <a:endParaRPr sz="1000">
              <a:latin typeface="Lucida Console"/>
              <a:cs typeface="Lucida Console"/>
            </a:endParaRPr>
          </a:p>
        </p:txBody>
      </p:sp>
      <p:sp>
        <p:nvSpPr>
          <p:cNvPr id="7" name="object 7"/>
          <p:cNvSpPr txBox="1"/>
          <p:nvPr/>
        </p:nvSpPr>
        <p:spPr>
          <a:xfrm>
            <a:off x="805687" y="1933701"/>
            <a:ext cx="1708150" cy="1320800"/>
          </a:xfrm>
          <a:prstGeom prst="rect">
            <a:avLst/>
          </a:prstGeom>
        </p:spPr>
        <p:txBody>
          <a:bodyPr vert="horz" wrap="square" lIns="0" tIns="12065" rIns="0" bIns="0" rtlCol="0">
            <a:spAutoFit/>
          </a:bodyPr>
          <a:lstStyle/>
          <a:p>
            <a:pPr marL="12700">
              <a:lnSpc>
                <a:spcPts val="1165"/>
              </a:lnSpc>
              <a:spcBef>
                <a:spcPts val="95"/>
              </a:spcBef>
            </a:pPr>
            <a:r>
              <a:rPr sz="1000" spc="-5" dirty="0">
                <a:latin typeface="Lucida Console"/>
                <a:cs typeface="Lucida Console"/>
              </a:rPr>
              <a:t>10</a:t>
            </a:r>
            <a:r>
              <a:rPr sz="1000" spc="-20" dirty="0">
                <a:latin typeface="Lucida Console"/>
                <a:cs typeface="Lucida Console"/>
              </a:rPr>
              <a:t> </a:t>
            </a:r>
            <a:r>
              <a:rPr sz="1000" spc="-5" dirty="0">
                <a:latin typeface="Lucida Console"/>
                <a:cs typeface="Lucida Console"/>
              </a:rPr>
              <a:t>value</a:t>
            </a:r>
            <a:r>
              <a:rPr sz="1000" spc="-15" dirty="0">
                <a:latin typeface="Lucida Console"/>
                <a:cs typeface="Lucida Console"/>
              </a:rPr>
              <a:t> </a:t>
            </a:r>
            <a:r>
              <a:rPr sz="1000" spc="-5" dirty="0">
                <a:latin typeface="Lucida Console"/>
                <a:cs typeface="Lucida Console"/>
              </a:rPr>
              <a:t>166917.729534</a:t>
            </a:r>
            <a:endParaRPr sz="1000" dirty="0">
              <a:latin typeface="Lucida Console"/>
              <a:cs typeface="Lucida Console"/>
            </a:endParaRPr>
          </a:p>
          <a:p>
            <a:pPr marL="12700">
              <a:lnSpc>
                <a:spcPts val="1120"/>
              </a:lnSpc>
            </a:pPr>
            <a:r>
              <a:rPr sz="1000" spc="-5" dirty="0">
                <a:latin typeface="Lucida Console"/>
                <a:cs typeface="Lucida Console"/>
              </a:rPr>
              <a:t>20</a:t>
            </a:r>
            <a:r>
              <a:rPr sz="1000" spc="-20" dirty="0">
                <a:latin typeface="Lucida Console"/>
                <a:cs typeface="Lucida Console"/>
              </a:rPr>
              <a:t> </a:t>
            </a:r>
            <a:r>
              <a:rPr sz="1000" spc="-5" dirty="0">
                <a:latin typeface="Lucida Console"/>
                <a:cs typeface="Lucida Console"/>
              </a:rPr>
              <a:t>value</a:t>
            </a:r>
            <a:r>
              <a:rPr sz="1000" spc="-15" dirty="0">
                <a:latin typeface="Lucida Console"/>
                <a:cs typeface="Lucida Console"/>
              </a:rPr>
              <a:t> </a:t>
            </a:r>
            <a:r>
              <a:rPr sz="1000" spc="-5" dirty="0">
                <a:latin typeface="Lucida Console"/>
                <a:cs typeface="Lucida Console"/>
              </a:rPr>
              <a:t>147054.970173</a:t>
            </a:r>
            <a:endParaRPr sz="1000" dirty="0">
              <a:latin typeface="Lucida Console"/>
              <a:cs typeface="Lucida Console"/>
            </a:endParaRPr>
          </a:p>
          <a:p>
            <a:pPr marL="12700">
              <a:lnSpc>
                <a:spcPts val="1125"/>
              </a:lnSpc>
            </a:pPr>
            <a:r>
              <a:rPr sz="1000" spc="-5" dirty="0">
                <a:latin typeface="Lucida Console"/>
                <a:cs typeface="Lucida Console"/>
              </a:rPr>
              <a:t>30</a:t>
            </a:r>
            <a:r>
              <a:rPr sz="1000" spc="-20" dirty="0">
                <a:latin typeface="Lucida Console"/>
                <a:cs typeface="Lucida Console"/>
              </a:rPr>
              <a:t> </a:t>
            </a:r>
            <a:r>
              <a:rPr sz="1000" spc="-5" dirty="0">
                <a:latin typeface="Lucida Console"/>
                <a:cs typeface="Lucida Console"/>
              </a:rPr>
              <a:t>value</a:t>
            </a:r>
            <a:r>
              <a:rPr sz="1000" spc="-15" dirty="0">
                <a:latin typeface="Lucida Console"/>
                <a:cs typeface="Lucida Console"/>
              </a:rPr>
              <a:t> </a:t>
            </a:r>
            <a:r>
              <a:rPr sz="1000" spc="-5" dirty="0">
                <a:latin typeface="Lucida Console"/>
                <a:cs typeface="Lucida Console"/>
              </a:rPr>
              <a:t>144565.081887</a:t>
            </a:r>
            <a:endParaRPr sz="1000" dirty="0">
              <a:latin typeface="Lucida Console"/>
              <a:cs typeface="Lucida Console"/>
            </a:endParaRPr>
          </a:p>
          <a:p>
            <a:pPr marL="12700">
              <a:lnSpc>
                <a:spcPts val="1130"/>
              </a:lnSpc>
            </a:pPr>
            <a:r>
              <a:rPr sz="1000" spc="-5" dirty="0">
                <a:latin typeface="Lucida Console"/>
                <a:cs typeface="Lucida Console"/>
              </a:rPr>
              <a:t>40</a:t>
            </a:r>
            <a:r>
              <a:rPr sz="1000" spc="-20" dirty="0">
                <a:latin typeface="Lucida Console"/>
                <a:cs typeface="Lucida Console"/>
              </a:rPr>
              <a:t> </a:t>
            </a:r>
            <a:r>
              <a:rPr sz="1000" spc="-5" dirty="0">
                <a:latin typeface="Lucida Console"/>
                <a:cs typeface="Lucida Console"/>
              </a:rPr>
              <a:t>value</a:t>
            </a:r>
            <a:r>
              <a:rPr sz="1000" spc="-15" dirty="0">
                <a:latin typeface="Lucida Console"/>
                <a:cs typeface="Lucida Console"/>
              </a:rPr>
              <a:t> </a:t>
            </a:r>
            <a:r>
              <a:rPr sz="1000" spc="-5" dirty="0">
                <a:latin typeface="Lucida Console"/>
                <a:cs typeface="Lucida Console"/>
              </a:rPr>
              <a:t>143638.206741</a:t>
            </a:r>
            <a:endParaRPr sz="1000" dirty="0">
              <a:latin typeface="Lucida Console"/>
              <a:cs typeface="Lucida Console"/>
            </a:endParaRPr>
          </a:p>
          <a:p>
            <a:pPr marL="12700">
              <a:lnSpc>
                <a:spcPts val="1130"/>
              </a:lnSpc>
            </a:pPr>
            <a:r>
              <a:rPr sz="1000" spc="-5" dirty="0">
                <a:latin typeface="Lucida Console"/>
                <a:cs typeface="Lucida Console"/>
              </a:rPr>
              <a:t>50</a:t>
            </a:r>
            <a:r>
              <a:rPr sz="1000" spc="-20" dirty="0">
                <a:latin typeface="Lucida Console"/>
                <a:cs typeface="Lucida Console"/>
              </a:rPr>
              <a:t> </a:t>
            </a:r>
            <a:r>
              <a:rPr sz="1000" spc="-5" dirty="0">
                <a:latin typeface="Lucida Console"/>
                <a:cs typeface="Lucida Console"/>
              </a:rPr>
              <a:t>value</a:t>
            </a:r>
            <a:r>
              <a:rPr sz="1000" spc="-15" dirty="0">
                <a:latin typeface="Lucida Console"/>
                <a:cs typeface="Lucida Console"/>
              </a:rPr>
              <a:t> </a:t>
            </a:r>
            <a:r>
              <a:rPr sz="1000" spc="-5" dirty="0">
                <a:latin typeface="Lucida Console"/>
                <a:cs typeface="Lucida Console"/>
              </a:rPr>
              <a:t>143070.915174</a:t>
            </a:r>
            <a:endParaRPr sz="1000" dirty="0">
              <a:latin typeface="Lucida Console"/>
              <a:cs typeface="Lucida Console"/>
            </a:endParaRPr>
          </a:p>
          <a:p>
            <a:pPr marL="12700">
              <a:lnSpc>
                <a:spcPts val="1120"/>
              </a:lnSpc>
            </a:pPr>
            <a:r>
              <a:rPr sz="1000" spc="-5" dirty="0">
                <a:latin typeface="Lucida Console"/>
                <a:cs typeface="Lucida Console"/>
              </a:rPr>
              <a:t>60</a:t>
            </a:r>
            <a:r>
              <a:rPr sz="1000" spc="-20" dirty="0">
                <a:latin typeface="Lucida Console"/>
                <a:cs typeface="Lucida Console"/>
              </a:rPr>
              <a:t> </a:t>
            </a:r>
            <a:r>
              <a:rPr sz="1000" spc="-5" dirty="0">
                <a:latin typeface="Lucida Console"/>
                <a:cs typeface="Lucida Console"/>
              </a:rPr>
              <a:t>value</a:t>
            </a:r>
            <a:r>
              <a:rPr sz="1000" spc="-15" dirty="0">
                <a:latin typeface="Lucida Console"/>
                <a:cs typeface="Lucida Console"/>
              </a:rPr>
              <a:t> </a:t>
            </a:r>
            <a:r>
              <a:rPr sz="1000" spc="-5" dirty="0">
                <a:latin typeface="Lucida Console"/>
                <a:cs typeface="Lucida Console"/>
              </a:rPr>
              <a:t>141797.145971</a:t>
            </a:r>
            <a:endParaRPr sz="1000" dirty="0">
              <a:latin typeface="Lucida Console"/>
              <a:cs typeface="Lucida Console"/>
            </a:endParaRPr>
          </a:p>
          <a:p>
            <a:pPr marL="12700">
              <a:lnSpc>
                <a:spcPts val="1120"/>
              </a:lnSpc>
            </a:pPr>
            <a:r>
              <a:rPr sz="1000" spc="-5" dirty="0">
                <a:latin typeface="Lucida Console"/>
                <a:cs typeface="Lucida Console"/>
              </a:rPr>
              <a:t>70</a:t>
            </a:r>
            <a:r>
              <a:rPr sz="1000" spc="-20" dirty="0">
                <a:latin typeface="Lucida Console"/>
                <a:cs typeface="Lucida Console"/>
              </a:rPr>
              <a:t> </a:t>
            </a:r>
            <a:r>
              <a:rPr sz="1000" spc="-5" dirty="0">
                <a:latin typeface="Lucida Console"/>
                <a:cs typeface="Lucida Console"/>
              </a:rPr>
              <a:t>value</a:t>
            </a:r>
            <a:r>
              <a:rPr sz="1000" spc="-15" dirty="0">
                <a:latin typeface="Lucida Console"/>
                <a:cs typeface="Lucida Console"/>
              </a:rPr>
              <a:t> </a:t>
            </a:r>
            <a:r>
              <a:rPr sz="1000" spc="-5" dirty="0">
                <a:latin typeface="Lucida Console"/>
                <a:cs typeface="Lucida Console"/>
              </a:rPr>
              <a:t>141156.059581</a:t>
            </a:r>
            <a:endParaRPr sz="1000" dirty="0">
              <a:latin typeface="Lucida Console"/>
              <a:cs typeface="Lucida Console"/>
            </a:endParaRPr>
          </a:p>
          <a:p>
            <a:pPr marL="12700">
              <a:lnSpc>
                <a:spcPts val="1130"/>
              </a:lnSpc>
            </a:pPr>
            <a:r>
              <a:rPr sz="1000" spc="-5" dirty="0">
                <a:latin typeface="Lucida Console"/>
                <a:cs typeface="Lucida Console"/>
              </a:rPr>
              <a:t>80</a:t>
            </a:r>
            <a:r>
              <a:rPr sz="1000" spc="-20" dirty="0">
                <a:latin typeface="Lucida Console"/>
                <a:cs typeface="Lucida Console"/>
              </a:rPr>
              <a:t> </a:t>
            </a:r>
            <a:r>
              <a:rPr sz="1000" spc="-5" dirty="0">
                <a:latin typeface="Lucida Console"/>
                <a:cs typeface="Lucida Console"/>
              </a:rPr>
              <a:t>value</a:t>
            </a:r>
            <a:r>
              <a:rPr sz="1000" spc="-15" dirty="0">
                <a:latin typeface="Lucida Console"/>
                <a:cs typeface="Lucida Console"/>
              </a:rPr>
              <a:t> </a:t>
            </a:r>
            <a:r>
              <a:rPr sz="1000" spc="-5" dirty="0">
                <a:latin typeface="Lucida Console"/>
                <a:cs typeface="Lucida Console"/>
              </a:rPr>
              <a:t>140535.605141</a:t>
            </a:r>
            <a:endParaRPr sz="1000" dirty="0">
              <a:latin typeface="Lucida Console"/>
              <a:cs typeface="Lucida Console"/>
            </a:endParaRPr>
          </a:p>
          <a:p>
            <a:pPr marL="12700">
              <a:lnSpc>
                <a:spcPts val="1165"/>
              </a:lnSpc>
            </a:pPr>
            <a:r>
              <a:rPr sz="1000" spc="-5" dirty="0">
                <a:latin typeface="Lucida Console"/>
                <a:cs typeface="Lucida Console"/>
              </a:rPr>
              <a:t>90</a:t>
            </a:r>
            <a:r>
              <a:rPr sz="1000" spc="-20" dirty="0">
                <a:latin typeface="Lucida Console"/>
                <a:cs typeface="Lucida Console"/>
              </a:rPr>
              <a:t> </a:t>
            </a:r>
            <a:r>
              <a:rPr sz="1000" spc="-5" dirty="0">
                <a:latin typeface="Lucida Console"/>
                <a:cs typeface="Lucida Console"/>
              </a:rPr>
              <a:t>value</a:t>
            </a:r>
            <a:r>
              <a:rPr sz="1000" spc="-15" dirty="0">
                <a:latin typeface="Lucida Console"/>
                <a:cs typeface="Lucida Console"/>
              </a:rPr>
              <a:t> </a:t>
            </a:r>
            <a:r>
              <a:rPr sz="1000" spc="-5" dirty="0">
                <a:latin typeface="Lucida Console"/>
                <a:cs typeface="Lucida Console"/>
              </a:rPr>
              <a:t>140427.683543</a:t>
            </a:r>
            <a:endParaRPr sz="1000" dirty="0">
              <a:latin typeface="Lucida Console"/>
              <a:cs typeface="Lucida Console"/>
            </a:endParaRPr>
          </a:p>
        </p:txBody>
      </p:sp>
      <p:sp>
        <p:nvSpPr>
          <p:cNvPr id="8" name="object 8"/>
          <p:cNvSpPr txBox="1"/>
          <p:nvPr/>
        </p:nvSpPr>
        <p:spPr>
          <a:xfrm>
            <a:off x="346963" y="3220338"/>
            <a:ext cx="2167255" cy="462280"/>
          </a:xfrm>
          <a:prstGeom prst="rect">
            <a:avLst/>
          </a:prstGeom>
        </p:spPr>
        <p:txBody>
          <a:bodyPr vert="horz" wrap="square" lIns="0" tIns="12065" rIns="0" bIns="0" rtlCol="0">
            <a:spAutoFit/>
          </a:bodyPr>
          <a:lstStyle/>
          <a:p>
            <a:pPr marL="12700">
              <a:lnSpc>
                <a:spcPts val="1160"/>
              </a:lnSpc>
              <a:spcBef>
                <a:spcPts val="95"/>
              </a:spcBef>
            </a:pPr>
            <a:r>
              <a:rPr sz="1000" spc="-10" dirty="0">
                <a:latin typeface="Lucida Console"/>
                <a:cs typeface="Lucida Console"/>
              </a:rPr>
              <a:t>iter </a:t>
            </a:r>
            <a:r>
              <a:rPr sz="1000" dirty="0">
                <a:latin typeface="Lucida Console"/>
                <a:cs typeface="Lucida Console"/>
              </a:rPr>
              <a:t>100 </a:t>
            </a:r>
            <a:r>
              <a:rPr sz="1000" spc="-5" dirty="0">
                <a:latin typeface="Lucida Console"/>
                <a:cs typeface="Lucida Console"/>
              </a:rPr>
              <a:t>value</a:t>
            </a:r>
            <a:r>
              <a:rPr sz="1000" spc="-10" dirty="0">
                <a:latin typeface="Lucida Console"/>
                <a:cs typeface="Lucida Console"/>
              </a:rPr>
              <a:t> </a:t>
            </a:r>
            <a:r>
              <a:rPr sz="1000" spc="-5" dirty="0">
                <a:latin typeface="Lucida Console"/>
                <a:cs typeface="Lucida Console"/>
              </a:rPr>
              <a:t>140017.488970</a:t>
            </a:r>
            <a:endParaRPr sz="1000">
              <a:latin typeface="Lucida Console"/>
              <a:cs typeface="Lucida Console"/>
            </a:endParaRPr>
          </a:p>
          <a:p>
            <a:pPr marL="12700" marR="5080">
              <a:lnSpc>
                <a:spcPts val="1130"/>
              </a:lnSpc>
              <a:spcBef>
                <a:spcPts val="55"/>
              </a:spcBef>
              <a:tabLst>
                <a:tab pos="547370" algn="l"/>
              </a:tabLst>
            </a:pPr>
            <a:r>
              <a:rPr sz="1000" spc="-10" dirty="0">
                <a:latin typeface="Lucida Console"/>
                <a:cs typeface="Lucida Console"/>
              </a:rPr>
              <a:t>final	</a:t>
            </a:r>
            <a:r>
              <a:rPr sz="1000" spc="-5" dirty="0">
                <a:latin typeface="Lucida Console"/>
                <a:cs typeface="Lucida Console"/>
              </a:rPr>
              <a:t>value 140017.488970 </a:t>
            </a:r>
            <a:r>
              <a:rPr sz="1000" dirty="0">
                <a:latin typeface="Lucida Console"/>
                <a:cs typeface="Lucida Console"/>
              </a:rPr>
              <a:t> </a:t>
            </a:r>
            <a:r>
              <a:rPr sz="1000" spc="-5" dirty="0">
                <a:latin typeface="Lucida Console"/>
                <a:cs typeface="Lucida Console"/>
              </a:rPr>
              <a:t>stopped</a:t>
            </a:r>
            <a:r>
              <a:rPr sz="1000" spc="-15" dirty="0">
                <a:latin typeface="Lucida Console"/>
                <a:cs typeface="Lucida Console"/>
              </a:rPr>
              <a:t> </a:t>
            </a:r>
            <a:r>
              <a:rPr sz="1000" spc="-5" dirty="0">
                <a:latin typeface="Lucida Console"/>
                <a:cs typeface="Lucida Console"/>
              </a:rPr>
              <a:t>after </a:t>
            </a:r>
            <a:r>
              <a:rPr sz="1000" dirty="0">
                <a:latin typeface="Lucida Console"/>
                <a:cs typeface="Lucida Console"/>
              </a:rPr>
              <a:t>100</a:t>
            </a:r>
            <a:r>
              <a:rPr sz="1000" spc="-10" dirty="0">
                <a:latin typeface="Lucida Console"/>
                <a:cs typeface="Lucida Console"/>
              </a:rPr>
              <a:t> </a:t>
            </a:r>
            <a:r>
              <a:rPr sz="1000" spc="-5" dirty="0">
                <a:latin typeface="Lucida Console"/>
                <a:cs typeface="Lucida Console"/>
              </a:rPr>
              <a:t>iterations</a:t>
            </a:r>
            <a:endParaRPr sz="1000">
              <a:latin typeface="Lucida Console"/>
              <a:cs typeface="Lucida Console"/>
            </a:endParaRPr>
          </a:p>
        </p:txBody>
      </p:sp>
      <p:sp>
        <p:nvSpPr>
          <p:cNvPr id="9" name="object 9"/>
          <p:cNvSpPr txBox="1"/>
          <p:nvPr/>
        </p:nvSpPr>
        <p:spPr>
          <a:xfrm>
            <a:off x="346963" y="3961257"/>
            <a:ext cx="9071610" cy="681990"/>
          </a:xfrm>
          <a:prstGeom prst="rect">
            <a:avLst/>
          </a:prstGeom>
        </p:spPr>
        <p:txBody>
          <a:bodyPr vert="horz" wrap="square" lIns="0" tIns="34290" rIns="0" bIns="0" rtlCol="0">
            <a:spAutoFit/>
          </a:bodyPr>
          <a:lstStyle/>
          <a:p>
            <a:pPr marL="12700" marR="5080">
              <a:lnSpc>
                <a:spcPts val="2530"/>
              </a:lnSpc>
              <a:spcBef>
                <a:spcPts val="270"/>
              </a:spcBef>
            </a:pPr>
            <a:r>
              <a:rPr sz="2200" spc="-5" dirty="0">
                <a:latin typeface="Times New Roman"/>
                <a:cs typeface="Times New Roman"/>
              </a:rPr>
              <a:t>Le</a:t>
            </a:r>
            <a:r>
              <a:rPr sz="2200" dirty="0">
                <a:latin typeface="Times New Roman"/>
                <a:cs typeface="Times New Roman"/>
              </a:rPr>
              <a:t> </a:t>
            </a:r>
            <a:r>
              <a:rPr sz="2200" spc="-5" dirty="0">
                <a:latin typeface="Times New Roman"/>
                <a:cs typeface="Times New Roman"/>
              </a:rPr>
              <a:t>pedimos</a:t>
            </a:r>
            <a:r>
              <a:rPr sz="2200" dirty="0">
                <a:latin typeface="Times New Roman"/>
                <a:cs typeface="Times New Roman"/>
              </a:rPr>
              <a:t> </a:t>
            </a:r>
            <a:r>
              <a:rPr sz="2200" spc="-5" dirty="0">
                <a:latin typeface="Times New Roman"/>
                <a:cs typeface="Times New Roman"/>
              </a:rPr>
              <a:t>que</a:t>
            </a:r>
            <a:r>
              <a:rPr sz="2200" dirty="0">
                <a:latin typeface="Times New Roman"/>
                <a:cs typeface="Times New Roman"/>
              </a:rPr>
              <a:t> </a:t>
            </a:r>
            <a:r>
              <a:rPr sz="2200" spc="-5" dirty="0">
                <a:latin typeface="Times New Roman"/>
                <a:cs typeface="Times New Roman"/>
              </a:rPr>
              <a:t>se</a:t>
            </a:r>
            <a:r>
              <a:rPr sz="2200" dirty="0">
                <a:latin typeface="Times New Roman"/>
                <a:cs typeface="Times New Roman"/>
              </a:rPr>
              <a:t> detuviera</a:t>
            </a:r>
            <a:r>
              <a:rPr sz="2200" spc="5" dirty="0">
                <a:latin typeface="Times New Roman"/>
                <a:cs typeface="Times New Roman"/>
              </a:rPr>
              <a:t> </a:t>
            </a:r>
            <a:r>
              <a:rPr sz="2200" spc="-5" dirty="0">
                <a:latin typeface="Times New Roman"/>
                <a:cs typeface="Times New Roman"/>
              </a:rPr>
              <a:t>en</a:t>
            </a:r>
            <a:r>
              <a:rPr sz="2200" dirty="0">
                <a:latin typeface="Times New Roman"/>
                <a:cs typeface="Times New Roman"/>
              </a:rPr>
              <a:t> </a:t>
            </a:r>
            <a:r>
              <a:rPr sz="2200" spc="-5" dirty="0">
                <a:latin typeface="Times New Roman"/>
                <a:cs typeface="Times New Roman"/>
              </a:rPr>
              <a:t>100</a:t>
            </a:r>
            <a:r>
              <a:rPr sz="2200" spc="10" dirty="0">
                <a:latin typeface="Times New Roman"/>
                <a:cs typeface="Times New Roman"/>
              </a:rPr>
              <a:t> </a:t>
            </a:r>
            <a:r>
              <a:rPr sz="2200" spc="-5" dirty="0">
                <a:latin typeface="Times New Roman"/>
                <a:cs typeface="Times New Roman"/>
              </a:rPr>
              <a:t>iteraciones</a:t>
            </a:r>
            <a:r>
              <a:rPr sz="2200" dirty="0">
                <a:latin typeface="Times New Roman"/>
                <a:cs typeface="Times New Roman"/>
              </a:rPr>
              <a:t> </a:t>
            </a:r>
            <a:r>
              <a:rPr sz="2200" spc="-5" dirty="0">
                <a:latin typeface="Times New Roman"/>
                <a:cs typeface="Times New Roman"/>
              </a:rPr>
              <a:t>y</a:t>
            </a:r>
            <a:r>
              <a:rPr sz="2200" spc="20" dirty="0">
                <a:latin typeface="Times New Roman"/>
                <a:cs typeface="Times New Roman"/>
              </a:rPr>
              <a:t> </a:t>
            </a:r>
            <a:r>
              <a:rPr sz="2200" spc="-5" dirty="0">
                <a:latin typeface="Times New Roman"/>
                <a:cs typeface="Times New Roman"/>
              </a:rPr>
              <a:t>se</a:t>
            </a:r>
            <a:r>
              <a:rPr sz="2200" dirty="0">
                <a:latin typeface="Times New Roman"/>
                <a:cs typeface="Times New Roman"/>
              </a:rPr>
              <a:t> </a:t>
            </a:r>
            <a:r>
              <a:rPr sz="2200" spc="-10" dirty="0">
                <a:latin typeface="Times New Roman"/>
                <a:cs typeface="Times New Roman"/>
              </a:rPr>
              <a:t>para</a:t>
            </a:r>
            <a:r>
              <a:rPr sz="2200" dirty="0">
                <a:latin typeface="Times New Roman"/>
                <a:cs typeface="Times New Roman"/>
              </a:rPr>
              <a:t> </a:t>
            </a:r>
            <a:r>
              <a:rPr sz="2200" spc="-5" dirty="0">
                <a:latin typeface="Times New Roman"/>
                <a:cs typeface="Times New Roman"/>
              </a:rPr>
              <a:t>el</a:t>
            </a:r>
            <a:r>
              <a:rPr sz="2200" dirty="0">
                <a:latin typeface="Times New Roman"/>
                <a:cs typeface="Times New Roman"/>
              </a:rPr>
              <a:t> </a:t>
            </a:r>
            <a:r>
              <a:rPr sz="2200" spc="-5" dirty="0">
                <a:latin typeface="Times New Roman"/>
                <a:cs typeface="Times New Roman"/>
              </a:rPr>
              <a:t>proceso</a:t>
            </a:r>
            <a:r>
              <a:rPr sz="2200" spc="35" dirty="0">
                <a:latin typeface="Times New Roman"/>
                <a:cs typeface="Times New Roman"/>
              </a:rPr>
              <a:t> </a:t>
            </a:r>
            <a:r>
              <a:rPr sz="2200" spc="-5" dirty="0">
                <a:latin typeface="Times New Roman"/>
                <a:cs typeface="Times New Roman"/>
              </a:rPr>
              <a:t>en</a:t>
            </a:r>
            <a:r>
              <a:rPr sz="2200" dirty="0">
                <a:latin typeface="Times New Roman"/>
                <a:cs typeface="Times New Roman"/>
              </a:rPr>
              <a:t> </a:t>
            </a:r>
            <a:r>
              <a:rPr sz="2200" spc="-5" dirty="0">
                <a:latin typeface="Times New Roman"/>
                <a:cs typeface="Times New Roman"/>
              </a:rPr>
              <a:t>la</a:t>
            </a:r>
            <a:r>
              <a:rPr sz="2200" dirty="0">
                <a:latin typeface="Times New Roman"/>
                <a:cs typeface="Times New Roman"/>
              </a:rPr>
              <a:t> </a:t>
            </a:r>
            <a:r>
              <a:rPr sz="2200" spc="-5" dirty="0">
                <a:latin typeface="Times New Roman"/>
                <a:cs typeface="Times New Roman"/>
              </a:rPr>
              <a:t>última </a:t>
            </a:r>
            <a:r>
              <a:rPr sz="2200" dirty="0">
                <a:latin typeface="Times New Roman"/>
                <a:cs typeface="Times New Roman"/>
              </a:rPr>
              <a:t> </a:t>
            </a:r>
            <a:r>
              <a:rPr sz="2200" spc="-5" dirty="0">
                <a:latin typeface="Times New Roman"/>
                <a:cs typeface="Times New Roman"/>
              </a:rPr>
              <a:t>estimación,</a:t>
            </a:r>
            <a:r>
              <a:rPr sz="2200" spc="5" dirty="0">
                <a:latin typeface="Times New Roman"/>
                <a:cs typeface="Times New Roman"/>
              </a:rPr>
              <a:t> </a:t>
            </a:r>
            <a:r>
              <a:rPr sz="2200" spc="-5" dirty="0">
                <a:latin typeface="Times New Roman"/>
                <a:cs typeface="Times New Roman"/>
              </a:rPr>
              <a:t>con</a:t>
            </a:r>
            <a:r>
              <a:rPr sz="2200" spc="15" dirty="0">
                <a:latin typeface="Times New Roman"/>
                <a:cs typeface="Times New Roman"/>
              </a:rPr>
              <a:t> </a:t>
            </a:r>
            <a:r>
              <a:rPr sz="2200" spc="-5" dirty="0">
                <a:latin typeface="Times New Roman"/>
                <a:cs typeface="Times New Roman"/>
              </a:rPr>
              <a:t>un</a:t>
            </a:r>
            <a:r>
              <a:rPr sz="2200" spc="5" dirty="0">
                <a:latin typeface="Times New Roman"/>
                <a:cs typeface="Times New Roman"/>
              </a:rPr>
              <a:t> </a:t>
            </a:r>
            <a:r>
              <a:rPr sz="2200" spc="-5" dirty="0">
                <a:latin typeface="Times New Roman"/>
                <a:cs typeface="Times New Roman"/>
              </a:rPr>
              <a:t>SSE</a:t>
            </a:r>
            <a:r>
              <a:rPr sz="2200" spc="10" dirty="0">
                <a:latin typeface="Times New Roman"/>
                <a:cs typeface="Times New Roman"/>
              </a:rPr>
              <a:t> </a:t>
            </a:r>
            <a:r>
              <a:rPr sz="2200" dirty="0">
                <a:latin typeface="Times New Roman"/>
                <a:cs typeface="Times New Roman"/>
              </a:rPr>
              <a:t>de</a:t>
            </a:r>
            <a:r>
              <a:rPr sz="2200" spc="-10" dirty="0">
                <a:latin typeface="Times New Roman"/>
                <a:cs typeface="Times New Roman"/>
              </a:rPr>
              <a:t> </a:t>
            </a:r>
            <a:r>
              <a:rPr sz="2200" spc="-5" dirty="0">
                <a:latin typeface="Times New Roman"/>
                <a:cs typeface="Times New Roman"/>
              </a:rPr>
              <a:t>140017,</a:t>
            </a:r>
            <a:r>
              <a:rPr sz="2200" spc="5" dirty="0">
                <a:latin typeface="Times New Roman"/>
                <a:cs typeface="Times New Roman"/>
              </a:rPr>
              <a:t> </a:t>
            </a:r>
            <a:r>
              <a:rPr sz="2200" spc="-5" dirty="0">
                <a:latin typeface="Times New Roman"/>
                <a:cs typeface="Times New Roman"/>
              </a:rPr>
              <a:t>que dividiendo</a:t>
            </a:r>
            <a:r>
              <a:rPr sz="2200" spc="5" dirty="0">
                <a:latin typeface="Times New Roman"/>
                <a:cs typeface="Times New Roman"/>
              </a:rPr>
              <a:t> </a:t>
            </a:r>
            <a:r>
              <a:rPr sz="2200" spc="-5" dirty="0">
                <a:latin typeface="Times New Roman"/>
                <a:cs typeface="Times New Roman"/>
              </a:rPr>
              <a:t>por</a:t>
            </a:r>
            <a:r>
              <a:rPr sz="2200" spc="10" dirty="0">
                <a:latin typeface="Times New Roman"/>
                <a:cs typeface="Times New Roman"/>
              </a:rPr>
              <a:t> </a:t>
            </a:r>
            <a:r>
              <a:rPr sz="2200" spc="-5" dirty="0">
                <a:latin typeface="Times New Roman"/>
                <a:cs typeface="Times New Roman"/>
              </a:rPr>
              <a:t>n=1030</a:t>
            </a:r>
            <a:r>
              <a:rPr sz="2200" spc="5" dirty="0">
                <a:latin typeface="Times New Roman"/>
                <a:cs typeface="Times New Roman"/>
              </a:rPr>
              <a:t> </a:t>
            </a:r>
            <a:r>
              <a:rPr sz="2200" spc="-5" dirty="0">
                <a:latin typeface="Times New Roman"/>
                <a:cs typeface="Times New Roman"/>
              </a:rPr>
              <a:t>da</a:t>
            </a:r>
            <a:r>
              <a:rPr sz="2200" spc="40" dirty="0">
                <a:latin typeface="Times New Roman"/>
                <a:cs typeface="Times New Roman"/>
              </a:rPr>
              <a:t> </a:t>
            </a:r>
            <a:r>
              <a:rPr sz="2200" spc="-5" dirty="0">
                <a:latin typeface="Times New Roman"/>
                <a:cs typeface="Times New Roman"/>
              </a:rPr>
              <a:t>MSE=135.93</a:t>
            </a:r>
            <a:r>
              <a:rPr sz="2200" spc="-5" dirty="0">
                <a:solidFill>
                  <a:srgbClr val="FF0000"/>
                </a:solidFill>
                <a:latin typeface="Times New Roman"/>
                <a:cs typeface="Times New Roman"/>
              </a:rPr>
              <a:t>.</a:t>
            </a:r>
            <a:endParaRPr sz="2200" dirty="0">
              <a:latin typeface="Times New Roman"/>
              <a:cs typeface="Times New Roman"/>
            </a:endParaRPr>
          </a:p>
        </p:txBody>
      </p:sp>
      <p:sp>
        <p:nvSpPr>
          <p:cNvPr id="10" name="object 10"/>
          <p:cNvSpPr txBox="1"/>
          <p:nvPr/>
        </p:nvSpPr>
        <p:spPr>
          <a:xfrm>
            <a:off x="346962" y="4924425"/>
            <a:ext cx="6371337" cy="2346283"/>
          </a:xfrm>
          <a:prstGeom prst="rect">
            <a:avLst/>
          </a:prstGeom>
        </p:spPr>
        <p:txBody>
          <a:bodyPr vert="horz" wrap="square" lIns="0" tIns="25400" rIns="0" bIns="0" rtlCol="0">
            <a:spAutoFit/>
          </a:bodyPr>
          <a:lstStyle/>
          <a:p>
            <a:pPr marL="12700" marR="370840">
              <a:lnSpc>
                <a:spcPts val="1370"/>
              </a:lnSpc>
              <a:spcBef>
                <a:spcPts val="200"/>
              </a:spcBef>
            </a:pPr>
            <a:r>
              <a:rPr sz="1400" dirty="0">
                <a:solidFill>
                  <a:srgbClr val="008000"/>
                </a:solidFill>
                <a:latin typeface="Courier New"/>
                <a:cs typeface="Courier New"/>
              </a:rPr>
              <a:t># </a:t>
            </a:r>
            <a:r>
              <a:rPr sz="1400" spc="-5" dirty="0">
                <a:solidFill>
                  <a:srgbClr val="008000"/>
                </a:solidFill>
                <a:latin typeface="Courier New"/>
                <a:cs typeface="Courier New"/>
              </a:rPr>
              <a:t>El objeto red1 contiene el SSE para los datos </a:t>
            </a:r>
            <a:r>
              <a:rPr sz="1400" spc="-5" dirty="0" err="1">
                <a:solidFill>
                  <a:srgbClr val="008000"/>
                </a:solidFill>
                <a:latin typeface="Courier New"/>
                <a:cs typeface="Courier New"/>
              </a:rPr>
              <a:t>originales</a:t>
            </a:r>
            <a:r>
              <a:rPr sz="1400" spc="-5" dirty="0">
                <a:solidFill>
                  <a:srgbClr val="008000"/>
                </a:solidFill>
                <a:latin typeface="Courier New"/>
                <a:cs typeface="Courier New"/>
              </a:rPr>
              <a:t> </a:t>
            </a:r>
            <a:r>
              <a:rPr sz="1400" spc="-710" dirty="0">
                <a:solidFill>
                  <a:srgbClr val="008000"/>
                </a:solidFill>
                <a:latin typeface="Courier New"/>
                <a:cs typeface="Courier New"/>
              </a:rPr>
              <a:t> </a:t>
            </a:r>
            <a:r>
              <a:rPr sz="1400" spc="-10" dirty="0" smtClean="0">
                <a:solidFill>
                  <a:srgbClr val="008000"/>
                </a:solidFill>
                <a:latin typeface="Courier New"/>
                <a:cs typeface="Courier New"/>
              </a:rPr>
              <a:t> </a:t>
            </a:r>
            <a:r>
              <a:rPr sz="1400" spc="-5" dirty="0">
                <a:solidFill>
                  <a:srgbClr val="008000"/>
                </a:solidFill>
                <a:latin typeface="Courier New"/>
                <a:cs typeface="Courier New"/>
              </a:rPr>
              <a:t>en el</a:t>
            </a:r>
            <a:r>
              <a:rPr sz="1400" spc="-10" dirty="0">
                <a:solidFill>
                  <a:srgbClr val="008000"/>
                </a:solidFill>
                <a:latin typeface="Courier New"/>
                <a:cs typeface="Courier New"/>
              </a:rPr>
              <a:t> </a:t>
            </a:r>
            <a:r>
              <a:rPr sz="1400" spc="-5" dirty="0">
                <a:solidFill>
                  <a:srgbClr val="008000"/>
                </a:solidFill>
                <a:latin typeface="Courier New"/>
                <a:cs typeface="Courier New"/>
              </a:rPr>
              <a:t>elemento "value"</a:t>
            </a:r>
            <a:r>
              <a:rPr sz="1400" spc="-10" dirty="0">
                <a:solidFill>
                  <a:srgbClr val="008000"/>
                </a:solidFill>
                <a:latin typeface="Courier New"/>
                <a:cs typeface="Courier New"/>
              </a:rPr>
              <a:t> </a:t>
            </a:r>
            <a:r>
              <a:rPr sz="1400" spc="-5" dirty="0">
                <a:solidFill>
                  <a:srgbClr val="008000"/>
                </a:solidFill>
                <a:latin typeface="Courier New"/>
                <a:cs typeface="Courier New"/>
              </a:rPr>
              <a:t>de la</a:t>
            </a:r>
            <a:r>
              <a:rPr sz="1400" spc="-10" dirty="0">
                <a:solidFill>
                  <a:srgbClr val="008000"/>
                </a:solidFill>
                <a:latin typeface="Courier New"/>
                <a:cs typeface="Courier New"/>
              </a:rPr>
              <a:t> </a:t>
            </a:r>
            <a:r>
              <a:rPr sz="1400" spc="-5" dirty="0">
                <a:solidFill>
                  <a:srgbClr val="008000"/>
                </a:solidFill>
                <a:latin typeface="Courier New"/>
                <a:cs typeface="Courier New"/>
              </a:rPr>
              <a:t>lista</a:t>
            </a:r>
            <a:endParaRPr sz="1400" dirty="0">
              <a:latin typeface="Courier New"/>
              <a:cs typeface="Courier New"/>
            </a:endParaRPr>
          </a:p>
          <a:p>
            <a:pPr marL="12700">
              <a:lnSpc>
                <a:spcPts val="1320"/>
              </a:lnSpc>
            </a:pPr>
            <a:r>
              <a:rPr sz="1400" dirty="0">
                <a:solidFill>
                  <a:srgbClr val="008000"/>
                </a:solidFill>
                <a:latin typeface="Courier New"/>
                <a:cs typeface="Courier New"/>
              </a:rPr>
              <a:t>#</a:t>
            </a:r>
            <a:r>
              <a:rPr sz="1400" spc="-10" dirty="0">
                <a:solidFill>
                  <a:srgbClr val="008000"/>
                </a:solidFill>
                <a:latin typeface="Courier New"/>
                <a:cs typeface="Courier New"/>
              </a:rPr>
              <a:t> </a:t>
            </a:r>
            <a:r>
              <a:rPr sz="1400" dirty="0">
                <a:solidFill>
                  <a:srgbClr val="008000"/>
                </a:solidFill>
                <a:latin typeface="Courier New"/>
                <a:cs typeface="Courier New"/>
              </a:rPr>
              <a:t>A</a:t>
            </a:r>
            <a:r>
              <a:rPr sz="1400" spc="-10" dirty="0">
                <a:solidFill>
                  <a:srgbClr val="008000"/>
                </a:solidFill>
                <a:latin typeface="Courier New"/>
                <a:cs typeface="Courier New"/>
              </a:rPr>
              <a:t> </a:t>
            </a:r>
            <a:r>
              <a:rPr sz="1400" spc="-5" dirty="0">
                <a:solidFill>
                  <a:srgbClr val="008000"/>
                </a:solidFill>
                <a:latin typeface="Courier New"/>
                <a:cs typeface="Courier New"/>
              </a:rPr>
              <a:t>partir</a:t>
            </a:r>
            <a:r>
              <a:rPr sz="1400" spc="-10" dirty="0">
                <a:solidFill>
                  <a:srgbClr val="008000"/>
                </a:solidFill>
                <a:latin typeface="Courier New"/>
                <a:cs typeface="Courier New"/>
              </a:rPr>
              <a:t> </a:t>
            </a:r>
            <a:r>
              <a:rPr sz="1400" spc="-5" dirty="0">
                <a:solidFill>
                  <a:srgbClr val="008000"/>
                </a:solidFill>
                <a:latin typeface="Courier New"/>
                <a:cs typeface="Courier New"/>
              </a:rPr>
              <a:t>de SSE</a:t>
            </a:r>
            <a:r>
              <a:rPr sz="1400" spc="-10" dirty="0">
                <a:solidFill>
                  <a:srgbClr val="008000"/>
                </a:solidFill>
                <a:latin typeface="Courier New"/>
                <a:cs typeface="Courier New"/>
              </a:rPr>
              <a:t> </a:t>
            </a:r>
            <a:r>
              <a:rPr sz="1400" spc="-5" dirty="0">
                <a:solidFill>
                  <a:srgbClr val="008000"/>
                </a:solidFill>
                <a:latin typeface="Courier New"/>
                <a:cs typeface="Courier New"/>
              </a:rPr>
              <a:t>se pueden</a:t>
            </a:r>
            <a:r>
              <a:rPr sz="1400" spc="-10" dirty="0">
                <a:solidFill>
                  <a:srgbClr val="008000"/>
                </a:solidFill>
                <a:latin typeface="Courier New"/>
                <a:cs typeface="Courier New"/>
              </a:rPr>
              <a:t> </a:t>
            </a:r>
            <a:r>
              <a:rPr sz="1400" spc="-5" dirty="0">
                <a:solidFill>
                  <a:srgbClr val="008000"/>
                </a:solidFill>
                <a:latin typeface="Courier New"/>
                <a:cs typeface="Courier New"/>
              </a:rPr>
              <a:t>calcular el</a:t>
            </a:r>
            <a:r>
              <a:rPr sz="1400" spc="-10" dirty="0">
                <a:solidFill>
                  <a:srgbClr val="008000"/>
                </a:solidFill>
                <a:latin typeface="Courier New"/>
                <a:cs typeface="Courier New"/>
              </a:rPr>
              <a:t> </a:t>
            </a:r>
            <a:r>
              <a:rPr sz="1400" spc="-5" dirty="0">
                <a:solidFill>
                  <a:srgbClr val="008000"/>
                </a:solidFill>
                <a:latin typeface="Courier New"/>
                <a:cs typeface="Courier New"/>
              </a:rPr>
              <a:t>MSE</a:t>
            </a:r>
            <a:r>
              <a:rPr sz="1400" spc="-10" dirty="0">
                <a:solidFill>
                  <a:srgbClr val="008000"/>
                </a:solidFill>
                <a:latin typeface="Courier New"/>
                <a:cs typeface="Courier New"/>
              </a:rPr>
              <a:t> </a:t>
            </a:r>
            <a:r>
              <a:rPr sz="1400" dirty="0">
                <a:solidFill>
                  <a:srgbClr val="008000"/>
                </a:solidFill>
                <a:latin typeface="Courier New"/>
                <a:cs typeface="Courier New"/>
              </a:rPr>
              <a:t>y</a:t>
            </a:r>
            <a:r>
              <a:rPr sz="1400" spc="-10" dirty="0">
                <a:solidFill>
                  <a:srgbClr val="008000"/>
                </a:solidFill>
                <a:latin typeface="Courier New"/>
                <a:cs typeface="Courier New"/>
              </a:rPr>
              <a:t> </a:t>
            </a:r>
            <a:r>
              <a:rPr sz="1400" spc="-5" dirty="0">
                <a:solidFill>
                  <a:srgbClr val="008000"/>
                </a:solidFill>
                <a:latin typeface="Courier New"/>
                <a:cs typeface="Courier New"/>
              </a:rPr>
              <a:t>su raíz</a:t>
            </a:r>
            <a:r>
              <a:rPr sz="1400" spc="-10" dirty="0">
                <a:solidFill>
                  <a:srgbClr val="008000"/>
                </a:solidFill>
                <a:latin typeface="Courier New"/>
                <a:cs typeface="Courier New"/>
              </a:rPr>
              <a:t> </a:t>
            </a:r>
            <a:r>
              <a:rPr sz="1400" spc="-5" dirty="0">
                <a:solidFill>
                  <a:srgbClr val="008000"/>
                </a:solidFill>
                <a:latin typeface="Courier New"/>
                <a:cs typeface="Courier New"/>
              </a:rPr>
              <a:t>cuadrada</a:t>
            </a:r>
            <a:endParaRPr sz="1400" dirty="0">
              <a:latin typeface="Courier New"/>
              <a:cs typeface="Courier New"/>
            </a:endParaRPr>
          </a:p>
          <a:p>
            <a:pPr>
              <a:lnSpc>
                <a:spcPct val="100000"/>
              </a:lnSpc>
              <a:spcBef>
                <a:spcPts val="15"/>
              </a:spcBef>
            </a:pPr>
            <a:endParaRPr sz="1200" dirty="0">
              <a:latin typeface="Courier New"/>
              <a:cs typeface="Courier New"/>
            </a:endParaRPr>
          </a:p>
          <a:p>
            <a:pPr marL="12700" marR="3570604">
              <a:lnSpc>
                <a:spcPct val="94600"/>
              </a:lnSpc>
            </a:pPr>
            <a:r>
              <a:rPr sz="1400" spc="-5" dirty="0">
                <a:latin typeface="Courier New"/>
                <a:cs typeface="Courier New"/>
              </a:rPr>
              <a:t>SSE</a:t>
            </a:r>
            <a:r>
              <a:rPr sz="1400" b="1" spc="-5" dirty="0">
                <a:solidFill>
                  <a:srgbClr val="000080"/>
                </a:solidFill>
                <a:latin typeface="Courier New"/>
                <a:cs typeface="Courier New"/>
              </a:rPr>
              <a:t>&lt;-</a:t>
            </a:r>
            <a:r>
              <a:rPr sz="1400" spc="-5" dirty="0">
                <a:latin typeface="Courier New"/>
                <a:cs typeface="Courier New"/>
              </a:rPr>
              <a:t>red1</a:t>
            </a:r>
            <a:r>
              <a:rPr sz="1400" b="1" spc="-5" dirty="0">
                <a:solidFill>
                  <a:srgbClr val="000080"/>
                </a:solidFill>
                <a:latin typeface="Courier New"/>
                <a:cs typeface="Courier New"/>
              </a:rPr>
              <a:t>[[</a:t>
            </a:r>
            <a:r>
              <a:rPr sz="1400" spc="-5" dirty="0">
                <a:solidFill>
                  <a:srgbClr val="008040"/>
                </a:solidFill>
                <a:latin typeface="Courier New"/>
                <a:cs typeface="Courier New"/>
              </a:rPr>
              <a:t>"value"</a:t>
            </a:r>
            <a:r>
              <a:rPr sz="1400" b="1" spc="-5" dirty="0">
                <a:solidFill>
                  <a:srgbClr val="000080"/>
                </a:solidFill>
                <a:latin typeface="Courier New"/>
                <a:cs typeface="Courier New"/>
              </a:rPr>
              <a:t>]] </a:t>
            </a:r>
            <a:r>
              <a:rPr sz="1400" b="1" dirty="0">
                <a:solidFill>
                  <a:srgbClr val="000080"/>
                </a:solidFill>
                <a:latin typeface="Courier New"/>
                <a:cs typeface="Courier New"/>
              </a:rPr>
              <a:t> </a:t>
            </a:r>
            <a:r>
              <a:rPr sz="1400" spc="-5" dirty="0">
                <a:latin typeface="Courier New"/>
                <a:cs typeface="Courier New"/>
              </a:rPr>
              <a:t>MSE</a:t>
            </a:r>
            <a:r>
              <a:rPr sz="1400" b="1" spc="-5" dirty="0">
                <a:solidFill>
                  <a:srgbClr val="000080"/>
                </a:solidFill>
                <a:latin typeface="Courier New"/>
                <a:cs typeface="Courier New"/>
              </a:rPr>
              <a:t>&lt;-</a:t>
            </a:r>
            <a:r>
              <a:rPr sz="1400" spc="-5" dirty="0">
                <a:latin typeface="Courier New"/>
                <a:cs typeface="Courier New"/>
              </a:rPr>
              <a:t>SS</a:t>
            </a:r>
            <a:r>
              <a:rPr sz="1400" dirty="0">
                <a:latin typeface="Courier New"/>
                <a:cs typeface="Courier New"/>
              </a:rPr>
              <a:t>E</a:t>
            </a:r>
            <a:r>
              <a:rPr sz="1400" b="1" spc="-5" dirty="0">
                <a:solidFill>
                  <a:srgbClr val="000080"/>
                </a:solidFill>
                <a:latin typeface="Courier New"/>
                <a:cs typeface="Courier New"/>
              </a:rPr>
              <a:t>/</a:t>
            </a:r>
            <a:r>
              <a:rPr sz="1400" spc="-5" dirty="0">
                <a:latin typeface="Courier New"/>
                <a:cs typeface="Courier New"/>
              </a:rPr>
              <a:t>nrow</a:t>
            </a:r>
            <a:r>
              <a:rPr sz="1400" b="1" spc="-5" dirty="0">
                <a:solidFill>
                  <a:srgbClr val="000080"/>
                </a:solidFill>
                <a:latin typeface="Courier New"/>
                <a:cs typeface="Courier New"/>
              </a:rPr>
              <a:t>(</a:t>
            </a:r>
            <a:r>
              <a:rPr sz="1400" spc="-5" dirty="0">
                <a:latin typeface="Courier New"/>
                <a:cs typeface="Courier New"/>
              </a:rPr>
              <a:t>compress</a:t>
            </a:r>
            <a:r>
              <a:rPr sz="1400" b="1" dirty="0">
                <a:solidFill>
                  <a:srgbClr val="000080"/>
                </a:solidFill>
                <a:latin typeface="Courier New"/>
                <a:cs typeface="Courier New"/>
              </a:rPr>
              <a:t>)  </a:t>
            </a:r>
            <a:r>
              <a:rPr sz="1400" spc="-5" dirty="0">
                <a:latin typeface="Courier New"/>
                <a:cs typeface="Courier New"/>
              </a:rPr>
              <a:t>RMSE</a:t>
            </a:r>
            <a:r>
              <a:rPr sz="1400" b="1" spc="-5" dirty="0">
                <a:solidFill>
                  <a:srgbClr val="000080"/>
                </a:solidFill>
                <a:latin typeface="Courier New"/>
                <a:cs typeface="Courier New"/>
              </a:rPr>
              <a:t>&lt;-</a:t>
            </a:r>
            <a:r>
              <a:rPr sz="1400" spc="-5" dirty="0">
                <a:latin typeface="Courier New"/>
                <a:cs typeface="Courier New"/>
              </a:rPr>
              <a:t>sqrt</a:t>
            </a:r>
            <a:r>
              <a:rPr sz="1400" b="1" spc="-5" dirty="0">
                <a:solidFill>
                  <a:srgbClr val="000080"/>
                </a:solidFill>
                <a:latin typeface="Courier New"/>
                <a:cs typeface="Courier New"/>
              </a:rPr>
              <a:t>(</a:t>
            </a:r>
            <a:r>
              <a:rPr sz="1400" spc="-5" dirty="0">
                <a:latin typeface="Courier New"/>
                <a:cs typeface="Courier New"/>
              </a:rPr>
              <a:t>MSE</a:t>
            </a:r>
            <a:r>
              <a:rPr sz="1400" b="1" spc="-5" dirty="0">
                <a:solidFill>
                  <a:srgbClr val="000080"/>
                </a:solidFill>
                <a:latin typeface="Courier New"/>
                <a:cs typeface="Courier New"/>
              </a:rPr>
              <a:t>)</a:t>
            </a:r>
            <a:endParaRPr sz="1400" dirty="0">
              <a:latin typeface="Courier New"/>
              <a:cs typeface="Courier New"/>
            </a:endParaRPr>
          </a:p>
          <a:p>
            <a:pPr>
              <a:lnSpc>
                <a:spcPct val="100000"/>
              </a:lnSpc>
              <a:spcBef>
                <a:spcPts val="25"/>
              </a:spcBef>
            </a:pPr>
            <a:endParaRPr sz="1400" dirty="0">
              <a:latin typeface="Courier New"/>
              <a:cs typeface="Courier New"/>
            </a:endParaRPr>
          </a:p>
          <a:p>
            <a:pPr marL="12700" marR="5307965">
              <a:lnSpc>
                <a:spcPct val="94600"/>
              </a:lnSpc>
              <a:spcBef>
                <a:spcPts val="5"/>
              </a:spcBef>
            </a:pPr>
            <a:r>
              <a:rPr sz="1400" spc="-5" dirty="0">
                <a:latin typeface="Courier New"/>
                <a:cs typeface="Courier New"/>
              </a:rPr>
              <a:t>SSE </a:t>
            </a:r>
            <a:r>
              <a:rPr sz="1400" spc="-710" dirty="0">
                <a:latin typeface="Courier New"/>
                <a:cs typeface="Courier New"/>
              </a:rPr>
              <a:t> </a:t>
            </a:r>
            <a:endParaRPr lang="es-ES" sz="1400" spc="-710" dirty="0" smtClean="0">
              <a:latin typeface="Courier New"/>
              <a:cs typeface="Courier New"/>
            </a:endParaRPr>
          </a:p>
          <a:p>
            <a:pPr marL="12700" marR="5307965">
              <a:lnSpc>
                <a:spcPct val="94600"/>
              </a:lnSpc>
              <a:spcBef>
                <a:spcPts val="5"/>
              </a:spcBef>
            </a:pPr>
            <a:r>
              <a:rPr sz="1400" spc="-5" dirty="0" smtClean="0">
                <a:latin typeface="Courier New"/>
                <a:cs typeface="Courier New"/>
              </a:rPr>
              <a:t>MSE </a:t>
            </a:r>
            <a:r>
              <a:rPr sz="1400" spc="-710" dirty="0" smtClean="0">
                <a:latin typeface="Courier New"/>
                <a:cs typeface="Courier New"/>
              </a:rPr>
              <a:t> </a:t>
            </a:r>
            <a:endParaRPr lang="es-ES" sz="1400" spc="-710" dirty="0" smtClean="0">
              <a:latin typeface="Courier New"/>
              <a:cs typeface="Courier New"/>
            </a:endParaRPr>
          </a:p>
          <a:p>
            <a:pPr marL="12700" marR="5307965">
              <a:lnSpc>
                <a:spcPct val="94600"/>
              </a:lnSpc>
              <a:spcBef>
                <a:spcPts val="5"/>
              </a:spcBef>
            </a:pPr>
            <a:r>
              <a:rPr sz="1400" spc="-5" dirty="0" smtClean="0">
                <a:latin typeface="Courier New"/>
                <a:cs typeface="Courier New"/>
              </a:rPr>
              <a:t>RMSE</a:t>
            </a:r>
            <a:endParaRPr sz="1400" dirty="0">
              <a:latin typeface="Courier New"/>
              <a:cs typeface="Courier New"/>
            </a:endParaRPr>
          </a:p>
        </p:txBody>
      </p:sp>
    </p:spTree>
    <p:extLst>
      <p:ext uri="{BB962C8B-B14F-4D97-AF65-F5344CB8AC3E}">
        <p14:creationId xmlns:p14="http://schemas.microsoft.com/office/powerpoint/2010/main" val="3371826860"/>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222500" y="428625"/>
            <a:ext cx="5741828" cy="584775"/>
          </a:xfrm>
          <a:prstGeom prst="rect">
            <a:avLst/>
          </a:prstGeom>
          <a:noFill/>
        </p:spPr>
        <p:txBody>
          <a:bodyPr wrap="none" rtlCol="0">
            <a:spAutoFit/>
          </a:bodyPr>
          <a:lstStyle/>
          <a:p>
            <a:r>
              <a:rPr lang="es-ES" sz="3200" b="1" dirty="0" smtClean="0">
                <a:solidFill>
                  <a:schemeClr val="tx2"/>
                </a:solidFill>
              </a:rPr>
              <a:t>Redes neuronales para regresión</a:t>
            </a:r>
            <a:endParaRPr lang="es-ES" sz="3200" b="1" dirty="0">
              <a:solidFill>
                <a:schemeClr val="tx2"/>
              </a:solidFill>
            </a:endParaRPr>
          </a:p>
        </p:txBody>
      </p:sp>
      <p:sp>
        <p:nvSpPr>
          <p:cNvPr id="3" name="CuadroTexto 2"/>
          <p:cNvSpPr txBox="1"/>
          <p:nvPr/>
        </p:nvSpPr>
        <p:spPr>
          <a:xfrm>
            <a:off x="165100" y="984825"/>
            <a:ext cx="10363200" cy="6576159"/>
          </a:xfrm>
          <a:prstGeom prst="rect">
            <a:avLst/>
          </a:prstGeom>
          <a:noFill/>
        </p:spPr>
        <p:txBody>
          <a:bodyPr wrap="square" rtlCol="0">
            <a:spAutoFit/>
          </a:bodyPr>
          <a:lstStyle/>
          <a:p>
            <a:r>
              <a:rPr lang="es-ES" sz="2800" b="1" dirty="0" smtClean="0">
                <a:solidFill>
                  <a:srgbClr val="FF0000"/>
                </a:solidFill>
              </a:rPr>
              <a:t>Nota sobre R</a:t>
            </a:r>
            <a:r>
              <a:rPr lang="es-ES" sz="2800" b="1" baseline="30000" dirty="0" smtClean="0">
                <a:solidFill>
                  <a:srgbClr val="FF0000"/>
                </a:solidFill>
              </a:rPr>
              <a:t>2</a:t>
            </a:r>
            <a:endParaRPr lang="es-ES" sz="2000" baseline="30000" dirty="0" smtClean="0"/>
          </a:p>
          <a:p>
            <a:pPr algn="just"/>
            <a:r>
              <a:rPr lang="es-ES" sz="2000" dirty="0"/>
              <a:t>Cuando el </a:t>
            </a:r>
            <a:r>
              <a:rPr lang="es-ES" sz="2000" b="1" dirty="0">
                <a:solidFill>
                  <a:srgbClr val="FF0000"/>
                </a:solidFill>
              </a:rPr>
              <a:t>R</a:t>
            </a:r>
            <a:r>
              <a:rPr lang="es-ES" sz="2000" b="1" baseline="30000" dirty="0">
                <a:solidFill>
                  <a:srgbClr val="FF0000"/>
                </a:solidFill>
              </a:rPr>
              <a:t>2 </a:t>
            </a:r>
            <a:r>
              <a:rPr lang="es-ES" sz="2000" b="1" baseline="30000" dirty="0" smtClean="0">
                <a:solidFill>
                  <a:srgbClr val="FF0000"/>
                </a:solidFill>
              </a:rPr>
              <a:t> </a:t>
            </a:r>
            <a:r>
              <a:rPr lang="es-ES" sz="2000" dirty="0" smtClean="0"/>
              <a:t>(coeficiente </a:t>
            </a:r>
            <a:r>
              <a:rPr lang="es-ES" sz="2000" dirty="0"/>
              <a:t>de </a:t>
            </a:r>
            <a:r>
              <a:rPr lang="es-ES" sz="2000" dirty="0" smtClean="0"/>
              <a:t>determinación) es </a:t>
            </a:r>
            <a:r>
              <a:rPr lang="es-ES" sz="2000" b="1" dirty="0"/>
              <a:t>negativo</a:t>
            </a:r>
            <a:r>
              <a:rPr lang="es-ES" sz="2000" dirty="0"/>
              <a:t> en un problema de </a:t>
            </a:r>
            <a:r>
              <a:rPr lang="es-ES" sz="2000" dirty="0" smtClean="0"/>
              <a:t>predicción de variable continua, </a:t>
            </a:r>
            <a:r>
              <a:rPr lang="es-ES" sz="2000" dirty="0"/>
              <a:t>indica que el modelo </a:t>
            </a:r>
            <a:r>
              <a:rPr lang="es-ES" sz="2000" dirty="0" smtClean="0"/>
              <a:t>evaluado </a:t>
            </a:r>
            <a:r>
              <a:rPr lang="es-ES" sz="2000" dirty="0"/>
              <a:t>es </a:t>
            </a:r>
            <a:r>
              <a:rPr lang="es-ES" sz="2000" b="1" dirty="0"/>
              <a:t>peor</a:t>
            </a:r>
            <a:r>
              <a:rPr lang="es-ES" sz="2000" dirty="0"/>
              <a:t> que un simple modelo que solo predice la </a:t>
            </a:r>
            <a:r>
              <a:rPr lang="es-ES" sz="2000" b="1" dirty="0"/>
              <a:t>media</a:t>
            </a:r>
            <a:r>
              <a:rPr lang="es-ES" sz="2000" dirty="0"/>
              <a:t> de la </a:t>
            </a:r>
            <a:r>
              <a:rPr lang="es-ES" sz="2000" b="1" dirty="0"/>
              <a:t>variable dependiente</a:t>
            </a:r>
            <a:r>
              <a:rPr lang="es-ES" sz="2000" dirty="0"/>
              <a:t>. Esto significa que el modelo no se ajusta bien a los datos y que su </a:t>
            </a:r>
            <a:r>
              <a:rPr lang="es-ES" sz="2000" b="1" dirty="0"/>
              <a:t>capacidad predictiva </a:t>
            </a:r>
            <a:r>
              <a:rPr lang="es-ES" sz="2000" dirty="0"/>
              <a:t>es prácticamente </a:t>
            </a:r>
            <a:r>
              <a:rPr lang="es-ES" sz="2000" b="1" dirty="0"/>
              <a:t>inexistente</a:t>
            </a:r>
            <a:r>
              <a:rPr lang="es-ES" sz="2000" dirty="0"/>
              <a:t> o incluso </a:t>
            </a:r>
            <a:r>
              <a:rPr lang="es-ES" sz="2000" b="1" dirty="0"/>
              <a:t>peor</a:t>
            </a:r>
            <a:r>
              <a:rPr lang="es-ES" sz="2000" dirty="0"/>
              <a:t> que una predicción </a:t>
            </a:r>
            <a:r>
              <a:rPr lang="es-ES" sz="2000" b="1" dirty="0"/>
              <a:t>aleatoria</a:t>
            </a:r>
            <a:r>
              <a:rPr lang="es-ES" sz="2000" dirty="0" smtClean="0"/>
              <a:t>.</a:t>
            </a:r>
          </a:p>
          <a:p>
            <a:pPr algn="just"/>
            <a:endParaRPr lang="es-ES" sz="2000" dirty="0"/>
          </a:p>
          <a:p>
            <a:pPr algn="just"/>
            <a:r>
              <a:rPr lang="es-ES" sz="2000" i="1" dirty="0"/>
              <a:t>R</a:t>
            </a:r>
            <a:r>
              <a:rPr lang="es-ES" sz="2000" baseline="30000" dirty="0"/>
              <a:t>2</a:t>
            </a:r>
            <a:r>
              <a:rPr lang="es-ES" sz="2000" dirty="0"/>
              <a:t>=1−</a:t>
            </a:r>
            <a:r>
              <a:rPr lang="es-ES" sz="2000" i="1" dirty="0" smtClean="0"/>
              <a:t>SST/SSE</a:t>
            </a:r>
            <a:r>
              <a:rPr lang="es-ES" sz="2000" dirty="0" smtClean="0"/>
              <a:t>​</a:t>
            </a:r>
            <a:br>
              <a:rPr lang="es-ES" sz="2000" dirty="0" smtClean="0"/>
            </a:br>
            <a:r>
              <a:rPr lang="es-ES" sz="2000" dirty="0" smtClean="0"/>
              <a:t>SST y SSE son la Suma Total de Cuadrados y la Suma de los Cuadrado de los Residuos,</a:t>
            </a:r>
          </a:p>
          <a:p>
            <a:pPr algn="just"/>
            <a:endParaRPr lang="es-ES" sz="2000" dirty="0"/>
          </a:p>
          <a:p>
            <a:pPr algn="just"/>
            <a:r>
              <a:rPr lang="es-ES" sz="2000" dirty="0" smtClean="0"/>
              <a:t> </a:t>
            </a:r>
            <a:r>
              <a:rPr lang="pt-BR" sz="2000" dirty="0"/>
              <a:t/>
            </a:r>
            <a:br>
              <a:rPr lang="pt-BR" sz="2000" dirty="0"/>
            </a:br>
            <a:endParaRPr lang="es-ES" sz="2000" dirty="0"/>
          </a:p>
          <a:p>
            <a:pPr algn="just"/>
            <a:r>
              <a:rPr lang="es-ES" sz="2000" dirty="0" smtClean="0"/>
              <a:t>En general, </a:t>
            </a:r>
            <a:r>
              <a:rPr lang="es-ES" sz="2000" b="1" dirty="0">
                <a:solidFill>
                  <a:srgbClr val="FF0000"/>
                </a:solidFill>
              </a:rPr>
              <a:t>R</a:t>
            </a:r>
            <a:r>
              <a:rPr lang="es-ES" sz="2000" b="1" baseline="30000" dirty="0">
                <a:solidFill>
                  <a:srgbClr val="FF0000"/>
                </a:solidFill>
              </a:rPr>
              <a:t>2 </a:t>
            </a:r>
            <a:r>
              <a:rPr lang="es-ES" sz="2000" dirty="0" smtClean="0"/>
              <a:t>puede </a:t>
            </a:r>
            <a:r>
              <a:rPr lang="es-ES" sz="2000" dirty="0"/>
              <a:t>variar de 0 a 1, donde un valor más cercano a </a:t>
            </a:r>
            <a:r>
              <a:rPr lang="es-ES" sz="2000" b="1" dirty="0"/>
              <a:t>1</a:t>
            </a:r>
            <a:r>
              <a:rPr lang="es-ES" sz="2000" dirty="0"/>
              <a:t> indica un </a:t>
            </a:r>
            <a:r>
              <a:rPr lang="es-ES" sz="2000" b="1" dirty="0"/>
              <a:t>ajuste</a:t>
            </a:r>
            <a:r>
              <a:rPr lang="es-ES" sz="2000" dirty="0"/>
              <a:t> muy </a:t>
            </a:r>
            <a:r>
              <a:rPr lang="es-ES" sz="2000" b="1" dirty="0"/>
              <a:t>bueno</a:t>
            </a:r>
            <a:r>
              <a:rPr lang="es-ES" sz="2000" dirty="0"/>
              <a:t> del modelo a los datos, mientras que un valor cercano a </a:t>
            </a:r>
            <a:r>
              <a:rPr lang="es-ES" sz="2000" b="1" dirty="0"/>
              <a:t>0</a:t>
            </a:r>
            <a:r>
              <a:rPr lang="es-ES" sz="2000" dirty="0"/>
              <a:t> indica que el modelo </a:t>
            </a:r>
            <a:r>
              <a:rPr lang="es-ES" sz="2000" b="1" dirty="0"/>
              <a:t>no explica</a:t>
            </a:r>
            <a:r>
              <a:rPr lang="es-ES" sz="2000" dirty="0"/>
              <a:t> la </a:t>
            </a:r>
            <a:r>
              <a:rPr lang="es-ES" sz="2000" b="1" dirty="0"/>
              <a:t>variabilidad</a:t>
            </a:r>
            <a:r>
              <a:rPr lang="es-ES" sz="2000" dirty="0"/>
              <a:t> de los datos. </a:t>
            </a:r>
            <a:endParaRPr lang="es-ES" sz="2000" dirty="0" smtClean="0"/>
          </a:p>
          <a:p>
            <a:pPr algn="just"/>
            <a:endParaRPr lang="es-ES" sz="2000" dirty="0"/>
          </a:p>
          <a:p>
            <a:pPr algn="just"/>
            <a:r>
              <a:rPr lang="es-ES" sz="2000" dirty="0" smtClean="0"/>
              <a:t>Un </a:t>
            </a:r>
            <a:r>
              <a:rPr lang="es-ES" sz="2000" dirty="0"/>
              <a:t>valor </a:t>
            </a:r>
            <a:r>
              <a:rPr lang="es-ES" sz="2000" b="1" dirty="0"/>
              <a:t>negativo</a:t>
            </a:r>
            <a:r>
              <a:rPr lang="es-ES" sz="2000" dirty="0"/>
              <a:t> indica que el </a:t>
            </a:r>
            <a:r>
              <a:rPr lang="es-ES" sz="2000" b="1" dirty="0"/>
              <a:t>modelo</a:t>
            </a:r>
            <a:r>
              <a:rPr lang="es-ES" sz="2000" dirty="0"/>
              <a:t> es sustancialmente </a:t>
            </a:r>
            <a:r>
              <a:rPr lang="es-ES" sz="2000" b="1" dirty="0"/>
              <a:t>peor </a:t>
            </a:r>
            <a:r>
              <a:rPr lang="es-ES" sz="2000" dirty="0"/>
              <a:t>que una simple </a:t>
            </a:r>
            <a:r>
              <a:rPr lang="es-ES" sz="2000" b="1" dirty="0"/>
              <a:t>media </a:t>
            </a:r>
            <a:r>
              <a:rPr lang="es-ES" sz="2000" dirty="0"/>
              <a:t>y sugiere que </a:t>
            </a:r>
            <a:r>
              <a:rPr lang="es-ES" sz="2000" u="sng" dirty="0"/>
              <a:t>algo está seriamente mal con el ajuste del modelo a los datos</a:t>
            </a:r>
            <a:r>
              <a:rPr lang="es-ES" sz="2000" dirty="0"/>
              <a:t>. </a:t>
            </a:r>
            <a:endParaRPr lang="es-ES" sz="2000" dirty="0" smtClean="0"/>
          </a:p>
          <a:p>
            <a:pPr algn="just"/>
            <a:endParaRPr lang="es-ES" sz="2000" dirty="0"/>
          </a:p>
          <a:p>
            <a:pPr algn="just"/>
            <a:r>
              <a:rPr lang="es-ES" sz="2000" b="1" dirty="0" smtClean="0"/>
              <a:t>IMPORTANTE</a:t>
            </a:r>
            <a:r>
              <a:rPr lang="es-ES" sz="2000" dirty="0" smtClean="0"/>
              <a:t>: revisar </a:t>
            </a:r>
            <a:r>
              <a:rPr lang="es-ES" sz="2000" dirty="0"/>
              <a:t>cuidadosamente el modelo y considerar posibles problemas como </a:t>
            </a:r>
            <a:r>
              <a:rPr lang="es-ES" sz="2000" dirty="0" err="1"/>
              <a:t>multicolinealidad</a:t>
            </a:r>
            <a:r>
              <a:rPr lang="es-ES" sz="2000" dirty="0"/>
              <a:t>, sobreajuste, errores en los datos o problemas en el diseño del modelo.</a:t>
            </a:r>
          </a:p>
          <a:p>
            <a:pPr algn="just"/>
            <a:endParaRPr lang="es-ES" sz="2000" b="1" baseline="30000" dirty="0">
              <a:solidFill>
                <a:srgbClr val="FF0000"/>
              </a:solidFill>
            </a:endParaRPr>
          </a:p>
        </p:txBody>
      </p:sp>
      <p:pic>
        <p:nvPicPr>
          <p:cNvPr id="4" name="Imagen 3"/>
          <p:cNvPicPr>
            <a:picLocks noChangeAspect="1"/>
          </p:cNvPicPr>
          <p:nvPr/>
        </p:nvPicPr>
        <p:blipFill>
          <a:blip r:embed="rId2"/>
          <a:stretch>
            <a:fillRect/>
          </a:stretch>
        </p:blipFill>
        <p:spPr>
          <a:xfrm>
            <a:off x="1841500" y="3705225"/>
            <a:ext cx="2100515" cy="742976"/>
          </a:xfrm>
          <a:prstGeom prst="rect">
            <a:avLst/>
          </a:prstGeom>
        </p:spPr>
      </p:pic>
      <p:pic>
        <p:nvPicPr>
          <p:cNvPr id="5" name="Imagen 4"/>
          <p:cNvPicPr>
            <a:picLocks noChangeAspect="1"/>
          </p:cNvPicPr>
          <p:nvPr/>
        </p:nvPicPr>
        <p:blipFill>
          <a:blip r:embed="rId3"/>
          <a:stretch>
            <a:fillRect/>
          </a:stretch>
        </p:blipFill>
        <p:spPr>
          <a:xfrm>
            <a:off x="5063346" y="3705226"/>
            <a:ext cx="2228926" cy="742976"/>
          </a:xfrm>
          <a:prstGeom prst="rect">
            <a:avLst/>
          </a:prstGeom>
        </p:spPr>
      </p:pic>
    </p:spTree>
    <p:extLst>
      <p:ext uri="{BB962C8B-B14F-4D97-AF65-F5344CB8AC3E}">
        <p14:creationId xmlns:p14="http://schemas.microsoft.com/office/powerpoint/2010/main" val="253867728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6963" y="325628"/>
            <a:ext cx="10346437" cy="1351915"/>
          </a:xfrm>
          <a:prstGeom prst="rect">
            <a:avLst/>
          </a:prstGeom>
        </p:spPr>
        <p:txBody>
          <a:bodyPr vert="horz" wrap="square" lIns="0" tIns="29845" rIns="0" bIns="0" rtlCol="0">
            <a:spAutoFit/>
          </a:bodyPr>
          <a:lstStyle/>
          <a:p>
            <a:pPr marL="12700" marR="5080">
              <a:lnSpc>
                <a:spcPts val="2080"/>
              </a:lnSpc>
              <a:spcBef>
                <a:spcPts val="235"/>
              </a:spcBef>
            </a:pPr>
            <a:r>
              <a:rPr sz="1800" b="1" spc="-5" dirty="0" smtClean="0">
                <a:solidFill>
                  <a:srgbClr val="FF0000"/>
                </a:solidFill>
                <a:latin typeface="Times New Roman"/>
                <a:cs typeface="Times New Roman"/>
              </a:rPr>
              <a:t>Nota:</a:t>
            </a:r>
            <a:r>
              <a:rPr lang="es-ES" spc="-5" dirty="0">
                <a:solidFill>
                  <a:srgbClr val="FF0000"/>
                </a:solidFill>
                <a:latin typeface="Times New Roman"/>
                <a:cs typeface="Times New Roman"/>
              </a:rPr>
              <a:t> </a:t>
            </a:r>
            <a:r>
              <a:rPr lang="es-ES" spc="-5" dirty="0" smtClean="0">
                <a:latin typeface="Times New Roman"/>
                <a:cs typeface="Times New Roman"/>
              </a:rPr>
              <a:t>e</a:t>
            </a:r>
            <a:r>
              <a:rPr sz="1800" spc="-5" dirty="0" smtClean="0">
                <a:latin typeface="Times New Roman"/>
                <a:cs typeface="Times New Roman"/>
              </a:rPr>
              <a:t>n</a:t>
            </a:r>
            <a:r>
              <a:rPr sz="1800" spc="10" dirty="0" smtClean="0">
                <a:latin typeface="Times New Roman"/>
                <a:cs typeface="Times New Roman"/>
              </a:rPr>
              <a:t> </a:t>
            </a:r>
            <a:r>
              <a:rPr sz="1800" dirty="0">
                <a:latin typeface="Times New Roman"/>
                <a:cs typeface="Times New Roman"/>
              </a:rPr>
              <a:t>clasificación </a:t>
            </a:r>
            <a:r>
              <a:rPr sz="1800" spc="-5" dirty="0">
                <a:latin typeface="Times New Roman"/>
                <a:cs typeface="Times New Roman"/>
              </a:rPr>
              <a:t>binaria,</a:t>
            </a:r>
            <a:r>
              <a:rPr sz="1800" spc="15" dirty="0">
                <a:latin typeface="Times New Roman"/>
                <a:cs typeface="Times New Roman"/>
              </a:rPr>
              <a:t> </a:t>
            </a:r>
            <a:r>
              <a:rPr sz="1800" spc="-5" dirty="0">
                <a:latin typeface="Times New Roman"/>
                <a:cs typeface="Times New Roman"/>
              </a:rPr>
              <a:t>si</a:t>
            </a:r>
            <a:r>
              <a:rPr sz="1800" spc="-10" dirty="0">
                <a:latin typeface="Times New Roman"/>
                <a:cs typeface="Times New Roman"/>
              </a:rPr>
              <a:t> </a:t>
            </a:r>
            <a:r>
              <a:rPr sz="1800" dirty="0">
                <a:latin typeface="Times New Roman"/>
                <a:cs typeface="Times New Roman"/>
              </a:rPr>
              <a:t>la</a:t>
            </a:r>
            <a:r>
              <a:rPr sz="1800" spc="20" dirty="0">
                <a:latin typeface="Times New Roman"/>
                <a:cs typeface="Times New Roman"/>
              </a:rPr>
              <a:t> </a:t>
            </a:r>
            <a:r>
              <a:rPr sz="1800" spc="-5" dirty="0">
                <a:latin typeface="Times New Roman"/>
                <a:cs typeface="Times New Roman"/>
              </a:rPr>
              <a:t>separación </a:t>
            </a:r>
            <a:r>
              <a:rPr sz="1800" dirty="0">
                <a:latin typeface="Times New Roman"/>
                <a:cs typeface="Times New Roman"/>
              </a:rPr>
              <a:t>entre</a:t>
            </a:r>
            <a:r>
              <a:rPr sz="1800" spc="15" dirty="0">
                <a:latin typeface="Times New Roman"/>
                <a:cs typeface="Times New Roman"/>
              </a:rPr>
              <a:t> </a:t>
            </a:r>
            <a:r>
              <a:rPr sz="1800" spc="-5" dirty="0">
                <a:latin typeface="Times New Roman"/>
                <a:cs typeface="Times New Roman"/>
              </a:rPr>
              <a:t>clases</a:t>
            </a:r>
            <a:r>
              <a:rPr sz="1800" dirty="0">
                <a:latin typeface="Times New Roman"/>
                <a:cs typeface="Times New Roman"/>
              </a:rPr>
              <a:t> es</a:t>
            </a:r>
            <a:r>
              <a:rPr sz="1800" spc="15" dirty="0">
                <a:latin typeface="Times New Roman"/>
                <a:cs typeface="Times New Roman"/>
              </a:rPr>
              <a:t> </a:t>
            </a:r>
            <a:r>
              <a:rPr sz="1800" spc="-5" dirty="0">
                <a:latin typeface="Times New Roman"/>
                <a:cs typeface="Times New Roman"/>
              </a:rPr>
              <a:t>aproximadamente</a:t>
            </a:r>
            <a:r>
              <a:rPr sz="1800" spc="10" dirty="0">
                <a:latin typeface="Times New Roman"/>
                <a:cs typeface="Times New Roman"/>
              </a:rPr>
              <a:t> </a:t>
            </a:r>
            <a:r>
              <a:rPr sz="1800" dirty="0">
                <a:latin typeface="Times New Roman"/>
                <a:cs typeface="Times New Roman"/>
              </a:rPr>
              <a:t>lineal,</a:t>
            </a:r>
            <a:r>
              <a:rPr sz="1800" spc="5" dirty="0">
                <a:latin typeface="Times New Roman"/>
                <a:cs typeface="Times New Roman"/>
              </a:rPr>
              <a:t> </a:t>
            </a:r>
            <a:r>
              <a:rPr sz="1800" dirty="0">
                <a:latin typeface="Times New Roman"/>
                <a:cs typeface="Times New Roman"/>
              </a:rPr>
              <a:t>es</a:t>
            </a:r>
            <a:r>
              <a:rPr sz="1800" spc="10" dirty="0">
                <a:latin typeface="Times New Roman"/>
                <a:cs typeface="Times New Roman"/>
              </a:rPr>
              <a:t> </a:t>
            </a:r>
            <a:r>
              <a:rPr sz="1800" spc="-5" dirty="0">
                <a:latin typeface="Times New Roman"/>
                <a:cs typeface="Times New Roman"/>
              </a:rPr>
              <a:t>mejor</a:t>
            </a:r>
            <a:r>
              <a:rPr sz="1800" dirty="0">
                <a:latin typeface="Times New Roman"/>
                <a:cs typeface="Times New Roman"/>
              </a:rPr>
              <a:t> la</a:t>
            </a:r>
            <a:r>
              <a:rPr sz="1800" spc="10" dirty="0">
                <a:latin typeface="Times New Roman"/>
                <a:cs typeface="Times New Roman"/>
              </a:rPr>
              <a:t> </a:t>
            </a:r>
            <a:r>
              <a:rPr sz="1800" spc="-5" dirty="0">
                <a:latin typeface="Times New Roman"/>
                <a:cs typeface="Times New Roman"/>
              </a:rPr>
              <a:t>regresión </a:t>
            </a:r>
            <a:r>
              <a:rPr sz="1800" spc="-434" dirty="0">
                <a:latin typeface="Times New Roman"/>
                <a:cs typeface="Times New Roman"/>
              </a:rPr>
              <a:t> </a:t>
            </a:r>
            <a:r>
              <a:rPr sz="1800" spc="-5" dirty="0">
                <a:latin typeface="Times New Roman"/>
                <a:cs typeface="Times New Roman"/>
              </a:rPr>
              <a:t>logística que</a:t>
            </a:r>
            <a:r>
              <a:rPr sz="1800" spc="5" dirty="0">
                <a:latin typeface="Times New Roman"/>
                <a:cs typeface="Times New Roman"/>
              </a:rPr>
              <a:t> </a:t>
            </a:r>
            <a:r>
              <a:rPr sz="1800" spc="-5" dirty="0">
                <a:latin typeface="Times New Roman"/>
                <a:cs typeface="Times New Roman"/>
              </a:rPr>
              <a:t>la</a:t>
            </a:r>
            <a:r>
              <a:rPr sz="1800" spc="5" dirty="0">
                <a:latin typeface="Times New Roman"/>
                <a:cs typeface="Times New Roman"/>
              </a:rPr>
              <a:t> </a:t>
            </a:r>
            <a:r>
              <a:rPr sz="1800" spc="-5" dirty="0">
                <a:latin typeface="Times New Roman"/>
                <a:cs typeface="Times New Roman"/>
              </a:rPr>
              <a:t>red</a:t>
            </a:r>
            <a:r>
              <a:rPr sz="1800" spc="-5" dirty="0">
                <a:solidFill>
                  <a:srgbClr val="FF0000"/>
                </a:solidFill>
                <a:latin typeface="Times New Roman"/>
                <a:cs typeface="Times New Roman"/>
              </a:rPr>
              <a:t>.</a:t>
            </a:r>
            <a:endParaRPr sz="1800" dirty="0">
              <a:latin typeface="Times New Roman"/>
              <a:cs typeface="Times New Roman"/>
            </a:endParaRPr>
          </a:p>
          <a:p>
            <a:pPr marL="1811020">
              <a:lnSpc>
                <a:spcPts val="2039"/>
              </a:lnSpc>
            </a:pPr>
            <a:r>
              <a:rPr sz="1800" b="1" u="sng" spc="-5" dirty="0">
                <a:solidFill>
                  <a:srgbClr val="17365D"/>
                </a:solidFill>
                <a:uFill>
                  <a:solidFill>
                    <a:srgbClr val="17365D"/>
                  </a:solidFill>
                </a:uFill>
                <a:latin typeface="Times New Roman"/>
                <a:cs typeface="Times New Roman"/>
              </a:rPr>
              <a:t>Variable</a:t>
            </a:r>
            <a:r>
              <a:rPr sz="1800" b="1" u="sng" dirty="0">
                <a:solidFill>
                  <a:srgbClr val="17365D"/>
                </a:solidFill>
                <a:uFill>
                  <a:solidFill>
                    <a:srgbClr val="17365D"/>
                  </a:solidFill>
                </a:uFill>
                <a:latin typeface="Times New Roman"/>
                <a:cs typeface="Times New Roman"/>
              </a:rPr>
              <a:t> </a:t>
            </a:r>
            <a:r>
              <a:rPr sz="1800" b="1" u="sng" spc="-10" dirty="0">
                <a:solidFill>
                  <a:srgbClr val="17365D"/>
                </a:solidFill>
                <a:uFill>
                  <a:solidFill>
                    <a:srgbClr val="17365D"/>
                  </a:solidFill>
                </a:uFill>
                <a:latin typeface="Times New Roman"/>
                <a:cs typeface="Times New Roman"/>
              </a:rPr>
              <a:t>dependiente</a:t>
            </a:r>
            <a:r>
              <a:rPr sz="1800" b="1" u="sng" dirty="0">
                <a:solidFill>
                  <a:srgbClr val="17365D"/>
                </a:solidFill>
                <a:uFill>
                  <a:solidFill>
                    <a:srgbClr val="17365D"/>
                  </a:solidFill>
                </a:uFill>
                <a:latin typeface="Times New Roman"/>
                <a:cs typeface="Times New Roman"/>
              </a:rPr>
              <a:t> </a:t>
            </a:r>
            <a:r>
              <a:rPr sz="1800" b="1" u="sng" spc="-5" dirty="0">
                <a:solidFill>
                  <a:srgbClr val="17365D"/>
                </a:solidFill>
                <a:uFill>
                  <a:solidFill>
                    <a:srgbClr val="17365D"/>
                  </a:solidFill>
                </a:uFill>
                <a:latin typeface="Times New Roman"/>
                <a:cs typeface="Times New Roman"/>
              </a:rPr>
              <a:t>continua</a:t>
            </a:r>
            <a:endParaRPr sz="1800" u="sng" dirty="0">
              <a:latin typeface="Times New Roman"/>
              <a:cs typeface="Times New Roman"/>
            </a:endParaRPr>
          </a:p>
          <a:p>
            <a:pPr>
              <a:lnSpc>
                <a:spcPct val="100000"/>
              </a:lnSpc>
              <a:spcBef>
                <a:spcPts val="45"/>
              </a:spcBef>
            </a:pPr>
            <a:endParaRPr sz="1650" dirty="0">
              <a:latin typeface="Times New Roman"/>
              <a:cs typeface="Times New Roman"/>
            </a:endParaRPr>
          </a:p>
          <a:p>
            <a:pPr marL="12700">
              <a:lnSpc>
                <a:spcPct val="100000"/>
              </a:lnSpc>
              <a:tabLst>
                <a:tab pos="4508500" algn="l"/>
              </a:tabLst>
            </a:pPr>
            <a:r>
              <a:rPr sz="1800" spc="-5" dirty="0">
                <a:solidFill>
                  <a:srgbClr val="FF0000"/>
                </a:solidFill>
                <a:latin typeface="Times New Roman"/>
                <a:cs typeface="Times New Roman"/>
              </a:rPr>
              <a:t>Mejor</a:t>
            </a:r>
            <a:r>
              <a:rPr sz="1800" spc="5" dirty="0">
                <a:solidFill>
                  <a:srgbClr val="FF0000"/>
                </a:solidFill>
                <a:latin typeface="Times New Roman"/>
                <a:cs typeface="Times New Roman"/>
              </a:rPr>
              <a:t> </a:t>
            </a:r>
            <a:r>
              <a:rPr sz="1800" spc="-5" dirty="0">
                <a:solidFill>
                  <a:srgbClr val="FF0000"/>
                </a:solidFill>
                <a:latin typeface="Times New Roman"/>
                <a:cs typeface="Times New Roman"/>
              </a:rPr>
              <a:t>la</a:t>
            </a:r>
            <a:r>
              <a:rPr sz="1800" spc="5" dirty="0">
                <a:solidFill>
                  <a:srgbClr val="FF0000"/>
                </a:solidFill>
                <a:latin typeface="Times New Roman"/>
                <a:cs typeface="Times New Roman"/>
              </a:rPr>
              <a:t> </a:t>
            </a:r>
            <a:r>
              <a:rPr sz="1800" spc="-5" dirty="0">
                <a:solidFill>
                  <a:srgbClr val="FF0000"/>
                </a:solidFill>
                <a:latin typeface="Times New Roman"/>
                <a:cs typeface="Times New Roman"/>
              </a:rPr>
              <a:t>red	Mejor la</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regresión</a:t>
            </a:r>
            <a:r>
              <a:rPr sz="1800" dirty="0">
                <a:solidFill>
                  <a:srgbClr val="FF0000"/>
                </a:solidFill>
                <a:latin typeface="Times New Roman"/>
                <a:cs typeface="Times New Roman"/>
              </a:rPr>
              <a:t> </a:t>
            </a:r>
            <a:r>
              <a:rPr sz="1800" spc="-5" dirty="0">
                <a:solidFill>
                  <a:srgbClr val="FF0000"/>
                </a:solidFill>
                <a:latin typeface="Times New Roman"/>
                <a:cs typeface="Times New Roman"/>
              </a:rPr>
              <a:t>lineal</a:t>
            </a:r>
            <a:endParaRPr sz="1800" dirty="0">
              <a:latin typeface="Times New Roman"/>
              <a:cs typeface="Times New Roman"/>
            </a:endParaRPr>
          </a:p>
        </p:txBody>
      </p:sp>
      <p:sp>
        <p:nvSpPr>
          <p:cNvPr id="3" name="object 3"/>
          <p:cNvSpPr txBox="1"/>
          <p:nvPr/>
        </p:nvSpPr>
        <p:spPr>
          <a:xfrm>
            <a:off x="2145538" y="4011548"/>
            <a:ext cx="2882900" cy="299720"/>
          </a:xfrm>
          <a:prstGeom prst="rect">
            <a:avLst/>
          </a:prstGeom>
        </p:spPr>
        <p:txBody>
          <a:bodyPr vert="horz" wrap="square" lIns="0" tIns="12700" rIns="0" bIns="0" rtlCol="0">
            <a:spAutoFit/>
          </a:bodyPr>
          <a:lstStyle/>
          <a:p>
            <a:pPr marL="12700">
              <a:lnSpc>
                <a:spcPct val="100000"/>
              </a:lnSpc>
              <a:spcBef>
                <a:spcPts val="100"/>
              </a:spcBef>
            </a:pPr>
            <a:r>
              <a:rPr sz="1800" b="1" u="sng" spc="-5" dirty="0">
                <a:solidFill>
                  <a:srgbClr val="17365D"/>
                </a:solidFill>
                <a:uFill>
                  <a:solidFill>
                    <a:srgbClr val="17365D"/>
                  </a:solidFill>
                </a:uFill>
                <a:latin typeface="Times New Roman"/>
                <a:cs typeface="Times New Roman"/>
              </a:rPr>
              <a:t>Variable </a:t>
            </a:r>
            <a:r>
              <a:rPr sz="1800" b="1" u="sng" spc="-10" dirty="0">
                <a:solidFill>
                  <a:srgbClr val="17365D"/>
                </a:solidFill>
                <a:uFill>
                  <a:solidFill>
                    <a:srgbClr val="17365D"/>
                  </a:solidFill>
                </a:uFill>
                <a:latin typeface="Times New Roman"/>
                <a:cs typeface="Times New Roman"/>
              </a:rPr>
              <a:t>dependiente</a:t>
            </a:r>
            <a:r>
              <a:rPr sz="1800" b="1" u="sng" spc="-5" dirty="0">
                <a:solidFill>
                  <a:srgbClr val="17365D"/>
                </a:solidFill>
                <a:uFill>
                  <a:solidFill>
                    <a:srgbClr val="17365D"/>
                  </a:solidFill>
                </a:uFill>
                <a:latin typeface="Times New Roman"/>
                <a:cs typeface="Times New Roman"/>
              </a:rPr>
              <a:t> binaria</a:t>
            </a:r>
            <a:endParaRPr sz="1800" u="sng" dirty="0">
              <a:latin typeface="Times New Roman"/>
              <a:cs typeface="Times New Roman"/>
            </a:endParaRPr>
          </a:p>
        </p:txBody>
      </p:sp>
      <p:sp>
        <p:nvSpPr>
          <p:cNvPr id="4" name="object 4"/>
          <p:cNvSpPr txBox="1"/>
          <p:nvPr/>
        </p:nvSpPr>
        <p:spPr>
          <a:xfrm>
            <a:off x="346963" y="4532757"/>
            <a:ext cx="11550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Times New Roman"/>
                <a:cs typeface="Times New Roman"/>
              </a:rPr>
              <a:t>Mejor</a:t>
            </a:r>
            <a:r>
              <a:rPr sz="1800" spc="-40" dirty="0">
                <a:solidFill>
                  <a:srgbClr val="FF0000"/>
                </a:solidFill>
                <a:latin typeface="Times New Roman"/>
                <a:cs typeface="Times New Roman"/>
              </a:rPr>
              <a:t> </a:t>
            </a:r>
            <a:r>
              <a:rPr sz="1800" spc="-5" dirty="0">
                <a:solidFill>
                  <a:srgbClr val="FF0000"/>
                </a:solidFill>
                <a:latin typeface="Times New Roman"/>
                <a:cs typeface="Times New Roman"/>
              </a:rPr>
              <a:t>la</a:t>
            </a:r>
            <a:r>
              <a:rPr sz="1800" spc="-35" dirty="0">
                <a:solidFill>
                  <a:srgbClr val="FF0000"/>
                </a:solidFill>
                <a:latin typeface="Times New Roman"/>
                <a:cs typeface="Times New Roman"/>
              </a:rPr>
              <a:t> </a:t>
            </a:r>
            <a:r>
              <a:rPr sz="1800" spc="-5" dirty="0">
                <a:solidFill>
                  <a:srgbClr val="FF0000"/>
                </a:solidFill>
                <a:latin typeface="Times New Roman"/>
                <a:cs typeface="Times New Roman"/>
              </a:rPr>
              <a:t>red</a:t>
            </a:r>
            <a:endParaRPr sz="1800">
              <a:latin typeface="Times New Roman"/>
              <a:cs typeface="Times New Roman"/>
            </a:endParaRPr>
          </a:p>
        </p:txBody>
      </p:sp>
      <p:sp>
        <p:nvSpPr>
          <p:cNvPr id="5" name="object 5"/>
          <p:cNvSpPr txBox="1"/>
          <p:nvPr/>
        </p:nvSpPr>
        <p:spPr>
          <a:xfrm>
            <a:off x="4843398" y="4532757"/>
            <a:ext cx="254508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Times New Roman"/>
                <a:cs typeface="Times New Roman"/>
              </a:rPr>
              <a:t>Mejor</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la</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regresión</a:t>
            </a:r>
            <a:r>
              <a:rPr sz="1800" spc="-15" dirty="0">
                <a:solidFill>
                  <a:srgbClr val="FF0000"/>
                </a:solidFill>
                <a:latin typeface="Times New Roman"/>
                <a:cs typeface="Times New Roman"/>
              </a:rPr>
              <a:t> </a:t>
            </a:r>
            <a:r>
              <a:rPr sz="1800" spc="-5" dirty="0">
                <a:solidFill>
                  <a:srgbClr val="FF0000"/>
                </a:solidFill>
                <a:latin typeface="Times New Roman"/>
                <a:cs typeface="Times New Roman"/>
              </a:rPr>
              <a:t>logística</a:t>
            </a:r>
            <a:endParaRPr sz="1800">
              <a:latin typeface="Times New Roman"/>
              <a:cs typeface="Times New Roman"/>
            </a:endParaRPr>
          </a:p>
        </p:txBody>
      </p:sp>
      <p:pic>
        <p:nvPicPr>
          <p:cNvPr id="6" name="object 6"/>
          <p:cNvPicPr/>
          <p:nvPr/>
        </p:nvPicPr>
        <p:blipFill>
          <a:blip r:embed="rId2" cstate="print"/>
          <a:stretch>
            <a:fillRect/>
          </a:stretch>
        </p:blipFill>
        <p:spPr>
          <a:xfrm>
            <a:off x="294632" y="2255497"/>
            <a:ext cx="2641450" cy="1635064"/>
          </a:xfrm>
          <a:prstGeom prst="rect">
            <a:avLst/>
          </a:prstGeom>
        </p:spPr>
      </p:pic>
      <p:pic>
        <p:nvPicPr>
          <p:cNvPr id="7" name="object 7"/>
          <p:cNvPicPr/>
          <p:nvPr/>
        </p:nvPicPr>
        <p:blipFill>
          <a:blip r:embed="rId3" cstate="print"/>
          <a:stretch>
            <a:fillRect/>
          </a:stretch>
        </p:blipFill>
        <p:spPr>
          <a:xfrm>
            <a:off x="4571365" y="2034413"/>
            <a:ext cx="2638425" cy="1721992"/>
          </a:xfrm>
          <a:prstGeom prst="rect">
            <a:avLst/>
          </a:prstGeom>
        </p:spPr>
      </p:pic>
      <p:pic>
        <p:nvPicPr>
          <p:cNvPr id="8" name="object 8"/>
          <p:cNvPicPr/>
          <p:nvPr/>
        </p:nvPicPr>
        <p:blipFill>
          <a:blip r:embed="rId4" cstate="print"/>
          <a:stretch>
            <a:fillRect/>
          </a:stretch>
        </p:blipFill>
        <p:spPr>
          <a:xfrm>
            <a:off x="307408" y="5189655"/>
            <a:ext cx="2505055" cy="1783695"/>
          </a:xfrm>
          <a:prstGeom prst="rect">
            <a:avLst/>
          </a:prstGeom>
        </p:spPr>
      </p:pic>
      <p:pic>
        <p:nvPicPr>
          <p:cNvPr id="9" name="object 9"/>
          <p:cNvPicPr/>
          <p:nvPr/>
        </p:nvPicPr>
        <p:blipFill>
          <a:blip r:embed="rId5" cstate="print"/>
          <a:stretch>
            <a:fillRect/>
          </a:stretch>
        </p:blipFill>
        <p:spPr>
          <a:xfrm>
            <a:off x="4754559" y="4968287"/>
            <a:ext cx="2769661" cy="2122252"/>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833" y="0"/>
            <a:ext cx="11307233" cy="756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hape 49">
            <a:extLst>
              <a:ext uri="{FF2B5EF4-FFF2-40B4-BE49-F238E27FC236}">
                <a16:creationId xmlns="" xmlns:a16="http://schemas.microsoft.com/office/drawing/2014/main" id="{24A6ABCE-206C-4C33-940C-027B2CD6E148}"/>
              </a:ext>
            </a:extLst>
          </p:cNvPr>
          <p:cNvSpPr txBox="1">
            <a:spLocks/>
          </p:cNvSpPr>
          <p:nvPr/>
        </p:nvSpPr>
        <p:spPr bwMode="auto">
          <a:xfrm>
            <a:off x="1814638" y="3295487"/>
            <a:ext cx="5455812"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3508" kern="0" dirty="0">
                <a:solidFill>
                  <a:srgbClr val="0972CB"/>
                </a:solidFill>
                <a:latin typeface="Oxygen"/>
                <a:ea typeface="Oxygen"/>
                <a:cs typeface="Oxygen"/>
                <a:sym typeface="Oxygen"/>
              </a:rPr>
              <a:t>Machine </a:t>
            </a:r>
            <a:r>
              <a:rPr lang="es-ES" altLang="es-ES" sz="3508" kern="0" dirty="0" err="1">
                <a:solidFill>
                  <a:srgbClr val="0972CB"/>
                </a:solidFill>
                <a:latin typeface="Oxygen"/>
                <a:ea typeface="Oxygen"/>
                <a:cs typeface="Oxygen"/>
                <a:sym typeface="Oxygen"/>
              </a:rPr>
              <a:t>Learning</a:t>
            </a:r>
            <a:endParaRPr lang="es-ES" altLang="es-ES" sz="3508" kern="0" dirty="0">
              <a:solidFill>
                <a:srgbClr val="0972CB"/>
              </a:solidFill>
              <a:latin typeface="Oxygen"/>
              <a:ea typeface="Oxygen"/>
              <a:cs typeface="Oxygen"/>
              <a:sym typeface="Oxygen"/>
            </a:endParaRPr>
          </a:p>
          <a:p>
            <a:pPr marL="300758" indent="-133670" eaLnBrk="1" hangingPunct="1">
              <a:spcBef>
                <a:spcPct val="0"/>
              </a:spcBef>
              <a:buClr>
                <a:srgbClr val="000000"/>
              </a:buClr>
              <a:defRPr/>
            </a:pPr>
            <a:r>
              <a:rPr lang="es-ES" altLang="es-ES" sz="3508" kern="0" dirty="0" smtClean="0">
                <a:solidFill>
                  <a:srgbClr val="0972CB"/>
                </a:solidFill>
                <a:latin typeface="Oxygen"/>
                <a:ea typeface="Oxygen"/>
                <a:cs typeface="Oxygen"/>
                <a:sym typeface="Oxygen"/>
              </a:rPr>
              <a:t>Redes Neuronales</a:t>
            </a:r>
            <a:endParaRPr lang="es-ES" altLang="es-ES" sz="3508" kern="0" dirty="0">
              <a:solidFill>
                <a:srgbClr val="0972CB"/>
              </a:solidFill>
              <a:latin typeface="Oxygen"/>
              <a:ea typeface="Oxygen"/>
              <a:cs typeface="Oxygen"/>
              <a:sym typeface="Oxygen"/>
            </a:endParaRPr>
          </a:p>
        </p:txBody>
      </p:sp>
      <p:sp>
        <p:nvSpPr>
          <p:cNvPr id="6" name="Shape 49">
            <a:extLst>
              <a:ext uri="{FF2B5EF4-FFF2-40B4-BE49-F238E27FC236}">
                <a16:creationId xmlns="" xmlns:a16="http://schemas.microsoft.com/office/drawing/2014/main" id="{3B39229B-4789-4E5F-A863-803DF35813F8}"/>
              </a:ext>
            </a:extLst>
          </p:cNvPr>
          <p:cNvSpPr txBox="1">
            <a:spLocks/>
          </p:cNvSpPr>
          <p:nvPr/>
        </p:nvSpPr>
        <p:spPr bwMode="auto">
          <a:xfrm>
            <a:off x="3027140" y="5126330"/>
            <a:ext cx="3327866" cy="65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87" tIns="80187" rIns="80187" bIns="80187"/>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00758" indent="-133670" eaLnBrk="1" hangingPunct="1">
              <a:spcBef>
                <a:spcPct val="0"/>
              </a:spcBef>
              <a:buClr>
                <a:srgbClr val="000000"/>
              </a:buClr>
              <a:defRPr/>
            </a:pPr>
            <a:r>
              <a:rPr lang="es-ES" altLang="es-ES" sz="1403" kern="0" dirty="0">
                <a:solidFill>
                  <a:srgbClr val="0972CB"/>
                </a:solidFill>
                <a:latin typeface="Oxygen"/>
                <a:ea typeface="Oxygen"/>
                <a:cs typeface="Oxygen"/>
                <a:sym typeface="Oxygen"/>
              </a:rPr>
              <a:t>Inmaculada Gutiérrez García-Pardo</a:t>
            </a:r>
          </a:p>
        </p:txBody>
      </p:sp>
      <p:pic>
        <p:nvPicPr>
          <p:cNvPr id="7"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4645" y="1246805"/>
            <a:ext cx="2884990" cy="10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741" y="1134024"/>
            <a:ext cx="1294904" cy="129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9721309"/>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xfrm>
            <a:off x="346963" y="314959"/>
            <a:ext cx="9999472" cy="566822"/>
          </a:xfrm>
          <a:prstGeom prst="rect">
            <a:avLst/>
          </a:prstGeom>
        </p:spPr>
        <p:txBody>
          <a:bodyPr vert="horz" wrap="square" lIns="0" tIns="12700" rIns="0" bIns="0" rtlCol="0">
            <a:spAutoFit/>
          </a:bodyPr>
          <a:lstStyle>
            <a:lvl1pPr>
              <a:defRPr sz="2400" b="0" i="0">
                <a:solidFill>
                  <a:srgbClr val="FF0000"/>
                </a:solidFill>
                <a:latin typeface="Times New Roman"/>
                <a:ea typeface="+mj-ea"/>
                <a:cs typeface="Times New Roman"/>
              </a:defRPr>
            </a:lvl1pPr>
          </a:lstStyle>
          <a:p>
            <a:pPr marL="12700" algn="ctr">
              <a:spcBef>
                <a:spcPts val="100"/>
              </a:spcBef>
            </a:pPr>
            <a:r>
              <a:rPr lang="es-ES" sz="3600" b="1" spc="-5" dirty="0">
                <a:solidFill>
                  <a:srgbClr val="538DD3"/>
                </a:solidFill>
              </a:rPr>
              <a:t>9</a:t>
            </a:r>
            <a:r>
              <a:rPr lang="es-ES" sz="3600" b="1" kern="0" spc="-5" dirty="0" smtClean="0">
                <a:solidFill>
                  <a:srgbClr val="538DD3"/>
                </a:solidFill>
              </a:rPr>
              <a:t>. </a:t>
            </a:r>
            <a:r>
              <a:rPr lang="es-ES" sz="3600" b="1" spc="-5" dirty="0" smtClean="0">
                <a:solidFill>
                  <a:srgbClr val="538DD3"/>
                </a:solidFill>
              </a:rPr>
              <a:t>NN en Python: </a:t>
            </a:r>
            <a:r>
              <a:rPr lang="es-ES" sz="3600" b="1" spc="-5" dirty="0" err="1" smtClean="0">
                <a:solidFill>
                  <a:srgbClr val="538DD3"/>
                </a:solidFill>
              </a:rPr>
              <a:t>scikit-learn</a:t>
            </a:r>
            <a:endParaRPr lang="es-ES" sz="3600" kern="0" dirty="0"/>
          </a:p>
        </p:txBody>
      </p:sp>
      <p:sp>
        <p:nvSpPr>
          <p:cNvPr id="5" name="CuadroTexto 4"/>
          <p:cNvSpPr txBox="1"/>
          <p:nvPr/>
        </p:nvSpPr>
        <p:spPr>
          <a:xfrm>
            <a:off x="1536700" y="2028825"/>
            <a:ext cx="7772399" cy="923330"/>
          </a:xfrm>
          <a:prstGeom prst="rect">
            <a:avLst/>
          </a:prstGeom>
          <a:noFill/>
        </p:spPr>
        <p:txBody>
          <a:bodyPr wrap="square" rtlCol="0">
            <a:spAutoFit/>
          </a:bodyPr>
          <a:lstStyle/>
          <a:p>
            <a:r>
              <a:rPr lang="es-ES" dirty="0" smtClean="0"/>
              <a:t>En esta sección se presentan aplicaciones sencillas de las redes neuronales en Python, utilizando principalmente la librería </a:t>
            </a:r>
            <a:r>
              <a:rPr lang="es-ES" dirty="0" err="1" smtClean="0"/>
              <a:t>scikit-learn</a:t>
            </a:r>
            <a:endParaRPr lang="es-ES" dirty="0"/>
          </a:p>
          <a:p>
            <a:endParaRPr lang="es-ES" dirty="0"/>
          </a:p>
        </p:txBody>
      </p:sp>
    </p:spTree>
    <p:extLst>
      <p:ext uri="{BB962C8B-B14F-4D97-AF65-F5344CB8AC3E}">
        <p14:creationId xmlns:p14="http://schemas.microsoft.com/office/powerpoint/2010/main" val="2413531200"/>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346963" y="314959"/>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smtClean="0">
                <a:solidFill>
                  <a:srgbClr val="365F91"/>
                </a:solidFill>
              </a:rPr>
              <a:t>Iniciación a </a:t>
            </a:r>
            <a:r>
              <a:rPr lang="es-ES" b="1" kern="0" spc="-5" dirty="0" err="1" smtClean="0">
                <a:solidFill>
                  <a:srgbClr val="365F91"/>
                </a:solidFill>
              </a:rPr>
              <a:t>Scikit-Learn</a:t>
            </a:r>
            <a:r>
              <a:rPr lang="es-ES" b="1" kern="0" spc="-5" dirty="0" smtClean="0">
                <a:solidFill>
                  <a:srgbClr val="365F91"/>
                </a:solidFill>
              </a:rPr>
              <a:t> / </a:t>
            </a:r>
            <a:r>
              <a:rPr lang="es-ES" b="1" kern="0" spc="-5" dirty="0" err="1" smtClean="0">
                <a:solidFill>
                  <a:srgbClr val="365F91"/>
                </a:solidFill>
              </a:rPr>
              <a:t>Sklearn</a:t>
            </a:r>
            <a:endParaRPr lang="es-ES" kern="0" dirty="0"/>
          </a:p>
        </p:txBody>
      </p:sp>
      <p:sp>
        <p:nvSpPr>
          <p:cNvPr id="5" name="Rectángulo 4"/>
          <p:cNvSpPr/>
          <p:nvPr/>
        </p:nvSpPr>
        <p:spPr>
          <a:xfrm>
            <a:off x="698500" y="1796266"/>
            <a:ext cx="8915400" cy="4524315"/>
          </a:xfrm>
          <a:prstGeom prst="rect">
            <a:avLst/>
          </a:prstGeom>
        </p:spPr>
        <p:txBody>
          <a:bodyPr wrap="square">
            <a:spAutoFit/>
          </a:bodyPr>
          <a:lstStyle/>
          <a:p>
            <a:pPr marL="342900" indent="-342900">
              <a:buFont typeface="Arial" panose="020B0604020202020204" pitchFamily="34" charset="0"/>
              <a:buChar char="•"/>
            </a:pPr>
            <a:r>
              <a:rPr lang="es-ES" sz="2400" b="1" dirty="0" smtClean="0">
                <a:solidFill>
                  <a:srgbClr val="374151"/>
                </a:solidFill>
                <a:latin typeface="+mj-lt"/>
              </a:rPr>
              <a:t>¿Qué es?</a:t>
            </a:r>
            <a:r>
              <a:rPr lang="es-ES" sz="2400" dirty="0" smtClean="0">
                <a:solidFill>
                  <a:srgbClr val="374151"/>
                </a:solidFill>
                <a:latin typeface="+mj-lt"/>
              </a:rPr>
              <a:t> Una </a:t>
            </a:r>
            <a:r>
              <a:rPr lang="es-ES" sz="2400" dirty="0">
                <a:solidFill>
                  <a:srgbClr val="374151"/>
                </a:solidFill>
                <a:latin typeface="+mj-lt"/>
              </a:rPr>
              <a:t>de las bibliotecas de software libre más populares para llevar a cabo tareas relacionadas con el machine </a:t>
            </a:r>
            <a:r>
              <a:rPr lang="es-ES" sz="2400" dirty="0" err="1">
                <a:solidFill>
                  <a:srgbClr val="374151"/>
                </a:solidFill>
                <a:latin typeface="+mj-lt"/>
              </a:rPr>
              <a:t>learning</a:t>
            </a:r>
            <a:r>
              <a:rPr lang="es-ES" sz="2400" dirty="0">
                <a:solidFill>
                  <a:srgbClr val="374151"/>
                </a:solidFill>
                <a:latin typeface="+mj-lt"/>
              </a:rPr>
              <a:t>. </a:t>
            </a:r>
            <a:endParaRPr lang="es-ES" sz="2400" dirty="0" smtClean="0">
              <a:solidFill>
                <a:srgbClr val="374151"/>
              </a:solidFill>
              <a:latin typeface="+mj-lt"/>
            </a:endParaRPr>
          </a:p>
          <a:p>
            <a:pPr marL="342900" indent="-342900">
              <a:buFont typeface="Arial" panose="020B0604020202020204" pitchFamily="34" charset="0"/>
              <a:buChar char="•"/>
            </a:pPr>
            <a:endParaRPr lang="es-ES" sz="2400" dirty="0" smtClean="0">
              <a:solidFill>
                <a:srgbClr val="374151"/>
              </a:solidFill>
              <a:latin typeface="+mj-lt"/>
            </a:endParaRPr>
          </a:p>
          <a:p>
            <a:pPr marL="342900" indent="-342900">
              <a:buFont typeface="Arial" panose="020B0604020202020204" pitchFamily="34" charset="0"/>
              <a:buChar char="•"/>
            </a:pPr>
            <a:r>
              <a:rPr lang="es-ES" sz="2400" b="1" dirty="0" smtClean="0">
                <a:solidFill>
                  <a:srgbClr val="374151"/>
                </a:solidFill>
                <a:latin typeface="+mj-lt"/>
              </a:rPr>
              <a:t>¿Qué proporciona?</a:t>
            </a:r>
            <a:r>
              <a:rPr lang="es-ES" sz="2400" dirty="0" smtClean="0">
                <a:solidFill>
                  <a:srgbClr val="374151"/>
                </a:solidFill>
                <a:latin typeface="+mj-lt"/>
              </a:rPr>
              <a:t> Extenso </a:t>
            </a:r>
            <a:r>
              <a:rPr lang="es-ES" sz="2400" dirty="0">
                <a:solidFill>
                  <a:srgbClr val="374151"/>
                </a:solidFill>
                <a:latin typeface="+mj-lt"/>
              </a:rPr>
              <a:t>soporte para diversos algoritmos de </a:t>
            </a:r>
            <a:r>
              <a:rPr lang="es-ES" sz="2400" b="1" dirty="0">
                <a:solidFill>
                  <a:srgbClr val="374151"/>
                </a:solidFill>
                <a:latin typeface="+mj-lt"/>
              </a:rPr>
              <a:t>clasificación</a:t>
            </a:r>
            <a:r>
              <a:rPr lang="es-ES" sz="2400" dirty="0">
                <a:solidFill>
                  <a:srgbClr val="374151"/>
                </a:solidFill>
                <a:latin typeface="+mj-lt"/>
              </a:rPr>
              <a:t>, </a:t>
            </a:r>
            <a:r>
              <a:rPr lang="es-ES" sz="2400" b="1" dirty="0">
                <a:solidFill>
                  <a:srgbClr val="374151"/>
                </a:solidFill>
                <a:latin typeface="+mj-lt"/>
              </a:rPr>
              <a:t>regresión </a:t>
            </a:r>
            <a:r>
              <a:rPr lang="es-ES" sz="2400" dirty="0">
                <a:solidFill>
                  <a:srgbClr val="374151"/>
                </a:solidFill>
                <a:latin typeface="+mj-lt"/>
              </a:rPr>
              <a:t>y agrupación de datos, permitiendo un entrenamiento y evaluación sencillos con una sintaxis amigable y desvinculada de los detalles de implementación</a:t>
            </a:r>
            <a:r>
              <a:rPr lang="es-ES" sz="2400" dirty="0" smtClean="0">
                <a:solidFill>
                  <a:srgbClr val="374151"/>
                </a:solidFill>
                <a:latin typeface="+mj-lt"/>
              </a:rPr>
              <a:t>.</a:t>
            </a:r>
          </a:p>
          <a:p>
            <a:pPr marL="342900" indent="-342900">
              <a:buFont typeface="Arial" panose="020B0604020202020204" pitchFamily="34" charset="0"/>
              <a:buChar char="•"/>
            </a:pPr>
            <a:endParaRPr lang="es-ES" sz="2400" dirty="0" smtClean="0">
              <a:solidFill>
                <a:srgbClr val="374151"/>
              </a:solidFill>
              <a:latin typeface="+mj-lt"/>
            </a:endParaRPr>
          </a:p>
          <a:p>
            <a:pPr marL="342900" indent="-342900">
              <a:buFont typeface="Arial" panose="020B0604020202020204" pitchFamily="34" charset="0"/>
              <a:buChar char="•"/>
            </a:pPr>
            <a:r>
              <a:rPr lang="es-ES" sz="2400" b="1" dirty="0" smtClean="0">
                <a:solidFill>
                  <a:srgbClr val="374151"/>
                </a:solidFill>
                <a:latin typeface="+mj-lt"/>
              </a:rPr>
              <a:t>¿Valor añadido? </a:t>
            </a:r>
            <a:r>
              <a:rPr lang="es-ES" sz="2400" dirty="0" smtClean="0">
                <a:solidFill>
                  <a:srgbClr val="374151"/>
                </a:solidFill>
                <a:latin typeface="+mj-lt"/>
              </a:rPr>
              <a:t>Incluye </a:t>
            </a:r>
            <a:r>
              <a:rPr lang="es-ES" sz="2400" dirty="0">
                <a:solidFill>
                  <a:srgbClr val="374151"/>
                </a:solidFill>
                <a:latin typeface="+mj-lt"/>
              </a:rPr>
              <a:t>métodos para el </a:t>
            </a:r>
            <a:r>
              <a:rPr lang="es-ES" sz="2400" b="1" dirty="0" err="1">
                <a:solidFill>
                  <a:srgbClr val="374151"/>
                </a:solidFill>
                <a:latin typeface="+mj-lt"/>
              </a:rPr>
              <a:t>preprocesamiento</a:t>
            </a:r>
            <a:r>
              <a:rPr lang="es-ES" sz="2400" b="1" dirty="0">
                <a:solidFill>
                  <a:srgbClr val="374151"/>
                </a:solidFill>
                <a:latin typeface="+mj-lt"/>
              </a:rPr>
              <a:t> </a:t>
            </a:r>
            <a:r>
              <a:rPr lang="es-ES" sz="2400" dirty="0">
                <a:solidFill>
                  <a:srgbClr val="374151"/>
                </a:solidFill>
                <a:latin typeface="+mj-lt"/>
              </a:rPr>
              <a:t>y </a:t>
            </a:r>
            <a:r>
              <a:rPr lang="es-ES" sz="2400" b="1" dirty="0">
                <a:solidFill>
                  <a:srgbClr val="374151"/>
                </a:solidFill>
                <a:latin typeface="+mj-lt"/>
              </a:rPr>
              <a:t>transformación </a:t>
            </a:r>
            <a:r>
              <a:rPr lang="es-ES" sz="2400" dirty="0">
                <a:solidFill>
                  <a:srgbClr val="374151"/>
                </a:solidFill>
                <a:latin typeface="+mj-lt"/>
              </a:rPr>
              <a:t>de datos antes del entrenamiento, lo que, junto con la diversidad de modelos disponibles, facilita una </a:t>
            </a:r>
            <a:r>
              <a:rPr lang="es-ES" sz="2400" b="1" dirty="0">
                <a:solidFill>
                  <a:srgbClr val="374151"/>
                </a:solidFill>
                <a:latin typeface="+mj-lt"/>
              </a:rPr>
              <a:t>experimentación rápida</a:t>
            </a:r>
            <a:r>
              <a:rPr lang="es-ES" sz="2400" dirty="0">
                <a:solidFill>
                  <a:srgbClr val="374151"/>
                </a:solidFill>
                <a:latin typeface="+mj-lt"/>
              </a:rPr>
              <a:t> y </a:t>
            </a:r>
            <a:r>
              <a:rPr lang="es-ES" sz="2400" b="1" dirty="0">
                <a:solidFill>
                  <a:srgbClr val="374151"/>
                </a:solidFill>
                <a:latin typeface="+mj-lt"/>
              </a:rPr>
              <a:t>efectiva</a:t>
            </a:r>
            <a:endParaRPr lang="es-ES" sz="2400" b="1" i="0" dirty="0">
              <a:solidFill>
                <a:srgbClr val="374151"/>
              </a:solidFill>
              <a:effectLst/>
              <a:latin typeface="+mj-lt"/>
            </a:endParaRPr>
          </a:p>
        </p:txBody>
      </p:sp>
      <p:sp>
        <p:nvSpPr>
          <p:cNvPr id="6" name="Rectángulo 5"/>
          <p:cNvSpPr/>
          <p:nvPr/>
        </p:nvSpPr>
        <p:spPr>
          <a:xfrm>
            <a:off x="3326979" y="6600825"/>
            <a:ext cx="4762921" cy="369332"/>
          </a:xfrm>
          <a:prstGeom prst="rect">
            <a:avLst/>
          </a:prstGeom>
        </p:spPr>
        <p:txBody>
          <a:bodyPr wrap="square">
            <a:spAutoFit/>
          </a:bodyPr>
          <a:lstStyle/>
          <a:p>
            <a:r>
              <a:rPr lang="es-ES" dirty="0"/>
              <a:t>https://scikit-learn.org/stable/index.html</a:t>
            </a:r>
          </a:p>
        </p:txBody>
      </p:sp>
    </p:spTree>
    <p:extLst>
      <p:ext uri="{BB962C8B-B14F-4D97-AF65-F5344CB8AC3E}">
        <p14:creationId xmlns:p14="http://schemas.microsoft.com/office/powerpoint/2010/main" val="735025201"/>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346963" y="282301"/>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smtClean="0">
                <a:solidFill>
                  <a:srgbClr val="365F91"/>
                </a:solidFill>
              </a:rPr>
              <a:t>¿Qué puedo hacer con </a:t>
            </a:r>
            <a:r>
              <a:rPr lang="es-ES" b="1" kern="0" spc="-5" dirty="0" err="1" smtClean="0">
                <a:solidFill>
                  <a:srgbClr val="365F91"/>
                </a:solidFill>
              </a:rPr>
              <a:t>scikit-learn</a:t>
            </a:r>
            <a:r>
              <a:rPr lang="es-ES" b="1" kern="0" spc="-5" dirty="0" smtClean="0">
                <a:solidFill>
                  <a:srgbClr val="365F91"/>
                </a:solidFill>
              </a:rPr>
              <a:t>?</a:t>
            </a:r>
            <a:endParaRPr lang="es-ES" kern="0" dirty="0"/>
          </a:p>
        </p:txBody>
      </p:sp>
      <p:sp>
        <p:nvSpPr>
          <p:cNvPr id="5" name="Rectángulo 4"/>
          <p:cNvSpPr/>
          <p:nvPr/>
        </p:nvSpPr>
        <p:spPr>
          <a:xfrm>
            <a:off x="469900" y="1190625"/>
            <a:ext cx="9994900" cy="4401205"/>
          </a:xfrm>
          <a:prstGeom prst="rect">
            <a:avLst/>
          </a:prstGeom>
        </p:spPr>
        <p:txBody>
          <a:bodyPr wrap="square">
            <a:spAutoFit/>
          </a:bodyPr>
          <a:lstStyle/>
          <a:p>
            <a:pPr marL="342900" indent="-342900">
              <a:buFont typeface="Arial" panose="020B0604020202020204" pitchFamily="34" charset="0"/>
              <a:buChar char="•"/>
            </a:pPr>
            <a:r>
              <a:rPr lang="es-ES" sz="2000" b="1" dirty="0" smtClean="0"/>
              <a:t>Depuración de datos</a:t>
            </a:r>
            <a:r>
              <a:rPr lang="es-ES" sz="2000" dirty="0" smtClean="0"/>
              <a:t>: imputación </a:t>
            </a:r>
            <a:r>
              <a:rPr lang="es-ES" sz="2000" dirty="0"/>
              <a:t>de valores perdidos, codificación de etiquetas, codificación </a:t>
            </a:r>
            <a:r>
              <a:rPr lang="es-ES" sz="2000" dirty="0" err="1"/>
              <a:t>one-hot</a:t>
            </a:r>
            <a:r>
              <a:rPr lang="es-ES" sz="2000" dirty="0"/>
              <a:t>, normalización y reducción de la </a:t>
            </a:r>
            <a:r>
              <a:rPr lang="es-ES" sz="2000" dirty="0" err="1"/>
              <a:t>dimensionalidad</a:t>
            </a:r>
            <a:r>
              <a:rPr lang="es-ES" sz="2000" dirty="0"/>
              <a:t>.</a:t>
            </a:r>
          </a:p>
          <a:p>
            <a:pPr marL="342900" indent="-342900">
              <a:buFont typeface="Arial" panose="020B0604020202020204" pitchFamily="34" charset="0"/>
              <a:buChar char="•"/>
            </a:pPr>
            <a:endParaRPr lang="es-ES" sz="2000" dirty="0" smtClean="0"/>
          </a:p>
          <a:p>
            <a:pPr marL="342900" indent="-342900">
              <a:buFont typeface="Arial" panose="020B0604020202020204" pitchFamily="34" charset="0"/>
              <a:buChar char="•"/>
            </a:pPr>
            <a:r>
              <a:rPr lang="es-ES" sz="2000" b="1" dirty="0"/>
              <a:t>Selección</a:t>
            </a:r>
            <a:r>
              <a:rPr lang="es-ES" sz="2000" dirty="0"/>
              <a:t> de </a:t>
            </a:r>
            <a:r>
              <a:rPr lang="es-ES" sz="2000" dirty="0" smtClean="0"/>
              <a:t>características</a:t>
            </a:r>
          </a:p>
          <a:p>
            <a:pPr marL="342900" indent="-342900">
              <a:buFont typeface="Arial" panose="020B0604020202020204" pitchFamily="34" charset="0"/>
              <a:buChar char="•"/>
            </a:pPr>
            <a:endParaRPr lang="es-ES" sz="2000" dirty="0" smtClean="0"/>
          </a:p>
          <a:p>
            <a:pPr marL="342900" indent="-342900">
              <a:buFont typeface="Arial" panose="020B0604020202020204" pitchFamily="34" charset="0"/>
              <a:buChar char="•"/>
            </a:pPr>
            <a:r>
              <a:rPr lang="es-ES" sz="2000" dirty="0" smtClean="0"/>
              <a:t>Aplicar de forma </a:t>
            </a:r>
            <a:r>
              <a:rPr lang="es-ES" sz="2000" b="1" dirty="0" smtClean="0"/>
              <a:t>fácil</a:t>
            </a:r>
            <a:r>
              <a:rPr lang="es-ES" sz="2000" dirty="0" smtClean="0"/>
              <a:t> y </a:t>
            </a:r>
            <a:r>
              <a:rPr lang="es-ES" sz="2000" b="1" dirty="0" smtClean="0"/>
              <a:t>directa</a:t>
            </a:r>
            <a:r>
              <a:rPr lang="es-ES" sz="2000" dirty="0" smtClean="0"/>
              <a:t>: árboles </a:t>
            </a:r>
            <a:r>
              <a:rPr lang="es-ES" sz="2000" dirty="0"/>
              <a:t>de decisión, máquinas de soporte vectorial (SVM), redes neuronales, K-</a:t>
            </a:r>
            <a:r>
              <a:rPr lang="es-ES" sz="2000" dirty="0" err="1"/>
              <a:t>nearest</a:t>
            </a:r>
            <a:r>
              <a:rPr lang="es-ES" sz="2000" dirty="0"/>
              <a:t> </a:t>
            </a:r>
            <a:r>
              <a:rPr lang="es-ES" sz="2000" dirty="0" err="1"/>
              <a:t>neighbor</a:t>
            </a:r>
            <a:r>
              <a:rPr lang="es-ES" sz="2000" dirty="0"/>
              <a:t>, </a:t>
            </a:r>
            <a:r>
              <a:rPr lang="es-ES" sz="2000" dirty="0" err="1"/>
              <a:t>naive</a:t>
            </a:r>
            <a:r>
              <a:rPr lang="es-ES" sz="2000" dirty="0"/>
              <a:t> </a:t>
            </a:r>
            <a:r>
              <a:rPr lang="es-ES" sz="2000" dirty="0" err="1"/>
              <a:t>bayes</a:t>
            </a:r>
            <a:r>
              <a:rPr lang="es-ES" sz="2000" dirty="0"/>
              <a:t>, regresión lineal, regresión logística, </a:t>
            </a:r>
            <a:r>
              <a:rPr lang="es-ES" sz="2000" dirty="0" err="1"/>
              <a:t>random</a:t>
            </a:r>
            <a:r>
              <a:rPr lang="es-ES" sz="2000" dirty="0"/>
              <a:t> </a:t>
            </a:r>
            <a:r>
              <a:rPr lang="es-ES" sz="2000" dirty="0" err="1"/>
              <a:t>forest</a:t>
            </a:r>
            <a:r>
              <a:rPr lang="es-ES" sz="2000" dirty="0"/>
              <a:t>, </a:t>
            </a:r>
            <a:r>
              <a:rPr lang="es-ES" sz="2000" dirty="0" err="1"/>
              <a:t>gradient</a:t>
            </a:r>
            <a:r>
              <a:rPr lang="es-ES" sz="2000" dirty="0"/>
              <a:t> </a:t>
            </a:r>
            <a:r>
              <a:rPr lang="es-ES" sz="2000" dirty="0" err="1"/>
              <a:t>boosting</a:t>
            </a:r>
            <a:r>
              <a:rPr lang="es-ES" sz="2000" dirty="0"/>
              <a:t>, </a:t>
            </a:r>
            <a:r>
              <a:rPr lang="es-ES" sz="2000" dirty="0" smtClean="0"/>
              <a:t>y algunas técnicas </a:t>
            </a:r>
            <a:r>
              <a:rPr lang="es-ES" sz="2000" dirty="0"/>
              <a:t>de aprendizaje no supervisado como K-</a:t>
            </a:r>
            <a:r>
              <a:rPr lang="es-ES" sz="2000" dirty="0" err="1"/>
              <a:t>means</a:t>
            </a:r>
            <a:r>
              <a:rPr lang="es-ES" sz="2000" dirty="0"/>
              <a:t>, DBSCAN, BIRCH y </a:t>
            </a:r>
            <a:r>
              <a:rPr lang="es-ES" sz="2000" dirty="0" err="1"/>
              <a:t>clustering</a:t>
            </a:r>
            <a:r>
              <a:rPr lang="es-ES" sz="2000" dirty="0"/>
              <a:t> </a:t>
            </a:r>
            <a:r>
              <a:rPr lang="es-ES" sz="2000" dirty="0" err="1"/>
              <a:t>aglomerativo</a:t>
            </a:r>
            <a:r>
              <a:rPr lang="es-ES" sz="2000" dirty="0"/>
              <a:t>, entre otros.</a:t>
            </a:r>
          </a:p>
          <a:p>
            <a:pPr marL="342900" indent="-342900">
              <a:buFont typeface="Arial" panose="020B0604020202020204" pitchFamily="34" charset="0"/>
              <a:buChar char="•"/>
            </a:pPr>
            <a:endParaRPr lang="es-ES" sz="2000" dirty="0" smtClean="0"/>
          </a:p>
          <a:p>
            <a:pPr marL="342900" indent="-342900">
              <a:buFont typeface="Arial" panose="020B0604020202020204" pitchFamily="34" charset="0"/>
              <a:buChar char="•"/>
            </a:pPr>
            <a:r>
              <a:rPr lang="es-ES" sz="2000" b="1" dirty="0" smtClean="0"/>
              <a:t>Pipelines </a:t>
            </a:r>
            <a:r>
              <a:rPr lang="es-ES" sz="2000" dirty="0"/>
              <a:t>para </a:t>
            </a:r>
            <a:r>
              <a:rPr lang="es-ES" sz="2000" dirty="0" smtClean="0"/>
              <a:t>aplicar procesos de </a:t>
            </a:r>
            <a:r>
              <a:rPr lang="es-ES" sz="2000" dirty="0"/>
              <a:t>manera coherente y consistente a lo largo del desarrollo. </a:t>
            </a:r>
            <a:endParaRPr lang="es-ES" sz="2000" dirty="0" smtClean="0"/>
          </a:p>
          <a:p>
            <a:pPr marL="342900" indent="-342900">
              <a:buFont typeface="Arial" panose="020B0604020202020204" pitchFamily="34" charset="0"/>
              <a:buChar char="•"/>
            </a:pPr>
            <a:endParaRPr lang="es-ES" sz="2000" dirty="0" smtClean="0"/>
          </a:p>
          <a:p>
            <a:pPr marL="342900" indent="-342900">
              <a:buFont typeface="Arial" panose="020B0604020202020204" pitchFamily="34" charset="0"/>
              <a:buChar char="•"/>
            </a:pPr>
            <a:r>
              <a:rPr lang="es-ES" sz="2000" b="1" dirty="0"/>
              <a:t>E</a:t>
            </a:r>
            <a:r>
              <a:rPr lang="es-ES" sz="2000" b="1" dirty="0" smtClean="0"/>
              <a:t>valuación </a:t>
            </a:r>
            <a:r>
              <a:rPr lang="es-ES" sz="2000" b="1" dirty="0"/>
              <a:t>de </a:t>
            </a:r>
            <a:r>
              <a:rPr lang="es-ES" sz="2000" b="1" dirty="0" smtClean="0"/>
              <a:t>modelos</a:t>
            </a:r>
            <a:r>
              <a:rPr lang="es-ES" sz="2000" dirty="0" smtClean="0"/>
              <a:t>: métricas </a:t>
            </a:r>
            <a:r>
              <a:rPr lang="es-ES" sz="2000" dirty="0"/>
              <a:t>comunes integradas de manera simple para facilitar la selección de modelos mediante búsqueda de </a:t>
            </a:r>
            <a:r>
              <a:rPr lang="es-ES" sz="2000" dirty="0" err="1"/>
              <a:t>hiperparámetros</a:t>
            </a:r>
            <a:r>
              <a:rPr lang="es-ES" sz="2000" dirty="0"/>
              <a:t>.</a:t>
            </a:r>
          </a:p>
        </p:txBody>
      </p:sp>
    </p:spTree>
    <p:extLst>
      <p:ext uri="{BB962C8B-B14F-4D97-AF65-F5344CB8AC3E}">
        <p14:creationId xmlns:p14="http://schemas.microsoft.com/office/powerpoint/2010/main" val="473961168"/>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504371" y="352425"/>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smtClean="0">
                <a:solidFill>
                  <a:srgbClr val="365F91"/>
                </a:solidFill>
              </a:rPr>
              <a:t>Básicos de </a:t>
            </a:r>
            <a:r>
              <a:rPr lang="es-ES" b="1" kern="0" spc="-5" dirty="0" err="1" smtClean="0">
                <a:solidFill>
                  <a:srgbClr val="365F91"/>
                </a:solidFill>
              </a:rPr>
              <a:t>scikit-learn</a:t>
            </a:r>
            <a:endParaRPr lang="es-ES" kern="0" dirty="0"/>
          </a:p>
        </p:txBody>
      </p:sp>
      <p:sp>
        <p:nvSpPr>
          <p:cNvPr id="5" name="Rectángulo 4"/>
          <p:cNvSpPr/>
          <p:nvPr/>
        </p:nvSpPr>
        <p:spPr>
          <a:xfrm>
            <a:off x="469900" y="1190625"/>
            <a:ext cx="9994900" cy="400110"/>
          </a:xfrm>
          <a:prstGeom prst="rect">
            <a:avLst/>
          </a:prstGeom>
        </p:spPr>
        <p:txBody>
          <a:bodyPr wrap="square">
            <a:spAutoFit/>
          </a:bodyPr>
          <a:lstStyle/>
          <a:p>
            <a:pPr marL="342900" indent="-342900">
              <a:buFont typeface="Arial" panose="020B0604020202020204" pitchFamily="34" charset="0"/>
              <a:buChar char="•"/>
            </a:pPr>
            <a:endParaRPr lang="es-ES" sz="2000" dirty="0"/>
          </a:p>
        </p:txBody>
      </p:sp>
      <p:sp>
        <p:nvSpPr>
          <p:cNvPr id="6" name="Rectangle 2"/>
          <p:cNvSpPr>
            <a:spLocks noChangeArrowheads="1"/>
          </p:cNvSpPr>
          <p:nvPr/>
        </p:nvSpPr>
        <p:spPr bwMode="auto">
          <a:xfrm>
            <a:off x="393700" y="790096"/>
            <a:ext cx="10210800" cy="7509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Tx/>
              <a:buAutoNum type="arabicPeriod"/>
              <a:tabLst/>
            </a:pPr>
            <a:r>
              <a:rPr kumimoji="0" lang="es-ES" altLang="es-ES" sz="2000" b="1" i="0" u="none" strike="noStrike" cap="none" normalizeH="0" baseline="0" dirty="0" smtClean="0">
                <a:ln>
                  <a:noFill/>
                </a:ln>
                <a:solidFill>
                  <a:srgbClr val="374151"/>
                </a:solidFill>
                <a:effectLst/>
                <a:latin typeface="+mj-lt"/>
              </a:rPr>
              <a:t>Modelos de Aprendizaje Supervisado:</a:t>
            </a:r>
            <a:endParaRPr kumimoji="0" lang="es-ES" altLang="es-ES" sz="2000" b="0" i="0" u="none" strike="noStrike" cap="none" normalizeH="0" baseline="0" dirty="0" smtClean="0">
              <a:ln>
                <a:noFill/>
              </a:ln>
              <a:solidFill>
                <a:schemeClr val="tx1"/>
              </a:solidFill>
              <a:effectLst/>
              <a:latin typeface="+mj-lt"/>
            </a:endParaRPr>
          </a:p>
          <a:p>
            <a:pPr marL="342900" lvl="0" indent="-342900" eaLnBrk="0" fontAlgn="base" hangingPunct="0">
              <a:spcBef>
                <a:spcPct val="0"/>
              </a:spcBef>
              <a:spcAft>
                <a:spcPct val="0"/>
              </a:spcAft>
              <a:buFont typeface="Arial" panose="020B0604020202020204" pitchFamily="34" charset="0"/>
              <a:buChar char="•"/>
            </a:pPr>
            <a:r>
              <a:rPr lang="es-ES" altLang="es-ES" sz="2000" b="1" dirty="0" smtClean="0">
                <a:solidFill>
                  <a:srgbClr val="FF0000"/>
                </a:solidFill>
              </a:rPr>
              <a:t>Redes neuronales para </a:t>
            </a:r>
            <a:r>
              <a:rPr lang="es-ES" altLang="es-ES" sz="2000" b="1" dirty="0">
                <a:solidFill>
                  <a:srgbClr val="FF0000"/>
                </a:solidFill>
                <a:latin typeface="+mj-lt"/>
              </a:rPr>
              <a:t>clasificación/regresión (</a:t>
            </a:r>
            <a:r>
              <a:rPr lang="es-ES" sz="2000" b="1" dirty="0" err="1">
                <a:solidFill>
                  <a:srgbClr val="FF0000"/>
                </a:solidFill>
                <a:latin typeface="+mj-lt"/>
              </a:rPr>
              <a:t>MLPClassifier</a:t>
            </a:r>
            <a:r>
              <a:rPr lang="es-ES" sz="2000" b="1" dirty="0">
                <a:solidFill>
                  <a:srgbClr val="FF0000"/>
                </a:solidFill>
                <a:latin typeface="+mj-lt"/>
              </a:rPr>
              <a:t>/</a:t>
            </a:r>
            <a:r>
              <a:rPr lang="es-ES" sz="2000" b="1" dirty="0" err="1">
                <a:solidFill>
                  <a:srgbClr val="FF0000"/>
                </a:solidFill>
                <a:latin typeface="+mj-lt"/>
              </a:rPr>
              <a:t>MLPRegressor</a:t>
            </a:r>
            <a:r>
              <a:rPr lang="es-ES" altLang="es-ES" sz="2000" b="1" dirty="0" smtClean="0">
                <a:solidFill>
                  <a:srgbClr val="FF0000"/>
                </a:solidFill>
                <a:latin typeface="+mj-lt"/>
              </a:rPr>
              <a:t>): </a:t>
            </a:r>
            <a:r>
              <a:rPr lang="es-ES" altLang="es-ES" sz="2000" dirty="0" smtClean="0">
                <a:solidFill>
                  <a:srgbClr val="FF0000"/>
                </a:solidFill>
                <a:latin typeface="+mj-lt"/>
              </a:rPr>
              <a:t>herramientas básicas útiles para tareas sencillas, pero con menos flexibilidad y opciones que otras librerías como </a:t>
            </a:r>
            <a:r>
              <a:rPr lang="es-ES" altLang="es-ES" sz="2000" dirty="0" err="1" smtClean="0">
                <a:solidFill>
                  <a:srgbClr val="FF0000"/>
                </a:solidFill>
                <a:latin typeface="+mj-lt"/>
              </a:rPr>
              <a:t>TensorFlow</a:t>
            </a:r>
            <a:r>
              <a:rPr lang="es-ES" altLang="es-ES" sz="2000" dirty="0" smtClean="0">
                <a:solidFill>
                  <a:srgbClr val="FF0000"/>
                </a:solidFill>
                <a:latin typeface="+mj-lt"/>
              </a:rPr>
              <a:t> o </a:t>
            </a:r>
            <a:r>
              <a:rPr lang="es-ES" altLang="es-ES" sz="2000" dirty="0" err="1" smtClean="0">
                <a:solidFill>
                  <a:srgbClr val="FF0000"/>
                </a:solidFill>
                <a:latin typeface="+mj-lt"/>
              </a:rPr>
              <a:t>PyTorch</a:t>
            </a:r>
            <a:r>
              <a:rPr lang="es-ES" altLang="es-ES" sz="2000" dirty="0" smtClean="0">
                <a:solidFill>
                  <a:srgbClr val="FF0000"/>
                </a:solidFill>
                <a:latin typeface="+mj-lt"/>
              </a:rPr>
              <a:t>. </a:t>
            </a:r>
            <a:r>
              <a:rPr lang="es-ES" altLang="es-ES" sz="2000" dirty="0" err="1" smtClean="0">
                <a:solidFill>
                  <a:srgbClr val="FF0000"/>
                </a:solidFill>
                <a:latin typeface="+mj-lt"/>
              </a:rPr>
              <a:t>Scikit-learn</a:t>
            </a:r>
            <a:r>
              <a:rPr lang="es-ES" altLang="es-ES" sz="2000" dirty="0" smtClean="0">
                <a:solidFill>
                  <a:srgbClr val="FF0000"/>
                </a:solidFill>
                <a:latin typeface="+mj-lt"/>
              </a:rPr>
              <a:t> permite trabajar con MLP </a:t>
            </a:r>
            <a:r>
              <a:rPr lang="es-ES" altLang="es-ES" sz="2000" i="1" dirty="0" err="1" smtClean="0">
                <a:solidFill>
                  <a:srgbClr val="FF0000"/>
                </a:solidFill>
                <a:latin typeface="+mj-lt"/>
              </a:rPr>
              <a:t>feedforward</a:t>
            </a:r>
            <a:r>
              <a:rPr lang="es-ES" altLang="es-ES" sz="2000" i="1" dirty="0" smtClean="0">
                <a:solidFill>
                  <a:srgbClr val="FF0000"/>
                </a:solidFill>
                <a:latin typeface="+mj-lt"/>
              </a:rPr>
              <a:t>*</a:t>
            </a:r>
            <a:endParaRPr lang="es-ES" altLang="es-ES" sz="2000" b="1" i="1" dirty="0">
              <a:solidFill>
                <a:srgbClr val="FF0000"/>
              </a:solidFill>
              <a:latin typeface="+mj-l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2000" b="1" i="0" u="none" strike="noStrike" cap="none" normalizeH="0" baseline="0" dirty="0" smtClean="0">
                <a:ln>
                  <a:noFill/>
                </a:ln>
                <a:solidFill>
                  <a:srgbClr val="374151"/>
                </a:solidFill>
                <a:effectLst/>
                <a:latin typeface="+mj-lt"/>
              </a:rPr>
              <a:t>Regresión Lineal (</a:t>
            </a:r>
            <a:r>
              <a:rPr kumimoji="0" lang="es-ES" altLang="es-ES" sz="2000" b="1" i="0" u="none" strike="noStrike" cap="none" normalizeH="0" baseline="0" dirty="0" err="1" smtClean="0">
                <a:ln>
                  <a:noFill/>
                </a:ln>
                <a:solidFill>
                  <a:srgbClr val="374151"/>
                </a:solidFill>
                <a:effectLst/>
                <a:latin typeface="+mj-lt"/>
              </a:rPr>
              <a:t>LinearRegression</a:t>
            </a:r>
            <a:r>
              <a:rPr kumimoji="0" lang="es-ES" altLang="es-ES" sz="2000" b="1" i="0" u="none" strike="noStrike" cap="none" normalizeH="0" baseline="0" dirty="0" smtClean="0">
                <a:ln>
                  <a:noFill/>
                </a:ln>
                <a:solidFill>
                  <a:srgbClr val="374151"/>
                </a:solidFill>
                <a:effectLst/>
                <a:latin typeface="+mj-lt"/>
              </a:rPr>
              <a:t>):</a:t>
            </a:r>
            <a:r>
              <a:rPr kumimoji="0" lang="es-ES" altLang="es-ES" sz="2000" b="0" i="0" u="none" strike="noStrike" cap="none" normalizeH="0" baseline="0" dirty="0" smtClean="0">
                <a:ln>
                  <a:noFill/>
                </a:ln>
                <a:solidFill>
                  <a:srgbClr val="374151"/>
                </a:solidFill>
                <a:effectLst/>
                <a:latin typeface="+mj-lt"/>
              </a:rPr>
              <a:t> Para modelar la relación lineal entre variables.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2000" b="1" i="0" u="none" strike="noStrike" cap="none" normalizeH="0" baseline="0" dirty="0" smtClean="0">
                <a:ln>
                  <a:noFill/>
                </a:ln>
                <a:solidFill>
                  <a:srgbClr val="374151"/>
                </a:solidFill>
                <a:effectLst/>
                <a:latin typeface="+mj-lt"/>
              </a:rPr>
              <a:t>Regresión Logística (</a:t>
            </a:r>
            <a:r>
              <a:rPr kumimoji="0" lang="es-ES" altLang="es-ES" sz="2000" b="1" i="0" u="none" strike="noStrike" cap="none" normalizeH="0" baseline="0" dirty="0" err="1" smtClean="0">
                <a:ln>
                  <a:noFill/>
                </a:ln>
                <a:solidFill>
                  <a:srgbClr val="374151"/>
                </a:solidFill>
                <a:effectLst/>
                <a:latin typeface="+mj-lt"/>
              </a:rPr>
              <a:t>LogisticRegression</a:t>
            </a:r>
            <a:r>
              <a:rPr kumimoji="0" lang="es-ES" altLang="es-ES" sz="2000" b="1" i="0" u="none" strike="noStrike" cap="none" normalizeH="0" baseline="0" dirty="0" smtClean="0">
                <a:ln>
                  <a:noFill/>
                </a:ln>
                <a:solidFill>
                  <a:srgbClr val="374151"/>
                </a:solidFill>
                <a:effectLst/>
                <a:latin typeface="+mj-lt"/>
              </a:rPr>
              <a:t>):</a:t>
            </a:r>
            <a:r>
              <a:rPr kumimoji="0" lang="es-ES" altLang="es-ES" sz="2000" b="0" i="0" u="none" strike="noStrike" cap="none" normalizeH="0" baseline="0" dirty="0" smtClean="0">
                <a:ln>
                  <a:noFill/>
                </a:ln>
                <a:solidFill>
                  <a:srgbClr val="374151"/>
                </a:solidFill>
                <a:effectLst/>
                <a:latin typeface="+mj-lt"/>
              </a:rPr>
              <a:t> Para problemas de clasificación binaria.</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2000" b="1" i="0" u="none" strike="noStrike" cap="none" normalizeH="0" baseline="0" dirty="0" err="1" smtClean="0">
                <a:ln>
                  <a:noFill/>
                </a:ln>
                <a:solidFill>
                  <a:srgbClr val="374151"/>
                </a:solidFill>
                <a:effectLst/>
                <a:latin typeface="+mj-lt"/>
              </a:rPr>
              <a:t>Support</a:t>
            </a:r>
            <a:r>
              <a:rPr kumimoji="0" lang="es-ES" altLang="es-ES" sz="2000" b="1" i="0" u="none" strike="noStrike" cap="none" normalizeH="0" baseline="0" dirty="0" smtClean="0">
                <a:ln>
                  <a:noFill/>
                </a:ln>
                <a:solidFill>
                  <a:srgbClr val="374151"/>
                </a:solidFill>
                <a:effectLst/>
                <a:latin typeface="+mj-lt"/>
              </a:rPr>
              <a:t> Vector Machines (SVM):</a:t>
            </a:r>
            <a:r>
              <a:rPr kumimoji="0" lang="es-ES" altLang="es-ES" sz="2000" b="0" i="0" u="none" strike="noStrike" cap="none" normalizeH="0" baseline="0" dirty="0" smtClean="0">
                <a:ln>
                  <a:noFill/>
                </a:ln>
                <a:solidFill>
                  <a:srgbClr val="374151"/>
                </a:solidFill>
                <a:effectLst/>
                <a:latin typeface="+mj-lt"/>
              </a:rPr>
              <a:t> Para clasificación y regresión, especialmente efectivo en espacios de alta dimensión.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2000" b="1" i="0" u="none" strike="noStrike" cap="none" normalizeH="0" baseline="0" dirty="0" err="1" smtClean="0">
                <a:ln>
                  <a:noFill/>
                </a:ln>
                <a:solidFill>
                  <a:srgbClr val="374151"/>
                </a:solidFill>
                <a:effectLst/>
                <a:latin typeface="+mj-lt"/>
              </a:rPr>
              <a:t>Random</a:t>
            </a:r>
            <a:r>
              <a:rPr kumimoji="0" lang="es-ES" altLang="es-ES" sz="2000" b="1" i="0" u="none" strike="noStrike" cap="none" normalizeH="0" baseline="0" dirty="0" smtClean="0">
                <a:ln>
                  <a:noFill/>
                </a:ln>
                <a:solidFill>
                  <a:srgbClr val="374151"/>
                </a:solidFill>
                <a:effectLst/>
                <a:latin typeface="+mj-lt"/>
              </a:rPr>
              <a:t> </a:t>
            </a:r>
            <a:r>
              <a:rPr kumimoji="0" lang="es-ES" altLang="es-ES" sz="2000" b="1" i="0" u="none" strike="noStrike" cap="none" normalizeH="0" baseline="0" dirty="0" err="1" smtClean="0">
                <a:ln>
                  <a:noFill/>
                </a:ln>
                <a:solidFill>
                  <a:srgbClr val="374151"/>
                </a:solidFill>
                <a:effectLst/>
                <a:latin typeface="+mj-lt"/>
              </a:rPr>
              <a:t>Forest</a:t>
            </a:r>
            <a:r>
              <a:rPr kumimoji="0" lang="es-ES" altLang="es-ES" sz="2000" b="1" i="0" u="none" strike="noStrike" cap="none" normalizeH="0" baseline="0" dirty="0" smtClean="0">
                <a:ln>
                  <a:noFill/>
                </a:ln>
                <a:solidFill>
                  <a:srgbClr val="374151"/>
                </a:solidFill>
                <a:effectLst/>
                <a:latin typeface="+mj-lt"/>
              </a:rPr>
              <a:t> (</a:t>
            </a:r>
            <a:r>
              <a:rPr kumimoji="0" lang="es-ES" altLang="es-ES" sz="2000" b="1" i="0" u="none" strike="noStrike" cap="none" normalizeH="0" baseline="0" dirty="0" err="1" smtClean="0">
                <a:ln>
                  <a:noFill/>
                </a:ln>
                <a:solidFill>
                  <a:srgbClr val="374151"/>
                </a:solidFill>
                <a:effectLst/>
                <a:latin typeface="+mj-lt"/>
              </a:rPr>
              <a:t>RandomForestClassifier</a:t>
            </a:r>
            <a:r>
              <a:rPr kumimoji="0" lang="es-ES" altLang="es-ES" sz="2000" b="1" i="0" u="none" strike="noStrike" cap="none" normalizeH="0" baseline="0" dirty="0" smtClean="0">
                <a:ln>
                  <a:noFill/>
                </a:ln>
                <a:solidFill>
                  <a:srgbClr val="374151"/>
                </a:solidFill>
                <a:effectLst/>
                <a:latin typeface="+mj-lt"/>
              </a:rPr>
              <a:t>, </a:t>
            </a:r>
            <a:r>
              <a:rPr kumimoji="0" lang="es-ES" altLang="es-ES" sz="2000" b="1" i="0" u="none" strike="noStrike" cap="none" normalizeH="0" baseline="0" dirty="0" err="1" smtClean="0">
                <a:ln>
                  <a:noFill/>
                </a:ln>
                <a:solidFill>
                  <a:srgbClr val="374151"/>
                </a:solidFill>
                <a:effectLst/>
                <a:latin typeface="+mj-lt"/>
              </a:rPr>
              <a:t>RandomForestRegressor</a:t>
            </a:r>
            <a:r>
              <a:rPr kumimoji="0" lang="es-ES" altLang="es-ES" sz="2000" b="1" i="0" u="none" strike="noStrike" cap="none" normalizeH="0" baseline="0" dirty="0" smtClean="0">
                <a:ln>
                  <a:noFill/>
                </a:ln>
                <a:solidFill>
                  <a:srgbClr val="374151"/>
                </a:solidFill>
                <a:effectLst/>
                <a:latin typeface="+mj-lt"/>
              </a:rPr>
              <a:t>):</a:t>
            </a:r>
            <a:r>
              <a:rPr kumimoji="0" lang="es-ES" altLang="es-ES" sz="2000" b="0" i="0" u="none" strike="noStrike" cap="none" normalizeH="0" baseline="0" dirty="0" smtClean="0">
                <a:ln>
                  <a:noFill/>
                </a:ln>
                <a:solidFill>
                  <a:srgbClr val="374151"/>
                </a:solidFill>
                <a:effectLst/>
                <a:latin typeface="+mj-lt"/>
              </a:rPr>
              <a:t> Para clasificación y regresión mediante conjuntos de árboles de decisión.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2000" b="1" i="0" u="none" strike="noStrike" cap="none" normalizeH="0" baseline="0" dirty="0" smtClean="0">
                <a:ln>
                  <a:noFill/>
                </a:ln>
                <a:solidFill>
                  <a:srgbClr val="374151"/>
                </a:solidFill>
                <a:effectLst/>
                <a:latin typeface="+mj-lt"/>
              </a:rPr>
              <a:t>K-</a:t>
            </a:r>
            <a:r>
              <a:rPr kumimoji="0" lang="es-ES" altLang="es-ES" sz="2000" b="1" i="0" u="none" strike="noStrike" cap="none" normalizeH="0" baseline="0" dirty="0" err="1" smtClean="0">
                <a:ln>
                  <a:noFill/>
                </a:ln>
                <a:solidFill>
                  <a:srgbClr val="374151"/>
                </a:solidFill>
                <a:effectLst/>
                <a:latin typeface="+mj-lt"/>
              </a:rPr>
              <a:t>Nearest</a:t>
            </a:r>
            <a:r>
              <a:rPr kumimoji="0" lang="es-ES" altLang="es-ES" sz="2000" b="1" i="0" u="none" strike="noStrike" cap="none" normalizeH="0" baseline="0" dirty="0" smtClean="0">
                <a:ln>
                  <a:noFill/>
                </a:ln>
                <a:solidFill>
                  <a:srgbClr val="374151"/>
                </a:solidFill>
                <a:effectLst/>
                <a:latin typeface="+mj-lt"/>
              </a:rPr>
              <a:t> </a:t>
            </a:r>
            <a:r>
              <a:rPr kumimoji="0" lang="es-ES" altLang="es-ES" sz="2000" b="1" i="0" u="none" strike="noStrike" cap="none" normalizeH="0" baseline="0" dirty="0" err="1" smtClean="0">
                <a:ln>
                  <a:noFill/>
                </a:ln>
                <a:solidFill>
                  <a:srgbClr val="374151"/>
                </a:solidFill>
                <a:effectLst/>
                <a:latin typeface="+mj-lt"/>
              </a:rPr>
              <a:t>Neighbors</a:t>
            </a:r>
            <a:r>
              <a:rPr kumimoji="0" lang="es-ES" altLang="es-ES" sz="2000" b="1" i="0" u="none" strike="noStrike" cap="none" normalizeH="0" baseline="0" dirty="0" smtClean="0">
                <a:ln>
                  <a:noFill/>
                </a:ln>
                <a:solidFill>
                  <a:srgbClr val="374151"/>
                </a:solidFill>
                <a:effectLst/>
                <a:latin typeface="+mj-lt"/>
              </a:rPr>
              <a:t> (</a:t>
            </a:r>
            <a:r>
              <a:rPr kumimoji="0" lang="es-ES" altLang="es-ES" sz="2000" b="1" i="0" u="none" strike="noStrike" cap="none" normalizeH="0" baseline="0" dirty="0" err="1" smtClean="0">
                <a:ln>
                  <a:noFill/>
                </a:ln>
                <a:solidFill>
                  <a:srgbClr val="374151"/>
                </a:solidFill>
                <a:effectLst/>
                <a:latin typeface="+mj-lt"/>
              </a:rPr>
              <a:t>KNeighborsClassifier</a:t>
            </a:r>
            <a:r>
              <a:rPr kumimoji="0" lang="es-ES" altLang="es-ES" sz="2000" b="1" i="0" u="none" strike="noStrike" cap="none" normalizeH="0" baseline="0" dirty="0" smtClean="0">
                <a:ln>
                  <a:noFill/>
                </a:ln>
                <a:solidFill>
                  <a:srgbClr val="374151"/>
                </a:solidFill>
                <a:effectLst/>
                <a:latin typeface="+mj-lt"/>
              </a:rPr>
              <a:t>, </a:t>
            </a:r>
            <a:r>
              <a:rPr kumimoji="0" lang="es-ES" altLang="es-ES" sz="2000" b="1" i="0" u="none" strike="noStrike" cap="none" normalizeH="0" baseline="0" dirty="0" err="1" smtClean="0">
                <a:ln>
                  <a:noFill/>
                </a:ln>
                <a:solidFill>
                  <a:srgbClr val="374151"/>
                </a:solidFill>
                <a:effectLst/>
                <a:latin typeface="+mj-lt"/>
              </a:rPr>
              <a:t>KNeighborsRegressor</a:t>
            </a:r>
            <a:r>
              <a:rPr kumimoji="0" lang="es-ES" altLang="es-ES" sz="2000" b="1" i="0" u="none" strike="noStrike" cap="none" normalizeH="0" baseline="0" dirty="0" smtClean="0">
                <a:ln>
                  <a:noFill/>
                </a:ln>
                <a:solidFill>
                  <a:srgbClr val="374151"/>
                </a:solidFill>
                <a:effectLst/>
                <a:latin typeface="+mj-lt"/>
              </a:rPr>
              <a:t>):</a:t>
            </a:r>
            <a:r>
              <a:rPr kumimoji="0" lang="es-ES" altLang="es-ES" sz="2000" b="0" i="0" u="none" strike="noStrike" cap="none" normalizeH="0" baseline="0" dirty="0" smtClean="0">
                <a:ln>
                  <a:noFill/>
                </a:ln>
                <a:solidFill>
                  <a:srgbClr val="374151"/>
                </a:solidFill>
                <a:effectLst/>
                <a:latin typeface="+mj-lt"/>
              </a:rPr>
              <a:t> Para clasificación y regresión basada en la proximidad a puntos vecinos.</a:t>
            </a:r>
          </a:p>
          <a:p>
            <a:pPr marL="0" marR="0" lvl="0" indent="0" algn="l" defTabSz="914400" rtl="0" eaLnBrk="0" fontAlgn="base" latinLnBrk="0" hangingPunct="0">
              <a:lnSpc>
                <a:spcPct val="100000"/>
              </a:lnSpc>
              <a:spcBef>
                <a:spcPct val="0"/>
              </a:spcBef>
              <a:spcAft>
                <a:spcPct val="0"/>
              </a:spcAft>
              <a:buClrTx/>
              <a:buSzTx/>
              <a:tabLst/>
            </a:pPr>
            <a:endParaRPr lang="es-ES" altLang="es-ES" sz="2000" dirty="0">
              <a:solidFill>
                <a:srgbClr val="374151"/>
              </a:solidFill>
              <a:latin typeface="+mj-lt"/>
            </a:endParaRPr>
          </a:p>
          <a:p>
            <a:pPr eaLnBrk="0" fontAlgn="base" hangingPunct="0">
              <a:spcBef>
                <a:spcPct val="0"/>
              </a:spcBef>
              <a:spcAft>
                <a:spcPct val="0"/>
              </a:spcAft>
            </a:pPr>
            <a:r>
              <a:rPr lang="es-ES" altLang="es-ES" sz="2000" b="1" dirty="0" smtClean="0">
                <a:solidFill>
                  <a:srgbClr val="374151"/>
                </a:solidFill>
                <a:latin typeface="+mj-lt"/>
              </a:rPr>
              <a:t>2. Modelos </a:t>
            </a:r>
            <a:r>
              <a:rPr lang="es-ES" altLang="es-ES" sz="2000" b="1" dirty="0">
                <a:solidFill>
                  <a:srgbClr val="374151"/>
                </a:solidFill>
                <a:latin typeface="+mj-lt"/>
              </a:rPr>
              <a:t>de Aprendizaje No Supervisado:</a:t>
            </a:r>
          </a:p>
          <a:p>
            <a:pPr marL="342900" lvl="0" indent="-342900" eaLnBrk="0" fontAlgn="base" hangingPunct="0">
              <a:spcBef>
                <a:spcPct val="0"/>
              </a:spcBef>
              <a:spcAft>
                <a:spcPct val="0"/>
              </a:spcAft>
              <a:buFont typeface="Arial" panose="020B0604020202020204" pitchFamily="34" charset="0"/>
              <a:buChar char="•"/>
            </a:pPr>
            <a:r>
              <a:rPr lang="es-ES" altLang="es-ES" sz="2000" b="1" dirty="0">
                <a:solidFill>
                  <a:srgbClr val="374151"/>
                </a:solidFill>
                <a:latin typeface="+mj-lt"/>
              </a:rPr>
              <a:t>K-</a:t>
            </a:r>
            <a:r>
              <a:rPr lang="es-ES" altLang="es-ES" sz="2000" b="1" dirty="0" err="1">
                <a:solidFill>
                  <a:srgbClr val="374151"/>
                </a:solidFill>
                <a:latin typeface="+mj-lt"/>
              </a:rPr>
              <a:t>Means</a:t>
            </a:r>
            <a:r>
              <a:rPr lang="es-ES" altLang="es-ES" sz="2000" dirty="0">
                <a:solidFill>
                  <a:srgbClr val="374151"/>
                </a:solidFill>
                <a:latin typeface="+mj-lt"/>
              </a:rPr>
              <a:t> (</a:t>
            </a:r>
            <a:r>
              <a:rPr lang="es-ES" altLang="es-ES" sz="2000" b="1" dirty="0" err="1">
                <a:solidFill>
                  <a:srgbClr val="374151"/>
                </a:solidFill>
                <a:latin typeface="+mj-lt"/>
              </a:rPr>
              <a:t>KMeans</a:t>
            </a:r>
            <a:r>
              <a:rPr lang="es-ES" altLang="es-ES" sz="2000" dirty="0">
                <a:solidFill>
                  <a:srgbClr val="374151"/>
                </a:solidFill>
                <a:latin typeface="+mj-lt"/>
              </a:rPr>
              <a:t>): Para agrupar datos en clústeres.</a:t>
            </a:r>
          </a:p>
          <a:p>
            <a:pPr marL="342900" lvl="0" indent="-342900" eaLnBrk="0" fontAlgn="base" hangingPunct="0">
              <a:spcBef>
                <a:spcPct val="0"/>
              </a:spcBef>
              <a:spcAft>
                <a:spcPct val="0"/>
              </a:spcAft>
              <a:buFont typeface="Arial" panose="020B0604020202020204" pitchFamily="34" charset="0"/>
              <a:buChar char="•"/>
            </a:pPr>
            <a:r>
              <a:rPr lang="es-ES" altLang="es-ES" sz="2000" b="1" dirty="0">
                <a:solidFill>
                  <a:srgbClr val="374151"/>
                </a:solidFill>
                <a:latin typeface="+mj-lt"/>
              </a:rPr>
              <a:t>DBSCAN</a:t>
            </a:r>
            <a:r>
              <a:rPr lang="es-ES" altLang="es-ES" sz="2000" dirty="0">
                <a:solidFill>
                  <a:srgbClr val="374151"/>
                </a:solidFill>
                <a:latin typeface="+mj-lt"/>
              </a:rPr>
              <a:t> (</a:t>
            </a:r>
            <a:r>
              <a:rPr lang="es-ES" altLang="es-ES" sz="2000" b="1" dirty="0">
                <a:solidFill>
                  <a:srgbClr val="374151"/>
                </a:solidFill>
                <a:latin typeface="+mj-lt"/>
              </a:rPr>
              <a:t>DBSCAN</a:t>
            </a:r>
            <a:r>
              <a:rPr lang="es-ES" altLang="es-ES" sz="2000" dirty="0">
                <a:solidFill>
                  <a:srgbClr val="374151"/>
                </a:solidFill>
                <a:latin typeface="+mj-lt"/>
              </a:rPr>
              <a:t>): Para detectar clústeres de forma no paramétrica.</a:t>
            </a:r>
          </a:p>
          <a:p>
            <a:pPr marL="342900" lvl="0" indent="-342900" eaLnBrk="0" fontAlgn="base" hangingPunct="0">
              <a:spcBef>
                <a:spcPct val="0"/>
              </a:spcBef>
              <a:spcAft>
                <a:spcPct val="0"/>
              </a:spcAft>
              <a:buFont typeface="Arial" panose="020B0604020202020204" pitchFamily="34" charset="0"/>
              <a:buChar char="•"/>
            </a:pPr>
            <a:r>
              <a:rPr lang="es-ES" altLang="es-ES" sz="2000" b="1" dirty="0">
                <a:solidFill>
                  <a:srgbClr val="374151"/>
                </a:solidFill>
                <a:latin typeface="+mj-lt"/>
              </a:rPr>
              <a:t>Principal </a:t>
            </a:r>
            <a:r>
              <a:rPr lang="es-ES" altLang="es-ES" sz="2000" b="1" dirty="0" err="1">
                <a:solidFill>
                  <a:srgbClr val="374151"/>
                </a:solidFill>
                <a:latin typeface="+mj-lt"/>
              </a:rPr>
              <a:t>Component</a:t>
            </a:r>
            <a:r>
              <a:rPr lang="es-ES" altLang="es-ES" sz="2000" b="1" dirty="0">
                <a:solidFill>
                  <a:srgbClr val="374151"/>
                </a:solidFill>
                <a:latin typeface="+mj-lt"/>
              </a:rPr>
              <a:t> </a:t>
            </a:r>
            <a:r>
              <a:rPr lang="es-ES" altLang="es-ES" sz="2000" b="1" dirty="0" err="1">
                <a:solidFill>
                  <a:srgbClr val="374151"/>
                </a:solidFill>
                <a:latin typeface="+mj-lt"/>
              </a:rPr>
              <a:t>Analysis</a:t>
            </a:r>
            <a:r>
              <a:rPr lang="es-ES" altLang="es-ES" sz="2000" dirty="0">
                <a:solidFill>
                  <a:srgbClr val="374151"/>
                </a:solidFill>
                <a:latin typeface="+mj-lt"/>
              </a:rPr>
              <a:t> (</a:t>
            </a:r>
            <a:r>
              <a:rPr lang="es-ES" altLang="es-ES" sz="2000" b="1" dirty="0">
                <a:solidFill>
                  <a:srgbClr val="374151"/>
                </a:solidFill>
                <a:latin typeface="+mj-lt"/>
              </a:rPr>
              <a:t>PCA</a:t>
            </a:r>
            <a:r>
              <a:rPr lang="es-ES" altLang="es-ES" sz="2000" dirty="0">
                <a:solidFill>
                  <a:srgbClr val="374151"/>
                </a:solidFill>
                <a:latin typeface="+mj-lt"/>
              </a:rPr>
              <a:t>): Para reducción de la </a:t>
            </a:r>
            <a:r>
              <a:rPr lang="es-ES" altLang="es-ES" sz="2000" dirty="0" err="1">
                <a:solidFill>
                  <a:srgbClr val="374151"/>
                </a:solidFill>
                <a:latin typeface="+mj-lt"/>
              </a:rPr>
              <a:t>dimensionalidad</a:t>
            </a:r>
            <a:r>
              <a:rPr lang="es-ES" altLang="es-ES" sz="2000" dirty="0">
                <a:solidFill>
                  <a:srgbClr val="374151"/>
                </a:solidFill>
                <a:latin typeface="+mj-lt"/>
              </a:rPr>
              <a:t>.</a:t>
            </a:r>
          </a:p>
          <a:p>
            <a:pPr marL="342900" lvl="0" indent="-342900" eaLnBrk="0" fontAlgn="base" hangingPunct="0">
              <a:spcBef>
                <a:spcPct val="0"/>
              </a:spcBef>
              <a:spcAft>
                <a:spcPct val="0"/>
              </a:spcAft>
              <a:buFont typeface="Arial" panose="020B0604020202020204" pitchFamily="34" charset="0"/>
              <a:buChar char="•"/>
            </a:pPr>
            <a:r>
              <a:rPr lang="es-ES" altLang="es-ES" sz="2000" b="1" dirty="0">
                <a:solidFill>
                  <a:srgbClr val="374151"/>
                </a:solidFill>
                <a:latin typeface="+mj-lt"/>
              </a:rPr>
              <a:t>Factorización de Matrices No Negativas</a:t>
            </a:r>
            <a:r>
              <a:rPr lang="es-ES" altLang="es-ES" sz="2000" dirty="0">
                <a:solidFill>
                  <a:srgbClr val="374151"/>
                </a:solidFill>
                <a:latin typeface="+mj-lt"/>
              </a:rPr>
              <a:t> (</a:t>
            </a:r>
            <a:r>
              <a:rPr lang="es-ES" altLang="es-ES" sz="2000" b="1" dirty="0">
                <a:solidFill>
                  <a:srgbClr val="374151"/>
                </a:solidFill>
                <a:latin typeface="+mj-lt"/>
              </a:rPr>
              <a:t>NMF</a:t>
            </a:r>
            <a:r>
              <a:rPr lang="es-ES" altLang="es-ES" sz="2000" dirty="0">
                <a:solidFill>
                  <a:srgbClr val="374151"/>
                </a:solidFill>
                <a:latin typeface="+mj-lt"/>
              </a:rPr>
              <a:t>): Para la descomposición de matrices no </a:t>
            </a:r>
            <a:r>
              <a:rPr lang="es-ES" altLang="es-ES" sz="2000" dirty="0" smtClean="0">
                <a:solidFill>
                  <a:srgbClr val="374151"/>
                </a:solidFill>
                <a:latin typeface="+mj-lt"/>
              </a:rPr>
              <a:t>negativas </a:t>
            </a:r>
            <a:endParaRPr lang="es-ES" altLang="es-ES" sz="2000" dirty="0">
              <a:solidFill>
                <a:srgbClr val="374151"/>
              </a:solidFill>
              <a:latin typeface="+mj-lt"/>
            </a:endParaRPr>
          </a:p>
          <a:p>
            <a:pPr lvl="0" eaLnBrk="0" fontAlgn="base" hangingPunct="0">
              <a:spcBef>
                <a:spcPct val="0"/>
              </a:spcBef>
              <a:spcAft>
                <a:spcPct val="0"/>
              </a:spcAft>
            </a:pPr>
            <a:endParaRPr lang="es-ES" altLang="es-ES" sz="3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s-ES" altLang="es-ES" sz="1400" i="1" dirty="0" smtClean="0">
                <a:solidFill>
                  <a:srgbClr val="374151"/>
                </a:solidFill>
                <a:latin typeface="+mj-lt"/>
              </a:rPr>
              <a:t>*</a:t>
            </a:r>
            <a:r>
              <a:rPr lang="es-ES" altLang="es-ES" sz="1400" i="1" dirty="0" err="1" smtClean="0">
                <a:solidFill>
                  <a:srgbClr val="374151"/>
                </a:solidFill>
                <a:latin typeface="+mj-lt"/>
              </a:rPr>
              <a:t>feedwordard</a:t>
            </a:r>
            <a:r>
              <a:rPr lang="es-ES" altLang="es-ES" sz="1400" dirty="0" smtClean="0">
                <a:solidFill>
                  <a:srgbClr val="374151"/>
                </a:solidFill>
                <a:latin typeface="+mj-lt"/>
              </a:rPr>
              <a:t>:</a:t>
            </a:r>
            <a:r>
              <a:rPr lang="es-ES" altLang="es-ES" sz="1400" i="1" dirty="0" smtClean="0">
                <a:solidFill>
                  <a:srgbClr val="374151"/>
                </a:solidFill>
                <a:latin typeface="+mj-lt"/>
              </a:rPr>
              <a:t> </a:t>
            </a:r>
            <a:r>
              <a:rPr lang="es-ES" altLang="es-ES" sz="1400" dirty="0" smtClean="0">
                <a:solidFill>
                  <a:srgbClr val="374151"/>
                </a:solidFill>
                <a:latin typeface="+mj-lt"/>
              </a:rPr>
              <a:t>redes conectadas de atrás hacia la salida sin bucles ni comunicación entre redes de la misma capa</a:t>
            </a:r>
            <a:endParaRPr lang="es-ES" altLang="es-ES" sz="1400" dirty="0">
              <a:solidFill>
                <a:srgbClr val="374151"/>
              </a:solidFill>
              <a:latin typeface="+mj-lt"/>
            </a:endParaRPr>
          </a:p>
          <a:p>
            <a:pPr marL="0" marR="0" lvl="0" indent="0" algn="l" defTabSz="914400" rtl="0" eaLnBrk="0" fontAlgn="base" latinLnBrk="0" hangingPunct="0">
              <a:lnSpc>
                <a:spcPct val="100000"/>
              </a:lnSpc>
              <a:spcBef>
                <a:spcPct val="0"/>
              </a:spcBef>
              <a:spcAft>
                <a:spcPct val="0"/>
              </a:spcAft>
              <a:buClrTx/>
              <a:buSzTx/>
              <a:tabLst/>
            </a:pPr>
            <a:endParaRPr kumimoji="0" lang="es-ES" altLang="es-ES" sz="2000" b="0" i="0" u="none" strike="noStrike" cap="none" normalizeH="0" baseline="0" dirty="0" smtClean="0">
              <a:ln>
                <a:noFill/>
              </a:ln>
              <a:solidFill>
                <a:srgbClr val="37415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9857051"/>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504371" y="352425"/>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smtClean="0">
                <a:solidFill>
                  <a:srgbClr val="365F91"/>
                </a:solidFill>
              </a:rPr>
              <a:t>Básicos de </a:t>
            </a:r>
            <a:r>
              <a:rPr lang="es-ES" b="1" kern="0" spc="-5" dirty="0" err="1" smtClean="0">
                <a:solidFill>
                  <a:srgbClr val="365F91"/>
                </a:solidFill>
              </a:rPr>
              <a:t>scikit-learn</a:t>
            </a:r>
            <a:endParaRPr lang="es-ES" kern="0" dirty="0"/>
          </a:p>
        </p:txBody>
      </p:sp>
      <p:sp>
        <p:nvSpPr>
          <p:cNvPr id="5" name="Rectángulo 4"/>
          <p:cNvSpPr/>
          <p:nvPr/>
        </p:nvSpPr>
        <p:spPr>
          <a:xfrm>
            <a:off x="469900" y="1190625"/>
            <a:ext cx="9994900" cy="400110"/>
          </a:xfrm>
          <a:prstGeom prst="rect">
            <a:avLst/>
          </a:prstGeom>
        </p:spPr>
        <p:txBody>
          <a:bodyPr wrap="square">
            <a:spAutoFit/>
          </a:bodyPr>
          <a:lstStyle/>
          <a:p>
            <a:pPr marL="342900" indent="-342900">
              <a:buFont typeface="Arial" panose="020B0604020202020204" pitchFamily="34" charset="0"/>
              <a:buChar char="•"/>
            </a:pPr>
            <a:endParaRPr lang="es-ES" sz="2000" dirty="0"/>
          </a:p>
        </p:txBody>
      </p:sp>
      <p:sp>
        <p:nvSpPr>
          <p:cNvPr id="6" name="Rectangle 2"/>
          <p:cNvSpPr>
            <a:spLocks noChangeArrowheads="1"/>
          </p:cNvSpPr>
          <p:nvPr/>
        </p:nvSpPr>
        <p:spPr bwMode="auto">
          <a:xfrm>
            <a:off x="590550" y="1205593"/>
            <a:ext cx="9753600" cy="6678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ES" altLang="es-ES" sz="2000" b="1" dirty="0" smtClean="0">
                <a:solidFill>
                  <a:srgbClr val="374151"/>
                </a:solidFill>
                <a:latin typeface="+mj-lt"/>
              </a:rPr>
              <a:t>3. Herramientas </a:t>
            </a:r>
            <a:r>
              <a:rPr lang="es-ES" altLang="es-ES" sz="2000" b="1" dirty="0">
                <a:solidFill>
                  <a:srgbClr val="374151"/>
                </a:solidFill>
                <a:latin typeface="+mj-lt"/>
              </a:rPr>
              <a:t>de </a:t>
            </a:r>
            <a:r>
              <a:rPr lang="es-ES" altLang="es-ES" sz="2000" b="1" dirty="0" err="1">
                <a:solidFill>
                  <a:srgbClr val="374151"/>
                </a:solidFill>
                <a:latin typeface="+mj-lt"/>
              </a:rPr>
              <a:t>Preprocesamiento</a:t>
            </a:r>
            <a:r>
              <a:rPr lang="es-ES" altLang="es-ES" sz="2000" b="1" dirty="0">
                <a:solidFill>
                  <a:srgbClr val="374151"/>
                </a:solidFill>
                <a:latin typeface="+mj-lt"/>
              </a:rPr>
              <a:t> y Transformación de Datos:</a:t>
            </a:r>
            <a:endParaRPr lang="es-ES" altLang="es-ES" sz="2000" dirty="0">
              <a:solidFill>
                <a:srgbClr val="374151"/>
              </a:solidFill>
              <a:latin typeface="+mj-lt"/>
            </a:endParaRPr>
          </a:p>
          <a:p>
            <a:pPr marL="800100" lvl="1" indent="-342900" eaLnBrk="0" fontAlgn="base" hangingPunct="0">
              <a:spcBef>
                <a:spcPct val="0"/>
              </a:spcBef>
              <a:spcAft>
                <a:spcPct val="0"/>
              </a:spcAft>
              <a:buFont typeface="Arial" panose="020B0604020202020204" pitchFamily="34" charset="0"/>
              <a:buChar char="•"/>
            </a:pPr>
            <a:r>
              <a:rPr lang="es-ES" altLang="es-ES" sz="2000" b="1" dirty="0" err="1">
                <a:solidFill>
                  <a:srgbClr val="374151"/>
                </a:solidFill>
                <a:latin typeface="+mj-lt"/>
              </a:rPr>
              <a:t>StandardScaler</a:t>
            </a:r>
            <a:r>
              <a:rPr lang="es-ES" altLang="es-ES" sz="2000" b="1" dirty="0">
                <a:solidFill>
                  <a:srgbClr val="374151"/>
                </a:solidFill>
                <a:latin typeface="+mj-lt"/>
              </a:rPr>
              <a:t>, </a:t>
            </a:r>
            <a:r>
              <a:rPr lang="es-ES" altLang="es-ES" sz="2000" b="1" dirty="0" err="1">
                <a:solidFill>
                  <a:srgbClr val="374151"/>
                </a:solidFill>
                <a:latin typeface="+mj-lt"/>
              </a:rPr>
              <a:t>MinMaxScaler</a:t>
            </a:r>
            <a:r>
              <a:rPr lang="es-ES" altLang="es-ES" sz="2000" b="1" dirty="0">
                <a:solidFill>
                  <a:srgbClr val="374151"/>
                </a:solidFill>
                <a:latin typeface="+mj-lt"/>
              </a:rPr>
              <a:t>:</a:t>
            </a:r>
            <a:r>
              <a:rPr lang="es-ES" altLang="es-ES" sz="2000" dirty="0">
                <a:solidFill>
                  <a:srgbClr val="374151"/>
                </a:solidFill>
                <a:latin typeface="+mj-lt"/>
              </a:rPr>
              <a:t> Para normalización y escalado de características.</a:t>
            </a:r>
          </a:p>
          <a:p>
            <a:pPr marL="800100" lvl="1" indent="-342900" eaLnBrk="0" fontAlgn="base" hangingPunct="0">
              <a:spcBef>
                <a:spcPct val="0"/>
              </a:spcBef>
              <a:spcAft>
                <a:spcPct val="0"/>
              </a:spcAft>
              <a:buFont typeface="Arial" panose="020B0604020202020204" pitchFamily="34" charset="0"/>
              <a:buChar char="•"/>
            </a:pPr>
            <a:r>
              <a:rPr lang="es-ES" altLang="es-ES" sz="2000" b="1" dirty="0" err="1">
                <a:solidFill>
                  <a:srgbClr val="374151"/>
                </a:solidFill>
                <a:latin typeface="+mj-lt"/>
              </a:rPr>
              <a:t>LabelEncoder</a:t>
            </a:r>
            <a:r>
              <a:rPr lang="es-ES" altLang="es-ES" sz="2000" b="1" dirty="0">
                <a:solidFill>
                  <a:srgbClr val="374151"/>
                </a:solidFill>
                <a:latin typeface="+mj-lt"/>
              </a:rPr>
              <a:t>, </a:t>
            </a:r>
            <a:r>
              <a:rPr lang="es-ES" altLang="es-ES" sz="2000" b="1" dirty="0" err="1">
                <a:solidFill>
                  <a:srgbClr val="374151"/>
                </a:solidFill>
                <a:latin typeface="+mj-lt"/>
              </a:rPr>
              <a:t>OneHotEncoder</a:t>
            </a:r>
            <a:r>
              <a:rPr lang="es-ES" altLang="es-ES" sz="2000" b="1" dirty="0">
                <a:solidFill>
                  <a:srgbClr val="374151"/>
                </a:solidFill>
                <a:latin typeface="+mj-lt"/>
              </a:rPr>
              <a:t>:</a:t>
            </a:r>
            <a:r>
              <a:rPr lang="es-ES" altLang="es-ES" sz="2000" dirty="0">
                <a:solidFill>
                  <a:srgbClr val="374151"/>
                </a:solidFill>
                <a:latin typeface="+mj-lt"/>
              </a:rPr>
              <a:t> Para codificación de variables categóricas.</a:t>
            </a:r>
          </a:p>
          <a:p>
            <a:pPr marL="800100" lvl="1" indent="-342900" eaLnBrk="0" fontAlgn="base" hangingPunct="0">
              <a:spcBef>
                <a:spcPct val="0"/>
              </a:spcBef>
              <a:spcAft>
                <a:spcPct val="0"/>
              </a:spcAft>
              <a:buFont typeface="Arial" panose="020B0604020202020204" pitchFamily="34" charset="0"/>
              <a:buChar char="•"/>
            </a:pPr>
            <a:r>
              <a:rPr lang="es-ES" altLang="es-ES" sz="2000" b="1" dirty="0" err="1">
                <a:solidFill>
                  <a:srgbClr val="374151"/>
                </a:solidFill>
                <a:latin typeface="+mj-lt"/>
              </a:rPr>
              <a:t>Imputer</a:t>
            </a:r>
            <a:r>
              <a:rPr lang="es-ES" altLang="es-ES" sz="2000" b="1" dirty="0">
                <a:solidFill>
                  <a:srgbClr val="374151"/>
                </a:solidFill>
                <a:latin typeface="+mj-lt"/>
              </a:rPr>
              <a:t>:</a:t>
            </a:r>
            <a:r>
              <a:rPr lang="es-ES" altLang="es-ES" sz="2000" dirty="0">
                <a:solidFill>
                  <a:srgbClr val="374151"/>
                </a:solidFill>
                <a:latin typeface="+mj-lt"/>
              </a:rPr>
              <a:t> Para imputar valores faltantes en los datos.</a:t>
            </a:r>
          </a:p>
          <a:p>
            <a:pPr lvl="0" eaLnBrk="0" fontAlgn="base" hangingPunct="0">
              <a:spcBef>
                <a:spcPct val="0"/>
              </a:spcBef>
              <a:spcAft>
                <a:spcPct val="0"/>
              </a:spcAft>
            </a:pPr>
            <a:r>
              <a:rPr lang="es-ES" altLang="es-ES" sz="2000" b="1" dirty="0" smtClean="0">
                <a:solidFill>
                  <a:srgbClr val="374151"/>
                </a:solidFill>
                <a:latin typeface="+mj-lt"/>
              </a:rPr>
              <a:t>4. Evaluación </a:t>
            </a:r>
            <a:r>
              <a:rPr lang="es-ES" altLang="es-ES" sz="2000" b="1" dirty="0">
                <a:solidFill>
                  <a:srgbClr val="374151"/>
                </a:solidFill>
                <a:latin typeface="+mj-lt"/>
              </a:rPr>
              <a:t>y Métricas:</a:t>
            </a:r>
            <a:endParaRPr lang="es-ES" altLang="es-ES" sz="2000" dirty="0">
              <a:solidFill>
                <a:srgbClr val="374151"/>
              </a:solidFill>
              <a:latin typeface="+mj-lt"/>
            </a:endParaRPr>
          </a:p>
          <a:p>
            <a:pPr marL="800100" lvl="1" indent="-342900" eaLnBrk="0" fontAlgn="base" hangingPunct="0">
              <a:spcBef>
                <a:spcPct val="0"/>
              </a:spcBef>
              <a:spcAft>
                <a:spcPct val="0"/>
              </a:spcAft>
              <a:buFont typeface="Arial" panose="020B0604020202020204" pitchFamily="34" charset="0"/>
              <a:buChar char="•"/>
            </a:pPr>
            <a:r>
              <a:rPr lang="es-ES" altLang="es-ES" sz="2000" b="1" dirty="0" err="1">
                <a:solidFill>
                  <a:srgbClr val="374151"/>
                </a:solidFill>
                <a:latin typeface="+mj-lt"/>
              </a:rPr>
              <a:t>cross_val_score</a:t>
            </a:r>
            <a:r>
              <a:rPr lang="es-ES" altLang="es-ES" sz="2000" b="1" dirty="0">
                <a:solidFill>
                  <a:srgbClr val="374151"/>
                </a:solidFill>
                <a:latin typeface="+mj-lt"/>
              </a:rPr>
              <a:t>, </a:t>
            </a:r>
            <a:r>
              <a:rPr lang="es-ES" altLang="es-ES" sz="2000" b="1" dirty="0" err="1">
                <a:solidFill>
                  <a:srgbClr val="374151"/>
                </a:solidFill>
                <a:latin typeface="+mj-lt"/>
              </a:rPr>
              <a:t>train_test_split</a:t>
            </a:r>
            <a:r>
              <a:rPr lang="es-ES" altLang="es-ES" sz="2000" b="1" dirty="0">
                <a:solidFill>
                  <a:srgbClr val="374151"/>
                </a:solidFill>
                <a:latin typeface="+mj-lt"/>
              </a:rPr>
              <a:t>:</a:t>
            </a:r>
            <a:r>
              <a:rPr lang="es-ES" altLang="es-ES" sz="2000" dirty="0">
                <a:solidFill>
                  <a:srgbClr val="374151"/>
                </a:solidFill>
                <a:latin typeface="+mj-lt"/>
              </a:rPr>
              <a:t> Para evaluar modelos mediante validación cruzada y dividir conjuntos de entrenamiento/prueba.</a:t>
            </a:r>
          </a:p>
          <a:p>
            <a:pPr marL="800100" lvl="1" indent="-342900" eaLnBrk="0" fontAlgn="base" hangingPunct="0">
              <a:spcBef>
                <a:spcPct val="0"/>
              </a:spcBef>
              <a:spcAft>
                <a:spcPct val="0"/>
              </a:spcAft>
              <a:buFont typeface="Arial" panose="020B0604020202020204" pitchFamily="34" charset="0"/>
              <a:buChar char="•"/>
            </a:pPr>
            <a:r>
              <a:rPr lang="es-ES" altLang="es-ES" sz="2000" b="1" dirty="0" err="1">
                <a:solidFill>
                  <a:srgbClr val="374151"/>
                </a:solidFill>
                <a:latin typeface="+mj-lt"/>
              </a:rPr>
              <a:t>accuracy_score</a:t>
            </a:r>
            <a:r>
              <a:rPr lang="es-ES" altLang="es-ES" sz="2000" b="1" dirty="0">
                <a:solidFill>
                  <a:srgbClr val="374151"/>
                </a:solidFill>
                <a:latin typeface="+mj-lt"/>
              </a:rPr>
              <a:t>, </a:t>
            </a:r>
            <a:r>
              <a:rPr lang="es-ES" altLang="es-ES" sz="2000" b="1" dirty="0" err="1">
                <a:solidFill>
                  <a:srgbClr val="374151"/>
                </a:solidFill>
                <a:latin typeface="+mj-lt"/>
              </a:rPr>
              <a:t>precision_score</a:t>
            </a:r>
            <a:r>
              <a:rPr lang="es-ES" altLang="es-ES" sz="2000" b="1" dirty="0">
                <a:solidFill>
                  <a:srgbClr val="374151"/>
                </a:solidFill>
                <a:latin typeface="+mj-lt"/>
              </a:rPr>
              <a:t>, </a:t>
            </a:r>
            <a:r>
              <a:rPr lang="es-ES" altLang="es-ES" sz="2000" b="1" dirty="0" err="1">
                <a:solidFill>
                  <a:srgbClr val="374151"/>
                </a:solidFill>
                <a:latin typeface="+mj-lt"/>
              </a:rPr>
              <a:t>recall_score</a:t>
            </a:r>
            <a:r>
              <a:rPr lang="es-ES" altLang="es-ES" sz="2000" b="1" dirty="0">
                <a:solidFill>
                  <a:srgbClr val="374151"/>
                </a:solidFill>
                <a:latin typeface="+mj-lt"/>
              </a:rPr>
              <a:t>, f1_score:</a:t>
            </a:r>
            <a:r>
              <a:rPr lang="es-ES" altLang="es-ES" sz="2000" dirty="0">
                <a:solidFill>
                  <a:srgbClr val="374151"/>
                </a:solidFill>
                <a:latin typeface="+mj-lt"/>
              </a:rPr>
              <a:t> Métricas comunes para evaluar el rendimiento de clasificadores.</a:t>
            </a:r>
          </a:p>
          <a:p>
            <a:pPr marL="800100" lvl="1" indent="-342900" eaLnBrk="0" fontAlgn="base" hangingPunct="0">
              <a:spcBef>
                <a:spcPct val="0"/>
              </a:spcBef>
              <a:spcAft>
                <a:spcPct val="0"/>
              </a:spcAft>
              <a:buFont typeface="Arial" panose="020B0604020202020204" pitchFamily="34" charset="0"/>
              <a:buChar char="•"/>
            </a:pPr>
            <a:r>
              <a:rPr lang="es-ES" altLang="es-ES" sz="2000" b="1" dirty="0" err="1">
                <a:solidFill>
                  <a:srgbClr val="374151"/>
                </a:solidFill>
                <a:latin typeface="+mj-lt"/>
              </a:rPr>
              <a:t>mean_squared_error</a:t>
            </a:r>
            <a:r>
              <a:rPr lang="es-ES" altLang="es-ES" sz="2000" b="1" dirty="0">
                <a:solidFill>
                  <a:srgbClr val="374151"/>
                </a:solidFill>
                <a:latin typeface="+mj-lt"/>
              </a:rPr>
              <a:t>, r2_score:</a:t>
            </a:r>
            <a:r>
              <a:rPr lang="es-ES" altLang="es-ES" sz="2000" dirty="0">
                <a:solidFill>
                  <a:srgbClr val="374151"/>
                </a:solidFill>
                <a:latin typeface="+mj-lt"/>
              </a:rPr>
              <a:t> Métricas para evaluar el rendimiento de modelos de </a:t>
            </a:r>
            <a:r>
              <a:rPr lang="es-ES" altLang="es-ES" sz="2000" dirty="0" smtClean="0">
                <a:solidFill>
                  <a:srgbClr val="374151"/>
                </a:solidFill>
                <a:latin typeface="+mj-lt"/>
              </a:rPr>
              <a:t>regresión.</a:t>
            </a:r>
          </a:p>
          <a:p>
            <a:pPr lvl="0" eaLnBrk="0" fontAlgn="base" hangingPunct="0">
              <a:spcBef>
                <a:spcPct val="0"/>
              </a:spcBef>
              <a:spcAft>
                <a:spcPct val="0"/>
              </a:spcAft>
            </a:pPr>
            <a:r>
              <a:rPr lang="es-ES" altLang="es-ES" sz="2000" b="1" dirty="0" smtClean="0">
                <a:solidFill>
                  <a:srgbClr val="374151"/>
                </a:solidFill>
                <a:latin typeface="+mj-lt"/>
              </a:rPr>
              <a:t>5. Pipeline:</a:t>
            </a:r>
            <a:r>
              <a:rPr lang="es-ES" altLang="es-ES" sz="2000" dirty="0">
                <a:solidFill>
                  <a:srgbClr val="374151"/>
                </a:solidFill>
                <a:latin typeface="+mj-lt"/>
              </a:rPr>
              <a:t> </a:t>
            </a:r>
            <a:r>
              <a:rPr lang="es-ES" altLang="es-ES" sz="2000" dirty="0" smtClean="0">
                <a:solidFill>
                  <a:srgbClr val="374151"/>
                </a:solidFill>
                <a:latin typeface="+mj-lt"/>
              </a:rPr>
              <a:t>para </a:t>
            </a:r>
            <a:r>
              <a:rPr lang="es-ES" altLang="es-ES" sz="2000" dirty="0">
                <a:solidFill>
                  <a:srgbClr val="374151"/>
                </a:solidFill>
                <a:latin typeface="+mj-lt"/>
              </a:rPr>
              <a:t>encadenar múltiples pasos de procesamiento y modelado de datos en un flujo único.</a:t>
            </a:r>
          </a:p>
          <a:p>
            <a:pPr lvl="0" eaLnBrk="0" fontAlgn="base" hangingPunct="0">
              <a:spcBef>
                <a:spcPct val="0"/>
              </a:spcBef>
              <a:spcAft>
                <a:spcPct val="0"/>
              </a:spcAft>
            </a:pPr>
            <a:r>
              <a:rPr lang="es-ES" altLang="es-ES" sz="2000" b="1" dirty="0" smtClean="0">
                <a:solidFill>
                  <a:srgbClr val="374151"/>
                </a:solidFill>
                <a:latin typeface="+mj-lt"/>
              </a:rPr>
              <a:t>6. Herramientas </a:t>
            </a:r>
            <a:r>
              <a:rPr lang="es-ES" altLang="es-ES" sz="2000" b="1" dirty="0">
                <a:solidFill>
                  <a:srgbClr val="374151"/>
                </a:solidFill>
                <a:latin typeface="+mj-lt"/>
              </a:rPr>
              <a:t>para Selección de Modelos</a:t>
            </a:r>
            <a:r>
              <a:rPr lang="es-ES" altLang="es-ES" sz="2000" b="1" dirty="0" smtClean="0">
                <a:solidFill>
                  <a:srgbClr val="374151"/>
                </a:solidFill>
                <a:latin typeface="+mj-lt"/>
              </a:rPr>
              <a:t>: </a:t>
            </a:r>
            <a:endParaRPr lang="es-ES" altLang="es-ES" sz="2000" dirty="0">
              <a:latin typeface="+mj-lt"/>
            </a:endParaRPr>
          </a:p>
          <a:p>
            <a:pPr lvl="1" eaLnBrk="0" fontAlgn="base" hangingPunct="0">
              <a:spcBef>
                <a:spcPct val="0"/>
              </a:spcBef>
              <a:spcAft>
                <a:spcPct val="0"/>
              </a:spcAft>
            </a:pPr>
            <a:r>
              <a:rPr lang="es-ES" altLang="es-ES" sz="2000" b="1" dirty="0" err="1">
                <a:solidFill>
                  <a:srgbClr val="374151"/>
                </a:solidFill>
                <a:latin typeface="+mj-lt"/>
              </a:rPr>
              <a:t>GridSearchCV</a:t>
            </a:r>
            <a:r>
              <a:rPr lang="es-ES" altLang="es-ES" sz="2000" b="1" dirty="0">
                <a:solidFill>
                  <a:srgbClr val="374151"/>
                </a:solidFill>
                <a:latin typeface="+mj-lt"/>
              </a:rPr>
              <a:t>, </a:t>
            </a:r>
            <a:r>
              <a:rPr lang="es-ES" altLang="es-ES" sz="2000" b="1" dirty="0" err="1">
                <a:solidFill>
                  <a:srgbClr val="374151"/>
                </a:solidFill>
                <a:latin typeface="+mj-lt"/>
              </a:rPr>
              <a:t>RandomizedSearchCV</a:t>
            </a:r>
            <a:r>
              <a:rPr lang="es-ES" altLang="es-ES" sz="2000" b="1" dirty="0">
                <a:solidFill>
                  <a:srgbClr val="374151"/>
                </a:solidFill>
                <a:latin typeface="+mj-lt"/>
              </a:rPr>
              <a:t>:</a:t>
            </a:r>
            <a:r>
              <a:rPr lang="es-ES" altLang="es-ES" sz="2000" dirty="0">
                <a:solidFill>
                  <a:srgbClr val="374151"/>
                </a:solidFill>
                <a:latin typeface="+mj-lt"/>
              </a:rPr>
              <a:t> Para la búsqueda sistemática de </a:t>
            </a:r>
            <a:r>
              <a:rPr lang="es-ES" altLang="es-ES" sz="2000" dirty="0" err="1">
                <a:solidFill>
                  <a:srgbClr val="374151"/>
                </a:solidFill>
                <a:latin typeface="+mj-lt"/>
              </a:rPr>
              <a:t>hiperparámetros</a:t>
            </a:r>
            <a:r>
              <a:rPr lang="es-ES" altLang="es-ES" sz="2000" dirty="0">
                <a:solidFill>
                  <a:srgbClr val="374151"/>
                </a:solidFill>
                <a:latin typeface="+mj-lt"/>
              </a:rPr>
              <a:t> óptimos</a:t>
            </a:r>
          </a:p>
          <a:p>
            <a:pPr lvl="0" eaLnBrk="0" fontAlgn="base" hangingPunct="0">
              <a:spcBef>
                <a:spcPct val="0"/>
              </a:spcBef>
              <a:spcAft>
                <a:spcPct val="0"/>
              </a:spcAft>
            </a:pPr>
            <a:endParaRPr lang="es-ES" altLang="es-ES" sz="3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s-ES" altLang="es-ES" sz="2000" dirty="0">
              <a:solidFill>
                <a:srgbClr val="374151"/>
              </a:solidFill>
              <a:latin typeface="+mj-lt"/>
            </a:endParaRPr>
          </a:p>
          <a:p>
            <a:pPr marL="0" marR="0" lvl="0" indent="0" algn="l" defTabSz="914400" rtl="0" eaLnBrk="0" fontAlgn="base" latinLnBrk="0" hangingPunct="0">
              <a:lnSpc>
                <a:spcPct val="100000"/>
              </a:lnSpc>
              <a:spcBef>
                <a:spcPct val="0"/>
              </a:spcBef>
              <a:spcAft>
                <a:spcPct val="0"/>
              </a:spcAft>
              <a:buClrTx/>
              <a:buSzTx/>
              <a:tabLst/>
            </a:pPr>
            <a:endParaRPr kumimoji="0" lang="es-ES" altLang="es-ES" sz="2000" b="0" i="0" u="none" strike="noStrike" cap="none" normalizeH="0" baseline="0" dirty="0" smtClean="0">
              <a:ln>
                <a:noFill/>
              </a:ln>
              <a:solidFill>
                <a:srgbClr val="37415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5"/>
          <p:cNvSpPr>
            <a:spLocks noChangeArrowheads="1"/>
          </p:cNvSpPr>
          <p:nvPr/>
        </p:nvSpPr>
        <p:spPr bwMode="auto">
          <a:xfrm>
            <a:off x="0" y="-431144"/>
            <a:ext cx="43282" cy="86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smtClean="0">
                <a:ln>
                  <a:noFill/>
                </a:ln>
                <a:solidFill>
                  <a:srgbClr val="374151"/>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49874613"/>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504371" y="352425"/>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smtClean="0">
                <a:solidFill>
                  <a:srgbClr val="365F91"/>
                </a:solidFill>
              </a:rPr>
              <a:t>Métodos </a:t>
            </a:r>
            <a:r>
              <a:rPr lang="es-ES" b="1" kern="0" spc="-5" dirty="0" err="1" smtClean="0">
                <a:solidFill>
                  <a:srgbClr val="365F91"/>
                </a:solidFill>
              </a:rPr>
              <a:t>scikit-learn</a:t>
            </a:r>
            <a:r>
              <a:rPr lang="es-ES" b="1" kern="0" spc="-5" dirty="0">
                <a:solidFill>
                  <a:srgbClr val="365F91"/>
                </a:solidFill>
              </a:rPr>
              <a:t> </a:t>
            </a:r>
            <a:r>
              <a:rPr lang="es-ES" sz="1400" kern="0" spc="-5" dirty="0">
                <a:solidFill>
                  <a:srgbClr val="365F91"/>
                </a:solidFill>
              </a:rPr>
              <a:t>(https://</a:t>
            </a:r>
            <a:r>
              <a:rPr lang="es-ES" sz="1400" kern="0" spc="-5" dirty="0" smtClean="0">
                <a:solidFill>
                  <a:srgbClr val="365F91"/>
                </a:solidFill>
              </a:rPr>
              <a:t>scikit-learn.org/stable/modules/generated/sklearn.neural_network.MLPClassifier.html)</a:t>
            </a:r>
            <a:endParaRPr lang="es-ES" kern="0" dirty="0"/>
          </a:p>
        </p:txBody>
      </p:sp>
      <p:sp>
        <p:nvSpPr>
          <p:cNvPr id="5" name="Rectángulo 4"/>
          <p:cNvSpPr/>
          <p:nvPr/>
        </p:nvSpPr>
        <p:spPr>
          <a:xfrm>
            <a:off x="469900" y="1190625"/>
            <a:ext cx="9994900" cy="400110"/>
          </a:xfrm>
          <a:prstGeom prst="rect">
            <a:avLst/>
          </a:prstGeom>
        </p:spPr>
        <p:txBody>
          <a:bodyPr wrap="square">
            <a:spAutoFit/>
          </a:bodyPr>
          <a:lstStyle/>
          <a:p>
            <a:pPr marL="342900" indent="-342900">
              <a:buFont typeface="Arial" panose="020B0604020202020204" pitchFamily="34" charset="0"/>
              <a:buChar char="•"/>
            </a:pPr>
            <a:endParaRPr lang="es-ES" sz="2000" dirty="0"/>
          </a:p>
        </p:txBody>
      </p:sp>
      <p:sp>
        <p:nvSpPr>
          <p:cNvPr id="9" name="Rectangle 5"/>
          <p:cNvSpPr>
            <a:spLocks noChangeArrowheads="1"/>
          </p:cNvSpPr>
          <p:nvPr/>
        </p:nvSpPr>
        <p:spPr bwMode="auto">
          <a:xfrm>
            <a:off x="0" y="-431144"/>
            <a:ext cx="43282" cy="86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smtClean="0">
                <a:ln>
                  <a:noFill/>
                </a:ln>
                <a:solidFill>
                  <a:srgbClr val="374151"/>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2" name="Tabla 1"/>
          <p:cNvGraphicFramePr>
            <a:graphicFrameLocks noGrp="1"/>
          </p:cNvGraphicFramePr>
          <p:nvPr>
            <p:extLst>
              <p:ext uri="{D42A27DB-BD31-4B8C-83A1-F6EECF244321}">
                <p14:modId xmlns:p14="http://schemas.microsoft.com/office/powerpoint/2010/main" val="1024879068"/>
              </p:ext>
            </p:extLst>
          </p:nvPr>
        </p:nvGraphicFramePr>
        <p:xfrm>
          <a:off x="504370" y="1495430"/>
          <a:ext cx="9960430" cy="5430650"/>
        </p:xfrm>
        <a:graphic>
          <a:graphicData uri="http://schemas.openxmlformats.org/drawingml/2006/table">
            <a:tbl>
              <a:tblPr/>
              <a:tblGrid>
                <a:gridCol w="4980215"/>
                <a:gridCol w="4980215"/>
              </a:tblGrid>
              <a:tr h="338423">
                <a:tc>
                  <a:txBody>
                    <a:bodyPr/>
                    <a:lstStyle/>
                    <a:p>
                      <a:r>
                        <a:rPr lang="es-ES" sz="2000" b="1" i="0" u="none" strike="noStrike" dirty="0" err="1">
                          <a:solidFill>
                            <a:srgbClr val="FF0000"/>
                          </a:solidFill>
                          <a:effectLst/>
                          <a:latin typeface="+mj-lt"/>
                          <a:hlinkClick r:id="rId2" tooltip="sklearn.neural_network.MLPClassifier.fit"/>
                        </a:rPr>
                        <a:t>fit</a:t>
                      </a:r>
                      <a:r>
                        <a:rPr lang="es-ES" sz="2000" b="1" i="0" dirty="0">
                          <a:solidFill>
                            <a:srgbClr val="FF0000"/>
                          </a:solidFill>
                          <a:effectLst/>
                          <a:latin typeface="+mj-lt"/>
                        </a:rPr>
                        <a:t>(X, y)</a:t>
                      </a: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c>
                  <a:txBody>
                    <a:bodyPr/>
                    <a:lstStyle/>
                    <a:p>
                      <a:r>
                        <a:rPr lang="en-US" sz="2000" dirty="0" err="1" smtClean="0">
                          <a:solidFill>
                            <a:schemeClr val="tx1"/>
                          </a:solidFill>
                          <a:effectLst/>
                          <a:latin typeface="+mj-lt"/>
                        </a:rPr>
                        <a:t>Ajusta</a:t>
                      </a:r>
                      <a:r>
                        <a:rPr lang="en-US" sz="2000" dirty="0" smtClean="0">
                          <a:solidFill>
                            <a:schemeClr val="tx1"/>
                          </a:solidFill>
                          <a:effectLst/>
                          <a:latin typeface="+mj-lt"/>
                        </a:rPr>
                        <a:t> el </a:t>
                      </a:r>
                      <a:r>
                        <a:rPr lang="en-US" sz="2000" dirty="0" err="1" smtClean="0">
                          <a:solidFill>
                            <a:schemeClr val="tx1"/>
                          </a:solidFill>
                          <a:effectLst/>
                          <a:latin typeface="+mj-lt"/>
                        </a:rPr>
                        <a:t>modelo</a:t>
                      </a:r>
                      <a:r>
                        <a:rPr lang="en-US" sz="2000" dirty="0" smtClean="0">
                          <a:solidFill>
                            <a:schemeClr val="tx1"/>
                          </a:solidFill>
                          <a:effectLst/>
                          <a:latin typeface="+mj-lt"/>
                        </a:rPr>
                        <a:t> a la </a:t>
                      </a:r>
                      <a:r>
                        <a:rPr lang="en-US" sz="2000" dirty="0" err="1" smtClean="0">
                          <a:solidFill>
                            <a:schemeClr val="tx1"/>
                          </a:solidFill>
                          <a:effectLst/>
                          <a:latin typeface="+mj-lt"/>
                        </a:rPr>
                        <a:t>matriz</a:t>
                      </a:r>
                      <a:r>
                        <a:rPr lang="en-US" sz="2000" dirty="0" smtClean="0">
                          <a:solidFill>
                            <a:schemeClr val="tx1"/>
                          </a:solidFill>
                          <a:effectLst/>
                          <a:latin typeface="+mj-lt"/>
                        </a:rPr>
                        <a:t> de </a:t>
                      </a:r>
                      <a:r>
                        <a:rPr lang="en-US" sz="2000" dirty="0" err="1" smtClean="0">
                          <a:solidFill>
                            <a:schemeClr val="tx1"/>
                          </a:solidFill>
                          <a:effectLst/>
                          <a:latin typeface="+mj-lt"/>
                        </a:rPr>
                        <a:t>datos</a:t>
                      </a:r>
                      <a:r>
                        <a:rPr lang="en-US" sz="2000" dirty="0" smtClean="0">
                          <a:solidFill>
                            <a:schemeClr val="tx1"/>
                          </a:solidFill>
                          <a:effectLst/>
                          <a:latin typeface="+mj-lt"/>
                        </a:rPr>
                        <a:t> (input)</a:t>
                      </a:r>
                      <a:r>
                        <a:rPr lang="en-US" sz="2000" baseline="0" dirty="0" smtClean="0">
                          <a:solidFill>
                            <a:schemeClr val="tx1"/>
                          </a:solidFill>
                          <a:effectLst/>
                          <a:latin typeface="+mj-lt"/>
                        </a:rPr>
                        <a:t> X, para el (</a:t>
                      </a:r>
                      <a:r>
                        <a:rPr lang="en-US" sz="2000" baseline="0" dirty="0" err="1" smtClean="0">
                          <a:solidFill>
                            <a:schemeClr val="tx1"/>
                          </a:solidFill>
                          <a:effectLst/>
                          <a:latin typeface="+mj-lt"/>
                        </a:rPr>
                        <a:t>los</a:t>
                      </a:r>
                      <a:r>
                        <a:rPr lang="en-US" sz="2000" baseline="0" dirty="0" smtClean="0">
                          <a:solidFill>
                            <a:schemeClr val="tx1"/>
                          </a:solidFill>
                          <a:effectLst/>
                          <a:latin typeface="+mj-lt"/>
                        </a:rPr>
                        <a:t>) </a:t>
                      </a:r>
                      <a:r>
                        <a:rPr lang="en-US" sz="2000" baseline="0" dirty="0" err="1" smtClean="0">
                          <a:solidFill>
                            <a:schemeClr val="tx1"/>
                          </a:solidFill>
                          <a:effectLst/>
                          <a:latin typeface="+mj-lt"/>
                        </a:rPr>
                        <a:t>objetivo</a:t>
                      </a:r>
                      <a:r>
                        <a:rPr lang="en-US" sz="2000" baseline="0" dirty="0" smtClean="0">
                          <a:solidFill>
                            <a:schemeClr val="tx1"/>
                          </a:solidFill>
                          <a:effectLst/>
                          <a:latin typeface="+mj-lt"/>
                        </a:rPr>
                        <a:t>(s) y</a:t>
                      </a:r>
                      <a:endParaRPr lang="en-U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r>
              <a:tr h="338423">
                <a:tc>
                  <a:txBody>
                    <a:bodyPr/>
                    <a:lstStyle/>
                    <a:p>
                      <a:r>
                        <a:rPr lang="es-ES" sz="2000" u="none" strike="noStrike" dirty="0" err="1" smtClean="0">
                          <a:solidFill>
                            <a:schemeClr val="tx1"/>
                          </a:solidFill>
                          <a:effectLst/>
                          <a:latin typeface="+mj-lt"/>
                          <a:hlinkClick r:id="rId3" tooltip="sklearn.neural_network.MLPClassifier.get_metadata_routing"/>
                        </a:rPr>
                        <a:t>get_metadata_routing</a:t>
                      </a:r>
                      <a:r>
                        <a:rPr lang="es-ES" sz="2000" dirty="0" smtClean="0">
                          <a:solidFill>
                            <a:schemeClr val="tx1"/>
                          </a:solidFill>
                          <a:effectLst/>
                          <a:latin typeface="+mj-lt"/>
                        </a:rPr>
                        <a:t>()</a:t>
                      </a:r>
                      <a:endParaRPr lang="es-E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sz="2000" dirty="0" err="1" smtClean="0">
                          <a:solidFill>
                            <a:schemeClr val="tx1"/>
                          </a:solidFill>
                          <a:effectLst/>
                          <a:latin typeface="+mj-lt"/>
                        </a:rPr>
                        <a:t>Obtén</a:t>
                      </a:r>
                      <a:r>
                        <a:rPr lang="en-US" sz="2000" baseline="0" dirty="0" smtClean="0">
                          <a:solidFill>
                            <a:schemeClr val="tx1"/>
                          </a:solidFill>
                          <a:effectLst/>
                          <a:latin typeface="+mj-lt"/>
                        </a:rPr>
                        <a:t> la </a:t>
                      </a:r>
                      <a:r>
                        <a:rPr lang="en-US" sz="2000" baseline="0" dirty="0" err="1" smtClean="0">
                          <a:solidFill>
                            <a:schemeClr val="tx1"/>
                          </a:solidFill>
                          <a:effectLst/>
                          <a:latin typeface="+mj-lt"/>
                        </a:rPr>
                        <a:t>ruta</a:t>
                      </a:r>
                      <a:r>
                        <a:rPr lang="en-US" sz="2000" baseline="0" dirty="0" smtClean="0">
                          <a:solidFill>
                            <a:schemeClr val="tx1"/>
                          </a:solidFill>
                          <a:effectLst/>
                          <a:latin typeface="+mj-lt"/>
                        </a:rPr>
                        <a:t> de </a:t>
                      </a:r>
                      <a:r>
                        <a:rPr lang="en-US" sz="2000" baseline="0" dirty="0" err="1" smtClean="0">
                          <a:solidFill>
                            <a:schemeClr val="tx1"/>
                          </a:solidFill>
                          <a:effectLst/>
                          <a:latin typeface="+mj-lt"/>
                        </a:rPr>
                        <a:t>metadatos</a:t>
                      </a:r>
                      <a:r>
                        <a:rPr lang="en-US" sz="2000" baseline="0" dirty="0" smtClean="0">
                          <a:solidFill>
                            <a:schemeClr val="tx1"/>
                          </a:solidFill>
                          <a:effectLst/>
                          <a:latin typeface="+mj-lt"/>
                        </a:rPr>
                        <a:t> de </a:t>
                      </a:r>
                      <a:r>
                        <a:rPr lang="en-US" sz="2000" baseline="0" dirty="0" err="1" smtClean="0">
                          <a:solidFill>
                            <a:schemeClr val="tx1"/>
                          </a:solidFill>
                          <a:effectLst/>
                          <a:latin typeface="+mj-lt"/>
                        </a:rPr>
                        <a:t>este</a:t>
                      </a:r>
                      <a:r>
                        <a:rPr lang="en-US" sz="2000" baseline="0" dirty="0" smtClean="0">
                          <a:solidFill>
                            <a:schemeClr val="tx1"/>
                          </a:solidFill>
                          <a:effectLst/>
                          <a:latin typeface="+mj-lt"/>
                        </a:rPr>
                        <a:t> </a:t>
                      </a:r>
                      <a:r>
                        <a:rPr lang="en-US" sz="2000" baseline="0" dirty="0" err="1" smtClean="0">
                          <a:solidFill>
                            <a:schemeClr val="tx1"/>
                          </a:solidFill>
                          <a:effectLst/>
                          <a:latin typeface="+mj-lt"/>
                        </a:rPr>
                        <a:t>objeto</a:t>
                      </a:r>
                      <a:r>
                        <a:rPr lang="en-US" sz="2000" dirty="0" smtClean="0">
                          <a:solidFill>
                            <a:schemeClr val="tx1"/>
                          </a:solidFill>
                          <a:effectLst/>
                          <a:latin typeface="+mj-lt"/>
                        </a:rPr>
                        <a:t>.</a:t>
                      </a:r>
                      <a:endParaRPr lang="en-U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38423">
                <a:tc>
                  <a:txBody>
                    <a:bodyPr/>
                    <a:lstStyle/>
                    <a:p>
                      <a:pPr marL="0"/>
                      <a:r>
                        <a:rPr lang="es-ES" sz="2000" b="1" i="0" u="none" strike="noStrike" dirty="0" err="1">
                          <a:solidFill>
                            <a:srgbClr val="FF0000"/>
                          </a:solidFill>
                          <a:effectLst/>
                          <a:latin typeface="+mj-lt"/>
                          <a:ea typeface="+mn-ea"/>
                          <a:cs typeface="+mn-cs"/>
                          <a:hlinkClick r:id="rId4" tooltip="sklearn.neural_network.MLPClassifier.get_params"/>
                        </a:rPr>
                        <a:t>get_params</a:t>
                      </a:r>
                      <a:r>
                        <a:rPr lang="es-ES" sz="2000" b="1" i="0" u="none" strike="noStrike" dirty="0">
                          <a:solidFill>
                            <a:srgbClr val="FF0000"/>
                          </a:solidFill>
                          <a:effectLst/>
                          <a:latin typeface="+mj-lt"/>
                          <a:ea typeface="+mn-ea"/>
                          <a:cs typeface="+mn-cs"/>
                        </a:rPr>
                        <a:t>([</a:t>
                      </a:r>
                      <a:r>
                        <a:rPr lang="es-ES" sz="2000" b="1" i="0" u="none" strike="noStrike" dirty="0" err="1">
                          <a:solidFill>
                            <a:srgbClr val="FF0000"/>
                          </a:solidFill>
                          <a:effectLst/>
                          <a:latin typeface="+mj-lt"/>
                          <a:ea typeface="+mn-ea"/>
                          <a:cs typeface="+mn-cs"/>
                        </a:rPr>
                        <a:t>deep</a:t>
                      </a:r>
                      <a:r>
                        <a:rPr lang="es-ES" sz="2000" b="1" i="0" u="none" strike="noStrike" dirty="0">
                          <a:solidFill>
                            <a:srgbClr val="FF0000"/>
                          </a:solidFill>
                          <a:effectLst/>
                          <a:latin typeface="+mj-lt"/>
                          <a:ea typeface="+mn-ea"/>
                          <a:cs typeface="+mn-cs"/>
                        </a:rPr>
                        <a:t>])</a:t>
                      </a: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c>
                  <a:txBody>
                    <a:bodyPr/>
                    <a:lstStyle/>
                    <a:p>
                      <a:r>
                        <a:rPr lang="en-US" sz="2000" dirty="0" err="1" smtClean="0">
                          <a:solidFill>
                            <a:schemeClr val="tx1"/>
                          </a:solidFill>
                          <a:effectLst/>
                          <a:latin typeface="+mj-lt"/>
                        </a:rPr>
                        <a:t>Obtén</a:t>
                      </a:r>
                      <a:r>
                        <a:rPr lang="en-US" sz="2000" dirty="0" smtClean="0">
                          <a:solidFill>
                            <a:schemeClr val="tx1"/>
                          </a:solidFill>
                          <a:effectLst/>
                          <a:latin typeface="+mj-lt"/>
                        </a:rPr>
                        <a:t> </a:t>
                      </a:r>
                      <a:r>
                        <a:rPr lang="en-US" sz="2000" dirty="0" err="1" smtClean="0">
                          <a:solidFill>
                            <a:schemeClr val="tx1"/>
                          </a:solidFill>
                          <a:effectLst/>
                          <a:latin typeface="+mj-lt"/>
                        </a:rPr>
                        <a:t>los</a:t>
                      </a:r>
                      <a:r>
                        <a:rPr lang="en-US" sz="2000" dirty="0" smtClean="0">
                          <a:solidFill>
                            <a:schemeClr val="tx1"/>
                          </a:solidFill>
                          <a:effectLst/>
                          <a:latin typeface="+mj-lt"/>
                        </a:rPr>
                        <a:t> </a:t>
                      </a:r>
                      <a:r>
                        <a:rPr lang="en-US" sz="2000" dirty="0" err="1" smtClean="0">
                          <a:solidFill>
                            <a:schemeClr val="tx1"/>
                          </a:solidFill>
                          <a:effectLst/>
                          <a:latin typeface="+mj-lt"/>
                        </a:rPr>
                        <a:t>parámetros</a:t>
                      </a:r>
                      <a:r>
                        <a:rPr lang="en-US" sz="2000" dirty="0" smtClean="0">
                          <a:solidFill>
                            <a:schemeClr val="tx1"/>
                          </a:solidFill>
                          <a:effectLst/>
                          <a:latin typeface="+mj-lt"/>
                        </a:rPr>
                        <a:t> de </a:t>
                      </a:r>
                      <a:r>
                        <a:rPr lang="en-US" sz="2000" dirty="0" err="1" smtClean="0">
                          <a:solidFill>
                            <a:schemeClr val="tx1"/>
                          </a:solidFill>
                          <a:effectLst/>
                          <a:latin typeface="+mj-lt"/>
                        </a:rPr>
                        <a:t>este</a:t>
                      </a:r>
                      <a:r>
                        <a:rPr lang="en-US" sz="2000" baseline="0" dirty="0" smtClean="0">
                          <a:solidFill>
                            <a:schemeClr val="tx1"/>
                          </a:solidFill>
                          <a:effectLst/>
                          <a:latin typeface="+mj-lt"/>
                        </a:rPr>
                        <a:t> </a:t>
                      </a:r>
                      <a:r>
                        <a:rPr lang="en-US" sz="2000" baseline="0" dirty="0" err="1" smtClean="0">
                          <a:solidFill>
                            <a:schemeClr val="tx1"/>
                          </a:solidFill>
                          <a:effectLst/>
                          <a:latin typeface="+mj-lt"/>
                        </a:rPr>
                        <a:t>estimador</a:t>
                      </a:r>
                      <a:endParaRPr lang="en-U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r>
              <a:tr h="592804">
                <a:tc>
                  <a:txBody>
                    <a:bodyPr/>
                    <a:lstStyle/>
                    <a:p>
                      <a:r>
                        <a:rPr lang="es-ES" sz="2000" u="none" strike="noStrike">
                          <a:solidFill>
                            <a:schemeClr val="tx1"/>
                          </a:solidFill>
                          <a:effectLst/>
                          <a:latin typeface="+mj-lt"/>
                          <a:hlinkClick r:id="rId5" tooltip="sklearn.neural_network.MLPClassifier.partial_fit"/>
                        </a:rPr>
                        <a:t>partial_fit</a:t>
                      </a:r>
                      <a:r>
                        <a:rPr lang="es-ES" sz="2000">
                          <a:solidFill>
                            <a:schemeClr val="tx1"/>
                          </a:solidFill>
                          <a:effectLst/>
                          <a:latin typeface="+mj-lt"/>
                        </a:rPr>
                        <a:t>(X, y[, classes])</a:t>
                      </a: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sz="2000" dirty="0" err="1" smtClean="0">
                          <a:solidFill>
                            <a:schemeClr val="tx1"/>
                          </a:solidFill>
                          <a:effectLst/>
                          <a:latin typeface="+mj-lt"/>
                        </a:rPr>
                        <a:t>Actualiza</a:t>
                      </a:r>
                      <a:r>
                        <a:rPr lang="en-US" sz="2000" dirty="0" smtClean="0">
                          <a:solidFill>
                            <a:schemeClr val="tx1"/>
                          </a:solidFill>
                          <a:effectLst/>
                          <a:latin typeface="+mj-lt"/>
                        </a:rPr>
                        <a:t> el </a:t>
                      </a:r>
                      <a:r>
                        <a:rPr lang="en-US" sz="2000" dirty="0" err="1" smtClean="0">
                          <a:solidFill>
                            <a:schemeClr val="tx1"/>
                          </a:solidFill>
                          <a:effectLst/>
                          <a:latin typeface="+mj-lt"/>
                        </a:rPr>
                        <a:t>modelo</a:t>
                      </a:r>
                      <a:r>
                        <a:rPr lang="en-US" sz="2000" dirty="0" smtClean="0">
                          <a:solidFill>
                            <a:schemeClr val="tx1"/>
                          </a:solidFill>
                          <a:effectLst/>
                          <a:latin typeface="+mj-lt"/>
                        </a:rPr>
                        <a:t> con </a:t>
                      </a:r>
                      <a:r>
                        <a:rPr lang="en-US" sz="2000" dirty="0" err="1" smtClean="0">
                          <a:solidFill>
                            <a:schemeClr val="tx1"/>
                          </a:solidFill>
                          <a:effectLst/>
                          <a:latin typeface="+mj-lt"/>
                        </a:rPr>
                        <a:t>una</a:t>
                      </a:r>
                      <a:r>
                        <a:rPr lang="en-US" sz="2000" dirty="0" smtClean="0">
                          <a:solidFill>
                            <a:schemeClr val="tx1"/>
                          </a:solidFill>
                          <a:effectLst/>
                          <a:latin typeface="+mj-lt"/>
                        </a:rPr>
                        <a:t> sola </a:t>
                      </a:r>
                      <a:r>
                        <a:rPr lang="en-US" sz="2000" dirty="0" err="1" smtClean="0">
                          <a:solidFill>
                            <a:schemeClr val="tx1"/>
                          </a:solidFill>
                          <a:effectLst/>
                          <a:latin typeface="+mj-lt"/>
                        </a:rPr>
                        <a:t>iteración</a:t>
                      </a:r>
                      <a:r>
                        <a:rPr lang="en-US" sz="2000" baseline="0" dirty="0" smtClean="0">
                          <a:solidFill>
                            <a:schemeClr val="tx1"/>
                          </a:solidFill>
                          <a:effectLst/>
                          <a:latin typeface="+mj-lt"/>
                        </a:rPr>
                        <a:t> </a:t>
                      </a:r>
                      <a:r>
                        <a:rPr lang="en-US" sz="2000" baseline="0" dirty="0" err="1" smtClean="0">
                          <a:solidFill>
                            <a:schemeClr val="tx1"/>
                          </a:solidFill>
                          <a:effectLst/>
                          <a:latin typeface="+mj-lt"/>
                        </a:rPr>
                        <a:t>sobre</a:t>
                      </a:r>
                      <a:r>
                        <a:rPr lang="en-US" sz="2000" baseline="0" dirty="0" smtClean="0">
                          <a:solidFill>
                            <a:schemeClr val="tx1"/>
                          </a:solidFill>
                          <a:effectLst/>
                          <a:latin typeface="+mj-lt"/>
                        </a:rPr>
                        <a:t> </a:t>
                      </a:r>
                      <a:r>
                        <a:rPr lang="en-US" sz="2000" baseline="0" dirty="0" err="1" smtClean="0">
                          <a:solidFill>
                            <a:schemeClr val="tx1"/>
                          </a:solidFill>
                          <a:effectLst/>
                          <a:latin typeface="+mj-lt"/>
                        </a:rPr>
                        <a:t>los</a:t>
                      </a:r>
                      <a:r>
                        <a:rPr lang="en-US" sz="2000" baseline="0" dirty="0" smtClean="0">
                          <a:solidFill>
                            <a:schemeClr val="tx1"/>
                          </a:solidFill>
                          <a:effectLst/>
                          <a:latin typeface="+mj-lt"/>
                        </a:rPr>
                        <a:t> </a:t>
                      </a:r>
                      <a:r>
                        <a:rPr lang="en-US" sz="2000" baseline="0" dirty="0" err="1" smtClean="0">
                          <a:solidFill>
                            <a:schemeClr val="tx1"/>
                          </a:solidFill>
                          <a:effectLst/>
                          <a:latin typeface="+mj-lt"/>
                        </a:rPr>
                        <a:t>datos</a:t>
                      </a:r>
                      <a:r>
                        <a:rPr lang="en-US" sz="2000" baseline="0" dirty="0" smtClean="0">
                          <a:solidFill>
                            <a:schemeClr val="tx1"/>
                          </a:solidFill>
                          <a:effectLst/>
                          <a:latin typeface="+mj-lt"/>
                        </a:rPr>
                        <a:t> </a:t>
                      </a:r>
                      <a:r>
                        <a:rPr lang="en-US" sz="2000" baseline="0" dirty="0" err="1" smtClean="0">
                          <a:solidFill>
                            <a:schemeClr val="tx1"/>
                          </a:solidFill>
                          <a:effectLst/>
                          <a:latin typeface="+mj-lt"/>
                        </a:rPr>
                        <a:t>daos</a:t>
                      </a:r>
                      <a:endParaRPr lang="en-U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592804">
                <a:tc>
                  <a:txBody>
                    <a:bodyPr/>
                    <a:lstStyle/>
                    <a:p>
                      <a:pPr marL="0"/>
                      <a:r>
                        <a:rPr lang="es-ES" sz="2000" b="1" i="0" u="none" strike="noStrike" dirty="0" err="1">
                          <a:solidFill>
                            <a:srgbClr val="FF0000"/>
                          </a:solidFill>
                          <a:effectLst/>
                          <a:latin typeface="+mj-lt"/>
                          <a:ea typeface="+mn-ea"/>
                          <a:cs typeface="+mn-cs"/>
                          <a:hlinkClick r:id="rId6" tooltip="sklearn.neural_network.MLPClassifier.predict"/>
                        </a:rPr>
                        <a:t>predict</a:t>
                      </a:r>
                      <a:r>
                        <a:rPr lang="es-ES" sz="2000" b="1" i="0" u="none" strike="noStrike" dirty="0">
                          <a:solidFill>
                            <a:srgbClr val="FF0000"/>
                          </a:solidFill>
                          <a:effectLst/>
                          <a:latin typeface="+mj-lt"/>
                          <a:ea typeface="+mn-ea"/>
                          <a:cs typeface="+mn-cs"/>
                        </a:rPr>
                        <a:t>(X)</a:t>
                      </a: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c>
                  <a:txBody>
                    <a:bodyPr/>
                    <a:lstStyle/>
                    <a:p>
                      <a:r>
                        <a:rPr lang="en-US" sz="2000" dirty="0" err="1" smtClean="0">
                          <a:solidFill>
                            <a:schemeClr val="tx1"/>
                          </a:solidFill>
                          <a:effectLst/>
                          <a:latin typeface="+mj-lt"/>
                        </a:rPr>
                        <a:t>Predice</a:t>
                      </a:r>
                      <a:r>
                        <a:rPr lang="en-US" sz="2000" dirty="0" smtClean="0">
                          <a:solidFill>
                            <a:schemeClr val="tx1"/>
                          </a:solidFill>
                          <a:effectLst/>
                          <a:latin typeface="+mj-lt"/>
                        </a:rPr>
                        <a:t> </a:t>
                      </a:r>
                      <a:r>
                        <a:rPr lang="en-US" sz="2000" dirty="0" err="1" smtClean="0">
                          <a:solidFill>
                            <a:schemeClr val="tx1"/>
                          </a:solidFill>
                          <a:effectLst/>
                          <a:latin typeface="+mj-lt"/>
                        </a:rPr>
                        <a:t>utilizando</a:t>
                      </a:r>
                      <a:r>
                        <a:rPr lang="en-US" sz="2000" dirty="0" smtClean="0">
                          <a:solidFill>
                            <a:schemeClr val="tx1"/>
                          </a:solidFill>
                          <a:effectLst/>
                          <a:latin typeface="+mj-lt"/>
                        </a:rPr>
                        <a:t> el </a:t>
                      </a:r>
                      <a:r>
                        <a:rPr lang="en-US" sz="2000" dirty="0" err="1" smtClean="0">
                          <a:solidFill>
                            <a:schemeClr val="tx1"/>
                          </a:solidFill>
                          <a:effectLst/>
                          <a:latin typeface="+mj-lt"/>
                        </a:rPr>
                        <a:t>clasificador</a:t>
                      </a:r>
                      <a:r>
                        <a:rPr lang="en-US" sz="2000" dirty="0" smtClean="0">
                          <a:solidFill>
                            <a:schemeClr val="tx1"/>
                          </a:solidFill>
                          <a:effectLst/>
                          <a:latin typeface="+mj-lt"/>
                        </a:rPr>
                        <a:t> MLP</a:t>
                      </a:r>
                      <a:r>
                        <a:rPr lang="en-US" sz="2000" baseline="0" dirty="0" smtClean="0">
                          <a:solidFill>
                            <a:schemeClr val="tx1"/>
                          </a:solidFill>
                          <a:effectLst/>
                          <a:latin typeface="+mj-lt"/>
                        </a:rPr>
                        <a:t> </a:t>
                      </a:r>
                      <a:r>
                        <a:rPr lang="en-US" sz="2000" baseline="0" dirty="0" err="1" smtClean="0">
                          <a:solidFill>
                            <a:schemeClr val="tx1"/>
                          </a:solidFill>
                          <a:effectLst/>
                          <a:latin typeface="+mj-lt"/>
                        </a:rPr>
                        <a:t>entrenado</a:t>
                      </a:r>
                      <a:r>
                        <a:rPr lang="en-US" sz="2000" baseline="0" dirty="0" smtClean="0">
                          <a:solidFill>
                            <a:schemeClr val="tx1"/>
                          </a:solidFill>
                          <a:effectLst/>
                          <a:latin typeface="+mj-lt"/>
                        </a:rPr>
                        <a:t> con X</a:t>
                      </a:r>
                      <a:r>
                        <a:rPr lang="en-US" sz="2000" dirty="0" smtClean="0">
                          <a:solidFill>
                            <a:schemeClr val="tx1"/>
                          </a:solidFill>
                          <a:effectLst/>
                          <a:latin typeface="+mj-lt"/>
                        </a:rPr>
                        <a:t>.</a:t>
                      </a:r>
                      <a:endParaRPr lang="en-U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r>
              <a:tr h="338423">
                <a:tc>
                  <a:txBody>
                    <a:bodyPr/>
                    <a:lstStyle/>
                    <a:p>
                      <a:r>
                        <a:rPr lang="es-ES" sz="2000" u="none" strike="noStrike" dirty="0" err="1">
                          <a:solidFill>
                            <a:schemeClr val="tx1"/>
                          </a:solidFill>
                          <a:effectLst/>
                          <a:latin typeface="+mj-lt"/>
                          <a:hlinkClick r:id="rId7" tooltip="sklearn.neural_network.MLPClassifier.predict_log_proba"/>
                        </a:rPr>
                        <a:t>predict_log_proba</a:t>
                      </a:r>
                      <a:r>
                        <a:rPr lang="es-ES" sz="2000" dirty="0">
                          <a:solidFill>
                            <a:schemeClr val="tx1"/>
                          </a:solidFill>
                          <a:effectLst/>
                          <a:latin typeface="+mj-lt"/>
                        </a:rPr>
                        <a:t>(X)</a:t>
                      </a: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sz="2000" dirty="0" err="1" smtClean="0">
                          <a:solidFill>
                            <a:schemeClr val="tx1"/>
                          </a:solidFill>
                          <a:effectLst/>
                          <a:latin typeface="+mj-lt"/>
                        </a:rPr>
                        <a:t>Logaritmo</a:t>
                      </a:r>
                      <a:r>
                        <a:rPr lang="en-US" sz="2000" dirty="0" smtClean="0">
                          <a:solidFill>
                            <a:schemeClr val="tx1"/>
                          </a:solidFill>
                          <a:effectLst/>
                          <a:latin typeface="+mj-lt"/>
                        </a:rPr>
                        <a:t> de</a:t>
                      </a:r>
                      <a:r>
                        <a:rPr lang="en-US" sz="2000" baseline="0" dirty="0" smtClean="0">
                          <a:solidFill>
                            <a:schemeClr val="tx1"/>
                          </a:solidFill>
                          <a:effectLst/>
                          <a:latin typeface="+mj-lt"/>
                        </a:rPr>
                        <a:t> las </a:t>
                      </a:r>
                      <a:r>
                        <a:rPr lang="en-US" sz="2000" baseline="0" dirty="0" err="1" smtClean="0">
                          <a:solidFill>
                            <a:schemeClr val="tx1"/>
                          </a:solidFill>
                          <a:effectLst/>
                          <a:latin typeface="+mj-lt"/>
                        </a:rPr>
                        <a:t>estimaciones</a:t>
                      </a:r>
                      <a:r>
                        <a:rPr lang="en-US" sz="2000" baseline="0" dirty="0" smtClean="0">
                          <a:solidFill>
                            <a:schemeClr val="tx1"/>
                          </a:solidFill>
                          <a:effectLst/>
                          <a:latin typeface="+mj-lt"/>
                        </a:rPr>
                        <a:t> de </a:t>
                      </a:r>
                      <a:r>
                        <a:rPr lang="en-US" sz="2000" baseline="0" dirty="0" err="1" smtClean="0">
                          <a:solidFill>
                            <a:schemeClr val="tx1"/>
                          </a:solidFill>
                          <a:effectLst/>
                          <a:latin typeface="+mj-lt"/>
                        </a:rPr>
                        <a:t>probabilidad</a:t>
                      </a:r>
                      <a:endParaRPr lang="en-U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38423">
                <a:tc>
                  <a:txBody>
                    <a:bodyPr/>
                    <a:lstStyle/>
                    <a:p>
                      <a:pPr marL="0"/>
                      <a:r>
                        <a:rPr lang="es-ES" sz="2000" b="1" i="0" u="none" strike="noStrike" dirty="0" err="1">
                          <a:solidFill>
                            <a:srgbClr val="FF0000"/>
                          </a:solidFill>
                          <a:effectLst/>
                          <a:latin typeface="+mj-lt"/>
                          <a:ea typeface="+mn-ea"/>
                          <a:cs typeface="+mn-cs"/>
                          <a:hlinkClick r:id="rId8" tooltip="sklearn.neural_network.MLPClassifier.predict_proba"/>
                        </a:rPr>
                        <a:t>predict_proba</a:t>
                      </a:r>
                      <a:r>
                        <a:rPr lang="es-ES" sz="2000" b="1" i="0" u="none" strike="noStrike" dirty="0">
                          <a:solidFill>
                            <a:srgbClr val="FF0000"/>
                          </a:solidFill>
                          <a:effectLst/>
                          <a:latin typeface="+mj-lt"/>
                          <a:ea typeface="+mn-ea"/>
                          <a:cs typeface="+mn-cs"/>
                        </a:rPr>
                        <a:t>(X)</a:t>
                      </a: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c>
                  <a:txBody>
                    <a:bodyPr/>
                    <a:lstStyle/>
                    <a:p>
                      <a:r>
                        <a:rPr lang="es-ES" sz="2000" dirty="0" smtClean="0">
                          <a:solidFill>
                            <a:schemeClr val="tx1"/>
                          </a:solidFill>
                          <a:effectLst/>
                          <a:latin typeface="+mj-lt"/>
                        </a:rPr>
                        <a:t>Probabilidades estimadas</a:t>
                      </a:r>
                      <a:endParaRPr lang="es-E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r>
              <a:tr h="592804">
                <a:tc>
                  <a:txBody>
                    <a:bodyPr/>
                    <a:lstStyle/>
                    <a:p>
                      <a:r>
                        <a:rPr lang="es-ES" sz="2000" u="none" strike="noStrike">
                          <a:solidFill>
                            <a:schemeClr val="tx1"/>
                          </a:solidFill>
                          <a:effectLst/>
                          <a:latin typeface="+mj-lt"/>
                          <a:hlinkClick r:id="rId9" tooltip="sklearn.neural_network.MLPClassifier.score"/>
                        </a:rPr>
                        <a:t>score</a:t>
                      </a:r>
                      <a:r>
                        <a:rPr lang="es-ES" sz="2000">
                          <a:solidFill>
                            <a:schemeClr val="tx1"/>
                          </a:solidFill>
                          <a:effectLst/>
                          <a:latin typeface="+mj-lt"/>
                        </a:rPr>
                        <a:t>(X, y[, sample_weight])</a:t>
                      </a: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sz="2000" dirty="0" err="1" smtClean="0">
                          <a:solidFill>
                            <a:schemeClr val="tx1"/>
                          </a:solidFill>
                          <a:effectLst/>
                          <a:latin typeface="+mj-lt"/>
                        </a:rPr>
                        <a:t>Precisión</a:t>
                      </a:r>
                      <a:r>
                        <a:rPr lang="en-US" sz="2000" baseline="0" dirty="0" smtClean="0">
                          <a:solidFill>
                            <a:schemeClr val="tx1"/>
                          </a:solidFill>
                          <a:effectLst/>
                          <a:latin typeface="+mj-lt"/>
                        </a:rPr>
                        <a:t> media </a:t>
                      </a:r>
                      <a:r>
                        <a:rPr lang="en-US" sz="2000" baseline="0" dirty="0" err="1" smtClean="0">
                          <a:solidFill>
                            <a:schemeClr val="tx1"/>
                          </a:solidFill>
                          <a:effectLst/>
                          <a:latin typeface="+mj-lt"/>
                        </a:rPr>
                        <a:t>en</a:t>
                      </a:r>
                      <a:r>
                        <a:rPr lang="en-US" sz="2000" baseline="0" dirty="0" smtClean="0">
                          <a:solidFill>
                            <a:schemeClr val="tx1"/>
                          </a:solidFill>
                          <a:effectLst/>
                          <a:latin typeface="+mj-lt"/>
                        </a:rPr>
                        <a:t> </a:t>
                      </a:r>
                      <a:r>
                        <a:rPr lang="en-US" sz="2000" baseline="0" dirty="0" err="1" smtClean="0">
                          <a:solidFill>
                            <a:schemeClr val="tx1"/>
                          </a:solidFill>
                          <a:effectLst/>
                          <a:latin typeface="+mj-lt"/>
                        </a:rPr>
                        <a:t>los</a:t>
                      </a:r>
                      <a:r>
                        <a:rPr lang="en-US" sz="2000" baseline="0" dirty="0" smtClean="0">
                          <a:solidFill>
                            <a:schemeClr val="tx1"/>
                          </a:solidFill>
                          <a:effectLst/>
                          <a:latin typeface="+mj-lt"/>
                        </a:rPr>
                        <a:t> </a:t>
                      </a:r>
                      <a:r>
                        <a:rPr lang="en-US" sz="2000" baseline="0" dirty="0" err="1" smtClean="0">
                          <a:solidFill>
                            <a:schemeClr val="tx1"/>
                          </a:solidFill>
                          <a:effectLst/>
                          <a:latin typeface="+mj-lt"/>
                        </a:rPr>
                        <a:t>datos</a:t>
                      </a:r>
                      <a:r>
                        <a:rPr lang="en-US" sz="2000" baseline="0" dirty="0" smtClean="0">
                          <a:solidFill>
                            <a:schemeClr val="tx1"/>
                          </a:solidFill>
                          <a:effectLst/>
                          <a:latin typeface="+mj-lt"/>
                        </a:rPr>
                        <a:t> de </a:t>
                      </a:r>
                      <a:r>
                        <a:rPr lang="en-US" sz="2000" baseline="0" dirty="0" err="1" smtClean="0">
                          <a:solidFill>
                            <a:schemeClr val="tx1"/>
                          </a:solidFill>
                          <a:effectLst/>
                          <a:latin typeface="+mj-lt"/>
                        </a:rPr>
                        <a:t>prueba</a:t>
                      </a:r>
                      <a:r>
                        <a:rPr lang="en-US" sz="2000" baseline="0" dirty="0" smtClean="0">
                          <a:solidFill>
                            <a:schemeClr val="tx1"/>
                          </a:solidFill>
                          <a:effectLst/>
                          <a:latin typeface="+mj-lt"/>
                        </a:rPr>
                        <a:t> y las </a:t>
                      </a:r>
                      <a:r>
                        <a:rPr lang="en-US" sz="2000" baseline="0" dirty="0" err="1" smtClean="0">
                          <a:solidFill>
                            <a:schemeClr val="tx1"/>
                          </a:solidFill>
                          <a:effectLst/>
                          <a:latin typeface="+mj-lt"/>
                        </a:rPr>
                        <a:t>etiquetas</a:t>
                      </a:r>
                      <a:r>
                        <a:rPr lang="en-US" sz="2000" baseline="0" dirty="0" smtClean="0">
                          <a:solidFill>
                            <a:schemeClr val="tx1"/>
                          </a:solidFill>
                          <a:effectLst/>
                          <a:latin typeface="+mj-lt"/>
                        </a:rPr>
                        <a:t> </a:t>
                      </a:r>
                      <a:r>
                        <a:rPr lang="en-US" sz="2000" baseline="0" dirty="0" err="1" smtClean="0">
                          <a:solidFill>
                            <a:schemeClr val="tx1"/>
                          </a:solidFill>
                          <a:effectLst/>
                          <a:latin typeface="+mj-lt"/>
                        </a:rPr>
                        <a:t>prorpocionadas</a:t>
                      </a:r>
                      <a:endParaRPr lang="en-U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38423">
                <a:tc>
                  <a:txBody>
                    <a:bodyPr/>
                    <a:lstStyle/>
                    <a:p>
                      <a:pPr marL="0"/>
                      <a:r>
                        <a:rPr lang="es-ES" sz="2000" b="1" i="0" u="none" strike="noStrike" dirty="0" err="1">
                          <a:solidFill>
                            <a:srgbClr val="FF0000"/>
                          </a:solidFill>
                          <a:effectLst/>
                          <a:latin typeface="+mj-lt"/>
                          <a:ea typeface="+mn-ea"/>
                          <a:cs typeface="+mn-cs"/>
                          <a:hlinkClick r:id="rId10" tooltip="sklearn.neural_network.MLPClassifier.set_params"/>
                        </a:rPr>
                        <a:t>set_params</a:t>
                      </a:r>
                      <a:r>
                        <a:rPr lang="es-ES" sz="2000" b="1" i="0" u="none" strike="noStrike" dirty="0">
                          <a:solidFill>
                            <a:srgbClr val="FF0000"/>
                          </a:solidFill>
                          <a:effectLst/>
                          <a:latin typeface="+mj-lt"/>
                          <a:ea typeface="+mn-ea"/>
                          <a:cs typeface="+mn-cs"/>
                        </a:rPr>
                        <a:t>(**</a:t>
                      </a:r>
                      <a:r>
                        <a:rPr lang="es-ES" sz="2000" b="1" i="0" u="none" strike="noStrike" dirty="0" err="1">
                          <a:solidFill>
                            <a:srgbClr val="FF0000"/>
                          </a:solidFill>
                          <a:effectLst/>
                          <a:latin typeface="+mj-lt"/>
                          <a:ea typeface="+mn-ea"/>
                          <a:cs typeface="+mn-cs"/>
                        </a:rPr>
                        <a:t>params</a:t>
                      </a:r>
                      <a:r>
                        <a:rPr lang="es-ES" sz="2000" b="1" i="0" u="none" strike="noStrike" dirty="0">
                          <a:solidFill>
                            <a:srgbClr val="FF0000"/>
                          </a:solidFill>
                          <a:effectLst/>
                          <a:latin typeface="+mj-lt"/>
                          <a:ea typeface="+mn-ea"/>
                          <a:cs typeface="+mn-cs"/>
                        </a:rPr>
                        <a:t>)</a:t>
                      </a: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c>
                  <a:txBody>
                    <a:bodyPr/>
                    <a:lstStyle/>
                    <a:p>
                      <a:r>
                        <a:rPr lang="en-US" sz="2000" dirty="0" err="1" smtClean="0">
                          <a:solidFill>
                            <a:schemeClr val="tx1"/>
                          </a:solidFill>
                          <a:effectLst/>
                          <a:latin typeface="+mj-lt"/>
                        </a:rPr>
                        <a:t>Establecer</a:t>
                      </a:r>
                      <a:r>
                        <a:rPr lang="en-US" sz="2000" dirty="0" smtClean="0">
                          <a:solidFill>
                            <a:schemeClr val="tx1"/>
                          </a:solidFill>
                          <a:effectLst/>
                          <a:latin typeface="+mj-lt"/>
                        </a:rPr>
                        <a:t> </a:t>
                      </a:r>
                      <a:r>
                        <a:rPr lang="en-US" sz="2000" dirty="0" err="1" smtClean="0">
                          <a:solidFill>
                            <a:schemeClr val="tx1"/>
                          </a:solidFill>
                          <a:effectLst/>
                          <a:latin typeface="+mj-lt"/>
                        </a:rPr>
                        <a:t>los</a:t>
                      </a:r>
                      <a:r>
                        <a:rPr lang="en-US" sz="2000" dirty="0" smtClean="0">
                          <a:solidFill>
                            <a:schemeClr val="tx1"/>
                          </a:solidFill>
                          <a:effectLst/>
                          <a:latin typeface="+mj-lt"/>
                        </a:rPr>
                        <a:t> </a:t>
                      </a:r>
                      <a:r>
                        <a:rPr lang="en-US" sz="2000" dirty="0" err="1" smtClean="0">
                          <a:solidFill>
                            <a:schemeClr val="tx1"/>
                          </a:solidFill>
                          <a:effectLst/>
                          <a:latin typeface="+mj-lt"/>
                        </a:rPr>
                        <a:t>parámetro</a:t>
                      </a:r>
                      <a:r>
                        <a:rPr lang="en-US" sz="2000" baseline="0" dirty="0" err="1" smtClean="0">
                          <a:solidFill>
                            <a:schemeClr val="tx1"/>
                          </a:solidFill>
                          <a:effectLst/>
                          <a:latin typeface="+mj-lt"/>
                        </a:rPr>
                        <a:t>s</a:t>
                      </a:r>
                      <a:r>
                        <a:rPr lang="en-US" sz="2000" baseline="0" dirty="0" smtClean="0">
                          <a:solidFill>
                            <a:schemeClr val="tx1"/>
                          </a:solidFill>
                          <a:effectLst/>
                          <a:latin typeface="+mj-lt"/>
                        </a:rPr>
                        <a:t> de un </a:t>
                      </a:r>
                      <a:r>
                        <a:rPr lang="en-US" sz="2000" baseline="0" dirty="0" err="1" smtClean="0">
                          <a:solidFill>
                            <a:schemeClr val="tx1"/>
                          </a:solidFill>
                          <a:effectLst/>
                          <a:latin typeface="+mj-lt"/>
                        </a:rPr>
                        <a:t>estimador</a:t>
                      </a:r>
                      <a:endParaRPr lang="en-U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r>
              <a:tr h="592804">
                <a:tc>
                  <a:txBody>
                    <a:bodyPr/>
                    <a:lstStyle/>
                    <a:p>
                      <a:r>
                        <a:rPr lang="es-ES" sz="2000" u="none" strike="noStrike">
                          <a:solidFill>
                            <a:schemeClr val="tx1"/>
                          </a:solidFill>
                          <a:effectLst/>
                          <a:latin typeface="+mj-lt"/>
                          <a:hlinkClick r:id="rId11" tooltip="sklearn.neural_network.MLPClassifier.set_partial_fit_request"/>
                        </a:rPr>
                        <a:t>set_partial_fit_request</a:t>
                      </a:r>
                      <a:r>
                        <a:rPr lang="es-ES" sz="2000">
                          <a:solidFill>
                            <a:schemeClr val="tx1"/>
                          </a:solidFill>
                          <a:effectLst/>
                          <a:latin typeface="+mj-lt"/>
                        </a:rPr>
                        <a:t>(*[, classes])</a:t>
                      </a: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sz="2000" dirty="0" err="1" smtClean="0">
                          <a:solidFill>
                            <a:schemeClr val="tx1"/>
                          </a:solidFill>
                          <a:effectLst/>
                          <a:latin typeface="+mj-lt"/>
                        </a:rPr>
                        <a:t>Obtener</a:t>
                      </a:r>
                      <a:r>
                        <a:rPr lang="en-US" sz="2000" baseline="0" dirty="0" smtClean="0">
                          <a:solidFill>
                            <a:schemeClr val="tx1"/>
                          </a:solidFill>
                          <a:effectLst/>
                          <a:latin typeface="+mj-lt"/>
                        </a:rPr>
                        <a:t> </a:t>
                      </a:r>
                      <a:r>
                        <a:rPr lang="en-US" sz="2000" baseline="0" dirty="0" err="1" smtClean="0">
                          <a:solidFill>
                            <a:schemeClr val="tx1"/>
                          </a:solidFill>
                          <a:effectLst/>
                          <a:latin typeface="+mj-lt"/>
                        </a:rPr>
                        <a:t>los</a:t>
                      </a:r>
                      <a:r>
                        <a:rPr lang="en-US" sz="2000" baseline="0" dirty="0" smtClean="0">
                          <a:solidFill>
                            <a:schemeClr val="tx1"/>
                          </a:solidFill>
                          <a:effectLst/>
                          <a:latin typeface="+mj-lt"/>
                        </a:rPr>
                        <a:t> </a:t>
                      </a:r>
                      <a:r>
                        <a:rPr lang="en-US" sz="2000" baseline="0" dirty="0" err="1" smtClean="0">
                          <a:solidFill>
                            <a:schemeClr val="tx1"/>
                          </a:solidFill>
                          <a:effectLst/>
                          <a:latin typeface="+mj-lt"/>
                        </a:rPr>
                        <a:t>parámetros</a:t>
                      </a:r>
                      <a:r>
                        <a:rPr lang="en-US" sz="2000" baseline="0" dirty="0" smtClean="0">
                          <a:solidFill>
                            <a:schemeClr val="tx1"/>
                          </a:solidFill>
                          <a:effectLst/>
                          <a:latin typeface="+mj-lt"/>
                        </a:rPr>
                        <a:t> </a:t>
                      </a:r>
                      <a:r>
                        <a:rPr lang="en-US" sz="2000" baseline="0" dirty="0" err="1" smtClean="0">
                          <a:solidFill>
                            <a:schemeClr val="tx1"/>
                          </a:solidFill>
                          <a:effectLst/>
                          <a:latin typeface="+mj-lt"/>
                        </a:rPr>
                        <a:t>proporcionados</a:t>
                      </a:r>
                      <a:r>
                        <a:rPr lang="en-US" sz="2000" baseline="0" dirty="0" smtClean="0">
                          <a:solidFill>
                            <a:schemeClr val="tx1"/>
                          </a:solidFill>
                          <a:effectLst/>
                          <a:latin typeface="+mj-lt"/>
                        </a:rPr>
                        <a:t> al </a:t>
                      </a:r>
                      <a:r>
                        <a:rPr lang="en-US" sz="2000" baseline="0" dirty="0" err="1" smtClean="0">
                          <a:solidFill>
                            <a:schemeClr val="tx1"/>
                          </a:solidFill>
                          <a:effectLst/>
                          <a:latin typeface="+mj-lt"/>
                        </a:rPr>
                        <a:t>método</a:t>
                      </a:r>
                      <a:r>
                        <a:rPr lang="en-US" sz="2000" baseline="0" dirty="0" smtClean="0">
                          <a:solidFill>
                            <a:schemeClr val="tx1"/>
                          </a:solidFill>
                          <a:effectLst/>
                          <a:latin typeface="+mj-lt"/>
                        </a:rPr>
                        <a:t> </a:t>
                      </a:r>
                      <a:r>
                        <a:rPr lang="en-US" sz="2000" baseline="0" dirty="0" err="1" smtClean="0">
                          <a:solidFill>
                            <a:schemeClr val="tx1"/>
                          </a:solidFill>
                          <a:effectLst/>
                          <a:latin typeface="+mj-lt"/>
                        </a:rPr>
                        <a:t>parcial_fit</a:t>
                      </a:r>
                      <a:endParaRPr lang="en-U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38423">
                <a:tc>
                  <a:txBody>
                    <a:bodyPr/>
                    <a:lstStyle/>
                    <a:p>
                      <a:r>
                        <a:rPr lang="es-ES" sz="2000" u="none" strike="noStrike" dirty="0" err="1">
                          <a:solidFill>
                            <a:schemeClr val="tx1"/>
                          </a:solidFill>
                          <a:effectLst/>
                          <a:latin typeface="+mj-lt"/>
                          <a:hlinkClick r:id="rId12" tooltip="sklearn.neural_network.MLPClassifier.set_score_request"/>
                        </a:rPr>
                        <a:t>set_score_request</a:t>
                      </a:r>
                      <a:r>
                        <a:rPr lang="es-ES" sz="2000" dirty="0">
                          <a:solidFill>
                            <a:schemeClr val="tx1"/>
                          </a:solidFill>
                          <a:effectLst/>
                          <a:latin typeface="+mj-lt"/>
                        </a:rPr>
                        <a:t>(*[, </a:t>
                      </a:r>
                      <a:r>
                        <a:rPr lang="es-ES" sz="2000" dirty="0" err="1">
                          <a:solidFill>
                            <a:schemeClr val="tx1"/>
                          </a:solidFill>
                          <a:effectLst/>
                          <a:latin typeface="+mj-lt"/>
                        </a:rPr>
                        <a:t>sample_weight</a:t>
                      </a:r>
                      <a:r>
                        <a:rPr lang="es-ES" sz="2000" dirty="0">
                          <a:solidFill>
                            <a:schemeClr val="tx1"/>
                          </a:solidFill>
                          <a:effectLst/>
                          <a:latin typeface="+mj-lt"/>
                        </a:rPr>
                        <a:t>])</a:t>
                      </a: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c>
                  <a:txBody>
                    <a:bodyPr/>
                    <a:lstStyle/>
                    <a:p>
                      <a:r>
                        <a:rPr lang="en-US" sz="2000" dirty="0" err="1" smtClean="0">
                          <a:solidFill>
                            <a:schemeClr val="tx1"/>
                          </a:solidFill>
                          <a:effectLst/>
                          <a:latin typeface="+mj-lt"/>
                        </a:rPr>
                        <a:t>Obtener</a:t>
                      </a:r>
                      <a:r>
                        <a:rPr lang="en-US" sz="2000" dirty="0" smtClean="0">
                          <a:solidFill>
                            <a:schemeClr val="tx1"/>
                          </a:solidFill>
                          <a:effectLst/>
                          <a:latin typeface="+mj-lt"/>
                        </a:rPr>
                        <a:t> </a:t>
                      </a:r>
                      <a:r>
                        <a:rPr lang="en-US" sz="2000" dirty="0" err="1" smtClean="0">
                          <a:solidFill>
                            <a:schemeClr val="tx1"/>
                          </a:solidFill>
                          <a:effectLst/>
                          <a:latin typeface="+mj-lt"/>
                        </a:rPr>
                        <a:t>metadatos</a:t>
                      </a:r>
                      <a:r>
                        <a:rPr lang="en-US" sz="2000" baseline="0" dirty="0" smtClean="0">
                          <a:solidFill>
                            <a:schemeClr val="tx1"/>
                          </a:solidFill>
                          <a:effectLst/>
                          <a:latin typeface="+mj-lt"/>
                        </a:rPr>
                        <a:t> </a:t>
                      </a:r>
                      <a:r>
                        <a:rPr lang="en-US" sz="2000" baseline="0" dirty="0" err="1" smtClean="0">
                          <a:solidFill>
                            <a:schemeClr val="tx1"/>
                          </a:solidFill>
                          <a:effectLst/>
                          <a:latin typeface="+mj-lt"/>
                        </a:rPr>
                        <a:t>pasados</a:t>
                      </a:r>
                      <a:r>
                        <a:rPr lang="en-US" sz="2000" baseline="0" dirty="0" smtClean="0">
                          <a:solidFill>
                            <a:schemeClr val="tx1"/>
                          </a:solidFill>
                          <a:effectLst/>
                          <a:latin typeface="+mj-lt"/>
                        </a:rPr>
                        <a:t> al </a:t>
                      </a:r>
                      <a:r>
                        <a:rPr lang="en-US" sz="2000" baseline="0" dirty="0" err="1" smtClean="0">
                          <a:solidFill>
                            <a:schemeClr val="tx1"/>
                          </a:solidFill>
                          <a:effectLst/>
                          <a:latin typeface="+mj-lt"/>
                        </a:rPr>
                        <a:t>método</a:t>
                      </a:r>
                      <a:r>
                        <a:rPr lang="en-US" sz="2000" baseline="0" dirty="0" smtClean="0">
                          <a:solidFill>
                            <a:schemeClr val="tx1"/>
                          </a:solidFill>
                          <a:effectLst/>
                          <a:latin typeface="+mj-lt"/>
                        </a:rPr>
                        <a:t> score</a:t>
                      </a:r>
                      <a:endParaRPr lang="en-US" sz="2000" dirty="0">
                        <a:solidFill>
                          <a:schemeClr val="tx1"/>
                        </a:solidFill>
                        <a:effectLst/>
                        <a:latin typeface="+mj-lt"/>
                      </a:endParaRPr>
                    </a:p>
                  </a:txBody>
                  <a:tcPr marL="50351" marR="50351" marT="25175" marB="2517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A"/>
                    </a:solidFill>
                  </a:tcPr>
                </a:tc>
              </a:tr>
            </a:tbl>
          </a:graphicData>
        </a:graphic>
      </p:graphicFrame>
    </p:spTree>
    <p:extLst>
      <p:ext uri="{BB962C8B-B14F-4D97-AF65-F5344CB8AC3E}">
        <p14:creationId xmlns:p14="http://schemas.microsoft.com/office/powerpoint/2010/main" val="2492810439"/>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504371" y="352425"/>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err="1" smtClean="0">
                <a:solidFill>
                  <a:srgbClr val="365F91"/>
                </a:solidFill>
              </a:rPr>
              <a:t>MLPClassifier</a:t>
            </a:r>
            <a:r>
              <a:rPr lang="es-ES" b="1" kern="0" spc="-5" dirty="0" smtClean="0">
                <a:solidFill>
                  <a:srgbClr val="365F91"/>
                </a:solidFill>
              </a:rPr>
              <a:t>	</a:t>
            </a:r>
            <a:endParaRPr lang="es-ES" kern="0" dirty="0"/>
          </a:p>
        </p:txBody>
      </p:sp>
      <p:sp>
        <p:nvSpPr>
          <p:cNvPr id="5" name="Rectángulo 4"/>
          <p:cNvSpPr/>
          <p:nvPr/>
        </p:nvSpPr>
        <p:spPr>
          <a:xfrm>
            <a:off x="698500" y="1114425"/>
            <a:ext cx="9994900" cy="400110"/>
          </a:xfrm>
          <a:prstGeom prst="rect">
            <a:avLst/>
          </a:prstGeom>
        </p:spPr>
        <p:txBody>
          <a:bodyPr wrap="square">
            <a:spAutoFit/>
          </a:bodyPr>
          <a:lstStyle/>
          <a:p>
            <a:pPr marL="342900" indent="-342900">
              <a:buFont typeface="Arial" panose="020B0604020202020204" pitchFamily="34" charset="0"/>
              <a:buChar char="•"/>
            </a:pPr>
            <a:endParaRPr lang="es-ES" sz="2000" dirty="0"/>
          </a:p>
        </p:txBody>
      </p:sp>
      <p:sp>
        <p:nvSpPr>
          <p:cNvPr id="6" name="Rectangle 2"/>
          <p:cNvSpPr>
            <a:spLocks noChangeArrowheads="1"/>
          </p:cNvSpPr>
          <p:nvPr/>
        </p:nvSpPr>
        <p:spPr bwMode="auto">
          <a:xfrm>
            <a:off x="698500" y="1492878"/>
            <a:ext cx="92202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s-ES" altLang="es-ES" sz="2000" dirty="0" err="1">
                <a:latin typeface="+mj-lt"/>
              </a:rPr>
              <a:t>MLPClassifier</a:t>
            </a:r>
            <a:r>
              <a:rPr lang="es-ES" altLang="es-ES" sz="2000" dirty="0">
                <a:latin typeface="+mj-lt"/>
              </a:rPr>
              <a:t> se entrena </a:t>
            </a:r>
            <a:r>
              <a:rPr lang="es-ES" altLang="es-ES" sz="2000" b="1" dirty="0" smtClean="0">
                <a:latin typeface="+mj-lt"/>
              </a:rPr>
              <a:t>iterativamente</a:t>
            </a:r>
            <a:r>
              <a:rPr lang="es-ES" altLang="es-ES" sz="2000" dirty="0" smtClean="0">
                <a:latin typeface="+mj-lt"/>
              </a:rPr>
              <a:t>, </a:t>
            </a:r>
            <a:r>
              <a:rPr lang="es-ES" altLang="es-ES" sz="2000" dirty="0">
                <a:latin typeface="+mj-lt"/>
              </a:rPr>
              <a:t>ya que en cada paso de tiempo se calculan las derivadas parciales de la función de pérdida con respecto a los parámetros del modelo para actualizarlos.</a:t>
            </a:r>
          </a:p>
          <a:p>
            <a:pPr lvl="0" algn="just" eaLnBrk="0" fontAlgn="base" hangingPunct="0">
              <a:spcBef>
                <a:spcPct val="0"/>
              </a:spcBef>
              <a:spcAft>
                <a:spcPct val="0"/>
              </a:spcAft>
            </a:pPr>
            <a:endParaRPr lang="es-ES" altLang="es-ES" sz="2000" dirty="0">
              <a:latin typeface="+mj-lt"/>
            </a:endParaRPr>
          </a:p>
          <a:p>
            <a:pPr lvl="0" algn="just" eaLnBrk="0" fontAlgn="base" hangingPunct="0">
              <a:spcBef>
                <a:spcPct val="0"/>
              </a:spcBef>
              <a:spcAft>
                <a:spcPct val="0"/>
              </a:spcAft>
            </a:pPr>
            <a:r>
              <a:rPr lang="es-ES" altLang="es-ES" sz="2000" dirty="0" smtClean="0">
                <a:latin typeface="+mj-lt"/>
              </a:rPr>
              <a:t>Puede incluir </a:t>
            </a:r>
            <a:r>
              <a:rPr lang="es-ES" altLang="es-ES" sz="2000" dirty="0">
                <a:latin typeface="+mj-lt"/>
              </a:rPr>
              <a:t>un </a:t>
            </a:r>
            <a:r>
              <a:rPr lang="es-ES" altLang="es-ES" sz="2000" b="1" dirty="0">
                <a:latin typeface="+mj-lt"/>
              </a:rPr>
              <a:t>término de regularización</a:t>
            </a:r>
            <a:r>
              <a:rPr lang="es-ES" altLang="es-ES" sz="2000" dirty="0">
                <a:latin typeface="+mj-lt"/>
              </a:rPr>
              <a:t> agregado a la función de pérdida que contrae los parámetros del modelo para </a:t>
            </a:r>
            <a:r>
              <a:rPr lang="es-ES" altLang="es-ES" sz="2000" b="1" dirty="0">
                <a:latin typeface="+mj-lt"/>
              </a:rPr>
              <a:t>evitar el sobreajuste</a:t>
            </a:r>
            <a:r>
              <a:rPr lang="es-ES" altLang="es-ES" sz="2000" dirty="0">
                <a:latin typeface="+mj-lt"/>
              </a:rPr>
              <a:t>.</a:t>
            </a:r>
          </a:p>
          <a:p>
            <a:pPr lvl="0" algn="just" eaLnBrk="0" fontAlgn="base" hangingPunct="0">
              <a:spcBef>
                <a:spcPct val="0"/>
              </a:spcBef>
              <a:spcAft>
                <a:spcPct val="0"/>
              </a:spcAft>
            </a:pPr>
            <a:endParaRPr lang="es-ES" altLang="es-ES" sz="2000" dirty="0">
              <a:latin typeface="+mj-lt"/>
            </a:endParaRPr>
          </a:p>
          <a:p>
            <a:pPr lvl="0" algn="just" eaLnBrk="0" fontAlgn="base" hangingPunct="0">
              <a:spcBef>
                <a:spcPct val="0"/>
              </a:spcBef>
              <a:spcAft>
                <a:spcPct val="0"/>
              </a:spcAft>
            </a:pPr>
            <a:r>
              <a:rPr lang="es-ES" altLang="es-ES" sz="2000" dirty="0">
                <a:latin typeface="+mj-lt"/>
              </a:rPr>
              <a:t>Esta implementación funciona con datos representados como matrices densas de </a:t>
            </a:r>
            <a:r>
              <a:rPr lang="es-ES" altLang="es-ES" sz="2000" dirty="0" err="1">
                <a:latin typeface="+mj-lt"/>
              </a:rPr>
              <a:t>numpy</a:t>
            </a:r>
            <a:r>
              <a:rPr lang="es-ES" altLang="es-ES" sz="2000" dirty="0">
                <a:latin typeface="+mj-lt"/>
              </a:rPr>
              <a:t> o matrices dispersas de </a:t>
            </a:r>
            <a:r>
              <a:rPr lang="es-ES" altLang="es-ES" sz="2000" dirty="0" err="1">
                <a:latin typeface="+mj-lt"/>
              </a:rPr>
              <a:t>scipy</a:t>
            </a:r>
            <a:r>
              <a:rPr lang="es-ES" altLang="es-ES" sz="2000" dirty="0">
                <a:latin typeface="+mj-lt"/>
              </a:rPr>
              <a:t> de valores de punto flotante.</a:t>
            </a:r>
          </a:p>
          <a:p>
            <a:pPr marL="0" marR="0" lvl="0" indent="0" algn="l" defTabSz="914400" rtl="0" eaLnBrk="0" fontAlgn="base" latinLnBrk="0" hangingPunct="0">
              <a:lnSpc>
                <a:spcPct val="100000"/>
              </a:lnSpc>
              <a:spcBef>
                <a:spcPct val="0"/>
              </a:spcBef>
              <a:spcAft>
                <a:spcPct val="0"/>
              </a:spcAft>
              <a:buClrTx/>
              <a:buSzTx/>
              <a:tabLst/>
            </a:pPr>
            <a:endParaRPr lang="es-ES" altLang="es-ES" sz="2000" dirty="0">
              <a:solidFill>
                <a:srgbClr val="374151"/>
              </a:solidFill>
              <a:latin typeface="+mj-lt"/>
            </a:endParaRPr>
          </a:p>
          <a:p>
            <a:pPr marL="0" marR="0" lvl="0" indent="0" algn="l" defTabSz="914400" rtl="0" eaLnBrk="0" fontAlgn="base" latinLnBrk="0" hangingPunct="0">
              <a:lnSpc>
                <a:spcPct val="100000"/>
              </a:lnSpc>
              <a:spcBef>
                <a:spcPct val="0"/>
              </a:spcBef>
              <a:spcAft>
                <a:spcPct val="0"/>
              </a:spcAft>
              <a:buClrTx/>
              <a:buSzTx/>
              <a:tabLst/>
            </a:pPr>
            <a:endParaRPr kumimoji="0" lang="es-ES" altLang="es-ES" sz="2000" b="0" i="0" u="none" strike="noStrike" cap="none" normalizeH="0" baseline="0" dirty="0" smtClean="0">
              <a:ln>
                <a:noFill/>
              </a:ln>
              <a:solidFill>
                <a:srgbClr val="37415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5"/>
          <p:cNvSpPr>
            <a:spLocks noChangeArrowheads="1"/>
          </p:cNvSpPr>
          <p:nvPr/>
        </p:nvSpPr>
        <p:spPr bwMode="auto">
          <a:xfrm>
            <a:off x="0" y="-431144"/>
            <a:ext cx="43282" cy="86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smtClean="0">
                <a:ln>
                  <a:noFill/>
                </a:ln>
                <a:solidFill>
                  <a:srgbClr val="374151"/>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3610233"/>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504371" y="352425"/>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err="1" smtClean="0">
                <a:solidFill>
                  <a:srgbClr val="365F91"/>
                </a:solidFill>
              </a:rPr>
              <a:t>MLPClassifier</a:t>
            </a:r>
            <a:r>
              <a:rPr lang="es-ES" b="1" kern="0" spc="-5" dirty="0" smtClean="0">
                <a:solidFill>
                  <a:srgbClr val="365F91"/>
                </a:solidFill>
              </a:rPr>
              <a:t>: algunos parámetros importantes	</a:t>
            </a:r>
            <a:endParaRPr lang="es-ES" kern="0" dirty="0"/>
          </a:p>
        </p:txBody>
      </p:sp>
      <p:sp>
        <p:nvSpPr>
          <p:cNvPr id="5" name="Rectángulo 4"/>
          <p:cNvSpPr/>
          <p:nvPr/>
        </p:nvSpPr>
        <p:spPr>
          <a:xfrm>
            <a:off x="698500" y="1114425"/>
            <a:ext cx="9994900" cy="400110"/>
          </a:xfrm>
          <a:prstGeom prst="rect">
            <a:avLst/>
          </a:prstGeom>
        </p:spPr>
        <p:txBody>
          <a:bodyPr wrap="square">
            <a:spAutoFit/>
          </a:bodyPr>
          <a:lstStyle/>
          <a:p>
            <a:pPr marL="342900" indent="-342900">
              <a:buFont typeface="Arial" panose="020B0604020202020204" pitchFamily="34" charset="0"/>
              <a:buChar char="•"/>
            </a:pPr>
            <a:endParaRPr lang="es-ES" sz="2000" dirty="0"/>
          </a:p>
        </p:txBody>
      </p:sp>
      <p:sp>
        <p:nvSpPr>
          <p:cNvPr id="6" name="Rectangle 2"/>
          <p:cNvSpPr>
            <a:spLocks noChangeArrowheads="1"/>
          </p:cNvSpPr>
          <p:nvPr/>
        </p:nvSpPr>
        <p:spPr bwMode="auto">
          <a:xfrm>
            <a:off x="43282" y="885825"/>
            <a:ext cx="9701857"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ES" altLang="es-ES" b="1" dirty="0" err="1" smtClean="0">
                <a:solidFill>
                  <a:srgbClr val="374151"/>
                </a:solidFill>
                <a:latin typeface="+mj-lt"/>
              </a:rPr>
              <a:t>hidden_layer_sizes</a:t>
            </a:r>
            <a:r>
              <a:rPr lang="es-ES" altLang="es-ES" dirty="0" smtClean="0">
                <a:solidFill>
                  <a:srgbClr val="374151"/>
                </a:solidFill>
                <a:latin typeface="+mj-lt"/>
              </a:rPr>
              <a:t>: </a:t>
            </a:r>
            <a:r>
              <a:rPr lang="es-ES" altLang="es-ES" dirty="0" err="1" smtClean="0">
                <a:solidFill>
                  <a:srgbClr val="374151"/>
                </a:solidFill>
                <a:latin typeface="+mj-lt"/>
              </a:rPr>
              <a:t>array</a:t>
            </a:r>
            <a:r>
              <a:rPr lang="es-ES" altLang="es-ES" dirty="0">
                <a:solidFill>
                  <a:srgbClr val="374151"/>
                </a:solidFill>
                <a:latin typeface="+mj-lt"/>
              </a:rPr>
              <a:t> </a:t>
            </a:r>
            <a:r>
              <a:rPr lang="es-ES" altLang="es-ES" dirty="0" smtClean="0">
                <a:solidFill>
                  <a:srgbClr val="374151"/>
                </a:solidFill>
                <a:latin typeface="+mj-lt"/>
              </a:rPr>
              <a:t>de tamaño </a:t>
            </a:r>
            <a:r>
              <a:rPr lang="es-ES" altLang="es-ES" i="1" dirty="0" smtClean="0">
                <a:solidFill>
                  <a:srgbClr val="374151"/>
                </a:solidFill>
                <a:latin typeface="+mj-lt"/>
              </a:rPr>
              <a:t>número de capas ocultas, </a:t>
            </a:r>
            <a:r>
              <a:rPr lang="es-ES" altLang="es-ES" dirty="0" smtClean="0">
                <a:solidFill>
                  <a:srgbClr val="374151"/>
                </a:solidFill>
                <a:latin typeface="+mj-lt"/>
              </a:rPr>
              <a:t>que en la posición </a:t>
            </a:r>
            <a:r>
              <a:rPr lang="es-ES" altLang="es-ES" i="1" dirty="0" smtClean="0">
                <a:solidFill>
                  <a:srgbClr val="374151"/>
                </a:solidFill>
                <a:latin typeface="+mj-lt"/>
              </a:rPr>
              <a:t>i </a:t>
            </a:r>
            <a:r>
              <a:rPr lang="es-ES" altLang="es-ES" dirty="0" smtClean="0">
                <a:solidFill>
                  <a:srgbClr val="374151"/>
                </a:solidFill>
                <a:latin typeface="+mj-lt"/>
              </a:rPr>
              <a:t> contiene un entero que se corresponde con el número de neuronas de la capa </a:t>
            </a:r>
            <a:r>
              <a:rPr lang="es-ES" altLang="es-ES" i="1" dirty="0" smtClean="0">
                <a:solidFill>
                  <a:srgbClr val="374151"/>
                </a:solidFill>
                <a:latin typeface="+mj-lt"/>
              </a:rPr>
              <a:t>i. </a:t>
            </a:r>
            <a:r>
              <a:rPr lang="es-ES" altLang="es-ES" dirty="0" smtClean="0">
                <a:solidFill>
                  <a:srgbClr val="374151"/>
                </a:solidFill>
                <a:latin typeface="+mj-lt"/>
              </a:rPr>
              <a:t> </a:t>
            </a:r>
            <a:r>
              <a:rPr lang="es-ES" altLang="es-ES" i="1" dirty="0" smtClean="0">
                <a:solidFill>
                  <a:srgbClr val="374151"/>
                </a:solidFill>
                <a:latin typeface="+mj-lt"/>
              </a:rPr>
              <a:t>Por defecto: (100,)</a:t>
            </a:r>
            <a:r>
              <a:rPr lang="es-ES" altLang="es-ES" dirty="0" smtClean="0">
                <a:solidFill>
                  <a:srgbClr val="374151"/>
                </a:solidFill>
                <a:latin typeface="+mj-lt"/>
              </a:rPr>
              <a:t> una capa oculta con 100 neuronas; (10, 15,) dos capas ocultas con 10 y 15 neuronas, respectivamente</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ES" altLang="es-ES" b="1" dirty="0" err="1">
                <a:solidFill>
                  <a:srgbClr val="374151"/>
                </a:solidFill>
                <a:latin typeface="+mj-lt"/>
              </a:rPr>
              <a:t>a</a:t>
            </a:r>
            <a:r>
              <a:rPr lang="es-ES" altLang="es-ES" b="1" dirty="0" err="1" smtClean="0">
                <a:solidFill>
                  <a:srgbClr val="374151"/>
                </a:solidFill>
                <a:latin typeface="+mj-lt"/>
              </a:rPr>
              <a:t>ctivation</a:t>
            </a:r>
            <a:r>
              <a:rPr lang="es-ES" altLang="es-ES" b="1" dirty="0" smtClean="0">
                <a:solidFill>
                  <a:srgbClr val="374151"/>
                </a:solidFill>
                <a:latin typeface="+mj-lt"/>
              </a:rPr>
              <a:t>:</a:t>
            </a:r>
            <a:r>
              <a:rPr lang="es-ES" altLang="es-ES" dirty="0" smtClean="0">
                <a:solidFill>
                  <a:srgbClr val="374151"/>
                </a:solidFill>
                <a:latin typeface="+mj-lt"/>
              </a:rPr>
              <a:t> función de activación, puede tomar los valores ‘</a:t>
            </a:r>
            <a:r>
              <a:rPr lang="es-ES" altLang="es-ES" i="1" dirty="0" err="1" smtClean="0">
                <a:solidFill>
                  <a:srgbClr val="374151"/>
                </a:solidFill>
                <a:latin typeface="+mj-lt"/>
              </a:rPr>
              <a:t>identity</a:t>
            </a:r>
            <a:r>
              <a:rPr lang="es-ES" altLang="es-ES" i="1" dirty="0" smtClean="0">
                <a:solidFill>
                  <a:srgbClr val="374151"/>
                </a:solidFill>
                <a:latin typeface="+mj-lt"/>
              </a:rPr>
              <a:t>’, ‘</a:t>
            </a:r>
            <a:r>
              <a:rPr lang="es-ES" altLang="es-ES" i="1" dirty="0" err="1" smtClean="0">
                <a:solidFill>
                  <a:srgbClr val="374151"/>
                </a:solidFill>
                <a:latin typeface="+mj-lt"/>
              </a:rPr>
              <a:t>logistic</a:t>
            </a:r>
            <a:r>
              <a:rPr lang="es-ES" altLang="es-ES" i="1" dirty="0" smtClean="0">
                <a:solidFill>
                  <a:srgbClr val="374151"/>
                </a:solidFill>
                <a:latin typeface="+mj-lt"/>
              </a:rPr>
              <a:t>’, ‘</a:t>
            </a:r>
            <a:r>
              <a:rPr lang="es-ES" altLang="es-ES" i="1" dirty="0" err="1" smtClean="0">
                <a:solidFill>
                  <a:srgbClr val="374151"/>
                </a:solidFill>
                <a:latin typeface="+mj-lt"/>
              </a:rPr>
              <a:t>tanh</a:t>
            </a:r>
            <a:r>
              <a:rPr lang="es-ES" altLang="es-ES" i="1" dirty="0" smtClean="0">
                <a:solidFill>
                  <a:srgbClr val="374151"/>
                </a:solidFill>
                <a:latin typeface="+mj-lt"/>
              </a:rPr>
              <a:t>’, ‘</a:t>
            </a:r>
            <a:r>
              <a:rPr lang="es-ES" altLang="es-ES" i="1" dirty="0" err="1" smtClean="0">
                <a:solidFill>
                  <a:srgbClr val="374151"/>
                </a:solidFill>
                <a:latin typeface="+mj-lt"/>
              </a:rPr>
              <a:t>relu</a:t>
            </a:r>
            <a:r>
              <a:rPr lang="es-ES" altLang="es-ES" i="1" dirty="0" smtClean="0">
                <a:solidFill>
                  <a:srgbClr val="374151"/>
                </a:solidFill>
                <a:latin typeface="+mj-lt"/>
              </a:rPr>
              <a:t>’. Por defecto: ‘</a:t>
            </a:r>
            <a:r>
              <a:rPr lang="es-ES" altLang="es-ES" i="1" dirty="0" err="1" smtClean="0">
                <a:solidFill>
                  <a:srgbClr val="374151"/>
                </a:solidFill>
                <a:latin typeface="+mj-lt"/>
              </a:rPr>
              <a:t>relu</a:t>
            </a:r>
            <a:r>
              <a:rPr lang="es-ES" altLang="es-ES" i="1" dirty="0" smtClean="0">
                <a:solidFill>
                  <a:srgbClr val="374151"/>
                </a:solidFill>
                <a:latin typeface="+mj-lt"/>
              </a:rPr>
              <a:t>’</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ES" altLang="es-ES" b="1" dirty="0" err="1">
                <a:solidFill>
                  <a:srgbClr val="374151"/>
                </a:solidFill>
                <a:latin typeface="+mj-lt"/>
              </a:rPr>
              <a:t>r</a:t>
            </a:r>
            <a:r>
              <a:rPr lang="es-ES" altLang="es-ES" b="1" dirty="0" err="1" smtClean="0">
                <a:solidFill>
                  <a:srgbClr val="374151"/>
                </a:solidFill>
                <a:latin typeface="+mj-lt"/>
              </a:rPr>
              <a:t>andom_state</a:t>
            </a:r>
            <a:r>
              <a:rPr lang="es-ES" altLang="es-ES" b="1" dirty="0" smtClean="0">
                <a:solidFill>
                  <a:srgbClr val="374151"/>
                </a:solidFill>
                <a:latin typeface="+mj-lt"/>
              </a:rPr>
              <a:t>: </a:t>
            </a:r>
            <a:r>
              <a:rPr lang="es-ES" altLang="es-ES" dirty="0" smtClean="0">
                <a:solidFill>
                  <a:srgbClr val="374151"/>
                </a:solidFill>
                <a:latin typeface="+mj-lt"/>
              </a:rPr>
              <a:t>número aleatorio considerado (</a:t>
            </a:r>
            <a:r>
              <a:rPr lang="es-ES" altLang="es-ES" u="sng" dirty="0" smtClean="0">
                <a:solidFill>
                  <a:srgbClr val="374151"/>
                </a:solidFill>
                <a:latin typeface="+mj-lt"/>
              </a:rPr>
              <a:t>se recomienda fijarlo al inicio)</a:t>
            </a:r>
            <a:r>
              <a:rPr lang="es-ES" altLang="es-ES" dirty="0" smtClean="0">
                <a:solidFill>
                  <a:srgbClr val="374151"/>
                </a:solidFill>
                <a:latin typeface="+mj-lt"/>
              </a:rPr>
              <a:t>, afecta a la división </a:t>
            </a:r>
            <a:r>
              <a:rPr lang="es-ES" altLang="es-ES" i="1" dirty="0" err="1" smtClean="0">
                <a:solidFill>
                  <a:srgbClr val="374151"/>
                </a:solidFill>
                <a:latin typeface="+mj-lt"/>
              </a:rPr>
              <a:t>train</a:t>
            </a:r>
            <a:r>
              <a:rPr lang="es-ES" altLang="es-ES" i="1" dirty="0" smtClean="0">
                <a:solidFill>
                  <a:srgbClr val="374151"/>
                </a:solidFill>
                <a:latin typeface="+mj-lt"/>
              </a:rPr>
              <a:t>/test, </a:t>
            </a:r>
            <a:r>
              <a:rPr lang="es-ES" altLang="es-ES" dirty="0" smtClean="0">
                <a:solidFill>
                  <a:srgbClr val="374151"/>
                </a:solidFill>
                <a:latin typeface="+mj-lt"/>
              </a:rPr>
              <a:t>a la asignación inicial de pesos aleatorios y sesgos, etc. </a:t>
            </a:r>
          </a:p>
          <a:p>
            <a:pPr marL="342900" lvl="0" indent="-342900" algn="just" eaLnBrk="0" fontAlgn="base" hangingPunct="0">
              <a:spcBef>
                <a:spcPct val="0"/>
              </a:spcBef>
              <a:spcAft>
                <a:spcPct val="0"/>
              </a:spcAft>
              <a:buFont typeface="Arial" panose="020B0604020202020204" pitchFamily="34" charset="0"/>
              <a:buChar char="•"/>
            </a:pPr>
            <a:r>
              <a:rPr lang="es-ES" altLang="es-ES" b="1" dirty="0" err="1" smtClean="0">
                <a:solidFill>
                  <a:srgbClr val="374151"/>
                </a:solidFill>
                <a:latin typeface="+mj-lt"/>
              </a:rPr>
              <a:t>solver</a:t>
            </a:r>
            <a:r>
              <a:rPr lang="es-ES" altLang="es-ES" b="1" dirty="0" smtClean="0">
                <a:solidFill>
                  <a:srgbClr val="374151"/>
                </a:solidFill>
                <a:latin typeface="+mj-lt"/>
              </a:rPr>
              <a:t>: </a:t>
            </a:r>
            <a:r>
              <a:rPr lang="es-ES" altLang="es-ES" dirty="0" smtClean="0">
                <a:solidFill>
                  <a:srgbClr val="374151"/>
                </a:solidFill>
                <a:latin typeface="+mj-lt"/>
              </a:rPr>
              <a:t>motor del algoritmo de optimización de pesos (</a:t>
            </a:r>
            <a:r>
              <a:rPr lang="es-ES" altLang="es-ES" i="1" dirty="0" smtClean="0">
                <a:solidFill>
                  <a:srgbClr val="374151"/>
                </a:solidFill>
                <a:latin typeface="+mj-lt"/>
              </a:rPr>
              <a:t>‘</a:t>
            </a:r>
            <a:r>
              <a:rPr lang="es-ES" i="1" dirty="0" err="1" smtClean="0"/>
              <a:t>lbfgs</a:t>
            </a:r>
            <a:r>
              <a:rPr lang="es-ES" i="1" dirty="0" smtClean="0"/>
              <a:t>’, ‘</a:t>
            </a:r>
            <a:r>
              <a:rPr lang="es-ES" i="1" dirty="0" err="1" smtClean="0"/>
              <a:t>sgd</a:t>
            </a:r>
            <a:r>
              <a:rPr lang="es-ES" i="1" dirty="0" smtClean="0"/>
              <a:t>’, ‘</a:t>
            </a:r>
            <a:r>
              <a:rPr lang="es-ES" i="1" dirty="0" err="1" smtClean="0"/>
              <a:t>adam</a:t>
            </a:r>
            <a:r>
              <a:rPr lang="es-ES" i="1" dirty="0" smtClean="0"/>
              <a:t>’</a:t>
            </a:r>
            <a:r>
              <a:rPr lang="es-ES" dirty="0" smtClean="0"/>
              <a:t>). </a:t>
            </a:r>
            <a:r>
              <a:rPr lang="es-ES" i="1" dirty="0" smtClean="0"/>
              <a:t>Por defecto: ‘</a:t>
            </a:r>
            <a:r>
              <a:rPr lang="es-ES" i="1" dirty="0" err="1" smtClean="0"/>
              <a:t>adam</a:t>
            </a:r>
            <a:r>
              <a:rPr lang="es-ES" i="1" dirty="0" smtClean="0"/>
              <a:t>’. </a:t>
            </a:r>
            <a:r>
              <a:rPr lang="es-ES" altLang="es-ES" i="1" dirty="0" smtClean="0">
                <a:solidFill>
                  <a:srgbClr val="374151"/>
                </a:solidFill>
                <a:latin typeface="+mj-lt"/>
              </a:rPr>
              <a:t>'</a:t>
            </a:r>
            <a:r>
              <a:rPr lang="es-ES" altLang="es-ES" i="1" dirty="0" err="1" smtClean="0">
                <a:solidFill>
                  <a:srgbClr val="374151"/>
                </a:solidFill>
                <a:latin typeface="+mj-lt"/>
              </a:rPr>
              <a:t>adam</a:t>
            </a:r>
            <a:r>
              <a:rPr lang="es-ES" altLang="es-ES" i="1" dirty="0">
                <a:solidFill>
                  <a:srgbClr val="374151"/>
                </a:solidFill>
                <a:latin typeface="+mj-lt"/>
              </a:rPr>
              <a:t>'</a:t>
            </a:r>
            <a:r>
              <a:rPr lang="es-ES" altLang="es-ES" dirty="0">
                <a:solidFill>
                  <a:srgbClr val="374151"/>
                </a:solidFill>
                <a:latin typeface="+mj-lt"/>
              </a:rPr>
              <a:t> funciona bastante bien en conjuntos de datos relativamente grandes (con miles de muestras de entrenamiento o más) en términos tanto del tiempo de entrenamiento como de la puntuación de validación. Sin embargo, para conjuntos de datos pequeños, </a:t>
            </a:r>
            <a:r>
              <a:rPr lang="es-ES" altLang="es-ES" i="1" dirty="0">
                <a:solidFill>
                  <a:srgbClr val="374151"/>
                </a:solidFill>
                <a:latin typeface="+mj-lt"/>
              </a:rPr>
              <a:t>'</a:t>
            </a:r>
            <a:r>
              <a:rPr lang="es-ES" altLang="es-ES" i="1" dirty="0" err="1">
                <a:solidFill>
                  <a:srgbClr val="374151"/>
                </a:solidFill>
                <a:latin typeface="+mj-lt"/>
              </a:rPr>
              <a:t>lbfgs</a:t>
            </a:r>
            <a:r>
              <a:rPr lang="es-ES" altLang="es-ES" i="1" dirty="0">
                <a:solidFill>
                  <a:srgbClr val="374151"/>
                </a:solidFill>
                <a:latin typeface="+mj-lt"/>
              </a:rPr>
              <a:t>'</a:t>
            </a:r>
            <a:r>
              <a:rPr lang="es-ES" altLang="es-ES" dirty="0">
                <a:solidFill>
                  <a:srgbClr val="374151"/>
                </a:solidFill>
                <a:latin typeface="+mj-lt"/>
              </a:rPr>
              <a:t> puede converger más rápido y tener un mejor rendimiento.</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ES" altLang="es-ES" b="1" dirty="0" err="1" smtClean="0">
                <a:solidFill>
                  <a:srgbClr val="374151"/>
                </a:solidFill>
                <a:latin typeface="+mj-lt"/>
              </a:rPr>
              <a:t>max_iter</a:t>
            </a:r>
            <a:r>
              <a:rPr lang="es-ES" altLang="es-ES" b="1" dirty="0" smtClean="0">
                <a:solidFill>
                  <a:srgbClr val="374151"/>
                </a:solidFill>
                <a:latin typeface="+mj-lt"/>
              </a:rPr>
              <a:t>: </a:t>
            </a:r>
            <a:r>
              <a:rPr lang="es-ES" altLang="es-ES" dirty="0" smtClean="0">
                <a:solidFill>
                  <a:srgbClr val="374151"/>
                </a:solidFill>
                <a:latin typeface="+mj-lt"/>
              </a:rPr>
              <a:t>numero de iteraciones máximas (</a:t>
            </a:r>
            <a:r>
              <a:rPr lang="es-ES" altLang="es-ES" u="sng" dirty="0" smtClean="0">
                <a:solidFill>
                  <a:srgbClr val="374151"/>
                </a:solidFill>
                <a:latin typeface="+mj-lt"/>
              </a:rPr>
              <a:t>valor entero</a:t>
            </a:r>
            <a:r>
              <a:rPr lang="es-ES" altLang="es-ES" dirty="0" smtClean="0">
                <a:solidFill>
                  <a:srgbClr val="374151"/>
                </a:solidFill>
                <a:latin typeface="+mj-lt"/>
              </a:rPr>
              <a:t>) permitidas al algoritmo de optimización, que itera hasta la convergencia (determinada por </a:t>
            </a:r>
            <a:r>
              <a:rPr lang="es-ES" altLang="es-ES" i="1" dirty="0" smtClean="0">
                <a:solidFill>
                  <a:srgbClr val="374151"/>
                </a:solidFill>
                <a:latin typeface="+mj-lt"/>
              </a:rPr>
              <a:t>tol</a:t>
            </a:r>
            <a:r>
              <a:rPr lang="es-ES" altLang="es-ES" dirty="0" smtClean="0">
                <a:solidFill>
                  <a:srgbClr val="374151"/>
                </a:solidFill>
                <a:latin typeface="+mj-lt"/>
              </a:rPr>
              <a:t>) o hasta alcanzar este número. Para algoritmos estocásticos como </a:t>
            </a:r>
            <a:r>
              <a:rPr lang="es-ES" altLang="es-ES" i="1" dirty="0" err="1" smtClean="0">
                <a:solidFill>
                  <a:srgbClr val="374151"/>
                </a:solidFill>
                <a:latin typeface="+mj-lt"/>
              </a:rPr>
              <a:t>sgd</a:t>
            </a:r>
            <a:r>
              <a:rPr lang="es-ES" altLang="es-ES" i="1" dirty="0" smtClean="0">
                <a:solidFill>
                  <a:srgbClr val="374151"/>
                </a:solidFill>
                <a:latin typeface="+mj-lt"/>
              </a:rPr>
              <a:t> </a:t>
            </a:r>
            <a:r>
              <a:rPr lang="es-ES" altLang="es-ES" dirty="0" smtClean="0">
                <a:solidFill>
                  <a:srgbClr val="374151"/>
                </a:solidFill>
                <a:latin typeface="+mj-lt"/>
              </a:rPr>
              <a:t>o </a:t>
            </a:r>
            <a:r>
              <a:rPr lang="es-ES" altLang="es-ES" i="1" dirty="0" err="1" smtClean="0">
                <a:solidFill>
                  <a:srgbClr val="374151"/>
                </a:solidFill>
                <a:latin typeface="+mj-lt"/>
              </a:rPr>
              <a:t>adam</a:t>
            </a:r>
            <a:r>
              <a:rPr lang="es-ES" altLang="es-ES" i="1" dirty="0" smtClean="0">
                <a:solidFill>
                  <a:srgbClr val="374151"/>
                </a:solidFill>
                <a:latin typeface="+mj-lt"/>
              </a:rPr>
              <a:t>,</a:t>
            </a:r>
            <a:r>
              <a:rPr lang="es-ES" altLang="es-ES" dirty="0" smtClean="0">
                <a:solidFill>
                  <a:srgbClr val="374151"/>
                </a:solidFill>
                <a:latin typeface="+mj-lt"/>
              </a:rPr>
              <a:t> este parámetro determina el número de </a:t>
            </a:r>
            <a:r>
              <a:rPr lang="es-ES" altLang="es-ES" i="1" dirty="0" err="1" smtClean="0">
                <a:solidFill>
                  <a:srgbClr val="374151"/>
                </a:solidFill>
                <a:latin typeface="+mj-lt"/>
              </a:rPr>
              <a:t>epochs</a:t>
            </a:r>
            <a:endParaRPr lang="es-ES" altLang="es-ES" i="1" dirty="0" smtClean="0">
              <a:solidFill>
                <a:srgbClr val="374151"/>
              </a:solidFill>
              <a:latin typeface="+mj-lt"/>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ES" altLang="es-ES" b="1" dirty="0" err="1" smtClean="0">
                <a:solidFill>
                  <a:srgbClr val="374151"/>
                </a:solidFill>
                <a:latin typeface="+mj-lt"/>
              </a:rPr>
              <a:t>alpha</a:t>
            </a:r>
            <a:r>
              <a:rPr lang="es-ES" altLang="es-ES" b="1" dirty="0" smtClean="0">
                <a:solidFill>
                  <a:srgbClr val="374151"/>
                </a:solidFill>
                <a:latin typeface="+mj-lt"/>
              </a:rPr>
              <a:t>: </a:t>
            </a:r>
            <a:r>
              <a:rPr lang="es-ES" altLang="es-ES" dirty="0" smtClean="0">
                <a:solidFill>
                  <a:srgbClr val="374151"/>
                </a:solidFill>
                <a:latin typeface="+mj-lt"/>
              </a:rPr>
              <a:t>parámetro de regularización L2, valor decimal, </a:t>
            </a:r>
            <a:r>
              <a:rPr lang="es-ES" altLang="es-ES" i="1" dirty="0" smtClean="0">
                <a:solidFill>
                  <a:srgbClr val="374151"/>
                </a:solidFill>
                <a:latin typeface="+mj-lt"/>
              </a:rPr>
              <a:t>por defecto: 0.0001</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ES" altLang="es-ES" b="1" dirty="0" err="1" smtClean="0">
                <a:solidFill>
                  <a:srgbClr val="374151"/>
                </a:solidFill>
                <a:latin typeface="+mj-lt"/>
              </a:rPr>
              <a:t>learning_rate_init</a:t>
            </a:r>
            <a:r>
              <a:rPr lang="es-ES" altLang="es-ES" b="1" dirty="0" smtClean="0">
                <a:solidFill>
                  <a:srgbClr val="374151"/>
                </a:solidFill>
                <a:latin typeface="+mj-lt"/>
              </a:rPr>
              <a:t>:</a:t>
            </a:r>
            <a:r>
              <a:rPr lang="es-ES" altLang="es-ES" dirty="0" smtClean="0">
                <a:solidFill>
                  <a:srgbClr val="374151"/>
                </a:solidFill>
                <a:latin typeface="+mj-lt"/>
              </a:rPr>
              <a:t> estrategia de para la actualización de pesos, valores muy altos actualizaciones muy bruscas (se puede saltar algún óptimo); valores muy bajos, actualizaciones muy lentas (puede no converger nunca). </a:t>
            </a:r>
            <a:r>
              <a:rPr lang="es-ES" altLang="es-ES" i="1" dirty="0" smtClean="0">
                <a:solidFill>
                  <a:srgbClr val="374151"/>
                </a:solidFill>
                <a:latin typeface="+mj-lt"/>
              </a:rPr>
              <a:t>Por defecto: 0.001</a:t>
            </a:r>
            <a:r>
              <a:rPr lang="es-ES" altLang="es-ES" dirty="0" smtClean="0">
                <a:solidFill>
                  <a:srgbClr val="374151"/>
                </a:solidFill>
                <a:latin typeface="+mj-lt"/>
              </a:rPr>
              <a:t>. Usar sólo con </a:t>
            </a:r>
            <a:r>
              <a:rPr lang="es-ES" altLang="es-ES" i="1" dirty="0" smtClean="0">
                <a:solidFill>
                  <a:srgbClr val="374151"/>
                </a:solidFill>
                <a:latin typeface="+mj-lt"/>
              </a:rPr>
              <a:t>‘</a:t>
            </a:r>
            <a:r>
              <a:rPr lang="es-ES" altLang="es-ES" i="1" dirty="0" err="1" smtClean="0">
                <a:solidFill>
                  <a:srgbClr val="374151"/>
                </a:solidFill>
                <a:latin typeface="+mj-lt"/>
              </a:rPr>
              <a:t>sgd</a:t>
            </a:r>
            <a:r>
              <a:rPr lang="es-ES" altLang="es-ES" i="1" dirty="0" smtClean="0">
                <a:solidFill>
                  <a:srgbClr val="374151"/>
                </a:solidFill>
                <a:latin typeface="+mj-lt"/>
              </a:rPr>
              <a:t>’ </a:t>
            </a:r>
            <a:r>
              <a:rPr lang="es-ES" altLang="es-ES" dirty="0" smtClean="0">
                <a:solidFill>
                  <a:srgbClr val="374151"/>
                </a:solidFill>
                <a:latin typeface="+mj-lt"/>
              </a:rPr>
              <a:t>o </a:t>
            </a:r>
            <a:r>
              <a:rPr lang="es-ES" altLang="es-ES" i="1" dirty="0" smtClean="0">
                <a:solidFill>
                  <a:srgbClr val="374151"/>
                </a:solidFill>
                <a:latin typeface="+mj-lt"/>
              </a:rPr>
              <a:t>‘</a:t>
            </a:r>
            <a:r>
              <a:rPr lang="es-ES" altLang="es-ES" i="1" dirty="0" err="1" smtClean="0">
                <a:solidFill>
                  <a:srgbClr val="374151"/>
                </a:solidFill>
                <a:latin typeface="+mj-lt"/>
              </a:rPr>
              <a:t>adam</a:t>
            </a:r>
            <a:r>
              <a:rPr lang="es-ES" altLang="es-ES" i="1" dirty="0" smtClean="0">
                <a:solidFill>
                  <a:srgbClr val="374151"/>
                </a:solidFill>
                <a:latin typeface="+mj-lt"/>
              </a:rPr>
              <a:t>’</a:t>
            </a:r>
            <a:r>
              <a:rPr lang="es-ES" altLang="es-ES" dirty="0" smtClean="0">
                <a:solidFill>
                  <a:srgbClr val="374151"/>
                </a:solidFill>
                <a:latin typeface="+mj-lt"/>
              </a:rPr>
              <a:t>	</a:t>
            </a:r>
            <a:endParaRPr lang="es-ES" altLang="es-ES" b="1" dirty="0">
              <a:solidFill>
                <a:srgbClr val="374151"/>
              </a:solidFill>
              <a:latin typeface="+mj-lt"/>
            </a:endParaRPr>
          </a:p>
          <a:p>
            <a:pPr marL="0" marR="0" lvl="0" indent="0" algn="l" defTabSz="914400" rtl="0" eaLnBrk="0" fontAlgn="base" latinLnBrk="0" hangingPunct="0">
              <a:lnSpc>
                <a:spcPct val="100000"/>
              </a:lnSpc>
              <a:spcBef>
                <a:spcPct val="0"/>
              </a:spcBef>
              <a:spcAft>
                <a:spcPct val="0"/>
              </a:spcAft>
              <a:buClrTx/>
              <a:buSzTx/>
              <a:tabLst/>
            </a:pPr>
            <a:endParaRPr kumimoji="0" lang="es-ES" altLang="es-ES" sz="2000" b="0" i="0" u="none" strike="noStrike" cap="none" normalizeH="0" baseline="0" dirty="0" smtClean="0">
              <a:ln>
                <a:noFill/>
              </a:ln>
              <a:solidFill>
                <a:srgbClr val="37415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5"/>
          <p:cNvSpPr>
            <a:spLocks noChangeArrowheads="1"/>
          </p:cNvSpPr>
          <p:nvPr/>
        </p:nvSpPr>
        <p:spPr bwMode="auto">
          <a:xfrm>
            <a:off x="0" y="-431144"/>
            <a:ext cx="43282" cy="86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smtClean="0">
                <a:ln>
                  <a:noFill/>
                </a:ln>
                <a:solidFill>
                  <a:srgbClr val="374151"/>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3664879"/>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93700" y="3716893"/>
            <a:ext cx="3228128" cy="369332"/>
          </a:xfrm>
          <a:prstGeom prst="rect">
            <a:avLst/>
          </a:prstGeom>
        </p:spPr>
        <p:txBody>
          <a:bodyPr wrap="none">
            <a:spAutoFit/>
          </a:bodyPr>
          <a:lstStyle/>
          <a:p>
            <a:r>
              <a:rPr lang="es-ES" b="1" kern="0" spc="-5" dirty="0" err="1" smtClean="0">
                <a:solidFill>
                  <a:srgbClr val="365F91"/>
                </a:solidFill>
              </a:rPr>
              <a:t>MLPClassifier</a:t>
            </a:r>
            <a:r>
              <a:rPr lang="es-ES" b="1" kern="0" spc="-5" dirty="0" smtClean="0">
                <a:solidFill>
                  <a:srgbClr val="365F91"/>
                </a:solidFill>
              </a:rPr>
              <a:t>: otros parámetros</a:t>
            </a:r>
            <a:endParaRPr lang="es-ES" dirty="0"/>
          </a:p>
        </p:txBody>
      </p:sp>
      <p:sp>
        <p:nvSpPr>
          <p:cNvPr id="5" name="CuadroTexto 4"/>
          <p:cNvSpPr txBox="1"/>
          <p:nvPr/>
        </p:nvSpPr>
        <p:spPr>
          <a:xfrm>
            <a:off x="393700" y="4160699"/>
            <a:ext cx="9916114" cy="2031325"/>
          </a:xfrm>
          <a:prstGeom prst="rect">
            <a:avLst/>
          </a:prstGeom>
          <a:noFill/>
        </p:spPr>
        <p:txBody>
          <a:bodyPr wrap="square" rtlCol="0">
            <a:spAutoFit/>
          </a:bodyPr>
          <a:lstStyle/>
          <a:p>
            <a:r>
              <a:rPr lang="es-ES" i="1" dirty="0" err="1" smtClean="0"/>
              <a:t>learning_rate</a:t>
            </a:r>
            <a:r>
              <a:rPr lang="es-ES" dirty="0" smtClean="0"/>
              <a:t> (para modificar la forma de actualizar los pesos); </a:t>
            </a:r>
            <a:r>
              <a:rPr lang="es-ES" i="1" dirty="0" err="1" smtClean="0"/>
              <a:t>power_t</a:t>
            </a:r>
            <a:r>
              <a:rPr lang="es-ES" i="1" dirty="0" smtClean="0"/>
              <a:t> </a:t>
            </a:r>
            <a:r>
              <a:rPr lang="es-ES" dirty="0" smtClean="0"/>
              <a:t>(para modificar de forma efectiva el </a:t>
            </a:r>
            <a:r>
              <a:rPr lang="es-ES" dirty="0" err="1" smtClean="0"/>
              <a:t>learning</a:t>
            </a:r>
            <a:r>
              <a:rPr lang="es-ES" dirty="0" smtClean="0"/>
              <a:t> </a:t>
            </a:r>
            <a:r>
              <a:rPr lang="es-ES" dirty="0" err="1" smtClean="0"/>
              <a:t>rate</a:t>
            </a:r>
            <a:r>
              <a:rPr lang="es-ES" dirty="0" smtClean="0"/>
              <a:t>; </a:t>
            </a:r>
            <a:r>
              <a:rPr lang="es-ES" i="1" dirty="0" err="1" smtClean="0"/>
              <a:t>batch_size</a:t>
            </a:r>
            <a:r>
              <a:rPr lang="es-ES" i="1" dirty="0" smtClean="0"/>
              <a:t> </a:t>
            </a:r>
            <a:r>
              <a:rPr lang="es-ES" dirty="0" smtClean="0"/>
              <a:t>(tamaño de los </a:t>
            </a:r>
            <a:r>
              <a:rPr lang="es-ES" dirty="0" err="1" smtClean="0"/>
              <a:t>minibatches</a:t>
            </a:r>
            <a:r>
              <a:rPr lang="es-ES" dirty="0" smtClean="0"/>
              <a:t> en optimizadores estocásticos, 200 por defecto, </a:t>
            </a:r>
            <a:r>
              <a:rPr lang="es-ES" u="sng" dirty="0" smtClean="0"/>
              <a:t>se analiza con profundidad en Deep </a:t>
            </a:r>
            <a:r>
              <a:rPr lang="es-ES" u="sng" dirty="0" err="1" smtClean="0"/>
              <a:t>Learning</a:t>
            </a:r>
            <a:r>
              <a:rPr lang="es-ES" dirty="0" smtClean="0"/>
              <a:t>); </a:t>
            </a:r>
            <a:r>
              <a:rPr lang="es-ES" i="1" dirty="0" err="1" smtClean="0"/>
              <a:t>shuffle</a:t>
            </a:r>
            <a:r>
              <a:rPr lang="es-ES" i="1" dirty="0"/>
              <a:t> </a:t>
            </a:r>
            <a:r>
              <a:rPr lang="es-ES" dirty="0" smtClean="0"/>
              <a:t>(</a:t>
            </a:r>
            <a:r>
              <a:rPr lang="es-ES" dirty="0" err="1" smtClean="0"/>
              <a:t>aleatorizar</a:t>
            </a:r>
            <a:r>
              <a:rPr lang="es-ES" dirty="0" smtClean="0"/>
              <a:t> o no las muestras en cada iteración); </a:t>
            </a:r>
            <a:r>
              <a:rPr lang="es-ES" i="1" dirty="0" smtClean="0"/>
              <a:t>tol </a:t>
            </a:r>
            <a:r>
              <a:rPr lang="es-ES" dirty="0" smtClean="0"/>
              <a:t>(</a:t>
            </a:r>
            <a:r>
              <a:rPr lang="es-ES" dirty="0" err="1" smtClean="0"/>
              <a:t>toleracia</a:t>
            </a:r>
            <a:r>
              <a:rPr lang="es-ES" dirty="0" smtClean="0"/>
              <a:t> para la optimización, ganancia mínima exigida para que el algoritmo siga iterando); </a:t>
            </a:r>
            <a:r>
              <a:rPr lang="es-ES" i="1" dirty="0" smtClean="0"/>
              <a:t>beta_1 </a:t>
            </a:r>
            <a:r>
              <a:rPr lang="es-ES" dirty="0" smtClean="0"/>
              <a:t>y </a:t>
            </a:r>
            <a:r>
              <a:rPr lang="es-ES" i="1" dirty="0" smtClean="0"/>
              <a:t>beta_2 </a:t>
            </a:r>
            <a:r>
              <a:rPr lang="es-ES" dirty="0" smtClean="0"/>
              <a:t>(tasa de </a:t>
            </a:r>
            <a:r>
              <a:rPr lang="es-ES" dirty="0" err="1" smtClean="0"/>
              <a:t>decay</a:t>
            </a:r>
            <a:r>
              <a:rPr lang="es-ES" dirty="0" smtClean="0"/>
              <a:t> para estimar los vectores de primer y segundo momento bajo el optimizador </a:t>
            </a:r>
            <a:r>
              <a:rPr lang="es-ES" i="1" dirty="0" err="1" smtClean="0"/>
              <a:t>adam</a:t>
            </a:r>
            <a:r>
              <a:rPr lang="es-ES" dirty="0" smtClean="0"/>
              <a:t>); </a:t>
            </a:r>
            <a:r>
              <a:rPr lang="es-ES" i="1" dirty="0" err="1" smtClean="0"/>
              <a:t>validation_fraction</a:t>
            </a:r>
            <a:r>
              <a:rPr lang="es-ES" i="1" dirty="0" smtClean="0"/>
              <a:t> </a:t>
            </a:r>
            <a:r>
              <a:rPr lang="es-ES" dirty="0" smtClean="0"/>
              <a:t>(si se quiere modificar la cantidad de datos usada en </a:t>
            </a:r>
            <a:r>
              <a:rPr lang="es-ES" dirty="0" err="1" smtClean="0"/>
              <a:t>early_stopping</a:t>
            </a:r>
            <a:r>
              <a:rPr lang="es-ES" smtClean="0"/>
              <a:t>); ETC</a:t>
            </a:r>
            <a:r>
              <a:rPr lang="es-ES" dirty="0" smtClean="0"/>
              <a:t>.</a:t>
            </a:r>
            <a:endParaRPr lang="es-ES" dirty="0"/>
          </a:p>
        </p:txBody>
      </p:sp>
      <p:sp>
        <p:nvSpPr>
          <p:cNvPr id="6" name="Título 1"/>
          <p:cNvSpPr txBox="1">
            <a:spLocks/>
          </p:cNvSpPr>
          <p:nvPr/>
        </p:nvSpPr>
        <p:spPr>
          <a:xfrm>
            <a:off x="504371" y="352425"/>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err="1" smtClean="0">
                <a:solidFill>
                  <a:srgbClr val="365F91"/>
                </a:solidFill>
              </a:rPr>
              <a:t>MLPClassifier</a:t>
            </a:r>
            <a:r>
              <a:rPr lang="es-ES" b="1" kern="0" spc="-5" dirty="0" smtClean="0">
                <a:solidFill>
                  <a:srgbClr val="365F91"/>
                </a:solidFill>
              </a:rPr>
              <a:t>: algunos parámetros importantes	</a:t>
            </a:r>
            <a:endParaRPr lang="es-ES" kern="0" dirty="0"/>
          </a:p>
        </p:txBody>
      </p:sp>
      <p:sp>
        <p:nvSpPr>
          <p:cNvPr id="7" name="CuadroTexto 6"/>
          <p:cNvSpPr txBox="1"/>
          <p:nvPr/>
        </p:nvSpPr>
        <p:spPr>
          <a:xfrm>
            <a:off x="317501" y="1114425"/>
            <a:ext cx="9992314" cy="2585323"/>
          </a:xfrm>
          <a:prstGeom prst="rect">
            <a:avLst/>
          </a:prstGeom>
          <a:noFill/>
        </p:spPr>
        <p:txBody>
          <a:bodyPr wrap="square" rtlCol="0">
            <a:spAutoFit/>
          </a:bodyPr>
          <a:lstStyle/>
          <a:p>
            <a:pPr marL="285750" indent="-285750" algn="just">
              <a:buFont typeface="Arial" panose="020B0604020202020204" pitchFamily="34" charset="0"/>
              <a:buChar char="•"/>
            </a:pPr>
            <a:r>
              <a:rPr lang="es-ES" b="1" dirty="0" err="1" smtClean="0"/>
              <a:t>early_stopping</a:t>
            </a:r>
            <a:r>
              <a:rPr lang="es-ES" b="1" dirty="0"/>
              <a:t>: </a:t>
            </a:r>
            <a:r>
              <a:rPr lang="es-ES" dirty="0"/>
              <a:t>uso o no de detención temprana para finalizar el entrenamiento cuando la puntuación de validación no mejora. Si </a:t>
            </a:r>
            <a:r>
              <a:rPr lang="es-ES" i="1" dirty="0" err="1" smtClean="0"/>
              <a:t>early_stopping</a:t>
            </a:r>
            <a:r>
              <a:rPr lang="es-ES" i="1" dirty="0" smtClean="0"/>
              <a:t>=True</a:t>
            </a:r>
            <a:r>
              <a:rPr lang="es-ES" dirty="0" smtClean="0"/>
              <a:t>, </a:t>
            </a:r>
            <a:r>
              <a:rPr lang="es-ES"/>
              <a:t>reservará </a:t>
            </a:r>
            <a:r>
              <a:rPr lang="es-ES" smtClean="0"/>
              <a:t>automáticamente </a:t>
            </a:r>
            <a:r>
              <a:rPr lang="es-ES" dirty="0"/>
              <a:t>el 10% de los datos de entrenamiento como validación y detendrá el entrenamiento cuando la puntuación de validación no mejore al menos </a:t>
            </a:r>
            <a:r>
              <a:rPr lang="es-ES" dirty="0" smtClean="0"/>
              <a:t>‘tol’ </a:t>
            </a:r>
            <a:r>
              <a:rPr lang="es-ES" dirty="0"/>
              <a:t>durante </a:t>
            </a:r>
            <a:r>
              <a:rPr lang="es-ES" dirty="0" smtClean="0"/>
              <a:t>‘</a:t>
            </a:r>
            <a:r>
              <a:rPr lang="es-ES" i="1" dirty="0" err="1" smtClean="0"/>
              <a:t>n_iter_no_change</a:t>
            </a:r>
            <a:r>
              <a:rPr lang="es-ES" dirty="0" smtClean="0"/>
              <a:t>’ </a:t>
            </a:r>
            <a:r>
              <a:rPr lang="es-ES" dirty="0"/>
              <a:t>épocas consecutivas. La división es estratificada, excepto en un entorno </a:t>
            </a:r>
            <a:r>
              <a:rPr lang="es-ES" dirty="0" err="1" smtClean="0"/>
              <a:t>multietiqueta</a:t>
            </a:r>
            <a:r>
              <a:rPr lang="es-ES" dirty="0" smtClean="0"/>
              <a:t>. Si </a:t>
            </a:r>
            <a:r>
              <a:rPr lang="es-ES" i="1" dirty="0" err="1" smtClean="0"/>
              <a:t>early_stopping</a:t>
            </a:r>
            <a:r>
              <a:rPr lang="es-ES" i="1" dirty="0" smtClean="0"/>
              <a:t>=False </a:t>
            </a:r>
            <a:r>
              <a:rPr lang="es-ES" dirty="0" smtClean="0"/>
              <a:t>(por defecto), el </a:t>
            </a:r>
            <a:r>
              <a:rPr lang="es-ES" dirty="0"/>
              <a:t>entrenamiento se detiene cuando la pérdida de entrenamiento no mejora en más de </a:t>
            </a:r>
            <a:r>
              <a:rPr lang="es-ES" dirty="0" smtClean="0"/>
              <a:t>‘tol’ durante ‘</a:t>
            </a:r>
            <a:r>
              <a:rPr lang="es-ES" i="1" dirty="0" err="1" smtClean="0"/>
              <a:t>n_iter_no_change</a:t>
            </a:r>
            <a:r>
              <a:rPr lang="es-ES" dirty="0" smtClean="0"/>
              <a:t>’ </a:t>
            </a:r>
            <a:r>
              <a:rPr lang="es-ES" dirty="0"/>
              <a:t>pasadas consecutivas sobre el conjunto de entrenamiento. </a:t>
            </a:r>
            <a:r>
              <a:rPr lang="es-ES" dirty="0" smtClean="0"/>
              <a:t>Usar con </a:t>
            </a:r>
            <a:r>
              <a:rPr lang="es-ES" dirty="0"/>
              <a:t>'</a:t>
            </a:r>
            <a:r>
              <a:rPr lang="es-ES" dirty="0" err="1"/>
              <a:t>sgd</a:t>
            </a:r>
            <a:r>
              <a:rPr lang="es-ES" dirty="0"/>
              <a:t>' o '</a:t>
            </a:r>
            <a:r>
              <a:rPr lang="es-ES" dirty="0" err="1"/>
              <a:t>adam</a:t>
            </a:r>
            <a:r>
              <a:rPr lang="es-ES" dirty="0" smtClean="0"/>
              <a:t>'.</a:t>
            </a:r>
          </a:p>
          <a:p>
            <a:pPr marL="285750" indent="-285750" algn="just">
              <a:buFont typeface="Arial" panose="020B0604020202020204" pitchFamily="34" charset="0"/>
              <a:buChar char="•"/>
            </a:pPr>
            <a:endParaRPr lang="es-ES" dirty="0"/>
          </a:p>
        </p:txBody>
      </p:sp>
    </p:spTree>
    <p:extLst>
      <p:ext uri="{BB962C8B-B14F-4D97-AF65-F5344CB8AC3E}">
        <p14:creationId xmlns:p14="http://schemas.microsoft.com/office/powerpoint/2010/main" val="1819104861"/>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txBox="1">
            <a:spLocks/>
          </p:cNvSpPr>
          <p:nvPr/>
        </p:nvSpPr>
        <p:spPr>
          <a:xfrm>
            <a:off x="393700" y="1419225"/>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err="1" smtClean="0">
                <a:solidFill>
                  <a:srgbClr val="365F91"/>
                </a:solidFill>
              </a:rPr>
              <a:t>MLPRegressor</a:t>
            </a:r>
            <a:r>
              <a:rPr lang="es-ES" b="1" kern="0" spc="-5" dirty="0" smtClean="0">
                <a:solidFill>
                  <a:srgbClr val="365F91"/>
                </a:solidFill>
              </a:rPr>
              <a:t>	</a:t>
            </a:r>
            <a:endParaRPr lang="es-ES" kern="0" dirty="0"/>
          </a:p>
        </p:txBody>
      </p:sp>
      <p:sp>
        <p:nvSpPr>
          <p:cNvPr id="7" name="CuadroTexto 6"/>
          <p:cNvSpPr txBox="1"/>
          <p:nvPr/>
        </p:nvSpPr>
        <p:spPr>
          <a:xfrm>
            <a:off x="1460500" y="2105025"/>
            <a:ext cx="7467599" cy="1600438"/>
          </a:xfrm>
          <a:prstGeom prst="rect">
            <a:avLst/>
          </a:prstGeom>
          <a:noFill/>
        </p:spPr>
        <p:txBody>
          <a:bodyPr wrap="square" rtlCol="0">
            <a:spAutoFit/>
          </a:bodyPr>
          <a:lstStyle/>
          <a:p>
            <a:pPr algn="just"/>
            <a:r>
              <a:rPr lang="es-ES" sz="2000" dirty="0" smtClean="0"/>
              <a:t>Misma estructura y parámetros que </a:t>
            </a:r>
            <a:r>
              <a:rPr lang="es-ES" sz="2000" dirty="0" err="1" smtClean="0"/>
              <a:t>MLPClassifier</a:t>
            </a:r>
            <a:r>
              <a:rPr lang="es-ES" sz="2000" dirty="0" smtClean="0"/>
              <a:t>, pero destinado a resolver problemas de regresión con redes neuronales</a:t>
            </a:r>
          </a:p>
          <a:p>
            <a:pPr algn="just"/>
            <a:r>
              <a:rPr lang="es-ES" sz="2000" dirty="0" smtClean="0"/>
              <a:t>Únicamente hay que tener en cuenta la medida de bondad de ajuste utilizada: MAE, MSE, R2</a:t>
            </a:r>
          </a:p>
          <a:p>
            <a:pPr marL="285750" indent="-285750" algn="just">
              <a:buFont typeface="Arial" panose="020B0604020202020204" pitchFamily="34" charset="0"/>
              <a:buChar char="•"/>
            </a:pPr>
            <a:endParaRPr lang="es-ES" dirty="0"/>
          </a:p>
        </p:txBody>
      </p:sp>
      <p:sp>
        <p:nvSpPr>
          <p:cNvPr id="2" name="CuadroTexto 1"/>
          <p:cNvSpPr txBox="1"/>
          <p:nvPr/>
        </p:nvSpPr>
        <p:spPr>
          <a:xfrm>
            <a:off x="774700" y="5229225"/>
            <a:ext cx="4948727" cy="1754326"/>
          </a:xfrm>
          <a:prstGeom prst="rect">
            <a:avLst/>
          </a:prstGeom>
          <a:noFill/>
        </p:spPr>
        <p:txBody>
          <a:bodyPr wrap="none" rtlCol="0">
            <a:spAutoFit/>
          </a:bodyPr>
          <a:lstStyle/>
          <a:p>
            <a:r>
              <a:rPr lang="es-ES" dirty="0" smtClean="0"/>
              <a:t>Más información y ejemplos en los archivos </a:t>
            </a:r>
            <a:r>
              <a:rPr lang="es-ES" i="1" dirty="0" smtClean="0"/>
              <a:t>.</a:t>
            </a:r>
            <a:r>
              <a:rPr lang="es-ES" i="1" dirty="0" err="1" smtClean="0"/>
              <a:t>ipynb</a:t>
            </a:r>
            <a:r>
              <a:rPr lang="es-ES" i="1" dirty="0" smtClean="0"/>
              <a:t>:</a:t>
            </a:r>
          </a:p>
          <a:p>
            <a:r>
              <a:rPr lang="es-ES" i="1" dirty="0" smtClean="0"/>
              <a:t>Redes_clasificación_1.ipynb</a:t>
            </a:r>
          </a:p>
          <a:p>
            <a:r>
              <a:rPr lang="es-ES" i="1" dirty="0" smtClean="0"/>
              <a:t>Redes_clasificación_2.ipynb</a:t>
            </a:r>
          </a:p>
          <a:p>
            <a:r>
              <a:rPr lang="es-ES" i="1" dirty="0" smtClean="0"/>
              <a:t>Redes_regresión_1.ipynb</a:t>
            </a:r>
            <a:endParaRPr lang="es-ES" i="1" dirty="0"/>
          </a:p>
          <a:p>
            <a:r>
              <a:rPr lang="es-ES" i="1" dirty="0" smtClean="0"/>
              <a:t>Redes_regresión_2.ipynb</a:t>
            </a:r>
            <a:endParaRPr lang="es-ES" i="1" dirty="0"/>
          </a:p>
          <a:p>
            <a:endParaRPr lang="es-ES" i="1" dirty="0"/>
          </a:p>
        </p:txBody>
      </p:sp>
    </p:spTree>
    <p:extLst>
      <p:ext uri="{BB962C8B-B14F-4D97-AF65-F5344CB8AC3E}">
        <p14:creationId xmlns:p14="http://schemas.microsoft.com/office/powerpoint/2010/main" val="2584673969"/>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txBox="1">
            <a:spLocks/>
          </p:cNvSpPr>
          <p:nvPr/>
        </p:nvSpPr>
        <p:spPr>
          <a:xfrm>
            <a:off x="393700" y="352425"/>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smtClean="0">
                <a:solidFill>
                  <a:srgbClr val="365F91"/>
                </a:solidFill>
              </a:rPr>
              <a:t>Redes neuronales en </a:t>
            </a:r>
            <a:r>
              <a:rPr lang="es-ES" b="1" kern="0" spc="-5" dirty="0" err="1" smtClean="0">
                <a:solidFill>
                  <a:srgbClr val="365F91"/>
                </a:solidFill>
              </a:rPr>
              <a:t>python</a:t>
            </a:r>
            <a:r>
              <a:rPr lang="es-ES" b="1" kern="0" spc="-5" dirty="0" smtClean="0">
                <a:solidFill>
                  <a:srgbClr val="365F91"/>
                </a:solidFill>
              </a:rPr>
              <a:t>	</a:t>
            </a:r>
            <a:endParaRPr lang="es-ES" kern="0" dirty="0"/>
          </a:p>
        </p:txBody>
      </p:sp>
      <p:sp>
        <p:nvSpPr>
          <p:cNvPr id="7" name="CuadroTexto 6"/>
          <p:cNvSpPr txBox="1"/>
          <p:nvPr/>
        </p:nvSpPr>
        <p:spPr>
          <a:xfrm>
            <a:off x="449943" y="962025"/>
            <a:ext cx="9621157" cy="6524863"/>
          </a:xfrm>
          <a:prstGeom prst="rect">
            <a:avLst/>
          </a:prstGeom>
          <a:noFill/>
        </p:spPr>
        <p:txBody>
          <a:bodyPr wrap="square" rtlCol="0">
            <a:spAutoFit/>
          </a:bodyPr>
          <a:lstStyle/>
          <a:p>
            <a:pPr algn="just"/>
            <a:r>
              <a:rPr lang="es-ES" sz="2000" b="1" dirty="0"/>
              <a:t>Medidas de evaluación para el parámetro </a:t>
            </a:r>
            <a:r>
              <a:rPr lang="es-ES" sz="2000" b="1" dirty="0" err="1"/>
              <a:t>scoring</a:t>
            </a:r>
            <a:endParaRPr lang="es-ES" sz="2000" b="1" dirty="0"/>
          </a:p>
          <a:p>
            <a:pPr algn="just"/>
            <a:r>
              <a:rPr lang="es-ES" sz="2000" b="1" dirty="0"/>
              <a:t>Métricas de clasificación:</a:t>
            </a:r>
          </a:p>
          <a:p>
            <a:pPr algn="just"/>
            <a:r>
              <a:rPr lang="es-ES" sz="2000" dirty="0"/>
              <a:t>Precisión: '</a:t>
            </a:r>
            <a:r>
              <a:rPr lang="es-ES" sz="2000" dirty="0" err="1"/>
              <a:t>accuracy</a:t>
            </a:r>
            <a:r>
              <a:rPr lang="es-ES" sz="2000" dirty="0"/>
              <a:t>'</a:t>
            </a:r>
          </a:p>
          <a:p>
            <a:pPr algn="just"/>
            <a:r>
              <a:rPr lang="es-ES" sz="2000" dirty="0"/>
              <a:t>Sensibilidad: '</a:t>
            </a:r>
            <a:r>
              <a:rPr lang="es-ES" sz="2000" dirty="0" err="1"/>
              <a:t>recall</a:t>
            </a:r>
            <a:r>
              <a:rPr lang="es-ES" sz="2000" dirty="0"/>
              <a:t>' o '</a:t>
            </a:r>
            <a:r>
              <a:rPr lang="es-ES" sz="2000" dirty="0" err="1"/>
              <a:t>recall_macro</a:t>
            </a:r>
            <a:r>
              <a:rPr lang="es-ES" sz="2000" dirty="0"/>
              <a:t>'</a:t>
            </a:r>
          </a:p>
          <a:p>
            <a:pPr algn="just"/>
            <a:r>
              <a:rPr lang="es-ES" sz="2000" dirty="0"/>
              <a:t>F1-score: 'f1' o 'f1_macro'</a:t>
            </a:r>
          </a:p>
          <a:p>
            <a:pPr algn="just"/>
            <a:r>
              <a:rPr lang="es-ES" sz="2000" dirty="0"/>
              <a:t>Área bajo la curva ROC (AUC-ROC): '</a:t>
            </a:r>
            <a:r>
              <a:rPr lang="es-ES" sz="2000" dirty="0" err="1"/>
              <a:t>roc_auc</a:t>
            </a:r>
            <a:r>
              <a:rPr lang="es-ES" sz="2000" dirty="0"/>
              <a:t>'</a:t>
            </a:r>
          </a:p>
          <a:p>
            <a:pPr algn="just"/>
            <a:r>
              <a:rPr lang="es-ES" sz="2000" dirty="0"/>
              <a:t>NO existe una métrica concreta para la </a:t>
            </a:r>
            <a:r>
              <a:rPr lang="es-ES" sz="2000" dirty="0" err="1"/>
              <a:t>especifidad</a:t>
            </a:r>
            <a:endParaRPr lang="es-ES" sz="2000" dirty="0"/>
          </a:p>
          <a:p>
            <a:pPr algn="just"/>
            <a:r>
              <a:rPr lang="es-ES" sz="2000" b="1" dirty="0"/>
              <a:t>Métricas de regresión:</a:t>
            </a:r>
          </a:p>
          <a:p>
            <a:pPr algn="just"/>
            <a:r>
              <a:rPr lang="es-ES" sz="2000" dirty="0"/>
              <a:t>Error cuadrático medio (MSE): '</a:t>
            </a:r>
            <a:r>
              <a:rPr lang="es-ES" sz="2000" dirty="0" err="1"/>
              <a:t>neg_mean_squared_error</a:t>
            </a:r>
            <a:r>
              <a:rPr lang="es-ES" sz="2000" dirty="0"/>
              <a:t>'</a:t>
            </a:r>
          </a:p>
          <a:p>
            <a:pPr algn="just"/>
            <a:r>
              <a:rPr lang="es-ES" sz="2000" dirty="0"/>
              <a:t>R-cuadrado (R²): 'r2'</a:t>
            </a:r>
          </a:p>
          <a:p>
            <a:pPr algn="just"/>
            <a:r>
              <a:rPr lang="es-ES" sz="2000" dirty="0"/>
              <a:t>Error absoluto medio (MAE): '</a:t>
            </a:r>
            <a:r>
              <a:rPr lang="es-ES" sz="2000" dirty="0" err="1"/>
              <a:t>neg_mean_absolute_error</a:t>
            </a:r>
            <a:r>
              <a:rPr lang="es-ES" sz="2000" dirty="0"/>
              <a:t>'</a:t>
            </a:r>
          </a:p>
          <a:p>
            <a:pPr algn="just"/>
            <a:r>
              <a:rPr lang="es-ES" sz="2000" b="1" dirty="0"/>
              <a:t>Otras métricas:</a:t>
            </a:r>
          </a:p>
          <a:p>
            <a:pPr algn="just"/>
            <a:r>
              <a:rPr lang="es-ES" sz="2000" dirty="0"/>
              <a:t>Log-verosimilitud (para modelos de clasificación probabilística): '</a:t>
            </a:r>
            <a:r>
              <a:rPr lang="es-ES" sz="2000" dirty="0" err="1"/>
              <a:t>neg_log_loss</a:t>
            </a:r>
            <a:r>
              <a:rPr lang="es-ES" sz="2000" dirty="0"/>
              <a:t>'</a:t>
            </a:r>
          </a:p>
          <a:p>
            <a:pPr algn="just"/>
            <a:r>
              <a:rPr lang="es-ES" sz="2000" dirty="0"/>
              <a:t>Coeficiente de determinación ajustado (</a:t>
            </a:r>
            <a:r>
              <a:rPr lang="es-ES" sz="2000" dirty="0" err="1"/>
              <a:t>Ajusted</a:t>
            </a:r>
            <a:r>
              <a:rPr lang="es-ES" sz="2000" dirty="0"/>
              <a:t> R-</a:t>
            </a:r>
            <a:r>
              <a:rPr lang="es-ES" sz="2000" dirty="0" err="1"/>
              <a:t>squared</a:t>
            </a:r>
            <a:r>
              <a:rPr lang="es-ES" sz="2000" dirty="0"/>
              <a:t>): '</a:t>
            </a:r>
            <a:r>
              <a:rPr lang="es-ES" sz="2000" dirty="0" err="1"/>
              <a:t>adjusted_rand_score</a:t>
            </a:r>
            <a:r>
              <a:rPr lang="es-ES" sz="2000" dirty="0"/>
              <a:t>' (para </a:t>
            </a:r>
            <a:r>
              <a:rPr lang="es-ES" sz="2000" dirty="0" err="1"/>
              <a:t>clustering</a:t>
            </a:r>
            <a:r>
              <a:rPr lang="es-ES" sz="2000" dirty="0"/>
              <a:t>)</a:t>
            </a:r>
          </a:p>
          <a:p>
            <a:pPr algn="just"/>
            <a:r>
              <a:rPr lang="es-ES" sz="2000" b="1" dirty="0"/>
              <a:t>Cosas a tener en cuenta:</a:t>
            </a:r>
          </a:p>
          <a:p>
            <a:pPr algn="just"/>
            <a:r>
              <a:rPr lang="es-ES" sz="2000" dirty="0"/>
              <a:t>Para calcular la curva ROC, las predicciones se deben calcular en forma de probabilidad, para ello, </a:t>
            </a:r>
            <a:r>
              <a:rPr lang="es-ES" sz="2000" dirty="0" err="1"/>
              <a:t>predict_proba</a:t>
            </a:r>
            <a:endParaRPr lang="es-ES" sz="2000" dirty="0"/>
          </a:p>
          <a:p>
            <a:pPr algn="just"/>
            <a:r>
              <a:rPr lang="es-ES" sz="2000" dirty="0"/>
              <a:t>En problemas de clasificación binaria, si la variable objetivo tiene una codificación distinta a 1-0, hay que especificar al calcular las medidas de bondad cuál es la etiqueta positiva</a:t>
            </a:r>
          </a:p>
          <a:p>
            <a:pPr marL="285750" indent="-285750" algn="just">
              <a:buFont typeface="Arial" panose="020B0604020202020204" pitchFamily="34" charset="0"/>
              <a:buChar char="•"/>
            </a:pPr>
            <a:endParaRPr lang="es-ES" dirty="0"/>
          </a:p>
        </p:txBody>
      </p:sp>
    </p:spTree>
    <p:extLst>
      <p:ext uri="{BB962C8B-B14F-4D97-AF65-F5344CB8AC3E}">
        <p14:creationId xmlns:p14="http://schemas.microsoft.com/office/powerpoint/2010/main" val="2883838209"/>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txBox="1">
            <a:spLocks/>
          </p:cNvSpPr>
          <p:nvPr/>
        </p:nvSpPr>
        <p:spPr>
          <a:xfrm>
            <a:off x="393700" y="123825"/>
            <a:ext cx="10134600" cy="7294305"/>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err="1" smtClean="0">
                <a:solidFill>
                  <a:srgbClr val="365F91"/>
                </a:solidFill>
              </a:rPr>
              <a:t>Datasets</a:t>
            </a:r>
            <a:r>
              <a:rPr lang="es-ES" b="1" kern="0" spc="-5" dirty="0" smtClean="0">
                <a:solidFill>
                  <a:srgbClr val="365F91"/>
                </a:solidFill>
              </a:rPr>
              <a:t> de prueba</a:t>
            </a:r>
            <a:endParaRPr lang="es-ES" sz="2000" kern="0" spc="-5" dirty="0" smtClean="0">
              <a:solidFill>
                <a:schemeClr val="tx1"/>
              </a:solidFill>
              <a:latin typeface="+mj-lt"/>
            </a:endParaRPr>
          </a:p>
          <a:p>
            <a:pPr marL="342900" indent="-342900">
              <a:buFont typeface="Arial" panose="020B0604020202020204" pitchFamily="34" charset="0"/>
              <a:buChar char="•"/>
            </a:pPr>
            <a:r>
              <a:rPr lang="es-ES" sz="2000" kern="0" spc="-5" dirty="0" smtClean="0">
                <a:solidFill>
                  <a:schemeClr val="tx1"/>
                </a:solidFill>
                <a:latin typeface="+mj-lt"/>
              </a:rPr>
              <a:t>Archivos populares de </a:t>
            </a:r>
            <a:r>
              <a:rPr lang="es-ES" sz="2000" kern="0" spc="-5" dirty="0" err="1" smtClean="0">
                <a:solidFill>
                  <a:schemeClr val="tx1"/>
                </a:solidFill>
                <a:latin typeface="+mj-lt"/>
              </a:rPr>
              <a:t>Kaggle</a:t>
            </a:r>
            <a:r>
              <a:rPr lang="es-ES" sz="2000" kern="0" spc="-5" dirty="0" smtClean="0">
                <a:solidFill>
                  <a:schemeClr val="tx1"/>
                </a:solidFill>
                <a:latin typeface="+mj-lt"/>
              </a:rPr>
              <a:t> (adjuntos en el material de este módulo): </a:t>
            </a:r>
            <a:r>
              <a:rPr lang="es-ES" sz="2000" kern="0" spc="-5" dirty="0" err="1" smtClean="0">
                <a:solidFill>
                  <a:schemeClr val="tx1"/>
                </a:solidFill>
                <a:latin typeface="+mj-lt"/>
              </a:rPr>
              <a:t>SAheart</a:t>
            </a:r>
            <a:r>
              <a:rPr lang="es-ES" sz="2000" kern="0" spc="-5" dirty="0" smtClean="0">
                <a:solidFill>
                  <a:schemeClr val="tx1"/>
                </a:solidFill>
                <a:latin typeface="+mj-lt"/>
              </a:rPr>
              <a:t>, </a:t>
            </a:r>
            <a:r>
              <a:rPr lang="es-ES" sz="2000" kern="0" spc="-5" dirty="0" err="1" smtClean="0">
                <a:solidFill>
                  <a:schemeClr val="tx1"/>
                </a:solidFill>
                <a:latin typeface="+mj-lt"/>
              </a:rPr>
              <a:t>compress</a:t>
            </a:r>
            <a:r>
              <a:rPr lang="es-ES" sz="2000" kern="0" spc="-5" dirty="0" smtClean="0">
                <a:solidFill>
                  <a:schemeClr val="tx1"/>
                </a:solidFill>
                <a:latin typeface="+mj-lt"/>
              </a:rPr>
              <a:t>, </a:t>
            </a:r>
            <a:r>
              <a:rPr lang="es-ES" sz="2000" kern="0" spc="-5" dirty="0" err="1" smtClean="0">
                <a:solidFill>
                  <a:schemeClr val="tx1"/>
                </a:solidFill>
                <a:latin typeface="+mj-lt"/>
              </a:rPr>
              <a:t>Life</a:t>
            </a:r>
            <a:r>
              <a:rPr lang="es-ES" sz="2000" kern="0" spc="-5" dirty="0" smtClean="0">
                <a:solidFill>
                  <a:schemeClr val="tx1"/>
                </a:solidFill>
                <a:latin typeface="+mj-lt"/>
              </a:rPr>
              <a:t> </a:t>
            </a:r>
            <a:r>
              <a:rPr lang="es-ES" sz="2000" kern="0" spc="-5" dirty="0" err="1" smtClean="0">
                <a:solidFill>
                  <a:schemeClr val="tx1"/>
                </a:solidFill>
                <a:latin typeface="+mj-lt"/>
              </a:rPr>
              <a:t>Expectancy</a:t>
            </a:r>
            <a:r>
              <a:rPr lang="es-ES" sz="2000" kern="0" spc="-5" dirty="0" smtClean="0">
                <a:solidFill>
                  <a:schemeClr val="tx1"/>
                </a:solidFill>
                <a:latin typeface="+mj-lt"/>
              </a:rPr>
              <a:t> Data, Ozone</a:t>
            </a:r>
          </a:p>
          <a:p>
            <a:pPr marL="342900" indent="-342900">
              <a:buFont typeface="Arial" panose="020B0604020202020204" pitchFamily="34" charset="0"/>
              <a:buChar char="•"/>
            </a:pPr>
            <a:r>
              <a:rPr lang="es-ES" sz="2000" kern="0" spc="-5" dirty="0" smtClean="0">
                <a:solidFill>
                  <a:schemeClr val="tx1"/>
                </a:solidFill>
                <a:latin typeface="+mj-lt"/>
              </a:rPr>
              <a:t>Otros archivos de </a:t>
            </a:r>
            <a:r>
              <a:rPr lang="es-ES" sz="2000" kern="0" spc="-5" dirty="0" err="1" smtClean="0">
                <a:solidFill>
                  <a:schemeClr val="tx1"/>
                </a:solidFill>
                <a:latin typeface="+mj-lt"/>
              </a:rPr>
              <a:t>Kaggle</a:t>
            </a:r>
            <a:r>
              <a:rPr lang="es-ES" sz="2000" kern="0" spc="-5" dirty="0" smtClean="0">
                <a:solidFill>
                  <a:schemeClr val="tx1"/>
                </a:solidFill>
                <a:latin typeface="+mj-lt"/>
              </a:rPr>
              <a:t>: </a:t>
            </a:r>
            <a:r>
              <a:rPr lang="es-ES" sz="2000" kern="0" spc="-5" dirty="0" err="1" smtClean="0">
                <a:solidFill>
                  <a:schemeClr val="tx1"/>
                </a:solidFill>
                <a:latin typeface="+mj-lt"/>
              </a:rPr>
              <a:t>ameshousing</a:t>
            </a:r>
            <a:r>
              <a:rPr lang="es-ES" sz="2000" kern="0" spc="-5" dirty="0" smtClean="0">
                <a:solidFill>
                  <a:schemeClr val="tx1"/>
                </a:solidFill>
                <a:latin typeface="+mj-lt"/>
              </a:rPr>
              <a:t>, </a:t>
            </a:r>
            <a:r>
              <a:rPr lang="es-ES" sz="2000" kern="0" spc="-5" dirty="0" err="1" smtClean="0">
                <a:solidFill>
                  <a:schemeClr val="tx1"/>
                </a:solidFill>
                <a:latin typeface="+mj-lt"/>
              </a:rPr>
              <a:t>autompg</a:t>
            </a:r>
            <a:r>
              <a:rPr lang="es-ES" sz="2000" kern="0" spc="-5" dirty="0" smtClean="0">
                <a:solidFill>
                  <a:schemeClr val="tx1"/>
                </a:solidFill>
                <a:latin typeface="+mj-lt"/>
              </a:rPr>
              <a:t>, </a:t>
            </a:r>
            <a:r>
              <a:rPr lang="es-ES" sz="2000" kern="0" spc="-5" dirty="0" err="1" smtClean="0">
                <a:solidFill>
                  <a:schemeClr val="tx1"/>
                </a:solidFill>
                <a:latin typeface="+mj-lt"/>
              </a:rPr>
              <a:t>bank</a:t>
            </a:r>
            <a:r>
              <a:rPr lang="es-ES" sz="2000" kern="0" spc="-5" dirty="0" smtClean="0">
                <a:solidFill>
                  <a:schemeClr val="tx1"/>
                </a:solidFill>
                <a:latin typeface="+mj-lt"/>
              </a:rPr>
              <a:t>, california </a:t>
            </a:r>
            <a:r>
              <a:rPr lang="es-ES" sz="2000" kern="0" spc="-5" dirty="0" err="1" smtClean="0">
                <a:solidFill>
                  <a:schemeClr val="tx1"/>
                </a:solidFill>
                <a:latin typeface="+mj-lt"/>
              </a:rPr>
              <a:t>housing</a:t>
            </a:r>
            <a:r>
              <a:rPr lang="es-ES" sz="2000" kern="0" spc="-5" dirty="0" smtClean="0">
                <a:solidFill>
                  <a:schemeClr val="tx1"/>
                </a:solidFill>
                <a:latin typeface="+mj-lt"/>
              </a:rPr>
              <a:t>, </a:t>
            </a:r>
            <a:r>
              <a:rPr lang="es-ES" sz="2000" kern="0" spc="-5" dirty="0" err="1" smtClean="0">
                <a:solidFill>
                  <a:schemeClr val="tx1"/>
                </a:solidFill>
                <a:latin typeface="+mj-lt"/>
              </a:rPr>
              <a:t>magic</a:t>
            </a:r>
            <a:r>
              <a:rPr lang="es-ES" sz="2000" kern="0" spc="-5" dirty="0">
                <a:solidFill>
                  <a:schemeClr val="tx1"/>
                </a:solidFill>
                <a:latin typeface="+mj-lt"/>
              </a:rPr>
              <a:t> (https://www.kaggle.com</a:t>
            </a:r>
            <a:r>
              <a:rPr lang="es-ES" sz="2000" kern="0" spc="-5" dirty="0" smtClean="0">
                <a:solidFill>
                  <a:schemeClr val="tx1"/>
                </a:solidFill>
                <a:latin typeface="+mj-lt"/>
              </a:rPr>
              <a:t>/)</a:t>
            </a:r>
          </a:p>
          <a:p>
            <a:pPr marL="342900" indent="-342900">
              <a:buFont typeface="Arial" panose="020B0604020202020204" pitchFamily="34" charset="0"/>
              <a:buChar char="•"/>
            </a:pPr>
            <a:r>
              <a:rPr lang="es-ES" sz="2000" kern="0" spc="-5" dirty="0">
                <a:solidFill>
                  <a:schemeClr val="tx1"/>
                </a:solidFill>
                <a:latin typeface="+mj-lt"/>
              </a:rPr>
              <a:t>Archivos </a:t>
            </a:r>
            <a:r>
              <a:rPr lang="es-ES" sz="2000" kern="0" spc="-5" dirty="0" err="1">
                <a:solidFill>
                  <a:schemeClr val="tx1"/>
                </a:solidFill>
                <a:latin typeface="+mj-lt"/>
              </a:rPr>
              <a:t>scikit-learn</a:t>
            </a:r>
            <a:r>
              <a:rPr lang="es-ES" sz="2000" kern="0" spc="-5" dirty="0">
                <a:solidFill>
                  <a:schemeClr val="tx1"/>
                </a:solidFill>
                <a:latin typeface="+mj-lt"/>
              </a:rPr>
              <a:t>: </a:t>
            </a:r>
            <a:r>
              <a:rPr lang="es-ES" sz="2000" kern="0" spc="-5" dirty="0" smtClean="0">
                <a:solidFill>
                  <a:schemeClr val="tx1"/>
                </a:solidFill>
                <a:latin typeface="+mj-lt"/>
              </a:rPr>
              <a:t>puedes </a:t>
            </a:r>
            <a:r>
              <a:rPr lang="es-ES" sz="2000" kern="0" spc="-5" dirty="0">
                <a:solidFill>
                  <a:schemeClr val="tx1"/>
                </a:solidFill>
                <a:latin typeface="+mj-lt"/>
              </a:rPr>
              <a:t>acceder a ellos usando el siguiente código	</a:t>
            </a:r>
          </a:p>
          <a:p>
            <a:pPr lvl="3"/>
            <a:r>
              <a:rPr lang="es-ES" sz="1400" dirty="0" err="1"/>
              <a:t>from</a:t>
            </a:r>
            <a:r>
              <a:rPr lang="es-ES" sz="1400" dirty="0"/>
              <a:t> </a:t>
            </a:r>
            <a:r>
              <a:rPr lang="es-ES" sz="1400" dirty="0" err="1"/>
              <a:t>sklearn</a:t>
            </a:r>
            <a:r>
              <a:rPr lang="es-ES" sz="1400" dirty="0"/>
              <a:t> </a:t>
            </a:r>
            <a:r>
              <a:rPr lang="es-ES" sz="1400" dirty="0" err="1"/>
              <a:t>import</a:t>
            </a:r>
            <a:r>
              <a:rPr lang="es-ES" sz="1400" dirty="0"/>
              <a:t> </a:t>
            </a:r>
            <a:r>
              <a:rPr lang="es-ES" sz="1400" dirty="0" err="1"/>
              <a:t>datasets</a:t>
            </a:r>
            <a:r>
              <a:rPr lang="es-ES" sz="1400" dirty="0"/>
              <a:t> </a:t>
            </a:r>
            <a:endParaRPr lang="es-ES" sz="1400" dirty="0" smtClean="0"/>
          </a:p>
          <a:p>
            <a:pPr lvl="3"/>
            <a:r>
              <a:rPr lang="es-ES" sz="1400" dirty="0" smtClean="0"/>
              <a:t># </a:t>
            </a:r>
            <a:r>
              <a:rPr lang="es-ES" sz="1400" dirty="0"/>
              <a:t>Ejemplos de conjuntos de datos </a:t>
            </a:r>
            <a:endParaRPr lang="es-ES" sz="1400" dirty="0" smtClean="0"/>
          </a:p>
          <a:p>
            <a:pPr lvl="3"/>
            <a:r>
              <a:rPr lang="es-ES" sz="1400" dirty="0" smtClean="0"/>
              <a:t>iris </a:t>
            </a:r>
            <a:r>
              <a:rPr lang="es-ES" sz="1400" dirty="0"/>
              <a:t>= </a:t>
            </a:r>
            <a:r>
              <a:rPr lang="es-ES" sz="1400" dirty="0" err="1"/>
              <a:t>datasets.load_iris</a:t>
            </a:r>
            <a:r>
              <a:rPr lang="es-ES" sz="1400" dirty="0"/>
              <a:t>() </a:t>
            </a:r>
            <a:endParaRPr lang="es-ES" sz="1400" dirty="0" smtClean="0"/>
          </a:p>
          <a:p>
            <a:pPr lvl="3"/>
            <a:r>
              <a:rPr lang="es-ES" sz="1400" dirty="0" err="1" smtClean="0"/>
              <a:t>digits</a:t>
            </a:r>
            <a:r>
              <a:rPr lang="es-ES" sz="1400" dirty="0" smtClean="0"/>
              <a:t> </a:t>
            </a:r>
            <a:r>
              <a:rPr lang="es-ES" sz="1400" dirty="0"/>
              <a:t>= </a:t>
            </a:r>
            <a:r>
              <a:rPr lang="es-ES" sz="1400" dirty="0" err="1"/>
              <a:t>datasets.load_digits</a:t>
            </a:r>
            <a:r>
              <a:rPr lang="es-ES" sz="1400" dirty="0"/>
              <a:t>() </a:t>
            </a:r>
            <a:endParaRPr lang="es-ES" sz="1400" dirty="0" smtClean="0"/>
          </a:p>
          <a:p>
            <a:pPr lvl="3"/>
            <a:r>
              <a:rPr lang="es-ES" sz="1400" dirty="0" err="1" smtClean="0"/>
              <a:t>wine</a:t>
            </a:r>
            <a:r>
              <a:rPr lang="es-ES" sz="1400" dirty="0" smtClean="0"/>
              <a:t> </a:t>
            </a:r>
            <a:r>
              <a:rPr lang="es-ES" sz="1400" dirty="0"/>
              <a:t>= </a:t>
            </a:r>
            <a:r>
              <a:rPr lang="es-ES" sz="1400" dirty="0" err="1"/>
              <a:t>datasets.load_wine</a:t>
            </a:r>
            <a:r>
              <a:rPr lang="es-ES" sz="1400" dirty="0" smtClean="0"/>
              <a:t>()</a:t>
            </a:r>
          </a:p>
          <a:p>
            <a:pPr marL="342900" indent="-342900">
              <a:buFont typeface="Arial" panose="020B0604020202020204" pitchFamily="34" charset="0"/>
              <a:buChar char="•"/>
            </a:pPr>
            <a:r>
              <a:rPr lang="es-ES" sz="2000" kern="0" spc="-5" dirty="0">
                <a:solidFill>
                  <a:schemeClr val="tx1"/>
                </a:solidFill>
                <a:latin typeface="+mj-lt"/>
              </a:rPr>
              <a:t>UCI Machine </a:t>
            </a:r>
            <a:r>
              <a:rPr lang="es-ES" sz="2000" kern="0" spc="-5" dirty="0" err="1">
                <a:solidFill>
                  <a:schemeClr val="tx1"/>
                </a:solidFill>
                <a:latin typeface="+mj-lt"/>
              </a:rPr>
              <a:t>Learning</a:t>
            </a:r>
            <a:r>
              <a:rPr lang="es-ES" sz="2000" kern="0" spc="-5" dirty="0">
                <a:solidFill>
                  <a:schemeClr val="tx1"/>
                </a:solidFill>
                <a:latin typeface="+mj-lt"/>
              </a:rPr>
              <a:t> </a:t>
            </a:r>
            <a:r>
              <a:rPr lang="es-ES" sz="2000" kern="0" spc="-5" dirty="0" err="1">
                <a:solidFill>
                  <a:schemeClr val="tx1"/>
                </a:solidFill>
                <a:latin typeface="+mj-lt"/>
              </a:rPr>
              <a:t>Repository</a:t>
            </a:r>
            <a:r>
              <a:rPr lang="es-ES" sz="2000" kern="0" spc="-5" dirty="0">
                <a:solidFill>
                  <a:schemeClr val="tx1"/>
                </a:solidFill>
                <a:latin typeface="+mj-lt"/>
              </a:rPr>
              <a:t>: p</a:t>
            </a:r>
            <a:r>
              <a:rPr lang="es-ES" sz="2000" kern="0" spc="-5" dirty="0" smtClean="0">
                <a:solidFill>
                  <a:schemeClr val="tx1"/>
                </a:solidFill>
                <a:latin typeface="+mj-lt"/>
              </a:rPr>
              <a:t>uedes </a:t>
            </a:r>
            <a:r>
              <a:rPr lang="es-ES" sz="2000" kern="0" spc="-5" dirty="0">
                <a:solidFill>
                  <a:schemeClr val="tx1"/>
                </a:solidFill>
                <a:latin typeface="+mj-lt"/>
              </a:rPr>
              <a:t>acceder a los datos mediante descargas o cargarlos directamente desde la web. Puedes encontrar más información en UCI ML </a:t>
            </a:r>
            <a:r>
              <a:rPr lang="es-ES" sz="2000" kern="0" spc="-5" dirty="0" err="1" smtClean="0">
                <a:solidFill>
                  <a:schemeClr val="tx1"/>
                </a:solidFill>
                <a:latin typeface="+mj-lt"/>
              </a:rPr>
              <a:t>Repository</a:t>
            </a:r>
            <a:r>
              <a:rPr lang="es-ES" sz="2000" kern="0" spc="-5" dirty="0">
                <a:solidFill>
                  <a:schemeClr val="tx1"/>
                </a:solidFill>
                <a:latin typeface="+mj-lt"/>
              </a:rPr>
              <a:t> (https://archive.ics.uci.edu</a:t>
            </a:r>
            <a:r>
              <a:rPr lang="es-ES" sz="2000" kern="0" spc="-5" dirty="0" smtClean="0">
                <a:solidFill>
                  <a:schemeClr val="tx1"/>
                </a:solidFill>
                <a:latin typeface="+mj-lt"/>
              </a:rPr>
              <a:t>/)</a:t>
            </a:r>
            <a:endParaRPr lang="es-ES" sz="2000" kern="0" spc="-5" dirty="0">
              <a:solidFill>
                <a:schemeClr val="tx1"/>
              </a:solidFill>
              <a:latin typeface="+mj-lt"/>
            </a:endParaRPr>
          </a:p>
          <a:p>
            <a:pPr marL="342900" indent="-342900">
              <a:buFont typeface="Arial" panose="020B0604020202020204" pitchFamily="34" charset="0"/>
              <a:buChar char="•"/>
            </a:pPr>
            <a:r>
              <a:rPr lang="es-ES" sz="2000" kern="0" spc="-5" dirty="0" err="1" smtClean="0">
                <a:solidFill>
                  <a:schemeClr val="tx1"/>
                </a:solidFill>
                <a:latin typeface="+mj-lt"/>
              </a:rPr>
              <a:t>OpenML</a:t>
            </a:r>
            <a:r>
              <a:rPr lang="es-ES" sz="2000" kern="0" spc="-5" dirty="0">
                <a:solidFill>
                  <a:schemeClr val="tx1"/>
                </a:solidFill>
                <a:latin typeface="+mj-lt"/>
              </a:rPr>
              <a:t>: </a:t>
            </a:r>
            <a:r>
              <a:rPr lang="es-ES" sz="2000" kern="0" spc="-5" dirty="0" smtClean="0">
                <a:solidFill>
                  <a:schemeClr val="tx1"/>
                </a:solidFill>
                <a:latin typeface="+mj-lt"/>
              </a:rPr>
              <a:t>plataforma </a:t>
            </a:r>
            <a:r>
              <a:rPr lang="es-ES" sz="2000" kern="0" spc="-5" dirty="0">
                <a:solidFill>
                  <a:schemeClr val="tx1"/>
                </a:solidFill>
                <a:latin typeface="+mj-lt"/>
              </a:rPr>
              <a:t>en línea que permite a los usuarios compartir conjuntos de datos para el aprendizaje </a:t>
            </a:r>
            <a:r>
              <a:rPr lang="es-ES" sz="2000" kern="0" spc="-5" dirty="0" smtClean="0">
                <a:solidFill>
                  <a:schemeClr val="tx1"/>
                </a:solidFill>
                <a:latin typeface="+mj-lt"/>
              </a:rPr>
              <a:t>automático</a:t>
            </a:r>
            <a:r>
              <a:rPr lang="es-ES" sz="2000" kern="0" spc="-5" dirty="0">
                <a:solidFill>
                  <a:schemeClr val="tx1"/>
                </a:solidFill>
                <a:latin typeface="+mj-lt"/>
              </a:rPr>
              <a:t> (https://www.openml.org</a:t>
            </a:r>
            <a:r>
              <a:rPr lang="es-ES" sz="2000" kern="0" spc="-5" dirty="0" smtClean="0">
                <a:solidFill>
                  <a:schemeClr val="tx1"/>
                </a:solidFill>
                <a:latin typeface="+mj-lt"/>
              </a:rPr>
              <a:t>/).</a:t>
            </a:r>
            <a:endParaRPr lang="es-ES" sz="2000" kern="0" spc="-5" dirty="0">
              <a:solidFill>
                <a:schemeClr val="tx1"/>
              </a:solidFill>
              <a:latin typeface="+mj-lt"/>
            </a:endParaRPr>
          </a:p>
          <a:p>
            <a:pPr marL="342900" indent="-342900">
              <a:buFont typeface="Arial" panose="020B0604020202020204" pitchFamily="34" charset="0"/>
              <a:buChar char="•"/>
            </a:pPr>
            <a:r>
              <a:rPr lang="es-ES" sz="2000" kern="0" spc="-5" dirty="0" err="1">
                <a:solidFill>
                  <a:schemeClr val="tx1"/>
                </a:solidFill>
                <a:latin typeface="+mj-lt"/>
              </a:rPr>
              <a:t>TensorFlow</a:t>
            </a:r>
            <a:r>
              <a:rPr lang="es-ES" sz="2000" kern="0" spc="-5" dirty="0">
                <a:solidFill>
                  <a:schemeClr val="tx1"/>
                </a:solidFill>
                <a:latin typeface="+mj-lt"/>
              </a:rPr>
              <a:t> </a:t>
            </a:r>
            <a:r>
              <a:rPr lang="es-ES" sz="2000" kern="0" spc="-5" dirty="0" err="1">
                <a:solidFill>
                  <a:schemeClr val="tx1"/>
                </a:solidFill>
                <a:latin typeface="+mj-lt"/>
              </a:rPr>
              <a:t>Datasets</a:t>
            </a:r>
            <a:r>
              <a:rPr lang="es-ES" sz="2000" kern="0" spc="-5" dirty="0" smtClean="0">
                <a:solidFill>
                  <a:schemeClr val="tx1"/>
                </a:solidFill>
                <a:latin typeface="+mj-lt"/>
              </a:rPr>
              <a:t>: puedes acceder a ellos usando el siguiente código:</a:t>
            </a:r>
          </a:p>
          <a:p>
            <a:pPr lvl="3"/>
            <a:r>
              <a:rPr lang="en-US" sz="1200" dirty="0">
                <a:solidFill>
                  <a:schemeClr val="tx1"/>
                </a:solidFill>
                <a:latin typeface="+mn-lt"/>
                <a:ea typeface="+mn-ea"/>
                <a:cs typeface="+mn-cs"/>
              </a:rPr>
              <a:t>import </a:t>
            </a:r>
            <a:r>
              <a:rPr lang="en-US" sz="1200" dirty="0" err="1">
                <a:solidFill>
                  <a:schemeClr val="tx1"/>
                </a:solidFill>
                <a:latin typeface="+mn-lt"/>
                <a:ea typeface="+mn-ea"/>
                <a:cs typeface="+mn-cs"/>
              </a:rPr>
              <a:t>tensorflow</a:t>
            </a:r>
            <a:r>
              <a:rPr lang="en-US" sz="1200" dirty="0">
                <a:solidFill>
                  <a:schemeClr val="tx1"/>
                </a:solidFill>
                <a:latin typeface="+mn-lt"/>
                <a:ea typeface="+mn-ea"/>
                <a:cs typeface="+mn-cs"/>
              </a:rPr>
              <a:t> as </a:t>
            </a:r>
            <a:r>
              <a:rPr lang="en-US" sz="1200" dirty="0" err="1">
                <a:solidFill>
                  <a:schemeClr val="tx1"/>
                </a:solidFill>
                <a:latin typeface="+mn-lt"/>
                <a:ea typeface="+mn-ea"/>
                <a:cs typeface="+mn-cs"/>
              </a:rPr>
              <a:t>tf</a:t>
            </a:r>
            <a:r>
              <a:rPr lang="en-US" sz="1200" dirty="0">
                <a:solidFill>
                  <a:schemeClr val="tx1"/>
                </a:solidFill>
                <a:latin typeface="+mn-lt"/>
                <a:ea typeface="+mn-ea"/>
                <a:cs typeface="+mn-cs"/>
              </a:rPr>
              <a:t> </a:t>
            </a:r>
            <a:endParaRPr lang="en-US" sz="1200" dirty="0" smtClean="0">
              <a:solidFill>
                <a:schemeClr val="tx1"/>
              </a:solidFill>
              <a:latin typeface="+mn-lt"/>
              <a:ea typeface="+mn-ea"/>
              <a:cs typeface="+mn-cs"/>
            </a:endParaRPr>
          </a:p>
          <a:p>
            <a:pPr lvl="3"/>
            <a:r>
              <a:rPr lang="en-US" sz="1200" dirty="0" smtClean="0">
                <a:solidFill>
                  <a:schemeClr val="tx1"/>
                </a:solidFill>
                <a:latin typeface="+mn-lt"/>
                <a:ea typeface="+mn-ea"/>
                <a:cs typeface="+mn-cs"/>
              </a:rPr>
              <a:t>import </a:t>
            </a:r>
            <a:r>
              <a:rPr lang="en-US" sz="1200" dirty="0" err="1">
                <a:solidFill>
                  <a:schemeClr val="tx1"/>
                </a:solidFill>
                <a:latin typeface="+mn-lt"/>
                <a:ea typeface="+mn-ea"/>
                <a:cs typeface="+mn-cs"/>
              </a:rPr>
              <a:t>tensorflow_datasets</a:t>
            </a:r>
            <a:r>
              <a:rPr lang="en-US" sz="1200" dirty="0">
                <a:solidFill>
                  <a:schemeClr val="tx1"/>
                </a:solidFill>
                <a:latin typeface="+mn-lt"/>
                <a:ea typeface="+mn-ea"/>
                <a:cs typeface="+mn-cs"/>
              </a:rPr>
              <a:t> as </a:t>
            </a:r>
            <a:r>
              <a:rPr lang="en-US" sz="1200" dirty="0" err="1">
                <a:solidFill>
                  <a:schemeClr val="tx1"/>
                </a:solidFill>
                <a:latin typeface="+mn-lt"/>
                <a:ea typeface="+mn-ea"/>
                <a:cs typeface="+mn-cs"/>
              </a:rPr>
              <a:t>tfds</a:t>
            </a:r>
            <a:endParaRPr lang="en-US" sz="1200" dirty="0">
              <a:solidFill>
                <a:schemeClr val="tx1"/>
              </a:solidFill>
              <a:latin typeface="+mn-lt"/>
              <a:ea typeface="+mn-ea"/>
              <a:cs typeface="+mn-cs"/>
            </a:endParaRPr>
          </a:p>
          <a:p>
            <a:pPr lvl="3"/>
            <a:r>
              <a:rPr lang="es-ES" sz="1200" dirty="0">
                <a:solidFill>
                  <a:schemeClr val="tx1"/>
                </a:solidFill>
                <a:latin typeface="+mn-lt"/>
                <a:ea typeface="+mn-ea"/>
                <a:cs typeface="+mn-cs"/>
              </a:rPr>
              <a:t># Lista de conjuntos de datos disponibles </a:t>
            </a:r>
            <a:endParaRPr lang="es-ES" sz="1200" dirty="0" smtClean="0">
              <a:solidFill>
                <a:schemeClr val="tx1"/>
              </a:solidFill>
              <a:latin typeface="+mn-lt"/>
              <a:ea typeface="+mn-ea"/>
              <a:cs typeface="+mn-cs"/>
            </a:endParaRPr>
          </a:p>
          <a:p>
            <a:pPr lvl="3"/>
            <a:r>
              <a:rPr lang="es-ES" sz="1200" dirty="0" err="1" smtClean="0">
                <a:solidFill>
                  <a:schemeClr val="tx1"/>
                </a:solidFill>
                <a:latin typeface="+mn-lt"/>
                <a:ea typeface="+mn-ea"/>
                <a:cs typeface="+mn-cs"/>
              </a:rPr>
              <a:t>datasets_list</a:t>
            </a:r>
            <a:r>
              <a:rPr lang="es-ES" sz="1200" dirty="0" smtClean="0">
                <a:solidFill>
                  <a:schemeClr val="tx1"/>
                </a:solidFill>
                <a:latin typeface="+mn-lt"/>
                <a:ea typeface="+mn-ea"/>
                <a:cs typeface="+mn-cs"/>
              </a:rPr>
              <a:t> </a:t>
            </a:r>
            <a:r>
              <a:rPr lang="es-ES" sz="1200" dirty="0">
                <a:solidFill>
                  <a:schemeClr val="tx1"/>
                </a:solidFill>
                <a:latin typeface="+mn-lt"/>
                <a:ea typeface="+mn-ea"/>
                <a:cs typeface="+mn-cs"/>
              </a:rPr>
              <a:t>= </a:t>
            </a:r>
            <a:r>
              <a:rPr lang="es-ES" sz="1200" dirty="0" err="1">
                <a:solidFill>
                  <a:schemeClr val="tx1"/>
                </a:solidFill>
                <a:latin typeface="+mn-lt"/>
                <a:ea typeface="+mn-ea"/>
                <a:cs typeface="+mn-cs"/>
              </a:rPr>
              <a:t>tfds.list_builders</a:t>
            </a:r>
            <a:r>
              <a:rPr lang="es-ES" sz="1200" dirty="0">
                <a:solidFill>
                  <a:schemeClr val="tx1"/>
                </a:solidFill>
                <a:latin typeface="+mn-lt"/>
                <a:ea typeface="+mn-ea"/>
                <a:cs typeface="+mn-cs"/>
              </a:rPr>
              <a:t>() </a:t>
            </a:r>
            <a:endParaRPr lang="es-ES" sz="1200" dirty="0" smtClean="0">
              <a:solidFill>
                <a:schemeClr val="tx1"/>
              </a:solidFill>
              <a:latin typeface="+mn-lt"/>
              <a:ea typeface="+mn-ea"/>
              <a:cs typeface="+mn-cs"/>
            </a:endParaRPr>
          </a:p>
          <a:p>
            <a:pPr lvl="3"/>
            <a:r>
              <a:rPr lang="es-ES" sz="1200" dirty="0" smtClean="0">
                <a:solidFill>
                  <a:schemeClr val="tx1"/>
                </a:solidFill>
                <a:latin typeface="+mn-lt"/>
                <a:ea typeface="+mn-ea"/>
                <a:cs typeface="+mn-cs"/>
              </a:rPr>
              <a:t># </a:t>
            </a:r>
            <a:r>
              <a:rPr lang="es-ES" sz="1200" dirty="0">
                <a:solidFill>
                  <a:schemeClr val="tx1"/>
                </a:solidFill>
                <a:latin typeface="+mn-lt"/>
                <a:ea typeface="+mn-ea"/>
                <a:cs typeface="+mn-cs"/>
              </a:rPr>
              <a:t>Imprimir la lista de conjuntos de datos </a:t>
            </a:r>
            <a:endParaRPr lang="es-ES" sz="1200" dirty="0" smtClean="0">
              <a:solidFill>
                <a:schemeClr val="tx1"/>
              </a:solidFill>
              <a:latin typeface="+mn-lt"/>
              <a:ea typeface="+mn-ea"/>
              <a:cs typeface="+mn-cs"/>
            </a:endParaRPr>
          </a:p>
          <a:p>
            <a:pPr lvl="3"/>
            <a:r>
              <a:rPr lang="es-ES" sz="1200" dirty="0" err="1" smtClean="0">
                <a:solidFill>
                  <a:schemeClr val="tx1"/>
                </a:solidFill>
                <a:latin typeface="+mn-lt"/>
                <a:ea typeface="+mn-ea"/>
                <a:cs typeface="+mn-cs"/>
              </a:rPr>
              <a:t>print</a:t>
            </a:r>
            <a:r>
              <a:rPr lang="es-ES" sz="1200" dirty="0">
                <a:solidFill>
                  <a:schemeClr val="tx1"/>
                </a:solidFill>
                <a:latin typeface="+mn-lt"/>
                <a:ea typeface="+mn-ea"/>
                <a:cs typeface="+mn-cs"/>
              </a:rPr>
              <a:t>("Conjuntos de datos disponibles:") </a:t>
            </a:r>
            <a:endParaRPr lang="es-ES" sz="1200" dirty="0" smtClean="0">
              <a:solidFill>
                <a:schemeClr val="tx1"/>
              </a:solidFill>
              <a:latin typeface="+mn-lt"/>
              <a:ea typeface="+mn-ea"/>
              <a:cs typeface="+mn-cs"/>
            </a:endParaRPr>
          </a:p>
          <a:p>
            <a:pPr lvl="3"/>
            <a:r>
              <a:rPr lang="es-ES" sz="1200" dirty="0" err="1" smtClean="0">
                <a:solidFill>
                  <a:schemeClr val="tx1"/>
                </a:solidFill>
                <a:latin typeface="+mn-lt"/>
                <a:ea typeface="+mn-ea"/>
                <a:cs typeface="+mn-cs"/>
              </a:rPr>
              <a:t>for</a:t>
            </a:r>
            <a:r>
              <a:rPr lang="es-ES" sz="1200" dirty="0" smtClean="0">
                <a:solidFill>
                  <a:schemeClr val="tx1"/>
                </a:solidFill>
                <a:latin typeface="+mn-lt"/>
                <a:ea typeface="+mn-ea"/>
                <a:cs typeface="+mn-cs"/>
              </a:rPr>
              <a:t> </a:t>
            </a:r>
            <a:r>
              <a:rPr lang="es-ES" sz="1200" dirty="0" err="1">
                <a:solidFill>
                  <a:schemeClr val="tx1"/>
                </a:solidFill>
                <a:latin typeface="+mn-lt"/>
                <a:ea typeface="+mn-ea"/>
                <a:cs typeface="+mn-cs"/>
              </a:rPr>
              <a:t>dataset</a:t>
            </a:r>
            <a:r>
              <a:rPr lang="es-ES" sz="1200" dirty="0">
                <a:solidFill>
                  <a:schemeClr val="tx1"/>
                </a:solidFill>
                <a:latin typeface="+mn-lt"/>
                <a:ea typeface="+mn-ea"/>
                <a:cs typeface="+mn-cs"/>
              </a:rPr>
              <a:t> in </a:t>
            </a:r>
            <a:r>
              <a:rPr lang="es-ES" sz="1200" dirty="0" err="1">
                <a:solidFill>
                  <a:schemeClr val="tx1"/>
                </a:solidFill>
                <a:latin typeface="+mn-lt"/>
                <a:ea typeface="+mn-ea"/>
                <a:cs typeface="+mn-cs"/>
              </a:rPr>
              <a:t>datasets_list</a:t>
            </a:r>
            <a:r>
              <a:rPr lang="es-ES" sz="1200" dirty="0">
                <a:solidFill>
                  <a:schemeClr val="tx1"/>
                </a:solidFill>
                <a:latin typeface="+mn-lt"/>
                <a:ea typeface="+mn-ea"/>
                <a:cs typeface="+mn-cs"/>
              </a:rPr>
              <a:t>: </a:t>
            </a:r>
            <a:endParaRPr lang="es-ES" sz="1200" dirty="0" smtClean="0">
              <a:solidFill>
                <a:schemeClr val="tx1"/>
              </a:solidFill>
              <a:latin typeface="+mn-lt"/>
              <a:ea typeface="+mn-ea"/>
              <a:cs typeface="+mn-cs"/>
            </a:endParaRPr>
          </a:p>
          <a:p>
            <a:pPr lvl="3"/>
            <a:r>
              <a:rPr lang="es-ES" sz="1200" dirty="0">
                <a:solidFill>
                  <a:schemeClr val="tx1"/>
                </a:solidFill>
                <a:latin typeface="+mn-lt"/>
                <a:ea typeface="+mn-ea"/>
                <a:cs typeface="+mn-cs"/>
              </a:rPr>
              <a:t>	</a:t>
            </a:r>
            <a:r>
              <a:rPr lang="es-ES" sz="1200" dirty="0" err="1" smtClean="0">
                <a:solidFill>
                  <a:schemeClr val="tx1"/>
                </a:solidFill>
                <a:latin typeface="+mn-lt"/>
                <a:ea typeface="+mn-ea"/>
                <a:cs typeface="+mn-cs"/>
              </a:rPr>
              <a:t>print</a:t>
            </a:r>
            <a:r>
              <a:rPr lang="es-ES" sz="1200" dirty="0" smtClean="0">
                <a:solidFill>
                  <a:schemeClr val="tx1"/>
                </a:solidFill>
                <a:latin typeface="+mn-lt"/>
                <a:ea typeface="+mn-ea"/>
                <a:cs typeface="+mn-cs"/>
              </a:rPr>
              <a:t>(</a:t>
            </a:r>
            <a:r>
              <a:rPr lang="es-ES" sz="1200" dirty="0" err="1" smtClean="0">
                <a:solidFill>
                  <a:schemeClr val="tx1"/>
                </a:solidFill>
                <a:latin typeface="+mn-lt"/>
                <a:ea typeface="+mn-ea"/>
                <a:cs typeface="+mn-cs"/>
              </a:rPr>
              <a:t>dataset</a:t>
            </a:r>
            <a:r>
              <a:rPr lang="es-ES" sz="1200" dirty="0">
                <a:solidFill>
                  <a:schemeClr val="tx1"/>
                </a:solidFill>
                <a:latin typeface="+mn-lt"/>
                <a:ea typeface="+mn-ea"/>
                <a:cs typeface="+mn-cs"/>
              </a:rPr>
              <a:t>)</a:t>
            </a:r>
          </a:p>
          <a:p>
            <a:pPr lvl="3"/>
            <a:r>
              <a:rPr lang="en-US" sz="1200" dirty="0">
                <a:solidFill>
                  <a:schemeClr val="tx1"/>
                </a:solidFill>
                <a:latin typeface="+mn-lt"/>
                <a:ea typeface="+mn-ea"/>
                <a:cs typeface="+mn-cs"/>
              </a:rPr>
              <a:t># </a:t>
            </a:r>
            <a:r>
              <a:rPr lang="en-US" sz="1200" dirty="0" err="1">
                <a:solidFill>
                  <a:schemeClr val="tx1"/>
                </a:solidFill>
                <a:latin typeface="+mn-lt"/>
                <a:ea typeface="+mn-ea"/>
                <a:cs typeface="+mn-cs"/>
              </a:rPr>
              <a:t>Cargar</a:t>
            </a:r>
            <a:r>
              <a:rPr lang="en-US" sz="1200" dirty="0">
                <a:solidFill>
                  <a:schemeClr val="tx1"/>
                </a:solidFill>
                <a:latin typeface="+mn-lt"/>
                <a:ea typeface="+mn-ea"/>
                <a:cs typeface="+mn-cs"/>
              </a:rPr>
              <a:t> un </a:t>
            </a:r>
            <a:r>
              <a:rPr lang="en-US" sz="1200" dirty="0" err="1">
                <a:solidFill>
                  <a:schemeClr val="tx1"/>
                </a:solidFill>
                <a:latin typeface="+mn-lt"/>
                <a:ea typeface="+mn-ea"/>
                <a:cs typeface="+mn-cs"/>
              </a:rPr>
              <a:t>conjunto</a:t>
            </a:r>
            <a:r>
              <a:rPr lang="en-US" sz="1200" dirty="0">
                <a:solidFill>
                  <a:schemeClr val="tx1"/>
                </a:solidFill>
                <a:latin typeface="+mn-lt"/>
                <a:ea typeface="+mn-ea"/>
                <a:cs typeface="+mn-cs"/>
              </a:rPr>
              <a:t> de </a:t>
            </a:r>
            <a:r>
              <a:rPr lang="en-US" sz="1200" dirty="0" err="1">
                <a:solidFill>
                  <a:schemeClr val="tx1"/>
                </a:solidFill>
                <a:latin typeface="+mn-lt"/>
                <a:ea typeface="+mn-ea"/>
                <a:cs typeface="+mn-cs"/>
              </a:rPr>
              <a:t>datos</a:t>
            </a:r>
            <a:r>
              <a:rPr lang="en-US" sz="1200" dirty="0">
                <a:solidFill>
                  <a:schemeClr val="tx1"/>
                </a:solidFill>
                <a:latin typeface="+mn-lt"/>
                <a:ea typeface="+mn-ea"/>
                <a:cs typeface="+mn-cs"/>
              </a:rPr>
              <a:t>, </a:t>
            </a:r>
            <a:r>
              <a:rPr lang="en-US" sz="1200" dirty="0" err="1">
                <a:solidFill>
                  <a:schemeClr val="tx1"/>
                </a:solidFill>
                <a:latin typeface="+mn-lt"/>
                <a:ea typeface="+mn-ea"/>
                <a:cs typeface="+mn-cs"/>
              </a:rPr>
              <a:t>por</a:t>
            </a:r>
            <a:r>
              <a:rPr lang="en-US" sz="1200" dirty="0">
                <a:solidFill>
                  <a:schemeClr val="tx1"/>
                </a:solidFill>
                <a:latin typeface="+mn-lt"/>
                <a:ea typeface="+mn-ea"/>
                <a:cs typeface="+mn-cs"/>
              </a:rPr>
              <a:t> </a:t>
            </a:r>
            <a:r>
              <a:rPr lang="en-US" sz="1200" dirty="0" err="1">
                <a:solidFill>
                  <a:schemeClr val="tx1"/>
                </a:solidFill>
                <a:latin typeface="+mn-lt"/>
                <a:ea typeface="+mn-ea"/>
                <a:cs typeface="+mn-cs"/>
              </a:rPr>
              <a:t>ejemplo</a:t>
            </a:r>
            <a:r>
              <a:rPr lang="en-US" sz="1200" dirty="0">
                <a:solidFill>
                  <a:schemeClr val="tx1"/>
                </a:solidFill>
                <a:latin typeface="+mn-lt"/>
                <a:ea typeface="+mn-ea"/>
                <a:cs typeface="+mn-cs"/>
              </a:rPr>
              <a:t>, '</a:t>
            </a:r>
            <a:r>
              <a:rPr lang="en-US" sz="1200" dirty="0" err="1">
                <a:solidFill>
                  <a:schemeClr val="tx1"/>
                </a:solidFill>
                <a:latin typeface="+mn-lt"/>
                <a:ea typeface="+mn-ea"/>
                <a:cs typeface="+mn-cs"/>
              </a:rPr>
              <a:t>mnist</a:t>
            </a:r>
            <a:r>
              <a:rPr lang="en-US" sz="1200" dirty="0">
                <a:solidFill>
                  <a:schemeClr val="tx1"/>
                </a:solidFill>
                <a:latin typeface="+mn-lt"/>
                <a:ea typeface="+mn-ea"/>
                <a:cs typeface="+mn-cs"/>
              </a:rPr>
              <a:t>' </a:t>
            </a:r>
            <a:endParaRPr lang="en-US" sz="1200" dirty="0" smtClean="0">
              <a:solidFill>
                <a:schemeClr val="tx1"/>
              </a:solidFill>
              <a:latin typeface="+mn-lt"/>
              <a:ea typeface="+mn-ea"/>
              <a:cs typeface="+mn-cs"/>
            </a:endParaRPr>
          </a:p>
          <a:p>
            <a:pPr lvl="3"/>
            <a:r>
              <a:rPr lang="en-US" sz="1200" dirty="0" err="1" smtClean="0">
                <a:solidFill>
                  <a:schemeClr val="tx1"/>
                </a:solidFill>
                <a:latin typeface="+mn-lt"/>
                <a:ea typeface="+mn-ea"/>
                <a:cs typeface="+mn-cs"/>
              </a:rPr>
              <a:t>dataset_name</a:t>
            </a:r>
            <a:r>
              <a:rPr lang="en-US" sz="1200" dirty="0" smtClean="0">
                <a:solidFill>
                  <a:schemeClr val="tx1"/>
                </a:solidFill>
                <a:latin typeface="+mn-lt"/>
                <a:ea typeface="+mn-ea"/>
                <a:cs typeface="+mn-cs"/>
              </a:rPr>
              <a:t> </a:t>
            </a:r>
            <a:r>
              <a:rPr lang="en-US" sz="1200" dirty="0">
                <a:solidFill>
                  <a:schemeClr val="tx1"/>
                </a:solidFill>
                <a:latin typeface="+mn-lt"/>
                <a:ea typeface="+mn-ea"/>
                <a:cs typeface="+mn-cs"/>
              </a:rPr>
              <a:t>= '</a:t>
            </a:r>
            <a:r>
              <a:rPr lang="en-US" sz="1200" dirty="0" err="1">
                <a:solidFill>
                  <a:schemeClr val="tx1"/>
                </a:solidFill>
                <a:latin typeface="+mn-lt"/>
                <a:ea typeface="+mn-ea"/>
                <a:cs typeface="+mn-cs"/>
              </a:rPr>
              <a:t>mnist</a:t>
            </a:r>
            <a:r>
              <a:rPr lang="en-US" sz="1200" dirty="0">
                <a:solidFill>
                  <a:schemeClr val="tx1"/>
                </a:solidFill>
                <a:latin typeface="+mn-lt"/>
                <a:ea typeface="+mn-ea"/>
                <a:cs typeface="+mn-cs"/>
              </a:rPr>
              <a:t>' (</a:t>
            </a:r>
            <a:r>
              <a:rPr lang="en-US" sz="1200" dirty="0" err="1">
                <a:solidFill>
                  <a:schemeClr val="tx1"/>
                </a:solidFill>
                <a:latin typeface="+mn-lt"/>
                <a:ea typeface="+mn-ea"/>
                <a:cs typeface="+mn-cs"/>
              </a:rPr>
              <a:t>train_data</a:t>
            </a:r>
            <a:r>
              <a:rPr lang="en-US" sz="1200" dirty="0">
                <a:solidFill>
                  <a:schemeClr val="tx1"/>
                </a:solidFill>
                <a:latin typeface="+mn-lt"/>
                <a:ea typeface="+mn-ea"/>
                <a:cs typeface="+mn-cs"/>
              </a:rPr>
              <a:t>, </a:t>
            </a:r>
            <a:r>
              <a:rPr lang="en-US" sz="1200" dirty="0" err="1">
                <a:solidFill>
                  <a:schemeClr val="tx1"/>
                </a:solidFill>
                <a:latin typeface="+mn-lt"/>
                <a:ea typeface="+mn-ea"/>
                <a:cs typeface="+mn-cs"/>
              </a:rPr>
              <a:t>test_data</a:t>
            </a:r>
            <a:r>
              <a:rPr lang="en-US" sz="1200" dirty="0">
                <a:solidFill>
                  <a:schemeClr val="tx1"/>
                </a:solidFill>
                <a:latin typeface="+mn-lt"/>
                <a:ea typeface="+mn-ea"/>
                <a:cs typeface="+mn-cs"/>
              </a:rPr>
              <a:t>), info = </a:t>
            </a:r>
            <a:r>
              <a:rPr lang="en-US" sz="1200" dirty="0" err="1">
                <a:solidFill>
                  <a:schemeClr val="tx1"/>
                </a:solidFill>
                <a:latin typeface="+mn-lt"/>
                <a:ea typeface="+mn-ea"/>
                <a:cs typeface="+mn-cs"/>
              </a:rPr>
              <a:t>tfds.load</a:t>
            </a:r>
            <a:r>
              <a:rPr lang="en-US" sz="1200" dirty="0">
                <a:solidFill>
                  <a:schemeClr val="tx1"/>
                </a:solidFill>
                <a:latin typeface="+mn-lt"/>
                <a:ea typeface="+mn-ea"/>
                <a:cs typeface="+mn-cs"/>
              </a:rPr>
              <a:t>(name=</a:t>
            </a:r>
            <a:r>
              <a:rPr lang="en-US" sz="1200" dirty="0" err="1">
                <a:solidFill>
                  <a:schemeClr val="tx1"/>
                </a:solidFill>
                <a:latin typeface="+mn-lt"/>
                <a:ea typeface="+mn-ea"/>
                <a:cs typeface="+mn-cs"/>
              </a:rPr>
              <a:t>dataset_name</a:t>
            </a:r>
            <a:r>
              <a:rPr lang="en-US" sz="1200" dirty="0">
                <a:solidFill>
                  <a:schemeClr val="tx1"/>
                </a:solidFill>
                <a:latin typeface="+mn-lt"/>
                <a:ea typeface="+mn-ea"/>
                <a:cs typeface="+mn-cs"/>
              </a:rPr>
              <a:t>, split=['train', 'test'], </a:t>
            </a:r>
            <a:r>
              <a:rPr lang="en-US" sz="1200" dirty="0" err="1">
                <a:solidFill>
                  <a:schemeClr val="tx1"/>
                </a:solidFill>
                <a:latin typeface="+mn-lt"/>
                <a:ea typeface="+mn-ea"/>
                <a:cs typeface="+mn-cs"/>
              </a:rPr>
              <a:t>with_info</a:t>
            </a:r>
            <a:r>
              <a:rPr lang="en-US" sz="1200" dirty="0">
                <a:solidFill>
                  <a:schemeClr val="tx1"/>
                </a:solidFill>
                <a:latin typeface="+mn-lt"/>
                <a:ea typeface="+mn-ea"/>
                <a:cs typeface="+mn-cs"/>
              </a:rPr>
              <a:t>=True)</a:t>
            </a:r>
          </a:p>
          <a:p>
            <a:pPr lvl="3"/>
            <a:r>
              <a:rPr lang="es-ES" sz="1200" dirty="0">
                <a:solidFill>
                  <a:schemeClr val="tx1"/>
                </a:solidFill>
                <a:latin typeface="+mn-lt"/>
                <a:ea typeface="+mn-ea"/>
                <a:cs typeface="+mn-cs"/>
              </a:rPr>
              <a:t># Imprimir información sobre el conjunto de </a:t>
            </a:r>
            <a:r>
              <a:rPr lang="es-ES" sz="1200" dirty="0" smtClean="0">
                <a:solidFill>
                  <a:schemeClr val="tx1"/>
                </a:solidFill>
                <a:latin typeface="+mn-lt"/>
                <a:ea typeface="+mn-ea"/>
                <a:cs typeface="+mn-cs"/>
              </a:rPr>
              <a:t>datos</a:t>
            </a:r>
          </a:p>
          <a:p>
            <a:pPr lvl="3"/>
            <a:r>
              <a:rPr lang="es-ES" sz="1200" dirty="0" smtClean="0">
                <a:solidFill>
                  <a:schemeClr val="tx1"/>
                </a:solidFill>
                <a:latin typeface="+mn-lt"/>
                <a:ea typeface="+mn-ea"/>
                <a:cs typeface="+mn-cs"/>
              </a:rPr>
              <a:t> </a:t>
            </a:r>
            <a:r>
              <a:rPr lang="es-ES" sz="1200" dirty="0" err="1">
                <a:solidFill>
                  <a:schemeClr val="tx1"/>
                </a:solidFill>
                <a:latin typeface="+mn-lt"/>
                <a:ea typeface="+mn-ea"/>
                <a:cs typeface="+mn-cs"/>
              </a:rPr>
              <a:t>print</a:t>
            </a:r>
            <a:r>
              <a:rPr lang="es-ES" sz="1200" dirty="0">
                <a:solidFill>
                  <a:schemeClr val="tx1"/>
                </a:solidFill>
                <a:latin typeface="+mn-lt"/>
                <a:ea typeface="+mn-ea"/>
                <a:cs typeface="+mn-cs"/>
              </a:rPr>
              <a:t>(</a:t>
            </a:r>
            <a:r>
              <a:rPr lang="es-ES" sz="1200" dirty="0" err="1">
                <a:solidFill>
                  <a:schemeClr val="tx1"/>
                </a:solidFill>
                <a:latin typeface="+mn-lt"/>
                <a:ea typeface="+mn-ea"/>
                <a:cs typeface="+mn-cs"/>
              </a:rPr>
              <a:t>info</a:t>
            </a:r>
            <a:r>
              <a:rPr lang="es-ES" sz="1200" dirty="0">
                <a:solidFill>
                  <a:schemeClr val="tx1"/>
                </a:solidFill>
                <a:latin typeface="+mn-lt"/>
                <a:ea typeface="+mn-ea"/>
                <a:cs typeface="+mn-cs"/>
              </a:rPr>
              <a:t>)</a:t>
            </a:r>
          </a:p>
          <a:p>
            <a:pPr lvl="3"/>
            <a:endParaRPr lang="es-ES" sz="1600" kern="0" spc="-5" dirty="0">
              <a:solidFill>
                <a:schemeClr val="tx1"/>
              </a:solidFill>
              <a:latin typeface="+mj-lt"/>
            </a:endParaRPr>
          </a:p>
        </p:txBody>
      </p:sp>
    </p:spTree>
    <p:extLst>
      <p:ext uri="{BB962C8B-B14F-4D97-AF65-F5344CB8AC3E}">
        <p14:creationId xmlns:p14="http://schemas.microsoft.com/office/powerpoint/2010/main" val="3083515781"/>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txBox="1">
            <a:spLocks/>
          </p:cNvSpPr>
          <p:nvPr/>
        </p:nvSpPr>
        <p:spPr>
          <a:xfrm>
            <a:off x="393700" y="352425"/>
            <a:ext cx="9999472" cy="369332"/>
          </a:xfrm>
          <a:prstGeom prst="rect">
            <a:avLst/>
          </a:prstGeom>
        </p:spPr>
        <p:txBody>
          <a:bodyPr wrap="square" lIns="0" tIns="0" rIns="0" bIns="0">
            <a:spAutoFit/>
          </a:bodyPr>
          <a:lstStyle>
            <a:lvl1pPr>
              <a:defRPr sz="2400" b="0" i="0">
                <a:solidFill>
                  <a:srgbClr val="FF0000"/>
                </a:solidFill>
                <a:latin typeface="Times New Roman"/>
                <a:ea typeface="+mj-ea"/>
                <a:cs typeface="Times New Roman"/>
              </a:defRPr>
            </a:lvl1pPr>
          </a:lstStyle>
          <a:p>
            <a:r>
              <a:rPr lang="es-ES" b="1" kern="0" spc="-5" dirty="0" smtClean="0">
                <a:solidFill>
                  <a:srgbClr val="365F91"/>
                </a:solidFill>
              </a:rPr>
              <a:t>Redes neuronales en Python (</a:t>
            </a:r>
            <a:r>
              <a:rPr lang="es-ES" b="1" kern="0" spc="-5" dirty="0" err="1" smtClean="0">
                <a:solidFill>
                  <a:srgbClr val="365F91"/>
                </a:solidFill>
              </a:rPr>
              <a:t>Keras</a:t>
            </a:r>
            <a:r>
              <a:rPr lang="es-ES" b="1" kern="0" spc="-5" dirty="0" smtClean="0">
                <a:solidFill>
                  <a:srgbClr val="365F91"/>
                </a:solidFill>
              </a:rPr>
              <a:t>: (1) ‘</a:t>
            </a:r>
            <a:r>
              <a:rPr lang="es-ES" b="1" kern="0" spc="-5" dirty="0" err="1" smtClean="0">
                <a:solidFill>
                  <a:srgbClr val="365F91"/>
                </a:solidFill>
              </a:rPr>
              <a:t>tensorflow</a:t>
            </a:r>
            <a:r>
              <a:rPr lang="es-ES" b="1" kern="0" spc="-5" dirty="0" smtClean="0">
                <a:solidFill>
                  <a:srgbClr val="365F91"/>
                </a:solidFill>
              </a:rPr>
              <a:t>’ + (2) ‘</a:t>
            </a:r>
            <a:r>
              <a:rPr lang="es-ES" b="1" kern="0" spc="-5" dirty="0" err="1" smtClean="0">
                <a:solidFill>
                  <a:srgbClr val="365F91"/>
                </a:solidFill>
              </a:rPr>
              <a:t>keras</a:t>
            </a:r>
            <a:r>
              <a:rPr lang="es-ES" b="1" kern="0" spc="-5" dirty="0" smtClean="0">
                <a:solidFill>
                  <a:srgbClr val="365F91"/>
                </a:solidFill>
              </a:rPr>
              <a:t>’) 	</a:t>
            </a:r>
            <a:endParaRPr lang="es-ES" kern="0" dirty="0"/>
          </a:p>
        </p:txBody>
      </p:sp>
      <p:sp>
        <p:nvSpPr>
          <p:cNvPr id="7" name="CuadroTexto 6"/>
          <p:cNvSpPr txBox="1"/>
          <p:nvPr/>
        </p:nvSpPr>
        <p:spPr>
          <a:xfrm>
            <a:off x="393700" y="809625"/>
            <a:ext cx="9943229" cy="6740307"/>
          </a:xfrm>
          <a:prstGeom prst="rect">
            <a:avLst/>
          </a:prstGeom>
          <a:noFill/>
        </p:spPr>
        <p:txBody>
          <a:bodyPr wrap="square" rtlCol="0">
            <a:spAutoFit/>
          </a:bodyPr>
          <a:lstStyle/>
          <a:p>
            <a:r>
              <a:rPr lang="es-ES" b="1" dirty="0"/>
              <a:t>Cuidado con el cálculo de las medidas de bondad</a:t>
            </a:r>
          </a:p>
          <a:p>
            <a:r>
              <a:rPr lang="es-ES" dirty="0"/>
              <a:t>Algunas funciones están preparadas para funcionar con 1-0, otras con si-no, y depende de las necesidades propias de cada clasificador. </a:t>
            </a:r>
            <a:endParaRPr lang="es-ES" dirty="0" smtClean="0"/>
          </a:p>
          <a:p>
            <a:r>
              <a:rPr lang="es-ES" dirty="0"/>
              <a:t>E</a:t>
            </a:r>
            <a:r>
              <a:rPr lang="es-ES" dirty="0" smtClean="0"/>
              <a:t>l </a:t>
            </a:r>
            <a:r>
              <a:rPr lang="es-ES" dirty="0"/>
              <a:t>modelo </a:t>
            </a:r>
            <a:r>
              <a:rPr lang="es-ES" dirty="0" err="1"/>
              <a:t>Sequential</a:t>
            </a:r>
            <a:r>
              <a:rPr lang="es-ES" dirty="0"/>
              <a:t>() </a:t>
            </a:r>
            <a:r>
              <a:rPr lang="es-ES" dirty="0" smtClean="0"/>
              <a:t>(</a:t>
            </a:r>
            <a:r>
              <a:rPr lang="es-ES" dirty="0" err="1" smtClean="0"/>
              <a:t>Keras</a:t>
            </a:r>
            <a:r>
              <a:rPr lang="es-ES" dirty="0" smtClean="0"/>
              <a:t>) necesita </a:t>
            </a:r>
            <a:r>
              <a:rPr lang="es-ES" dirty="0"/>
              <a:t>que la variable objetivo esté codificada 1-0, sin embargo las funciones, </a:t>
            </a:r>
            <a:r>
              <a:rPr lang="es-ES" dirty="0" err="1"/>
              <a:t>ConfusionMatrixDisplay</a:t>
            </a:r>
            <a:r>
              <a:rPr lang="es-ES" dirty="0"/>
              <a:t>, y las distintas de los score necesitan un evidente clasificador. Por tanto, hay que buscar otras opciones para calcular las medidas de bondad SIEMPRE SOBRE DATO TEST</a:t>
            </a:r>
          </a:p>
          <a:p>
            <a:endParaRPr lang="es-ES" b="1" dirty="0" smtClean="0"/>
          </a:p>
          <a:p>
            <a:r>
              <a:rPr lang="es-ES" b="1" dirty="0" smtClean="0"/>
              <a:t>Tuneo </a:t>
            </a:r>
            <a:r>
              <a:rPr lang="es-ES" b="1" dirty="0" err="1" smtClean="0"/>
              <a:t>hiperparámetros</a:t>
            </a:r>
            <a:r>
              <a:rPr lang="es-ES" b="1" dirty="0" smtClean="0"/>
              <a:t> numéricos </a:t>
            </a:r>
            <a:r>
              <a:rPr lang="es-ES" dirty="0" smtClean="0"/>
              <a:t>(número </a:t>
            </a:r>
            <a:r>
              <a:rPr lang="es-ES" dirty="0"/>
              <a:t>de nodos capa oculta y </a:t>
            </a:r>
            <a:r>
              <a:rPr lang="es-ES" dirty="0" err="1"/>
              <a:t>decay</a:t>
            </a:r>
            <a:r>
              <a:rPr lang="es-ES" dirty="0" smtClean="0"/>
              <a:t>): </a:t>
            </a:r>
            <a:r>
              <a:rPr lang="es-ES" i="1" dirty="0" err="1"/>
              <a:t>hp.Int</a:t>
            </a:r>
            <a:r>
              <a:rPr lang="es-ES" i="1" dirty="0"/>
              <a:t>('</a:t>
            </a:r>
            <a:r>
              <a:rPr lang="es-ES" i="1" dirty="0" err="1"/>
              <a:t>hiperparámetro</a:t>
            </a:r>
            <a:r>
              <a:rPr lang="es-ES" i="1" dirty="0"/>
              <a:t>', </a:t>
            </a:r>
            <a:r>
              <a:rPr lang="es-ES" i="1" dirty="0" err="1"/>
              <a:t>min_value</a:t>
            </a:r>
            <a:r>
              <a:rPr lang="es-ES" i="1" dirty="0"/>
              <a:t>=, </a:t>
            </a:r>
            <a:r>
              <a:rPr lang="es-ES" i="1" dirty="0" err="1"/>
              <a:t>max_value</a:t>
            </a:r>
            <a:r>
              <a:rPr lang="es-ES" i="1" dirty="0"/>
              <a:t>=, </a:t>
            </a:r>
            <a:r>
              <a:rPr lang="es-ES" i="1" dirty="0" err="1"/>
              <a:t>step</a:t>
            </a:r>
            <a:r>
              <a:rPr lang="es-ES" i="1" dirty="0"/>
              <a:t>=)</a:t>
            </a:r>
            <a:r>
              <a:rPr lang="es-ES" dirty="0"/>
              <a:t>, a la que se le dice qué </a:t>
            </a:r>
            <a:r>
              <a:rPr lang="es-ES" dirty="0" err="1"/>
              <a:t>hiperparámetro</a:t>
            </a:r>
            <a:r>
              <a:rPr lang="es-ES" dirty="0"/>
              <a:t> se está buscando, qué valor mínimo y máximo del mismo se considerarán y el "salto" de un valor a otro</a:t>
            </a:r>
          </a:p>
          <a:p>
            <a:r>
              <a:rPr lang="es-ES" b="1" dirty="0" err="1" smtClean="0"/>
              <a:t>kt.Hyperband</a:t>
            </a:r>
            <a:r>
              <a:rPr lang="es-ES" dirty="0" smtClean="0"/>
              <a:t> (biblioteca </a:t>
            </a:r>
            <a:r>
              <a:rPr lang="es-ES" dirty="0" err="1" smtClean="0"/>
              <a:t>keras-tuner</a:t>
            </a:r>
            <a:r>
              <a:rPr lang="es-ES" dirty="0" smtClean="0"/>
              <a:t>): se </a:t>
            </a:r>
            <a:r>
              <a:rPr lang="es-ES" dirty="0"/>
              <a:t>utiliza para configurar y ejecutar una búsqueda </a:t>
            </a:r>
            <a:r>
              <a:rPr lang="es-ES" dirty="0" smtClean="0"/>
              <a:t>de </a:t>
            </a:r>
            <a:r>
              <a:rPr lang="es-ES" dirty="0" err="1" smtClean="0"/>
              <a:t>hiperparámetros</a:t>
            </a:r>
            <a:r>
              <a:rPr lang="es-ES" dirty="0" smtClean="0"/>
              <a:t> </a:t>
            </a:r>
            <a:r>
              <a:rPr lang="es-ES" dirty="0"/>
              <a:t>utilizando el algoritmo </a:t>
            </a:r>
            <a:r>
              <a:rPr lang="es-ES" i="1" dirty="0" err="1"/>
              <a:t>Hyperband</a:t>
            </a:r>
            <a:r>
              <a:rPr lang="es-ES" dirty="0"/>
              <a:t>, que busca de manera eficiente el conjunto óptimo de </a:t>
            </a:r>
            <a:r>
              <a:rPr lang="es-ES" dirty="0" err="1"/>
              <a:t>hiperparámetros</a:t>
            </a:r>
            <a:r>
              <a:rPr lang="es-ES" dirty="0"/>
              <a:t>:</a:t>
            </a:r>
          </a:p>
          <a:p>
            <a:r>
              <a:rPr lang="es-ES" b="1" dirty="0" err="1"/>
              <a:t>hypermodel</a:t>
            </a:r>
            <a:r>
              <a:rPr lang="es-ES" dirty="0"/>
              <a:t>: función que define el modelo de red neuronal. Debes pasar una función que tome un objeto hp como argumento y devuelva un modelo de </a:t>
            </a:r>
            <a:r>
              <a:rPr lang="es-ES" dirty="0" err="1"/>
              <a:t>Keras</a:t>
            </a:r>
            <a:r>
              <a:rPr lang="es-ES" dirty="0"/>
              <a:t> construido según los </a:t>
            </a:r>
            <a:r>
              <a:rPr lang="es-ES" dirty="0" err="1"/>
              <a:t>hiperparámetros</a:t>
            </a:r>
            <a:r>
              <a:rPr lang="es-ES" dirty="0"/>
              <a:t> especificados</a:t>
            </a:r>
            <a:r>
              <a:rPr lang="es-ES" dirty="0" smtClean="0"/>
              <a:t>.</a:t>
            </a:r>
            <a:endParaRPr lang="es-ES" dirty="0"/>
          </a:p>
          <a:p>
            <a:r>
              <a:rPr lang="es-ES" b="1" dirty="0" err="1"/>
              <a:t>objective</a:t>
            </a:r>
            <a:r>
              <a:rPr lang="es-ES" dirty="0"/>
              <a:t>: métrica que se intenta optimizar en la búsqueda paramétrica, "</a:t>
            </a:r>
            <a:r>
              <a:rPr lang="es-ES" dirty="0" err="1"/>
              <a:t>val_accuracy</a:t>
            </a:r>
            <a:r>
              <a:rPr lang="es-ES" dirty="0"/>
              <a:t>" para precisión en el conjunto de validación o "</a:t>
            </a:r>
            <a:r>
              <a:rPr lang="es-ES" dirty="0" err="1"/>
              <a:t>val_loss</a:t>
            </a:r>
            <a:r>
              <a:rPr lang="es-ES" dirty="0"/>
              <a:t>" para pérdida en el conjunto de validación</a:t>
            </a:r>
            <a:r>
              <a:rPr lang="es-ES" dirty="0" smtClean="0"/>
              <a:t>.</a:t>
            </a:r>
          </a:p>
          <a:p>
            <a:r>
              <a:rPr lang="es-ES" b="1" dirty="0" err="1" smtClean="0"/>
              <a:t>Seed</a:t>
            </a:r>
            <a:r>
              <a:rPr lang="es-ES" b="1" dirty="0" smtClean="0"/>
              <a:t>:</a:t>
            </a:r>
            <a:r>
              <a:rPr lang="es-ES" dirty="0" smtClean="0"/>
              <a:t> semilla de aleatorización</a:t>
            </a:r>
            <a:endParaRPr lang="es-ES" b="1" dirty="0"/>
          </a:p>
          <a:p>
            <a:endParaRPr lang="es-ES" dirty="0" smtClean="0"/>
          </a:p>
          <a:p>
            <a:r>
              <a:rPr lang="es-ES" b="1" dirty="0" smtClean="0"/>
              <a:t>Otros parámetros</a:t>
            </a:r>
            <a:r>
              <a:rPr lang="es-ES" dirty="0" smtClean="0"/>
              <a:t>: </a:t>
            </a:r>
            <a:r>
              <a:rPr lang="es-ES" i="1" dirty="0" err="1" smtClean="0"/>
              <a:t>max_epochs</a:t>
            </a:r>
            <a:r>
              <a:rPr lang="es-ES" i="1" dirty="0" smtClean="0"/>
              <a:t>;</a:t>
            </a:r>
            <a:r>
              <a:rPr lang="es-ES" dirty="0" smtClean="0"/>
              <a:t> </a:t>
            </a:r>
            <a:r>
              <a:rPr lang="es-ES" i="1" dirty="0" err="1" smtClean="0"/>
              <a:t>Hyperband</a:t>
            </a:r>
            <a:r>
              <a:rPr lang="es-ES" i="1" dirty="0" smtClean="0"/>
              <a:t>;</a:t>
            </a:r>
            <a:r>
              <a:rPr lang="es-ES" dirty="0"/>
              <a:t> </a:t>
            </a:r>
            <a:r>
              <a:rPr lang="es-ES" i="1" dirty="0" smtClean="0"/>
              <a:t>factor</a:t>
            </a:r>
            <a:r>
              <a:rPr lang="es-ES" dirty="0"/>
              <a:t>;</a:t>
            </a:r>
            <a:r>
              <a:rPr lang="es-ES" dirty="0" smtClean="0"/>
              <a:t> </a:t>
            </a:r>
            <a:r>
              <a:rPr lang="es-ES" i="1" dirty="0" err="1" smtClean="0"/>
              <a:t>directory</a:t>
            </a:r>
            <a:r>
              <a:rPr lang="es-ES" i="1" dirty="0" smtClean="0"/>
              <a:t>;</a:t>
            </a:r>
            <a:r>
              <a:rPr lang="es-ES" dirty="0" smtClean="0"/>
              <a:t> </a:t>
            </a:r>
            <a:r>
              <a:rPr lang="es-ES" i="1" dirty="0" err="1" smtClean="0"/>
              <a:t>project_name</a:t>
            </a:r>
            <a:r>
              <a:rPr lang="es-ES" i="1" dirty="0" smtClean="0"/>
              <a:t>; </a:t>
            </a:r>
            <a:r>
              <a:rPr lang="es-ES" i="1" dirty="0" err="1" smtClean="0"/>
              <a:t>tune_new_entries</a:t>
            </a:r>
            <a:r>
              <a:rPr lang="es-ES" dirty="0"/>
              <a:t>: </a:t>
            </a:r>
            <a:r>
              <a:rPr lang="es-ES" i="1" dirty="0" err="1" smtClean="0"/>
              <a:t>allow_new_entries</a:t>
            </a:r>
            <a:endParaRPr lang="es-ES" i="1" dirty="0" smtClean="0"/>
          </a:p>
          <a:p>
            <a:endParaRPr lang="es-ES" i="1" dirty="0"/>
          </a:p>
          <a:p>
            <a:r>
              <a:rPr lang="es-ES" i="1" dirty="0" smtClean="0"/>
              <a:t>Ejemplo desarrollado en </a:t>
            </a:r>
            <a:r>
              <a:rPr lang="es-ES" i="1" dirty="0"/>
              <a:t>los archivos </a:t>
            </a:r>
            <a:r>
              <a:rPr lang="es-ES" i="1" dirty="0" smtClean="0"/>
              <a:t>Redes_clasificación_4_keras.ipynb</a:t>
            </a:r>
            <a:endParaRPr lang="es-ES" dirty="0"/>
          </a:p>
        </p:txBody>
      </p:sp>
    </p:spTree>
    <p:extLst>
      <p:ext uri="{BB962C8B-B14F-4D97-AF65-F5344CB8AC3E}">
        <p14:creationId xmlns:p14="http://schemas.microsoft.com/office/powerpoint/2010/main" val="3085691978"/>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6963" y="314959"/>
            <a:ext cx="9999472" cy="677108"/>
          </a:xfrm>
        </p:spPr>
        <p:txBody>
          <a:bodyPr/>
          <a:lstStyle/>
          <a:p>
            <a:r>
              <a:rPr lang="es-ES" sz="4400" b="1" dirty="0" smtClean="0">
                <a:solidFill>
                  <a:srgbClr val="0070C0"/>
                </a:solidFill>
              </a:rPr>
              <a:t>Bibliografía</a:t>
            </a:r>
            <a:endParaRPr lang="es-ES" b="1" dirty="0">
              <a:solidFill>
                <a:srgbClr val="0070C0"/>
              </a:solidFill>
            </a:endParaRPr>
          </a:p>
        </p:txBody>
      </p:sp>
      <p:sp>
        <p:nvSpPr>
          <p:cNvPr id="3" name="Marcador de texto 2"/>
          <p:cNvSpPr>
            <a:spLocks noGrp="1"/>
          </p:cNvSpPr>
          <p:nvPr>
            <p:ph type="body" idx="1"/>
          </p:nvPr>
        </p:nvSpPr>
        <p:spPr>
          <a:xfrm>
            <a:off x="469900" y="1647825"/>
            <a:ext cx="9662795" cy="5170646"/>
          </a:xfrm>
        </p:spPr>
        <p:txBody>
          <a:bodyPr/>
          <a:lstStyle/>
          <a:p>
            <a:pPr marL="342900" indent="-342900">
              <a:buFont typeface="Arial" panose="020B0604020202020204" pitchFamily="34" charset="0"/>
              <a:buChar char="•"/>
            </a:pPr>
            <a:r>
              <a:rPr lang="en-US" sz="2400" dirty="0" smtClean="0">
                <a:solidFill>
                  <a:schemeClr val="tx1"/>
                </a:solidFill>
              </a:rPr>
              <a:t>Jason Brownlee. </a:t>
            </a:r>
            <a:r>
              <a:rPr lang="en-US" sz="2400" i="1" dirty="0" smtClean="0">
                <a:solidFill>
                  <a:schemeClr val="tx1"/>
                </a:solidFill>
              </a:rPr>
              <a:t>Machine Learning Mastery with R. Get started, build accurate models and work through projects step-by-step.  </a:t>
            </a:r>
            <a:endParaRPr lang="en-US" sz="2400" dirty="0" smtClean="0">
              <a:solidFill>
                <a:schemeClr val="tx1"/>
              </a:solidFill>
            </a:endParaRPr>
          </a:p>
          <a:p>
            <a:pPr marL="342900" indent="-342900">
              <a:buFont typeface="Arial" panose="020B0604020202020204" pitchFamily="34" charset="0"/>
              <a:buChar char="•"/>
            </a:pPr>
            <a:r>
              <a:rPr lang="en-US" sz="2400" dirty="0" err="1" smtClean="0">
                <a:solidFill>
                  <a:schemeClr val="tx1"/>
                </a:solidFill>
              </a:rPr>
              <a:t>G.Ciaburro</a:t>
            </a:r>
            <a:r>
              <a:rPr lang="en-US" sz="2400" dirty="0" smtClean="0">
                <a:solidFill>
                  <a:schemeClr val="tx1"/>
                </a:solidFill>
              </a:rPr>
              <a:t> </a:t>
            </a:r>
            <a:r>
              <a:rPr lang="en-US" sz="2400" dirty="0">
                <a:solidFill>
                  <a:schemeClr val="tx1"/>
                </a:solidFill>
              </a:rPr>
              <a:t>and </a:t>
            </a:r>
            <a:r>
              <a:rPr lang="en-US" sz="2400" dirty="0" err="1">
                <a:solidFill>
                  <a:schemeClr val="tx1"/>
                </a:solidFill>
              </a:rPr>
              <a:t>B.Venkateswaran</a:t>
            </a:r>
            <a:r>
              <a:rPr lang="en-US" sz="2400" dirty="0">
                <a:solidFill>
                  <a:schemeClr val="tx1"/>
                </a:solidFill>
              </a:rPr>
              <a:t>. </a:t>
            </a:r>
            <a:r>
              <a:rPr lang="en-US" sz="2400" i="1" dirty="0" smtClean="0">
                <a:solidFill>
                  <a:schemeClr val="tx1"/>
                </a:solidFill>
              </a:rPr>
              <a:t>Neural </a:t>
            </a:r>
            <a:r>
              <a:rPr lang="en-US" sz="2400" i="1" dirty="0">
                <a:solidFill>
                  <a:schemeClr val="tx1"/>
                </a:solidFill>
              </a:rPr>
              <a:t>Networks with R: Smart models using CNN, RNN, deep learning, and artificial intelligence </a:t>
            </a:r>
            <a:r>
              <a:rPr lang="en-US" sz="2400" i="1" dirty="0" smtClean="0">
                <a:solidFill>
                  <a:schemeClr val="tx1"/>
                </a:solidFill>
              </a:rPr>
              <a:t>principles</a:t>
            </a:r>
            <a:r>
              <a:rPr lang="en-US" sz="2400" dirty="0" smtClean="0">
                <a:solidFill>
                  <a:schemeClr val="tx1"/>
                </a:solidFill>
              </a:rPr>
              <a:t>. </a:t>
            </a:r>
            <a:r>
              <a:rPr lang="es-ES" sz="2400" dirty="0" smtClean="0">
                <a:solidFill>
                  <a:schemeClr val="tx1"/>
                </a:solidFill>
              </a:rPr>
              <a:t>ISBN-13</a:t>
            </a:r>
            <a:r>
              <a:rPr lang="es-ES" sz="2400" dirty="0">
                <a:solidFill>
                  <a:schemeClr val="tx1"/>
                </a:solidFill>
              </a:rPr>
              <a:t>: </a:t>
            </a:r>
            <a:r>
              <a:rPr lang="es-ES" sz="2400" dirty="0" smtClean="0">
                <a:solidFill>
                  <a:schemeClr val="tx1"/>
                </a:solidFill>
              </a:rPr>
              <a:t>978-1788397872.</a:t>
            </a:r>
          </a:p>
          <a:p>
            <a:pPr marL="342900" indent="-342900">
              <a:buFont typeface="Arial" panose="020B0604020202020204" pitchFamily="34" charset="0"/>
              <a:buChar char="•"/>
            </a:pPr>
            <a:r>
              <a:rPr lang="es-ES" sz="2400" dirty="0" err="1">
                <a:solidFill>
                  <a:schemeClr val="tx1"/>
                </a:solidFill>
              </a:rPr>
              <a:t>Bishop</a:t>
            </a:r>
            <a:r>
              <a:rPr lang="es-ES" sz="2400" dirty="0">
                <a:solidFill>
                  <a:schemeClr val="tx1"/>
                </a:solidFill>
              </a:rPr>
              <a:t>, C.M. (1995), </a:t>
            </a:r>
            <a:r>
              <a:rPr lang="es-ES" sz="2400" i="1" dirty="0">
                <a:solidFill>
                  <a:schemeClr val="tx1"/>
                </a:solidFill>
              </a:rPr>
              <a:t>Neural Networks </a:t>
            </a:r>
            <a:r>
              <a:rPr lang="es-ES" sz="2400" i="1" dirty="0" err="1">
                <a:solidFill>
                  <a:schemeClr val="tx1"/>
                </a:solidFill>
              </a:rPr>
              <a:t>for</a:t>
            </a:r>
            <a:r>
              <a:rPr lang="es-ES" sz="2400" i="1" dirty="0">
                <a:solidFill>
                  <a:schemeClr val="tx1"/>
                </a:solidFill>
              </a:rPr>
              <a:t> </a:t>
            </a:r>
            <a:r>
              <a:rPr lang="es-ES" sz="2400" i="1" dirty="0" err="1">
                <a:solidFill>
                  <a:schemeClr val="tx1"/>
                </a:solidFill>
              </a:rPr>
              <a:t>Pattern</a:t>
            </a:r>
            <a:r>
              <a:rPr lang="es-ES" sz="2400" i="1" dirty="0">
                <a:solidFill>
                  <a:schemeClr val="tx1"/>
                </a:solidFill>
              </a:rPr>
              <a:t> </a:t>
            </a:r>
            <a:r>
              <a:rPr lang="es-ES" sz="2400" i="1" dirty="0" err="1">
                <a:solidFill>
                  <a:schemeClr val="tx1"/>
                </a:solidFill>
              </a:rPr>
              <a:t>Recognition</a:t>
            </a:r>
            <a:r>
              <a:rPr lang="es-ES" sz="2400" dirty="0">
                <a:solidFill>
                  <a:schemeClr val="tx1"/>
                </a:solidFill>
              </a:rPr>
              <a:t>, Oxford: Oxford </a:t>
            </a:r>
            <a:r>
              <a:rPr lang="es-ES" sz="2400" dirty="0" err="1">
                <a:solidFill>
                  <a:schemeClr val="tx1"/>
                </a:solidFill>
              </a:rPr>
              <a:t>University</a:t>
            </a:r>
            <a:r>
              <a:rPr lang="es-ES" sz="2400" dirty="0">
                <a:solidFill>
                  <a:schemeClr val="tx1"/>
                </a:solidFill>
              </a:rPr>
              <a:t> </a:t>
            </a:r>
            <a:r>
              <a:rPr lang="es-ES" sz="2400" dirty="0" err="1">
                <a:solidFill>
                  <a:schemeClr val="tx1"/>
                </a:solidFill>
              </a:rPr>
              <a:t>Press</a:t>
            </a:r>
            <a:r>
              <a:rPr lang="es-ES" sz="2400" dirty="0">
                <a:solidFill>
                  <a:schemeClr val="tx1"/>
                </a:solidFill>
              </a:rPr>
              <a:t>. </a:t>
            </a:r>
            <a:endParaRPr lang="es-ES" sz="2400" dirty="0" smtClean="0">
              <a:solidFill>
                <a:schemeClr val="tx1"/>
              </a:solidFill>
            </a:endParaRPr>
          </a:p>
          <a:p>
            <a:pPr marL="342900" indent="-342900">
              <a:buFont typeface="Arial" panose="020B0604020202020204" pitchFamily="34" charset="0"/>
              <a:buChar char="•"/>
            </a:pPr>
            <a:r>
              <a:rPr lang="es-ES" sz="2400" dirty="0" err="1" smtClean="0"/>
              <a:t>Hastie</a:t>
            </a:r>
            <a:r>
              <a:rPr lang="es-ES" sz="2400" dirty="0" smtClean="0"/>
              <a:t>, T., </a:t>
            </a:r>
            <a:r>
              <a:rPr lang="es-ES" sz="2400" dirty="0" err="1" smtClean="0"/>
              <a:t>Tibshirani</a:t>
            </a:r>
            <a:r>
              <a:rPr lang="es-ES" sz="2400" dirty="0" smtClean="0"/>
              <a:t>, R., Friedman, J. </a:t>
            </a:r>
            <a:r>
              <a:rPr lang="es-ES" sz="2400" dirty="0"/>
              <a:t>(2009): </a:t>
            </a:r>
            <a:r>
              <a:rPr lang="es-ES" sz="2400" i="1" dirty="0" err="1"/>
              <a:t>The</a:t>
            </a:r>
            <a:r>
              <a:rPr lang="es-ES" sz="2400" i="1" dirty="0"/>
              <a:t> </a:t>
            </a:r>
            <a:r>
              <a:rPr lang="es-ES" sz="2400" i="1" dirty="0" err="1"/>
              <a:t>Elements</a:t>
            </a:r>
            <a:r>
              <a:rPr lang="es-ES" sz="2400" i="1" dirty="0"/>
              <a:t> of </a:t>
            </a:r>
            <a:r>
              <a:rPr lang="es-ES" sz="2400" i="1" dirty="0" err="1"/>
              <a:t>Statistical</a:t>
            </a:r>
            <a:r>
              <a:rPr lang="es-ES" sz="2400" i="1" dirty="0"/>
              <a:t> </a:t>
            </a:r>
            <a:r>
              <a:rPr lang="es-ES" sz="2400" i="1" dirty="0" err="1" smtClean="0"/>
              <a:t>Learning</a:t>
            </a:r>
            <a:r>
              <a:rPr lang="es-ES" sz="2400" i="1" dirty="0" smtClean="0"/>
              <a:t>: data </a:t>
            </a:r>
            <a:r>
              <a:rPr lang="es-ES" sz="2400" i="1" dirty="0" err="1" smtClean="0"/>
              <a:t>mining</a:t>
            </a:r>
            <a:r>
              <a:rPr lang="es-ES" sz="2400" i="1" dirty="0" smtClean="0"/>
              <a:t>, </a:t>
            </a:r>
            <a:r>
              <a:rPr lang="es-ES" sz="2400" i="1" dirty="0" err="1" smtClean="0"/>
              <a:t>inference</a:t>
            </a:r>
            <a:r>
              <a:rPr lang="es-ES" sz="2400" i="1" dirty="0" smtClean="0"/>
              <a:t> and </a:t>
            </a:r>
            <a:r>
              <a:rPr lang="es-ES" sz="2400" i="1" dirty="0" err="1" smtClean="0"/>
              <a:t>prediction</a:t>
            </a:r>
            <a:r>
              <a:rPr lang="es-ES" sz="2400" i="1" dirty="0" smtClean="0"/>
              <a:t>.</a:t>
            </a:r>
            <a:endParaRPr lang="es-ES" sz="2400" dirty="0" smtClean="0"/>
          </a:p>
          <a:p>
            <a:pPr marL="342900" indent="-342900">
              <a:buFont typeface="Arial" panose="020B0604020202020204" pitchFamily="34" charset="0"/>
              <a:buChar char="•"/>
            </a:pPr>
            <a:r>
              <a:rPr lang="es-ES" sz="2400" dirty="0" smtClean="0">
                <a:solidFill>
                  <a:schemeClr val="tx1"/>
                </a:solidFill>
              </a:rPr>
              <a:t>Davis</a:t>
            </a:r>
            <a:r>
              <a:rPr lang="es-ES" sz="2400" dirty="0">
                <a:solidFill>
                  <a:schemeClr val="tx1"/>
                </a:solidFill>
              </a:rPr>
              <a:t>, L. (1991): </a:t>
            </a:r>
            <a:r>
              <a:rPr lang="es-ES" sz="2400" i="1" dirty="0" err="1">
                <a:solidFill>
                  <a:schemeClr val="tx1"/>
                </a:solidFill>
              </a:rPr>
              <a:t>Handbook</a:t>
            </a:r>
            <a:r>
              <a:rPr lang="es-ES" sz="2400" i="1" dirty="0">
                <a:solidFill>
                  <a:schemeClr val="tx1"/>
                </a:solidFill>
              </a:rPr>
              <a:t> of </a:t>
            </a:r>
            <a:r>
              <a:rPr lang="es-ES" sz="2400" i="1" dirty="0" err="1">
                <a:solidFill>
                  <a:schemeClr val="tx1"/>
                </a:solidFill>
              </a:rPr>
              <a:t>Genetic</a:t>
            </a:r>
            <a:r>
              <a:rPr lang="es-ES" sz="2400" i="1" dirty="0">
                <a:solidFill>
                  <a:schemeClr val="tx1"/>
                </a:solidFill>
              </a:rPr>
              <a:t> </a:t>
            </a:r>
            <a:r>
              <a:rPr lang="es-ES" sz="2400" i="1" dirty="0" err="1">
                <a:solidFill>
                  <a:schemeClr val="tx1"/>
                </a:solidFill>
              </a:rPr>
              <a:t>Algorithms</a:t>
            </a:r>
            <a:r>
              <a:rPr lang="es-ES" sz="2400" dirty="0">
                <a:solidFill>
                  <a:schemeClr val="tx1"/>
                </a:solidFill>
              </a:rPr>
              <a:t>. Van </a:t>
            </a:r>
            <a:r>
              <a:rPr lang="es-ES" sz="2400" dirty="0" err="1">
                <a:solidFill>
                  <a:schemeClr val="tx1"/>
                </a:solidFill>
              </a:rPr>
              <a:t>Nostrand</a:t>
            </a:r>
            <a:r>
              <a:rPr lang="es-ES" sz="2400" dirty="0">
                <a:solidFill>
                  <a:schemeClr val="tx1"/>
                </a:solidFill>
              </a:rPr>
              <a:t> </a:t>
            </a:r>
            <a:r>
              <a:rPr lang="es-ES" sz="2400" dirty="0" err="1" smtClean="0">
                <a:solidFill>
                  <a:schemeClr val="tx1"/>
                </a:solidFill>
              </a:rPr>
              <a:t>Reinhold</a:t>
            </a:r>
            <a:endParaRPr lang="es-ES" sz="2400" dirty="0" smtClean="0">
              <a:solidFill>
                <a:schemeClr val="tx1"/>
              </a:solidFill>
            </a:endParaRPr>
          </a:p>
          <a:p>
            <a:pPr marL="342900" indent="-342900">
              <a:buFont typeface="Arial" panose="020B0604020202020204" pitchFamily="34" charset="0"/>
              <a:buChar char="•"/>
            </a:pPr>
            <a:r>
              <a:rPr lang="es-ES" sz="2400" dirty="0" err="1" smtClean="0">
                <a:solidFill>
                  <a:schemeClr val="tx1"/>
                </a:solidFill>
              </a:rPr>
              <a:t>Jason</a:t>
            </a:r>
            <a:r>
              <a:rPr lang="es-ES" sz="2400" dirty="0" smtClean="0">
                <a:solidFill>
                  <a:schemeClr val="tx1"/>
                </a:solidFill>
              </a:rPr>
              <a:t> </a:t>
            </a:r>
            <a:r>
              <a:rPr lang="es-ES" sz="2400" dirty="0" err="1" smtClean="0">
                <a:solidFill>
                  <a:schemeClr val="tx1"/>
                </a:solidFill>
              </a:rPr>
              <a:t>Brownlee</a:t>
            </a:r>
            <a:r>
              <a:rPr lang="es-ES" sz="2400" dirty="0" smtClean="0">
                <a:solidFill>
                  <a:schemeClr val="tx1"/>
                </a:solidFill>
              </a:rPr>
              <a:t>. </a:t>
            </a:r>
            <a:r>
              <a:rPr lang="es-ES" sz="2400" i="1" dirty="0" err="1" smtClean="0">
                <a:solidFill>
                  <a:schemeClr val="tx1"/>
                </a:solidFill>
              </a:rPr>
              <a:t>Statistical</a:t>
            </a:r>
            <a:r>
              <a:rPr lang="es-ES" sz="2400" i="1" dirty="0" smtClean="0">
                <a:solidFill>
                  <a:schemeClr val="tx1"/>
                </a:solidFill>
              </a:rPr>
              <a:t> </a:t>
            </a:r>
            <a:r>
              <a:rPr lang="es-ES" sz="2400" i="1" dirty="0" err="1" smtClean="0">
                <a:solidFill>
                  <a:schemeClr val="tx1"/>
                </a:solidFill>
              </a:rPr>
              <a:t>Methods</a:t>
            </a:r>
            <a:r>
              <a:rPr lang="es-ES" sz="2400" i="1" dirty="0" smtClean="0">
                <a:solidFill>
                  <a:schemeClr val="tx1"/>
                </a:solidFill>
              </a:rPr>
              <a:t> </a:t>
            </a:r>
            <a:r>
              <a:rPr lang="es-ES" sz="2400" i="1" dirty="0" err="1" smtClean="0">
                <a:solidFill>
                  <a:schemeClr val="tx1"/>
                </a:solidFill>
              </a:rPr>
              <a:t>for</a:t>
            </a:r>
            <a:r>
              <a:rPr lang="es-ES" sz="2400" i="1" dirty="0" smtClean="0">
                <a:solidFill>
                  <a:schemeClr val="tx1"/>
                </a:solidFill>
              </a:rPr>
              <a:t> Machine </a:t>
            </a:r>
            <a:r>
              <a:rPr lang="es-ES" sz="2400" i="1" dirty="0" err="1" smtClean="0">
                <a:solidFill>
                  <a:schemeClr val="tx1"/>
                </a:solidFill>
              </a:rPr>
              <a:t>Learning</a:t>
            </a:r>
            <a:r>
              <a:rPr lang="es-ES" sz="2400" i="1" dirty="0" smtClean="0">
                <a:solidFill>
                  <a:schemeClr val="tx1"/>
                </a:solidFill>
              </a:rPr>
              <a:t>. </a:t>
            </a:r>
            <a:r>
              <a:rPr lang="es-ES" sz="2400" i="1" dirty="0" err="1" smtClean="0">
                <a:solidFill>
                  <a:schemeClr val="tx1"/>
                </a:solidFill>
              </a:rPr>
              <a:t>Discover</a:t>
            </a:r>
            <a:r>
              <a:rPr lang="es-ES" sz="2400" i="1" dirty="0" smtClean="0">
                <a:solidFill>
                  <a:schemeClr val="tx1"/>
                </a:solidFill>
              </a:rPr>
              <a:t> </a:t>
            </a:r>
            <a:r>
              <a:rPr lang="es-ES" sz="2400" i="1" dirty="0" err="1" smtClean="0">
                <a:solidFill>
                  <a:schemeClr val="tx1"/>
                </a:solidFill>
              </a:rPr>
              <a:t>how</a:t>
            </a:r>
            <a:r>
              <a:rPr lang="es-ES" sz="2400" i="1" dirty="0" smtClean="0">
                <a:solidFill>
                  <a:schemeClr val="tx1"/>
                </a:solidFill>
              </a:rPr>
              <a:t> to </a:t>
            </a:r>
            <a:r>
              <a:rPr lang="es-ES" sz="2400" i="1" dirty="0" err="1" smtClean="0">
                <a:solidFill>
                  <a:schemeClr val="tx1"/>
                </a:solidFill>
              </a:rPr>
              <a:t>transform</a:t>
            </a:r>
            <a:r>
              <a:rPr lang="es-ES" sz="2400" i="1" dirty="0" smtClean="0">
                <a:solidFill>
                  <a:schemeClr val="tx1"/>
                </a:solidFill>
              </a:rPr>
              <a:t> data </a:t>
            </a:r>
            <a:r>
              <a:rPr lang="es-ES" sz="2400" i="1" dirty="0" err="1" smtClean="0">
                <a:solidFill>
                  <a:schemeClr val="tx1"/>
                </a:solidFill>
              </a:rPr>
              <a:t>into</a:t>
            </a:r>
            <a:r>
              <a:rPr lang="es-ES" sz="2400" i="1" dirty="0" smtClean="0">
                <a:solidFill>
                  <a:schemeClr val="tx1"/>
                </a:solidFill>
              </a:rPr>
              <a:t> </a:t>
            </a:r>
            <a:r>
              <a:rPr lang="es-ES" sz="2400" i="1" dirty="0" err="1" smtClean="0">
                <a:solidFill>
                  <a:schemeClr val="tx1"/>
                </a:solidFill>
              </a:rPr>
              <a:t>knowledge</a:t>
            </a:r>
            <a:r>
              <a:rPr lang="es-ES" sz="2400" i="1" dirty="0" smtClean="0">
                <a:solidFill>
                  <a:schemeClr val="tx1"/>
                </a:solidFill>
              </a:rPr>
              <a:t> </a:t>
            </a:r>
            <a:r>
              <a:rPr lang="es-ES" sz="2400" i="1" dirty="0" err="1" smtClean="0">
                <a:solidFill>
                  <a:schemeClr val="tx1"/>
                </a:solidFill>
              </a:rPr>
              <a:t>with</a:t>
            </a:r>
            <a:r>
              <a:rPr lang="es-ES" sz="2400" i="1" dirty="0" smtClean="0">
                <a:solidFill>
                  <a:schemeClr val="tx1"/>
                </a:solidFill>
              </a:rPr>
              <a:t> Python.</a:t>
            </a:r>
          </a:p>
          <a:p>
            <a:pPr marL="342900" indent="-342900">
              <a:buFont typeface="Arial" panose="020B0604020202020204" pitchFamily="34" charset="0"/>
              <a:buChar char="•"/>
            </a:pPr>
            <a:r>
              <a:rPr lang="en-US" sz="2400" dirty="0" err="1"/>
              <a:t>Michie</a:t>
            </a:r>
            <a:r>
              <a:rPr lang="en-US" sz="2400" dirty="0"/>
              <a:t>, D., </a:t>
            </a:r>
            <a:r>
              <a:rPr lang="es-ES" sz="2400" dirty="0" err="1"/>
              <a:t>Spiegelhalter</a:t>
            </a:r>
            <a:r>
              <a:rPr lang="es-ES" sz="2400" dirty="0"/>
              <a:t>, D.J., Taylor, C.C</a:t>
            </a:r>
            <a:r>
              <a:rPr lang="es-ES" sz="2400" dirty="0" smtClean="0"/>
              <a:t>. (1994) </a:t>
            </a:r>
            <a:r>
              <a:rPr lang="en-US" sz="2400" dirty="0" smtClean="0"/>
              <a:t> </a:t>
            </a:r>
            <a:r>
              <a:rPr lang="en-US" sz="2400" i="1" dirty="0"/>
              <a:t>Machine Learning, Neural and </a:t>
            </a:r>
            <a:r>
              <a:rPr lang="en-US" sz="2400" i="1" dirty="0" smtClean="0"/>
              <a:t>Statistical </a:t>
            </a:r>
            <a:r>
              <a:rPr lang="es-ES" sz="2400" i="1" dirty="0" err="1" smtClean="0"/>
              <a:t>Classification</a:t>
            </a:r>
            <a:r>
              <a:rPr lang="es-ES" sz="2400" i="1" dirty="0" smtClean="0"/>
              <a:t>.</a:t>
            </a:r>
            <a:endParaRPr lang="en-US" sz="2400" i="1" dirty="0"/>
          </a:p>
        </p:txBody>
      </p:sp>
    </p:spTree>
    <p:extLst>
      <p:ext uri="{BB962C8B-B14F-4D97-AF65-F5344CB8AC3E}">
        <p14:creationId xmlns:p14="http://schemas.microsoft.com/office/powerpoint/2010/main" val="293901074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24627</TotalTime>
  <Words>16045</Words>
  <Application>Microsoft Office PowerPoint</Application>
  <PresentationFormat>Personalizado</PresentationFormat>
  <Paragraphs>1212</Paragraphs>
  <Slides>150</Slides>
  <Notes>7</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150</vt:i4>
      </vt:variant>
    </vt:vector>
  </HeadingPairs>
  <TitlesOfParts>
    <vt:vector size="162" baseType="lpstr">
      <vt:lpstr>Arial</vt:lpstr>
      <vt:lpstr>Calibri</vt:lpstr>
      <vt:lpstr>Cambria</vt:lpstr>
      <vt:lpstr>Cambria Math</vt:lpstr>
      <vt:lpstr>Courier New</vt:lpstr>
      <vt:lpstr>Lucida Console</vt:lpstr>
      <vt:lpstr>Oxygen</vt:lpstr>
      <vt:lpstr>Söhne</vt:lpstr>
      <vt:lpstr>Symbol</vt:lpstr>
      <vt:lpstr>Times New Roman</vt:lpstr>
      <vt:lpstr>Wingdings</vt:lpstr>
      <vt:lpstr>Office Theme</vt:lpstr>
      <vt:lpstr>Presentación de PowerPoint</vt:lpstr>
      <vt:lpstr>1. Introducción</vt:lpstr>
      <vt:lpstr>Imagen de una Neurona</vt:lpstr>
      <vt:lpstr>Input, Activación y Output</vt:lpstr>
      <vt:lpstr>Representación en Red</vt:lpstr>
      <vt:lpstr>Algunos números</vt:lpstr>
      <vt:lpstr>Red Neuronal Artificial. Origen</vt:lpstr>
      <vt:lpstr>Red Neuronal Artificial</vt:lpstr>
      <vt:lpstr>Red Neuronal Artificial. Algunas nociones básicas</vt:lpstr>
      <vt:lpstr>Red Neuronal Artificial. Características principales</vt:lpstr>
      <vt:lpstr>Red Neuronal Artificial</vt:lpstr>
      <vt:lpstr>Red Neuronal Artificial</vt:lpstr>
      <vt:lpstr>Planteamiento</vt:lpstr>
      <vt:lpstr>¿Qué problemas de modelización estadística se  pueden abordar con las redes neuronales?</vt:lpstr>
      <vt:lpstr>Presentación de PowerPoint</vt:lpstr>
      <vt:lpstr>¿Qué problemas en el campo de la Inteligencia de  Negocios se suelen abordar con las redes  neuronales? Principalmente problemas relacionados con predicción y clasificación</vt:lpstr>
      <vt:lpstr>Otras aplicaciones</vt:lpstr>
      <vt:lpstr>Concretamente…</vt:lpstr>
      <vt:lpstr>Aplicaciones reales</vt:lpstr>
      <vt:lpstr>Aplicaciones reales</vt:lpstr>
      <vt:lpstr>Algunas APPs para “jugar” con redes neuronales</vt:lpstr>
      <vt:lpstr>Algunas APPs para “jugar” con redes neuronales</vt:lpstr>
      <vt:lpstr>2. ¿Por qué utilizar redes neuronales artificiales?</vt:lpstr>
      <vt:lpstr>Presentación de PowerPoint</vt:lpstr>
      <vt:lpstr>Presentación de PowerPoint</vt:lpstr>
      <vt:lpstr>¿Por qué utilizar las redes neuronales si ya existen  modelos estadísticos para cada problema de  predicción continua, clasificación, series o  clustering?   Las relaciones entre variables no son lineales, o no son conocidas.  OJO: también se podrían usar cuando sí se conocen las relaciones entre las variables pero el volumen de datos es demasiado grande.</vt:lpstr>
      <vt:lpstr>Presentación de PowerPoint</vt:lpstr>
      <vt:lpstr>Presentación de PowerPoint</vt:lpstr>
      <vt:lpstr>Presentación de PowerPoint</vt:lpstr>
      <vt:lpstr>Presentación de PowerPoint</vt:lpstr>
      <vt:lpstr>Presentación de PowerPoint</vt:lpstr>
      <vt:lpstr>1. Limitaciones en los modelos estadísticos</vt:lpstr>
      <vt:lpstr>Presentación de PowerPoint</vt:lpstr>
      <vt:lpstr>2. La multiplicidad de modelos</vt:lpstr>
      <vt:lpstr>3. Explicar o predecir</vt:lpstr>
      <vt:lpstr>Presentación de PowerPoint</vt:lpstr>
      <vt:lpstr> 4. Cuando la modelización previa es inviable</vt:lpstr>
      <vt:lpstr>Presentación de PowerPoint</vt:lpstr>
      <vt:lpstr>Métodos algorítmicos modernos como alternativa a los métodos de  modelización estadística clásica, para predicción-clasificación</vt:lpstr>
      <vt:lpstr>¿Cuándo utilizar las redes neuronales?</vt:lpstr>
      <vt:lpstr>¿Cuándo NO utilizar las redes neuronales?</vt:lpstr>
      <vt:lpstr>¿Qué características debe tener un modelo, o qué necesidades tengo, para decidir si es o no conveniente aplicar técnicas de machine learning,  y cuáles son más convenientes?                         Tabla extraída del libro “The Elements of Statistical Learning" (Hastie, Tibshirani, 2001)</vt:lpstr>
      <vt:lpstr>Fases en la modelización con redes neuronales</vt:lpstr>
      <vt:lpstr>Presentación de PowerPoint</vt:lpstr>
      <vt:lpstr>3. Arquitectura básica de las NN</vt:lpstr>
      <vt:lpstr>Arquitectura de una red neuronal: se refiere a la estructura y organización de las capas y conexiones dentro de la red, especificando cómo las neuronas y las capas están dispuestas y conectadas para realizar una tarea específica. Puede incluir detalles como el número de capas, el número de neuronas en cada capa, las funciones de activación utilizadas y la forma en que las neuronas están conectadas entre sí</vt:lpstr>
      <vt:lpstr>Arquitectura de una red neuronal</vt:lpstr>
      <vt:lpstr>Estructuras de conexión</vt:lpstr>
      <vt:lpstr>Construcción del modelo: MLP hacia adelante, backpropagation</vt:lpstr>
      <vt:lpstr>La función de combinación más habitual es la lineal.  Previamente se han estandarizado las variables input.</vt:lpstr>
      <vt:lpstr>Tras aplicar la función de combinación, aplicamos a cada nodo oculto la función de  activación , representada por f .</vt:lpstr>
      <vt:lpstr>Finalmente aplicamos combinación y después activación de la capa oculta a la capa  output</vt:lpstr>
      <vt:lpstr>Y=tanh(w1,outH1+w2,outH2+w3,outH3+w4,outH4+bout)=</vt:lpstr>
      <vt:lpstr>Presentación de PowerPoint</vt:lpstr>
      <vt:lpstr>Presentación de PowerPoint</vt:lpstr>
      <vt:lpstr>Presentación de PowerPoint</vt:lpstr>
      <vt:lpstr>  Leaky ReLU: transforma los valores introducidos multiplicando los negativos por un coeficiente rectificativo y dejando los positivos según entran.                                                                           f(x)=max⁡{█(0, x&lt;0@a∗x, x≥0)┤  Softmax: transforma las salidas a una representación en forma de probabilidades, de tal manera que el sumatorio de todas las probabilidades de las salidas de 1. Se suele utilizar en la capa de salida en problemas de clasificación multiclase.                                                                                      f(Z)_j=e^Zj/(∑_(k=1)^K▒e^Zk )   La elección de la función de activación es un aspecto importante en el diseño de una red neuronal y puede tener un impacto significativo en el rendimiento de la red. En la práctica real, se recomienda experimentar con diferentes funciones de activación y ajustar los parámetros de la red para encontrar la combinación que funcione mejor para tu problema. </vt:lpstr>
      <vt:lpstr>  </vt:lpstr>
      <vt:lpstr>Presentación de PowerPoint</vt:lpstr>
      <vt:lpstr>Presentación de PowerPoint</vt:lpstr>
      <vt:lpstr>Presentación de PowerPoint</vt:lpstr>
      <vt:lpstr>Presentación de PowerPoint</vt:lpstr>
      <vt:lpstr>Presentación de PowerPoint</vt:lpstr>
      <vt:lpstr>El objetivo computacional concreto es estimar los parámetros w y b del  modelo.</vt:lpstr>
      <vt:lpstr>Presentación de PowerPoint</vt:lpstr>
      <vt:lpstr>4. ¿Por qué funcionan bien las redes neuronales?</vt:lpstr>
      <vt:lpstr>Resumen conceptual</vt:lpstr>
      <vt:lpstr>Presentación de PowerPoint</vt:lpstr>
      <vt:lpstr>Pregunta:</vt:lpstr>
      <vt:lpstr>¿Por qué funcionan bien las redes neuronales?</vt:lpstr>
      <vt:lpstr>Explicación matemática</vt:lpstr>
      <vt:lpstr>El Soporte Teórico</vt:lpstr>
      <vt:lpstr>Si existe relación entre las variables input y la variable output  y esta relación es no lineal o desconocida, el Teorema de Aproximación Universal dice que esa función, aunque sea desconocida, se puede aproximar por la función construida con la  red neuronal </vt:lpstr>
      <vt:lpstr>En otras palabras</vt:lpstr>
      <vt:lpstr>Teorema de aproximación universal. Explicación fácil</vt:lpstr>
      <vt:lpstr>Presentación de PowerPoint</vt:lpstr>
      <vt:lpstr>Gráficamente, mientras la regresión es un modelo rígido exclusivamente  lineal, la red neuronal podrá ajustarse a las diferentes relaciones Y/X, sea  cual sea la relación, aunque sea desconocida a priori.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6. Redes neuronales multicapa. Uso general</vt:lpstr>
      <vt:lpstr>Presentación de PowerPoint</vt:lpstr>
      <vt:lpstr>Presentación de PowerPoint</vt:lpstr>
      <vt:lpstr>Presentación de PowerPoint</vt:lpstr>
      <vt:lpstr>Presentación de PowerPoint</vt:lpstr>
      <vt:lpstr>El problema de la selección de variables en redes neuronales</vt:lpstr>
      <vt:lpstr>Filters (ranking por importancia) en redes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7. Ideas rápidas sobre la arquitectura de MLP</vt:lpstr>
      <vt:lpstr>Pre-procesado de las variables input para la construcción de una red  neuronal , en general, pero sobre todo en paquetes de R o Python</vt:lpstr>
      <vt:lpstr>Presentación de PowerPoint</vt:lpstr>
      <vt:lpstr>Arquitectura de la Red</vt:lpstr>
      <vt:lpstr>Presentación de PowerPoint</vt:lpstr>
      <vt:lpstr>Algunas recomendaciones para fijar  el número de nodos, dados los datos</vt:lpstr>
      <vt:lpstr>Otros conceptos importantes a tener en cuenta</vt:lpstr>
      <vt:lpstr>Inciso: algunos conceptos teóricos sobre técnicas de regularización</vt:lpstr>
      <vt:lpstr>Inciso: algunos conceptos teóricos sobre técnicas de regularización</vt:lpstr>
      <vt:lpstr>Reglas simples a tener en cuenta para decidir el número de nodos y para  comprender su efecto en las predicciones</vt:lpstr>
      <vt:lpstr>c) Respecto al número de observaciones. Más observaciones nos permiten más nodos, pocas observaciones  son insuficientes. La regla de 20 observaciones por parámetro también es algo razonable a respetar.</vt:lpstr>
      <vt:lpstr>Presentación de PowerPoint</vt:lpstr>
      <vt:lpstr>Presentación de PowerPoint</vt:lpstr>
      <vt:lpstr>Presentación de PowerPoint</vt:lpstr>
      <vt:lpstr>Semilla train-test 12347: 31 nodos</vt:lpstr>
      <vt:lpstr>Presentación de PowerPoint</vt:lpstr>
      <vt:lpstr>8. Redes neuronales para clasificación binaria y regresión</vt:lpstr>
      <vt:lpstr>Presentación de PowerPoint</vt:lpstr>
      <vt:lpstr>Presentación de PowerPoint</vt:lpstr>
      <vt:lpstr>Presentación de PowerPoint</vt:lpstr>
      <vt:lpstr>Matriz de Confusión de un método de clasificación Observados</vt:lpstr>
      <vt:lpstr>Presentación de PowerPoint</vt:lpstr>
      <vt:lpstr>Presentación de PowerPoint</vt:lpstr>
      <vt:lpstr>Presentación de PowerPoint</vt:lpstr>
      <vt:lpstr>Presentación de PowerPoint</vt:lpstr>
      <vt:lpstr>Ejemplo básico</vt:lpstr>
      <vt:lpstr>Problema de regresión</vt:lpstr>
      <vt:lpstr>Red neuronal para regresión</vt:lpstr>
      <vt:lpstr>En el proceso de optimización, en cada iteración los pesos son diferentes, la Y ̂_i es  diferente y da lugar a diferente valor de la función de error</vt:lpstr>
      <vt:lpstr>Presentación de PowerPoint</vt:lpstr>
      <vt:lpstr>Presentación de PowerPoint</vt:lpstr>
      <vt:lpstr>Presentación de PowerPoint</vt:lpstr>
      <vt:lpstr>9. NN en Python: scikit-learn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Bibliografía</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Neuronales: Perceptrón Multicapa</dc:title>
  <dc:creator>jportela</dc:creator>
  <cp:lastModifiedBy>user</cp:lastModifiedBy>
  <cp:revision>550</cp:revision>
  <dcterms:created xsi:type="dcterms:W3CDTF">2021-12-22T16:13:01Z</dcterms:created>
  <dcterms:modified xsi:type="dcterms:W3CDTF">2025-06-03T11:13:20Z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2019-03-16T00:00:00Z</vt:filetime>
  </property>
  <property fmtid="{D5CDD505-2E9C-101B-9397-08002B2CF9AE}" pid="3" name="Creator">
    <vt:lpwstr>Microsoft® Office Word 2007</vt:lpwstr>
  </property>
  <property fmtid="{D5CDD505-2E9C-101B-9397-08002B2CF9AE}" pid="4" name="LastSaved">
    <vt:filetime>2021-12-22T00:00:00Z</vt:filetime>
  </property>
</Properties>
</file>