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301" r:id="rId3"/>
    <p:sldId id="257" r:id="rId4"/>
    <p:sldId id="258" r:id="rId5"/>
    <p:sldId id="262"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90" r:id="rId34"/>
    <p:sldId id="291" r:id="rId35"/>
    <p:sldId id="292" r:id="rId36"/>
    <p:sldId id="293" r:id="rId37"/>
    <p:sldId id="294" r:id="rId38"/>
    <p:sldId id="295" r:id="rId39"/>
    <p:sldId id="296" r:id="rId40"/>
    <p:sldId id="297" r:id="rId41"/>
    <p:sldId id="298" r:id="rId42"/>
    <p:sldId id="299" r:id="rId43"/>
    <p:sldId id="302" r:id="rId4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E6A120-1C7F-4A2C-BC4B-B790C42135AB}" type="datetimeFigureOut">
              <a:rPr lang="es-ES" smtClean="0"/>
              <a:t>03/06/2025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3D6C8B-3ABB-4CE1-9E43-578E21474A8D}" type="slidenum">
              <a:rPr lang="es-ES" smtClean="0"/>
              <a:t>‹Nº›</a:t>
            </a:fld>
            <a:endParaRPr lang="es-ES"/>
          </a:p>
        </p:txBody>
      </p:sp>
    </p:spTree>
    <p:extLst>
      <p:ext uri="{BB962C8B-B14F-4D97-AF65-F5344CB8AC3E}">
        <p14:creationId xmlns:p14="http://schemas.microsoft.com/office/powerpoint/2010/main" val="2969096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7078776-2745-45CE-B06C-CD9093BAEA2A}" type="slidenum">
              <a:rPr lang="es-ES" smtClean="0"/>
              <a:t>13</a:t>
            </a:fld>
            <a:endParaRPr lang="es-ES"/>
          </a:p>
        </p:txBody>
      </p:sp>
    </p:spTree>
    <p:extLst>
      <p:ext uri="{BB962C8B-B14F-4D97-AF65-F5344CB8AC3E}">
        <p14:creationId xmlns:p14="http://schemas.microsoft.com/office/powerpoint/2010/main" val="3673066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75CBD419-D689-4B49-ACAE-342FC23AD0CD}" type="datetimeFigureOut">
              <a:rPr lang="es-ES" smtClean="0"/>
              <a:t>03/06/2025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9CB4EE0-5499-465A-B946-5320B5A372C1}" type="slidenum">
              <a:rPr lang="es-ES" smtClean="0"/>
              <a:t>‹Nº›</a:t>
            </a:fld>
            <a:endParaRPr lang="es-ES"/>
          </a:p>
        </p:txBody>
      </p:sp>
    </p:spTree>
    <p:extLst>
      <p:ext uri="{BB962C8B-B14F-4D97-AF65-F5344CB8AC3E}">
        <p14:creationId xmlns:p14="http://schemas.microsoft.com/office/powerpoint/2010/main" val="3628959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75CBD419-D689-4B49-ACAE-342FC23AD0CD}" type="datetimeFigureOut">
              <a:rPr lang="es-ES" smtClean="0"/>
              <a:t>03/06/2025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9CB4EE0-5499-465A-B946-5320B5A372C1}" type="slidenum">
              <a:rPr lang="es-ES" smtClean="0"/>
              <a:t>‹Nº›</a:t>
            </a:fld>
            <a:endParaRPr lang="es-ES"/>
          </a:p>
        </p:txBody>
      </p:sp>
    </p:spTree>
    <p:extLst>
      <p:ext uri="{BB962C8B-B14F-4D97-AF65-F5344CB8AC3E}">
        <p14:creationId xmlns:p14="http://schemas.microsoft.com/office/powerpoint/2010/main" val="1320925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75CBD419-D689-4B49-ACAE-342FC23AD0CD}" type="datetimeFigureOut">
              <a:rPr lang="es-ES" smtClean="0"/>
              <a:t>03/06/2025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9CB4EE0-5499-465A-B946-5320B5A372C1}" type="slidenum">
              <a:rPr lang="es-ES" smtClean="0"/>
              <a:t>‹Nº›</a:t>
            </a:fld>
            <a:endParaRPr lang="es-ES"/>
          </a:p>
        </p:txBody>
      </p:sp>
    </p:spTree>
    <p:extLst>
      <p:ext uri="{BB962C8B-B14F-4D97-AF65-F5344CB8AC3E}">
        <p14:creationId xmlns:p14="http://schemas.microsoft.com/office/powerpoint/2010/main" val="2386261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75CBD419-D689-4B49-ACAE-342FC23AD0CD}" type="datetimeFigureOut">
              <a:rPr lang="es-ES" smtClean="0"/>
              <a:t>03/06/2025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9CB4EE0-5499-465A-B946-5320B5A372C1}" type="slidenum">
              <a:rPr lang="es-ES" smtClean="0"/>
              <a:t>‹Nº›</a:t>
            </a:fld>
            <a:endParaRPr lang="es-ES"/>
          </a:p>
        </p:txBody>
      </p:sp>
    </p:spTree>
    <p:extLst>
      <p:ext uri="{BB962C8B-B14F-4D97-AF65-F5344CB8AC3E}">
        <p14:creationId xmlns:p14="http://schemas.microsoft.com/office/powerpoint/2010/main" val="4212997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75CBD419-D689-4B49-ACAE-342FC23AD0CD}" type="datetimeFigureOut">
              <a:rPr lang="es-ES" smtClean="0"/>
              <a:t>03/06/2025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D9CB4EE0-5499-465A-B946-5320B5A372C1}" type="slidenum">
              <a:rPr lang="es-ES" smtClean="0"/>
              <a:t>‹Nº›</a:t>
            </a:fld>
            <a:endParaRPr lang="es-ES"/>
          </a:p>
        </p:txBody>
      </p:sp>
    </p:spTree>
    <p:extLst>
      <p:ext uri="{BB962C8B-B14F-4D97-AF65-F5344CB8AC3E}">
        <p14:creationId xmlns:p14="http://schemas.microsoft.com/office/powerpoint/2010/main" val="3143704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75CBD419-D689-4B49-ACAE-342FC23AD0CD}" type="datetimeFigureOut">
              <a:rPr lang="es-ES" smtClean="0"/>
              <a:t>03/06/2025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D9CB4EE0-5499-465A-B946-5320B5A372C1}" type="slidenum">
              <a:rPr lang="es-ES" smtClean="0"/>
              <a:t>‹Nº›</a:t>
            </a:fld>
            <a:endParaRPr lang="es-ES"/>
          </a:p>
        </p:txBody>
      </p:sp>
    </p:spTree>
    <p:extLst>
      <p:ext uri="{BB962C8B-B14F-4D97-AF65-F5344CB8AC3E}">
        <p14:creationId xmlns:p14="http://schemas.microsoft.com/office/powerpoint/2010/main" val="3171264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75CBD419-D689-4B49-ACAE-342FC23AD0CD}" type="datetimeFigureOut">
              <a:rPr lang="es-ES" smtClean="0"/>
              <a:t>03/06/2025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D9CB4EE0-5499-465A-B946-5320B5A372C1}" type="slidenum">
              <a:rPr lang="es-ES" smtClean="0"/>
              <a:t>‹Nº›</a:t>
            </a:fld>
            <a:endParaRPr lang="es-ES"/>
          </a:p>
        </p:txBody>
      </p:sp>
    </p:spTree>
    <p:extLst>
      <p:ext uri="{BB962C8B-B14F-4D97-AF65-F5344CB8AC3E}">
        <p14:creationId xmlns:p14="http://schemas.microsoft.com/office/powerpoint/2010/main" val="3225428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75CBD419-D689-4B49-ACAE-342FC23AD0CD}" type="datetimeFigureOut">
              <a:rPr lang="es-ES" smtClean="0"/>
              <a:t>03/06/2025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9CB4EE0-5499-465A-B946-5320B5A372C1}" type="slidenum">
              <a:rPr lang="es-ES" smtClean="0"/>
              <a:t>‹Nº›</a:t>
            </a:fld>
            <a:endParaRPr lang="es-ES"/>
          </a:p>
        </p:txBody>
      </p:sp>
    </p:spTree>
    <p:extLst>
      <p:ext uri="{BB962C8B-B14F-4D97-AF65-F5344CB8AC3E}">
        <p14:creationId xmlns:p14="http://schemas.microsoft.com/office/powerpoint/2010/main" val="90530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75CBD419-D689-4B49-ACAE-342FC23AD0CD}" type="datetimeFigureOut">
              <a:rPr lang="es-ES" smtClean="0"/>
              <a:t>03/06/2025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9CB4EE0-5499-465A-B946-5320B5A372C1}" type="slidenum">
              <a:rPr lang="es-ES" smtClean="0"/>
              <a:t>‹Nº›</a:t>
            </a:fld>
            <a:endParaRPr lang="es-ES"/>
          </a:p>
        </p:txBody>
      </p:sp>
    </p:spTree>
    <p:extLst>
      <p:ext uri="{BB962C8B-B14F-4D97-AF65-F5344CB8AC3E}">
        <p14:creationId xmlns:p14="http://schemas.microsoft.com/office/powerpoint/2010/main" val="4054059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75CBD419-D689-4B49-ACAE-342FC23AD0CD}" type="datetimeFigureOut">
              <a:rPr lang="es-ES" smtClean="0"/>
              <a:t>03/06/2025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9CB4EE0-5499-465A-B946-5320B5A372C1}" type="slidenum">
              <a:rPr lang="es-ES" smtClean="0"/>
              <a:t>‹Nº›</a:t>
            </a:fld>
            <a:endParaRPr lang="es-ES"/>
          </a:p>
        </p:txBody>
      </p:sp>
    </p:spTree>
    <p:extLst>
      <p:ext uri="{BB962C8B-B14F-4D97-AF65-F5344CB8AC3E}">
        <p14:creationId xmlns:p14="http://schemas.microsoft.com/office/powerpoint/2010/main" val="1926369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75CBD419-D689-4B49-ACAE-342FC23AD0CD}" type="datetimeFigureOut">
              <a:rPr lang="es-ES" smtClean="0"/>
              <a:t>03/06/2025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9CB4EE0-5499-465A-B946-5320B5A372C1}" type="slidenum">
              <a:rPr lang="es-ES" smtClean="0"/>
              <a:t>‹Nº›</a:t>
            </a:fld>
            <a:endParaRPr lang="es-ES"/>
          </a:p>
        </p:txBody>
      </p:sp>
    </p:spTree>
    <p:extLst>
      <p:ext uri="{BB962C8B-B14F-4D97-AF65-F5344CB8AC3E}">
        <p14:creationId xmlns:p14="http://schemas.microsoft.com/office/powerpoint/2010/main" val="2361453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5122393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76" b="0" i="0">
                <a:solidFill>
                  <a:srgbClr val="FF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503480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CBD419-D689-4B49-ACAE-342FC23AD0CD}" type="datetimeFigureOut">
              <a:rPr lang="es-ES" smtClean="0"/>
              <a:t>03/06/2025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CB4EE0-5499-465A-B946-5320B5A372C1}" type="slidenum">
              <a:rPr lang="es-ES" smtClean="0"/>
              <a:t>‹Nº›</a:t>
            </a:fld>
            <a:endParaRPr lang="es-ES"/>
          </a:p>
        </p:txBody>
      </p:sp>
    </p:spTree>
    <p:extLst>
      <p:ext uri="{BB962C8B-B14F-4D97-AF65-F5344CB8AC3E}">
        <p14:creationId xmlns:p14="http://schemas.microsoft.com/office/powerpoint/2010/main" val="3205552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ES"/>
          </a:p>
        </p:txBody>
      </p:sp>
      <p:sp>
        <p:nvSpPr>
          <p:cNvPr id="3" name="Subtítulo 2"/>
          <p:cNvSpPr>
            <a:spLocks noGrp="1"/>
          </p:cNvSpPr>
          <p:nvPr>
            <p:ph type="subTitle" idx="1"/>
          </p:nvPr>
        </p:nvSpPr>
        <p:spPr/>
        <p:txBody>
          <a:bodyPr/>
          <a:lstStyle/>
          <a:p>
            <a:endParaRPr lang="es-ES"/>
          </a:p>
        </p:txBody>
      </p:sp>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983" y="0"/>
            <a:ext cx="1025341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57640" y="637523"/>
            <a:ext cx="2616112" cy="969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420" y="637523"/>
            <a:ext cx="1174220" cy="1174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p:cNvSpPr/>
          <p:nvPr/>
        </p:nvSpPr>
        <p:spPr>
          <a:xfrm>
            <a:off x="2355273" y="2480290"/>
            <a:ext cx="6096000" cy="2923877"/>
          </a:xfrm>
          <a:prstGeom prst="rect">
            <a:avLst/>
          </a:prstGeom>
        </p:spPr>
        <p:txBody>
          <a:bodyPr>
            <a:spAutoFit/>
          </a:bodyPr>
          <a:lstStyle/>
          <a:p>
            <a:pPr marL="272727" indent="-121212" algn="ctr">
              <a:spcBef>
                <a:spcPct val="0"/>
              </a:spcBef>
              <a:buClr>
                <a:srgbClr val="000000"/>
              </a:buClr>
              <a:defRPr/>
            </a:pPr>
            <a:r>
              <a:rPr lang="es-ES" altLang="es-ES" sz="4000" b="1" kern="0" dirty="0">
                <a:solidFill>
                  <a:srgbClr val="0972CB"/>
                </a:solidFill>
                <a:latin typeface="Oxygen"/>
                <a:ea typeface="Oxygen"/>
                <a:cs typeface="Oxygen"/>
                <a:sym typeface="Oxygen"/>
              </a:rPr>
              <a:t>Machine </a:t>
            </a:r>
            <a:r>
              <a:rPr lang="es-ES" altLang="es-ES" sz="4000" b="1" kern="0" dirty="0" err="1">
                <a:solidFill>
                  <a:srgbClr val="0972CB"/>
                </a:solidFill>
                <a:latin typeface="Oxygen"/>
                <a:ea typeface="Oxygen"/>
                <a:cs typeface="Oxygen"/>
                <a:sym typeface="Oxygen"/>
              </a:rPr>
              <a:t>Learning</a:t>
            </a:r>
            <a:endParaRPr lang="es-ES" altLang="es-ES" sz="4000" b="1" kern="0" dirty="0">
              <a:solidFill>
                <a:srgbClr val="0972CB"/>
              </a:solidFill>
              <a:latin typeface="Oxygen"/>
              <a:ea typeface="Oxygen"/>
              <a:cs typeface="Oxygen"/>
              <a:sym typeface="Oxygen"/>
            </a:endParaRPr>
          </a:p>
          <a:p>
            <a:pPr marL="272727" indent="-121212" algn="ctr">
              <a:spcBef>
                <a:spcPct val="0"/>
              </a:spcBef>
              <a:buClr>
                <a:srgbClr val="000000"/>
              </a:buClr>
              <a:defRPr/>
            </a:pPr>
            <a:r>
              <a:rPr lang="es-ES" altLang="es-ES" sz="4000" b="1" kern="0" dirty="0">
                <a:solidFill>
                  <a:srgbClr val="0972CB"/>
                </a:solidFill>
                <a:latin typeface="Oxygen"/>
                <a:ea typeface="Oxygen"/>
                <a:cs typeface="Oxygen"/>
                <a:sym typeface="Oxygen"/>
              </a:rPr>
              <a:t>Redes </a:t>
            </a:r>
            <a:r>
              <a:rPr lang="es-ES" altLang="es-ES" sz="4000" b="1" kern="0" dirty="0" smtClean="0">
                <a:solidFill>
                  <a:srgbClr val="0972CB"/>
                </a:solidFill>
                <a:latin typeface="Oxygen"/>
                <a:ea typeface="Oxygen"/>
                <a:cs typeface="Oxygen"/>
                <a:sym typeface="Oxygen"/>
              </a:rPr>
              <a:t>Neuronales</a:t>
            </a:r>
          </a:p>
          <a:p>
            <a:pPr marL="272727" indent="-121212" algn="ctr">
              <a:spcBef>
                <a:spcPct val="0"/>
              </a:spcBef>
              <a:buClr>
                <a:srgbClr val="000000"/>
              </a:buClr>
              <a:defRPr/>
            </a:pPr>
            <a:r>
              <a:rPr lang="es-ES" altLang="es-ES" sz="4000" b="1" kern="0" dirty="0" smtClean="0">
                <a:solidFill>
                  <a:srgbClr val="FF0000"/>
                </a:solidFill>
                <a:latin typeface="Oxygen"/>
                <a:ea typeface="Oxygen"/>
                <a:cs typeface="Oxygen"/>
                <a:sym typeface="Oxygen"/>
              </a:rPr>
              <a:t>IMPRESCINDIBLES</a:t>
            </a:r>
          </a:p>
          <a:p>
            <a:pPr marL="272727" indent="-121212" algn="ctr">
              <a:spcBef>
                <a:spcPct val="0"/>
              </a:spcBef>
              <a:buClr>
                <a:srgbClr val="000000"/>
              </a:buClr>
              <a:defRPr/>
            </a:pPr>
            <a:endParaRPr lang="es-ES" altLang="es-ES" sz="4000" b="1" kern="0" dirty="0">
              <a:solidFill>
                <a:srgbClr val="FF0000"/>
              </a:solidFill>
              <a:latin typeface="Oxygen"/>
              <a:ea typeface="Oxygen"/>
              <a:cs typeface="Oxygen"/>
              <a:sym typeface="Oxygen"/>
            </a:endParaRPr>
          </a:p>
          <a:p>
            <a:pPr marL="272727" indent="-121212" algn="ctr">
              <a:spcBef>
                <a:spcPct val="0"/>
              </a:spcBef>
              <a:buClr>
                <a:srgbClr val="000000"/>
              </a:buClr>
              <a:defRPr/>
            </a:pPr>
            <a:r>
              <a:rPr lang="es-ES" altLang="es-ES" kern="0" dirty="0" smtClean="0">
                <a:solidFill>
                  <a:schemeClr val="accent1"/>
                </a:solidFill>
                <a:latin typeface="Oxygen"/>
                <a:ea typeface="Oxygen"/>
                <a:cs typeface="Oxygen"/>
                <a:sym typeface="Oxygen"/>
              </a:rPr>
              <a:t>Inmaculada Gutiérrez García-Pardo</a:t>
            </a:r>
            <a:endParaRPr lang="es-ES" altLang="es-ES" kern="0" dirty="0">
              <a:solidFill>
                <a:schemeClr val="accent1"/>
              </a:solidFill>
              <a:latin typeface="Oxygen"/>
              <a:ea typeface="Oxygen"/>
              <a:cs typeface="Oxygen"/>
              <a:sym typeface="Oxygen"/>
            </a:endParaRPr>
          </a:p>
        </p:txBody>
      </p:sp>
    </p:spTree>
    <p:extLst>
      <p:ext uri="{BB962C8B-B14F-4D97-AF65-F5344CB8AC3E}">
        <p14:creationId xmlns:p14="http://schemas.microsoft.com/office/powerpoint/2010/main" val="3698922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ES"/>
          </a:p>
        </p:txBody>
      </p:sp>
      <p:sp>
        <p:nvSpPr>
          <p:cNvPr id="3" name="Subtítulo 2"/>
          <p:cNvSpPr>
            <a:spLocks noGrp="1"/>
          </p:cNvSpPr>
          <p:nvPr>
            <p:ph type="subTitle" idx="1"/>
          </p:nvPr>
        </p:nvSpPr>
        <p:spPr/>
        <p:txBody>
          <a:bodyPr/>
          <a:lstStyle/>
          <a:p>
            <a:endParaRPr lang="es-ES"/>
          </a:p>
        </p:txBody>
      </p:sp>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983" y="0"/>
            <a:ext cx="1025341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57640" y="637523"/>
            <a:ext cx="2616112" cy="969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420" y="637523"/>
            <a:ext cx="1174220" cy="1174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p:cNvSpPr/>
          <p:nvPr/>
        </p:nvSpPr>
        <p:spPr>
          <a:xfrm>
            <a:off x="2355273" y="2480290"/>
            <a:ext cx="6096000" cy="2923877"/>
          </a:xfrm>
          <a:prstGeom prst="rect">
            <a:avLst/>
          </a:prstGeom>
        </p:spPr>
        <p:txBody>
          <a:bodyPr>
            <a:spAutoFit/>
          </a:bodyPr>
          <a:lstStyle/>
          <a:p>
            <a:pPr marL="272727" indent="-121212" algn="ctr">
              <a:spcBef>
                <a:spcPct val="0"/>
              </a:spcBef>
              <a:buClr>
                <a:srgbClr val="000000"/>
              </a:buClr>
              <a:defRPr/>
            </a:pPr>
            <a:r>
              <a:rPr lang="es-ES" altLang="es-ES" sz="4000" b="1" kern="0" dirty="0">
                <a:solidFill>
                  <a:srgbClr val="0972CB"/>
                </a:solidFill>
                <a:latin typeface="Oxygen"/>
                <a:ea typeface="Oxygen"/>
                <a:cs typeface="Oxygen"/>
                <a:sym typeface="Oxygen"/>
              </a:rPr>
              <a:t>Machine </a:t>
            </a:r>
            <a:r>
              <a:rPr lang="es-ES" altLang="es-ES" sz="4000" b="1" kern="0" dirty="0" err="1">
                <a:solidFill>
                  <a:srgbClr val="0972CB"/>
                </a:solidFill>
                <a:latin typeface="Oxygen"/>
                <a:ea typeface="Oxygen"/>
                <a:cs typeface="Oxygen"/>
                <a:sym typeface="Oxygen"/>
              </a:rPr>
              <a:t>Learning</a:t>
            </a:r>
            <a:endParaRPr lang="es-ES" altLang="es-ES" sz="4000" b="1" kern="0" dirty="0">
              <a:solidFill>
                <a:srgbClr val="0972CB"/>
              </a:solidFill>
              <a:latin typeface="Oxygen"/>
              <a:ea typeface="Oxygen"/>
              <a:cs typeface="Oxygen"/>
              <a:sym typeface="Oxygen"/>
            </a:endParaRPr>
          </a:p>
          <a:p>
            <a:pPr marL="272727" indent="-121212" algn="ctr">
              <a:spcBef>
                <a:spcPct val="0"/>
              </a:spcBef>
              <a:buClr>
                <a:srgbClr val="000000"/>
              </a:buClr>
              <a:defRPr/>
            </a:pPr>
            <a:r>
              <a:rPr lang="es-ES" altLang="es-ES" sz="4000" b="1" kern="0" dirty="0">
                <a:solidFill>
                  <a:srgbClr val="0972CB"/>
                </a:solidFill>
                <a:latin typeface="Oxygen"/>
                <a:ea typeface="Oxygen"/>
                <a:cs typeface="Oxygen"/>
                <a:sym typeface="Oxygen"/>
              </a:rPr>
              <a:t>Redes </a:t>
            </a:r>
            <a:r>
              <a:rPr lang="es-ES" altLang="es-ES" sz="4000" b="1" kern="0" dirty="0" smtClean="0">
                <a:solidFill>
                  <a:srgbClr val="0972CB"/>
                </a:solidFill>
                <a:latin typeface="Oxygen"/>
                <a:ea typeface="Oxygen"/>
                <a:cs typeface="Oxygen"/>
                <a:sym typeface="Oxygen"/>
              </a:rPr>
              <a:t>Neuronales</a:t>
            </a:r>
          </a:p>
          <a:p>
            <a:pPr marL="272727" indent="-121212" algn="ctr">
              <a:spcBef>
                <a:spcPct val="0"/>
              </a:spcBef>
              <a:buClr>
                <a:srgbClr val="000000"/>
              </a:buClr>
              <a:defRPr/>
            </a:pPr>
            <a:r>
              <a:rPr lang="es-ES" altLang="es-ES" sz="4000" b="1" kern="0" dirty="0" smtClean="0">
                <a:solidFill>
                  <a:srgbClr val="FF0000"/>
                </a:solidFill>
                <a:latin typeface="Oxygen"/>
                <a:ea typeface="Oxygen"/>
                <a:cs typeface="Oxygen"/>
                <a:sym typeface="Oxygen"/>
              </a:rPr>
              <a:t>IMPRESCINDIBLES</a:t>
            </a:r>
          </a:p>
          <a:p>
            <a:pPr marL="272727" indent="-121212" algn="ctr">
              <a:spcBef>
                <a:spcPct val="0"/>
              </a:spcBef>
              <a:buClr>
                <a:srgbClr val="000000"/>
              </a:buClr>
              <a:defRPr/>
            </a:pPr>
            <a:endParaRPr lang="es-ES" altLang="es-ES" sz="4000" b="1" kern="0" dirty="0">
              <a:solidFill>
                <a:srgbClr val="FF0000"/>
              </a:solidFill>
              <a:latin typeface="Oxygen"/>
              <a:ea typeface="Oxygen"/>
              <a:cs typeface="Oxygen"/>
              <a:sym typeface="Oxygen"/>
            </a:endParaRPr>
          </a:p>
          <a:p>
            <a:pPr marL="272727" indent="-121212" algn="ctr">
              <a:spcBef>
                <a:spcPct val="0"/>
              </a:spcBef>
              <a:buClr>
                <a:srgbClr val="000000"/>
              </a:buClr>
              <a:defRPr/>
            </a:pPr>
            <a:r>
              <a:rPr lang="es-ES" altLang="es-ES" kern="0" dirty="0" smtClean="0">
                <a:solidFill>
                  <a:schemeClr val="accent1"/>
                </a:solidFill>
                <a:latin typeface="Oxygen"/>
                <a:ea typeface="Oxygen"/>
                <a:cs typeface="Oxygen"/>
                <a:sym typeface="Oxygen"/>
              </a:rPr>
              <a:t>Inmaculada Gutiérrez García-Pardo</a:t>
            </a:r>
            <a:endParaRPr lang="es-ES" altLang="es-ES" kern="0" dirty="0">
              <a:solidFill>
                <a:schemeClr val="accent1"/>
              </a:solidFill>
              <a:latin typeface="Oxygen"/>
              <a:ea typeface="Oxygen"/>
              <a:cs typeface="Oxygen"/>
              <a:sym typeface="Oxygen"/>
            </a:endParaRPr>
          </a:p>
        </p:txBody>
      </p:sp>
    </p:spTree>
    <p:extLst>
      <p:ext uri="{BB962C8B-B14F-4D97-AF65-F5344CB8AC3E}">
        <p14:creationId xmlns:p14="http://schemas.microsoft.com/office/powerpoint/2010/main" val="2010915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6603" y="877454"/>
            <a:ext cx="8866533" cy="5053598"/>
          </a:xfrm>
          <a:prstGeom prst="rect">
            <a:avLst/>
          </a:prstGeom>
        </p:spPr>
      </p:pic>
      <p:sp>
        <p:nvSpPr>
          <p:cNvPr id="5" name="CuadroTexto 4"/>
          <p:cNvSpPr txBox="1"/>
          <p:nvPr/>
        </p:nvSpPr>
        <p:spPr>
          <a:xfrm>
            <a:off x="812800" y="378691"/>
            <a:ext cx="2817091" cy="369332"/>
          </a:xfrm>
          <a:prstGeom prst="rect">
            <a:avLst/>
          </a:prstGeom>
          <a:noFill/>
        </p:spPr>
        <p:txBody>
          <a:bodyPr wrap="square" rtlCol="0">
            <a:spAutoFit/>
          </a:bodyPr>
          <a:lstStyle/>
          <a:p>
            <a:r>
              <a:rPr lang="es-ES" b="1" dirty="0" smtClean="0"/>
              <a:t>Sobre el proceso de ML</a:t>
            </a:r>
            <a:endParaRPr lang="es-ES" b="1" dirty="0"/>
          </a:p>
        </p:txBody>
      </p:sp>
    </p:spTree>
    <p:extLst>
      <p:ext uri="{BB962C8B-B14F-4D97-AF65-F5344CB8AC3E}">
        <p14:creationId xmlns:p14="http://schemas.microsoft.com/office/powerpoint/2010/main" val="2536182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712217" y="840509"/>
            <a:ext cx="10479783" cy="5114663"/>
          </a:xfrm>
          <a:prstGeom prst="rect">
            <a:avLst/>
          </a:prstGeom>
        </p:spPr>
      </p:pic>
      <p:sp>
        <p:nvSpPr>
          <p:cNvPr id="5" name="CuadroTexto 4"/>
          <p:cNvSpPr txBox="1"/>
          <p:nvPr/>
        </p:nvSpPr>
        <p:spPr>
          <a:xfrm>
            <a:off x="489528" y="341745"/>
            <a:ext cx="3482109" cy="369332"/>
          </a:xfrm>
          <a:prstGeom prst="rect">
            <a:avLst/>
          </a:prstGeom>
          <a:noFill/>
        </p:spPr>
        <p:txBody>
          <a:bodyPr wrap="square" rtlCol="0">
            <a:spAutoFit/>
          </a:bodyPr>
          <a:lstStyle/>
          <a:p>
            <a:r>
              <a:rPr lang="es-ES" b="1" dirty="0" smtClean="0"/>
              <a:t>Sobre la estructura de validación</a:t>
            </a:r>
            <a:endParaRPr lang="es-ES" b="1" dirty="0"/>
          </a:p>
        </p:txBody>
      </p:sp>
    </p:spTree>
    <p:extLst>
      <p:ext uri="{BB962C8B-B14F-4D97-AF65-F5344CB8AC3E}">
        <p14:creationId xmlns:p14="http://schemas.microsoft.com/office/powerpoint/2010/main" val="1021151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7684" y="181383"/>
            <a:ext cx="8696013" cy="4111533"/>
          </a:xfrm>
          <a:prstGeom prst="rect">
            <a:avLst/>
          </a:prstGeom>
        </p:spPr>
        <p:txBody>
          <a:bodyPr vert="horz" wrap="square" lIns="0" tIns="11516" rIns="0" bIns="0" rtlCol="0">
            <a:spAutoFit/>
          </a:bodyPr>
          <a:lstStyle/>
          <a:p>
            <a:pPr marL="460079">
              <a:spcBef>
                <a:spcPts val="91"/>
              </a:spcBef>
            </a:pPr>
            <a:r>
              <a:rPr lang="es-ES" b="1" dirty="0" smtClean="0"/>
              <a:t>Sobre la estructura de validación</a:t>
            </a:r>
          </a:p>
          <a:p>
            <a:pPr marL="460079">
              <a:spcBef>
                <a:spcPts val="91"/>
              </a:spcBef>
            </a:pPr>
            <a:r>
              <a:rPr sz="1600" b="1" spc="-5" dirty="0" smtClean="0">
                <a:solidFill>
                  <a:srgbClr val="538DD3"/>
                </a:solidFill>
                <a:latin typeface="Times New Roman"/>
                <a:cs typeface="Times New Roman"/>
              </a:rPr>
              <a:t>VALIDACIÓN</a:t>
            </a:r>
            <a:r>
              <a:rPr sz="1600" b="1" spc="5" dirty="0" smtClean="0">
                <a:solidFill>
                  <a:srgbClr val="538DD3"/>
                </a:solidFill>
                <a:latin typeface="Times New Roman"/>
                <a:cs typeface="Times New Roman"/>
              </a:rPr>
              <a:t> </a:t>
            </a:r>
            <a:r>
              <a:rPr sz="1600" b="1" spc="-5" dirty="0">
                <a:solidFill>
                  <a:srgbClr val="538DD3"/>
                </a:solidFill>
                <a:latin typeface="Times New Roman"/>
                <a:cs typeface="Times New Roman"/>
              </a:rPr>
              <a:t>CRUZADA</a:t>
            </a:r>
            <a:r>
              <a:rPr sz="1600" b="1" spc="-14" dirty="0">
                <a:solidFill>
                  <a:srgbClr val="538DD3"/>
                </a:solidFill>
                <a:latin typeface="Times New Roman"/>
                <a:cs typeface="Times New Roman"/>
              </a:rPr>
              <a:t> </a:t>
            </a:r>
            <a:r>
              <a:rPr sz="1600" b="1" dirty="0">
                <a:solidFill>
                  <a:srgbClr val="538DD3"/>
                </a:solidFill>
                <a:latin typeface="Times New Roman"/>
                <a:cs typeface="Times New Roman"/>
              </a:rPr>
              <a:t>(k</a:t>
            </a:r>
            <a:r>
              <a:rPr sz="1600" b="1" spc="-9" dirty="0">
                <a:solidFill>
                  <a:srgbClr val="538DD3"/>
                </a:solidFill>
                <a:latin typeface="Times New Roman"/>
                <a:cs typeface="Times New Roman"/>
              </a:rPr>
              <a:t> </a:t>
            </a:r>
            <a:r>
              <a:rPr sz="1600" b="1" spc="-5" dirty="0">
                <a:solidFill>
                  <a:srgbClr val="538DD3"/>
                </a:solidFill>
                <a:latin typeface="Times New Roman"/>
                <a:cs typeface="Times New Roman"/>
              </a:rPr>
              <a:t>grupos)</a:t>
            </a:r>
            <a:endParaRPr sz="1600" dirty="0">
              <a:latin typeface="Times New Roman"/>
              <a:cs typeface="Times New Roman"/>
            </a:endParaRPr>
          </a:p>
          <a:p>
            <a:pPr>
              <a:spcBef>
                <a:spcPts val="41"/>
              </a:spcBef>
            </a:pPr>
            <a:endParaRPr sz="1632" dirty="0">
              <a:latin typeface="Times New Roman"/>
              <a:cs typeface="Times New Roman"/>
            </a:endParaRPr>
          </a:p>
          <a:p>
            <a:pPr marL="46065" marR="16123">
              <a:lnSpc>
                <a:spcPts val="1886"/>
              </a:lnSpc>
            </a:pPr>
            <a:r>
              <a:rPr sz="1632" b="1" spc="-5" dirty="0">
                <a:latin typeface="Times New Roman"/>
                <a:cs typeface="Times New Roman"/>
              </a:rPr>
              <a:t>Si</a:t>
            </a:r>
            <a:r>
              <a:rPr sz="1632" b="1" dirty="0">
                <a:latin typeface="Times New Roman"/>
                <a:cs typeface="Times New Roman"/>
              </a:rPr>
              <a:t> </a:t>
            </a:r>
            <a:r>
              <a:rPr sz="1632" b="1" spc="-5" dirty="0">
                <a:latin typeface="Times New Roman"/>
                <a:cs typeface="Times New Roman"/>
              </a:rPr>
              <a:t>no</a:t>
            </a:r>
            <a:r>
              <a:rPr sz="1632" b="1" spc="9" dirty="0">
                <a:latin typeface="Times New Roman"/>
                <a:cs typeface="Times New Roman"/>
              </a:rPr>
              <a:t> </a:t>
            </a:r>
            <a:r>
              <a:rPr sz="1632" b="1" spc="-5" dirty="0">
                <a:latin typeface="Times New Roman"/>
                <a:cs typeface="Times New Roman"/>
              </a:rPr>
              <a:t>se</a:t>
            </a:r>
            <a:r>
              <a:rPr sz="1632" b="1" spc="9" dirty="0">
                <a:latin typeface="Times New Roman"/>
                <a:cs typeface="Times New Roman"/>
              </a:rPr>
              <a:t> </a:t>
            </a:r>
            <a:r>
              <a:rPr sz="1632" b="1" spc="-5" dirty="0">
                <a:latin typeface="Times New Roman"/>
                <a:cs typeface="Times New Roman"/>
              </a:rPr>
              <a:t>tienen</a:t>
            </a:r>
            <a:r>
              <a:rPr sz="1632" b="1" dirty="0">
                <a:latin typeface="Times New Roman"/>
                <a:cs typeface="Times New Roman"/>
              </a:rPr>
              <a:t> muchas observaciones,</a:t>
            </a:r>
            <a:r>
              <a:rPr sz="1632" b="1" spc="9" dirty="0">
                <a:latin typeface="Times New Roman"/>
                <a:cs typeface="Times New Roman"/>
              </a:rPr>
              <a:t> </a:t>
            </a:r>
            <a:r>
              <a:rPr sz="1632" b="1" dirty="0">
                <a:latin typeface="Times New Roman"/>
                <a:cs typeface="Times New Roman"/>
              </a:rPr>
              <a:t>la</a:t>
            </a:r>
            <a:r>
              <a:rPr sz="1632" b="1" spc="5" dirty="0">
                <a:latin typeface="Times New Roman"/>
                <a:cs typeface="Times New Roman"/>
              </a:rPr>
              <a:t> </a:t>
            </a:r>
            <a:r>
              <a:rPr sz="1632" b="1" spc="-5" dirty="0">
                <a:latin typeface="Times New Roman"/>
                <a:cs typeface="Times New Roman"/>
              </a:rPr>
              <a:t>división</a:t>
            </a:r>
            <a:r>
              <a:rPr sz="1632" b="1" spc="9" dirty="0">
                <a:latin typeface="Times New Roman"/>
                <a:cs typeface="Times New Roman"/>
              </a:rPr>
              <a:t> </a:t>
            </a:r>
            <a:r>
              <a:rPr sz="1632" b="1" dirty="0">
                <a:latin typeface="Times New Roman"/>
                <a:cs typeface="Times New Roman"/>
              </a:rPr>
              <a:t>en</a:t>
            </a:r>
            <a:r>
              <a:rPr sz="1632" b="1" spc="5" dirty="0">
                <a:latin typeface="Times New Roman"/>
                <a:cs typeface="Times New Roman"/>
              </a:rPr>
              <a:t> </a:t>
            </a:r>
            <a:r>
              <a:rPr sz="1632" b="1" spc="-5" dirty="0">
                <a:latin typeface="Times New Roman"/>
                <a:cs typeface="Times New Roman"/>
              </a:rPr>
              <a:t>Training-Validación-Test</a:t>
            </a:r>
            <a:r>
              <a:rPr sz="1632" b="1" spc="9" dirty="0">
                <a:latin typeface="Times New Roman"/>
                <a:cs typeface="Times New Roman"/>
              </a:rPr>
              <a:t> </a:t>
            </a:r>
            <a:r>
              <a:rPr sz="1632" b="1" spc="-5" dirty="0">
                <a:latin typeface="Times New Roman"/>
                <a:cs typeface="Times New Roman"/>
              </a:rPr>
              <a:t>arrojará</a:t>
            </a:r>
            <a:r>
              <a:rPr sz="1632" b="1" spc="9" dirty="0">
                <a:latin typeface="Times New Roman"/>
                <a:cs typeface="Times New Roman"/>
              </a:rPr>
              <a:t> </a:t>
            </a:r>
            <a:r>
              <a:rPr sz="1632" b="1" spc="-5" dirty="0">
                <a:latin typeface="Times New Roman"/>
                <a:cs typeface="Times New Roman"/>
              </a:rPr>
              <a:t>resultados </a:t>
            </a:r>
            <a:r>
              <a:rPr sz="1632" b="1" spc="-394" dirty="0">
                <a:latin typeface="Times New Roman"/>
                <a:cs typeface="Times New Roman"/>
              </a:rPr>
              <a:t> </a:t>
            </a:r>
            <a:r>
              <a:rPr sz="1632" b="1" dirty="0">
                <a:latin typeface="Times New Roman"/>
                <a:cs typeface="Times New Roman"/>
              </a:rPr>
              <a:t>muy</a:t>
            </a:r>
            <a:r>
              <a:rPr sz="1632" b="1" spc="5" dirty="0">
                <a:latin typeface="Times New Roman"/>
                <a:cs typeface="Times New Roman"/>
              </a:rPr>
              <a:t> </a:t>
            </a:r>
            <a:r>
              <a:rPr sz="1632" b="1" spc="-5" dirty="0">
                <a:latin typeface="Times New Roman"/>
                <a:cs typeface="Times New Roman"/>
              </a:rPr>
              <a:t>variables</a:t>
            </a:r>
            <a:r>
              <a:rPr sz="1632" b="1" dirty="0">
                <a:latin typeface="Times New Roman"/>
                <a:cs typeface="Times New Roman"/>
              </a:rPr>
              <a:t> </a:t>
            </a:r>
            <a:r>
              <a:rPr sz="1632" b="1" spc="-5" dirty="0">
                <a:latin typeface="Times New Roman"/>
                <a:cs typeface="Times New Roman"/>
              </a:rPr>
              <a:t>según</a:t>
            </a:r>
            <a:r>
              <a:rPr sz="1632" b="1" dirty="0">
                <a:latin typeface="Times New Roman"/>
                <a:cs typeface="Times New Roman"/>
              </a:rPr>
              <a:t> la</a:t>
            </a:r>
            <a:r>
              <a:rPr sz="1632" b="1" spc="5" dirty="0">
                <a:latin typeface="Times New Roman"/>
                <a:cs typeface="Times New Roman"/>
              </a:rPr>
              <a:t> </a:t>
            </a:r>
            <a:r>
              <a:rPr sz="1632" b="1" spc="-5" dirty="0">
                <a:latin typeface="Times New Roman"/>
                <a:cs typeface="Times New Roman"/>
              </a:rPr>
              <a:t>selección aleatoria</a:t>
            </a:r>
            <a:r>
              <a:rPr sz="1632" b="1" spc="5" dirty="0">
                <a:latin typeface="Times New Roman"/>
                <a:cs typeface="Times New Roman"/>
              </a:rPr>
              <a:t> </a:t>
            </a:r>
            <a:r>
              <a:rPr sz="1632" b="1" spc="-5" dirty="0">
                <a:latin typeface="Times New Roman"/>
                <a:cs typeface="Times New Roman"/>
              </a:rPr>
              <a:t>de</a:t>
            </a:r>
            <a:r>
              <a:rPr sz="1632" b="1" spc="-9" dirty="0">
                <a:latin typeface="Times New Roman"/>
                <a:cs typeface="Times New Roman"/>
              </a:rPr>
              <a:t> </a:t>
            </a:r>
            <a:r>
              <a:rPr sz="1632" b="1" spc="-5" dirty="0">
                <a:latin typeface="Times New Roman"/>
                <a:cs typeface="Times New Roman"/>
              </a:rPr>
              <a:t>esos</a:t>
            </a:r>
            <a:r>
              <a:rPr sz="1632" b="1" spc="-9" dirty="0">
                <a:latin typeface="Times New Roman"/>
                <a:cs typeface="Times New Roman"/>
              </a:rPr>
              <a:t> </a:t>
            </a:r>
            <a:r>
              <a:rPr sz="1632" b="1" spc="-5" dirty="0">
                <a:latin typeface="Times New Roman"/>
                <a:cs typeface="Times New Roman"/>
              </a:rPr>
              <a:t>grupos.</a:t>
            </a:r>
            <a:endParaRPr sz="1632" dirty="0">
              <a:latin typeface="Times New Roman"/>
              <a:cs typeface="Times New Roman"/>
            </a:endParaRPr>
          </a:p>
          <a:p>
            <a:pPr marL="46065">
              <a:spcBef>
                <a:spcPts val="1111"/>
              </a:spcBef>
            </a:pPr>
            <a:r>
              <a:rPr sz="1814" b="1" spc="-5" dirty="0">
                <a:solidFill>
                  <a:srgbClr val="FF0000"/>
                </a:solidFill>
                <a:latin typeface="Times New Roman"/>
                <a:cs typeface="Times New Roman"/>
              </a:rPr>
              <a:t>Algoritmo</a:t>
            </a:r>
            <a:r>
              <a:rPr sz="1814" b="1" spc="-9" dirty="0">
                <a:solidFill>
                  <a:srgbClr val="FF0000"/>
                </a:solidFill>
                <a:latin typeface="Times New Roman"/>
                <a:cs typeface="Times New Roman"/>
              </a:rPr>
              <a:t> </a:t>
            </a:r>
            <a:r>
              <a:rPr sz="1814" b="1" spc="-5" dirty="0">
                <a:solidFill>
                  <a:srgbClr val="FF0000"/>
                </a:solidFill>
                <a:latin typeface="Times New Roman"/>
                <a:cs typeface="Times New Roman"/>
              </a:rPr>
              <a:t>de</a:t>
            </a:r>
            <a:r>
              <a:rPr sz="1814" b="1" spc="-18" dirty="0">
                <a:solidFill>
                  <a:srgbClr val="FF0000"/>
                </a:solidFill>
                <a:latin typeface="Times New Roman"/>
                <a:cs typeface="Times New Roman"/>
              </a:rPr>
              <a:t> </a:t>
            </a:r>
            <a:r>
              <a:rPr sz="1814" b="1" spc="-5" dirty="0">
                <a:solidFill>
                  <a:srgbClr val="FF0000"/>
                </a:solidFill>
                <a:latin typeface="Times New Roman"/>
                <a:cs typeface="Times New Roman"/>
              </a:rPr>
              <a:t>validación</a:t>
            </a:r>
            <a:r>
              <a:rPr sz="1814" b="1" spc="9" dirty="0">
                <a:solidFill>
                  <a:srgbClr val="FF0000"/>
                </a:solidFill>
                <a:latin typeface="Times New Roman"/>
                <a:cs typeface="Times New Roman"/>
              </a:rPr>
              <a:t> </a:t>
            </a:r>
            <a:r>
              <a:rPr sz="1814" b="1" spc="-5" dirty="0">
                <a:solidFill>
                  <a:srgbClr val="FF0000"/>
                </a:solidFill>
                <a:latin typeface="Times New Roman"/>
                <a:cs typeface="Times New Roman"/>
              </a:rPr>
              <a:t>cruzada</a:t>
            </a:r>
            <a:endParaRPr sz="1814" dirty="0">
              <a:latin typeface="Times New Roman"/>
              <a:cs typeface="Times New Roman"/>
            </a:endParaRPr>
          </a:p>
          <a:p>
            <a:pPr>
              <a:spcBef>
                <a:spcPts val="41"/>
              </a:spcBef>
            </a:pPr>
            <a:endParaRPr sz="1496" dirty="0">
              <a:latin typeface="Times New Roman"/>
              <a:cs typeface="Times New Roman"/>
            </a:endParaRPr>
          </a:p>
          <a:p>
            <a:pPr marL="270634" indent="-225145">
              <a:lnSpc>
                <a:spcPts val="1922"/>
              </a:lnSpc>
              <a:buAutoNum type="arabicParenR"/>
              <a:tabLst>
                <a:tab pos="271210" algn="l"/>
              </a:tabLst>
            </a:pPr>
            <a:r>
              <a:rPr sz="1814" spc="-5" dirty="0">
                <a:latin typeface="Times New Roman"/>
                <a:cs typeface="Times New Roman"/>
              </a:rPr>
              <a:t>Se</a:t>
            </a:r>
            <a:r>
              <a:rPr sz="1814" dirty="0">
                <a:latin typeface="Times New Roman"/>
                <a:cs typeface="Times New Roman"/>
              </a:rPr>
              <a:t> </a:t>
            </a:r>
            <a:r>
              <a:rPr sz="1814" spc="-5" dirty="0">
                <a:latin typeface="Times New Roman"/>
                <a:cs typeface="Times New Roman"/>
              </a:rPr>
              <a:t>dividen</a:t>
            </a:r>
            <a:r>
              <a:rPr sz="1814" spc="-9" dirty="0">
                <a:latin typeface="Times New Roman"/>
                <a:cs typeface="Times New Roman"/>
              </a:rPr>
              <a:t> </a:t>
            </a:r>
            <a:r>
              <a:rPr sz="1814" dirty="0">
                <a:latin typeface="Times New Roman"/>
                <a:cs typeface="Times New Roman"/>
              </a:rPr>
              <a:t>los datos</a:t>
            </a:r>
            <a:r>
              <a:rPr sz="1814" spc="-9" dirty="0">
                <a:latin typeface="Times New Roman"/>
                <a:cs typeface="Times New Roman"/>
              </a:rPr>
              <a:t> </a:t>
            </a:r>
            <a:r>
              <a:rPr sz="1814" spc="-5" dirty="0">
                <a:latin typeface="Times New Roman"/>
                <a:cs typeface="Times New Roman"/>
              </a:rPr>
              <a:t>aleatoriamente</a:t>
            </a:r>
            <a:r>
              <a:rPr sz="1814" spc="5" dirty="0">
                <a:latin typeface="Times New Roman"/>
                <a:cs typeface="Times New Roman"/>
              </a:rPr>
              <a:t> </a:t>
            </a:r>
            <a:r>
              <a:rPr sz="1814" dirty="0">
                <a:latin typeface="Times New Roman"/>
                <a:cs typeface="Times New Roman"/>
              </a:rPr>
              <a:t>en</a:t>
            </a:r>
            <a:r>
              <a:rPr sz="1814" spc="-5" dirty="0">
                <a:latin typeface="Times New Roman"/>
                <a:cs typeface="Times New Roman"/>
              </a:rPr>
              <a:t> </a:t>
            </a:r>
            <a:r>
              <a:rPr sz="1814" i="1" dirty="0">
                <a:latin typeface="Times New Roman"/>
                <a:cs typeface="Times New Roman"/>
              </a:rPr>
              <a:t>k</a:t>
            </a:r>
            <a:r>
              <a:rPr sz="1814" dirty="0">
                <a:latin typeface="Times New Roman"/>
                <a:cs typeface="Times New Roman"/>
              </a:rPr>
              <a:t> </a:t>
            </a:r>
            <a:r>
              <a:rPr sz="1814" spc="-5" dirty="0" err="1">
                <a:latin typeface="Times New Roman"/>
                <a:cs typeface="Times New Roman"/>
              </a:rPr>
              <a:t>grupos</a:t>
            </a:r>
            <a:r>
              <a:rPr lang="es-ES" sz="1814" spc="-5" dirty="0">
                <a:latin typeface="Times New Roman"/>
                <a:cs typeface="Times New Roman"/>
              </a:rPr>
              <a:t>. La idea es que </a:t>
            </a:r>
            <a:r>
              <a:rPr lang="es-ES" sz="1814" b="1" spc="-5" dirty="0">
                <a:latin typeface="Times New Roman"/>
                <a:cs typeface="Times New Roman"/>
              </a:rPr>
              <a:t>todos los datos pasen</a:t>
            </a:r>
            <a:r>
              <a:rPr lang="es-ES" sz="1814" spc="-5" dirty="0">
                <a:latin typeface="Times New Roman"/>
                <a:cs typeface="Times New Roman"/>
              </a:rPr>
              <a:t> por alguna fase de </a:t>
            </a:r>
            <a:r>
              <a:rPr lang="es-ES" sz="1814" b="1" spc="-5" dirty="0" err="1">
                <a:latin typeface="Times New Roman"/>
                <a:cs typeface="Times New Roman"/>
              </a:rPr>
              <a:t>train</a:t>
            </a:r>
            <a:r>
              <a:rPr lang="es-ES" sz="1814" spc="-5" dirty="0">
                <a:latin typeface="Times New Roman"/>
                <a:cs typeface="Times New Roman"/>
              </a:rPr>
              <a:t> y por alguna de </a:t>
            </a:r>
            <a:r>
              <a:rPr lang="es-ES" sz="1814" b="1" spc="-5" dirty="0">
                <a:latin typeface="Times New Roman"/>
                <a:cs typeface="Times New Roman"/>
              </a:rPr>
              <a:t>test</a:t>
            </a:r>
            <a:r>
              <a:rPr lang="es-ES" sz="1814" spc="-5" dirty="0">
                <a:latin typeface="Times New Roman"/>
                <a:cs typeface="Times New Roman"/>
              </a:rPr>
              <a:t>.</a:t>
            </a:r>
            <a:endParaRPr sz="1814" dirty="0">
              <a:latin typeface="Times New Roman"/>
              <a:cs typeface="Times New Roman"/>
            </a:endParaRPr>
          </a:p>
          <a:p>
            <a:pPr marL="271210" marR="4443012" indent="-271210">
              <a:lnSpc>
                <a:spcPts val="1868"/>
              </a:lnSpc>
              <a:spcBef>
                <a:spcPts val="103"/>
              </a:spcBef>
              <a:buAutoNum type="arabicParenR"/>
              <a:tabLst>
                <a:tab pos="271210" algn="l"/>
              </a:tabLst>
            </a:pPr>
            <a:r>
              <a:rPr sz="1814" spc="-5" dirty="0">
                <a:latin typeface="Times New Roman"/>
                <a:cs typeface="Times New Roman"/>
              </a:rPr>
              <a:t>Se</a:t>
            </a:r>
            <a:r>
              <a:rPr sz="1814" spc="5" dirty="0">
                <a:latin typeface="Times New Roman"/>
                <a:cs typeface="Times New Roman"/>
              </a:rPr>
              <a:t> </a:t>
            </a:r>
            <a:r>
              <a:rPr sz="1814" spc="-5" dirty="0" err="1">
                <a:latin typeface="Times New Roman"/>
                <a:cs typeface="Times New Roman"/>
              </a:rPr>
              <a:t>realiza</a:t>
            </a:r>
            <a:r>
              <a:rPr sz="1814" spc="5" dirty="0">
                <a:latin typeface="Times New Roman"/>
                <a:cs typeface="Times New Roman"/>
              </a:rPr>
              <a:t> </a:t>
            </a:r>
            <a:r>
              <a:rPr sz="1814" spc="-5" dirty="0" err="1">
                <a:latin typeface="Times New Roman"/>
                <a:cs typeface="Times New Roman"/>
              </a:rPr>
              <a:t>iterativamente</a:t>
            </a:r>
            <a:r>
              <a:rPr sz="1814" spc="-5" dirty="0">
                <a:latin typeface="Times New Roman"/>
                <a:cs typeface="Times New Roman"/>
              </a:rPr>
              <a:t>: </a:t>
            </a:r>
            <a:endParaRPr lang="es-ES" sz="1814" spc="-5" dirty="0">
              <a:latin typeface="Times New Roman"/>
              <a:cs typeface="Times New Roman"/>
            </a:endParaRPr>
          </a:p>
          <a:p>
            <a:pPr marR="4443012">
              <a:lnSpc>
                <a:spcPts val="1868"/>
              </a:lnSpc>
              <a:spcBef>
                <a:spcPts val="103"/>
              </a:spcBef>
              <a:tabLst>
                <a:tab pos="271210" algn="l"/>
              </a:tabLst>
            </a:pPr>
            <a:r>
              <a:rPr lang="es-ES" sz="1814" spc="-5" dirty="0">
                <a:latin typeface="Times New Roman"/>
                <a:cs typeface="Times New Roman"/>
              </a:rPr>
              <a:t>       </a:t>
            </a:r>
            <a:r>
              <a:rPr sz="1814" i="1" spc="-394" dirty="0">
                <a:latin typeface="Times New Roman"/>
                <a:cs typeface="Times New Roman"/>
              </a:rPr>
              <a:t> </a:t>
            </a:r>
            <a:r>
              <a:rPr sz="1814" i="1" spc="-5" dirty="0">
                <a:latin typeface="Times New Roman"/>
                <a:cs typeface="Times New Roman"/>
              </a:rPr>
              <a:t>Desde </a:t>
            </a:r>
            <a:r>
              <a:rPr sz="1814" i="1" dirty="0">
                <a:latin typeface="Times New Roman"/>
                <a:cs typeface="Times New Roman"/>
              </a:rPr>
              <a:t>i=1</a:t>
            </a:r>
            <a:r>
              <a:rPr sz="1814" i="1" spc="-9" dirty="0">
                <a:latin typeface="Times New Roman"/>
                <a:cs typeface="Times New Roman"/>
              </a:rPr>
              <a:t> </a:t>
            </a:r>
            <a:r>
              <a:rPr sz="1814" i="1" spc="-5" dirty="0">
                <a:latin typeface="Times New Roman"/>
                <a:cs typeface="Times New Roman"/>
              </a:rPr>
              <a:t>hasta</a:t>
            </a:r>
            <a:r>
              <a:rPr sz="1814" i="1" dirty="0">
                <a:latin typeface="Times New Roman"/>
                <a:cs typeface="Times New Roman"/>
              </a:rPr>
              <a:t> k</a:t>
            </a:r>
          </a:p>
          <a:p>
            <a:pPr marL="861424">
              <a:lnSpc>
                <a:spcPts val="1795"/>
              </a:lnSpc>
            </a:pPr>
            <a:r>
              <a:rPr sz="1814" i="1" spc="-5" dirty="0">
                <a:latin typeface="Times New Roman"/>
                <a:cs typeface="Times New Roman"/>
              </a:rPr>
              <a:t>Dejar</a:t>
            </a:r>
            <a:r>
              <a:rPr sz="1814" i="1" spc="-9" dirty="0">
                <a:latin typeface="Times New Roman"/>
                <a:cs typeface="Times New Roman"/>
              </a:rPr>
              <a:t> </a:t>
            </a:r>
            <a:r>
              <a:rPr sz="1814" i="1" spc="-5" dirty="0">
                <a:latin typeface="Times New Roman"/>
                <a:cs typeface="Times New Roman"/>
              </a:rPr>
              <a:t>aparte</a:t>
            </a:r>
            <a:r>
              <a:rPr sz="1814" i="1" spc="-9" dirty="0">
                <a:latin typeface="Times New Roman"/>
                <a:cs typeface="Times New Roman"/>
              </a:rPr>
              <a:t> </a:t>
            </a:r>
            <a:r>
              <a:rPr sz="1814" i="1" dirty="0">
                <a:latin typeface="Times New Roman"/>
                <a:cs typeface="Times New Roman"/>
              </a:rPr>
              <a:t>el</a:t>
            </a:r>
            <a:r>
              <a:rPr sz="1814" i="1" spc="-9" dirty="0">
                <a:latin typeface="Times New Roman"/>
                <a:cs typeface="Times New Roman"/>
              </a:rPr>
              <a:t> </a:t>
            </a:r>
            <a:r>
              <a:rPr sz="1814" i="1" spc="-5" dirty="0" err="1">
                <a:latin typeface="Times New Roman"/>
                <a:cs typeface="Times New Roman"/>
              </a:rPr>
              <a:t>grupo</a:t>
            </a:r>
            <a:r>
              <a:rPr sz="1814" i="1" spc="-5" dirty="0">
                <a:latin typeface="Times New Roman"/>
                <a:cs typeface="Times New Roman"/>
              </a:rPr>
              <a:t> </a:t>
            </a:r>
            <a:r>
              <a:rPr sz="1814" i="1" dirty="0" err="1">
                <a:latin typeface="Times New Roman"/>
                <a:cs typeface="Times New Roman"/>
              </a:rPr>
              <a:t>i</a:t>
            </a:r>
            <a:r>
              <a:rPr lang="es-ES" sz="1814" i="1" dirty="0">
                <a:latin typeface="Times New Roman"/>
                <a:cs typeface="Times New Roman"/>
              </a:rPr>
              <a:t>;</a:t>
            </a:r>
            <a:endParaRPr sz="1814" i="1" dirty="0">
              <a:latin typeface="Times New Roman"/>
              <a:cs typeface="Times New Roman"/>
            </a:endParaRPr>
          </a:p>
          <a:p>
            <a:pPr marL="861424">
              <a:lnSpc>
                <a:spcPts val="1877"/>
              </a:lnSpc>
            </a:pPr>
            <a:r>
              <a:rPr sz="1814" i="1" dirty="0">
                <a:latin typeface="Times New Roman"/>
                <a:cs typeface="Times New Roman"/>
              </a:rPr>
              <a:t>Construir </a:t>
            </a:r>
            <a:r>
              <a:rPr sz="1814" i="1" spc="-5" dirty="0">
                <a:latin typeface="Times New Roman"/>
                <a:cs typeface="Times New Roman"/>
              </a:rPr>
              <a:t>el</a:t>
            </a:r>
            <a:r>
              <a:rPr sz="1814" i="1" dirty="0">
                <a:latin typeface="Times New Roman"/>
                <a:cs typeface="Times New Roman"/>
              </a:rPr>
              <a:t> </a:t>
            </a:r>
            <a:r>
              <a:rPr sz="1814" i="1" spc="-5" dirty="0">
                <a:latin typeface="Times New Roman"/>
                <a:cs typeface="Times New Roman"/>
              </a:rPr>
              <a:t>modelo</a:t>
            </a:r>
            <a:r>
              <a:rPr sz="1814" i="1" spc="-14" dirty="0">
                <a:latin typeface="Times New Roman"/>
                <a:cs typeface="Times New Roman"/>
              </a:rPr>
              <a:t> </a:t>
            </a:r>
            <a:r>
              <a:rPr sz="1814" i="1" dirty="0">
                <a:latin typeface="Times New Roman"/>
                <a:cs typeface="Times New Roman"/>
              </a:rPr>
              <a:t>con</a:t>
            </a:r>
            <a:r>
              <a:rPr sz="1814" i="1" spc="399" dirty="0">
                <a:latin typeface="Times New Roman"/>
                <a:cs typeface="Times New Roman"/>
              </a:rPr>
              <a:t> </a:t>
            </a:r>
            <a:r>
              <a:rPr sz="1814" i="1" dirty="0">
                <a:latin typeface="Times New Roman"/>
                <a:cs typeface="Times New Roman"/>
              </a:rPr>
              <a:t>los</a:t>
            </a:r>
            <a:r>
              <a:rPr sz="1814" i="1" spc="-5" dirty="0">
                <a:latin typeface="Times New Roman"/>
                <a:cs typeface="Times New Roman"/>
              </a:rPr>
              <a:t> </a:t>
            </a:r>
            <a:r>
              <a:rPr sz="1814" i="1" spc="-5" dirty="0" err="1">
                <a:latin typeface="Times New Roman"/>
                <a:cs typeface="Times New Roman"/>
              </a:rPr>
              <a:t>grupos</a:t>
            </a:r>
            <a:r>
              <a:rPr sz="1814" i="1" dirty="0">
                <a:latin typeface="Times New Roman"/>
                <a:cs typeface="Times New Roman"/>
              </a:rPr>
              <a:t> </a:t>
            </a:r>
            <a:r>
              <a:rPr sz="1814" i="1" spc="-5" dirty="0" err="1">
                <a:latin typeface="Times New Roman"/>
                <a:cs typeface="Times New Roman"/>
              </a:rPr>
              <a:t>restantes</a:t>
            </a:r>
            <a:r>
              <a:rPr lang="es-ES" sz="1814" i="1" spc="-5" dirty="0">
                <a:latin typeface="Times New Roman"/>
                <a:cs typeface="Times New Roman"/>
              </a:rPr>
              <a:t>;</a:t>
            </a:r>
            <a:endParaRPr sz="1814" i="1" dirty="0">
              <a:latin typeface="Times New Roman"/>
              <a:cs typeface="Times New Roman"/>
            </a:endParaRPr>
          </a:p>
          <a:p>
            <a:pPr marL="861424">
              <a:lnSpc>
                <a:spcPts val="1877"/>
              </a:lnSpc>
            </a:pPr>
            <a:r>
              <a:rPr sz="1814" i="1" spc="-5" dirty="0">
                <a:latin typeface="Times New Roman"/>
                <a:cs typeface="Times New Roman"/>
              </a:rPr>
              <a:t>Estimar</a:t>
            </a:r>
            <a:r>
              <a:rPr sz="1814" i="1" dirty="0">
                <a:latin typeface="Times New Roman"/>
                <a:cs typeface="Times New Roman"/>
              </a:rPr>
              <a:t> </a:t>
            </a:r>
            <a:r>
              <a:rPr sz="1814" i="1" spc="-5" dirty="0">
                <a:latin typeface="Times New Roman"/>
                <a:cs typeface="Times New Roman"/>
              </a:rPr>
              <a:t>el</a:t>
            </a:r>
            <a:r>
              <a:rPr sz="1814" i="1" dirty="0">
                <a:latin typeface="Times New Roman"/>
                <a:cs typeface="Times New Roman"/>
              </a:rPr>
              <a:t> error (por </a:t>
            </a:r>
            <a:r>
              <a:rPr sz="1814" i="1" spc="-5" dirty="0">
                <a:latin typeface="Times New Roman"/>
                <a:cs typeface="Times New Roman"/>
              </a:rPr>
              <a:t>ejemplo</a:t>
            </a:r>
            <a:r>
              <a:rPr sz="1814" i="1" dirty="0">
                <a:latin typeface="Times New Roman"/>
                <a:cs typeface="Times New Roman"/>
              </a:rPr>
              <a:t> </a:t>
            </a:r>
            <a:r>
              <a:rPr sz="1814" i="1" spc="-5" dirty="0">
                <a:latin typeface="Times New Roman"/>
                <a:cs typeface="Times New Roman"/>
              </a:rPr>
              <a:t>ASE)</a:t>
            </a:r>
            <a:r>
              <a:rPr sz="1814" i="1" spc="5" dirty="0">
                <a:latin typeface="Times New Roman"/>
                <a:cs typeface="Times New Roman"/>
              </a:rPr>
              <a:t> </a:t>
            </a:r>
            <a:r>
              <a:rPr sz="1814" i="1" spc="-5" dirty="0">
                <a:latin typeface="Times New Roman"/>
                <a:cs typeface="Times New Roman"/>
              </a:rPr>
              <a:t>al</a:t>
            </a:r>
            <a:r>
              <a:rPr sz="1814" i="1" spc="5" dirty="0">
                <a:latin typeface="Times New Roman"/>
                <a:cs typeface="Times New Roman"/>
              </a:rPr>
              <a:t> </a:t>
            </a:r>
            <a:r>
              <a:rPr sz="1814" i="1" spc="-5" dirty="0">
                <a:latin typeface="Times New Roman"/>
                <a:cs typeface="Times New Roman"/>
              </a:rPr>
              <a:t>predecir</a:t>
            </a:r>
            <a:r>
              <a:rPr sz="1814" i="1" dirty="0">
                <a:latin typeface="Times New Roman"/>
                <a:cs typeface="Times New Roman"/>
              </a:rPr>
              <a:t> </a:t>
            </a:r>
            <a:r>
              <a:rPr sz="1814" i="1" spc="5" dirty="0">
                <a:latin typeface="Times New Roman"/>
                <a:cs typeface="Times New Roman"/>
              </a:rPr>
              <a:t>el</a:t>
            </a:r>
            <a:r>
              <a:rPr sz="1814" i="1" spc="-14" dirty="0">
                <a:latin typeface="Times New Roman"/>
                <a:cs typeface="Times New Roman"/>
              </a:rPr>
              <a:t> </a:t>
            </a:r>
            <a:r>
              <a:rPr sz="1814" i="1" dirty="0">
                <a:latin typeface="Times New Roman"/>
                <a:cs typeface="Times New Roman"/>
              </a:rPr>
              <a:t>grupo i:  Error</a:t>
            </a:r>
            <a:r>
              <a:rPr sz="1632" i="1" baseline="-12077" dirty="0">
                <a:latin typeface="Times New Roman"/>
                <a:cs typeface="Times New Roman"/>
              </a:rPr>
              <a:t>i</a:t>
            </a:r>
          </a:p>
          <a:p>
            <a:pPr marL="453745">
              <a:lnSpc>
                <a:spcPts val="1877"/>
              </a:lnSpc>
            </a:pPr>
            <a:r>
              <a:rPr sz="1814" i="1" spc="-5" dirty="0">
                <a:latin typeface="Times New Roman"/>
                <a:cs typeface="Times New Roman"/>
              </a:rPr>
              <a:t>Fin</a:t>
            </a:r>
            <a:endParaRPr sz="1814" i="1" dirty="0">
              <a:latin typeface="Times New Roman"/>
              <a:cs typeface="Times New Roman"/>
            </a:endParaRPr>
          </a:p>
          <a:p>
            <a:pPr marL="270634" indent="-225145">
              <a:lnSpc>
                <a:spcPts val="1922"/>
              </a:lnSpc>
              <a:buAutoNum type="arabicParenR" startAt="3"/>
              <a:tabLst>
                <a:tab pos="271210" algn="l"/>
              </a:tabLst>
            </a:pPr>
            <a:r>
              <a:rPr sz="1814" spc="-5" dirty="0">
                <a:latin typeface="Times New Roman"/>
                <a:cs typeface="Times New Roman"/>
              </a:rPr>
              <a:t>Una</a:t>
            </a:r>
            <a:r>
              <a:rPr sz="1814" dirty="0">
                <a:latin typeface="Times New Roman"/>
                <a:cs typeface="Times New Roman"/>
              </a:rPr>
              <a:t> </a:t>
            </a:r>
            <a:r>
              <a:rPr sz="1814" spc="-5" dirty="0">
                <a:latin typeface="Times New Roman"/>
                <a:cs typeface="Times New Roman"/>
              </a:rPr>
              <a:t>medida</a:t>
            </a:r>
            <a:r>
              <a:rPr sz="1814" spc="9" dirty="0">
                <a:latin typeface="Times New Roman"/>
                <a:cs typeface="Times New Roman"/>
              </a:rPr>
              <a:t> </a:t>
            </a:r>
            <a:r>
              <a:rPr sz="1814" spc="-9" dirty="0">
                <a:latin typeface="Times New Roman"/>
                <a:cs typeface="Times New Roman"/>
              </a:rPr>
              <a:t>de</a:t>
            </a:r>
            <a:r>
              <a:rPr sz="1814" spc="5" dirty="0">
                <a:latin typeface="Times New Roman"/>
                <a:cs typeface="Times New Roman"/>
              </a:rPr>
              <a:t> </a:t>
            </a:r>
            <a:r>
              <a:rPr sz="1814" dirty="0">
                <a:latin typeface="Times New Roman"/>
                <a:cs typeface="Times New Roman"/>
              </a:rPr>
              <a:t>error</a:t>
            </a:r>
            <a:r>
              <a:rPr sz="1814" spc="-5" dirty="0">
                <a:latin typeface="Times New Roman"/>
                <a:cs typeface="Times New Roman"/>
              </a:rPr>
              <a:t> </a:t>
            </a:r>
            <a:r>
              <a:rPr sz="1814" dirty="0">
                <a:latin typeface="Times New Roman"/>
                <a:cs typeface="Times New Roman"/>
              </a:rPr>
              <a:t>de</a:t>
            </a:r>
            <a:r>
              <a:rPr sz="1814" spc="-5" dirty="0">
                <a:latin typeface="Times New Roman"/>
                <a:cs typeface="Times New Roman"/>
              </a:rPr>
              <a:t> predicción</a:t>
            </a:r>
            <a:r>
              <a:rPr sz="1814" spc="5" dirty="0">
                <a:latin typeface="Times New Roman"/>
                <a:cs typeface="Times New Roman"/>
              </a:rPr>
              <a:t> </a:t>
            </a:r>
            <a:r>
              <a:rPr sz="1814" spc="-5" dirty="0">
                <a:latin typeface="Times New Roman"/>
                <a:cs typeface="Times New Roman"/>
              </a:rPr>
              <a:t>del</a:t>
            </a:r>
            <a:r>
              <a:rPr sz="1814" spc="14" dirty="0">
                <a:latin typeface="Times New Roman"/>
                <a:cs typeface="Times New Roman"/>
              </a:rPr>
              <a:t> </a:t>
            </a:r>
            <a:r>
              <a:rPr sz="1814" spc="-5" dirty="0">
                <a:latin typeface="Times New Roman"/>
                <a:cs typeface="Times New Roman"/>
              </a:rPr>
              <a:t>modelo</a:t>
            </a:r>
            <a:r>
              <a:rPr sz="1814" spc="-18" dirty="0">
                <a:latin typeface="Times New Roman"/>
                <a:cs typeface="Times New Roman"/>
              </a:rPr>
              <a:t> </a:t>
            </a:r>
            <a:r>
              <a:rPr sz="1814" spc="-5" dirty="0">
                <a:latin typeface="Times New Roman"/>
                <a:cs typeface="Times New Roman"/>
              </a:rPr>
              <a:t>será</a:t>
            </a:r>
            <a:r>
              <a:rPr sz="1814" spc="9" dirty="0">
                <a:latin typeface="Times New Roman"/>
                <a:cs typeface="Times New Roman"/>
              </a:rPr>
              <a:t> </a:t>
            </a:r>
            <a:r>
              <a:rPr sz="1814" spc="-5" dirty="0">
                <a:latin typeface="Times New Roman"/>
                <a:cs typeface="Times New Roman"/>
              </a:rPr>
              <a:t>la</a:t>
            </a:r>
            <a:r>
              <a:rPr sz="1814" spc="5" dirty="0">
                <a:latin typeface="Times New Roman"/>
                <a:cs typeface="Times New Roman"/>
              </a:rPr>
              <a:t> </a:t>
            </a:r>
            <a:r>
              <a:rPr sz="1814" spc="-9" dirty="0">
                <a:latin typeface="Times New Roman"/>
                <a:cs typeface="Times New Roman"/>
              </a:rPr>
              <a:t>suma</a:t>
            </a:r>
            <a:r>
              <a:rPr sz="1814" spc="9" dirty="0">
                <a:latin typeface="Times New Roman"/>
                <a:cs typeface="Times New Roman"/>
              </a:rPr>
              <a:t> </a:t>
            </a:r>
            <a:r>
              <a:rPr sz="1814" dirty="0">
                <a:latin typeface="Times New Roman"/>
                <a:cs typeface="Times New Roman"/>
              </a:rPr>
              <a:t>o</a:t>
            </a:r>
            <a:r>
              <a:rPr sz="1814" spc="-9" dirty="0">
                <a:latin typeface="Times New Roman"/>
                <a:cs typeface="Times New Roman"/>
              </a:rPr>
              <a:t> </a:t>
            </a:r>
            <a:r>
              <a:rPr sz="1814" spc="-5" dirty="0">
                <a:latin typeface="Times New Roman"/>
                <a:cs typeface="Times New Roman"/>
              </a:rPr>
              <a:t>media</a:t>
            </a:r>
            <a:r>
              <a:rPr sz="1814" dirty="0">
                <a:latin typeface="Times New Roman"/>
                <a:cs typeface="Times New Roman"/>
              </a:rPr>
              <a:t> de</a:t>
            </a:r>
            <a:r>
              <a:rPr sz="1814" spc="-5" dirty="0">
                <a:latin typeface="Times New Roman"/>
                <a:cs typeface="Times New Roman"/>
              </a:rPr>
              <a:t> </a:t>
            </a:r>
            <a:r>
              <a:rPr sz="1814" dirty="0" err="1">
                <a:latin typeface="Times New Roman"/>
                <a:cs typeface="Times New Roman"/>
              </a:rPr>
              <a:t>los</a:t>
            </a:r>
            <a:r>
              <a:rPr sz="1814" spc="5" dirty="0">
                <a:latin typeface="Times New Roman"/>
                <a:cs typeface="Times New Roman"/>
              </a:rPr>
              <a:t> </a:t>
            </a:r>
            <a:r>
              <a:rPr lang="es-ES" sz="1814" spc="5" dirty="0" err="1">
                <a:latin typeface="Times New Roman"/>
                <a:cs typeface="Times New Roman"/>
              </a:rPr>
              <a:t>e</a:t>
            </a:r>
            <a:r>
              <a:rPr sz="1814" spc="5" dirty="0" err="1">
                <a:latin typeface="Times New Roman"/>
                <a:cs typeface="Times New Roman"/>
              </a:rPr>
              <a:t>rro</a:t>
            </a:r>
            <a:r>
              <a:rPr lang="es-ES" sz="1814" spc="5" dirty="0">
                <a:latin typeface="Times New Roman"/>
                <a:cs typeface="Times New Roman"/>
              </a:rPr>
              <a:t>res, </a:t>
            </a:r>
            <a:r>
              <a:rPr lang="es-ES" sz="1814" i="1" spc="5" dirty="0" err="1">
                <a:latin typeface="Times New Roman"/>
                <a:cs typeface="Times New Roman"/>
              </a:rPr>
              <a:t>Error</a:t>
            </a:r>
            <a:r>
              <a:rPr lang="es-ES" sz="1814" i="1" spc="5" baseline="-25000" dirty="0" err="1">
                <a:latin typeface="Times New Roman"/>
                <a:cs typeface="Times New Roman"/>
              </a:rPr>
              <a:t>i</a:t>
            </a:r>
            <a:endParaRPr sz="1632" i="1" baseline="-25000" dirty="0">
              <a:latin typeface="Times New Roman"/>
              <a:cs typeface="Times New Roman"/>
            </a:endParaRPr>
          </a:p>
        </p:txBody>
      </p:sp>
      <p:pic>
        <p:nvPicPr>
          <p:cNvPr id="3" name="object 3"/>
          <p:cNvPicPr/>
          <p:nvPr/>
        </p:nvPicPr>
        <p:blipFill>
          <a:blip r:embed="rId2" cstate="print"/>
          <a:stretch>
            <a:fillRect/>
          </a:stretch>
        </p:blipFill>
        <p:spPr>
          <a:xfrm>
            <a:off x="3124776" y="4327278"/>
            <a:ext cx="5085054" cy="1987725"/>
          </a:xfrm>
          <a:prstGeom prst="rect">
            <a:avLst/>
          </a:prstGeom>
        </p:spPr>
      </p:pic>
      <p:sp>
        <p:nvSpPr>
          <p:cNvPr id="4" name="CuadroTexto 3"/>
          <p:cNvSpPr txBox="1"/>
          <p:nvPr/>
        </p:nvSpPr>
        <p:spPr>
          <a:xfrm>
            <a:off x="1458367" y="6262028"/>
            <a:ext cx="9299341" cy="343492"/>
          </a:xfrm>
          <a:prstGeom prst="rect">
            <a:avLst/>
          </a:prstGeom>
          <a:noFill/>
        </p:spPr>
        <p:txBody>
          <a:bodyPr wrap="none" rtlCol="0">
            <a:spAutoFit/>
          </a:bodyPr>
          <a:lstStyle/>
          <a:p>
            <a:r>
              <a:rPr lang="es-ES" sz="1632" dirty="0">
                <a:latin typeface="Times New Roman" panose="02020603050405020304" pitchFamily="18" charset="0"/>
                <a:cs typeface="Times New Roman" panose="02020603050405020304" pitchFamily="18" charset="0"/>
              </a:rPr>
              <a:t>Con distintos conjuntos de </a:t>
            </a:r>
            <a:r>
              <a:rPr lang="es-ES" sz="1632" dirty="0" err="1">
                <a:latin typeface="Times New Roman" panose="02020603050405020304" pitchFamily="18" charset="0"/>
                <a:cs typeface="Times New Roman" panose="02020603050405020304" pitchFamily="18" charset="0"/>
              </a:rPr>
              <a:t>train</a:t>
            </a:r>
            <a:r>
              <a:rPr lang="es-ES" sz="1632" dirty="0">
                <a:latin typeface="Times New Roman" panose="02020603050405020304" pitchFamily="18" charset="0"/>
                <a:cs typeface="Times New Roman" panose="02020603050405020304" pitchFamily="18" charset="0"/>
              </a:rPr>
              <a:t>/test, usamos la validación cruzada para evaluar cómo se comporta el modelo</a:t>
            </a:r>
          </a:p>
        </p:txBody>
      </p:sp>
    </p:spTree>
    <p:extLst>
      <p:ext uri="{BB962C8B-B14F-4D97-AF65-F5344CB8AC3E}">
        <p14:creationId xmlns:p14="http://schemas.microsoft.com/office/powerpoint/2010/main" val="27634628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uadroTexto 1"/>
              <p:cNvSpPr txBox="1"/>
              <p:nvPr/>
            </p:nvSpPr>
            <p:spPr>
              <a:xfrm>
                <a:off x="600364" y="138545"/>
                <a:ext cx="11139054" cy="6098208"/>
              </a:xfrm>
              <a:prstGeom prst="rect">
                <a:avLst/>
              </a:prstGeom>
              <a:noFill/>
            </p:spPr>
            <p:txBody>
              <a:bodyPr wrap="square" rtlCol="0">
                <a:spAutoFit/>
              </a:bodyPr>
              <a:lstStyle/>
              <a:p>
                <a:pPr algn="ctr"/>
                <a:r>
                  <a:rPr lang="es-ES" sz="2800" b="1" dirty="0" smtClean="0"/>
                  <a:t>Medidas de bondad de ajuste: Clasificación</a:t>
                </a:r>
              </a:p>
              <a:p>
                <a:r>
                  <a:rPr lang="es-ES" sz="1400" dirty="0" smtClean="0"/>
                  <a:t>Indican cómo de </a:t>
                </a:r>
                <a:r>
                  <a:rPr lang="es-ES" sz="1400" dirty="0"/>
                  <a:t>bien el modelo predice las </a:t>
                </a:r>
                <a:r>
                  <a:rPr lang="es-ES" sz="1400" b="1" dirty="0"/>
                  <a:t>clases</a:t>
                </a:r>
                <a:r>
                  <a:rPr lang="es-ES" sz="1400" dirty="0"/>
                  <a:t> </a:t>
                </a:r>
                <a:r>
                  <a:rPr lang="es-ES" sz="1400" dirty="0" smtClean="0"/>
                  <a:t>en </a:t>
                </a:r>
                <a:r>
                  <a:rPr lang="es-ES" sz="1400" dirty="0"/>
                  <a:t>comparación con los </a:t>
                </a:r>
                <a:r>
                  <a:rPr lang="es-ES" sz="1400" b="1" dirty="0"/>
                  <a:t>datos reales</a:t>
                </a:r>
                <a:r>
                  <a:rPr lang="es-ES" sz="1400" dirty="0"/>
                  <a:t>. Se mide usando métricas específicas, dependiendo de lo que quieras </a:t>
                </a:r>
                <a:r>
                  <a:rPr lang="es-ES" sz="1400" dirty="0" smtClean="0"/>
                  <a:t>evaluar</a:t>
                </a:r>
              </a:p>
              <a:p>
                <a:pPr marL="285750" indent="-285750">
                  <a:buFont typeface="Arial" panose="020B0604020202020204" pitchFamily="34" charset="0"/>
                  <a:buChar char="•"/>
                </a:pPr>
                <a:r>
                  <a:rPr lang="es-ES" sz="1600" b="1" dirty="0" smtClean="0"/>
                  <a:t>MATRIZ DE CONFUSIÓN: </a:t>
                </a:r>
                <a:r>
                  <a:rPr lang="es-ES" sz="1600" dirty="0" smtClean="0"/>
                  <a:t>resumen de las predicciones correctas e incorrectas de cada clase</a:t>
                </a:r>
              </a:p>
              <a:p>
                <a:pPr marL="285750" indent="-285750">
                  <a:buFont typeface="Arial" panose="020B0604020202020204" pitchFamily="34" charset="0"/>
                  <a:buChar char="•"/>
                </a:pPr>
                <a:endParaRPr lang="es-ES" sz="1600" b="1" dirty="0" smtClean="0"/>
              </a:p>
              <a:p>
                <a:pPr marL="285750" indent="-285750">
                  <a:buFont typeface="Arial" panose="020B0604020202020204" pitchFamily="34" charset="0"/>
                  <a:buChar char="•"/>
                </a:pPr>
                <a:endParaRPr lang="es-ES" sz="1600" b="1" dirty="0" smtClean="0"/>
              </a:p>
              <a:p>
                <a:pPr marL="285750" indent="-285750">
                  <a:buFont typeface="Arial" panose="020B0604020202020204" pitchFamily="34" charset="0"/>
                  <a:buChar char="•"/>
                </a:pPr>
                <a:endParaRPr lang="es-ES" sz="1600" b="1" dirty="0" smtClean="0"/>
              </a:p>
              <a:p>
                <a:pPr marL="285750" indent="-285750">
                  <a:buFont typeface="Arial" panose="020B0604020202020204" pitchFamily="34" charset="0"/>
                  <a:buChar char="•"/>
                </a:pPr>
                <a:endParaRPr lang="es-ES" sz="1600" b="1" dirty="0"/>
              </a:p>
              <a:p>
                <a:pPr marL="285750" indent="-285750">
                  <a:buFont typeface="Arial" panose="020B0604020202020204" pitchFamily="34" charset="0"/>
                  <a:buChar char="•"/>
                </a:pPr>
                <a:r>
                  <a:rPr lang="es-ES" sz="1600" b="1" dirty="0" smtClean="0"/>
                  <a:t>ACCURAY (Precisión Global): </a:t>
                </a:r>
                <a:r>
                  <a:rPr lang="es-ES" sz="1600" dirty="0" smtClean="0"/>
                  <a:t>porcentaje de predicciones correctas sobre el total</a:t>
                </a:r>
              </a:p>
              <a:p>
                <a:pPr/>
                <a14:m>
                  <m:oMathPara xmlns:m="http://schemas.openxmlformats.org/officeDocument/2006/math">
                    <m:oMathParaPr>
                      <m:jc m:val="centerGroup"/>
                    </m:oMathParaPr>
                    <m:oMath xmlns:m="http://schemas.openxmlformats.org/officeDocument/2006/math">
                      <m:r>
                        <a:rPr lang="es-ES" sz="1400" b="1" i="1" smtClean="0">
                          <a:latin typeface="Cambria Math" panose="02040503050406030204" pitchFamily="18" charset="0"/>
                        </a:rPr>
                        <m:t>𝑨𝒄𝒄𝒖𝒓𝒂𝒄𝒚</m:t>
                      </m:r>
                      <m:r>
                        <a:rPr lang="es-ES" sz="1400" b="1" i="1" smtClean="0">
                          <a:latin typeface="Cambria Math" panose="02040503050406030204" pitchFamily="18" charset="0"/>
                        </a:rPr>
                        <m:t>=</m:t>
                      </m:r>
                      <m:f>
                        <m:fPr>
                          <m:ctrlPr>
                            <a:rPr lang="es-ES" sz="1400" b="1" i="1" smtClean="0">
                              <a:latin typeface="Cambria Math" panose="02040503050406030204" pitchFamily="18" charset="0"/>
                            </a:rPr>
                          </m:ctrlPr>
                        </m:fPr>
                        <m:num>
                          <m:r>
                            <a:rPr lang="es-ES" sz="1400" b="1" i="1" smtClean="0">
                              <a:latin typeface="Cambria Math" panose="02040503050406030204" pitchFamily="18" charset="0"/>
                            </a:rPr>
                            <m:t>𝑽𝑷</m:t>
                          </m:r>
                          <m:r>
                            <a:rPr lang="es-ES" sz="1400" b="1" i="1" smtClean="0">
                              <a:latin typeface="Cambria Math" panose="02040503050406030204" pitchFamily="18" charset="0"/>
                            </a:rPr>
                            <m:t>+</m:t>
                          </m:r>
                          <m:r>
                            <a:rPr lang="es-ES" sz="1400" b="1" i="1" smtClean="0">
                              <a:latin typeface="Cambria Math" panose="02040503050406030204" pitchFamily="18" charset="0"/>
                            </a:rPr>
                            <m:t>𝑽𝑵</m:t>
                          </m:r>
                        </m:num>
                        <m:den>
                          <m:r>
                            <a:rPr lang="es-ES" sz="1400" b="1" i="1" smtClean="0">
                              <a:latin typeface="Cambria Math" panose="02040503050406030204" pitchFamily="18" charset="0"/>
                            </a:rPr>
                            <m:t>𝑻𝒐𝒕𝒂𝒍</m:t>
                          </m:r>
                          <m:r>
                            <a:rPr lang="es-ES" sz="1400" b="1" i="1" smtClean="0">
                              <a:latin typeface="Cambria Math" panose="02040503050406030204" pitchFamily="18" charset="0"/>
                            </a:rPr>
                            <m:t> </m:t>
                          </m:r>
                          <m:r>
                            <a:rPr lang="es-ES" sz="1400" b="1" i="1" smtClean="0">
                              <a:latin typeface="Cambria Math" panose="02040503050406030204" pitchFamily="18" charset="0"/>
                            </a:rPr>
                            <m:t>𝒑𝒓𝒆𝒅𝒊𝒄𝒄𝒊𝒐𝒏𝒆𝒔</m:t>
                          </m:r>
                          <m:r>
                            <a:rPr lang="es-ES" sz="1400" b="1" i="1" smtClean="0">
                              <a:latin typeface="Cambria Math" panose="02040503050406030204" pitchFamily="18" charset="0"/>
                            </a:rPr>
                            <m:t>=</m:t>
                          </m:r>
                          <m:r>
                            <a:rPr lang="es-ES" sz="1400" b="1" i="1" smtClean="0">
                              <a:latin typeface="Cambria Math" panose="02040503050406030204" pitchFamily="18" charset="0"/>
                            </a:rPr>
                            <m:t>𝑽𝑷</m:t>
                          </m:r>
                          <m:r>
                            <a:rPr lang="es-ES" sz="1400" b="1" i="1" smtClean="0">
                              <a:latin typeface="Cambria Math" panose="02040503050406030204" pitchFamily="18" charset="0"/>
                            </a:rPr>
                            <m:t>+</m:t>
                          </m:r>
                          <m:r>
                            <a:rPr lang="es-ES" sz="1400" b="1" i="1" smtClean="0">
                              <a:latin typeface="Cambria Math" panose="02040503050406030204" pitchFamily="18" charset="0"/>
                            </a:rPr>
                            <m:t>𝑽𝑵</m:t>
                          </m:r>
                          <m:r>
                            <a:rPr lang="es-ES" sz="1400" b="1" i="1" smtClean="0">
                              <a:latin typeface="Cambria Math" panose="02040503050406030204" pitchFamily="18" charset="0"/>
                            </a:rPr>
                            <m:t>+</m:t>
                          </m:r>
                          <m:r>
                            <a:rPr lang="es-ES" sz="1400" b="1" i="1" smtClean="0">
                              <a:latin typeface="Cambria Math" panose="02040503050406030204" pitchFamily="18" charset="0"/>
                            </a:rPr>
                            <m:t>𝑭𝑷</m:t>
                          </m:r>
                          <m:r>
                            <a:rPr lang="es-ES" sz="1400" b="1" i="1" smtClean="0">
                              <a:latin typeface="Cambria Math" panose="02040503050406030204" pitchFamily="18" charset="0"/>
                            </a:rPr>
                            <m:t>+</m:t>
                          </m:r>
                          <m:r>
                            <a:rPr lang="es-ES" sz="1400" b="1" i="1" smtClean="0">
                              <a:latin typeface="Cambria Math" panose="02040503050406030204" pitchFamily="18" charset="0"/>
                            </a:rPr>
                            <m:t>𝑭𝑵</m:t>
                          </m:r>
                        </m:den>
                      </m:f>
                    </m:oMath>
                  </m:oMathPara>
                </a14:m>
                <a:endParaRPr lang="es-ES" sz="1600" b="1" dirty="0" smtClean="0"/>
              </a:p>
              <a:p>
                <a:pPr marL="342900" indent="-342900">
                  <a:buFont typeface="+mj-lt"/>
                  <a:buAutoNum type="arabicPeriod"/>
                </a:pPr>
                <a:endParaRPr lang="es-ES" sz="1600" b="1" dirty="0" smtClean="0"/>
              </a:p>
              <a:p>
                <a:pPr marL="285750" indent="-285750">
                  <a:buFont typeface="Arial" panose="020B0604020202020204" pitchFamily="34" charset="0"/>
                  <a:buChar char="•"/>
                </a:pPr>
                <a:r>
                  <a:rPr lang="es-ES" sz="1600" b="1" dirty="0" smtClean="0"/>
                  <a:t>PRECISIÓN (Precisión por Clase): </a:t>
                </a:r>
                <a:r>
                  <a:rPr lang="es-ES" sz="1600" dirty="0" smtClean="0"/>
                  <a:t>¿cuántas predicciones han sido correctas? Especialmente </a:t>
                </a:r>
                <a:r>
                  <a:rPr lang="es-ES" sz="1600" u="sng" dirty="0">
                    <a:solidFill>
                      <a:srgbClr val="FF0000"/>
                    </a:solidFill>
                  </a:rPr>
                  <a:t>importante</a:t>
                </a:r>
                <a:r>
                  <a:rPr lang="es-ES" sz="1600" dirty="0" smtClean="0"/>
                  <a:t> cuando los </a:t>
                </a:r>
                <a:r>
                  <a:rPr lang="es-ES" sz="1600" u="sng" dirty="0" smtClean="0">
                    <a:solidFill>
                      <a:srgbClr val="FF0000"/>
                    </a:solidFill>
                  </a:rPr>
                  <a:t>datos son desbalanceados</a:t>
                </a:r>
                <a:r>
                  <a:rPr lang="es-ES" sz="1600" dirty="0" smtClean="0"/>
                  <a:t>.</a:t>
                </a:r>
              </a:p>
              <a:p>
                <a:pPr/>
                <a14:m>
                  <m:oMathPara xmlns:m="http://schemas.openxmlformats.org/officeDocument/2006/math">
                    <m:oMathParaPr>
                      <m:jc m:val="centerGroup"/>
                    </m:oMathParaPr>
                    <m:oMath xmlns:m="http://schemas.openxmlformats.org/officeDocument/2006/math">
                      <m:r>
                        <a:rPr lang="es-ES" sz="1400" b="1" i="1" smtClean="0">
                          <a:latin typeface="Cambria Math" panose="02040503050406030204" pitchFamily="18" charset="0"/>
                        </a:rPr>
                        <m:t>𝑷𝒓𝒆𝒄𝒊𝒔𝒊𝒐𝒏</m:t>
                      </m:r>
                      <m:r>
                        <a:rPr lang="es-ES" sz="1400" b="1" i="1">
                          <a:latin typeface="Cambria Math" panose="02040503050406030204" pitchFamily="18" charset="0"/>
                        </a:rPr>
                        <m:t>=</m:t>
                      </m:r>
                      <m:f>
                        <m:fPr>
                          <m:ctrlPr>
                            <a:rPr lang="es-ES" sz="1400" b="1" i="1">
                              <a:latin typeface="Cambria Math" panose="02040503050406030204" pitchFamily="18" charset="0"/>
                            </a:rPr>
                          </m:ctrlPr>
                        </m:fPr>
                        <m:num>
                          <m:r>
                            <a:rPr lang="es-ES" sz="1400" b="1" i="1">
                              <a:latin typeface="Cambria Math" panose="02040503050406030204" pitchFamily="18" charset="0"/>
                            </a:rPr>
                            <m:t>𝑽𝑷</m:t>
                          </m:r>
                        </m:num>
                        <m:den>
                          <m:r>
                            <a:rPr lang="es-ES" sz="1400" b="1" i="1" smtClean="0">
                              <a:latin typeface="Cambria Math" panose="02040503050406030204" pitchFamily="18" charset="0"/>
                            </a:rPr>
                            <m:t>𝑽𝑷</m:t>
                          </m:r>
                          <m:r>
                            <a:rPr lang="es-ES" sz="1400" b="1" i="1" smtClean="0">
                              <a:latin typeface="Cambria Math" panose="02040503050406030204" pitchFamily="18" charset="0"/>
                            </a:rPr>
                            <m:t>+</m:t>
                          </m:r>
                          <m:r>
                            <a:rPr lang="es-ES" sz="1400" b="1" i="1" smtClean="0">
                              <a:latin typeface="Cambria Math" panose="02040503050406030204" pitchFamily="18" charset="0"/>
                            </a:rPr>
                            <m:t>𝑭𝑷</m:t>
                          </m:r>
                        </m:den>
                      </m:f>
                    </m:oMath>
                  </m:oMathPara>
                </a14:m>
                <a:endParaRPr lang="es-ES" sz="1600" b="1" dirty="0" smtClean="0"/>
              </a:p>
              <a:p>
                <a:endParaRPr lang="es-ES" sz="1600" b="1" dirty="0" smtClean="0"/>
              </a:p>
              <a:p>
                <a:pPr marL="285750" indent="-285750">
                  <a:buFont typeface="Arial" panose="020B0604020202020204" pitchFamily="34" charset="0"/>
                  <a:buChar char="•"/>
                </a:pPr>
                <a:r>
                  <a:rPr lang="es-ES" sz="1600" b="1" dirty="0" smtClean="0"/>
                  <a:t>RECALL/SENSIBILIDAD: </a:t>
                </a:r>
                <a:r>
                  <a:rPr lang="es-ES" sz="1600" dirty="0" smtClean="0"/>
                  <a:t>qué porcentaje de los casos positivos reales son correctamente clasificados</a:t>
                </a:r>
              </a:p>
              <a:p>
                <a:pPr/>
                <a14:m>
                  <m:oMathPara xmlns:m="http://schemas.openxmlformats.org/officeDocument/2006/math">
                    <m:oMathParaPr>
                      <m:jc m:val="centerGroup"/>
                    </m:oMathParaPr>
                    <m:oMath xmlns:m="http://schemas.openxmlformats.org/officeDocument/2006/math">
                      <m:r>
                        <a:rPr lang="es-ES" sz="1400" b="1" i="1">
                          <a:latin typeface="Cambria Math" panose="02040503050406030204" pitchFamily="18" charset="0"/>
                        </a:rPr>
                        <m:t>𝑷𝒓𝒆𝒄𝒊𝒔𝒊𝒐𝒏</m:t>
                      </m:r>
                      <m:r>
                        <a:rPr lang="es-ES" sz="1400" b="1" i="1">
                          <a:latin typeface="Cambria Math" panose="02040503050406030204" pitchFamily="18" charset="0"/>
                        </a:rPr>
                        <m:t>=</m:t>
                      </m:r>
                      <m:f>
                        <m:fPr>
                          <m:ctrlPr>
                            <a:rPr lang="es-ES" sz="1400" b="1" i="1">
                              <a:latin typeface="Cambria Math" panose="02040503050406030204" pitchFamily="18" charset="0"/>
                            </a:rPr>
                          </m:ctrlPr>
                        </m:fPr>
                        <m:num>
                          <m:r>
                            <a:rPr lang="es-ES" sz="1400" b="1" i="1">
                              <a:latin typeface="Cambria Math" panose="02040503050406030204" pitchFamily="18" charset="0"/>
                            </a:rPr>
                            <m:t>𝑽𝑷</m:t>
                          </m:r>
                        </m:num>
                        <m:den>
                          <m:r>
                            <a:rPr lang="es-ES" sz="1400" b="1" i="1">
                              <a:latin typeface="Cambria Math" panose="02040503050406030204" pitchFamily="18" charset="0"/>
                            </a:rPr>
                            <m:t>𝑽𝑷</m:t>
                          </m:r>
                          <m:r>
                            <a:rPr lang="es-ES" sz="1400" b="1" i="1">
                              <a:latin typeface="Cambria Math" panose="02040503050406030204" pitchFamily="18" charset="0"/>
                            </a:rPr>
                            <m:t>+</m:t>
                          </m:r>
                          <m:r>
                            <a:rPr lang="es-ES" sz="1400" b="1" i="1">
                              <a:latin typeface="Cambria Math" panose="02040503050406030204" pitchFamily="18" charset="0"/>
                            </a:rPr>
                            <m:t>𝑭𝑵</m:t>
                          </m:r>
                        </m:den>
                      </m:f>
                    </m:oMath>
                  </m:oMathPara>
                </a14:m>
                <a:endParaRPr lang="es-ES" sz="1600" b="1" i="1" dirty="0" smtClean="0">
                  <a:latin typeface="Cambria Math" panose="02040503050406030204" pitchFamily="18" charset="0"/>
                </a:endParaRPr>
              </a:p>
              <a:p>
                <a:endParaRPr lang="es-ES" sz="1600" b="1" i="1" dirty="0" smtClean="0">
                  <a:latin typeface="Cambria Math" panose="02040503050406030204" pitchFamily="18" charset="0"/>
                </a:endParaRPr>
              </a:p>
              <a:p>
                <a:pPr marL="285750" indent="-285750">
                  <a:buFont typeface="Arial" panose="020B0604020202020204" pitchFamily="34" charset="0"/>
                  <a:buChar char="•"/>
                </a:pPr>
                <a:r>
                  <a:rPr lang="es-ES" sz="1600" b="1" dirty="0" smtClean="0"/>
                  <a:t>F1-SCORE: </a:t>
                </a:r>
                <a:r>
                  <a:rPr lang="es-ES" sz="1600" dirty="0" smtClean="0"/>
                  <a:t>promedio armónico entre precisión y sensibilidad. </a:t>
                </a:r>
                <a:r>
                  <a:rPr lang="es-ES" sz="1600" dirty="0"/>
                  <a:t>Especialmente </a:t>
                </a:r>
                <a:r>
                  <a:rPr lang="es-ES" sz="1600" u="sng" dirty="0">
                    <a:solidFill>
                      <a:srgbClr val="FF0000"/>
                    </a:solidFill>
                  </a:rPr>
                  <a:t>importante</a:t>
                </a:r>
                <a:r>
                  <a:rPr lang="es-ES" sz="1600" dirty="0"/>
                  <a:t> cuando los </a:t>
                </a:r>
                <a:r>
                  <a:rPr lang="es-ES" sz="1600" u="sng" dirty="0">
                    <a:solidFill>
                      <a:srgbClr val="FF0000"/>
                    </a:solidFill>
                  </a:rPr>
                  <a:t>datos son desbalanceados</a:t>
                </a:r>
                <a:r>
                  <a:rPr lang="es-ES" sz="1600" dirty="0" smtClean="0"/>
                  <a:t>.</a:t>
                </a:r>
              </a:p>
              <a:p>
                <a:pPr/>
                <a14:m>
                  <m:oMathPara xmlns:m="http://schemas.openxmlformats.org/officeDocument/2006/math">
                    <m:oMathParaPr>
                      <m:jc m:val="centerGroup"/>
                    </m:oMathParaPr>
                    <m:oMath xmlns:m="http://schemas.openxmlformats.org/officeDocument/2006/math">
                      <m:r>
                        <a:rPr lang="es-ES" sz="1400" b="1" i="1" smtClean="0">
                          <a:latin typeface="Cambria Math" panose="02040503050406030204" pitchFamily="18" charset="0"/>
                        </a:rPr>
                        <m:t>𝑭</m:t>
                      </m:r>
                      <m:r>
                        <a:rPr lang="es-ES" sz="1400" b="1" i="1" smtClean="0">
                          <a:latin typeface="Cambria Math" panose="02040503050406030204" pitchFamily="18" charset="0"/>
                        </a:rPr>
                        <m:t>𝟏</m:t>
                      </m:r>
                      <m:r>
                        <a:rPr lang="es-ES" sz="1400" b="1" i="1">
                          <a:latin typeface="Cambria Math" panose="02040503050406030204" pitchFamily="18" charset="0"/>
                        </a:rPr>
                        <m:t>=</m:t>
                      </m:r>
                      <m:r>
                        <a:rPr lang="es-ES" sz="1400" b="1" i="1" smtClean="0">
                          <a:latin typeface="Cambria Math" panose="02040503050406030204" pitchFamily="18" charset="0"/>
                        </a:rPr>
                        <m:t>𝟐</m:t>
                      </m:r>
                      <m:r>
                        <a:rPr lang="es-ES" sz="1400" b="1" i="1" smtClean="0">
                          <a:latin typeface="Cambria Math" panose="02040503050406030204" pitchFamily="18" charset="0"/>
                        </a:rPr>
                        <m:t> </m:t>
                      </m:r>
                      <m:r>
                        <a:rPr lang="es-ES" sz="1400" b="1" i="1" smtClean="0">
                          <a:latin typeface="Cambria Math" panose="02040503050406030204" pitchFamily="18" charset="0"/>
                        </a:rPr>
                        <m:t>𝒙</m:t>
                      </m:r>
                      <m:r>
                        <a:rPr lang="es-ES" sz="1400" b="1" i="1" smtClean="0">
                          <a:latin typeface="Cambria Math" panose="02040503050406030204" pitchFamily="18" charset="0"/>
                        </a:rPr>
                        <m:t> </m:t>
                      </m:r>
                      <m:f>
                        <m:fPr>
                          <m:ctrlPr>
                            <a:rPr lang="es-ES" sz="1400" b="1" i="1">
                              <a:latin typeface="Cambria Math" panose="02040503050406030204" pitchFamily="18" charset="0"/>
                            </a:rPr>
                          </m:ctrlPr>
                        </m:fPr>
                        <m:num>
                          <m:r>
                            <a:rPr lang="es-ES" sz="1400" b="1" i="1">
                              <a:latin typeface="Cambria Math" panose="02040503050406030204" pitchFamily="18" charset="0"/>
                            </a:rPr>
                            <m:t>𝑷</m:t>
                          </m:r>
                          <m:r>
                            <a:rPr lang="es-ES" sz="1400" b="1" i="1" smtClean="0">
                              <a:latin typeface="Cambria Math" panose="02040503050406030204" pitchFamily="18" charset="0"/>
                            </a:rPr>
                            <m:t>𝒓𝒆𝒄𝒊𝒔𝒊𝒐𝒏</m:t>
                          </m:r>
                          <m:r>
                            <a:rPr lang="es-ES" sz="1400" b="1" i="1" smtClean="0">
                              <a:latin typeface="Cambria Math" panose="02040503050406030204" pitchFamily="18" charset="0"/>
                            </a:rPr>
                            <m:t> </m:t>
                          </m:r>
                          <m:r>
                            <a:rPr lang="es-ES" sz="1400" b="1" i="1" smtClean="0">
                              <a:latin typeface="Cambria Math" panose="02040503050406030204" pitchFamily="18" charset="0"/>
                            </a:rPr>
                            <m:t>𝒙</m:t>
                          </m:r>
                          <m:r>
                            <a:rPr lang="es-ES" sz="1400" b="1" i="1" smtClean="0">
                              <a:latin typeface="Cambria Math" panose="02040503050406030204" pitchFamily="18" charset="0"/>
                            </a:rPr>
                            <m:t> </m:t>
                          </m:r>
                          <m:r>
                            <a:rPr lang="es-ES" sz="1400" b="1" i="1" smtClean="0">
                              <a:latin typeface="Cambria Math" panose="02040503050406030204" pitchFamily="18" charset="0"/>
                            </a:rPr>
                            <m:t>𝑹𝒆𝒄𝒂𝒍𝒍</m:t>
                          </m:r>
                        </m:num>
                        <m:den>
                          <m:r>
                            <a:rPr lang="es-ES" sz="1400" b="1" i="1">
                              <a:latin typeface="Cambria Math" panose="02040503050406030204" pitchFamily="18" charset="0"/>
                            </a:rPr>
                            <m:t>𝑷𝒓𝒆𝒄𝒊𝒔𝒊𝒐𝒏</m:t>
                          </m:r>
                          <m:r>
                            <a:rPr lang="es-ES" sz="1400" b="1" i="1" smtClean="0">
                              <a:latin typeface="Cambria Math" panose="02040503050406030204" pitchFamily="18" charset="0"/>
                            </a:rPr>
                            <m:t>+</m:t>
                          </m:r>
                          <m:r>
                            <a:rPr lang="es-ES" sz="1400" b="1" i="1">
                              <a:latin typeface="Cambria Math" panose="02040503050406030204" pitchFamily="18" charset="0"/>
                            </a:rPr>
                            <m:t> </m:t>
                          </m:r>
                          <m:r>
                            <a:rPr lang="es-ES" sz="1400" b="1" i="1">
                              <a:latin typeface="Cambria Math" panose="02040503050406030204" pitchFamily="18" charset="0"/>
                            </a:rPr>
                            <m:t>𝑹𝒆𝒄𝒂𝒍𝒍</m:t>
                          </m:r>
                        </m:den>
                      </m:f>
                    </m:oMath>
                  </m:oMathPara>
                </a14:m>
                <a:endParaRPr lang="es-ES" sz="1600" dirty="0"/>
              </a:p>
              <a:p>
                <a:endParaRPr lang="es-ES" b="1" i="1" dirty="0">
                  <a:latin typeface="Cambria Math" panose="02040503050406030204" pitchFamily="18" charset="0"/>
                </a:endParaRPr>
              </a:p>
            </p:txBody>
          </p:sp>
        </mc:Choice>
        <mc:Fallback xmlns="">
          <p:sp>
            <p:nvSpPr>
              <p:cNvPr id="2" name="CuadroTexto 1"/>
              <p:cNvSpPr txBox="1">
                <a:spLocks noRot="1" noChangeAspect="1" noMove="1" noResize="1" noEditPoints="1" noAdjustHandles="1" noChangeArrowheads="1" noChangeShapeType="1" noTextEdit="1"/>
              </p:cNvSpPr>
              <p:nvPr/>
            </p:nvSpPr>
            <p:spPr>
              <a:xfrm>
                <a:off x="600364" y="138545"/>
                <a:ext cx="11139054" cy="6098208"/>
              </a:xfrm>
              <a:prstGeom prst="rect">
                <a:avLst/>
              </a:prstGeom>
              <a:blipFill rotWithShape="0">
                <a:blip r:embed="rId2"/>
                <a:stretch>
                  <a:fillRect l="-219" t="-1000"/>
                </a:stretch>
              </a:blipFill>
            </p:spPr>
            <p:txBody>
              <a:bodyPr/>
              <a:lstStyle/>
              <a:p>
                <a:r>
                  <a:rPr lang="es-ES">
                    <a:noFill/>
                  </a:rPr>
                  <a:t> </a:t>
                </a:r>
              </a:p>
            </p:txBody>
          </p:sp>
        </mc:Fallback>
      </mc:AlternateContent>
      <p:graphicFrame>
        <p:nvGraphicFramePr>
          <p:cNvPr id="3" name="Tabla 2"/>
          <p:cNvGraphicFramePr>
            <a:graphicFrameLocks noGrp="1"/>
          </p:cNvGraphicFramePr>
          <p:nvPr>
            <p:extLst/>
          </p:nvPr>
        </p:nvGraphicFramePr>
        <p:xfrm>
          <a:off x="2890984" y="1385454"/>
          <a:ext cx="6557814" cy="863964"/>
        </p:xfrm>
        <a:graphic>
          <a:graphicData uri="http://schemas.openxmlformats.org/drawingml/2006/table">
            <a:tbl>
              <a:tblPr firstRow="1" bandRow="1">
                <a:tableStyleId>{5C22544A-7EE6-4342-B048-85BDC9FD1C3A}</a:tableStyleId>
              </a:tblPr>
              <a:tblGrid>
                <a:gridCol w="2185938"/>
                <a:gridCol w="2185938"/>
                <a:gridCol w="2185938"/>
              </a:tblGrid>
              <a:tr h="232392">
                <a:tc>
                  <a:txBody>
                    <a:bodyPr/>
                    <a:lstStyle/>
                    <a:p>
                      <a:pPr algn="ctr"/>
                      <a:endParaRPr lang="es-ES" sz="1200" dirty="0"/>
                    </a:p>
                  </a:txBody>
                  <a:tcPr>
                    <a:solidFill>
                      <a:schemeClr val="bg1"/>
                    </a:solidFill>
                  </a:tcPr>
                </a:tc>
                <a:tc>
                  <a:txBody>
                    <a:bodyPr/>
                    <a:lstStyle/>
                    <a:p>
                      <a:pPr algn="ctr"/>
                      <a:r>
                        <a:rPr lang="es-ES" sz="1200" dirty="0" smtClean="0">
                          <a:solidFill>
                            <a:schemeClr val="tx1"/>
                          </a:solidFill>
                        </a:rPr>
                        <a:t>PREDICCIÓN</a:t>
                      </a:r>
                      <a:r>
                        <a:rPr lang="es-ES" sz="1200" baseline="0" dirty="0" smtClean="0">
                          <a:solidFill>
                            <a:schemeClr val="tx1"/>
                          </a:solidFill>
                        </a:rPr>
                        <a:t> (Clase 0)</a:t>
                      </a:r>
                      <a:endParaRPr lang="es-ES" sz="1200" dirty="0">
                        <a:solidFill>
                          <a:schemeClr val="tx1"/>
                        </a:solidFill>
                      </a:endParaRPr>
                    </a:p>
                  </a:txBody>
                  <a:tcPr>
                    <a:solidFill>
                      <a:schemeClr val="accent4">
                        <a:lumMod val="40000"/>
                        <a:lumOff val="60000"/>
                      </a:schemeClr>
                    </a:solidFill>
                  </a:tcPr>
                </a:tc>
                <a:tc>
                  <a:txBody>
                    <a:bodyPr/>
                    <a:lstStyle/>
                    <a:p>
                      <a:pPr algn="ctr"/>
                      <a:r>
                        <a:rPr lang="es-ES" sz="1200" dirty="0" smtClean="0">
                          <a:solidFill>
                            <a:schemeClr val="tx1"/>
                          </a:solidFill>
                        </a:rPr>
                        <a:t>PREDICCIÓN</a:t>
                      </a:r>
                      <a:r>
                        <a:rPr lang="es-ES" sz="1200" baseline="0" dirty="0" smtClean="0">
                          <a:solidFill>
                            <a:schemeClr val="tx1"/>
                          </a:solidFill>
                        </a:rPr>
                        <a:t> (Clase 1)</a:t>
                      </a:r>
                      <a:endParaRPr lang="es-ES" sz="1200" dirty="0">
                        <a:solidFill>
                          <a:schemeClr val="tx1"/>
                        </a:solidFill>
                      </a:endParaRPr>
                    </a:p>
                  </a:txBody>
                  <a:tcPr>
                    <a:solidFill>
                      <a:schemeClr val="accent1">
                        <a:lumMod val="20000"/>
                        <a:lumOff val="80000"/>
                      </a:schemeClr>
                    </a:solidFill>
                  </a:tcPr>
                </a:tc>
              </a:tr>
              <a:tr h="2948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b="1" kern="1200" dirty="0" smtClean="0">
                          <a:solidFill>
                            <a:schemeClr val="tx1"/>
                          </a:solidFill>
                          <a:latin typeface="+mn-lt"/>
                          <a:ea typeface="+mn-ea"/>
                          <a:cs typeface="+mn-cs"/>
                        </a:rPr>
                        <a:t>REAL (Clase 0)</a:t>
                      </a:r>
                    </a:p>
                  </a:txBody>
                  <a:tcPr>
                    <a:solidFill>
                      <a:schemeClr val="accent4">
                        <a:lumMod val="40000"/>
                        <a:lumOff val="60000"/>
                      </a:schemeClr>
                    </a:solidFill>
                  </a:tcPr>
                </a:tc>
                <a:tc>
                  <a:txBody>
                    <a:bodyPr/>
                    <a:lstStyle/>
                    <a:p>
                      <a:pPr algn="ctr"/>
                      <a:r>
                        <a:rPr lang="es-ES" sz="1200" b="1" dirty="0" smtClean="0">
                          <a:solidFill>
                            <a:schemeClr val="bg1"/>
                          </a:solidFill>
                        </a:rPr>
                        <a:t>Verdadero</a:t>
                      </a:r>
                      <a:r>
                        <a:rPr lang="es-ES" sz="1200" b="1" baseline="0" dirty="0" smtClean="0">
                          <a:solidFill>
                            <a:schemeClr val="bg1"/>
                          </a:solidFill>
                        </a:rPr>
                        <a:t> Negativo (VN/TN)</a:t>
                      </a:r>
                      <a:endParaRPr lang="es-ES" sz="1200" b="1" dirty="0">
                        <a:solidFill>
                          <a:schemeClr val="bg1"/>
                        </a:solidFill>
                      </a:endParaRPr>
                    </a:p>
                  </a:txBody>
                  <a:tcPr>
                    <a:solidFill>
                      <a:srgbClr val="1CE43D"/>
                    </a:solidFill>
                  </a:tcPr>
                </a:tc>
                <a:tc>
                  <a:txBody>
                    <a:bodyPr/>
                    <a:lstStyle/>
                    <a:p>
                      <a:pPr algn="ctr"/>
                      <a:r>
                        <a:rPr lang="es-ES" sz="1200" b="1" dirty="0" smtClean="0">
                          <a:solidFill>
                            <a:schemeClr val="bg1"/>
                          </a:solidFill>
                        </a:rPr>
                        <a:t>Falso Positivo (FP/FP)</a:t>
                      </a:r>
                      <a:endParaRPr lang="es-ES" sz="1200" b="1" dirty="0">
                        <a:solidFill>
                          <a:schemeClr val="bg1"/>
                        </a:solidFill>
                      </a:endParaRPr>
                    </a:p>
                  </a:txBody>
                  <a:tcPr>
                    <a:solidFill>
                      <a:srgbClr val="FF0000"/>
                    </a:solidFill>
                  </a:tcPr>
                </a:tc>
              </a:tr>
              <a:tr h="294822">
                <a:tc>
                  <a:txBody>
                    <a:bodyPr/>
                    <a:lstStyle/>
                    <a:p>
                      <a:pPr algn="ctr"/>
                      <a:r>
                        <a:rPr lang="es-ES" sz="1200" b="1" dirty="0" smtClean="0"/>
                        <a:t>REAL (Clase 1)</a:t>
                      </a:r>
                      <a:endParaRPr lang="es-ES" sz="1200" b="1" dirty="0"/>
                    </a:p>
                  </a:txBody>
                  <a:tcPr>
                    <a:solidFill>
                      <a:schemeClr val="accent1">
                        <a:lumMod val="20000"/>
                        <a:lumOff val="80000"/>
                      </a:schemeClr>
                    </a:solidFill>
                  </a:tcPr>
                </a:tc>
                <a:tc>
                  <a:txBody>
                    <a:bodyPr/>
                    <a:lstStyle/>
                    <a:p>
                      <a:pPr algn="ctr"/>
                      <a:r>
                        <a:rPr lang="es-ES" sz="1200" b="1" dirty="0" smtClean="0">
                          <a:solidFill>
                            <a:schemeClr val="bg1"/>
                          </a:solidFill>
                        </a:rPr>
                        <a:t>Falso Negativo (FN/FN))</a:t>
                      </a:r>
                      <a:endParaRPr lang="es-ES" sz="1200" b="1" dirty="0">
                        <a:solidFill>
                          <a:schemeClr val="bg1"/>
                        </a:solidFill>
                      </a:endParaRPr>
                    </a:p>
                  </a:txBody>
                  <a:tcPr>
                    <a:solidFill>
                      <a:srgbClr val="FF0000"/>
                    </a:solidFill>
                  </a:tcPr>
                </a:tc>
                <a:tc>
                  <a:txBody>
                    <a:bodyPr/>
                    <a:lstStyle/>
                    <a:p>
                      <a:pPr algn="ctr"/>
                      <a:r>
                        <a:rPr lang="es-ES" sz="1200" b="1" dirty="0" smtClean="0">
                          <a:solidFill>
                            <a:schemeClr val="bg1"/>
                          </a:solidFill>
                        </a:rPr>
                        <a:t>Verdadero</a:t>
                      </a:r>
                      <a:r>
                        <a:rPr lang="es-ES" sz="1200" b="1" baseline="0" dirty="0" smtClean="0">
                          <a:solidFill>
                            <a:schemeClr val="bg1"/>
                          </a:solidFill>
                        </a:rPr>
                        <a:t> Positivo (VP/TP)</a:t>
                      </a:r>
                      <a:endParaRPr lang="es-ES" sz="1200" b="1" dirty="0">
                        <a:solidFill>
                          <a:schemeClr val="bg1"/>
                        </a:solidFill>
                      </a:endParaRPr>
                    </a:p>
                  </a:txBody>
                  <a:tcPr>
                    <a:solidFill>
                      <a:srgbClr val="1CE43D"/>
                    </a:solidFill>
                  </a:tcPr>
                </a:tc>
              </a:tr>
            </a:tbl>
          </a:graphicData>
        </a:graphic>
      </p:graphicFrame>
    </p:spTree>
    <p:extLst>
      <p:ext uri="{BB962C8B-B14F-4D97-AF65-F5344CB8AC3E}">
        <p14:creationId xmlns:p14="http://schemas.microsoft.com/office/powerpoint/2010/main" val="2336546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959332" y="386117"/>
            <a:ext cx="6610208" cy="523220"/>
          </a:xfrm>
          <a:prstGeom prst="rect">
            <a:avLst/>
          </a:prstGeom>
        </p:spPr>
        <p:txBody>
          <a:bodyPr wrap="none">
            <a:spAutoFit/>
          </a:bodyPr>
          <a:lstStyle/>
          <a:p>
            <a:pPr algn="ctr"/>
            <a:r>
              <a:rPr lang="es-ES" sz="2800" b="1" dirty="0"/>
              <a:t>Medidas de bondad de ajuste: Clasificación</a:t>
            </a:r>
          </a:p>
        </p:txBody>
      </p:sp>
      <mc:AlternateContent xmlns:mc="http://schemas.openxmlformats.org/markup-compatibility/2006" xmlns:a14="http://schemas.microsoft.com/office/drawing/2010/main">
        <mc:Choice Requires="a14">
          <p:sp>
            <p:nvSpPr>
              <p:cNvPr id="3" name="Rectángulo 2"/>
              <p:cNvSpPr/>
              <p:nvPr/>
            </p:nvSpPr>
            <p:spPr>
              <a:xfrm>
                <a:off x="567890" y="1456169"/>
                <a:ext cx="11226945" cy="3908634"/>
              </a:xfrm>
              <a:prstGeom prst="rect">
                <a:avLst/>
              </a:prstGeom>
            </p:spPr>
            <p:txBody>
              <a:bodyPr wrap="square">
                <a:spAutoFit/>
              </a:bodyPr>
              <a:lstStyle/>
              <a:p>
                <a:pPr marL="285750" indent="-285750">
                  <a:buFont typeface="Arial" panose="020B0604020202020204" pitchFamily="34" charset="0"/>
                  <a:buChar char="•"/>
                </a:pPr>
                <a:r>
                  <a:rPr lang="es-ES" b="1" dirty="0" smtClean="0"/>
                  <a:t>ESPECIFIDAD (Tasa Verdaderos Negativos): </a:t>
                </a:r>
                <a:r>
                  <a:rPr lang="es-ES" dirty="0" smtClean="0"/>
                  <a:t>mide qué proporción de los negativos reales son correctamente identificados como negativos. Se enfoca en los negativos reales	</a:t>
                </a:r>
              </a:p>
              <a:p>
                <a:pPr/>
                <a14:m>
                  <m:oMathPara xmlns:m="http://schemas.openxmlformats.org/officeDocument/2006/math">
                    <m:oMathParaPr>
                      <m:jc m:val="center"/>
                    </m:oMathParaPr>
                    <m:oMath xmlns:m="http://schemas.openxmlformats.org/officeDocument/2006/math">
                      <m:r>
                        <a:rPr lang="es-ES" b="0" i="1" smtClean="0">
                          <a:latin typeface="Cambria Math" panose="02040503050406030204" pitchFamily="18" charset="0"/>
                        </a:rPr>
                        <m:t>𝐸𝑠𝑝𝑒𝑐𝑖𝑓𝑖𝑑𝑎𝑑</m:t>
                      </m:r>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𝑉𝑁</m:t>
                          </m:r>
                        </m:num>
                        <m:den>
                          <m:r>
                            <a:rPr lang="es-ES" b="0" i="1" smtClean="0">
                              <a:latin typeface="Cambria Math" panose="02040503050406030204" pitchFamily="18" charset="0"/>
                            </a:rPr>
                            <m:t>𝑉𝑁</m:t>
                          </m:r>
                          <m:r>
                            <a:rPr lang="es-ES" b="0" i="1" smtClean="0">
                              <a:latin typeface="Cambria Math" panose="02040503050406030204" pitchFamily="18" charset="0"/>
                            </a:rPr>
                            <m:t>+</m:t>
                          </m:r>
                          <m:r>
                            <a:rPr lang="es-ES" b="0" i="1" smtClean="0">
                              <a:latin typeface="Cambria Math" panose="02040503050406030204" pitchFamily="18" charset="0"/>
                            </a:rPr>
                            <m:t>𝐹𝑃</m:t>
                          </m:r>
                        </m:den>
                      </m:f>
                    </m:oMath>
                  </m:oMathPara>
                </a14:m>
                <a:endParaRPr lang="es-ES" dirty="0" smtClean="0"/>
              </a:p>
              <a:p>
                <a:pPr marL="285750" indent="-285750">
                  <a:buFont typeface="Arial" panose="020B0604020202020204" pitchFamily="34" charset="0"/>
                  <a:buChar char="•"/>
                </a:pPr>
                <a:endParaRPr lang="es-ES" b="1" dirty="0" smtClean="0"/>
              </a:p>
              <a:p>
                <a:pPr marL="285750" indent="-285750">
                  <a:buFont typeface="Arial" panose="020B0604020202020204" pitchFamily="34" charset="0"/>
                  <a:buChar char="•"/>
                </a:pPr>
                <a:r>
                  <a:rPr lang="es-ES" b="1" dirty="0" smtClean="0"/>
                  <a:t>La </a:t>
                </a:r>
                <a:r>
                  <a:rPr lang="es-ES" b="1" dirty="0"/>
                  <a:t>Curva </a:t>
                </a:r>
                <a:r>
                  <a:rPr lang="es-ES" b="1" dirty="0" smtClean="0"/>
                  <a:t>ROC: </a:t>
                </a:r>
                <a:r>
                  <a:rPr lang="es-ES" dirty="0"/>
                  <a:t>representa el porcentaje de verdaderos positivos </a:t>
                </a:r>
                <a:r>
                  <a:rPr lang="es-ES" dirty="0" smtClean="0"/>
                  <a:t>(</a:t>
                </a:r>
                <a:r>
                  <a:rPr lang="es-ES" b="1" dirty="0" smtClean="0">
                    <a:solidFill>
                      <a:srgbClr val="FF0000"/>
                    </a:solidFill>
                  </a:rPr>
                  <a:t>Eje Y: True </a:t>
                </a:r>
                <a:r>
                  <a:rPr lang="es-ES" b="1" dirty="0">
                    <a:solidFill>
                      <a:srgbClr val="FF0000"/>
                    </a:solidFill>
                  </a:rPr>
                  <a:t>Positive </a:t>
                </a:r>
                <a:r>
                  <a:rPr lang="es-ES" b="1" dirty="0" err="1" smtClean="0">
                    <a:solidFill>
                      <a:srgbClr val="FF0000"/>
                    </a:solidFill>
                  </a:rPr>
                  <a:t>Rate</a:t>
                </a:r>
                <a:r>
                  <a:rPr lang="es-ES" b="1" dirty="0" smtClean="0">
                    <a:solidFill>
                      <a:srgbClr val="FF0000"/>
                    </a:solidFill>
                  </a:rPr>
                  <a:t>, </a:t>
                </a:r>
                <a:r>
                  <a:rPr lang="es-ES" b="1" i="1" dirty="0" smtClean="0">
                    <a:solidFill>
                      <a:srgbClr val="FF0000"/>
                    </a:solidFill>
                  </a:rPr>
                  <a:t>TPR</a:t>
                </a:r>
                <a:r>
                  <a:rPr lang="es-ES" dirty="0" smtClean="0"/>
                  <a:t>), </a:t>
                </a:r>
                <a:r>
                  <a:rPr lang="es-ES" dirty="0"/>
                  <a:t>también conocido como </a:t>
                </a:r>
                <a:r>
                  <a:rPr lang="es-ES" b="1" dirty="0" err="1"/>
                  <a:t>Recall</a:t>
                </a:r>
                <a:r>
                  <a:rPr lang="es-ES" dirty="0"/>
                  <a:t>, contra el ratio de falsos positivos </a:t>
                </a:r>
                <a:r>
                  <a:rPr lang="es-ES" dirty="0" smtClean="0"/>
                  <a:t>(</a:t>
                </a:r>
                <a:r>
                  <a:rPr lang="es-ES" b="1" dirty="0" smtClean="0">
                    <a:solidFill>
                      <a:srgbClr val="FF0000"/>
                    </a:solidFill>
                  </a:rPr>
                  <a:t>Eje X: False </a:t>
                </a:r>
                <a:r>
                  <a:rPr lang="es-ES" b="1" dirty="0">
                    <a:solidFill>
                      <a:srgbClr val="FF0000"/>
                    </a:solidFill>
                  </a:rPr>
                  <a:t>Positive </a:t>
                </a:r>
                <a:r>
                  <a:rPr lang="es-ES" b="1" dirty="0" err="1" smtClean="0">
                    <a:solidFill>
                      <a:srgbClr val="FF0000"/>
                    </a:solidFill>
                  </a:rPr>
                  <a:t>Rate</a:t>
                </a:r>
                <a:r>
                  <a:rPr lang="es-ES" b="1" dirty="0" smtClean="0">
                    <a:solidFill>
                      <a:srgbClr val="FF0000"/>
                    </a:solidFill>
                  </a:rPr>
                  <a:t>, </a:t>
                </a:r>
                <a:r>
                  <a:rPr lang="es-ES" b="1" i="1" dirty="0" smtClean="0">
                    <a:solidFill>
                      <a:srgbClr val="FF0000"/>
                    </a:solidFill>
                  </a:rPr>
                  <a:t>FPR=1-Especifidad</a:t>
                </a:r>
                <a:r>
                  <a:rPr lang="es-ES" dirty="0" smtClean="0"/>
                  <a:t>). </a:t>
                </a:r>
                <a:r>
                  <a:rPr lang="es-ES" dirty="0"/>
                  <a:t>muestra gráficamente cómo de bien un modelo de clasificación puede separar dos clases al cambiar el umbral de </a:t>
                </a:r>
                <a:r>
                  <a:rPr lang="es-ES" dirty="0" smtClean="0"/>
                  <a:t>decisión</a:t>
                </a:r>
              </a:p>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𝑅𝑒𝑐𝑎𝑙𝑙</m:t>
                      </m:r>
                      <m:r>
                        <a:rPr lang="es-ES" b="0" i="1" smtClean="0">
                          <a:latin typeface="Cambria Math" panose="02040503050406030204" pitchFamily="18" charset="0"/>
                        </a:rPr>
                        <m:t>=</m:t>
                      </m:r>
                      <m:r>
                        <a:rPr lang="es-ES" b="0" i="1" smtClean="0">
                          <a:latin typeface="Cambria Math" panose="02040503050406030204" pitchFamily="18" charset="0"/>
                        </a:rPr>
                        <m:t>𝑇𝑃𝑅</m:t>
                      </m:r>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𝑉𝑃</m:t>
                          </m:r>
                        </m:num>
                        <m:den>
                          <m:r>
                            <a:rPr lang="es-ES" b="0" i="1" smtClean="0">
                              <a:latin typeface="Cambria Math" panose="02040503050406030204" pitchFamily="18" charset="0"/>
                            </a:rPr>
                            <m:t>𝑉𝑃</m:t>
                          </m:r>
                          <m:r>
                            <a:rPr lang="es-ES" b="0" i="1" smtClean="0">
                              <a:latin typeface="Cambria Math" panose="02040503050406030204" pitchFamily="18" charset="0"/>
                            </a:rPr>
                            <m:t>+</m:t>
                          </m:r>
                          <m:r>
                            <a:rPr lang="es-ES" b="0" i="1" smtClean="0">
                              <a:latin typeface="Cambria Math" panose="02040503050406030204" pitchFamily="18" charset="0"/>
                            </a:rPr>
                            <m:t>𝐹𝑁</m:t>
                          </m:r>
                        </m:den>
                      </m:f>
                      <m:r>
                        <a:rPr lang="es-ES" b="0" i="1" smtClean="0">
                          <a:latin typeface="Cambria Math" panose="02040503050406030204" pitchFamily="18" charset="0"/>
                        </a:rPr>
                        <m:t>;                1−</m:t>
                      </m:r>
                      <m:r>
                        <a:rPr lang="es-ES" b="0" i="1" smtClean="0">
                          <a:latin typeface="Cambria Math" panose="02040503050406030204" pitchFamily="18" charset="0"/>
                        </a:rPr>
                        <m:t>𝐸𝑠𝑝𝑒𝑐𝑖𝑓𝑖𝑑𝑎𝑑</m:t>
                      </m:r>
                      <m:r>
                        <a:rPr lang="es-ES" b="0" i="1" smtClean="0">
                          <a:latin typeface="Cambria Math" panose="02040503050406030204" pitchFamily="18" charset="0"/>
                        </a:rPr>
                        <m:t>=</m:t>
                      </m:r>
                      <m:r>
                        <a:rPr lang="es-ES" b="0" i="1" smtClean="0">
                          <a:latin typeface="Cambria Math" panose="02040503050406030204" pitchFamily="18" charset="0"/>
                        </a:rPr>
                        <m:t>𝐹𝑅𝑃</m:t>
                      </m:r>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𝐹𝑃</m:t>
                          </m:r>
                        </m:num>
                        <m:den>
                          <m:r>
                            <a:rPr lang="es-ES" b="0" i="1" smtClean="0">
                              <a:latin typeface="Cambria Math" panose="02040503050406030204" pitchFamily="18" charset="0"/>
                            </a:rPr>
                            <m:t>𝑉𝑁</m:t>
                          </m:r>
                          <m:r>
                            <a:rPr lang="es-ES" b="0" i="1" smtClean="0">
                              <a:latin typeface="Cambria Math" panose="02040503050406030204" pitchFamily="18" charset="0"/>
                            </a:rPr>
                            <m:t>+</m:t>
                          </m:r>
                          <m:r>
                            <a:rPr lang="es-ES" b="0" i="1" smtClean="0">
                              <a:latin typeface="Cambria Math" panose="02040503050406030204" pitchFamily="18" charset="0"/>
                            </a:rPr>
                            <m:t>𝐹𝑃</m:t>
                          </m:r>
                        </m:den>
                      </m:f>
                    </m:oMath>
                  </m:oMathPara>
                </a14:m>
                <a:endParaRPr lang="es-ES" dirty="0" smtClean="0"/>
              </a:p>
              <a:p>
                <a:pPr marL="285750" indent="-285750">
                  <a:buFont typeface="Arial" panose="020B0604020202020204" pitchFamily="34" charset="0"/>
                  <a:buChar char="•"/>
                </a:pPr>
                <a:endParaRPr lang="es-ES" b="1" dirty="0" smtClean="0"/>
              </a:p>
              <a:p>
                <a:pPr marL="285750" indent="-285750">
                  <a:buFont typeface="Arial" panose="020B0604020202020204" pitchFamily="34" charset="0"/>
                  <a:buChar char="•"/>
                </a:pPr>
                <a:r>
                  <a:rPr lang="es-ES" b="1" dirty="0" smtClean="0"/>
                  <a:t>AUC</a:t>
                </a:r>
                <a:r>
                  <a:rPr lang="es-ES" dirty="0" smtClean="0"/>
                  <a:t> (</a:t>
                </a:r>
                <a:r>
                  <a:rPr lang="es-ES" i="1" dirty="0" smtClean="0"/>
                  <a:t>Área Bajo la Curva/</a:t>
                </a:r>
                <a:r>
                  <a:rPr lang="es-ES" i="1" dirty="0" err="1" smtClean="0"/>
                  <a:t>Area</a:t>
                </a:r>
                <a:r>
                  <a:rPr lang="es-ES" i="1" dirty="0" smtClean="0"/>
                  <a:t> </a:t>
                </a:r>
                <a:r>
                  <a:rPr lang="es-ES" i="1" dirty="0" err="1" smtClean="0"/>
                  <a:t>Under</a:t>
                </a:r>
                <a:r>
                  <a:rPr lang="es-ES" i="1" dirty="0" smtClean="0"/>
                  <a:t> Curve</a:t>
                </a:r>
                <a:r>
                  <a:rPr lang="es-ES" dirty="0" smtClean="0"/>
                  <a:t>): métrica sólida y muy útil para problemas de clasificación binaria. Toma valores entre 0 y 1, donde 0.5 indica el resultado de una clasificación aleatoria, 0 una clasificación aún peor que el azar, y 1 indica el resultado de la clasificación perfecta. </a:t>
                </a:r>
                <a:endParaRPr lang="es-ES" dirty="0"/>
              </a:p>
            </p:txBody>
          </p:sp>
        </mc:Choice>
        <mc:Fallback xmlns="">
          <p:sp>
            <p:nvSpPr>
              <p:cNvPr id="3" name="Rectángulo 2"/>
              <p:cNvSpPr>
                <a:spLocks noRot="1" noChangeAspect="1" noMove="1" noResize="1" noEditPoints="1" noAdjustHandles="1" noChangeArrowheads="1" noChangeShapeType="1" noTextEdit="1"/>
              </p:cNvSpPr>
              <p:nvPr/>
            </p:nvSpPr>
            <p:spPr>
              <a:xfrm>
                <a:off x="567890" y="1456169"/>
                <a:ext cx="11226945" cy="3908634"/>
              </a:xfrm>
              <a:prstGeom prst="rect">
                <a:avLst/>
              </a:prstGeom>
              <a:blipFill rotWithShape="0">
                <a:blip r:embed="rId2"/>
                <a:stretch>
                  <a:fillRect l="-326" t="-936" r="-271" b="-1560"/>
                </a:stretch>
              </a:blipFill>
            </p:spPr>
            <p:txBody>
              <a:bodyPr/>
              <a:lstStyle/>
              <a:p>
                <a:r>
                  <a:rPr lang="es-ES">
                    <a:noFill/>
                  </a:rPr>
                  <a:t> </a:t>
                </a:r>
              </a:p>
            </p:txBody>
          </p:sp>
        </mc:Fallback>
      </mc:AlternateContent>
    </p:spTree>
    <p:extLst>
      <p:ext uri="{BB962C8B-B14F-4D97-AF65-F5344CB8AC3E}">
        <p14:creationId xmlns:p14="http://schemas.microsoft.com/office/powerpoint/2010/main" val="1965278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776404" y="238335"/>
            <a:ext cx="9023378" cy="523220"/>
          </a:xfrm>
          <a:prstGeom prst="rect">
            <a:avLst/>
          </a:prstGeom>
        </p:spPr>
        <p:txBody>
          <a:bodyPr wrap="square">
            <a:spAutoFit/>
          </a:bodyPr>
          <a:lstStyle/>
          <a:p>
            <a:pPr algn="ctr"/>
            <a:r>
              <a:rPr lang="es-ES" sz="2800" b="1" dirty="0"/>
              <a:t>Medidas de bondad de </a:t>
            </a:r>
            <a:r>
              <a:rPr lang="es-ES" sz="2800" b="1" dirty="0" smtClean="0"/>
              <a:t>ajuste. ¿Cómo afectan los ajustes?</a:t>
            </a:r>
          </a:p>
        </p:txBody>
      </p:sp>
      <p:sp>
        <p:nvSpPr>
          <p:cNvPr id="4" name="CuadroTexto 3"/>
          <p:cNvSpPr txBox="1"/>
          <p:nvPr/>
        </p:nvSpPr>
        <p:spPr>
          <a:xfrm>
            <a:off x="277639" y="1195664"/>
            <a:ext cx="11350943" cy="4801314"/>
          </a:xfrm>
          <a:prstGeom prst="rect">
            <a:avLst/>
          </a:prstGeom>
          <a:noFill/>
        </p:spPr>
        <p:txBody>
          <a:bodyPr wrap="square" rtlCol="0">
            <a:spAutoFit/>
          </a:bodyPr>
          <a:lstStyle/>
          <a:p>
            <a:r>
              <a:rPr lang="es-ES" b="1" dirty="0" smtClean="0">
                <a:solidFill>
                  <a:srgbClr val="FF0000"/>
                </a:solidFill>
              </a:rPr>
              <a:t>Ajuste de parámetros: </a:t>
            </a:r>
            <a:r>
              <a:rPr lang="es-ES" dirty="0" smtClean="0"/>
              <a:t>afecta a la capacidad general del modelo para adaptarse a los datos.</a:t>
            </a:r>
          </a:p>
          <a:p>
            <a:endParaRPr lang="es-ES" dirty="0" smtClean="0"/>
          </a:p>
          <a:p>
            <a:pPr marL="742950" lvl="1" indent="-285750">
              <a:buFont typeface="Arial" panose="020B0604020202020204" pitchFamily="34" charset="0"/>
              <a:buChar char="•"/>
            </a:pPr>
            <a:r>
              <a:rPr lang="es-ES" b="1" dirty="0" smtClean="0"/>
              <a:t>Sensibilidad </a:t>
            </a:r>
            <a:r>
              <a:rPr lang="es-ES" b="1" dirty="0"/>
              <a:t>(TPR o </a:t>
            </a:r>
            <a:r>
              <a:rPr lang="es-ES" b="1" dirty="0" err="1"/>
              <a:t>Recall</a:t>
            </a:r>
            <a:r>
              <a:rPr lang="es-ES" b="1" dirty="0" smtClean="0"/>
              <a:t>):</a:t>
            </a:r>
            <a:r>
              <a:rPr lang="es-ES" dirty="0" smtClean="0"/>
              <a:t> si </a:t>
            </a:r>
            <a:r>
              <a:rPr lang="es-ES" dirty="0"/>
              <a:t>el modelo es demasiado restrictivo o simple (bajo ajuste), podría no detectar correctamente los positivos reales, disminuyendo la </a:t>
            </a:r>
            <a:r>
              <a:rPr lang="es-ES" dirty="0" smtClean="0"/>
              <a:t>sensibilidad. </a:t>
            </a:r>
            <a:r>
              <a:rPr lang="es-ES" i="1" dirty="0" smtClean="0"/>
              <a:t>Ejemplo</a:t>
            </a:r>
            <a:r>
              <a:rPr lang="es-ES" dirty="0"/>
              <a:t>: En k-NN, un valor muy grande de </a:t>
            </a:r>
            <a:r>
              <a:rPr lang="es-ES" dirty="0" smtClean="0"/>
              <a:t>k podría </a:t>
            </a:r>
            <a:r>
              <a:rPr lang="es-ES" dirty="0"/>
              <a:t>suavizar demasiado las predicciones, afectando la detección de positivos.</a:t>
            </a:r>
          </a:p>
          <a:p>
            <a:pPr marL="742950" lvl="1" indent="-285750">
              <a:buFont typeface="Arial" panose="020B0604020202020204" pitchFamily="34" charset="0"/>
              <a:buChar char="•"/>
            </a:pPr>
            <a:endParaRPr lang="es-ES" b="1" dirty="0" smtClean="0"/>
          </a:p>
          <a:p>
            <a:pPr marL="742950" lvl="1" indent="-285750">
              <a:buFont typeface="Arial" panose="020B0604020202020204" pitchFamily="34" charset="0"/>
              <a:buChar char="•"/>
            </a:pPr>
            <a:r>
              <a:rPr lang="es-ES" b="1" dirty="0" smtClean="0"/>
              <a:t>Especificidad: </a:t>
            </a:r>
            <a:r>
              <a:rPr lang="es-ES" dirty="0" smtClean="0"/>
              <a:t>un </a:t>
            </a:r>
            <a:r>
              <a:rPr lang="es-ES" dirty="0"/>
              <a:t>modelo muy complejo (</a:t>
            </a:r>
            <a:r>
              <a:rPr lang="es-ES" dirty="0" err="1"/>
              <a:t>sobreajustado</a:t>
            </a:r>
            <a:r>
              <a:rPr lang="es-ES" dirty="0"/>
              <a:t>) podría clasificar erróneamente más negativos reales, disminuyendo la </a:t>
            </a:r>
            <a:r>
              <a:rPr lang="es-ES" dirty="0" smtClean="0"/>
              <a:t>especificidad. </a:t>
            </a:r>
            <a:r>
              <a:rPr lang="es-ES" i="1" dirty="0" smtClean="0"/>
              <a:t>Ejemplo</a:t>
            </a:r>
            <a:r>
              <a:rPr lang="es-ES" dirty="0"/>
              <a:t>: Un árbol de decisión muy profundo podría clasificar demasiados ejemplos negativos como positivos.</a:t>
            </a:r>
          </a:p>
          <a:p>
            <a:pPr marL="742950" lvl="1" indent="-285750">
              <a:buFont typeface="Arial" panose="020B0604020202020204" pitchFamily="34" charset="0"/>
              <a:buChar char="•"/>
            </a:pPr>
            <a:endParaRPr lang="es-ES" b="1" dirty="0" smtClean="0"/>
          </a:p>
          <a:p>
            <a:pPr marL="742950" lvl="1" indent="-285750">
              <a:buFont typeface="Arial" panose="020B0604020202020204" pitchFamily="34" charset="0"/>
              <a:buChar char="•"/>
            </a:pPr>
            <a:r>
              <a:rPr lang="es-ES" b="1" dirty="0" smtClean="0"/>
              <a:t>Precisión: </a:t>
            </a:r>
            <a:r>
              <a:rPr lang="es-ES" dirty="0" smtClean="0"/>
              <a:t>los parámetros </a:t>
            </a:r>
            <a:r>
              <a:rPr lang="es-ES" dirty="0"/>
              <a:t>que reducen los falsos positivos aumentan la precisión, ya que esta mide qué porcentaje de las predicciones positivas son </a:t>
            </a:r>
            <a:r>
              <a:rPr lang="es-ES" dirty="0" smtClean="0"/>
              <a:t>correctas. </a:t>
            </a:r>
            <a:r>
              <a:rPr lang="es-ES" i="1" dirty="0" smtClean="0"/>
              <a:t>Ejemplo</a:t>
            </a:r>
            <a:r>
              <a:rPr lang="es-ES" dirty="0"/>
              <a:t>: En SVM, aumentar el valor de </a:t>
            </a:r>
            <a:r>
              <a:rPr lang="es-ES" dirty="0" smtClean="0"/>
              <a:t>C puede </a:t>
            </a:r>
            <a:r>
              <a:rPr lang="es-ES" dirty="0"/>
              <a:t>reducir los falsos positivos, aumentando la precisión.</a:t>
            </a:r>
          </a:p>
          <a:p>
            <a:pPr marL="742950" lvl="1" indent="-285750">
              <a:buFont typeface="Arial" panose="020B0604020202020204" pitchFamily="34" charset="0"/>
              <a:buChar char="•"/>
            </a:pPr>
            <a:endParaRPr lang="es-ES" b="1" dirty="0" smtClean="0"/>
          </a:p>
          <a:p>
            <a:pPr marL="742950" lvl="1" indent="-285750">
              <a:buFont typeface="Arial" panose="020B0604020202020204" pitchFamily="34" charset="0"/>
              <a:buChar char="•"/>
            </a:pPr>
            <a:r>
              <a:rPr lang="es-ES" b="1" dirty="0" smtClean="0"/>
              <a:t>F1-Score: </a:t>
            </a:r>
            <a:r>
              <a:rPr lang="es-ES" dirty="0" smtClean="0"/>
              <a:t>como </a:t>
            </a:r>
            <a:r>
              <a:rPr lang="es-ES" dirty="0"/>
              <a:t>combina precisión y sensibilidad, un cambio que mejore una métrica pero afecte negativamente la otra podría reducir el F1-Score.</a:t>
            </a:r>
          </a:p>
          <a:p>
            <a:endParaRPr lang="es-ES" b="1" dirty="0"/>
          </a:p>
        </p:txBody>
      </p:sp>
    </p:spTree>
    <p:extLst>
      <p:ext uri="{BB962C8B-B14F-4D97-AF65-F5344CB8AC3E}">
        <p14:creationId xmlns:p14="http://schemas.microsoft.com/office/powerpoint/2010/main" val="1737204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886691" y="1388837"/>
            <a:ext cx="10123054" cy="4247317"/>
          </a:xfrm>
          <a:prstGeom prst="rect">
            <a:avLst/>
          </a:prstGeom>
        </p:spPr>
        <p:txBody>
          <a:bodyPr wrap="square">
            <a:spAutoFit/>
          </a:bodyPr>
          <a:lstStyle/>
          <a:p>
            <a:r>
              <a:rPr lang="es-ES" b="1" dirty="0" err="1" smtClean="0">
                <a:solidFill>
                  <a:srgbClr val="FF0000"/>
                </a:solidFill>
              </a:rPr>
              <a:t>Threshold</a:t>
            </a:r>
            <a:r>
              <a:rPr lang="es-ES" b="1" dirty="0" smtClean="0">
                <a:solidFill>
                  <a:srgbClr val="FF0000"/>
                </a:solidFill>
              </a:rPr>
              <a:t> o punto de corte</a:t>
            </a:r>
            <a:endParaRPr lang="es-ES" b="1" dirty="0">
              <a:solidFill>
                <a:srgbClr val="FF0000"/>
              </a:solidFill>
            </a:endParaRPr>
          </a:p>
          <a:p>
            <a:r>
              <a:rPr lang="es-ES" dirty="0" smtClean="0"/>
              <a:t>El </a:t>
            </a:r>
            <a:r>
              <a:rPr lang="es-ES" i="1" dirty="0" err="1" smtClean="0"/>
              <a:t>threshold</a:t>
            </a:r>
            <a:r>
              <a:rPr lang="es-ES" dirty="0" smtClean="0"/>
              <a:t> </a:t>
            </a:r>
            <a:r>
              <a:rPr lang="es-ES" dirty="0"/>
              <a:t>define a partir de qué probabilidad un ejemplo se clasifica como positivo. Cambiar este umbral tiene los siguientes efectos:</a:t>
            </a:r>
          </a:p>
          <a:p>
            <a:pPr marL="285750" indent="-285750">
              <a:buFont typeface="Arial" panose="020B0604020202020204" pitchFamily="34" charset="0"/>
              <a:buChar char="•"/>
            </a:pPr>
            <a:r>
              <a:rPr lang="es-ES" b="1" dirty="0"/>
              <a:t>Sensibilidad (TPR)</a:t>
            </a:r>
          </a:p>
          <a:p>
            <a:pPr lvl="2">
              <a:buFont typeface="Arial" panose="020B0604020202020204" pitchFamily="34" charset="0"/>
              <a:buChar char="•"/>
            </a:pPr>
            <a:r>
              <a:rPr lang="es-ES" b="1" dirty="0"/>
              <a:t>Umbral bajo:</a:t>
            </a:r>
            <a:r>
              <a:rPr lang="es-ES" dirty="0"/>
              <a:t> Detecta más positivos, aumentando la sensibilidad, pero podría incrementar los falsos positivos.</a:t>
            </a:r>
          </a:p>
          <a:p>
            <a:pPr lvl="2">
              <a:buFont typeface="Arial" panose="020B0604020202020204" pitchFamily="34" charset="0"/>
              <a:buChar char="•"/>
            </a:pPr>
            <a:r>
              <a:rPr lang="es-ES" b="1" dirty="0"/>
              <a:t>Umbral alto:</a:t>
            </a:r>
            <a:r>
              <a:rPr lang="es-ES" dirty="0"/>
              <a:t> Detecta menos positivos, reduciendo la sensibilidad, pero mejora la especificidad.</a:t>
            </a:r>
          </a:p>
          <a:p>
            <a:pPr marL="285750" indent="-285750">
              <a:buFont typeface="Arial" panose="020B0604020202020204" pitchFamily="34" charset="0"/>
              <a:buChar char="•"/>
            </a:pPr>
            <a:r>
              <a:rPr lang="es-ES" b="1" dirty="0"/>
              <a:t>Especificidad</a:t>
            </a:r>
          </a:p>
          <a:p>
            <a:pPr lvl="2">
              <a:buFont typeface="Arial" panose="020B0604020202020204" pitchFamily="34" charset="0"/>
              <a:buChar char="•"/>
            </a:pPr>
            <a:r>
              <a:rPr lang="es-ES" b="1" dirty="0"/>
              <a:t>Umbral bajo:</a:t>
            </a:r>
            <a:r>
              <a:rPr lang="es-ES" dirty="0"/>
              <a:t> Clasifica menos negativos correctamente, reduciendo la especificidad</a:t>
            </a:r>
            <a:r>
              <a:rPr lang="es-ES" dirty="0" smtClean="0"/>
              <a:t>.	</a:t>
            </a:r>
            <a:endParaRPr lang="es-ES" dirty="0"/>
          </a:p>
          <a:p>
            <a:pPr lvl="2">
              <a:buFont typeface="Arial" panose="020B0604020202020204" pitchFamily="34" charset="0"/>
              <a:buChar char="•"/>
            </a:pPr>
            <a:r>
              <a:rPr lang="es-ES" b="1" dirty="0"/>
              <a:t>Umbral alto:</a:t>
            </a:r>
            <a:r>
              <a:rPr lang="es-ES" dirty="0"/>
              <a:t> Clasifica más negativos correctamente, aumentando la especificidad.</a:t>
            </a:r>
          </a:p>
          <a:p>
            <a:pPr marL="285750" indent="-285750">
              <a:buFont typeface="Arial" panose="020B0604020202020204" pitchFamily="34" charset="0"/>
              <a:buChar char="•"/>
            </a:pPr>
            <a:r>
              <a:rPr lang="es-ES" b="1" dirty="0" smtClean="0"/>
              <a:t>Precisión</a:t>
            </a:r>
            <a:endParaRPr lang="es-ES" b="1" dirty="0"/>
          </a:p>
          <a:p>
            <a:pPr lvl="1">
              <a:buFont typeface="Arial" panose="020B0604020202020204" pitchFamily="34" charset="0"/>
              <a:buChar char="•"/>
            </a:pPr>
            <a:r>
              <a:rPr lang="es-ES" b="1" dirty="0"/>
              <a:t>Umbral bajo:</a:t>
            </a:r>
            <a:r>
              <a:rPr lang="es-ES" dirty="0"/>
              <a:t> Aumenta los falsos positivos, reduciendo la precisión.</a:t>
            </a:r>
          </a:p>
          <a:p>
            <a:pPr lvl="1">
              <a:buFont typeface="Arial" panose="020B0604020202020204" pitchFamily="34" charset="0"/>
              <a:buChar char="•"/>
            </a:pPr>
            <a:r>
              <a:rPr lang="es-ES" b="1" dirty="0"/>
              <a:t>Umbral alto:</a:t>
            </a:r>
            <a:r>
              <a:rPr lang="es-ES" dirty="0"/>
              <a:t> Reduce los falsos positivos, aumentando la precisión.</a:t>
            </a:r>
          </a:p>
          <a:p>
            <a:pPr marL="285750" indent="-285750">
              <a:buFont typeface="Arial" panose="020B0604020202020204" pitchFamily="34" charset="0"/>
              <a:buChar char="•"/>
            </a:pPr>
            <a:r>
              <a:rPr lang="es-ES" b="1" dirty="0" smtClean="0"/>
              <a:t>F1-Score: </a:t>
            </a:r>
            <a:r>
              <a:rPr lang="es-ES" dirty="0" smtClean="0"/>
              <a:t>cualquier cambio extremo puede </a:t>
            </a:r>
            <a:r>
              <a:rPr lang="es-ES" dirty="0"/>
              <a:t>desbalancear sensibilidad y precisión, reduciendo el F1-Score. Se maximiza cuando el balance entre ambas métricas es óptimo.</a:t>
            </a:r>
          </a:p>
        </p:txBody>
      </p:sp>
      <p:sp>
        <p:nvSpPr>
          <p:cNvPr id="3" name="Rectángulo 2"/>
          <p:cNvSpPr/>
          <p:nvPr/>
        </p:nvSpPr>
        <p:spPr>
          <a:xfrm>
            <a:off x="776404" y="238335"/>
            <a:ext cx="9023378" cy="523220"/>
          </a:xfrm>
          <a:prstGeom prst="rect">
            <a:avLst/>
          </a:prstGeom>
        </p:spPr>
        <p:txBody>
          <a:bodyPr wrap="square">
            <a:spAutoFit/>
          </a:bodyPr>
          <a:lstStyle/>
          <a:p>
            <a:pPr algn="ctr"/>
            <a:r>
              <a:rPr lang="es-ES" sz="2800" b="1" dirty="0"/>
              <a:t>Medidas de bondad de </a:t>
            </a:r>
            <a:r>
              <a:rPr lang="es-ES" sz="2800" b="1" dirty="0" smtClean="0"/>
              <a:t>ajuste. ¿Cómo afectan los ajustes?</a:t>
            </a:r>
          </a:p>
        </p:txBody>
      </p:sp>
    </p:spTree>
    <p:extLst>
      <p:ext uri="{BB962C8B-B14F-4D97-AF65-F5344CB8AC3E}">
        <p14:creationId xmlns:p14="http://schemas.microsoft.com/office/powerpoint/2010/main" val="2177277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ángulo 42"/>
          <p:cNvSpPr/>
          <p:nvPr/>
        </p:nvSpPr>
        <p:spPr>
          <a:xfrm>
            <a:off x="1136622" y="-23275"/>
            <a:ext cx="9023378" cy="523220"/>
          </a:xfrm>
          <a:prstGeom prst="rect">
            <a:avLst/>
          </a:prstGeom>
        </p:spPr>
        <p:txBody>
          <a:bodyPr wrap="square">
            <a:spAutoFit/>
          </a:bodyPr>
          <a:lstStyle/>
          <a:p>
            <a:pPr algn="ctr"/>
            <a:r>
              <a:rPr lang="es-ES" sz="2800" b="1" dirty="0"/>
              <a:t>Medidas de bondad de </a:t>
            </a:r>
            <a:r>
              <a:rPr lang="es-ES" sz="2800" b="1" dirty="0" smtClean="0"/>
              <a:t>ajuste. ¿Cuál escoger?</a:t>
            </a:r>
          </a:p>
        </p:txBody>
      </p:sp>
      <p:sp>
        <p:nvSpPr>
          <p:cNvPr id="44" name="CuadroTexto 43"/>
          <p:cNvSpPr txBox="1"/>
          <p:nvPr/>
        </p:nvSpPr>
        <p:spPr>
          <a:xfrm>
            <a:off x="73893" y="499945"/>
            <a:ext cx="11850252" cy="6463308"/>
          </a:xfrm>
          <a:prstGeom prst="rect">
            <a:avLst/>
          </a:prstGeom>
          <a:noFill/>
        </p:spPr>
        <p:txBody>
          <a:bodyPr wrap="square" rtlCol="0">
            <a:spAutoFit/>
          </a:bodyPr>
          <a:lstStyle/>
          <a:p>
            <a:pPr marL="285750" indent="-285750">
              <a:buFont typeface="Arial" panose="020B0604020202020204" pitchFamily="34" charset="0"/>
              <a:buChar char="•"/>
            </a:pPr>
            <a:r>
              <a:rPr lang="es-ES" sz="1400" b="1" dirty="0" smtClean="0">
                <a:solidFill>
                  <a:srgbClr val="FF0000"/>
                </a:solidFill>
              </a:rPr>
              <a:t>Prioridad: minimizar FALSOS NEGATIVOS (ALTA SENSIBILIDAD): </a:t>
            </a:r>
            <a:r>
              <a:rPr lang="es-ES" sz="1400" dirty="0" smtClean="0"/>
              <a:t>no identificar un positivo es más costoso/grave que clasificar incorrectamente un negativo. </a:t>
            </a:r>
            <a:r>
              <a:rPr lang="es-ES" sz="1400" i="1" dirty="0" smtClean="0"/>
              <a:t>Ejemplos</a:t>
            </a:r>
            <a:r>
              <a:rPr lang="es-ES" sz="1400" dirty="0" smtClean="0"/>
              <a:t>:</a:t>
            </a:r>
          </a:p>
          <a:p>
            <a:pPr marL="742950" lvl="1" indent="-285750">
              <a:buFont typeface="Arial" panose="020B0604020202020204" pitchFamily="34" charset="0"/>
              <a:buChar char="•"/>
            </a:pPr>
            <a:r>
              <a:rPr lang="es-ES" sz="1400" dirty="0" smtClean="0"/>
              <a:t>Diagnóstico médico: es más grave no identificar un paciente con cáncer (falso negativo) que generar una alerta innecesaria (falso positivo).</a:t>
            </a:r>
          </a:p>
          <a:p>
            <a:pPr marL="742950" lvl="1" indent="-285750">
              <a:buFont typeface="Arial" panose="020B0604020202020204" pitchFamily="34" charset="0"/>
              <a:buChar char="•"/>
            </a:pPr>
            <a:r>
              <a:rPr lang="es-ES" sz="1400" dirty="0" smtClean="0"/>
              <a:t>Seguridad: identificar correos con malware. No marcar un malware como peligroso puede hundir un sistema.</a:t>
            </a:r>
          </a:p>
          <a:p>
            <a:pPr marL="742950" lvl="1" indent="-285750">
              <a:buFont typeface="Arial" panose="020B0604020202020204" pitchFamily="34" charset="0"/>
              <a:buChar char="•"/>
            </a:pPr>
            <a:r>
              <a:rPr lang="es-ES" sz="1400" b="1" dirty="0">
                <a:solidFill>
                  <a:schemeClr val="accent1">
                    <a:lumMod val="75000"/>
                  </a:schemeClr>
                </a:solidFill>
              </a:rPr>
              <a:t>Métrica recomendada</a:t>
            </a:r>
            <a:r>
              <a:rPr lang="es-ES" sz="1400" b="1" dirty="0">
                <a:solidFill>
                  <a:srgbClr val="FF0000"/>
                </a:solidFill>
              </a:rPr>
              <a:t>: </a:t>
            </a:r>
            <a:r>
              <a:rPr lang="es-ES" sz="1400" b="1" dirty="0" err="1"/>
              <a:t>recall</a:t>
            </a:r>
            <a:r>
              <a:rPr lang="es-ES" sz="1400" b="1" dirty="0"/>
              <a:t>/sensibilidad</a:t>
            </a:r>
            <a:r>
              <a:rPr lang="es-ES" sz="1400" dirty="0"/>
              <a:t>, si </a:t>
            </a:r>
            <a:r>
              <a:rPr lang="es-ES" sz="1400" dirty="0" smtClean="0"/>
              <a:t>fuera necesario equilibrar, </a:t>
            </a:r>
            <a:r>
              <a:rPr lang="es-ES" sz="1400" b="1" dirty="0" smtClean="0"/>
              <a:t>F1</a:t>
            </a:r>
            <a:r>
              <a:rPr lang="es-ES" sz="1400" dirty="0" smtClean="0"/>
              <a:t>.</a:t>
            </a:r>
          </a:p>
          <a:p>
            <a:pPr marL="285750" indent="-285750">
              <a:buFont typeface="Arial" panose="020B0604020202020204" pitchFamily="34" charset="0"/>
              <a:buChar char="•"/>
            </a:pPr>
            <a:r>
              <a:rPr lang="es-ES" sz="1400" b="1" dirty="0">
                <a:solidFill>
                  <a:srgbClr val="FF0000"/>
                </a:solidFill>
              </a:rPr>
              <a:t>Prioridad: minimizar FALSOS </a:t>
            </a:r>
            <a:r>
              <a:rPr lang="es-ES" sz="1400" b="1" dirty="0" smtClean="0">
                <a:solidFill>
                  <a:srgbClr val="FF0000"/>
                </a:solidFill>
              </a:rPr>
              <a:t>POSITIVOS (ALTA PRECISIÓN): </a:t>
            </a:r>
            <a:r>
              <a:rPr lang="es-ES" sz="1400" dirty="0" smtClean="0"/>
              <a:t>clasificar un negativo como positivo tiene un alto coste/gravedad </a:t>
            </a:r>
            <a:r>
              <a:rPr lang="es-ES" sz="1400" i="1" dirty="0"/>
              <a:t>Ejemplos</a:t>
            </a:r>
            <a:r>
              <a:rPr lang="es-ES" sz="1400" dirty="0"/>
              <a:t>:</a:t>
            </a:r>
          </a:p>
          <a:p>
            <a:pPr marL="742950" lvl="1" indent="-285750">
              <a:buFont typeface="Arial" panose="020B0604020202020204" pitchFamily="34" charset="0"/>
              <a:buChar char="•"/>
            </a:pPr>
            <a:r>
              <a:rPr lang="es-ES" sz="1400" dirty="0" smtClean="0"/>
              <a:t>Detección de fraude: clasificar una transacción legítima como fraudulenta puede provocar la huida de clientes.</a:t>
            </a:r>
            <a:endParaRPr lang="es-ES" sz="1400" dirty="0"/>
          </a:p>
          <a:p>
            <a:pPr marL="742950" lvl="1" indent="-285750">
              <a:buFont typeface="Arial" panose="020B0604020202020204" pitchFamily="34" charset="0"/>
              <a:buChar char="•"/>
            </a:pPr>
            <a:r>
              <a:rPr lang="es-ES" sz="1400" dirty="0" smtClean="0"/>
              <a:t>Clasificación de spam: </a:t>
            </a:r>
            <a:r>
              <a:rPr lang="es-ES" sz="1400" dirty="0"/>
              <a:t>identificar </a:t>
            </a:r>
            <a:r>
              <a:rPr lang="es-ES" sz="1400" dirty="0" smtClean="0"/>
              <a:t>un correo importante como spam (falso positivo), puede provocar que el usuario pierda información importante.</a:t>
            </a:r>
          </a:p>
          <a:p>
            <a:pPr marL="742950" lvl="1" indent="-285750">
              <a:buFont typeface="Arial" panose="020B0604020202020204" pitchFamily="34" charset="0"/>
              <a:buChar char="•"/>
            </a:pPr>
            <a:r>
              <a:rPr lang="es-ES" sz="1400" b="1" dirty="0">
                <a:solidFill>
                  <a:schemeClr val="accent1">
                    <a:lumMod val="75000"/>
                  </a:schemeClr>
                </a:solidFill>
              </a:rPr>
              <a:t>Métrica recomendada</a:t>
            </a:r>
            <a:r>
              <a:rPr lang="es-ES" sz="1400" b="1" dirty="0">
                <a:solidFill>
                  <a:srgbClr val="FF0000"/>
                </a:solidFill>
              </a:rPr>
              <a:t>: </a:t>
            </a:r>
            <a:r>
              <a:rPr lang="es-ES" sz="1400" b="1" dirty="0" smtClean="0"/>
              <a:t>precisión</a:t>
            </a:r>
            <a:r>
              <a:rPr lang="es-ES" sz="1400" dirty="0" smtClean="0"/>
              <a:t>, si fuera necesario </a:t>
            </a:r>
            <a:r>
              <a:rPr lang="es-ES" sz="1400" dirty="0"/>
              <a:t>equilibrar, </a:t>
            </a:r>
            <a:r>
              <a:rPr lang="es-ES" sz="1400" b="1" dirty="0"/>
              <a:t>F1</a:t>
            </a:r>
            <a:r>
              <a:rPr lang="es-ES" sz="1400" dirty="0" smtClean="0"/>
              <a:t>.</a:t>
            </a:r>
            <a:endParaRPr lang="es-ES" sz="1400" dirty="0"/>
          </a:p>
          <a:p>
            <a:pPr marL="285750" indent="-285750">
              <a:buFont typeface="Arial" panose="020B0604020202020204" pitchFamily="34" charset="0"/>
              <a:buChar char="•"/>
            </a:pPr>
            <a:r>
              <a:rPr lang="es-ES" sz="1400" b="1" dirty="0">
                <a:solidFill>
                  <a:srgbClr val="FF0000"/>
                </a:solidFill>
              </a:rPr>
              <a:t>Prioridad: </a:t>
            </a:r>
            <a:r>
              <a:rPr lang="es-ES" sz="1400" b="1" dirty="0" smtClean="0">
                <a:solidFill>
                  <a:srgbClr val="FF0000"/>
                </a:solidFill>
              </a:rPr>
              <a:t>BALANCEAR FALSOS POSITIVOS Y FALSOS NEGATIVOS: </a:t>
            </a:r>
            <a:r>
              <a:rPr lang="es-ES" sz="1400" dirty="0" smtClean="0"/>
              <a:t>es importante evitar tanto los falsos positivos como los falsos negativos. </a:t>
            </a:r>
            <a:r>
              <a:rPr lang="es-ES" sz="1400" i="1" dirty="0"/>
              <a:t>Ejemplos</a:t>
            </a:r>
            <a:r>
              <a:rPr lang="es-ES" sz="1400" dirty="0"/>
              <a:t>:</a:t>
            </a:r>
          </a:p>
          <a:p>
            <a:pPr marL="742950" lvl="1" indent="-285750">
              <a:buFont typeface="Arial" panose="020B0604020202020204" pitchFamily="34" charset="0"/>
              <a:buChar char="•"/>
            </a:pPr>
            <a:r>
              <a:rPr lang="es-ES" sz="1400" dirty="0" smtClean="0"/>
              <a:t>Reconocimiento facial</a:t>
            </a:r>
            <a:r>
              <a:rPr lang="es-ES" sz="1400" dirty="0"/>
              <a:t>: e</a:t>
            </a:r>
            <a:r>
              <a:rPr lang="es-ES" sz="1400" dirty="0" smtClean="0"/>
              <a:t>n </a:t>
            </a:r>
            <a:r>
              <a:rPr lang="es-ES" sz="1400" dirty="0"/>
              <a:t>accesos restringidos, un error podría negar la entrada a un usuario legítimo (falso negativo) o permitir el acceso a un intruso (falso positivo)</a:t>
            </a:r>
          </a:p>
          <a:p>
            <a:pPr marL="742950" lvl="1" indent="-285750">
              <a:buFont typeface="Arial" panose="020B0604020202020204" pitchFamily="34" charset="0"/>
              <a:buChar char="•"/>
            </a:pPr>
            <a:r>
              <a:rPr lang="es-ES" sz="1400" dirty="0"/>
              <a:t>Sistemas de recomendación: </a:t>
            </a:r>
            <a:r>
              <a:rPr lang="es-ES" sz="1400" dirty="0" smtClean="0"/>
              <a:t>clasificar </a:t>
            </a:r>
            <a:r>
              <a:rPr lang="es-ES" sz="1400" dirty="0"/>
              <a:t>incorrectamente un producto como relevante o no relevante afecta la experiencia del </a:t>
            </a:r>
            <a:r>
              <a:rPr lang="es-ES" sz="1400" dirty="0" smtClean="0"/>
              <a:t>usuario.</a:t>
            </a:r>
            <a:endParaRPr lang="es-ES" sz="1400" dirty="0"/>
          </a:p>
          <a:p>
            <a:pPr marL="742950" lvl="1" indent="-285750">
              <a:buFont typeface="Arial" panose="020B0604020202020204" pitchFamily="34" charset="0"/>
              <a:buChar char="•"/>
            </a:pPr>
            <a:r>
              <a:rPr lang="es-ES" sz="1400" b="1" dirty="0" smtClean="0">
                <a:solidFill>
                  <a:schemeClr val="accent1">
                    <a:lumMod val="75000"/>
                  </a:schemeClr>
                </a:solidFill>
              </a:rPr>
              <a:t>Métrica </a:t>
            </a:r>
            <a:r>
              <a:rPr lang="es-ES" sz="1400" b="1" dirty="0">
                <a:solidFill>
                  <a:schemeClr val="accent1">
                    <a:lumMod val="75000"/>
                  </a:schemeClr>
                </a:solidFill>
              </a:rPr>
              <a:t>recomendada</a:t>
            </a:r>
            <a:r>
              <a:rPr lang="es-ES" sz="1400" b="1" dirty="0">
                <a:solidFill>
                  <a:srgbClr val="FF0000"/>
                </a:solidFill>
              </a:rPr>
              <a:t>: </a:t>
            </a:r>
            <a:r>
              <a:rPr lang="es-ES" sz="1400" b="1" dirty="0" smtClean="0"/>
              <a:t>F1</a:t>
            </a:r>
            <a:r>
              <a:rPr lang="es-ES" sz="1400" dirty="0" smtClean="0"/>
              <a:t>, para considerar el equilibrio entre precisión y sensibilidad, </a:t>
            </a:r>
            <a:r>
              <a:rPr lang="es-ES" sz="1400" b="1" dirty="0" err="1" smtClean="0"/>
              <a:t>Accuracy</a:t>
            </a:r>
            <a:r>
              <a:rPr lang="es-ES" sz="1400" dirty="0" smtClean="0"/>
              <a:t> (si las clases están más o menos balanceadas, </a:t>
            </a:r>
            <a:r>
              <a:rPr lang="es-ES" sz="1400" b="1" dirty="0"/>
              <a:t>ROC-AUC</a:t>
            </a:r>
            <a:r>
              <a:rPr lang="es-ES" sz="1400" dirty="0" smtClean="0"/>
              <a:t>.</a:t>
            </a:r>
            <a:endParaRPr lang="es-ES" sz="1400" dirty="0"/>
          </a:p>
          <a:p>
            <a:pPr marL="285750" indent="-285750">
              <a:buFont typeface="Arial" panose="020B0604020202020204" pitchFamily="34" charset="0"/>
              <a:buChar char="•"/>
            </a:pPr>
            <a:r>
              <a:rPr lang="es-ES" sz="1400" b="1" dirty="0" smtClean="0">
                <a:solidFill>
                  <a:srgbClr val="FF0000"/>
                </a:solidFill>
              </a:rPr>
              <a:t>Problemas con clases DESBALANCEADAS: cuando </a:t>
            </a:r>
            <a:r>
              <a:rPr lang="es-ES" sz="1400" dirty="0" smtClean="0"/>
              <a:t>una </a:t>
            </a:r>
            <a:r>
              <a:rPr lang="es-ES" sz="1400" dirty="0"/>
              <a:t>clase es mucho más frecuente que la otra, las métricas estándar como la exactitud (</a:t>
            </a:r>
            <a:r>
              <a:rPr lang="es-ES" sz="1400" dirty="0" err="1"/>
              <a:t>accuracy</a:t>
            </a:r>
            <a:r>
              <a:rPr lang="es-ES" sz="1400" dirty="0"/>
              <a:t>) pueden ser engañosas. </a:t>
            </a:r>
            <a:r>
              <a:rPr lang="es-ES" sz="1400" i="1" dirty="0"/>
              <a:t>Ejemplos</a:t>
            </a:r>
            <a:r>
              <a:rPr lang="es-ES" sz="1400" dirty="0"/>
              <a:t>:</a:t>
            </a:r>
          </a:p>
          <a:p>
            <a:pPr marL="742950" lvl="1" indent="-285750">
              <a:buFont typeface="Arial" panose="020B0604020202020204" pitchFamily="34" charset="0"/>
              <a:buChar char="•"/>
            </a:pPr>
            <a:r>
              <a:rPr lang="es-ES" sz="1400" dirty="0"/>
              <a:t>Detección de fallos en maquinaria: </a:t>
            </a:r>
            <a:r>
              <a:rPr lang="es-ES" sz="1400" dirty="0" smtClean="0"/>
              <a:t>si los fallos son </a:t>
            </a:r>
            <a:r>
              <a:rPr lang="es-ES" sz="1400" dirty="0"/>
              <a:t>eventos raros (clase minoritaria). Un modelo que prediga siempre "no falla" podría tener alta exactitud pero sería </a:t>
            </a:r>
            <a:r>
              <a:rPr lang="es-ES" sz="1400" dirty="0" smtClean="0"/>
              <a:t>inútil.</a:t>
            </a:r>
          </a:p>
          <a:p>
            <a:pPr marL="742950" lvl="1" indent="-285750">
              <a:buFont typeface="Arial" panose="020B0604020202020204" pitchFamily="34" charset="0"/>
              <a:buChar char="•"/>
            </a:pPr>
            <a:r>
              <a:rPr lang="es-ES" sz="1400" dirty="0" smtClean="0"/>
              <a:t>Sistemas </a:t>
            </a:r>
            <a:r>
              <a:rPr lang="es-ES" sz="1400" dirty="0"/>
              <a:t>de recomendación: clasificar incorrectamente un producto como relevante o no relevante afecta la experiencia del usuario.</a:t>
            </a:r>
          </a:p>
          <a:p>
            <a:pPr marL="742950" lvl="1" indent="-285750">
              <a:buFont typeface="Arial" panose="020B0604020202020204" pitchFamily="34" charset="0"/>
              <a:buChar char="•"/>
            </a:pPr>
            <a:r>
              <a:rPr lang="es-ES" sz="1400" b="1" dirty="0">
                <a:solidFill>
                  <a:schemeClr val="accent1">
                    <a:lumMod val="75000"/>
                  </a:schemeClr>
                </a:solidFill>
              </a:rPr>
              <a:t>Métrica recomendada:</a:t>
            </a:r>
            <a:r>
              <a:rPr lang="es-ES" sz="1400" b="1" dirty="0">
                <a:solidFill>
                  <a:srgbClr val="FF0000"/>
                </a:solidFill>
              </a:rPr>
              <a:t> </a:t>
            </a:r>
            <a:r>
              <a:rPr lang="es-ES" sz="1400" b="1" dirty="0"/>
              <a:t>ROC-AUC</a:t>
            </a:r>
            <a:r>
              <a:rPr lang="es-ES" sz="1400" dirty="0"/>
              <a:t> para medir la capacidad del modelo de diferenciar entre las clases. También se puede usar </a:t>
            </a:r>
            <a:r>
              <a:rPr lang="es-ES" sz="1400" b="1" dirty="0" err="1"/>
              <a:t>Precision-Recall</a:t>
            </a:r>
            <a:r>
              <a:rPr lang="es-ES" sz="1400" b="1" dirty="0"/>
              <a:t> AUC</a:t>
            </a:r>
            <a:r>
              <a:rPr lang="es-ES" sz="1400" dirty="0"/>
              <a:t> si la clase positiva es extremadamente minoritaria</a:t>
            </a:r>
            <a:r>
              <a:rPr lang="es-ES" sz="1400" dirty="0" smtClean="0"/>
              <a:t>.</a:t>
            </a:r>
          </a:p>
          <a:p>
            <a:pPr marL="285750" indent="-285750">
              <a:buFont typeface="Arial" panose="020B0604020202020204" pitchFamily="34" charset="0"/>
              <a:buChar char="•"/>
            </a:pPr>
            <a:r>
              <a:rPr lang="es-ES" sz="1400" b="1" dirty="0">
                <a:solidFill>
                  <a:srgbClr val="FF0000"/>
                </a:solidFill>
              </a:rPr>
              <a:t>Problema de clasificación MULTI-CLASE: </a:t>
            </a:r>
            <a:r>
              <a:rPr lang="es-ES" sz="1400" dirty="0"/>
              <a:t>hay más de una clase y todas tienen una importancia relativa. </a:t>
            </a:r>
            <a:r>
              <a:rPr lang="es-ES" sz="1400" i="1" dirty="0"/>
              <a:t>Ejemplos</a:t>
            </a:r>
            <a:r>
              <a:rPr lang="es-ES" sz="1400" dirty="0"/>
              <a:t>:</a:t>
            </a:r>
          </a:p>
          <a:p>
            <a:pPr marL="742950" lvl="1" indent="-285750">
              <a:buFont typeface="Arial" panose="020B0604020202020204" pitchFamily="34" charset="0"/>
              <a:buChar char="•"/>
            </a:pPr>
            <a:r>
              <a:rPr lang="es-ES" sz="1400" b="1" dirty="0"/>
              <a:t>Clasificación de noticias:</a:t>
            </a:r>
            <a:r>
              <a:rPr lang="es-ES" sz="1400" dirty="0"/>
              <a:t> Etiquetar artículos en categorías como deportes, política, tecnología.</a:t>
            </a:r>
          </a:p>
          <a:p>
            <a:pPr marL="742950" lvl="1" indent="-285750">
              <a:buFont typeface="Arial" panose="020B0604020202020204" pitchFamily="34" charset="0"/>
              <a:buChar char="•"/>
            </a:pPr>
            <a:r>
              <a:rPr lang="es-ES" sz="1400" b="1" dirty="0"/>
              <a:t>Reconocimiento de imágenes:</a:t>
            </a:r>
            <a:r>
              <a:rPr lang="es-ES" sz="1400" dirty="0"/>
              <a:t> Identificar objetos en imágenes (perro, gato, coche, etc.).</a:t>
            </a:r>
          </a:p>
          <a:p>
            <a:pPr marL="742950" lvl="1" indent="-285750">
              <a:buFont typeface="Arial" panose="020B0604020202020204" pitchFamily="34" charset="0"/>
              <a:buChar char="•"/>
            </a:pPr>
            <a:r>
              <a:rPr lang="es-ES" sz="1400" b="1" dirty="0">
                <a:solidFill>
                  <a:schemeClr val="accent1">
                    <a:lumMod val="75000"/>
                  </a:schemeClr>
                </a:solidFill>
              </a:rPr>
              <a:t>Métrica </a:t>
            </a:r>
            <a:r>
              <a:rPr lang="es-ES" sz="1400" b="1" dirty="0" smtClean="0">
                <a:solidFill>
                  <a:schemeClr val="accent1">
                    <a:lumMod val="75000"/>
                  </a:schemeClr>
                </a:solidFill>
              </a:rPr>
              <a:t>recomendada:</a:t>
            </a:r>
            <a:r>
              <a:rPr lang="es-ES" sz="1400" b="1" dirty="0" smtClean="0">
                <a:solidFill>
                  <a:srgbClr val="FF0000"/>
                </a:solidFill>
              </a:rPr>
              <a:t> </a:t>
            </a:r>
            <a:r>
              <a:rPr lang="es-ES" sz="1400" b="1" dirty="0" err="1"/>
              <a:t>Acuracy</a:t>
            </a:r>
            <a:r>
              <a:rPr lang="es-ES" sz="1400" dirty="0"/>
              <a:t>, si las clases están balanceadas; </a:t>
            </a:r>
            <a:r>
              <a:rPr lang="es-ES" sz="1400" b="1" dirty="0"/>
              <a:t>Macro F1-Score </a:t>
            </a:r>
            <a:r>
              <a:rPr lang="es-ES" sz="1400" b="1" dirty="0" err="1"/>
              <a:t>si</a:t>
            </a:r>
            <a:r>
              <a:rPr lang="es-ES" sz="1400" dirty="0" err="1"/>
              <a:t>i</a:t>
            </a:r>
            <a:r>
              <a:rPr lang="es-ES" sz="1400" dirty="0"/>
              <a:t> las clases están desbalanceadas y se quiere evaluar el desempeño promedio en todas las clases.</a:t>
            </a:r>
          </a:p>
          <a:p>
            <a:pPr marL="742950" lvl="1" indent="-285750">
              <a:buFont typeface="Arial" panose="020B0604020202020204" pitchFamily="34" charset="0"/>
              <a:buChar char="•"/>
            </a:pPr>
            <a:endParaRPr lang="es-ES" dirty="0"/>
          </a:p>
          <a:p>
            <a:pPr marL="742950" lvl="1" indent="-285750">
              <a:buFont typeface="Arial" panose="020B0604020202020204" pitchFamily="34" charset="0"/>
              <a:buChar char="•"/>
            </a:pPr>
            <a:endParaRPr lang="es-ES" dirty="0"/>
          </a:p>
        </p:txBody>
      </p:sp>
    </p:spTree>
    <p:extLst>
      <p:ext uri="{BB962C8B-B14F-4D97-AF65-F5344CB8AC3E}">
        <p14:creationId xmlns:p14="http://schemas.microsoft.com/office/powerpoint/2010/main" val="3100202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00364" y="138545"/>
            <a:ext cx="11139054" cy="523220"/>
          </a:xfrm>
          <a:prstGeom prst="rect">
            <a:avLst/>
          </a:prstGeom>
          <a:noFill/>
        </p:spPr>
        <p:txBody>
          <a:bodyPr wrap="square" rtlCol="0">
            <a:spAutoFit/>
          </a:bodyPr>
          <a:lstStyle/>
          <a:p>
            <a:pPr algn="ctr"/>
            <a:r>
              <a:rPr lang="es-ES" sz="2800" b="1" dirty="0" smtClean="0"/>
              <a:t>Medidas de bondad de ajuste: Regresión</a:t>
            </a:r>
            <a:endParaRPr lang="es-ES" b="1" i="1" dirty="0">
              <a:latin typeface="Cambria Math" panose="02040503050406030204" pitchFamily="18" charset="0"/>
            </a:endParaRPr>
          </a:p>
        </p:txBody>
      </p:sp>
      <p:pic>
        <p:nvPicPr>
          <p:cNvPr id="4" name="Imagen 3"/>
          <p:cNvPicPr>
            <a:picLocks noChangeAspect="1"/>
          </p:cNvPicPr>
          <p:nvPr/>
        </p:nvPicPr>
        <p:blipFill rotWithShape="1">
          <a:blip r:embed="rId2"/>
          <a:srcRect l="36137" t="26532" r="27727" b="7071"/>
          <a:stretch/>
        </p:blipFill>
        <p:spPr>
          <a:xfrm>
            <a:off x="3302000" y="761178"/>
            <a:ext cx="5735782" cy="5928176"/>
          </a:xfrm>
          <a:prstGeom prst="rect">
            <a:avLst/>
          </a:prstGeom>
        </p:spPr>
      </p:pic>
    </p:spTree>
    <p:extLst>
      <p:ext uri="{BB962C8B-B14F-4D97-AF65-F5344CB8AC3E}">
        <p14:creationId xmlns:p14="http://schemas.microsoft.com/office/powerpoint/2010/main" val="2259848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8549" y="319605"/>
            <a:ext cx="8994287" cy="513945"/>
          </a:xfrm>
          <a:prstGeom prst="rect">
            <a:avLst/>
          </a:prstGeom>
        </p:spPr>
        <p:txBody>
          <a:bodyPr vert="horz" wrap="square" lIns="0" tIns="11516" rIns="0" bIns="0" rtlCol="0" anchor="ctr">
            <a:spAutoFit/>
          </a:bodyPr>
          <a:lstStyle/>
          <a:p>
            <a:pPr marL="11516">
              <a:lnSpc>
                <a:spcPct val="100000"/>
              </a:lnSpc>
              <a:spcBef>
                <a:spcPts val="91"/>
              </a:spcBef>
            </a:pPr>
            <a:r>
              <a:rPr sz="3264" b="1" spc="-5" dirty="0">
                <a:solidFill>
                  <a:srgbClr val="538DD3"/>
                </a:solidFill>
              </a:rPr>
              <a:t>Red</a:t>
            </a:r>
            <a:r>
              <a:rPr sz="3264" b="1" spc="-45" dirty="0">
                <a:solidFill>
                  <a:srgbClr val="538DD3"/>
                </a:solidFill>
              </a:rPr>
              <a:t> </a:t>
            </a:r>
            <a:r>
              <a:rPr sz="3264" b="1" spc="-5" dirty="0">
                <a:solidFill>
                  <a:srgbClr val="538DD3"/>
                </a:solidFill>
              </a:rPr>
              <a:t>Neuronal</a:t>
            </a:r>
            <a:r>
              <a:rPr sz="3264" b="1" spc="-41" dirty="0">
                <a:solidFill>
                  <a:srgbClr val="538DD3"/>
                </a:solidFill>
              </a:rPr>
              <a:t> </a:t>
            </a:r>
            <a:r>
              <a:rPr sz="3264" b="1" spc="-5" dirty="0">
                <a:solidFill>
                  <a:srgbClr val="538DD3"/>
                </a:solidFill>
              </a:rPr>
              <a:t>Artificial</a:t>
            </a:r>
            <a:r>
              <a:rPr lang="es-ES" sz="3264" b="1" spc="-5" dirty="0">
                <a:solidFill>
                  <a:srgbClr val="538DD3"/>
                </a:solidFill>
              </a:rPr>
              <a:t>. Algunas nociones básicas</a:t>
            </a:r>
            <a:endParaRPr sz="3264" dirty="0"/>
          </a:p>
        </p:txBody>
      </p:sp>
      <p:sp>
        <p:nvSpPr>
          <p:cNvPr id="4" name="CuadroTexto 3"/>
          <p:cNvSpPr txBox="1"/>
          <p:nvPr/>
        </p:nvSpPr>
        <p:spPr>
          <a:xfrm>
            <a:off x="1881007" y="2392526"/>
            <a:ext cx="8637280" cy="343492"/>
          </a:xfrm>
          <a:prstGeom prst="rect">
            <a:avLst/>
          </a:prstGeom>
          <a:noFill/>
        </p:spPr>
        <p:txBody>
          <a:bodyPr wrap="square" rtlCol="0">
            <a:spAutoFit/>
          </a:bodyPr>
          <a:lstStyle/>
          <a:p>
            <a:r>
              <a:rPr lang="es-ES" sz="1632" dirty="0"/>
              <a:t> </a:t>
            </a:r>
          </a:p>
        </p:txBody>
      </p:sp>
      <p:sp>
        <p:nvSpPr>
          <p:cNvPr id="5" name="Rectángulo 4"/>
          <p:cNvSpPr/>
          <p:nvPr/>
        </p:nvSpPr>
        <p:spPr>
          <a:xfrm>
            <a:off x="1500967" y="905942"/>
            <a:ext cx="9051869" cy="6541791"/>
          </a:xfrm>
          <a:prstGeom prst="rect">
            <a:avLst/>
          </a:prstGeom>
        </p:spPr>
        <p:txBody>
          <a:bodyPr wrap="square">
            <a:spAutoFit/>
          </a:bodyPr>
          <a:lstStyle/>
          <a:p>
            <a:pPr marL="259118" indent="-259118" algn="just">
              <a:lnSpc>
                <a:spcPct val="150000"/>
              </a:lnSpc>
              <a:buFont typeface="Wingdings" panose="05000000000000000000" pitchFamily="2" charset="2"/>
              <a:buChar char="q"/>
            </a:pPr>
            <a:r>
              <a:rPr lang="es-ES" sz="1542" dirty="0"/>
              <a:t>Las neuronas artificiales se conectan entre sí para transmitirse señales.</a:t>
            </a:r>
          </a:p>
          <a:p>
            <a:pPr marL="259118" indent="-259118" algn="just">
              <a:lnSpc>
                <a:spcPct val="150000"/>
              </a:lnSpc>
              <a:buFont typeface="Wingdings" panose="05000000000000000000" pitchFamily="2" charset="2"/>
              <a:buChar char="q"/>
            </a:pPr>
            <a:r>
              <a:rPr lang="es-ES" sz="1542" dirty="0"/>
              <a:t>La información de entrada llega a una neurona. Mientras la atraviesa sufre distintas operaciones, obteniéndose un valor de salida.</a:t>
            </a:r>
          </a:p>
          <a:p>
            <a:pPr marL="259118" indent="-259118" algn="just">
              <a:lnSpc>
                <a:spcPct val="150000"/>
              </a:lnSpc>
              <a:buFont typeface="Wingdings" panose="05000000000000000000" pitchFamily="2" charset="2"/>
              <a:buChar char="q"/>
            </a:pPr>
            <a:r>
              <a:rPr lang="es-ES" sz="1542" dirty="0"/>
              <a:t>Las neuronas se conectan entre sí mediante </a:t>
            </a:r>
            <a:r>
              <a:rPr lang="es-ES" sz="1542" b="1" dirty="0"/>
              <a:t>enlaces</a:t>
            </a:r>
            <a:r>
              <a:rPr lang="es-ES" sz="1542" dirty="0"/>
              <a:t>.</a:t>
            </a:r>
          </a:p>
          <a:p>
            <a:pPr marL="259118" indent="-259118" algn="just">
              <a:lnSpc>
                <a:spcPct val="150000"/>
              </a:lnSpc>
              <a:buFont typeface="Wingdings" panose="05000000000000000000" pitchFamily="2" charset="2"/>
              <a:buChar char="q"/>
            </a:pPr>
            <a:r>
              <a:rPr lang="es-ES" sz="1542" dirty="0"/>
              <a:t>En los enlaces el valor de salida de la neurona anterior se multiplica por un </a:t>
            </a:r>
            <a:r>
              <a:rPr lang="es-ES" sz="1542" b="1" dirty="0"/>
              <a:t>peso</a:t>
            </a:r>
            <a:r>
              <a:rPr lang="es-ES" sz="1542" dirty="0"/>
              <a:t>. </a:t>
            </a:r>
          </a:p>
          <a:p>
            <a:pPr marL="259118" indent="-259118" algn="just">
              <a:lnSpc>
                <a:spcPct val="150000"/>
              </a:lnSpc>
              <a:buFont typeface="Wingdings" panose="05000000000000000000" pitchFamily="2" charset="2"/>
              <a:buChar char="q"/>
            </a:pPr>
            <a:r>
              <a:rPr lang="es-ES" sz="1542" dirty="0"/>
              <a:t>Estos pesos en los enlaces pueden </a:t>
            </a:r>
            <a:r>
              <a:rPr lang="es-ES" sz="1542" b="1" dirty="0"/>
              <a:t>incrementar o inhibir</a:t>
            </a:r>
            <a:r>
              <a:rPr lang="es-ES" sz="1542" dirty="0"/>
              <a:t> el estado de activación de las </a:t>
            </a:r>
            <a:r>
              <a:rPr lang="es-ES" sz="1542" b="1" dirty="0"/>
              <a:t>neuronas adyacentes</a:t>
            </a:r>
            <a:r>
              <a:rPr lang="es-ES" sz="1542" dirty="0"/>
              <a:t>. </a:t>
            </a:r>
          </a:p>
          <a:p>
            <a:pPr marL="259118" indent="-259118" algn="just">
              <a:lnSpc>
                <a:spcPct val="150000"/>
              </a:lnSpc>
              <a:buFont typeface="Wingdings" panose="05000000000000000000" pitchFamily="2" charset="2"/>
              <a:buChar char="q"/>
            </a:pPr>
            <a:r>
              <a:rPr lang="es-ES" sz="1542" dirty="0"/>
              <a:t>La conexión entre neuronas se lleva a cabo mediante </a:t>
            </a:r>
            <a:r>
              <a:rPr lang="es-ES" sz="1542" b="1" dirty="0"/>
              <a:t>funciones de combinación</a:t>
            </a:r>
          </a:p>
          <a:p>
            <a:pPr marL="259118" indent="-259118" algn="just">
              <a:lnSpc>
                <a:spcPct val="150000"/>
              </a:lnSpc>
              <a:buFont typeface="Wingdings" panose="05000000000000000000" pitchFamily="2" charset="2"/>
              <a:buChar char="q"/>
            </a:pPr>
            <a:r>
              <a:rPr lang="es-ES" sz="1542" dirty="0"/>
              <a:t>A la salida de la neurona, puede existir una </a:t>
            </a:r>
            <a:r>
              <a:rPr lang="es-ES" sz="1542" b="1" dirty="0"/>
              <a:t>función limitadora</a:t>
            </a:r>
            <a:r>
              <a:rPr lang="es-ES" sz="1542" dirty="0"/>
              <a:t> o </a:t>
            </a:r>
            <a:r>
              <a:rPr lang="es-ES" sz="1542" b="1" dirty="0"/>
              <a:t>umbral</a:t>
            </a:r>
            <a:r>
              <a:rPr lang="es-ES" sz="1542" dirty="0"/>
              <a:t> que modifica el valor resultado o impone un límite que no se debe sobrepasar antes de propagarse a otra neurona. Es la </a:t>
            </a:r>
            <a:r>
              <a:rPr lang="es-ES" sz="1542" b="1" dirty="0"/>
              <a:t>función de activación</a:t>
            </a:r>
            <a:r>
              <a:rPr lang="es-ES" sz="1542" dirty="0"/>
              <a:t>.</a:t>
            </a:r>
          </a:p>
          <a:p>
            <a:pPr marL="259118" indent="-259118" algn="just">
              <a:lnSpc>
                <a:spcPct val="150000"/>
              </a:lnSpc>
              <a:buFont typeface="Wingdings" panose="05000000000000000000" pitchFamily="2" charset="2"/>
              <a:buChar char="q"/>
            </a:pPr>
            <a:r>
              <a:rPr lang="es-ES" sz="1542" dirty="0"/>
              <a:t>En este módulo se trabajará con redes neuronales </a:t>
            </a:r>
            <a:r>
              <a:rPr lang="es-ES" sz="1542" b="1" dirty="0"/>
              <a:t>supervisadas: </a:t>
            </a:r>
            <a:r>
              <a:rPr lang="es-ES" sz="1542" dirty="0"/>
              <a:t>la</a:t>
            </a:r>
            <a:r>
              <a:rPr lang="es-ES" sz="1542" b="1" dirty="0"/>
              <a:t> </a:t>
            </a:r>
            <a:r>
              <a:rPr lang="es-ES" sz="1542" dirty="0"/>
              <a:t>red recibe pares de entrada y salida conocidos durante el entrenamiento y ajusta sus pesos para minimizar la diferencia entre las salidas predichas y las reales.</a:t>
            </a:r>
          </a:p>
          <a:p>
            <a:pPr marL="259118" indent="-259118" algn="just">
              <a:lnSpc>
                <a:spcPct val="150000"/>
              </a:lnSpc>
              <a:buFont typeface="Wingdings" panose="05000000000000000000" pitchFamily="2" charset="2"/>
              <a:buChar char="q"/>
            </a:pPr>
            <a:r>
              <a:rPr lang="es-ES" sz="1542" dirty="0"/>
              <a:t>Como parte del proceso de aprendizaje en redes neuronales supervisadas: </a:t>
            </a:r>
            <a:r>
              <a:rPr lang="es-ES" sz="1542" b="1" dirty="0"/>
              <a:t>funciones </a:t>
            </a:r>
            <a:r>
              <a:rPr lang="es-ES" sz="1542" dirty="0"/>
              <a:t>de </a:t>
            </a:r>
            <a:r>
              <a:rPr lang="es-ES" sz="1542" b="1" dirty="0"/>
              <a:t>aprendizaje, pérdida o coste</a:t>
            </a:r>
            <a:r>
              <a:rPr lang="es-ES" sz="1542" dirty="0"/>
              <a:t>, que evalúan la discrepancia entre las predicciones y las etiquetas durante el entrenamiento</a:t>
            </a:r>
          </a:p>
          <a:p>
            <a:pPr marL="259118" indent="-259118" algn="just">
              <a:lnSpc>
                <a:spcPct val="150000"/>
              </a:lnSpc>
              <a:buFont typeface="Wingdings" panose="05000000000000000000" pitchFamily="2" charset="2"/>
              <a:buChar char="q"/>
            </a:pPr>
            <a:endParaRPr lang="es-ES" sz="1632" b="1" dirty="0"/>
          </a:p>
          <a:p>
            <a:pPr marL="259118" indent="-259118" algn="just">
              <a:lnSpc>
                <a:spcPct val="150000"/>
              </a:lnSpc>
              <a:buFont typeface="Wingdings" panose="05000000000000000000" pitchFamily="2" charset="2"/>
              <a:buChar char="q"/>
            </a:pPr>
            <a:endParaRPr lang="es-ES" sz="1632" b="1" dirty="0"/>
          </a:p>
        </p:txBody>
      </p:sp>
    </p:spTree>
    <p:extLst>
      <p:ext uri="{BB962C8B-B14F-4D97-AF65-F5344CB8AC3E}">
        <p14:creationId xmlns:p14="http://schemas.microsoft.com/office/powerpoint/2010/main" val="37476044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87813" y="355123"/>
            <a:ext cx="4212113" cy="513945"/>
          </a:xfrm>
          <a:prstGeom prst="rect">
            <a:avLst/>
          </a:prstGeom>
        </p:spPr>
        <p:txBody>
          <a:bodyPr vert="horz" wrap="square" lIns="0" tIns="11516" rIns="0" bIns="0" rtlCol="0" anchor="ctr">
            <a:spAutoFit/>
          </a:bodyPr>
          <a:lstStyle/>
          <a:p>
            <a:pPr marL="11516">
              <a:lnSpc>
                <a:spcPct val="100000"/>
              </a:lnSpc>
              <a:spcBef>
                <a:spcPts val="91"/>
              </a:spcBef>
            </a:pPr>
            <a:r>
              <a:rPr sz="3264" b="1" spc="-5" dirty="0">
                <a:solidFill>
                  <a:srgbClr val="538DD3"/>
                </a:solidFill>
              </a:rPr>
              <a:t>Red</a:t>
            </a:r>
            <a:r>
              <a:rPr sz="3264" b="1" spc="-45" dirty="0">
                <a:solidFill>
                  <a:srgbClr val="538DD3"/>
                </a:solidFill>
              </a:rPr>
              <a:t> </a:t>
            </a:r>
            <a:r>
              <a:rPr sz="3264" b="1" spc="-5" dirty="0">
                <a:solidFill>
                  <a:srgbClr val="538DD3"/>
                </a:solidFill>
              </a:rPr>
              <a:t>Neuronal</a:t>
            </a:r>
            <a:r>
              <a:rPr sz="3264" b="1" spc="-41" dirty="0">
                <a:solidFill>
                  <a:srgbClr val="538DD3"/>
                </a:solidFill>
              </a:rPr>
              <a:t> </a:t>
            </a:r>
            <a:r>
              <a:rPr sz="3264" b="1" spc="-5" dirty="0">
                <a:solidFill>
                  <a:srgbClr val="538DD3"/>
                </a:solidFill>
              </a:rPr>
              <a:t>Artificial</a:t>
            </a:r>
            <a:endParaRPr sz="3264"/>
          </a:p>
        </p:txBody>
      </p:sp>
      <p:sp>
        <p:nvSpPr>
          <p:cNvPr id="4" name="CuadroTexto 3"/>
          <p:cNvSpPr txBox="1"/>
          <p:nvPr/>
        </p:nvSpPr>
        <p:spPr>
          <a:xfrm>
            <a:off x="1535517" y="872366"/>
            <a:ext cx="8844574" cy="5395772"/>
          </a:xfrm>
          <a:prstGeom prst="rect">
            <a:avLst/>
          </a:prstGeom>
          <a:noFill/>
        </p:spPr>
        <p:txBody>
          <a:bodyPr wrap="square" rtlCol="0">
            <a:spAutoFit/>
          </a:bodyPr>
          <a:lstStyle/>
          <a:p>
            <a:pPr marL="259118" indent="-259118" algn="just">
              <a:lnSpc>
                <a:spcPct val="150000"/>
              </a:lnSpc>
              <a:buFont typeface="Arial" panose="020B0604020202020204" pitchFamily="34" charset="0"/>
              <a:buChar char="•"/>
            </a:pPr>
            <a:r>
              <a:rPr lang="es-ES" sz="2176" b="1" dirty="0">
                <a:solidFill>
                  <a:srgbClr val="0070C0"/>
                </a:solidFill>
              </a:rPr>
              <a:t>Capa de entrada: </a:t>
            </a:r>
            <a:r>
              <a:rPr lang="es-ES" sz="1814" dirty="0"/>
              <a:t>los nodos de esta capa son las </a:t>
            </a:r>
            <a:r>
              <a:rPr lang="es-ES" sz="1814" b="1" dirty="0"/>
              <a:t>variables de entrada </a:t>
            </a:r>
            <a:r>
              <a:rPr lang="es-ES" sz="1814" dirty="0"/>
              <a:t>disponibles en el conjunto de datos o </a:t>
            </a:r>
            <a:r>
              <a:rPr lang="es-ES" sz="1814" b="1" dirty="0"/>
              <a:t>variables independientes</a:t>
            </a:r>
            <a:r>
              <a:rPr lang="es-ES" sz="1814" dirty="0"/>
              <a:t>. Contiene los nodos </a:t>
            </a:r>
            <a:r>
              <a:rPr lang="es-ES" sz="1814" b="1" dirty="0"/>
              <a:t>input</a:t>
            </a:r>
          </a:p>
          <a:p>
            <a:pPr marL="259118" indent="-259118" algn="just">
              <a:lnSpc>
                <a:spcPct val="150000"/>
              </a:lnSpc>
              <a:buFont typeface="Arial" panose="020B0604020202020204" pitchFamily="34" charset="0"/>
              <a:buChar char="•"/>
            </a:pPr>
            <a:r>
              <a:rPr lang="es-ES" sz="2176" b="1" dirty="0">
                <a:solidFill>
                  <a:srgbClr val="0070C0"/>
                </a:solidFill>
              </a:rPr>
              <a:t>Capa oculta: </a:t>
            </a:r>
            <a:r>
              <a:rPr lang="es-ES" sz="1814" dirty="0"/>
              <a:t>en esta capa hay variables “</a:t>
            </a:r>
            <a:r>
              <a:rPr lang="es-ES" sz="1814" b="1" dirty="0"/>
              <a:t>artificiales</a:t>
            </a:r>
            <a:r>
              <a:rPr lang="es-ES" sz="1814" dirty="0"/>
              <a:t>” o </a:t>
            </a:r>
            <a:r>
              <a:rPr lang="es-ES" sz="1814" b="1" dirty="0"/>
              <a:t>nodos ocultos</a:t>
            </a:r>
            <a:r>
              <a:rPr lang="es-ES" sz="1814" dirty="0"/>
              <a:t> </a:t>
            </a:r>
            <a:r>
              <a:rPr lang="es-ES" sz="1814" u="sng" dirty="0"/>
              <a:t>que en general no existen en los datos</a:t>
            </a:r>
            <a:r>
              <a:rPr lang="es-ES" sz="1814" dirty="0"/>
              <a:t>. Estas variables conectan la entrada con la salida, y permiten construir la función que se utiliza para determinar la variable de salida en función de las variables de entrada. En general, trabajaremos con redes neuronales con </a:t>
            </a:r>
            <a:r>
              <a:rPr lang="es-ES" sz="1814" b="1" dirty="0"/>
              <a:t>una</a:t>
            </a:r>
            <a:r>
              <a:rPr lang="es-ES" sz="1814" dirty="0"/>
              <a:t> sola capa oculta. Los problemas con más de una capa oculta se abordan con técnicas de </a:t>
            </a:r>
            <a:r>
              <a:rPr lang="es-ES" sz="1814" i="1" dirty="0" err="1"/>
              <a:t>deep</a:t>
            </a:r>
            <a:r>
              <a:rPr lang="es-ES" sz="1814" i="1" dirty="0"/>
              <a:t> </a:t>
            </a:r>
            <a:r>
              <a:rPr lang="es-ES" sz="1814" i="1" dirty="0" err="1"/>
              <a:t>learning</a:t>
            </a:r>
            <a:r>
              <a:rPr lang="es-ES" sz="1814" i="1" dirty="0"/>
              <a:t>.</a:t>
            </a:r>
            <a:endParaRPr lang="es-ES" sz="2176" dirty="0"/>
          </a:p>
          <a:p>
            <a:pPr marL="259118" indent="-259118" algn="just">
              <a:lnSpc>
                <a:spcPct val="150000"/>
              </a:lnSpc>
              <a:buFont typeface="Arial" panose="020B0604020202020204" pitchFamily="34" charset="0"/>
              <a:buChar char="•"/>
            </a:pPr>
            <a:r>
              <a:rPr lang="es-ES" sz="2176" b="1" dirty="0">
                <a:solidFill>
                  <a:srgbClr val="0070C0"/>
                </a:solidFill>
              </a:rPr>
              <a:t>Capa de salida:</a:t>
            </a:r>
            <a:r>
              <a:rPr lang="es-ES" sz="2176" dirty="0"/>
              <a:t> </a:t>
            </a:r>
            <a:r>
              <a:rPr lang="es-ES" sz="1814" dirty="0"/>
              <a:t>contiene la </a:t>
            </a:r>
            <a:r>
              <a:rPr lang="es-ES" sz="1814" b="1" dirty="0"/>
              <a:t>variable</a:t>
            </a:r>
            <a:r>
              <a:rPr lang="es-ES" sz="1814" dirty="0"/>
              <a:t> </a:t>
            </a:r>
            <a:r>
              <a:rPr lang="es-ES" sz="1814" b="1" dirty="0"/>
              <a:t>respuesta</a:t>
            </a:r>
            <a:r>
              <a:rPr lang="es-ES" sz="1814" dirty="0"/>
              <a:t> o </a:t>
            </a:r>
            <a:r>
              <a:rPr lang="es-ES" sz="1814" b="1" dirty="0"/>
              <a:t>dependiente </a:t>
            </a:r>
            <a:r>
              <a:rPr lang="es-ES" sz="1814" dirty="0"/>
              <a:t>(puede haber uno o varios nodos, tantos como características se quieran predecir, clasificar o explicar). Puede ser continua o cualitativa.</a:t>
            </a:r>
          </a:p>
          <a:p>
            <a:endParaRPr lang="es-ES" sz="1451" dirty="0"/>
          </a:p>
          <a:p>
            <a:endParaRPr lang="es-ES" sz="1451" dirty="0"/>
          </a:p>
        </p:txBody>
      </p:sp>
    </p:spTree>
    <p:extLst>
      <p:ext uri="{BB962C8B-B14F-4D97-AF65-F5344CB8AC3E}">
        <p14:creationId xmlns:p14="http://schemas.microsoft.com/office/powerpoint/2010/main" val="7580072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04900" y="288903"/>
            <a:ext cx="2580243" cy="513945"/>
          </a:xfrm>
          <a:prstGeom prst="rect">
            <a:avLst/>
          </a:prstGeom>
        </p:spPr>
        <p:txBody>
          <a:bodyPr vert="horz" wrap="square" lIns="0" tIns="11516" rIns="0" bIns="0" rtlCol="0" anchor="ctr">
            <a:spAutoFit/>
          </a:bodyPr>
          <a:lstStyle/>
          <a:p>
            <a:pPr marL="11516">
              <a:lnSpc>
                <a:spcPct val="100000"/>
              </a:lnSpc>
              <a:spcBef>
                <a:spcPts val="91"/>
              </a:spcBef>
            </a:pPr>
            <a:r>
              <a:rPr sz="3264" b="1" dirty="0">
                <a:solidFill>
                  <a:srgbClr val="538DD3"/>
                </a:solidFill>
                <a:latin typeface="Times New Roman"/>
                <a:cs typeface="Times New Roman"/>
              </a:rPr>
              <a:t>Planteamiento</a:t>
            </a:r>
            <a:endParaRPr sz="3264" dirty="0">
              <a:latin typeface="Times New Roman"/>
              <a:cs typeface="Times New Roman"/>
            </a:endParaRPr>
          </a:p>
        </p:txBody>
      </p:sp>
      <p:sp>
        <p:nvSpPr>
          <p:cNvPr id="3" name="object 3"/>
          <p:cNvSpPr txBox="1"/>
          <p:nvPr/>
        </p:nvSpPr>
        <p:spPr>
          <a:xfrm>
            <a:off x="2186718" y="3705393"/>
            <a:ext cx="8029215" cy="2627478"/>
          </a:xfrm>
          <a:prstGeom prst="rect">
            <a:avLst/>
          </a:prstGeom>
        </p:spPr>
        <p:txBody>
          <a:bodyPr vert="horz" wrap="square" lIns="0" tIns="181383" rIns="0" bIns="0" rtlCol="0">
            <a:spAutoFit/>
          </a:bodyPr>
          <a:lstStyle/>
          <a:p>
            <a:pPr marL="11516">
              <a:spcBef>
                <a:spcPts val="1428"/>
              </a:spcBef>
            </a:pPr>
            <a:r>
              <a:rPr sz="2267" spc="-9" dirty="0">
                <a:latin typeface="Times New Roman"/>
                <a:cs typeface="Times New Roman"/>
              </a:rPr>
              <a:t>Una</a:t>
            </a:r>
            <a:r>
              <a:rPr sz="2267" spc="-5" dirty="0">
                <a:latin typeface="Times New Roman"/>
                <a:cs typeface="Times New Roman"/>
              </a:rPr>
              <a:t> Red Neuronal es </a:t>
            </a:r>
            <a:r>
              <a:rPr sz="2267" dirty="0">
                <a:latin typeface="Times New Roman"/>
                <a:cs typeface="Times New Roman"/>
              </a:rPr>
              <a:t>en</a:t>
            </a:r>
            <a:r>
              <a:rPr sz="2267" spc="-5" dirty="0">
                <a:latin typeface="Times New Roman"/>
                <a:cs typeface="Times New Roman"/>
              </a:rPr>
              <a:t> realidad </a:t>
            </a:r>
            <a:r>
              <a:rPr sz="2267" dirty="0">
                <a:latin typeface="Times New Roman"/>
                <a:cs typeface="Times New Roman"/>
              </a:rPr>
              <a:t>un</a:t>
            </a:r>
            <a:r>
              <a:rPr sz="2267" spc="5" dirty="0">
                <a:latin typeface="Times New Roman"/>
                <a:cs typeface="Times New Roman"/>
              </a:rPr>
              <a:t> </a:t>
            </a:r>
            <a:r>
              <a:rPr sz="2267" spc="-5" dirty="0">
                <a:latin typeface="Times New Roman"/>
                <a:cs typeface="Times New Roman"/>
              </a:rPr>
              <a:t>modelo </a:t>
            </a:r>
            <a:r>
              <a:rPr sz="2267" dirty="0">
                <a:latin typeface="Times New Roman"/>
                <a:cs typeface="Times New Roman"/>
              </a:rPr>
              <a:t>de</a:t>
            </a:r>
            <a:r>
              <a:rPr sz="2267" spc="-5" dirty="0">
                <a:latin typeface="Times New Roman"/>
                <a:cs typeface="Times New Roman"/>
              </a:rPr>
              <a:t> la forma</a:t>
            </a:r>
            <a:endParaRPr sz="2267" dirty="0">
              <a:latin typeface="Times New Roman"/>
              <a:cs typeface="Times New Roman"/>
            </a:endParaRPr>
          </a:p>
          <a:p>
            <a:pPr marL="3668536">
              <a:spcBef>
                <a:spcPts val="1179"/>
              </a:spcBef>
            </a:pPr>
            <a:r>
              <a:rPr sz="1995" b="1" i="1" spc="-5" dirty="0">
                <a:solidFill>
                  <a:srgbClr val="1F487C"/>
                </a:solidFill>
                <a:latin typeface="Times New Roman"/>
                <a:cs typeface="Times New Roman"/>
              </a:rPr>
              <a:t>y=f(x1,x2,x3,…)</a:t>
            </a:r>
            <a:endParaRPr sz="1995" i="1" dirty="0">
              <a:latin typeface="Times New Roman"/>
              <a:cs typeface="Times New Roman"/>
            </a:endParaRPr>
          </a:p>
          <a:p>
            <a:pPr marL="11516">
              <a:spcBef>
                <a:spcPts val="1106"/>
              </a:spcBef>
            </a:pPr>
            <a:r>
              <a:rPr sz="2267" spc="-5" dirty="0">
                <a:latin typeface="Times New Roman"/>
                <a:cs typeface="Times New Roman"/>
              </a:rPr>
              <a:t>donde </a:t>
            </a:r>
            <a:r>
              <a:rPr sz="2267" dirty="0">
                <a:latin typeface="Times New Roman"/>
                <a:cs typeface="Times New Roman"/>
              </a:rPr>
              <a:t>la</a:t>
            </a:r>
            <a:r>
              <a:rPr sz="2267" spc="-5" dirty="0">
                <a:latin typeface="Times New Roman"/>
                <a:cs typeface="Times New Roman"/>
              </a:rPr>
              <a:t> función </a:t>
            </a:r>
            <a:r>
              <a:rPr sz="2267" i="1" spc="-5" dirty="0">
                <a:latin typeface="Times New Roman"/>
                <a:cs typeface="Times New Roman"/>
              </a:rPr>
              <a:t>f</a:t>
            </a:r>
            <a:r>
              <a:rPr sz="2267" i="1" spc="5" dirty="0">
                <a:latin typeface="Times New Roman"/>
                <a:cs typeface="Times New Roman"/>
              </a:rPr>
              <a:t> </a:t>
            </a:r>
            <a:r>
              <a:rPr sz="2267" spc="-5" dirty="0">
                <a:latin typeface="Times New Roman"/>
                <a:cs typeface="Times New Roman"/>
              </a:rPr>
              <a:t>es por lo </a:t>
            </a:r>
            <a:r>
              <a:rPr sz="2267" dirty="0">
                <a:latin typeface="Times New Roman"/>
                <a:cs typeface="Times New Roman"/>
              </a:rPr>
              <a:t>general</a:t>
            </a:r>
            <a:r>
              <a:rPr sz="2267" spc="9" dirty="0">
                <a:latin typeface="Times New Roman"/>
                <a:cs typeface="Times New Roman"/>
              </a:rPr>
              <a:t> </a:t>
            </a:r>
            <a:r>
              <a:rPr sz="2267" spc="-5" dirty="0">
                <a:latin typeface="Times New Roman"/>
                <a:cs typeface="Times New Roman"/>
              </a:rPr>
              <a:t>no</a:t>
            </a:r>
            <a:r>
              <a:rPr sz="2267" dirty="0">
                <a:latin typeface="Times New Roman"/>
                <a:cs typeface="Times New Roman"/>
              </a:rPr>
              <a:t> </a:t>
            </a:r>
            <a:r>
              <a:rPr sz="2267" spc="-5" dirty="0">
                <a:latin typeface="Times New Roman"/>
                <a:cs typeface="Times New Roman"/>
              </a:rPr>
              <a:t>lineal.</a:t>
            </a:r>
            <a:endParaRPr sz="2267" dirty="0">
              <a:latin typeface="Times New Roman"/>
              <a:cs typeface="Times New Roman"/>
            </a:endParaRPr>
          </a:p>
          <a:p>
            <a:pPr>
              <a:spcBef>
                <a:spcPts val="5"/>
              </a:spcBef>
            </a:pPr>
            <a:endParaRPr sz="2176" dirty="0">
              <a:latin typeface="Times New Roman"/>
              <a:cs typeface="Times New Roman"/>
            </a:endParaRPr>
          </a:p>
          <a:p>
            <a:pPr marL="11516"/>
            <a:r>
              <a:rPr sz="2267" spc="-5" dirty="0">
                <a:latin typeface="Times New Roman"/>
                <a:cs typeface="Times New Roman"/>
              </a:rPr>
              <a:t>Ejemplo</a:t>
            </a:r>
            <a:r>
              <a:rPr sz="2267" spc="-23" dirty="0">
                <a:latin typeface="Times New Roman"/>
                <a:cs typeface="Times New Roman"/>
              </a:rPr>
              <a:t> </a:t>
            </a:r>
            <a:r>
              <a:rPr sz="2267" dirty="0">
                <a:latin typeface="Times New Roman"/>
                <a:cs typeface="Times New Roman"/>
              </a:rPr>
              <a:t>de</a:t>
            </a:r>
            <a:r>
              <a:rPr sz="2267" spc="-18" dirty="0">
                <a:latin typeface="Times New Roman"/>
                <a:cs typeface="Times New Roman"/>
              </a:rPr>
              <a:t> </a:t>
            </a:r>
            <a:r>
              <a:rPr sz="2267" spc="-5" dirty="0">
                <a:latin typeface="Times New Roman"/>
                <a:cs typeface="Times New Roman"/>
              </a:rPr>
              <a:t>red:</a:t>
            </a:r>
            <a:endParaRPr sz="2267" dirty="0">
              <a:latin typeface="Times New Roman"/>
              <a:cs typeface="Times New Roman"/>
            </a:endParaRPr>
          </a:p>
          <a:p>
            <a:pPr marL="11516">
              <a:spcBef>
                <a:spcPts val="1165"/>
              </a:spcBef>
            </a:pPr>
            <a:r>
              <a:rPr sz="1995" dirty="0">
                <a:latin typeface="Times New Roman"/>
                <a:cs typeface="Times New Roman"/>
              </a:rPr>
              <a:t>y=</a:t>
            </a:r>
            <a:r>
              <a:rPr sz="1632" dirty="0">
                <a:latin typeface="Courier New"/>
                <a:cs typeface="Courier New"/>
              </a:rPr>
              <a:t>29.8+85.2*tanh(-0.9+2.1*</a:t>
            </a:r>
            <a:r>
              <a:rPr sz="1632" dirty="0">
                <a:solidFill>
                  <a:srgbClr val="1F487C"/>
                </a:solidFill>
                <a:latin typeface="Courier New"/>
                <a:cs typeface="Courier New"/>
              </a:rPr>
              <a:t>X1</a:t>
            </a:r>
            <a:r>
              <a:rPr sz="1632" dirty="0">
                <a:latin typeface="Courier New"/>
                <a:cs typeface="Courier New"/>
              </a:rPr>
              <a:t>-0.15*</a:t>
            </a:r>
            <a:r>
              <a:rPr sz="1632" dirty="0">
                <a:solidFill>
                  <a:srgbClr val="1F487C"/>
                </a:solidFill>
                <a:latin typeface="Courier New"/>
                <a:cs typeface="Courier New"/>
              </a:rPr>
              <a:t>X2</a:t>
            </a:r>
            <a:r>
              <a:rPr sz="1632" dirty="0">
                <a:latin typeface="Courier New"/>
                <a:cs typeface="Courier New"/>
              </a:rPr>
              <a:t>)-79*tanh(-3.5+5*</a:t>
            </a:r>
            <a:r>
              <a:rPr sz="1632" dirty="0">
                <a:solidFill>
                  <a:srgbClr val="1F487C"/>
                </a:solidFill>
                <a:latin typeface="Courier New"/>
                <a:cs typeface="Courier New"/>
              </a:rPr>
              <a:t>X1</a:t>
            </a:r>
            <a:r>
              <a:rPr sz="1632" dirty="0">
                <a:latin typeface="Courier New"/>
                <a:cs typeface="Courier New"/>
              </a:rPr>
              <a:t>+0.01*</a:t>
            </a:r>
            <a:r>
              <a:rPr sz="1632" dirty="0">
                <a:solidFill>
                  <a:srgbClr val="1F487C"/>
                </a:solidFill>
                <a:latin typeface="Courier New"/>
                <a:cs typeface="Courier New"/>
              </a:rPr>
              <a:t>X2</a:t>
            </a:r>
            <a:r>
              <a:rPr sz="1632" dirty="0">
                <a:latin typeface="Courier New"/>
                <a:cs typeface="Courier New"/>
              </a:rPr>
              <a:t>)</a:t>
            </a:r>
          </a:p>
        </p:txBody>
      </p:sp>
      <p:pic>
        <p:nvPicPr>
          <p:cNvPr id="4" name="object 4"/>
          <p:cNvPicPr/>
          <p:nvPr/>
        </p:nvPicPr>
        <p:blipFill>
          <a:blip r:embed="rId2" cstate="print"/>
          <a:stretch>
            <a:fillRect/>
          </a:stretch>
        </p:blipFill>
        <p:spPr>
          <a:xfrm>
            <a:off x="1881008" y="1148759"/>
            <a:ext cx="3610410" cy="2225499"/>
          </a:xfrm>
          <a:prstGeom prst="rect">
            <a:avLst/>
          </a:prstGeom>
        </p:spPr>
      </p:pic>
      <p:sp>
        <p:nvSpPr>
          <p:cNvPr id="6" name="CuadroTexto 5"/>
          <p:cNvSpPr txBox="1"/>
          <p:nvPr/>
        </p:nvSpPr>
        <p:spPr>
          <a:xfrm>
            <a:off x="5502934" y="1237083"/>
            <a:ext cx="5167702" cy="2046586"/>
          </a:xfrm>
          <a:prstGeom prst="rect">
            <a:avLst/>
          </a:prstGeom>
          <a:noFill/>
        </p:spPr>
        <p:txBody>
          <a:bodyPr wrap="square" rtlCol="0">
            <a:spAutoFit/>
          </a:bodyPr>
          <a:lstStyle/>
          <a:p>
            <a:pPr algn="just"/>
            <a:r>
              <a:rPr lang="es-ES" sz="1814" dirty="0"/>
              <a:t>Al construir una red neuronal estamos definiendo un </a:t>
            </a:r>
            <a:r>
              <a:rPr lang="es-ES" sz="1814" b="1" dirty="0"/>
              <a:t>modelo</a:t>
            </a:r>
            <a:r>
              <a:rPr lang="es-ES" sz="1814" dirty="0"/>
              <a:t> que relaciona las entradas o los nodos de la capa de entrada (variables independientes) mediante una función que viene asociada por las </a:t>
            </a:r>
            <a:r>
              <a:rPr lang="es-ES" sz="1814" b="1" dirty="0"/>
              <a:t>relaciones existentes </a:t>
            </a:r>
            <a:r>
              <a:rPr lang="es-ES" sz="1814" dirty="0"/>
              <a:t>entre cada uno de los nodos de las distintas capas, con la variable respuesta de la capa de salida. En general estas funciones </a:t>
            </a:r>
            <a:r>
              <a:rPr lang="es-ES" sz="1814" b="1" dirty="0"/>
              <a:t>no son lineales</a:t>
            </a:r>
            <a:r>
              <a:rPr lang="es-ES" sz="1814" dirty="0"/>
              <a:t>.</a:t>
            </a:r>
          </a:p>
        </p:txBody>
      </p:sp>
    </p:spTree>
    <p:extLst>
      <p:ext uri="{BB962C8B-B14F-4D97-AF65-F5344CB8AC3E}">
        <p14:creationId xmlns:p14="http://schemas.microsoft.com/office/powerpoint/2010/main" val="16741410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01169" y="638228"/>
            <a:ext cx="5772466" cy="401796"/>
          </a:xfrm>
          <a:prstGeom prst="rect">
            <a:avLst/>
          </a:prstGeom>
        </p:spPr>
        <p:txBody>
          <a:bodyPr vert="horz" wrap="square" lIns="0" tIns="10941" rIns="0" bIns="0" rtlCol="0" anchor="ctr">
            <a:spAutoFit/>
          </a:bodyPr>
          <a:lstStyle/>
          <a:p>
            <a:pPr marL="11516">
              <a:lnSpc>
                <a:spcPct val="100000"/>
              </a:lnSpc>
              <a:spcBef>
                <a:spcPts val="86"/>
              </a:spcBef>
            </a:pPr>
            <a:r>
              <a:rPr lang="es-ES" sz="2539" b="1" spc="-5" dirty="0">
                <a:latin typeface="Times New Roman"/>
                <a:cs typeface="Times New Roman"/>
              </a:rPr>
              <a:t>¿</a:t>
            </a:r>
            <a:r>
              <a:rPr sz="2539" b="1" spc="-5" dirty="0" err="1">
                <a:latin typeface="Times New Roman"/>
                <a:cs typeface="Times New Roman"/>
              </a:rPr>
              <a:t>Cuándo</a:t>
            </a:r>
            <a:r>
              <a:rPr sz="2539" b="1" spc="-5" dirty="0">
                <a:latin typeface="Times New Roman"/>
                <a:cs typeface="Times New Roman"/>
              </a:rPr>
              <a:t> </a:t>
            </a:r>
            <a:r>
              <a:rPr sz="2539" b="1" spc="-9" dirty="0">
                <a:latin typeface="Times New Roman"/>
                <a:cs typeface="Times New Roman"/>
              </a:rPr>
              <a:t>utilizar</a:t>
            </a:r>
            <a:r>
              <a:rPr sz="2539" b="1" spc="-5" dirty="0">
                <a:latin typeface="Times New Roman"/>
                <a:cs typeface="Times New Roman"/>
              </a:rPr>
              <a:t> las</a:t>
            </a:r>
            <a:r>
              <a:rPr sz="2539" b="1" spc="9" dirty="0">
                <a:latin typeface="Times New Roman"/>
                <a:cs typeface="Times New Roman"/>
              </a:rPr>
              <a:t> </a:t>
            </a:r>
            <a:r>
              <a:rPr sz="2539" b="1" spc="-9" dirty="0" err="1">
                <a:latin typeface="Times New Roman"/>
                <a:cs typeface="Times New Roman"/>
              </a:rPr>
              <a:t>redes</a:t>
            </a:r>
            <a:r>
              <a:rPr sz="2539" b="1" spc="9" dirty="0">
                <a:latin typeface="Times New Roman"/>
                <a:cs typeface="Times New Roman"/>
              </a:rPr>
              <a:t> </a:t>
            </a:r>
            <a:r>
              <a:rPr sz="2539" b="1" spc="-5" dirty="0" err="1">
                <a:latin typeface="Times New Roman"/>
                <a:cs typeface="Times New Roman"/>
              </a:rPr>
              <a:t>neuronales</a:t>
            </a:r>
            <a:r>
              <a:rPr lang="es-ES" sz="2539" b="1" spc="-5" dirty="0">
                <a:latin typeface="Times New Roman"/>
                <a:cs typeface="Times New Roman"/>
              </a:rPr>
              <a:t>?</a:t>
            </a:r>
            <a:endParaRPr sz="2539" dirty="0">
              <a:latin typeface="Times New Roman"/>
              <a:cs typeface="Times New Roman"/>
            </a:endParaRPr>
          </a:p>
        </p:txBody>
      </p:sp>
      <p:sp>
        <p:nvSpPr>
          <p:cNvPr id="3" name="object 3"/>
          <p:cNvSpPr txBox="1"/>
          <p:nvPr/>
        </p:nvSpPr>
        <p:spPr>
          <a:xfrm>
            <a:off x="1604615" y="1148759"/>
            <a:ext cx="8956054" cy="5301153"/>
          </a:xfrm>
          <a:prstGeom prst="rect">
            <a:avLst/>
          </a:prstGeom>
        </p:spPr>
        <p:txBody>
          <a:bodyPr vert="horz" wrap="square" lIns="0" tIns="11516" rIns="0" bIns="0" rtlCol="0">
            <a:spAutoFit/>
          </a:bodyPr>
          <a:lstStyle/>
          <a:p>
            <a:pPr marL="287909" indent="-276393" algn="just">
              <a:spcBef>
                <a:spcPts val="91"/>
              </a:spcBef>
              <a:buClr>
                <a:srgbClr val="4F6128"/>
              </a:buClr>
              <a:buFont typeface="Symbol"/>
              <a:buChar char=""/>
              <a:tabLst>
                <a:tab pos="287333" algn="l"/>
                <a:tab pos="287909" algn="l"/>
              </a:tabLst>
            </a:pPr>
            <a:r>
              <a:rPr sz="2176" b="1" spc="-5" dirty="0">
                <a:latin typeface="Times New Roman"/>
                <a:cs typeface="Times New Roman"/>
              </a:rPr>
              <a:t>No</a:t>
            </a:r>
            <a:r>
              <a:rPr sz="2176" b="1" spc="-9" dirty="0">
                <a:latin typeface="Times New Roman"/>
                <a:cs typeface="Times New Roman"/>
              </a:rPr>
              <a:t> </a:t>
            </a:r>
            <a:r>
              <a:rPr sz="2176" b="1" spc="-5" dirty="0">
                <a:latin typeface="Times New Roman"/>
                <a:cs typeface="Times New Roman"/>
              </a:rPr>
              <a:t>linealidad,</a:t>
            </a:r>
            <a:r>
              <a:rPr sz="2176" b="1" dirty="0">
                <a:latin typeface="Times New Roman"/>
                <a:cs typeface="Times New Roman"/>
              </a:rPr>
              <a:t> </a:t>
            </a:r>
            <a:r>
              <a:rPr sz="2176" dirty="0">
                <a:latin typeface="Times New Roman"/>
                <a:cs typeface="Times New Roman"/>
              </a:rPr>
              <a:t>funciones </a:t>
            </a:r>
            <a:r>
              <a:rPr sz="2176" spc="-5" dirty="0">
                <a:latin typeface="Times New Roman"/>
                <a:cs typeface="Times New Roman"/>
              </a:rPr>
              <a:t>desconocidas </a:t>
            </a:r>
            <a:r>
              <a:rPr sz="2176" dirty="0">
                <a:latin typeface="Times New Roman"/>
                <a:cs typeface="Times New Roman"/>
              </a:rPr>
              <a:t>entre </a:t>
            </a:r>
            <a:r>
              <a:rPr sz="2176" spc="-5" dirty="0">
                <a:latin typeface="Times New Roman"/>
                <a:cs typeface="Times New Roman"/>
              </a:rPr>
              <a:t>variables</a:t>
            </a:r>
            <a:r>
              <a:rPr sz="2176" spc="-9" dirty="0">
                <a:latin typeface="Times New Roman"/>
                <a:cs typeface="Times New Roman"/>
              </a:rPr>
              <a:t> </a:t>
            </a:r>
            <a:r>
              <a:rPr sz="2176" dirty="0">
                <a:latin typeface="Times New Roman"/>
                <a:cs typeface="Times New Roman"/>
              </a:rPr>
              <a:t>input y output</a:t>
            </a:r>
          </a:p>
          <a:p>
            <a:pPr algn="just">
              <a:spcBef>
                <a:spcPts val="9"/>
              </a:spcBef>
              <a:buClr>
                <a:srgbClr val="4F6128"/>
              </a:buClr>
              <a:buFont typeface="Symbol"/>
              <a:buChar char=""/>
            </a:pPr>
            <a:endParaRPr sz="2358" dirty="0">
              <a:latin typeface="Times New Roman"/>
              <a:cs typeface="Times New Roman"/>
            </a:endParaRPr>
          </a:p>
          <a:p>
            <a:pPr marL="218235" marR="4607" indent="-207294" algn="just">
              <a:lnSpc>
                <a:spcPts val="2503"/>
              </a:lnSpc>
              <a:buClr>
                <a:srgbClr val="4F6128"/>
              </a:buClr>
              <a:buFont typeface="Symbol"/>
              <a:buChar char=""/>
              <a:tabLst>
                <a:tab pos="218811" algn="l"/>
              </a:tabLst>
            </a:pPr>
            <a:r>
              <a:rPr sz="2176" b="1" spc="-5" dirty="0">
                <a:latin typeface="Times New Roman"/>
                <a:cs typeface="Times New Roman"/>
              </a:rPr>
              <a:t>Complejidad</a:t>
            </a:r>
            <a:r>
              <a:rPr sz="2176" b="1" dirty="0">
                <a:latin typeface="Times New Roman"/>
                <a:cs typeface="Times New Roman"/>
              </a:rPr>
              <a:t> </a:t>
            </a:r>
            <a:r>
              <a:rPr sz="2176" b="1" spc="-5" dirty="0">
                <a:latin typeface="Times New Roman"/>
                <a:cs typeface="Times New Roman"/>
              </a:rPr>
              <a:t>de</a:t>
            </a:r>
            <a:r>
              <a:rPr sz="2176" b="1" dirty="0">
                <a:latin typeface="Times New Roman"/>
                <a:cs typeface="Times New Roman"/>
              </a:rPr>
              <a:t> los</a:t>
            </a:r>
            <a:r>
              <a:rPr sz="2176" b="1" spc="5" dirty="0">
                <a:latin typeface="Times New Roman"/>
                <a:cs typeface="Times New Roman"/>
              </a:rPr>
              <a:t> </a:t>
            </a:r>
            <a:r>
              <a:rPr sz="2176" b="1" spc="-5" dirty="0">
                <a:latin typeface="Times New Roman"/>
                <a:cs typeface="Times New Roman"/>
              </a:rPr>
              <a:t>datos</a:t>
            </a:r>
            <a:r>
              <a:rPr sz="2176" b="1" dirty="0">
                <a:latin typeface="Times New Roman"/>
                <a:cs typeface="Times New Roman"/>
              </a:rPr>
              <a:t> </a:t>
            </a:r>
            <a:r>
              <a:rPr sz="2176" dirty="0">
                <a:latin typeface="Times New Roman"/>
                <a:cs typeface="Times New Roman"/>
              </a:rPr>
              <a:t>(efecto</a:t>
            </a:r>
            <a:r>
              <a:rPr sz="2176" spc="5" dirty="0">
                <a:latin typeface="Times New Roman"/>
                <a:cs typeface="Times New Roman"/>
              </a:rPr>
              <a:t> </a:t>
            </a:r>
            <a:r>
              <a:rPr sz="2176" spc="-5" dirty="0">
                <a:latin typeface="Times New Roman"/>
                <a:cs typeface="Times New Roman"/>
              </a:rPr>
              <a:t>temporal,</a:t>
            </a:r>
            <a:r>
              <a:rPr sz="2176" dirty="0">
                <a:latin typeface="Times New Roman"/>
                <a:cs typeface="Times New Roman"/>
              </a:rPr>
              <a:t> </a:t>
            </a:r>
            <a:r>
              <a:rPr sz="2176" spc="-5" dirty="0">
                <a:latin typeface="Times New Roman"/>
                <a:cs typeface="Times New Roman"/>
              </a:rPr>
              <a:t>muchas</a:t>
            </a:r>
            <a:r>
              <a:rPr sz="2176" spc="5" dirty="0">
                <a:latin typeface="Times New Roman"/>
                <a:cs typeface="Times New Roman"/>
              </a:rPr>
              <a:t> </a:t>
            </a:r>
            <a:r>
              <a:rPr sz="2176" spc="-5" dirty="0">
                <a:latin typeface="Times New Roman"/>
                <a:cs typeface="Times New Roman"/>
              </a:rPr>
              <a:t>variables </a:t>
            </a:r>
            <a:r>
              <a:rPr sz="2176" dirty="0">
                <a:latin typeface="Times New Roman"/>
                <a:cs typeface="Times New Roman"/>
              </a:rPr>
              <a:t>categóricas, </a:t>
            </a:r>
            <a:r>
              <a:rPr sz="2176" spc="-530" dirty="0">
                <a:latin typeface="Times New Roman"/>
                <a:cs typeface="Times New Roman"/>
              </a:rPr>
              <a:t> </a:t>
            </a:r>
            <a:r>
              <a:rPr sz="2176" spc="-5" dirty="0" err="1">
                <a:latin typeface="Times New Roman"/>
                <a:cs typeface="Times New Roman"/>
              </a:rPr>
              <a:t>datos</a:t>
            </a:r>
            <a:r>
              <a:rPr sz="2176" spc="-9" dirty="0">
                <a:latin typeface="Times New Roman"/>
                <a:cs typeface="Times New Roman"/>
              </a:rPr>
              <a:t> </a:t>
            </a:r>
            <a:r>
              <a:rPr sz="2176" dirty="0" err="1">
                <a:latin typeface="Times New Roman"/>
                <a:cs typeface="Times New Roman"/>
              </a:rPr>
              <a:t>censurados</a:t>
            </a:r>
            <a:r>
              <a:rPr lang="es-ES" sz="2176" dirty="0">
                <a:latin typeface="Times New Roman"/>
                <a:cs typeface="Times New Roman"/>
              </a:rPr>
              <a:t>, datos perdidos, variables latentes, etc.</a:t>
            </a:r>
            <a:r>
              <a:rPr sz="2176" dirty="0">
                <a:latin typeface="Times New Roman"/>
                <a:cs typeface="Times New Roman"/>
              </a:rPr>
              <a:t>)</a:t>
            </a:r>
          </a:p>
          <a:p>
            <a:pPr algn="just">
              <a:spcBef>
                <a:spcPts val="50"/>
              </a:spcBef>
              <a:buClr>
                <a:srgbClr val="4F6128"/>
              </a:buClr>
              <a:buFont typeface="Symbol"/>
              <a:buChar char=""/>
            </a:pPr>
            <a:endParaRPr sz="2267" dirty="0">
              <a:latin typeface="Times New Roman"/>
              <a:cs typeface="Times New Roman"/>
            </a:endParaRPr>
          </a:p>
          <a:p>
            <a:pPr marL="218235" marR="977739" indent="-207294" algn="just">
              <a:lnSpc>
                <a:spcPts val="2503"/>
              </a:lnSpc>
              <a:buClr>
                <a:srgbClr val="4F6128"/>
              </a:buClr>
              <a:buFont typeface="Symbol"/>
              <a:buChar char=""/>
              <a:tabLst>
                <a:tab pos="218811" algn="l"/>
                <a:tab pos="2313637" algn="l"/>
              </a:tabLst>
            </a:pPr>
            <a:r>
              <a:rPr sz="2176" b="1" spc="-5" dirty="0">
                <a:latin typeface="Times New Roman"/>
                <a:cs typeface="Times New Roman"/>
              </a:rPr>
              <a:t>Complejidad</a:t>
            </a:r>
            <a:r>
              <a:rPr sz="2176" b="1" dirty="0">
                <a:latin typeface="Times New Roman"/>
                <a:cs typeface="Times New Roman"/>
              </a:rPr>
              <a:t> </a:t>
            </a:r>
            <a:r>
              <a:rPr sz="2176" b="1" spc="-5" dirty="0">
                <a:latin typeface="Times New Roman"/>
                <a:cs typeface="Times New Roman"/>
              </a:rPr>
              <a:t>del	</a:t>
            </a:r>
            <a:r>
              <a:rPr sz="2176" b="1" dirty="0">
                <a:latin typeface="Times New Roman"/>
                <a:cs typeface="Times New Roman"/>
              </a:rPr>
              <a:t>output </a:t>
            </a:r>
            <a:r>
              <a:rPr sz="2176" spc="-5" dirty="0">
                <a:latin typeface="Times New Roman"/>
                <a:cs typeface="Times New Roman"/>
              </a:rPr>
              <a:t>(varias variables output </a:t>
            </a:r>
            <a:r>
              <a:rPr sz="2176" dirty="0">
                <a:latin typeface="Times New Roman"/>
                <a:cs typeface="Times New Roman"/>
              </a:rPr>
              <a:t>simultáneas, </a:t>
            </a:r>
            <a:r>
              <a:rPr sz="2176" spc="-5" dirty="0">
                <a:latin typeface="Times New Roman"/>
                <a:cs typeface="Times New Roman"/>
              </a:rPr>
              <a:t>de </a:t>
            </a:r>
            <a:r>
              <a:rPr sz="2176" spc="-530" dirty="0">
                <a:latin typeface="Times New Roman"/>
                <a:cs typeface="Times New Roman"/>
              </a:rPr>
              <a:t> </a:t>
            </a:r>
            <a:r>
              <a:rPr sz="2176" spc="-5" dirty="0">
                <a:latin typeface="Times New Roman"/>
                <a:cs typeface="Times New Roman"/>
              </a:rPr>
              <a:t>diferente </a:t>
            </a:r>
            <a:r>
              <a:rPr sz="2176" dirty="0">
                <a:latin typeface="Times New Roman"/>
                <a:cs typeface="Times New Roman"/>
              </a:rPr>
              <a:t>tipo)</a:t>
            </a:r>
          </a:p>
          <a:p>
            <a:pPr algn="just">
              <a:lnSpc>
                <a:spcPct val="100000"/>
              </a:lnSpc>
            </a:pPr>
            <a:endParaRPr sz="2358" dirty="0">
              <a:latin typeface="Times New Roman"/>
              <a:cs typeface="Times New Roman"/>
            </a:endParaRPr>
          </a:p>
          <a:p>
            <a:pPr algn="just">
              <a:spcBef>
                <a:spcPts val="41"/>
              </a:spcBef>
            </a:pPr>
            <a:endParaRPr sz="2176" dirty="0">
              <a:latin typeface="Times New Roman"/>
              <a:cs typeface="Times New Roman"/>
            </a:endParaRPr>
          </a:p>
          <a:p>
            <a:pPr marL="218235" marR="293667" algn="just">
              <a:lnSpc>
                <a:spcPct val="95800"/>
              </a:lnSpc>
            </a:pPr>
            <a:r>
              <a:rPr sz="2176" dirty="0">
                <a:latin typeface="Times New Roman"/>
                <a:cs typeface="Times New Roman"/>
              </a:rPr>
              <a:t>En </a:t>
            </a:r>
            <a:r>
              <a:rPr sz="2176" spc="-5" dirty="0">
                <a:latin typeface="Times New Roman"/>
                <a:cs typeface="Times New Roman"/>
              </a:rPr>
              <a:t>general,</a:t>
            </a:r>
            <a:r>
              <a:rPr sz="2176" spc="5" dirty="0">
                <a:latin typeface="Times New Roman"/>
                <a:cs typeface="Times New Roman"/>
              </a:rPr>
              <a:t> </a:t>
            </a:r>
            <a:r>
              <a:rPr sz="2176" spc="-5" dirty="0">
                <a:latin typeface="Times New Roman"/>
                <a:cs typeface="Times New Roman"/>
              </a:rPr>
              <a:t>para</a:t>
            </a:r>
            <a:r>
              <a:rPr sz="2176" spc="-9" dirty="0">
                <a:latin typeface="Times New Roman"/>
                <a:cs typeface="Times New Roman"/>
              </a:rPr>
              <a:t> utilizar</a:t>
            </a:r>
            <a:r>
              <a:rPr sz="2176" spc="5" dirty="0">
                <a:latin typeface="Times New Roman"/>
                <a:cs typeface="Times New Roman"/>
              </a:rPr>
              <a:t> </a:t>
            </a:r>
            <a:r>
              <a:rPr sz="2176" spc="-5" dirty="0">
                <a:latin typeface="Times New Roman"/>
                <a:cs typeface="Times New Roman"/>
              </a:rPr>
              <a:t>una</a:t>
            </a:r>
            <a:r>
              <a:rPr sz="2176" spc="9" dirty="0">
                <a:latin typeface="Times New Roman"/>
                <a:cs typeface="Times New Roman"/>
              </a:rPr>
              <a:t> </a:t>
            </a:r>
            <a:r>
              <a:rPr sz="2176" spc="-5" dirty="0">
                <a:latin typeface="Times New Roman"/>
                <a:cs typeface="Times New Roman"/>
              </a:rPr>
              <a:t>red</a:t>
            </a:r>
            <a:r>
              <a:rPr sz="2176" spc="5" dirty="0">
                <a:latin typeface="Times New Roman"/>
                <a:cs typeface="Times New Roman"/>
              </a:rPr>
              <a:t> </a:t>
            </a:r>
            <a:r>
              <a:rPr sz="2176" spc="-5" dirty="0">
                <a:latin typeface="Times New Roman"/>
                <a:cs typeface="Times New Roman"/>
              </a:rPr>
              <a:t>neuronal</a:t>
            </a:r>
            <a:r>
              <a:rPr sz="2176" spc="-14" dirty="0">
                <a:latin typeface="Times New Roman"/>
                <a:cs typeface="Times New Roman"/>
              </a:rPr>
              <a:t> </a:t>
            </a:r>
            <a:r>
              <a:rPr sz="2176" dirty="0">
                <a:latin typeface="Times New Roman"/>
                <a:cs typeface="Times New Roman"/>
              </a:rPr>
              <a:t>con</a:t>
            </a:r>
            <a:r>
              <a:rPr sz="2176" spc="5" dirty="0">
                <a:latin typeface="Times New Roman"/>
                <a:cs typeface="Times New Roman"/>
              </a:rPr>
              <a:t> </a:t>
            </a:r>
            <a:r>
              <a:rPr sz="2176" spc="-5" dirty="0">
                <a:latin typeface="Times New Roman"/>
                <a:cs typeface="Times New Roman"/>
              </a:rPr>
              <a:t>garantías</a:t>
            </a:r>
            <a:r>
              <a:rPr sz="2176" spc="-9" dirty="0">
                <a:latin typeface="Times New Roman"/>
                <a:cs typeface="Times New Roman"/>
              </a:rPr>
              <a:t> </a:t>
            </a:r>
            <a:r>
              <a:rPr sz="2176" spc="-5" dirty="0">
                <a:latin typeface="Times New Roman"/>
                <a:cs typeface="Times New Roman"/>
              </a:rPr>
              <a:t>se </a:t>
            </a:r>
            <a:r>
              <a:rPr sz="2176" dirty="0">
                <a:latin typeface="Times New Roman"/>
                <a:cs typeface="Times New Roman"/>
              </a:rPr>
              <a:t> </a:t>
            </a:r>
            <a:r>
              <a:rPr sz="2176" spc="-5" dirty="0">
                <a:latin typeface="Times New Roman"/>
                <a:cs typeface="Times New Roman"/>
              </a:rPr>
              <a:t>requieren</a:t>
            </a:r>
            <a:r>
              <a:rPr sz="2176" dirty="0">
                <a:latin typeface="Times New Roman"/>
                <a:cs typeface="Times New Roman"/>
              </a:rPr>
              <a:t> </a:t>
            </a:r>
            <a:r>
              <a:rPr sz="2176" b="1" dirty="0" err="1">
                <a:latin typeface="Times New Roman"/>
                <a:cs typeface="Times New Roman"/>
              </a:rPr>
              <a:t>muchas</a:t>
            </a:r>
            <a:r>
              <a:rPr sz="2176" b="1" dirty="0">
                <a:latin typeface="Times New Roman"/>
                <a:cs typeface="Times New Roman"/>
              </a:rPr>
              <a:t> </a:t>
            </a:r>
            <a:r>
              <a:rPr sz="2176" b="1" spc="-5" dirty="0" err="1">
                <a:latin typeface="Times New Roman"/>
                <a:cs typeface="Times New Roman"/>
              </a:rPr>
              <a:t>observaciones</a:t>
            </a:r>
            <a:r>
              <a:rPr lang="es-ES" sz="2176" dirty="0">
                <a:latin typeface="Times New Roman"/>
                <a:cs typeface="Times New Roman"/>
              </a:rPr>
              <a:t>. A</a:t>
            </a:r>
            <a:r>
              <a:rPr sz="2176" dirty="0">
                <a:latin typeface="Times New Roman"/>
                <a:cs typeface="Times New Roman"/>
              </a:rPr>
              <a:t>l </a:t>
            </a:r>
            <a:r>
              <a:rPr sz="2176" spc="-5" dirty="0">
                <a:latin typeface="Times New Roman"/>
                <a:cs typeface="Times New Roman"/>
              </a:rPr>
              <a:t>no</a:t>
            </a:r>
            <a:r>
              <a:rPr sz="2176" dirty="0">
                <a:latin typeface="Times New Roman"/>
                <a:cs typeface="Times New Roman"/>
              </a:rPr>
              <a:t> </a:t>
            </a:r>
            <a:r>
              <a:rPr sz="2176" spc="-5" dirty="0">
                <a:latin typeface="Times New Roman"/>
                <a:cs typeface="Times New Roman"/>
              </a:rPr>
              <a:t>haber</a:t>
            </a:r>
            <a:r>
              <a:rPr sz="2176" dirty="0">
                <a:latin typeface="Times New Roman"/>
                <a:cs typeface="Times New Roman"/>
              </a:rPr>
              <a:t> </a:t>
            </a:r>
            <a:r>
              <a:rPr sz="2176" spc="-5" dirty="0">
                <a:latin typeface="Times New Roman"/>
                <a:cs typeface="Times New Roman"/>
              </a:rPr>
              <a:t>inferencia </a:t>
            </a:r>
            <a:r>
              <a:rPr sz="2176" dirty="0">
                <a:latin typeface="Times New Roman"/>
                <a:cs typeface="Times New Roman"/>
              </a:rPr>
              <a:t> </a:t>
            </a:r>
            <a:r>
              <a:rPr sz="2176" spc="-5" dirty="0">
                <a:latin typeface="Times New Roman"/>
                <a:cs typeface="Times New Roman"/>
              </a:rPr>
              <a:t>propiamente dicha</a:t>
            </a:r>
            <a:r>
              <a:rPr sz="2176" spc="5" dirty="0">
                <a:latin typeface="Times New Roman"/>
                <a:cs typeface="Times New Roman"/>
              </a:rPr>
              <a:t> </a:t>
            </a:r>
            <a:r>
              <a:rPr sz="2176" spc="-5" dirty="0">
                <a:latin typeface="Times New Roman"/>
                <a:cs typeface="Times New Roman"/>
              </a:rPr>
              <a:t>se</a:t>
            </a:r>
            <a:r>
              <a:rPr sz="2176" dirty="0">
                <a:latin typeface="Times New Roman"/>
                <a:cs typeface="Times New Roman"/>
              </a:rPr>
              <a:t> </a:t>
            </a:r>
            <a:r>
              <a:rPr sz="2176" spc="-5" dirty="0" err="1">
                <a:latin typeface="Times New Roman"/>
                <a:cs typeface="Times New Roman"/>
              </a:rPr>
              <a:t>necesita</a:t>
            </a:r>
            <a:r>
              <a:rPr lang="es-ES" sz="2176" spc="-5" dirty="0">
                <a:latin typeface="Times New Roman"/>
                <a:cs typeface="Times New Roman"/>
              </a:rPr>
              <a:t> que haya</a:t>
            </a:r>
            <a:r>
              <a:rPr sz="2176" spc="5" dirty="0">
                <a:latin typeface="Times New Roman"/>
                <a:cs typeface="Times New Roman"/>
              </a:rPr>
              <a:t> </a:t>
            </a:r>
            <a:r>
              <a:rPr sz="2176" spc="-5" dirty="0" err="1">
                <a:latin typeface="Times New Roman"/>
                <a:cs typeface="Times New Roman"/>
              </a:rPr>
              <a:t>datos</a:t>
            </a:r>
            <a:r>
              <a:rPr lang="es-ES" sz="2176" spc="-5" dirty="0">
                <a:latin typeface="Times New Roman"/>
                <a:cs typeface="Times New Roman"/>
              </a:rPr>
              <a:t> suficientes para </a:t>
            </a:r>
            <a:r>
              <a:rPr lang="es-ES" sz="2176" b="1" spc="-5" dirty="0">
                <a:latin typeface="Times New Roman"/>
                <a:cs typeface="Times New Roman"/>
              </a:rPr>
              <a:t>entrenar el modelo </a:t>
            </a:r>
            <a:r>
              <a:rPr lang="es-ES" sz="2176" spc="-5" dirty="0">
                <a:latin typeface="Times New Roman"/>
                <a:cs typeface="Times New Roman"/>
              </a:rPr>
              <a:t>y obtener la función asociada al conjunto de variables, y otra parte de los datos para usarlos como</a:t>
            </a:r>
            <a:r>
              <a:rPr sz="2176" spc="9" dirty="0">
                <a:latin typeface="Times New Roman"/>
                <a:cs typeface="Times New Roman"/>
              </a:rPr>
              <a:t> </a:t>
            </a:r>
            <a:r>
              <a:rPr sz="2176" b="1" spc="-5" dirty="0">
                <a:latin typeface="Times New Roman"/>
                <a:cs typeface="Times New Roman"/>
              </a:rPr>
              <a:t>test</a:t>
            </a:r>
            <a:r>
              <a:rPr sz="2176" dirty="0">
                <a:latin typeface="Times New Roman"/>
                <a:cs typeface="Times New Roman"/>
              </a:rPr>
              <a:t> </a:t>
            </a:r>
            <a:r>
              <a:rPr lang="es-ES" sz="2176" spc="-5" dirty="0">
                <a:latin typeface="Times New Roman"/>
                <a:cs typeface="Times New Roman"/>
              </a:rPr>
              <a:t>en la </a:t>
            </a:r>
            <a:r>
              <a:rPr sz="2176" spc="-5" dirty="0" err="1">
                <a:latin typeface="Times New Roman"/>
                <a:cs typeface="Times New Roman"/>
              </a:rPr>
              <a:t>valida</a:t>
            </a:r>
            <a:r>
              <a:rPr lang="es-ES" sz="2176" spc="-5" dirty="0" err="1">
                <a:latin typeface="Times New Roman"/>
                <a:cs typeface="Times New Roman"/>
              </a:rPr>
              <a:t>ción</a:t>
            </a:r>
            <a:r>
              <a:rPr lang="es-ES" sz="2176" spc="-5" dirty="0">
                <a:latin typeface="Times New Roman"/>
                <a:cs typeface="Times New Roman"/>
              </a:rPr>
              <a:t> d</a:t>
            </a:r>
            <a:r>
              <a:rPr sz="2176" dirty="0">
                <a:latin typeface="Times New Roman"/>
                <a:cs typeface="Times New Roman"/>
              </a:rPr>
              <a:t>el </a:t>
            </a:r>
            <a:r>
              <a:rPr sz="2176" spc="-5" dirty="0" err="1">
                <a:latin typeface="Times New Roman"/>
                <a:cs typeface="Times New Roman"/>
              </a:rPr>
              <a:t>modelo</a:t>
            </a:r>
            <a:r>
              <a:rPr sz="2176" spc="-5" dirty="0">
                <a:latin typeface="Times New Roman"/>
                <a:cs typeface="Times New Roman"/>
              </a:rPr>
              <a:t>)</a:t>
            </a:r>
            <a:r>
              <a:rPr lang="es-ES" sz="2176" spc="-5" dirty="0">
                <a:latin typeface="Times New Roman"/>
                <a:cs typeface="Times New Roman"/>
              </a:rPr>
              <a:t>.</a:t>
            </a:r>
          </a:p>
          <a:p>
            <a:pPr marL="218235" marR="293667" algn="just">
              <a:lnSpc>
                <a:spcPct val="95800"/>
              </a:lnSpc>
            </a:pPr>
            <a:r>
              <a:rPr lang="es-ES" sz="2176" spc="-5" dirty="0">
                <a:latin typeface="Times New Roman"/>
                <a:cs typeface="Times New Roman"/>
              </a:rPr>
              <a:t>Cuando los datos no son suficientes, las técnicas de </a:t>
            </a:r>
            <a:r>
              <a:rPr lang="es-ES" sz="2176" i="1" spc="-5" dirty="0">
                <a:latin typeface="Times New Roman"/>
                <a:cs typeface="Times New Roman"/>
              </a:rPr>
              <a:t>machine </a:t>
            </a:r>
            <a:r>
              <a:rPr lang="es-ES" sz="2176" i="1" spc="-5" dirty="0" err="1">
                <a:latin typeface="Times New Roman"/>
                <a:cs typeface="Times New Roman"/>
              </a:rPr>
              <a:t>learning</a:t>
            </a:r>
            <a:r>
              <a:rPr lang="es-ES" sz="2176" i="1" spc="-5" dirty="0">
                <a:latin typeface="Times New Roman"/>
                <a:cs typeface="Times New Roman"/>
              </a:rPr>
              <a:t> </a:t>
            </a:r>
            <a:r>
              <a:rPr lang="es-ES" sz="2176" spc="-5" dirty="0">
                <a:latin typeface="Times New Roman"/>
                <a:cs typeface="Times New Roman"/>
              </a:rPr>
              <a:t>tienden a </a:t>
            </a:r>
            <a:r>
              <a:rPr lang="es-ES" sz="2176" spc="-5" dirty="0" err="1">
                <a:latin typeface="Times New Roman"/>
                <a:cs typeface="Times New Roman"/>
              </a:rPr>
              <a:t>sobreajustar</a:t>
            </a:r>
            <a:r>
              <a:rPr lang="es-ES" sz="2176" spc="-5" dirty="0">
                <a:latin typeface="Times New Roman"/>
                <a:cs typeface="Times New Roman"/>
              </a:rPr>
              <a:t>.</a:t>
            </a:r>
            <a:endParaRPr sz="2176" dirty="0">
              <a:latin typeface="Times New Roman"/>
              <a:cs typeface="Times New Roman"/>
            </a:endParaRPr>
          </a:p>
        </p:txBody>
      </p:sp>
    </p:spTree>
    <p:extLst>
      <p:ext uri="{BB962C8B-B14F-4D97-AF65-F5344CB8AC3E}">
        <p14:creationId xmlns:p14="http://schemas.microsoft.com/office/powerpoint/2010/main" val="29607483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83395" y="293879"/>
            <a:ext cx="5583829" cy="374485"/>
          </a:xfrm>
          <a:prstGeom prst="rect">
            <a:avLst/>
          </a:prstGeom>
        </p:spPr>
        <p:txBody>
          <a:bodyPr vert="horz" wrap="square" lIns="0" tIns="11516" rIns="0" bIns="0" rtlCol="0" anchor="ctr">
            <a:spAutoFit/>
          </a:bodyPr>
          <a:lstStyle/>
          <a:p>
            <a:pPr marL="11516">
              <a:lnSpc>
                <a:spcPct val="100000"/>
              </a:lnSpc>
              <a:spcBef>
                <a:spcPts val="91"/>
              </a:spcBef>
            </a:pPr>
            <a:r>
              <a:rPr lang="es-ES" sz="2358" b="1" spc="-5" dirty="0">
                <a:latin typeface="Times New Roman"/>
                <a:cs typeface="Times New Roman"/>
              </a:rPr>
              <a:t>¿</a:t>
            </a:r>
            <a:r>
              <a:rPr sz="2358" b="1" spc="-5" dirty="0" err="1">
                <a:latin typeface="Times New Roman"/>
                <a:cs typeface="Times New Roman"/>
              </a:rPr>
              <a:t>Cuándo</a:t>
            </a:r>
            <a:r>
              <a:rPr sz="2358" b="1" spc="-14" dirty="0">
                <a:latin typeface="Times New Roman"/>
                <a:cs typeface="Times New Roman"/>
              </a:rPr>
              <a:t> </a:t>
            </a:r>
            <a:r>
              <a:rPr sz="2358" b="1" spc="-5" dirty="0">
                <a:latin typeface="Times New Roman"/>
                <a:cs typeface="Times New Roman"/>
              </a:rPr>
              <a:t>NO</a:t>
            </a:r>
            <a:r>
              <a:rPr sz="2358" b="1" dirty="0">
                <a:latin typeface="Times New Roman"/>
                <a:cs typeface="Times New Roman"/>
              </a:rPr>
              <a:t> </a:t>
            </a:r>
            <a:r>
              <a:rPr sz="2358" b="1" spc="-9" dirty="0">
                <a:latin typeface="Times New Roman"/>
                <a:cs typeface="Times New Roman"/>
              </a:rPr>
              <a:t>utilizar</a:t>
            </a:r>
            <a:r>
              <a:rPr sz="2358" b="1" spc="5" dirty="0">
                <a:latin typeface="Times New Roman"/>
                <a:cs typeface="Times New Roman"/>
              </a:rPr>
              <a:t> </a:t>
            </a:r>
            <a:r>
              <a:rPr sz="2358" b="1" dirty="0">
                <a:latin typeface="Times New Roman"/>
                <a:cs typeface="Times New Roman"/>
              </a:rPr>
              <a:t>las</a:t>
            </a:r>
            <a:r>
              <a:rPr sz="2358" b="1" spc="-9" dirty="0">
                <a:latin typeface="Times New Roman"/>
                <a:cs typeface="Times New Roman"/>
              </a:rPr>
              <a:t> </a:t>
            </a:r>
            <a:r>
              <a:rPr sz="2358" b="1" spc="-5" dirty="0" err="1">
                <a:latin typeface="Times New Roman"/>
                <a:cs typeface="Times New Roman"/>
              </a:rPr>
              <a:t>redes</a:t>
            </a:r>
            <a:r>
              <a:rPr sz="2358" b="1" spc="-9" dirty="0">
                <a:latin typeface="Times New Roman"/>
                <a:cs typeface="Times New Roman"/>
              </a:rPr>
              <a:t> </a:t>
            </a:r>
            <a:r>
              <a:rPr sz="2358" b="1" spc="-5" dirty="0" err="1">
                <a:latin typeface="Times New Roman"/>
                <a:cs typeface="Times New Roman"/>
              </a:rPr>
              <a:t>neuronales</a:t>
            </a:r>
            <a:r>
              <a:rPr lang="es-ES" sz="2358" b="1" spc="-5" dirty="0">
                <a:latin typeface="Times New Roman"/>
                <a:cs typeface="Times New Roman"/>
              </a:rPr>
              <a:t>?</a:t>
            </a:r>
            <a:endParaRPr sz="2358" dirty="0">
              <a:latin typeface="Times New Roman"/>
              <a:cs typeface="Times New Roman"/>
            </a:endParaRPr>
          </a:p>
        </p:txBody>
      </p:sp>
      <p:sp>
        <p:nvSpPr>
          <p:cNvPr id="3" name="object 3"/>
          <p:cNvSpPr txBox="1"/>
          <p:nvPr/>
        </p:nvSpPr>
        <p:spPr>
          <a:xfrm>
            <a:off x="1535516" y="803267"/>
            <a:ext cx="8913673" cy="5473621"/>
          </a:xfrm>
          <a:prstGeom prst="rect">
            <a:avLst/>
          </a:prstGeom>
        </p:spPr>
        <p:txBody>
          <a:bodyPr vert="horz" wrap="square" lIns="0" tIns="26487" rIns="0" bIns="0" rtlCol="0">
            <a:spAutoFit/>
          </a:bodyPr>
          <a:lstStyle/>
          <a:p>
            <a:pPr marL="425530" marR="69674" indent="-207294" algn="just">
              <a:lnSpc>
                <a:spcPct val="95900"/>
              </a:lnSpc>
              <a:spcBef>
                <a:spcPts val="208"/>
              </a:spcBef>
              <a:buClr>
                <a:srgbClr val="4F6128"/>
              </a:buClr>
              <a:buFont typeface="Symbol"/>
              <a:buChar char=""/>
              <a:tabLst>
                <a:tab pos="426105" algn="l"/>
              </a:tabLst>
            </a:pPr>
            <a:r>
              <a:rPr sz="2176" b="1" dirty="0">
                <a:latin typeface="Times New Roman"/>
                <a:cs typeface="Times New Roman"/>
              </a:rPr>
              <a:t>Linealidad </a:t>
            </a:r>
            <a:r>
              <a:rPr sz="2176" dirty="0">
                <a:latin typeface="Times New Roman"/>
                <a:cs typeface="Times New Roman"/>
              </a:rPr>
              <a:t>en</a:t>
            </a:r>
            <a:r>
              <a:rPr sz="2176" spc="9" dirty="0">
                <a:latin typeface="Times New Roman"/>
                <a:cs typeface="Times New Roman"/>
              </a:rPr>
              <a:t> </a:t>
            </a:r>
            <a:r>
              <a:rPr sz="2176" dirty="0">
                <a:latin typeface="Times New Roman"/>
                <a:cs typeface="Times New Roman"/>
              </a:rPr>
              <a:t>las</a:t>
            </a:r>
            <a:r>
              <a:rPr sz="2176" spc="-5" dirty="0">
                <a:latin typeface="Times New Roman"/>
                <a:cs typeface="Times New Roman"/>
              </a:rPr>
              <a:t> relaciones,</a:t>
            </a:r>
            <a:r>
              <a:rPr sz="2176" spc="5" dirty="0">
                <a:latin typeface="Times New Roman"/>
                <a:cs typeface="Times New Roman"/>
              </a:rPr>
              <a:t> </a:t>
            </a:r>
            <a:r>
              <a:rPr sz="2176" dirty="0">
                <a:latin typeface="Times New Roman"/>
                <a:cs typeface="Times New Roman"/>
              </a:rPr>
              <a:t>o</a:t>
            </a:r>
            <a:r>
              <a:rPr sz="2176" spc="5" dirty="0">
                <a:latin typeface="Times New Roman"/>
                <a:cs typeface="Times New Roman"/>
              </a:rPr>
              <a:t> </a:t>
            </a:r>
            <a:r>
              <a:rPr sz="2176" b="1" spc="-5" dirty="0" err="1">
                <a:latin typeface="Times New Roman"/>
                <a:cs typeface="Times New Roman"/>
              </a:rPr>
              <a:t>funciones</a:t>
            </a:r>
            <a:r>
              <a:rPr sz="2176" b="1" spc="-5" dirty="0">
                <a:latin typeface="Times New Roman"/>
                <a:cs typeface="Times New Roman"/>
              </a:rPr>
              <a:t> de</a:t>
            </a:r>
            <a:r>
              <a:rPr sz="2176" b="1" spc="9" dirty="0">
                <a:latin typeface="Times New Roman"/>
                <a:cs typeface="Times New Roman"/>
              </a:rPr>
              <a:t> </a:t>
            </a:r>
            <a:r>
              <a:rPr sz="2176" b="1" dirty="0">
                <a:latin typeface="Times New Roman"/>
                <a:cs typeface="Times New Roman"/>
              </a:rPr>
              <a:t>relación</a:t>
            </a:r>
            <a:r>
              <a:rPr sz="2176" b="1" spc="5" dirty="0">
                <a:latin typeface="Times New Roman"/>
                <a:cs typeface="Times New Roman"/>
              </a:rPr>
              <a:t> </a:t>
            </a:r>
            <a:r>
              <a:rPr sz="2176" b="1" spc="-5" dirty="0">
                <a:latin typeface="Times New Roman"/>
                <a:cs typeface="Times New Roman"/>
              </a:rPr>
              <a:t>conocidas </a:t>
            </a:r>
            <a:r>
              <a:rPr sz="2176" b="1" spc="-576" dirty="0">
                <a:latin typeface="Times New Roman"/>
                <a:cs typeface="Times New Roman"/>
              </a:rPr>
              <a:t> </a:t>
            </a:r>
            <a:r>
              <a:rPr sz="2176" dirty="0">
                <a:latin typeface="Times New Roman"/>
                <a:cs typeface="Times New Roman"/>
              </a:rPr>
              <a:t>entre</a:t>
            </a:r>
            <a:r>
              <a:rPr sz="2176" spc="-5" dirty="0">
                <a:latin typeface="Times New Roman"/>
                <a:cs typeface="Times New Roman"/>
              </a:rPr>
              <a:t> variables </a:t>
            </a:r>
            <a:r>
              <a:rPr sz="2176" dirty="0">
                <a:latin typeface="Times New Roman"/>
                <a:cs typeface="Times New Roman"/>
              </a:rPr>
              <a:t>input</a:t>
            </a:r>
            <a:r>
              <a:rPr sz="2176" spc="-14" dirty="0">
                <a:latin typeface="Times New Roman"/>
                <a:cs typeface="Times New Roman"/>
              </a:rPr>
              <a:t> </a:t>
            </a:r>
            <a:r>
              <a:rPr sz="2176" dirty="0">
                <a:latin typeface="Times New Roman"/>
                <a:cs typeface="Times New Roman"/>
              </a:rPr>
              <a:t>y</a:t>
            </a:r>
            <a:r>
              <a:rPr sz="2176" spc="5" dirty="0">
                <a:latin typeface="Times New Roman"/>
                <a:cs typeface="Times New Roman"/>
              </a:rPr>
              <a:t> </a:t>
            </a:r>
            <a:r>
              <a:rPr sz="2176" dirty="0">
                <a:latin typeface="Times New Roman"/>
                <a:cs typeface="Times New Roman"/>
              </a:rPr>
              <a:t>output</a:t>
            </a:r>
            <a:r>
              <a:rPr sz="2176" spc="9" dirty="0">
                <a:latin typeface="Times New Roman"/>
                <a:cs typeface="Times New Roman"/>
              </a:rPr>
              <a:t> </a:t>
            </a:r>
            <a:r>
              <a:rPr sz="2176" spc="-5" dirty="0">
                <a:latin typeface="Times New Roman"/>
                <a:cs typeface="Times New Roman"/>
              </a:rPr>
              <a:t>(modelos</a:t>
            </a:r>
            <a:r>
              <a:rPr sz="2176" dirty="0">
                <a:latin typeface="Times New Roman"/>
                <a:cs typeface="Times New Roman"/>
              </a:rPr>
              <a:t> </a:t>
            </a:r>
            <a:r>
              <a:rPr sz="2176" dirty="0" err="1">
                <a:latin typeface="Times New Roman"/>
                <a:cs typeface="Times New Roman"/>
              </a:rPr>
              <a:t>econométricos</a:t>
            </a:r>
            <a:r>
              <a:rPr sz="2176" spc="5" dirty="0">
                <a:latin typeface="Times New Roman"/>
                <a:cs typeface="Times New Roman"/>
              </a:rPr>
              <a:t> </a:t>
            </a:r>
            <a:r>
              <a:rPr sz="2176" spc="-5" dirty="0" err="1">
                <a:latin typeface="Times New Roman"/>
                <a:cs typeface="Times New Roman"/>
              </a:rPr>
              <a:t>conocidos</a:t>
            </a:r>
            <a:r>
              <a:rPr sz="2176" spc="-5" dirty="0">
                <a:latin typeface="Times New Roman"/>
                <a:cs typeface="Times New Roman"/>
              </a:rPr>
              <a:t>,</a:t>
            </a:r>
            <a:r>
              <a:rPr lang="es-ES" sz="2176" dirty="0">
                <a:latin typeface="Times New Roman"/>
                <a:cs typeface="Times New Roman"/>
              </a:rPr>
              <a:t> </a:t>
            </a:r>
            <a:r>
              <a:rPr sz="2176" spc="-5" dirty="0" err="1">
                <a:latin typeface="Times New Roman"/>
                <a:cs typeface="Times New Roman"/>
              </a:rPr>
              <a:t>datos</a:t>
            </a:r>
            <a:r>
              <a:rPr sz="2176" spc="5" dirty="0">
                <a:latin typeface="Times New Roman"/>
                <a:cs typeface="Times New Roman"/>
              </a:rPr>
              <a:t> </a:t>
            </a:r>
            <a:r>
              <a:rPr sz="2176" spc="-5" dirty="0">
                <a:latin typeface="Times New Roman"/>
                <a:cs typeface="Times New Roman"/>
              </a:rPr>
              <a:t>de</a:t>
            </a:r>
            <a:r>
              <a:rPr sz="2176" spc="5" dirty="0">
                <a:latin typeface="Times New Roman"/>
                <a:cs typeface="Times New Roman"/>
              </a:rPr>
              <a:t> </a:t>
            </a:r>
            <a:r>
              <a:rPr sz="2176" spc="-5" dirty="0">
                <a:latin typeface="Times New Roman"/>
                <a:cs typeface="Times New Roman"/>
              </a:rPr>
              <a:t>química,</a:t>
            </a:r>
            <a:r>
              <a:rPr sz="2176" spc="9" dirty="0">
                <a:latin typeface="Times New Roman"/>
                <a:cs typeface="Times New Roman"/>
              </a:rPr>
              <a:t> </a:t>
            </a:r>
            <a:r>
              <a:rPr sz="2176" spc="-5" dirty="0">
                <a:latin typeface="Times New Roman"/>
                <a:cs typeface="Times New Roman"/>
              </a:rPr>
              <a:t>termodinámica,</a:t>
            </a:r>
            <a:r>
              <a:rPr sz="2176" spc="5" dirty="0">
                <a:latin typeface="Times New Roman"/>
                <a:cs typeface="Times New Roman"/>
              </a:rPr>
              <a:t> </a:t>
            </a:r>
            <a:r>
              <a:rPr sz="2176" spc="-5" dirty="0">
                <a:latin typeface="Times New Roman"/>
                <a:cs typeface="Times New Roman"/>
              </a:rPr>
              <a:t>biometría,</a:t>
            </a:r>
            <a:r>
              <a:rPr sz="2176" spc="9" dirty="0">
                <a:latin typeface="Times New Roman"/>
                <a:cs typeface="Times New Roman"/>
              </a:rPr>
              <a:t> </a:t>
            </a:r>
            <a:r>
              <a:rPr sz="2176" spc="-5" dirty="0">
                <a:latin typeface="Times New Roman"/>
                <a:cs typeface="Times New Roman"/>
              </a:rPr>
              <a:t>etc. </a:t>
            </a:r>
            <a:r>
              <a:rPr sz="2176" dirty="0">
                <a:latin typeface="Times New Roman"/>
                <a:cs typeface="Times New Roman"/>
              </a:rPr>
              <a:t>con</a:t>
            </a:r>
            <a:r>
              <a:rPr sz="2176" spc="9" dirty="0">
                <a:latin typeface="Times New Roman"/>
                <a:cs typeface="Times New Roman"/>
              </a:rPr>
              <a:t> </a:t>
            </a:r>
            <a:r>
              <a:rPr sz="2176" spc="-5" dirty="0">
                <a:latin typeface="Times New Roman"/>
                <a:cs typeface="Times New Roman"/>
              </a:rPr>
              <a:t>funciones no </a:t>
            </a:r>
            <a:r>
              <a:rPr sz="2176" dirty="0">
                <a:latin typeface="Times New Roman"/>
                <a:cs typeface="Times New Roman"/>
              </a:rPr>
              <a:t> </a:t>
            </a:r>
            <a:r>
              <a:rPr sz="2176" spc="-5" dirty="0">
                <a:latin typeface="Times New Roman"/>
                <a:cs typeface="Times New Roman"/>
              </a:rPr>
              <a:t>lineales</a:t>
            </a:r>
            <a:r>
              <a:rPr sz="2176" spc="-18" dirty="0">
                <a:latin typeface="Times New Roman"/>
                <a:cs typeface="Times New Roman"/>
              </a:rPr>
              <a:t> </a:t>
            </a:r>
            <a:r>
              <a:rPr sz="2176" spc="-5" dirty="0">
                <a:latin typeface="Times New Roman"/>
                <a:cs typeface="Times New Roman"/>
              </a:rPr>
              <a:t>pero</a:t>
            </a:r>
            <a:r>
              <a:rPr sz="2176" dirty="0">
                <a:latin typeface="Times New Roman"/>
                <a:cs typeface="Times New Roman"/>
              </a:rPr>
              <a:t> </a:t>
            </a:r>
            <a:r>
              <a:rPr sz="2176" spc="-5" dirty="0">
                <a:latin typeface="Times New Roman"/>
                <a:cs typeface="Times New Roman"/>
              </a:rPr>
              <a:t>bien</a:t>
            </a:r>
            <a:r>
              <a:rPr sz="2176" dirty="0">
                <a:latin typeface="Times New Roman"/>
                <a:cs typeface="Times New Roman"/>
              </a:rPr>
              <a:t> </a:t>
            </a:r>
            <a:r>
              <a:rPr sz="2176" spc="-5" dirty="0">
                <a:latin typeface="Times New Roman"/>
                <a:cs typeface="Times New Roman"/>
              </a:rPr>
              <a:t>conocidas,</a:t>
            </a:r>
            <a:r>
              <a:rPr sz="2176" dirty="0">
                <a:latin typeface="Times New Roman"/>
                <a:cs typeface="Times New Roman"/>
              </a:rPr>
              <a:t> </a:t>
            </a:r>
            <a:r>
              <a:rPr sz="2176" spc="-5" dirty="0">
                <a:latin typeface="Times New Roman"/>
                <a:cs typeface="Times New Roman"/>
              </a:rPr>
              <a:t>etc.)</a:t>
            </a:r>
            <a:endParaRPr sz="2176" dirty="0">
              <a:latin typeface="Times New Roman"/>
              <a:cs typeface="Times New Roman"/>
            </a:endParaRPr>
          </a:p>
          <a:p>
            <a:pPr algn="just">
              <a:spcBef>
                <a:spcPts val="14"/>
              </a:spcBef>
              <a:buClr>
                <a:srgbClr val="4F6128"/>
              </a:buClr>
              <a:buFont typeface="Symbol"/>
              <a:buChar char=""/>
            </a:pPr>
            <a:endParaRPr sz="2176" dirty="0">
              <a:latin typeface="Times New Roman"/>
              <a:cs typeface="Times New Roman"/>
            </a:endParaRPr>
          </a:p>
          <a:p>
            <a:pPr marL="425530" marR="4607" indent="-207294" algn="just">
              <a:lnSpc>
                <a:spcPts val="2720"/>
              </a:lnSpc>
              <a:buClr>
                <a:srgbClr val="4F6128"/>
              </a:buClr>
              <a:buFont typeface="Symbol"/>
              <a:buChar char=""/>
              <a:tabLst>
                <a:tab pos="426105" algn="l"/>
              </a:tabLst>
            </a:pPr>
            <a:r>
              <a:rPr sz="2176" b="1" spc="-5" dirty="0">
                <a:latin typeface="Times New Roman"/>
                <a:cs typeface="Times New Roman"/>
              </a:rPr>
              <a:t>Pocas</a:t>
            </a:r>
            <a:r>
              <a:rPr sz="2176" b="1" spc="5" dirty="0">
                <a:latin typeface="Times New Roman"/>
                <a:cs typeface="Times New Roman"/>
              </a:rPr>
              <a:t> </a:t>
            </a:r>
            <a:r>
              <a:rPr sz="2176" b="1" spc="-5" dirty="0">
                <a:latin typeface="Times New Roman"/>
                <a:cs typeface="Times New Roman"/>
              </a:rPr>
              <a:t>observaciones</a:t>
            </a:r>
            <a:r>
              <a:rPr sz="2176" b="1" spc="5" dirty="0">
                <a:latin typeface="Times New Roman"/>
                <a:cs typeface="Times New Roman"/>
              </a:rPr>
              <a:t> </a:t>
            </a:r>
            <a:r>
              <a:rPr sz="2176" dirty="0">
                <a:latin typeface="Times New Roman"/>
                <a:cs typeface="Times New Roman"/>
              </a:rPr>
              <a:t>(aquí</a:t>
            </a:r>
            <a:r>
              <a:rPr sz="2176" spc="5" dirty="0">
                <a:latin typeface="Times New Roman"/>
                <a:cs typeface="Times New Roman"/>
              </a:rPr>
              <a:t> </a:t>
            </a:r>
            <a:r>
              <a:rPr sz="2176" spc="-5" dirty="0">
                <a:latin typeface="Times New Roman"/>
                <a:cs typeface="Times New Roman"/>
              </a:rPr>
              <a:t>la</a:t>
            </a:r>
            <a:r>
              <a:rPr sz="2176" spc="9" dirty="0">
                <a:latin typeface="Times New Roman"/>
                <a:cs typeface="Times New Roman"/>
              </a:rPr>
              <a:t> </a:t>
            </a:r>
            <a:r>
              <a:rPr sz="2176" spc="-5" dirty="0">
                <a:latin typeface="Times New Roman"/>
                <a:cs typeface="Times New Roman"/>
              </a:rPr>
              <a:t>inferencia</a:t>
            </a:r>
            <a:r>
              <a:rPr sz="2176" spc="5" dirty="0">
                <a:latin typeface="Times New Roman"/>
                <a:cs typeface="Times New Roman"/>
              </a:rPr>
              <a:t> </a:t>
            </a:r>
            <a:r>
              <a:rPr sz="2176" dirty="0">
                <a:latin typeface="Times New Roman"/>
                <a:cs typeface="Times New Roman"/>
              </a:rPr>
              <a:t>clásica</a:t>
            </a:r>
            <a:r>
              <a:rPr sz="2176" spc="9" dirty="0">
                <a:latin typeface="Times New Roman"/>
                <a:cs typeface="Times New Roman"/>
              </a:rPr>
              <a:t> </a:t>
            </a:r>
            <a:r>
              <a:rPr sz="2176" spc="-5" dirty="0">
                <a:latin typeface="Times New Roman"/>
                <a:cs typeface="Times New Roman"/>
              </a:rPr>
              <a:t>es </a:t>
            </a:r>
            <a:r>
              <a:rPr sz="2176" dirty="0">
                <a:latin typeface="Times New Roman"/>
                <a:cs typeface="Times New Roman"/>
              </a:rPr>
              <a:t>fundamental</a:t>
            </a:r>
            <a:r>
              <a:rPr sz="2176" spc="-9" dirty="0">
                <a:latin typeface="Times New Roman"/>
                <a:cs typeface="Times New Roman"/>
              </a:rPr>
              <a:t> </a:t>
            </a:r>
            <a:r>
              <a:rPr sz="2176" spc="-5" dirty="0">
                <a:latin typeface="Times New Roman"/>
                <a:cs typeface="Times New Roman"/>
              </a:rPr>
              <a:t>para </a:t>
            </a:r>
            <a:r>
              <a:rPr sz="2176" spc="-576" dirty="0">
                <a:latin typeface="Times New Roman"/>
                <a:cs typeface="Times New Roman"/>
              </a:rPr>
              <a:t> </a:t>
            </a:r>
            <a:r>
              <a:rPr sz="2176" dirty="0">
                <a:latin typeface="Times New Roman"/>
                <a:cs typeface="Times New Roman"/>
              </a:rPr>
              <a:t>construir</a:t>
            </a:r>
            <a:r>
              <a:rPr sz="2176" spc="-14" dirty="0">
                <a:latin typeface="Times New Roman"/>
                <a:cs typeface="Times New Roman"/>
              </a:rPr>
              <a:t> </a:t>
            </a:r>
            <a:r>
              <a:rPr sz="2176" spc="-5" dirty="0">
                <a:latin typeface="Times New Roman"/>
                <a:cs typeface="Times New Roman"/>
              </a:rPr>
              <a:t>modelos</a:t>
            </a:r>
            <a:r>
              <a:rPr sz="2176" dirty="0">
                <a:latin typeface="Times New Roman"/>
                <a:cs typeface="Times New Roman"/>
              </a:rPr>
              <a:t> </a:t>
            </a:r>
            <a:r>
              <a:rPr sz="2176" spc="-5" dirty="0">
                <a:latin typeface="Times New Roman"/>
                <a:cs typeface="Times New Roman"/>
              </a:rPr>
              <a:t>robustos)</a:t>
            </a:r>
            <a:endParaRPr sz="2176" dirty="0">
              <a:latin typeface="Times New Roman"/>
              <a:cs typeface="Times New Roman"/>
            </a:endParaRPr>
          </a:p>
          <a:p>
            <a:pPr algn="just">
              <a:spcBef>
                <a:spcPts val="32"/>
              </a:spcBef>
              <a:buClr>
                <a:srgbClr val="4F6128"/>
              </a:buClr>
              <a:buFont typeface="Symbol"/>
              <a:buChar char=""/>
            </a:pPr>
            <a:endParaRPr sz="2176" dirty="0">
              <a:latin typeface="Times New Roman"/>
              <a:cs typeface="Times New Roman"/>
            </a:endParaRPr>
          </a:p>
          <a:p>
            <a:pPr marL="425530" marR="81190" indent="-207294" algn="just">
              <a:lnSpc>
                <a:spcPct val="96000"/>
              </a:lnSpc>
              <a:buFont typeface="Symbol"/>
              <a:buChar char=""/>
              <a:tabLst>
                <a:tab pos="426105" algn="l"/>
              </a:tabLst>
            </a:pPr>
            <a:r>
              <a:rPr sz="2176" b="1" dirty="0">
                <a:latin typeface="Times New Roman"/>
                <a:cs typeface="Times New Roman"/>
              </a:rPr>
              <a:t>El objetivo</a:t>
            </a:r>
            <a:r>
              <a:rPr sz="2176" b="1" spc="-14" dirty="0">
                <a:latin typeface="Times New Roman"/>
                <a:cs typeface="Times New Roman"/>
              </a:rPr>
              <a:t> </a:t>
            </a:r>
            <a:r>
              <a:rPr sz="2176" b="1" spc="-5" dirty="0">
                <a:latin typeface="Times New Roman"/>
                <a:cs typeface="Times New Roman"/>
              </a:rPr>
              <a:t>no</a:t>
            </a:r>
            <a:r>
              <a:rPr sz="2176" b="1" dirty="0">
                <a:latin typeface="Times New Roman"/>
                <a:cs typeface="Times New Roman"/>
              </a:rPr>
              <a:t> es</a:t>
            </a:r>
            <a:r>
              <a:rPr sz="2176" b="1" spc="-9" dirty="0">
                <a:latin typeface="Times New Roman"/>
                <a:cs typeface="Times New Roman"/>
              </a:rPr>
              <a:t> </a:t>
            </a:r>
            <a:r>
              <a:rPr sz="2176" b="1" spc="-5" dirty="0">
                <a:latin typeface="Times New Roman"/>
                <a:cs typeface="Times New Roman"/>
              </a:rPr>
              <a:t>predecir,</a:t>
            </a:r>
            <a:r>
              <a:rPr sz="2176" b="1" dirty="0">
                <a:latin typeface="Times New Roman"/>
                <a:cs typeface="Times New Roman"/>
              </a:rPr>
              <a:t> </a:t>
            </a:r>
            <a:r>
              <a:rPr sz="2176" b="1" spc="-5" dirty="0">
                <a:latin typeface="Times New Roman"/>
                <a:cs typeface="Times New Roman"/>
              </a:rPr>
              <a:t>sino</a:t>
            </a:r>
            <a:r>
              <a:rPr sz="2176" b="1" spc="18" dirty="0">
                <a:latin typeface="Times New Roman"/>
                <a:cs typeface="Times New Roman"/>
              </a:rPr>
              <a:t> </a:t>
            </a:r>
            <a:r>
              <a:rPr sz="2176" b="1" dirty="0">
                <a:latin typeface="Times New Roman"/>
                <a:cs typeface="Times New Roman"/>
              </a:rPr>
              <a:t>explicar,</a:t>
            </a:r>
            <a:r>
              <a:rPr sz="2176" dirty="0">
                <a:latin typeface="Times New Roman"/>
                <a:cs typeface="Times New Roman"/>
              </a:rPr>
              <a:t> o</a:t>
            </a:r>
            <a:r>
              <a:rPr sz="2176" spc="-14" dirty="0">
                <a:latin typeface="Times New Roman"/>
                <a:cs typeface="Times New Roman"/>
              </a:rPr>
              <a:t> </a:t>
            </a:r>
            <a:r>
              <a:rPr sz="2176" spc="-5" dirty="0">
                <a:latin typeface="Times New Roman"/>
                <a:cs typeface="Times New Roman"/>
              </a:rPr>
              <a:t>bien</a:t>
            </a:r>
            <a:r>
              <a:rPr sz="2176" dirty="0">
                <a:latin typeface="Times New Roman"/>
                <a:cs typeface="Times New Roman"/>
              </a:rPr>
              <a:t> </a:t>
            </a:r>
            <a:r>
              <a:rPr sz="2176" spc="-5" dirty="0">
                <a:latin typeface="Times New Roman"/>
                <a:cs typeface="Times New Roman"/>
              </a:rPr>
              <a:t>son</a:t>
            </a:r>
            <a:r>
              <a:rPr sz="2176" dirty="0">
                <a:latin typeface="Times New Roman"/>
                <a:cs typeface="Times New Roman"/>
              </a:rPr>
              <a:t> </a:t>
            </a:r>
            <a:r>
              <a:rPr sz="2176" spc="-9" dirty="0">
                <a:latin typeface="Times New Roman"/>
                <a:cs typeface="Times New Roman"/>
              </a:rPr>
              <a:t>las </a:t>
            </a:r>
            <a:r>
              <a:rPr sz="2176" spc="-5" dirty="0">
                <a:latin typeface="Times New Roman"/>
                <a:cs typeface="Times New Roman"/>
              </a:rPr>
              <a:t>dos</a:t>
            </a:r>
            <a:r>
              <a:rPr sz="2176" spc="5" dirty="0">
                <a:latin typeface="Times New Roman"/>
                <a:cs typeface="Times New Roman"/>
              </a:rPr>
              <a:t> </a:t>
            </a:r>
            <a:r>
              <a:rPr sz="2176" dirty="0">
                <a:latin typeface="Times New Roman"/>
                <a:cs typeface="Times New Roman"/>
              </a:rPr>
              <a:t>cosas</a:t>
            </a:r>
            <a:r>
              <a:rPr sz="2176" spc="-14" dirty="0">
                <a:latin typeface="Times New Roman"/>
                <a:cs typeface="Times New Roman"/>
              </a:rPr>
              <a:t> </a:t>
            </a:r>
            <a:r>
              <a:rPr sz="2176" spc="-5" dirty="0">
                <a:latin typeface="Times New Roman"/>
                <a:cs typeface="Times New Roman"/>
              </a:rPr>
              <a:t>(la </a:t>
            </a:r>
            <a:r>
              <a:rPr sz="2176" spc="-576" dirty="0">
                <a:latin typeface="Times New Roman"/>
                <a:cs typeface="Times New Roman"/>
              </a:rPr>
              <a:t> </a:t>
            </a:r>
            <a:r>
              <a:rPr sz="2176" spc="-5" dirty="0">
                <a:latin typeface="Times New Roman"/>
                <a:cs typeface="Times New Roman"/>
              </a:rPr>
              <a:t>red </a:t>
            </a:r>
            <a:r>
              <a:rPr sz="2176" dirty="0">
                <a:latin typeface="Times New Roman"/>
                <a:cs typeface="Times New Roman"/>
              </a:rPr>
              <a:t>es </a:t>
            </a:r>
            <a:r>
              <a:rPr sz="2176" spc="-5" dirty="0">
                <a:latin typeface="Times New Roman"/>
                <a:cs typeface="Times New Roman"/>
              </a:rPr>
              <a:t>una </a:t>
            </a:r>
            <a:r>
              <a:rPr sz="2176" dirty="0">
                <a:latin typeface="Times New Roman"/>
                <a:cs typeface="Times New Roman"/>
              </a:rPr>
              <a:t>caja </a:t>
            </a:r>
            <a:r>
              <a:rPr sz="2176" spc="-5" dirty="0">
                <a:latin typeface="Times New Roman"/>
                <a:cs typeface="Times New Roman"/>
              </a:rPr>
              <a:t>negra </a:t>
            </a:r>
            <a:r>
              <a:rPr sz="2176" dirty="0">
                <a:latin typeface="Times New Roman"/>
                <a:cs typeface="Times New Roman"/>
              </a:rPr>
              <a:t>y es </a:t>
            </a:r>
            <a:r>
              <a:rPr sz="2176" spc="-5" dirty="0">
                <a:latin typeface="Times New Roman"/>
                <a:cs typeface="Times New Roman"/>
              </a:rPr>
              <a:t>difícil </a:t>
            </a:r>
            <a:r>
              <a:rPr sz="2176" dirty="0">
                <a:latin typeface="Times New Roman"/>
                <a:cs typeface="Times New Roman"/>
              </a:rPr>
              <a:t>extraer </a:t>
            </a:r>
            <a:r>
              <a:rPr sz="2176" dirty="0" err="1">
                <a:latin typeface="Times New Roman"/>
                <a:cs typeface="Times New Roman"/>
              </a:rPr>
              <a:t>información</a:t>
            </a:r>
            <a:r>
              <a:rPr sz="2176" dirty="0">
                <a:latin typeface="Times New Roman"/>
                <a:cs typeface="Times New Roman"/>
              </a:rPr>
              <a:t> </a:t>
            </a:r>
            <a:r>
              <a:rPr sz="2176" dirty="0" err="1">
                <a:latin typeface="Times New Roman"/>
                <a:cs typeface="Times New Roman"/>
              </a:rPr>
              <a:t>aparte</a:t>
            </a:r>
            <a:r>
              <a:rPr lang="es-ES" sz="2176" dirty="0">
                <a:latin typeface="Times New Roman"/>
                <a:cs typeface="Times New Roman"/>
              </a:rPr>
              <a:t> </a:t>
            </a:r>
            <a:r>
              <a:rPr sz="2176" spc="-5" dirty="0">
                <a:latin typeface="Times New Roman"/>
                <a:cs typeface="Times New Roman"/>
              </a:rPr>
              <a:t>de</a:t>
            </a:r>
            <a:r>
              <a:rPr lang="es-ES" sz="2176" spc="5" dirty="0">
                <a:latin typeface="Times New Roman"/>
                <a:cs typeface="Times New Roman"/>
              </a:rPr>
              <a:t> </a:t>
            </a:r>
            <a:r>
              <a:rPr sz="2176" spc="-5" dirty="0" err="1">
                <a:latin typeface="Times New Roman"/>
                <a:cs typeface="Times New Roman"/>
              </a:rPr>
              <a:t>buenas</a:t>
            </a:r>
            <a:r>
              <a:rPr sz="2176" spc="-5" dirty="0">
                <a:latin typeface="Times New Roman"/>
                <a:cs typeface="Times New Roman"/>
              </a:rPr>
              <a:t> </a:t>
            </a:r>
            <a:r>
              <a:rPr sz="2176" spc="-5" dirty="0" err="1">
                <a:latin typeface="Times New Roman"/>
                <a:cs typeface="Times New Roman"/>
              </a:rPr>
              <a:t>predicciones</a:t>
            </a:r>
            <a:r>
              <a:rPr lang="es-ES" sz="2176" spc="-5" dirty="0">
                <a:latin typeface="Times New Roman"/>
                <a:cs typeface="Times New Roman"/>
              </a:rPr>
              <a:t>)</a:t>
            </a:r>
          </a:p>
          <a:p>
            <a:pPr marL="218235" marR="81190" algn="just">
              <a:lnSpc>
                <a:spcPct val="96000"/>
              </a:lnSpc>
              <a:tabLst>
                <a:tab pos="426105" algn="l"/>
              </a:tabLst>
            </a:pPr>
            <a:endParaRPr sz="2176" dirty="0">
              <a:latin typeface="Times New Roman"/>
              <a:cs typeface="Times New Roman"/>
            </a:endParaRPr>
          </a:p>
          <a:p>
            <a:pPr marL="11516" marR="661615" algn="just">
              <a:lnSpc>
                <a:spcPts val="2920"/>
              </a:lnSpc>
              <a:spcBef>
                <a:spcPts val="82"/>
              </a:spcBef>
            </a:pPr>
            <a:r>
              <a:rPr sz="1814" b="1" spc="-5" dirty="0" err="1">
                <a:latin typeface="Times New Roman"/>
                <a:cs typeface="Times New Roman"/>
              </a:rPr>
              <a:t>En</a:t>
            </a:r>
            <a:r>
              <a:rPr sz="1814" b="1" spc="-5" dirty="0">
                <a:latin typeface="Times New Roman"/>
                <a:cs typeface="Times New Roman"/>
              </a:rPr>
              <a:t> general,</a:t>
            </a:r>
            <a:r>
              <a:rPr sz="1814" b="1" dirty="0">
                <a:latin typeface="Times New Roman"/>
                <a:cs typeface="Times New Roman"/>
              </a:rPr>
              <a:t> </a:t>
            </a:r>
            <a:r>
              <a:rPr sz="1814" b="1" spc="-5" dirty="0">
                <a:latin typeface="Times New Roman"/>
                <a:cs typeface="Times New Roman"/>
              </a:rPr>
              <a:t>siempre que se</a:t>
            </a:r>
            <a:r>
              <a:rPr sz="1814" b="1" dirty="0">
                <a:latin typeface="Times New Roman"/>
                <a:cs typeface="Times New Roman"/>
              </a:rPr>
              <a:t> </a:t>
            </a:r>
            <a:r>
              <a:rPr sz="1814" b="1" spc="-5" dirty="0">
                <a:latin typeface="Times New Roman"/>
                <a:cs typeface="Times New Roman"/>
              </a:rPr>
              <a:t>pueda</a:t>
            </a:r>
            <a:r>
              <a:rPr sz="1814" b="1" spc="5" dirty="0">
                <a:latin typeface="Times New Roman"/>
                <a:cs typeface="Times New Roman"/>
              </a:rPr>
              <a:t> </a:t>
            </a:r>
            <a:r>
              <a:rPr sz="1814" b="1" spc="-5" dirty="0">
                <a:latin typeface="Times New Roman"/>
                <a:cs typeface="Times New Roman"/>
              </a:rPr>
              <a:t>se deben </a:t>
            </a:r>
            <a:r>
              <a:rPr sz="1814" b="1" dirty="0">
                <a:latin typeface="Times New Roman"/>
                <a:cs typeface="Times New Roman"/>
              </a:rPr>
              <a:t>probar</a:t>
            </a:r>
            <a:r>
              <a:rPr sz="1814" b="1" spc="-5" dirty="0">
                <a:latin typeface="Times New Roman"/>
                <a:cs typeface="Times New Roman"/>
              </a:rPr>
              <a:t> modelos </a:t>
            </a:r>
            <a:r>
              <a:rPr sz="1814" b="1" dirty="0">
                <a:latin typeface="Times New Roman"/>
                <a:cs typeface="Times New Roman"/>
              </a:rPr>
              <a:t> </a:t>
            </a:r>
            <a:r>
              <a:rPr sz="1814" b="1" spc="-5" dirty="0">
                <a:latin typeface="Times New Roman"/>
                <a:cs typeface="Times New Roman"/>
              </a:rPr>
              <a:t>clásicos</a:t>
            </a:r>
            <a:r>
              <a:rPr sz="1814" b="1" dirty="0">
                <a:latin typeface="Times New Roman"/>
                <a:cs typeface="Times New Roman"/>
              </a:rPr>
              <a:t> </a:t>
            </a:r>
            <a:r>
              <a:rPr sz="1814" b="1" spc="-5" dirty="0">
                <a:latin typeface="Times New Roman"/>
                <a:cs typeface="Times New Roman"/>
              </a:rPr>
              <a:t>y</a:t>
            </a:r>
            <a:r>
              <a:rPr sz="1814" b="1" spc="5" dirty="0">
                <a:latin typeface="Times New Roman"/>
                <a:cs typeface="Times New Roman"/>
              </a:rPr>
              <a:t> </a:t>
            </a:r>
            <a:r>
              <a:rPr sz="1814" b="1" spc="-5" dirty="0">
                <a:latin typeface="Times New Roman"/>
                <a:cs typeface="Times New Roman"/>
              </a:rPr>
              <a:t>contrastarlos</a:t>
            </a:r>
            <a:r>
              <a:rPr sz="1814" b="1" dirty="0">
                <a:latin typeface="Times New Roman"/>
                <a:cs typeface="Times New Roman"/>
              </a:rPr>
              <a:t> </a:t>
            </a:r>
            <a:r>
              <a:rPr sz="1814" b="1" spc="-5" dirty="0">
                <a:latin typeface="Times New Roman"/>
                <a:cs typeface="Times New Roman"/>
              </a:rPr>
              <a:t>en</a:t>
            </a:r>
            <a:r>
              <a:rPr sz="1814" b="1" spc="5" dirty="0">
                <a:latin typeface="Times New Roman"/>
                <a:cs typeface="Times New Roman"/>
              </a:rPr>
              <a:t> </a:t>
            </a:r>
            <a:r>
              <a:rPr sz="1814" b="1" dirty="0">
                <a:latin typeface="Times New Roman"/>
                <a:cs typeface="Times New Roman"/>
              </a:rPr>
              <a:t>términos</a:t>
            </a:r>
            <a:r>
              <a:rPr sz="1814" b="1" spc="9" dirty="0">
                <a:latin typeface="Times New Roman"/>
                <a:cs typeface="Times New Roman"/>
              </a:rPr>
              <a:t> </a:t>
            </a:r>
            <a:r>
              <a:rPr sz="1814" b="1" spc="-5" dirty="0">
                <a:latin typeface="Times New Roman"/>
                <a:cs typeface="Times New Roman"/>
              </a:rPr>
              <a:t>de</a:t>
            </a:r>
            <a:r>
              <a:rPr sz="1814" b="1" spc="5" dirty="0">
                <a:latin typeface="Times New Roman"/>
                <a:cs typeface="Times New Roman"/>
              </a:rPr>
              <a:t> </a:t>
            </a:r>
            <a:r>
              <a:rPr sz="1814" b="1" spc="-5" dirty="0">
                <a:latin typeface="Times New Roman"/>
                <a:cs typeface="Times New Roman"/>
              </a:rPr>
              <a:t>predicción</a:t>
            </a:r>
            <a:r>
              <a:rPr sz="1814" b="1" spc="36" dirty="0">
                <a:latin typeface="Times New Roman"/>
                <a:cs typeface="Times New Roman"/>
              </a:rPr>
              <a:t> </a:t>
            </a:r>
            <a:r>
              <a:rPr sz="1814" b="1" spc="-5" dirty="0">
                <a:latin typeface="Times New Roman"/>
                <a:cs typeface="Times New Roman"/>
              </a:rPr>
              <a:t>(datos</a:t>
            </a:r>
            <a:r>
              <a:rPr sz="1814" b="1" dirty="0">
                <a:latin typeface="Times New Roman"/>
                <a:cs typeface="Times New Roman"/>
              </a:rPr>
              <a:t> </a:t>
            </a:r>
            <a:r>
              <a:rPr sz="1814" b="1" spc="-5" dirty="0">
                <a:latin typeface="Times New Roman"/>
                <a:cs typeface="Times New Roman"/>
              </a:rPr>
              <a:t>test, </a:t>
            </a:r>
            <a:r>
              <a:rPr sz="1814" b="1" spc="-621" dirty="0">
                <a:latin typeface="Times New Roman"/>
                <a:cs typeface="Times New Roman"/>
              </a:rPr>
              <a:t> </a:t>
            </a:r>
            <a:r>
              <a:rPr sz="1814" b="1" spc="-5" dirty="0">
                <a:latin typeface="Times New Roman"/>
                <a:cs typeface="Times New Roman"/>
              </a:rPr>
              <a:t>validación</a:t>
            </a:r>
            <a:r>
              <a:rPr sz="1814" b="1" spc="9" dirty="0">
                <a:latin typeface="Times New Roman"/>
                <a:cs typeface="Times New Roman"/>
              </a:rPr>
              <a:t> </a:t>
            </a:r>
            <a:r>
              <a:rPr sz="1814" b="1" spc="-5" dirty="0">
                <a:latin typeface="Times New Roman"/>
                <a:cs typeface="Times New Roman"/>
              </a:rPr>
              <a:t>cruzada, etc.)</a:t>
            </a:r>
            <a:r>
              <a:rPr sz="1814" b="1" spc="18" dirty="0">
                <a:latin typeface="Times New Roman"/>
                <a:cs typeface="Times New Roman"/>
              </a:rPr>
              <a:t> </a:t>
            </a:r>
            <a:r>
              <a:rPr sz="1814" b="1" spc="-5" dirty="0">
                <a:latin typeface="Times New Roman"/>
                <a:cs typeface="Times New Roman"/>
              </a:rPr>
              <a:t>con</a:t>
            </a:r>
            <a:r>
              <a:rPr sz="1814" b="1" spc="9" dirty="0">
                <a:latin typeface="Times New Roman"/>
                <a:cs typeface="Times New Roman"/>
              </a:rPr>
              <a:t> </a:t>
            </a:r>
            <a:r>
              <a:rPr sz="1814" b="1" spc="-5" dirty="0">
                <a:latin typeface="Times New Roman"/>
                <a:cs typeface="Times New Roman"/>
              </a:rPr>
              <a:t>la</a:t>
            </a:r>
            <a:r>
              <a:rPr sz="1814" b="1" spc="5" dirty="0">
                <a:latin typeface="Times New Roman"/>
                <a:cs typeface="Times New Roman"/>
              </a:rPr>
              <a:t> </a:t>
            </a:r>
            <a:r>
              <a:rPr sz="1814" b="1" spc="-9" dirty="0">
                <a:latin typeface="Times New Roman"/>
                <a:cs typeface="Times New Roman"/>
              </a:rPr>
              <a:t>red</a:t>
            </a:r>
            <a:r>
              <a:rPr sz="1814" b="1" dirty="0">
                <a:latin typeface="Times New Roman"/>
                <a:cs typeface="Times New Roman"/>
              </a:rPr>
              <a:t> </a:t>
            </a:r>
            <a:r>
              <a:rPr sz="1814" b="1" spc="-5" dirty="0">
                <a:latin typeface="Times New Roman"/>
                <a:cs typeface="Times New Roman"/>
              </a:rPr>
              <a:t>neuronal</a:t>
            </a:r>
            <a:r>
              <a:rPr lang="es-ES" sz="1814" b="1" spc="-5" dirty="0">
                <a:latin typeface="Times New Roman"/>
                <a:cs typeface="Times New Roman"/>
              </a:rPr>
              <a:t>.</a:t>
            </a:r>
          </a:p>
          <a:p>
            <a:pPr marL="11516" marR="661615" algn="just">
              <a:lnSpc>
                <a:spcPts val="2920"/>
              </a:lnSpc>
              <a:spcBef>
                <a:spcPts val="82"/>
              </a:spcBef>
            </a:pPr>
            <a:r>
              <a:rPr lang="es-ES" sz="1814" spc="-5" dirty="0">
                <a:latin typeface="Times New Roman"/>
                <a:cs typeface="Times New Roman"/>
              </a:rPr>
              <a:t>Aplicaremos modelos de redes neuronales y se compararán con el modelo de regresión lineal o logística que se habría considerado en su lugar.</a:t>
            </a:r>
            <a:endParaRPr sz="1814" dirty="0">
              <a:latin typeface="Times New Roman"/>
              <a:cs typeface="Times New Roman"/>
            </a:endParaRPr>
          </a:p>
        </p:txBody>
      </p:sp>
    </p:spTree>
    <p:extLst>
      <p:ext uri="{BB962C8B-B14F-4D97-AF65-F5344CB8AC3E}">
        <p14:creationId xmlns:p14="http://schemas.microsoft.com/office/powerpoint/2010/main" val="24734820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62234" y="285605"/>
            <a:ext cx="9067531" cy="502366"/>
          </a:xfrm>
        </p:spPr>
        <p:txBody>
          <a:bodyPr/>
          <a:lstStyle/>
          <a:p>
            <a:r>
              <a:rPr lang="es-ES" sz="3264" b="1" dirty="0">
                <a:solidFill>
                  <a:srgbClr val="0070C0"/>
                </a:solidFill>
              </a:rPr>
              <a:t>Fases en la modelización con redes neuronales</a:t>
            </a:r>
          </a:p>
        </p:txBody>
      </p:sp>
      <p:sp>
        <p:nvSpPr>
          <p:cNvPr id="3" name="CuadroTexto 2"/>
          <p:cNvSpPr txBox="1"/>
          <p:nvPr/>
        </p:nvSpPr>
        <p:spPr>
          <a:xfrm>
            <a:off x="1742812" y="1079660"/>
            <a:ext cx="8637280" cy="5449697"/>
          </a:xfrm>
          <a:prstGeom prst="rect">
            <a:avLst/>
          </a:prstGeom>
          <a:noFill/>
        </p:spPr>
        <p:txBody>
          <a:bodyPr wrap="square" rtlCol="0">
            <a:spAutoFit/>
          </a:bodyPr>
          <a:lstStyle/>
          <a:p>
            <a:pPr algn="just"/>
            <a:r>
              <a:rPr lang="es-ES" sz="2176" b="1" dirty="0">
                <a:solidFill>
                  <a:srgbClr val="C00000"/>
                </a:solidFill>
                <a:latin typeface="Times New Roman" panose="02020603050405020304" pitchFamily="18" charset="0"/>
                <a:cs typeface="Times New Roman" panose="02020603050405020304" pitchFamily="18" charset="0"/>
              </a:rPr>
              <a:t>Fase de entrenamiento</a:t>
            </a:r>
            <a:r>
              <a:rPr lang="es-ES" sz="2176" dirty="0">
                <a:solidFill>
                  <a:srgbClr val="C00000"/>
                </a:solidFill>
                <a:latin typeface="Times New Roman" panose="02020603050405020304" pitchFamily="18" charset="0"/>
                <a:cs typeface="Times New Roman" panose="02020603050405020304" pitchFamily="18" charset="0"/>
              </a:rPr>
              <a:t>: </a:t>
            </a:r>
            <a:r>
              <a:rPr lang="es-ES" sz="2176" dirty="0">
                <a:latin typeface="Times New Roman" panose="02020603050405020304" pitchFamily="18" charset="0"/>
                <a:cs typeface="Times New Roman" panose="02020603050405020304" pitchFamily="18" charset="0"/>
              </a:rPr>
              <a:t>se usa un conjunto de datos o patrones de entrenamiento para determinar los pesos (parámetros) que definen el modelo de red neuronal. Se calculan iterativamente, de acuerdo con los valores de entrenamiento, con el objeto de </a:t>
            </a:r>
            <a:r>
              <a:rPr lang="es-ES" sz="2176" b="1" dirty="0">
                <a:latin typeface="Times New Roman" panose="02020603050405020304" pitchFamily="18" charset="0"/>
                <a:cs typeface="Times New Roman" panose="02020603050405020304" pitchFamily="18" charset="0"/>
              </a:rPr>
              <a:t>minimizar el error cometido entre la salida obtenida por la red neuronal y la salida deseada</a:t>
            </a:r>
            <a:r>
              <a:rPr lang="es-ES" sz="2176" dirty="0">
                <a:latin typeface="Times New Roman" panose="02020603050405020304" pitchFamily="18" charset="0"/>
                <a:cs typeface="Times New Roman" panose="02020603050405020304" pitchFamily="18" charset="0"/>
              </a:rPr>
              <a:t>.</a:t>
            </a:r>
          </a:p>
          <a:p>
            <a:pPr algn="just"/>
            <a:endParaRPr lang="es-ES" sz="2176" dirty="0">
              <a:latin typeface="Times New Roman" panose="02020603050405020304" pitchFamily="18" charset="0"/>
              <a:cs typeface="Times New Roman" panose="02020603050405020304" pitchFamily="18" charset="0"/>
            </a:endParaRPr>
          </a:p>
          <a:p>
            <a:pPr algn="just"/>
            <a:r>
              <a:rPr lang="es-ES" sz="2176" b="1" dirty="0">
                <a:solidFill>
                  <a:srgbClr val="C00000"/>
                </a:solidFill>
                <a:latin typeface="Times New Roman" panose="02020603050405020304" pitchFamily="18" charset="0"/>
                <a:cs typeface="Times New Roman" panose="02020603050405020304" pitchFamily="18" charset="0"/>
              </a:rPr>
              <a:t>Fase de Prueba</a:t>
            </a:r>
            <a:r>
              <a:rPr lang="es-ES" sz="2176" dirty="0">
                <a:solidFill>
                  <a:srgbClr val="C00000"/>
                </a:solidFill>
                <a:latin typeface="Times New Roman" panose="02020603050405020304" pitchFamily="18" charset="0"/>
                <a:cs typeface="Times New Roman" panose="02020603050405020304" pitchFamily="18" charset="0"/>
              </a:rPr>
              <a:t>: </a:t>
            </a:r>
            <a:r>
              <a:rPr lang="es-ES" sz="2176" dirty="0">
                <a:latin typeface="Times New Roman" panose="02020603050405020304" pitchFamily="18" charset="0"/>
                <a:cs typeface="Times New Roman" panose="02020603050405020304" pitchFamily="18" charset="0"/>
              </a:rPr>
              <a:t>en la fase anterior, el modelo puede que se ajuste demasiado a las particularidades presentes en los patrones de entrenamiento, perdiendo su habilidad de generalizar su aprendizaje a casos nuevos (</a:t>
            </a:r>
            <a:r>
              <a:rPr lang="es-ES" sz="2176" b="1" dirty="0">
                <a:latin typeface="Times New Roman" panose="02020603050405020304" pitchFamily="18" charset="0"/>
                <a:cs typeface="Times New Roman" panose="02020603050405020304" pitchFamily="18" charset="0"/>
              </a:rPr>
              <a:t>sobreajuste</a:t>
            </a:r>
            <a:r>
              <a:rPr lang="es-ES" sz="2176" dirty="0">
                <a:latin typeface="Times New Roman" panose="02020603050405020304" pitchFamily="18" charset="0"/>
                <a:cs typeface="Times New Roman" panose="02020603050405020304" pitchFamily="18" charset="0"/>
              </a:rPr>
              <a:t>). Para evitar el problema del sobreajuste, es aconsejable utilizar un segundo grupo de </a:t>
            </a:r>
            <a:r>
              <a:rPr lang="es-ES" sz="2176" b="1" dirty="0">
                <a:latin typeface="Times New Roman" panose="02020603050405020304" pitchFamily="18" charset="0"/>
                <a:cs typeface="Times New Roman" panose="02020603050405020304" pitchFamily="18" charset="0"/>
              </a:rPr>
              <a:t>datos diferentes a los de entrenamiento</a:t>
            </a:r>
            <a:r>
              <a:rPr lang="es-ES" sz="2176" dirty="0">
                <a:latin typeface="Times New Roman" panose="02020603050405020304" pitchFamily="18" charset="0"/>
                <a:cs typeface="Times New Roman" panose="02020603050405020304" pitchFamily="18" charset="0"/>
              </a:rPr>
              <a:t>, el grupo de validación, que permita controlar el proceso de aprendizaje.</a:t>
            </a:r>
          </a:p>
          <a:p>
            <a:pPr algn="just"/>
            <a:endParaRPr lang="es-ES" sz="2176" dirty="0">
              <a:latin typeface="Times New Roman" panose="02020603050405020304" pitchFamily="18" charset="0"/>
              <a:cs typeface="Times New Roman" panose="02020603050405020304" pitchFamily="18" charset="0"/>
            </a:endParaRPr>
          </a:p>
          <a:p>
            <a:pPr algn="just"/>
            <a:r>
              <a:rPr lang="es-ES" sz="2176" dirty="0">
                <a:latin typeface="Times New Roman" panose="02020603050405020304" pitchFamily="18" charset="0"/>
                <a:cs typeface="Times New Roman" panose="02020603050405020304" pitchFamily="18" charset="0"/>
              </a:rPr>
              <a:t>Las redes neuronales suelen tender al sobreajuste. Para evitarlo, se recomienda utilizar un conjunto de datos de validación (diferente al de prueba) que permita controlar el proceso de aprendizaje.</a:t>
            </a:r>
          </a:p>
        </p:txBody>
      </p:sp>
    </p:spTree>
    <p:extLst>
      <p:ext uri="{BB962C8B-B14F-4D97-AF65-F5344CB8AC3E}">
        <p14:creationId xmlns:p14="http://schemas.microsoft.com/office/powerpoint/2010/main" val="14222840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2811" y="204590"/>
            <a:ext cx="8268697" cy="374485"/>
          </a:xfrm>
          <a:prstGeom prst="rect">
            <a:avLst/>
          </a:prstGeom>
        </p:spPr>
        <p:txBody>
          <a:bodyPr vert="horz" wrap="square" lIns="0" tIns="11516" rIns="0" bIns="0" rtlCol="0" anchor="ctr">
            <a:spAutoFit/>
          </a:bodyPr>
          <a:lstStyle/>
          <a:p>
            <a:pPr marL="11516">
              <a:lnSpc>
                <a:spcPct val="100000"/>
              </a:lnSpc>
              <a:spcBef>
                <a:spcPts val="91"/>
              </a:spcBef>
            </a:pPr>
            <a:r>
              <a:rPr sz="2358" b="1" spc="-5" dirty="0">
                <a:solidFill>
                  <a:srgbClr val="538DD3"/>
                </a:solidFill>
                <a:latin typeface="Times New Roman"/>
                <a:cs typeface="Times New Roman"/>
              </a:rPr>
              <a:t>Construcción</a:t>
            </a:r>
            <a:r>
              <a:rPr sz="2358" b="1" spc="-27" dirty="0">
                <a:solidFill>
                  <a:srgbClr val="538DD3"/>
                </a:solidFill>
                <a:latin typeface="Times New Roman"/>
                <a:cs typeface="Times New Roman"/>
              </a:rPr>
              <a:t> </a:t>
            </a:r>
            <a:r>
              <a:rPr sz="2358" b="1" spc="-5" dirty="0">
                <a:solidFill>
                  <a:srgbClr val="538DD3"/>
                </a:solidFill>
                <a:latin typeface="Times New Roman"/>
                <a:cs typeface="Times New Roman"/>
              </a:rPr>
              <a:t>del</a:t>
            </a:r>
            <a:r>
              <a:rPr sz="2358" b="1" spc="-41" dirty="0">
                <a:solidFill>
                  <a:srgbClr val="538DD3"/>
                </a:solidFill>
                <a:latin typeface="Times New Roman"/>
                <a:cs typeface="Times New Roman"/>
              </a:rPr>
              <a:t> </a:t>
            </a:r>
            <a:r>
              <a:rPr sz="2358" b="1" spc="-5" dirty="0" err="1">
                <a:solidFill>
                  <a:srgbClr val="538DD3"/>
                </a:solidFill>
                <a:latin typeface="Times New Roman"/>
                <a:cs typeface="Times New Roman"/>
              </a:rPr>
              <a:t>modelo</a:t>
            </a:r>
            <a:r>
              <a:rPr lang="es-ES" sz="2358" b="1" spc="-5" dirty="0">
                <a:solidFill>
                  <a:srgbClr val="538DD3"/>
                </a:solidFill>
                <a:latin typeface="Times New Roman"/>
                <a:cs typeface="Times New Roman"/>
              </a:rPr>
              <a:t>: MLP hacia adelante, </a:t>
            </a:r>
            <a:r>
              <a:rPr lang="es-ES" sz="2358" b="1" spc="-5" dirty="0" err="1">
                <a:solidFill>
                  <a:srgbClr val="538DD3"/>
                </a:solidFill>
                <a:latin typeface="Times New Roman"/>
                <a:cs typeface="Times New Roman"/>
              </a:rPr>
              <a:t>backpropagation</a:t>
            </a:r>
            <a:endParaRPr sz="2358" dirty="0">
              <a:latin typeface="Times New Roman"/>
              <a:cs typeface="Times New Roman"/>
            </a:endParaRPr>
          </a:p>
        </p:txBody>
      </p:sp>
      <p:sp>
        <p:nvSpPr>
          <p:cNvPr id="3" name="object 3"/>
          <p:cNvSpPr txBox="1"/>
          <p:nvPr/>
        </p:nvSpPr>
        <p:spPr>
          <a:xfrm>
            <a:off x="1562234" y="954707"/>
            <a:ext cx="9021351" cy="1819798"/>
          </a:xfrm>
          <a:prstGeom prst="rect">
            <a:avLst/>
          </a:prstGeom>
        </p:spPr>
        <p:txBody>
          <a:bodyPr vert="horz" wrap="square" lIns="0" tIns="25912" rIns="0" bIns="0" rtlCol="0">
            <a:spAutoFit/>
          </a:bodyPr>
          <a:lstStyle/>
          <a:p>
            <a:pPr marL="11516" marR="4607">
              <a:lnSpc>
                <a:spcPct val="95600"/>
              </a:lnSpc>
              <a:spcBef>
                <a:spcPts val="204"/>
              </a:spcBef>
            </a:pPr>
            <a:r>
              <a:rPr sz="2176" dirty="0">
                <a:latin typeface="Times New Roman"/>
                <a:cs typeface="Times New Roman"/>
              </a:rPr>
              <a:t>La </a:t>
            </a:r>
            <a:r>
              <a:rPr sz="2176" b="1" dirty="0" err="1">
                <a:latin typeface="Times New Roman"/>
                <a:cs typeface="Times New Roman"/>
              </a:rPr>
              <a:t>capa</a:t>
            </a:r>
            <a:r>
              <a:rPr sz="2176" b="1" dirty="0">
                <a:latin typeface="Times New Roman"/>
                <a:cs typeface="Times New Roman"/>
              </a:rPr>
              <a:t> input</a:t>
            </a:r>
            <a:r>
              <a:rPr lang="es-ES" sz="2176" b="1" dirty="0">
                <a:latin typeface="Times New Roman"/>
                <a:cs typeface="Times New Roman"/>
              </a:rPr>
              <a:t> o de entrada </a:t>
            </a:r>
            <a:r>
              <a:rPr lang="es-ES" sz="2176" dirty="0">
                <a:latin typeface="Times New Roman"/>
                <a:cs typeface="Times New Roman"/>
              </a:rPr>
              <a:t>(cuyos nodos son las variables del modelo) </a:t>
            </a:r>
            <a:r>
              <a:rPr sz="2176" b="1" spc="-5" dirty="0">
                <a:latin typeface="Times New Roman"/>
                <a:cs typeface="Times New Roman"/>
              </a:rPr>
              <a:t> </a:t>
            </a:r>
            <a:r>
              <a:rPr sz="2176" spc="-5" dirty="0">
                <a:latin typeface="Times New Roman"/>
                <a:cs typeface="Times New Roman"/>
              </a:rPr>
              <a:t>se conecta</a:t>
            </a:r>
            <a:r>
              <a:rPr sz="2176" spc="5" dirty="0">
                <a:latin typeface="Times New Roman"/>
                <a:cs typeface="Times New Roman"/>
              </a:rPr>
              <a:t> </a:t>
            </a:r>
            <a:r>
              <a:rPr sz="2176" dirty="0">
                <a:latin typeface="Times New Roman"/>
                <a:cs typeface="Times New Roman"/>
              </a:rPr>
              <a:t>a la</a:t>
            </a:r>
            <a:r>
              <a:rPr sz="2176" spc="9" dirty="0">
                <a:latin typeface="Times New Roman"/>
                <a:cs typeface="Times New Roman"/>
              </a:rPr>
              <a:t> </a:t>
            </a:r>
            <a:r>
              <a:rPr sz="2176" b="1" dirty="0" err="1">
                <a:latin typeface="Times New Roman"/>
                <a:cs typeface="Times New Roman"/>
              </a:rPr>
              <a:t>capa</a:t>
            </a:r>
            <a:r>
              <a:rPr sz="2176" b="1" dirty="0">
                <a:latin typeface="Times New Roman"/>
                <a:cs typeface="Times New Roman"/>
              </a:rPr>
              <a:t> </a:t>
            </a:r>
            <a:r>
              <a:rPr sz="2176" b="1" spc="-5" dirty="0" err="1">
                <a:latin typeface="Times New Roman"/>
                <a:cs typeface="Times New Roman"/>
              </a:rPr>
              <a:t>oculta</a:t>
            </a:r>
            <a:r>
              <a:rPr lang="es-ES" sz="2176" b="1" spc="-5" dirty="0">
                <a:latin typeface="Times New Roman"/>
                <a:cs typeface="Times New Roman"/>
              </a:rPr>
              <a:t> </a:t>
            </a:r>
            <a:r>
              <a:rPr lang="es-ES" sz="2176" spc="-5" dirty="0">
                <a:latin typeface="Times New Roman"/>
                <a:cs typeface="Times New Roman"/>
              </a:rPr>
              <a:t>(cuando se construye el modelo hay que determinar cuántos nodos hay en la capa oculta)</a:t>
            </a:r>
            <a:r>
              <a:rPr sz="2176" b="1" spc="5" dirty="0">
                <a:latin typeface="Times New Roman"/>
                <a:cs typeface="Times New Roman"/>
              </a:rPr>
              <a:t> </a:t>
            </a:r>
            <a:r>
              <a:rPr sz="2176" spc="-5" dirty="0">
                <a:latin typeface="Times New Roman"/>
                <a:cs typeface="Times New Roman"/>
              </a:rPr>
              <a:t>mediante</a:t>
            </a:r>
            <a:r>
              <a:rPr sz="2176" dirty="0">
                <a:latin typeface="Times New Roman"/>
                <a:cs typeface="Times New Roman"/>
              </a:rPr>
              <a:t> la</a:t>
            </a:r>
            <a:r>
              <a:rPr sz="2176" spc="-5" dirty="0">
                <a:latin typeface="Times New Roman"/>
                <a:cs typeface="Times New Roman"/>
              </a:rPr>
              <a:t> </a:t>
            </a:r>
            <a:r>
              <a:rPr sz="2176" b="1" spc="-5" dirty="0">
                <a:latin typeface="Times New Roman"/>
                <a:cs typeface="Times New Roman"/>
              </a:rPr>
              <a:t>función de </a:t>
            </a:r>
            <a:r>
              <a:rPr sz="2176" b="1" dirty="0">
                <a:latin typeface="Times New Roman"/>
                <a:cs typeface="Times New Roman"/>
              </a:rPr>
              <a:t>combinación</a:t>
            </a:r>
            <a:r>
              <a:rPr sz="2176" dirty="0">
                <a:latin typeface="Times New Roman"/>
                <a:cs typeface="Times New Roman"/>
              </a:rPr>
              <a:t>, </a:t>
            </a:r>
            <a:r>
              <a:rPr sz="2176" spc="-530" dirty="0">
                <a:latin typeface="Times New Roman"/>
                <a:cs typeface="Times New Roman"/>
              </a:rPr>
              <a:t> </a:t>
            </a:r>
            <a:r>
              <a:rPr sz="2176" spc="-5" dirty="0">
                <a:latin typeface="Times New Roman"/>
                <a:cs typeface="Times New Roman"/>
              </a:rPr>
              <a:t>representada</a:t>
            </a:r>
            <a:r>
              <a:rPr sz="2176" dirty="0">
                <a:latin typeface="Times New Roman"/>
                <a:cs typeface="Times New Roman"/>
              </a:rPr>
              <a:t> por</a:t>
            </a:r>
            <a:r>
              <a:rPr sz="2176" spc="5" dirty="0">
                <a:latin typeface="Times New Roman"/>
                <a:cs typeface="Times New Roman"/>
              </a:rPr>
              <a:t> </a:t>
            </a:r>
            <a:r>
              <a:rPr sz="3264" b="1" spc="-5" dirty="0">
                <a:latin typeface="Times New Roman"/>
                <a:cs typeface="Times New Roman"/>
              </a:rPr>
              <a:t>Σ</a:t>
            </a:r>
            <a:r>
              <a:rPr sz="2176" spc="-5" dirty="0">
                <a:latin typeface="Times New Roman"/>
                <a:cs typeface="Times New Roman"/>
              </a:rPr>
              <a:t>,</a:t>
            </a:r>
            <a:r>
              <a:rPr sz="2176" dirty="0">
                <a:latin typeface="Times New Roman"/>
                <a:cs typeface="Times New Roman"/>
              </a:rPr>
              <a:t> donde</a:t>
            </a:r>
            <a:r>
              <a:rPr sz="2176" spc="5" dirty="0">
                <a:latin typeface="Times New Roman"/>
                <a:cs typeface="Times New Roman"/>
              </a:rPr>
              <a:t> </a:t>
            </a:r>
            <a:r>
              <a:rPr sz="2176" dirty="0">
                <a:latin typeface="Times New Roman"/>
                <a:cs typeface="Times New Roman"/>
              </a:rPr>
              <a:t>los</a:t>
            </a:r>
            <a:r>
              <a:rPr sz="2176" spc="5" dirty="0">
                <a:latin typeface="Times New Roman"/>
                <a:cs typeface="Times New Roman"/>
              </a:rPr>
              <a:t> </a:t>
            </a:r>
            <a:r>
              <a:rPr sz="2176" dirty="0">
                <a:latin typeface="Times New Roman"/>
                <a:cs typeface="Times New Roman"/>
              </a:rPr>
              <a:t>pesos</a:t>
            </a:r>
            <a:r>
              <a:rPr sz="2176" b="1" spc="-9" dirty="0">
                <a:latin typeface="Times New Roman"/>
                <a:cs typeface="Times New Roman"/>
              </a:rPr>
              <a:t> </a:t>
            </a:r>
            <a:r>
              <a:rPr sz="2176" b="1" dirty="0">
                <a:latin typeface="Times New Roman"/>
                <a:cs typeface="Times New Roman"/>
              </a:rPr>
              <a:t>w</a:t>
            </a:r>
            <a:r>
              <a:rPr sz="1270" b="1" dirty="0">
                <a:latin typeface="Times New Roman"/>
                <a:cs typeface="Times New Roman"/>
              </a:rPr>
              <a:t>ij</a:t>
            </a:r>
            <a:r>
              <a:rPr sz="1270" b="1" spc="227" dirty="0">
                <a:latin typeface="Times New Roman"/>
                <a:cs typeface="Times New Roman"/>
              </a:rPr>
              <a:t> </a:t>
            </a:r>
            <a:r>
              <a:rPr sz="2176" dirty="0">
                <a:latin typeface="Times New Roman"/>
                <a:cs typeface="Times New Roman"/>
              </a:rPr>
              <a:t>hacen el</a:t>
            </a:r>
            <a:r>
              <a:rPr sz="2176" spc="-9" dirty="0">
                <a:latin typeface="Times New Roman"/>
                <a:cs typeface="Times New Roman"/>
              </a:rPr>
              <a:t> </a:t>
            </a:r>
            <a:r>
              <a:rPr sz="2176" dirty="0">
                <a:latin typeface="Times New Roman"/>
                <a:cs typeface="Times New Roman"/>
              </a:rPr>
              <a:t>papel</a:t>
            </a:r>
            <a:r>
              <a:rPr sz="2176" spc="5" dirty="0">
                <a:latin typeface="Times New Roman"/>
                <a:cs typeface="Times New Roman"/>
              </a:rPr>
              <a:t> </a:t>
            </a:r>
            <a:r>
              <a:rPr sz="2176" dirty="0">
                <a:latin typeface="Times New Roman"/>
                <a:cs typeface="Times New Roman"/>
              </a:rPr>
              <a:t>de</a:t>
            </a:r>
            <a:r>
              <a:rPr sz="2176" spc="5" dirty="0">
                <a:latin typeface="Times New Roman"/>
                <a:cs typeface="Times New Roman"/>
              </a:rPr>
              <a:t> </a:t>
            </a:r>
            <a:r>
              <a:rPr sz="2176" spc="-5" dirty="0">
                <a:latin typeface="Times New Roman"/>
                <a:cs typeface="Times New Roman"/>
              </a:rPr>
              <a:t>parámetros</a:t>
            </a:r>
            <a:r>
              <a:rPr sz="2176" dirty="0">
                <a:latin typeface="Times New Roman"/>
                <a:cs typeface="Times New Roman"/>
              </a:rPr>
              <a:t> a </a:t>
            </a:r>
            <a:r>
              <a:rPr sz="2176" spc="-5" dirty="0" err="1">
                <a:latin typeface="Times New Roman"/>
                <a:cs typeface="Times New Roman"/>
              </a:rPr>
              <a:t>estimar</a:t>
            </a:r>
            <a:r>
              <a:rPr sz="2176" spc="-5" dirty="0">
                <a:latin typeface="Times New Roman"/>
                <a:cs typeface="Times New Roman"/>
              </a:rPr>
              <a:t>.</a:t>
            </a:r>
            <a:endParaRPr lang="es-ES" sz="2176" spc="-5" dirty="0">
              <a:latin typeface="Times New Roman"/>
              <a:cs typeface="Times New Roman"/>
            </a:endParaRPr>
          </a:p>
          <a:p>
            <a:pPr marL="11516" marR="4607">
              <a:lnSpc>
                <a:spcPct val="95600"/>
              </a:lnSpc>
              <a:spcBef>
                <a:spcPts val="204"/>
              </a:spcBef>
            </a:pPr>
            <a:r>
              <a:rPr lang="es-ES" sz="2176" spc="-5" dirty="0">
                <a:latin typeface="Times New Roman"/>
                <a:cs typeface="Times New Roman"/>
              </a:rPr>
              <a:t>En la </a:t>
            </a:r>
            <a:r>
              <a:rPr lang="es-ES" sz="2176" b="1" spc="-5" dirty="0">
                <a:latin typeface="Times New Roman"/>
                <a:cs typeface="Times New Roman"/>
              </a:rPr>
              <a:t>capa de salida </a:t>
            </a:r>
            <a:r>
              <a:rPr lang="es-ES" sz="2176" spc="-5" dirty="0">
                <a:latin typeface="Times New Roman"/>
                <a:cs typeface="Times New Roman"/>
              </a:rPr>
              <a:t> tenemos tantos nodos como </a:t>
            </a:r>
            <a:r>
              <a:rPr lang="es-ES" sz="2176" b="1" spc="-5" dirty="0">
                <a:latin typeface="Times New Roman"/>
                <a:cs typeface="Times New Roman"/>
              </a:rPr>
              <a:t>variables de salida</a:t>
            </a:r>
            <a:r>
              <a:rPr lang="es-ES" sz="2176" spc="-5" dirty="0">
                <a:latin typeface="Times New Roman"/>
                <a:cs typeface="Times New Roman"/>
              </a:rPr>
              <a:t> haya.</a:t>
            </a:r>
            <a:endParaRPr sz="2176" b="1" dirty="0">
              <a:latin typeface="Times New Roman"/>
              <a:cs typeface="Times New Roman"/>
            </a:endParaRPr>
          </a:p>
        </p:txBody>
      </p:sp>
      <p:sp>
        <p:nvSpPr>
          <p:cNvPr id="4" name="object 4"/>
          <p:cNvSpPr txBox="1"/>
          <p:nvPr/>
        </p:nvSpPr>
        <p:spPr>
          <a:xfrm>
            <a:off x="1562234" y="6371225"/>
            <a:ext cx="9021351" cy="270984"/>
          </a:xfrm>
          <a:prstGeom prst="rect">
            <a:avLst/>
          </a:prstGeom>
        </p:spPr>
        <p:txBody>
          <a:bodyPr vert="horz" wrap="square" lIns="0" tIns="27063" rIns="0" bIns="0" rtlCol="0">
            <a:spAutoFit/>
          </a:bodyPr>
          <a:lstStyle/>
          <a:p>
            <a:pPr marL="11516" marR="4607">
              <a:lnSpc>
                <a:spcPts val="1886"/>
              </a:lnSpc>
              <a:spcBef>
                <a:spcPts val="213"/>
              </a:spcBef>
            </a:pPr>
            <a:r>
              <a:rPr sz="1632" spc="-5" dirty="0">
                <a:solidFill>
                  <a:srgbClr val="FF0000"/>
                </a:solidFill>
                <a:latin typeface="Times New Roman"/>
                <a:cs typeface="Times New Roman"/>
              </a:rPr>
              <a:t>Red neuronal</a:t>
            </a:r>
            <a:r>
              <a:rPr sz="1632" dirty="0">
                <a:solidFill>
                  <a:srgbClr val="FF0000"/>
                </a:solidFill>
                <a:latin typeface="Times New Roman"/>
                <a:cs typeface="Times New Roman"/>
              </a:rPr>
              <a:t> </a:t>
            </a:r>
            <a:r>
              <a:rPr sz="1632" spc="-5" dirty="0">
                <a:solidFill>
                  <a:srgbClr val="FF0000"/>
                </a:solidFill>
                <a:latin typeface="Times New Roman"/>
                <a:cs typeface="Times New Roman"/>
              </a:rPr>
              <a:t>con</a:t>
            </a:r>
            <a:r>
              <a:rPr sz="1632" dirty="0">
                <a:solidFill>
                  <a:srgbClr val="FF0000"/>
                </a:solidFill>
                <a:latin typeface="Times New Roman"/>
                <a:cs typeface="Times New Roman"/>
              </a:rPr>
              <a:t> 4</a:t>
            </a:r>
            <a:r>
              <a:rPr sz="1632" spc="9" dirty="0">
                <a:solidFill>
                  <a:srgbClr val="FF0000"/>
                </a:solidFill>
                <a:latin typeface="Times New Roman"/>
                <a:cs typeface="Times New Roman"/>
              </a:rPr>
              <a:t> </a:t>
            </a:r>
            <a:r>
              <a:rPr sz="1632" spc="-5" dirty="0">
                <a:solidFill>
                  <a:srgbClr val="FF0000"/>
                </a:solidFill>
                <a:latin typeface="Times New Roman"/>
                <a:cs typeface="Times New Roman"/>
              </a:rPr>
              <a:t>inputs</a:t>
            </a:r>
            <a:r>
              <a:rPr sz="1632" spc="-9" dirty="0">
                <a:solidFill>
                  <a:srgbClr val="FF0000"/>
                </a:solidFill>
                <a:latin typeface="Times New Roman"/>
                <a:cs typeface="Times New Roman"/>
              </a:rPr>
              <a:t> </a:t>
            </a:r>
            <a:r>
              <a:rPr sz="1632" spc="-5" dirty="0">
                <a:solidFill>
                  <a:srgbClr val="FF0000"/>
                </a:solidFill>
                <a:latin typeface="Times New Roman"/>
                <a:cs typeface="Times New Roman"/>
              </a:rPr>
              <a:t>X1,…,X4,</a:t>
            </a:r>
            <a:r>
              <a:rPr sz="1632" spc="27" dirty="0">
                <a:solidFill>
                  <a:srgbClr val="FF0000"/>
                </a:solidFill>
                <a:latin typeface="Times New Roman"/>
                <a:cs typeface="Times New Roman"/>
              </a:rPr>
              <a:t> </a:t>
            </a:r>
            <a:r>
              <a:rPr sz="1632" spc="-5" dirty="0">
                <a:solidFill>
                  <a:srgbClr val="FF0000"/>
                </a:solidFill>
                <a:latin typeface="Times New Roman"/>
                <a:cs typeface="Times New Roman"/>
              </a:rPr>
              <a:t>un</a:t>
            </a:r>
            <a:r>
              <a:rPr sz="1632" spc="-9" dirty="0">
                <a:solidFill>
                  <a:srgbClr val="FF0000"/>
                </a:solidFill>
                <a:latin typeface="Times New Roman"/>
                <a:cs typeface="Times New Roman"/>
              </a:rPr>
              <a:t> </a:t>
            </a:r>
            <a:r>
              <a:rPr sz="1632" spc="-5" dirty="0">
                <a:solidFill>
                  <a:srgbClr val="FF0000"/>
                </a:solidFill>
                <a:latin typeface="Times New Roman"/>
                <a:cs typeface="Times New Roman"/>
              </a:rPr>
              <a:t>output</a:t>
            </a:r>
            <a:r>
              <a:rPr sz="1632" dirty="0">
                <a:solidFill>
                  <a:srgbClr val="FF0000"/>
                </a:solidFill>
                <a:latin typeface="Times New Roman"/>
                <a:cs typeface="Times New Roman"/>
              </a:rPr>
              <a:t> </a:t>
            </a:r>
            <a:r>
              <a:rPr sz="1632" spc="-5" dirty="0">
                <a:solidFill>
                  <a:srgbClr val="FF0000"/>
                </a:solidFill>
                <a:latin typeface="Times New Roman"/>
                <a:cs typeface="Times New Roman"/>
              </a:rPr>
              <a:t>Y,</a:t>
            </a:r>
            <a:r>
              <a:rPr sz="1632" spc="9" dirty="0">
                <a:solidFill>
                  <a:srgbClr val="FF0000"/>
                </a:solidFill>
                <a:latin typeface="Times New Roman"/>
                <a:cs typeface="Times New Roman"/>
              </a:rPr>
              <a:t> </a:t>
            </a:r>
            <a:r>
              <a:rPr sz="1632" dirty="0">
                <a:solidFill>
                  <a:srgbClr val="FF0000"/>
                </a:solidFill>
                <a:latin typeface="Times New Roman"/>
                <a:cs typeface="Times New Roman"/>
              </a:rPr>
              <a:t>con </a:t>
            </a:r>
            <a:r>
              <a:rPr sz="1632" spc="-5" dirty="0">
                <a:solidFill>
                  <a:srgbClr val="FF0000"/>
                </a:solidFill>
                <a:latin typeface="Times New Roman"/>
                <a:cs typeface="Times New Roman"/>
              </a:rPr>
              <a:t>una</a:t>
            </a:r>
            <a:r>
              <a:rPr sz="1632" dirty="0">
                <a:solidFill>
                  <a:srgbClr val="FF0000"/>
                </a:solidFill>
                <a:latin typeface="Times New Roman"/>
                <a:cs typeface="Times New Roman"/>
              </a:rPr>
              <a:t> </a:t>
            </a:r>
            <a:r>
              <a:rPr sz="1632" spc="-5" dirty="0">
                <a:solidFill>
                  <a:srgbClr val="FF0000"/>
                </a:solidFill>
                <a:latin typeface="Times New Roman"/>
                <a:cs typeface="Times New Roman"/>
              </a:rPr>
              <a:t>capa</a:t>
            </a:r>
            <a:r>
              <a:rPr sz="1632" spc="5" dirty="0">
                <a:solidFill>
                  <a:srgbClr val="FF0000"/>
                </a:solidFill>
                <a:latin typeface="Times New Roman"/>
                <a:cs typeface="Times New Roman"/>
              </a:rPr>
              <a:t> </a:t>
            </a:r>
            <a:r>
              <a:rPr sz="1632" spc="-5" dirty="0">
                <a:solidFill>
                  <a:srgbClr val="FF0000"/>
                </a:solidFill>
                <a:latin typeface="Times New Roman"/>
                <a:cs typeface="Times New Roman"/>
              </a:rPr>
              <a:t>oculta </a:t>
            </a:r>
            <a:r>
              <a:rPr sz="1632" dirty="0">
                <a:solidFill>
                  <a:srgbClr val="FF0000"/>
                </a:solidFill>
                <a:latin typeface="Times New Roman"/>
                <a:cs typeface="Times New Roman"/>
              </a:rPr>
              <a:t>con</a:t>
            </a:r>
            <a:r>
              <a:rPr sz="1632" spc="-14" dirty="0">
                <a:solidFill>
                  <a:srgbClr val="FF0000"/>
                </a:solidFill>
                <a:latin typeface="Times New Roman"/>
                <a:cs typeface="Times New Roman"/>
              </a:rPr>
              <a:t> </a:t>
            </a:r>
            <a:r>
              <a:rPr sz="1632" dirty="0">
                <a:solidFill>
                  <a:srgbClr val="FF0000"/>
                </a:solidFill>
                <a:latin typeface="Times New Roman"/>
                <a:cs typeface="Times New Roman"/>
              </a:rPr>
              <a:t>4</a:t>
            </a:r>
            <a:r>
              <a:rPr sz="1632" spc="5" dirty="0">
                <a:solidFill>
                  <a:srgbClr val="FF0000"/>
                </a:solidFill>
                <a:latin typeface="Times New Roman"/>
                <a:cs typeface="Times New Roman"/>
              </a:rPr>
              <a:t> </a:t>
            </a:r>
            <a:r>
              <a:rPr sz="1632" spc="-5" dirty="0">
                <a:solidFill>
                  <a:srgbClr val="FF0000"/>
                </a:solidFill>
                <a:latin typeface="Times New Roman"/>
                <a:cs typeface="Times New Roman"/>
              </a:rPr>
              <a:t>nodos</a:t>
            </a:r>
            <a:r>
              <a:rPr sz="1632" dirty="0">
                <a:solidFill>
                  <a:srgbClr val="FF0000"/>
                </a:solidFill>
                <a:latin typeface="Times New Roman"/>
                <a:cs typeface="Times New Roman"/>
              </a:rPr>
              <a:t> </a:t>
            </a:r>
            <a:r>
              <a:rPr sz="1632" spc="-5" dirty="0">
                <a:solidFill>
                  <a:srgbClr val="FF0000"/>
                </a:solidFill>
                <a:latin typeface="Times New Roman"/>
                <a:cs typeface="Times New Roman"/>
              </a:rPr>
              <a:t>ocultos </a:t>
            </a:r>
            <a:r>
              <a:rPr sz="1632" dirty="0">
                <a:solidFill>
                  <a:srgbClr val="FF0000"/>
                </a:solidFill>
                <a:latin typeface="Times New Roman"/>
                <a:cs typeface="Times New Roman"/>
              </a:rPr>
              <a:t>H1, H2, </a:t>
            </a:r>
            <a:r>
              <a:rPr sz="1632" spc="-394" dirty="0">
                <a:solidFill>
                  <a:srgbClr val="FF0000"/>
                </a:solidFill>
                <a:latin typeface="Times New Roman"/>
                <a:cs typeface="Times New Roman"/>
              </a:rPr>
              <a:t> </a:t>
            </a:r>
            <a:r>
              <a:rPr sz="1632" dirty="0">
                <a:solidFill>
                  <a:srgbClr val="FF0000"/>
                </a:solidFill>
                <a:latin typeface="Times New Roman"/>
                <a:cs typeface="Times New Roman"/>
              </a:rPr>
              <a:t>H3,</a:t>
            </a:r>
            <a:r>
              <a:rPr sz="1632" spc="-5" dirty="0">
                <a:solidFill>
                  <a:srgbClr val="FF0000"/>
                </a:solidFill>
                <a:latin typeface="Times New Roman"/>
                <a:cs typeface="Times New Roman"/>
              </a:rPr>
              <a:t> </a:t>
            </a:r>
            <a:r>
              <a:rPr sz="1632" dirty="0">
                <a:solidFill>
                  <a:srgbClr val="FF0000"/>
                </a:solidFill>
                <a:latin typeface="Times New Roman"/>
                <a:cs typeface="Times New Roman"/>
              </a:rPr>
              <a:t>H4.</a:t>
            </a:r>
            <a:endParaRPr sz="1632" dirty="0">
              <a:latin typeface="Times New Roman"/>
              <a:cs typeface="Times New Roman"/>
            </a:endParaRPr>
          </a:p>
        </p:txBody>
      </p:sp>
      <p:pic>
        <p:nvPicPr>
          <p:cNvPr id="5" name="object 5"/>
          <p:cNvPicPr/>
          <p:nvPr/>
        </p:nvPicPr>
        <p:blipFill>
          <a:blip r:embed="rId2" cstate="print"/>
          <a:stretch>
            <a:fillRect/>
          </a:stretch>
        </p:blipFill>
        <p:spPr>
          <a:xfrm>
            <a:off x="1328222" y="3454945"/>
            <a:ext cx="4076796" cy="2916078"/>
          </a:xfrm>
          <a:prstGeom prst="rect">
            <a:avLst/>
          </a:prstGeom>
        </p:spPr>
      </p:pic>
      <p:sp>
        <p:nvSpPr>
          <p:cNvPr id="7" name="CuadroTexto 6"/>
          <p:cNvSpPr txBox="1"/>
          <p:nvPr/>
        </p:nvSpPr>
        <p:spPr>
          <a:xfrm>
            <a:off x="5612313" y="2807116"/>
            <a:ext cx="5109469" cy="3440685"/>
          </a:xfrm>
          <a:prstGeom prst="rect">
            <a:avLst/>
          </a:prstGeom>
          <a:noFill/>
        </p:spPr>
        <p:txBody>
          <a:bodyPr wrap="square" rtlCol="0">
            <a:spAutoFit/>
          </a:bodyPr>
          <a:lstStyle/>
          <a:p>
            <a:r>
              <a:rPr lang="es-ES" sz="2176" b="1" dirty="0">
                <a:solidFill>
                  <a:srgbClr val="4F6128"/>
                </a:solidFill>
                <a:latin typeface="Times New Roman"/>
                <a:cs typeface="Times New Roman"/>
              </a:rPr>
              <a:t>Modelo de caja negra</a:t>
            </a:r>
            <a:r>
              <a:rPr lang="es-ES" sz="2176" dirty="0">
                <a:solidFill>
                  <a:srgbClr val="4F6128"/>
                </a:solidFill>
                <a:latin typeface="Times New Roman"/>
                <a:cs typeface="Times New Roman"/>
              </a:rPr>
              <a:t>: </a:t>
            </a:r>
            <a:r>
              <a:rPr lang="es-ES" sz="2176" dirty="0">
                <a:latin typeface="Times New Roman"/>
                <a:cs typeface="Times New Roman"/>
              </a:rPr>
              <a:t>el número de nodos de la capa oculta se determina mediante </a:t>
            </a:r>
            <a:r>
              <a:rPr lang="es-ES" sz="2176" dirty="0">
                <a:solidFill>
                  <a:srgbClr val="C00000"/>
                </a:solidFill>
                <a:latin typeface="Times New Roman"/>
                <a:cs typeface="Times New Roman"/>
              </a:rPr>
              <a:t>prueba/error. </a:t>
            </a:r>
            <a:r>
              <a:rPr lang="es-ES" sz="2176" b="1" dirty="0">
                <a:latin typeface="Times New Roman"/>
                <a:cs typeface="Times New Roman"/>
              </a:rPr>
              <a:t>No hay un número de nodos óptimo establecido.</a:t>
            </a:r>
          </a:p>
          <a:p>
            <a:r>
              <a:rPr lang="es-ES" sz="2176" dirty="0">
                <a:latin typeface="Times New Roman"/>
                <a:cs typeface="Times New Roman"/>
              </a:rPr>
              <a:t>Lo primero es conectar cada nodo de la capa de entrada con cada nodo de la capa oculta (sinapsis).</a:t>
            </a:r>
          </a:p>
          <a:p>
            <a:r>
              <a:rPr lang="es-ES" sz="2176" dirty="0">
                <a:latin typeface="Times New Roman"/>
                <a:cs typeface="Times New Roman"/>
              </a:rPr>
              <a:t>Desde cada nodo de la capa de entrada saldrán tantas conexiones como neuronas haya en la capa oculta.</a:t>
            </a:r>
          </a:p>
        </p:txBody>
      </p:sp>
      <p:sp>
        <p:nvSpPr>
          <p:cNvPr id="8" name="Elipse 7"/>
          <p:cNvSpPr/>
          <p:nvPr/>
        </p:nvSpPr>
        <p:spPr>
          <a:xfrm>
            <a:off x="2364695" y="3462308"/>
            <a:ext cx="276393" cy="224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32"/>
          </a:p>
        </p:txBody>
      </p:sp>
      <p:sp>
        <p:nvSpPr>
          <p:cNvPr id="9" name="CuadroTexto 8"/>
          <p:cNvSpPr txBox="1"/>
          <p:nvPr/>
        </p:nvSpPr>
        <p:spPr>
          <a:xfrm>
            <a:off x="1492398" y="2855128"/>
            <a:ext cx="2945244" cy="427168"/>
          </a:xfrm>
          <a:prstGeom prst="rect">
            <a:avLst/>
          </a:prstGeom>
          <a:noFill/>
          <a:ln>
            <a:solidFill>
              <a:srgbClr val="0070C0"/>
            </a:solidFill>
          </a:ln>
        </p:spPr>
        <p:txBody>
          <a:bodyPr wrap="square" rtlCol="0">
            <a:spAutoFit/>
          </a:bodyPr>
          <a:lstStyle/>
          <a:p>
            <a:r>
              <a:rPr lang="es-ES" sz="1088" dirty="0">
                <a:solidFill>
                  <a:srgbClr val="0070C0"/>
                </a:solidFill>
              </a:rPr>
              <a:t>Peso asignado a la conexión entre el nodo X1 de la capa de entrada y el nodo H1 de la capa oculta</a:t>
            </a:r>
          </a:p>
        </p:txBody>
      </p:sp>
      <p:cxnSp>
        <p:nvCxnSpPr>
          <p:cNvPr id="11" name="Conector recto de flecha 10"/>
          <p:cNvCxnSpPr>
            <a:endCxn id="8" idx="1"/>
          </p:cNvCxnSpPr>
          <p:nvPr/>
        </p:nvCxnSpPr>
        <p:spPr>
          <a:xfrm>
            <a:off x="2088301" y="3273767"/>
            <a:ext cx="316871" cy="221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36360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4615" y="1078544"/>
            <a:ext cx="4930735" cy="568262"/>
          </a:xfrm>
          <a:prstGeom prst="rect">
            <a:avLst/>
          </a:prstGeom>
        </p:spPr>
        <p:txBody>
          <a:bodyPr vert="horz" wrap="square" lIns="0" tIns="29366" rIns="0" bIns="0" rtlCol="0" anchor="ctr">
            <a:spAutoFit/>
          </a:bodyPr>
          <a:lstStyle/>
          <a:p>
            <a:pPr marL="11516" marR="4607">
              <a:lnSpc>
                <a:spcPts val="2095"/>
              </a:lnSpc>
              <a:spcBef>
                <a:spcPts val="230"/>
              </a:spcBef>
            </a:pPr>
            <a:r>
              <a:rPr sz="1814" dirty="0">
                <a:solidFill>
                  <a:srgbClr val="000000"/>
                </a:solidFill>
              </a:rPr>
              <a:t>La </a:t>
            </a:r>
            <a:r>
              <a:rPr sz="1814" spc="-5" dirty="0">
                <a:solidFill>
                  <a:srgbClr val="000000"/>
                </a:solidFill>
              </a:rPr>
              <a:t>función</a:t>
            </a:r>
            <a:r>
              <a:rPr sz="1814" dirty="0">
                <a:solidFill>
                  <a:srgbClr val="000000"/>
                </a:solidFill>
              </a:rPr>
              <a:t> de</a:t>
            </a:r>
            <a:r>
              <a:rPr sz="1814" spc="-18" dirty="0">
                <a:solidFill>
                  <a:srgbClr val="000000"/>
                </a:solidFill>
              </a:rPr>
              <a:t> </a:t>
            </a:r>
            <a:r>
              <a:rPr sz="1814" spc="-5" dirty="0">
                <a:solidFill>
                  <a:srgbClr val="C00000"/>
                </a:solidFill>
              </a:rPr>
              <a:t>combinación</a:t>
            </a:r>
            <a:r>
              <a:rPr sz="1814" dirty="0">
                <a:solidFill>
                  <a:srgbClr val="000000"/>
                </a:solidFill>
              </a:rPr>
              <a:t> </a:t>
            </a:r>
            <a:r>
              <a:rPr sz="1814" spc="-5" dirty="0">
                <a:solidFill>
                  <a:srgbClr val="000000"/>
                </a:solidFill>
              </a:rPr>
              <a:t>más</a:t>
            </a:r>
            <a:r>
              <a:rPr sz="1814" dirty="0">
                <a:solidFill>
                  <a:srgbClr val="000000"/>
                </a:solidFill>
              </a:rPr>
              <a:t> habitual </a:t>
            </a:r>
            <a:r>
              <a:rPr sz="1814" spc="-5" dirty="0">
                <a:solidFill>
                  <a:srgbClr val="000000"/>
                </a:solidFill>
              </a:rPr>
              <a:t>es</a:t>
            </a:r>
            <a:r>
              <a:rPr sz="1814" dirty="0">
                <a:solidFill>
                  <a:srgbClr val="000000"/>
                </a:solidFill>
              </a:rPr>
              <a:t> la </a:t>
            </a:r>
            <a:r>
              <a:rPr sz="1814" b="1" dirty="0">
                <a:solidFill>
                  <a:srgbClr val="C00000"/>
                </a:solidFill>
              </a:rPr>
              <a:t>lineal</a:t>
            </a:r>
            <a:r>
              <a:rPr sz="1814" dirty="0">
                <a:solidFill>
                  <a:srgbClr val="000000"/>
                </a:solidFill>
              </a:rPr>
              <a:t>. </a:t>
            </a:r>
            <a:r>
              <a:rPr sz="1814" spc="5" dirty="0">
                <a:solidFill>
                  <a:srgbClr val="000000"/>
                </a:solidFill>
              </a:rPr>
              <a:t> </a:t>
            </a:r>
            <a:r>
              <a:rPr sz="1814" u="sng" spc="-5" dirty="0">
                <a:solidFill>
                  <a:srgbClr val="000000"/>
                </a:solidFill>
              </a:rPr>
              <a:t>Previamente</a:t>
            </a:r>
            <a:r>
              <a:rPr sz="1814" u="sng" spc="9" dirty="0">
                <a:solidFill>
                  <a:srgbClr val="000000"/>
                </a:solidFill>
              </a:rPr>
              <a:t> </a:t>
            </a:r>
            <a:r>
              <a:rPr sz="1814" u="sng" spc="-5" dirty="0">
                <a:solidFill>
                  <a:srgbClr val="000000"/>
                </a:solidFill>
              </a:rPr>
              <a:t>se</a:t>
            </a:r>
            <a:r>
              <a:rPr sz="1814" u="sng" spc="9" dirty="0">
                <a:solidFill>
                  <a:srgbClr val="000000"/>
                </a:solidFill>
              </a:rPr>
              <a:t> </a:t>
            </a:r>
            <a:r>
              <a:rPr sz="1814" u="sng" spc="-5" dirty="0">
                <a:solidFill>
                  <a:srgbClr val="000000"/>
                </a:solidFill>
              </a:rPr>
              <a:t>han</a:t>
            </a:r>
            <a:r>
              <a:rPr sz="1814" u="sng" spc="18" dirty="0">
                <a:solidFill>
                  <a:srgbClr val="000000"/>
                </a:solidFill>
              </a:rPr>
              <a:t> </a:t>
            </a:r>
            <a:r>
              <a:rPr sz="1814" u="sng" spc="-5" dirty="0">
                <a:solidFill>
                  <a:srgbClr val="000000"/>
                </a:solidFill>
              </a:rPr>
              <a:t>estandarizado</a:t>
            </a:r>
            <a:r>
              <a:rPr sz="1814" u="sng" spc="9" dirty="0">
                <a:solidFill>
                  <a:srgbClr val="000000"/>
                </a:solidFill>
              </a:rPr>
              <a:t> </a:t>
            </a:r>
            <a:r>
              <a:rPr sz="1814" u="sng" spc="-5" dirty="0">
                <a:solidFill>
                  <a:srgbClr val="000000"/>
                </a:solidFill>
              </a:rPr>
              <a:t>las</a:t>
            </a:r>
            <a:r>
              <a:rPr sz="1814" u="sng" spc="5" dirty="0">
                <a:solidFill>
                  <a:srgbClr val="000000"/>
                </a:solidFill>
              </a:rPr>
              <a:t> </a:t>
            </a:r>
            <a:r>
              <a:rPr sz="1814" u="sng" spc="-5" dirty="0">
                <a:solidFill>
                  <a:srgbClr val="000000"/>
                </a:solidFill>
              </a:rPr>
              <a:t>variables</a:t>
            </a:r>
            <a:r>
              <a:rPr sz="1814" u="sng" spc="9" dirty="0">
                <a:solidFill>
                  <a:srgbClr val="000000"/>
                </a:solidFill>
              </a:rPr>
              <a:t> </a:t>
            </a:r>
            <a:r>
              <a:rPr sz="1814" u="sng" dirty="0">
                <a:solidFill>
                  <a:srgbClr val="000000"/>
                </a:solidFill>
              </a:rPr>
              <a:t>input.</a:t>
            </a:r>
            <a:endParaRPr sz="1814" u="sng" dirty="0"/>
          </a:p>
        </p:txBody>
      </p:sp>
      <p:pic>
        <p:nvPicPr>
          <p:cNvPr id="4" name="object 4"/>
          <p:cNvPicPr/>
          <p:nvPr/>
        </p:nvPicPr>
        <p:blipFill>
          <a:blip r:embed="rId2" cstate="print"/>
          <a:stretch>
            <a:fillRect/>
          </a:stretch>
        </p:blipFill>
        <p:spPr>
          <a:xfrm>
            <a:off x="6026902" y="1839741"/>
            <a:ext cx="4422287" cy="3161244"/>
          </a:xfrm>
          <a:prstGeom prst="rect">
            <a:avLst/>
          </a:prstGeom>
        </p:spPr>
      </p:pic>
      <mc:AlternateContent xmlns:mc="http://schemas.openxmlformats.org/markup-compatibility/2006" xmlns:a14="http://schemas.microsoft.com/office/drawing/2010/main">
        <mc:Choice Requires="a14">
          <p:sp>
            <p:nvSpPr>
              <p:cNvPr id="3" name="object 3"/>
              <p:cNvSpPr txBox="1"/>
              <p:nvPr/>
            </p:nvSpPr>
            <p:spPr>
              <a:xfrm>
                <a:off x="1604615" y="1701544"/>
                <a:ext cx="4767778" cy="4323903"/>
              </a:xfrm>
              <a:prstGeom prst="rect">
                <a:avLst/>
              </a:prstGeom>
            </p:spPr>
            <p:txBody>
              <a:bodyPr vert="horz" wrap="square" lIns="0" tIns="12092" rIns="0" bIns="0" rtlCol="0">
                <a:spAutoFit/>
              </a:bodyPr>
              <a:lstStyle/>
              <a:p>
                <a:pPr marL="11516">
                  <a:spcBef>
                    <a:spcPts val="95"/>
                  </a:spcBef>
                </a:pPr>
                <a:r>
                  <a:rPr lang="es-ES" sz="1814" spc="-5" dirty="0">
                    <a:latin typeface="Times New Roman"/>
                    <a:cs typeface="Times New Roman"/>
                  </a:rPr>
                  <a:t>Una función de combinación para cada nodo de la capa oculta:</a:t>
                </a:r>
                <a:endParaRPr lang="pl-PL" sz="1814" dirty="0">
                  <a:latin typeface="Times New Roman"/>
                  <a:cs typeface="Times New Roman"/>
                </a:endParaRPr>
              </a:p>
              <a:p>
                <a:pPr>
                  <a:lnSpc>
                    <a:spcPct val="100000"/>
                  </a:lnSpc>
                </a:pPr>
                <a:endParaRPr lang="pl-PL" sz="1814" dirty="0">
                  <a:latin typeface="Times New Roman"/>
                  <a:cs typeface="Times New Roman"/>
                </a:endParaRPr>
              </a:p>
              <a:p>
                <a:pPr marL="11516" marR="673131" algn="just">
                  <a:lnSpc>
                    <a:spcPct val="95700"/>
                  </a:lnSpc>
                </a:pPr>
                <a:r>
                  <a:rPr lang="pl-PL" sz="1814" spc="-5" dirty="0">
                    <a:latin typeface="Times New Roman"/>
                    <a:cs typeface="Times New Roman"/>
                  </a:rPr>
                  <a:t>H1=</a:t>
                </a:r>
                <a:r>
                  <a:rPr lang="pl-PL" sz="2176" spc="-5" dirty="0">
                    <a:latin typeface="Times New Roman"/>
                    <a:cs typeface="Times New Roman"/>
                  </a:rPr>
                  <a:t>w</a:t>
                </a:r>
                <a:r>
                  <a:rPr lang="pl-PL" sz="1270" spc="-5" dirty="0">
                    <a:latin typeface="Times New Roman"/>
                    <a:cs typeface="Times New Roman"/>
                  </a:rPr>
                  <a:t>11</a:t>
                </a:r>
                <a:r>
                  <a:rPr lang="pl-PL" sz="1814" spc="-5" dirty="0">
                    <a:latin typeface="Times New Roman"/>
                    <a:cs typeface="Times New Roman"/>
                  </a:rPr>
                  <a:t>X1</a:t>
                </a:r>
                <a:r>
                  <a:rPr lang="pl-PL" sz="2176" spc="-5" dirty="0">
                    <a:latin typeface="Times New Roman"/>
                    <a:cs typeface="Times New Roman"/>
                  </a:rPr>
                  <a:t>+w</a:t>
                </a:r>
                <a:r>
                  <a:rPr lang="pl-PL" sz="1270" spc="-5" dirty="0">
                    <a:latin typeface="Times New Roman"/>
                    <a:cs typeface="Times New Roman"/>
                  </a:rPr>
                  <a:t>21</a:t>
                </a:r>
                <a:r>
                  <a:rPr lang="pl-PL" sz="1814" spc="-5" dirty="0">
                    <a:latin typeface="Times New Roman"/>
                    <a:cs typeface="Times New Roman"/>
                  </a:rPr>
                  <a:t>X2+</a:t>
                </a:r>
                <a:r>
                  <a:rPr lang="pl-PL" sz="2176" spc="-5" dirty="0">
                    <a:latin typeface="Times New Roman"/>
                    <a:cs typeface="Times New Roman"/>
                  </a:rPr>
                  <a:t>w</a:t>
                </a:r>
                <a:r>
                  <a:rPr lang="pl-PL" sz="1270" spc="-5" dirty="0">
                    <a:latin typeface="Times New Roman"/>
                    <a:cs typeface="Times New Roman"/>
                  </a:rPr>
                  <a:t>31</a:t>
                </a:r>
                <a:r>
                  <a:rPr lang="pl-PL" sz="1814" spc="-5" dirty="0">
                    <a:latin typeface="Times New Roman"/>
                    <a:cs typeface="Times New Roman"/>
                  </a:rPr>
                  <a:t>X3+</a:t>
                </a:r>
                <a:r>
                  <a:rPr lang="pl-PL" sz="2176" spc="-5" dirty="0">
                    <a:latin typeface="Times New Roman"/>
                    <a:cs typeface="Times New Roman"/>
                  </a:rPr>
                  <a:t>w</a:t>
                </a:r>
                <a:r>
                  <a:rPr lang="pl-PL" sz="1270" spc="-5" dirty="0">
                    <a:latin typeface="Times New Roman"/>
                    <a:cs typeface="Times New Roman"/>
                  </a:rPr>
                  <a:t>41</a:t>
                </a:r>
                <a:r>
                  <a:rPr lang="pl-PL" sz="1814" spc="-5" dirty="0">
                    <a:latin typeface="Times New Roman"/>
                    <a:cs typeface="Times New Roman"/>
                  </a:rPr>
                  <a:t>X4+</a:t>
                </a:r>
                <a:r>
                  <a:rPr lang="pl-PL" sz="2176" spc="-5" dirty="0">
                    <a:solidFill>
                      <a:srgbClr val="1F487C"/>
                    </a:solidFill>
                    <a:latin typeface="Times New Roman"/>
                    <a:cs typeface="Times New Roman"/>
                  </a:rPr>
                  <a:t>b</a:t>
                </a:r>
                <a:r>
                  <a:rPr lang="pl-PL" sz="1270" spc="-5" dirty="0">
                    <a:solidFill>
                      <a:srgbClr val="1F487C"/>
                    </a:solidFill>
                    <a:latin typeface="Times New Roman"/>
                    <a:cs typeface="Times New Roman"/>
                  </a:rPr>
                  <a:t>1 </a:t>
                </a:r>
                <a:r>
                  <a:rPr lang="pl-PL" sz="1270" spc="-308" dirty="0">
                    <a:solidFill>
                      <a:srgbClr val="1F487C"/>
                    </a:solidFill>
                    <a:latin typeface="Times New Roman"/>
                    <a:cs typeface="Times New Roman"/>
                  </a:rPr>
                  <a:t> </a:t>
                </a:r>
                <a:r>
                  <a:rPr lang="pl-PL" sz="1814" spc="-5" dirty="0">
                    <a:latin typeface="Times New Roman"/>
                    <a:cs typeface="Times New Roman"/>
                  </a:rPr>
                  <a:t>H2=</a:t>
                </a:r>
                <a:r>
                  <a:rPr lang="pl-PL" sz="2176" spc="-5" dirty="0">
                    <a:latin typeface="Times New Roman"/>
                    <a:cs typeface="Times New Roman"/>
                  </a:rPr>
                  <a:t>w</a:t>
                </a:r>
                <a:r>
                  <a:rPr lang="pl-PL" sz="1270" spc="-5" dirty="0">
                    <a:latin typeface="Times New Roman"/>
                    <a:cs typeface="Times New Roman"/>
                  </a:rPr>
                  <a:t>12</a:t>
                </a:r>
                <a:r>
                  <a:rPr lang="pl-PL" sz="1814" spc="-5" dirty="0">
                    <a:latin typeface="Times New Roman"/>
                    <a:cs typeface="Times New Roman"/>
                  </a:rPr>
                  <a:t>X1</a:t>
                </a:r>
                <a:r>
                  <a:rPr lang="pl-PL" sz="2176" spc="-5" dirty="0">
                    <a:latin typeface="Times New Roman"/>
                    <a:cs typeface="Times New Roman"/>
                  </a:rPr>
                  <a:t>+w</a:t>
                </a:r>
                <a:r>
                  <a:rPr lang="pl-PL" sz="1270" spc="-5" dirty="0">
                    <a:latin typeface="Times New Roman"/>
                    <a:cs typeface="Times New Roman"/>
                  </a:rPr>
                  <a:t>22</a:t>
                </a:r>
                <a:r>
                  <a:rPr lang="pl-PL" sz="1814" spc="-5" dirty="0">
                    <a:latin typeface="Times New Roman"/>
                    <a:cs typeface="Times New Roman"/>
                  </a:rPr>
                  <a:t>X2+</a:t>
                </a:r>
                <a:r>
                  <a:rPr lang="pl-PL" sz="2176" spc="-5" dirty="0">
                    <a:latin typeface="Times New Roman"/>
                    <a:cs typeface="Times New Roman"/>
                  </a:rPr>
                  <a:t>w</a:t>
                </a:r>
                <a:r>
                  <a:rPr lang="pl-PL" sz="1270" spc="-5" dirty="0">
                    <a:latin typeface="Times New Roman"/>
                    <a:cs typeface="Times New Roman"/>
                  </a:rPr>
                  <a:t>32</a:t>
                </a:r>
                <a:r>
                  <a:rPr lang="pl-PL" sz="1814" spc="-5" dirty="0">
                    <a:latin typeface="Times New Roman"/>
                    <a:cs typeface="Times New Roman"/>
                  </a:rPr>
                  <a:t>X3+</a:t>
                </a:r>
                <a:r>
                  <a:rPr lang="pl-PL" sz="2176" spc="-5" dirty="0">
                    <a:latin typeface="Times New Roman"/>
                    <a:cs typeface="Times New Roman"/>
                  </a:rPr>
                  <a:t>w</a:t>
                </a:r>
                <a:r>
                  <a:rPr lang="pl-PL" sz="1270" spc="-5" dirty="0">
                    <a:latin typeface="Times New Roman"/>
                    <a:cs typeface="Times New Roman"/>
                  </a:rPr>
                  <a:t>42</a:t>
                </a:r>
                <a:r>
                  <a:rPr lang="pl-PL" sz="1814" spc="-5" dirty="0">
                    <a:latin typeface="Times New Roman"/>
                    <a:cs typeface="Times New Roman"/>
                  </a:rPr>
                  <a:t>X4+</a:t>
                </a:r>
                <a:r>
                  <a:rPr lang="pl-PL" sz="2176" spc="-5" dirty="0">
                    <a:solidFill>
                      <a:srgbClr val="1F487C"/>
                    </a:solidFill>
                    <a:latin typeface="Times New Roman"/>
                    <a:cs typeface="Times New Roman"/>
                  </a:rPr>
                  <a:t>b</a:t>
                </a:r>
                <a:r>
                  <a:rPr lang="pl-PL" sz="1270" spc="-5" dirty="0">
                    <a:solidFill>
                      <a:srgbClr val="1F487C"/>
                    </a:solidFill>
                    <a:latin typeface="Times New Roman"/>
                    <a:cs typeface="Times New Roman"/>
                  </a:rPr>
                  <a:t>2 </a:t>
                </a:r>
                <a:r>
                  <a:rPr lang="pl-PL" sz="1270" spc="-308" dirty="0">
                    <a:solidFill>
                      <a:srgbClr val="1F487C"/>
                    </a:solidFill>
                    <a:latin typeface="Times New Roman"/>
                    <a:cs typeface="Times New Roman"/>
                  </a:rPr>
                  <a:t> </a:t>
                </a:r>
                <a:r>
                  <a:rPr lang="pl-PL" sz="1814" spc="-5" dirty="0">
                    <a:latin typeface="Times New Roman"/>
                    <a:cs typeface="Times New Roman"/>
                  </a:rPr>
                  <a:t>H3=</a:t>
                </a:r>
                <a:r>
                  <a:rPr lang="pl-PL" sz="2176" spc="-5" dirty="0">
                    <a:latin typeface="Times New Roman"/>
                    <a:cs typeface="Times New Roman"/>
                  </a:rPr>
                  <a:t>w</a:t>
                </a:r>
                <a:r>
                  <a:rPr lang="pl-PL" sz="1270" spc="-5" dirty="0">
                    <a:latin typeface="Times New Roman"/>
                    <a:cs typeface="Times New Roman"/>
                  </a:rPr>
                  <a:t>13</a:t>
                </a:r>
                <a:r>
                  <a:rPr lang="pl-PL" sz="1814" spc="-5" dirty="0">
                    <a:latin typeface="Times New Roman"/>
                    <a:cs typeface="Times New Roman"/>
                  </a:rPr>
                  <a:t>X1</a:t>
                </a:r>
                <a:r>
                  <a:rPr lang="pl-PL" sz="2176" spc="-5" dirty="0">
                    <a:latin typeface="Times New Roman"/>
                    <a:cs typeface="Times New Roman"/>
                  </a:rPr>
                  <a:t>+w</a:t>
                </a:r>
                <a:r>
                  <a:rPr lang="pl-PL" sz="1270" spc="-5" dirty="0">
                    <a:latin typeface="Times New Roman"/>
                    <a:cs typeface="Times New Roman"/>
                  </a:rPr>
                  <a:t>23</a:t>
                </a:r>
                <a:r>
                  <a:rPr lang="pl-PL" sz="1814" spc="-5" dirty="0">
                    <a:latin typeface="Times New Roman"/>
                    <a:cs typeface="Times New Roman"/>
                  </a:rPr>
                  <a:t>X2+</a:t>
                </a:r>
                <a:r>
                  <a:rPr lang="pl-PL" sz="2176" spc="-5" dirty="0">
                    <a:latin typeface="Times New Roman"/>
                    <a:cs typeface="Times New Roman"/>
                  </a:rPr>
                  <a:t>w</a:t>
                </a:r>
                <a:r>
                  <a:rPr lang="pl-PL" sz="1270" spc="-5" dirty="0">
                    <a:latin typeface="Times New Roman"/>
                    <a:cs typeface="Times New Roman"/>
                  </a:rPr>
                  <a:t>33</a:t>
                </a:r>
                <a:r>
                  <a:rPr lang="pl-PL" sz="1814" spc="-5" dirty="0">
                    <a:latin typeface="Times New Roman"/>
                    <a:cs typeface="Times New Roman"/>
                  </a:rPr>
                  <a:t>X3+</a:t>
                </a:r>
                <a:r>
                  <a:rPr lang="pl-PL" sz="2176" spc="-5" dirty="0">
                    <a:latin typeface="Times New Roman"/>
                    <a:cs typeface="Times New Roman"/>
                  </a:rPr>
                  <a:t>w</a:t>
                </a:r>
                <a:r>
                  <a:rPr lang="pl-PL" sz="1270" spc="-5" dirty="0">
                    <a:latin typeface="Times New Roman"/>
                    <a:cs typeface="Times New Roman"/>
                  </a:rPr>
                  <a:t>43</a:t>
                </a:r>
                <a:r>
                  <a:rPr lang="pl-PL" sz="1814" spc="-5" dirty="0">
                    <a:latin typeface="Times New Roman"/>
                    <a:cs typeface="Times New Roman"/>
                  </a:rPr>
                  <a:t>X4+</a:t>
                </a:r>
                <a:r>
                  <a:rPr lang="pl-PL" sz="2176" spc="-5" dirty="0">
                    <a:solidFill>
                      <a:srgbClr val="1F487C"/>
                    </a:solidFill>
                    <a:latin typeface="Times New Roman"/>
                    <a:cs typeface="Times New Roman"/>
                  </a:rPr>
                  <a:t>b</a:t>
                </a:r>
                <a:r>
                  <a:rPr lang="pl-PL" sz="1270" spc="-5" dirty="0">
                    <a:solidFill>
                      <a:srgbClr val="1F487C"/>
                    </a:solidFill>
                    <a:latin typeface="Times New Roman"/>
                    <a:cs typeface="Times New Roman"/>
                  </a:rPr>
                  <a:t>3 </a:t>
                </a:r>
                <a:r>
                  <a:rPr lang="pl-PL" sz="1270" spc="-308" dirty="0">
                    <a:solidFill>
                      <a:srgbClr val="1F487C"/>
                    </a:solidFill>
                    <a:latin typeface="Times New Roman"/>
                    <a:cs typeface="Times New Roman"/>
                  </a:rPr>
                  <a:t> </a:t>
                </a:r>
                <a:r>
                  <a:rPr lang="pl-PL" sz="1814" spc="-5" dirty="0">
                    <a:latin typeface="Times New Roman"/>
                    <a:cs typeface="Times New Roman"/>
                  </a:rPr>
                  <a:t>H4=</a:t>
                </a:r>
                <a:r>
                  <a:rPr lang="pl-PL" sz="2176" spc="-5" dirty="0">
                    <a:latin typeface="Times New Roman"/>
                    <a:cs typeface="Times New Roman"/>
                  </a:rPr>
                  <a:t>w</a:t>
                </a:r>
                <a:r>
                  <a:rPr lang="pl-PL" sz="1270" spc="-5" dirty="0">
                    <a:latin typeface="Times New Roman"/>
                    <a:cs typeface="Times New Roman"/>
                  </a:rPr>
                  <a:t>14</a:t>
                </a:r>
                <a:r>
                  <a:rPr lang="pl-PL" sz="1814" spc="-5" dirty="0">
                    <a:latin typeface="Times New Roman"/>
                    <a:cs typeface="Times New Roman"/>
                  </a:rPr>
                  <a:t>X1</a:t>
                </a:r>
                <a:r>
                  <a:rPr lang="pl-PL" sz="2176" spc="-5" dirty="0">
                    <a:latin typeface="Times New Roman"/>
                    <a:cs typeface="Times New Roman"/>
                  </a:rPr>
                  <a:t>+w</a:t>
                </a:r>
                <a:r>
                  <a:rPr lang="pl-PL" sz="1270" spc="-5" dirty="0">
                    <a:latin typeface="Times New Roman"/>
                    <a:cs typeface="Times New Roman"/>
                  </a:rPr>
                  <a:t>24</a:t>
                </a:r>
                <a:r>
                  <a:rPr lang="pl-PL" sz="1814" spc="-5" dirty="0">
                    <a:latin typeface="Times New Roman"/>
                    <a:cs typeface="Times New Roman"/>
                  </a:rPr>
                  <a:t>X2+</a:t>
                </a:r>
                <a:r>
                  <a:rPr lang="pl-PL" sz="2176" spc="-5" dirty="0">
                    <a:latin typeface="Times New Roman"/>
                    <a:cs typeface="Times New Roman"/>
                  </a:rPr>
                  <a:t>w</a:t>
                </a:r>
                <a:r>
                  <a:rPr lang="pl-PL" sz="1270" spc="-5" dirty="0">
                    <a:latin typeface="Times New Roman"/>
                    <a:cs typeface="Times New Roman"/>
                  </a:rPr>
                  <a:t>34</a:t>
                </a:r>
                <a:r>
                  <a:rPr lang="pl-PL" sz="1814" spc="-5" dirty="0">
                    <a:latin typeface="Times New Roman"/>
                    <a:cs typeface="Times New Roman"/>
                  </a:rPr>
                  <a:t>X3+</a:t>
                </a:r>
                <a:r>
                  <a:rPr lang="pl-PL" sz="2176" spc="-5" dirty="0">
                    <a:latin typeface="Times New Roman"/>
                    <a:cs typeface="Times New Roman"/>
                  </a:rPr>
                  <a:t>w</a:t>
                </a:r>
                <a:r>
                  <a:rPr lang="pl-PL" sz="1270" spc="-5" dirty="0">
                    <a:latin typeface="Times New Roman"/>
                    <a:cs typeface="Times New Roman"/>
                  </a:rPr>
                  <a:t>44</a:t>
                </a:r>
                <a:r>
                  <a:rPr lang="pl-PL" sz="1814" spc="-5" dirty="0">
                    <a:latin typeface="Times New Roman"/>
                    <a:cs typeface="Times New Roman"/>
                  </a:rPr>
                  <a:t>X4+</a:t>
                </a:r>
                <a:r>
                  <a:rPr lang="pl-PL" sz="2176" spc="-5" dirty="0">
                    <a:solidFill>
                      <a:srgbClr val="1F487C"/>
                    </a:solidFill>
                    <a:latin typeface="Times New Roman"/>
                    <a:cs typeface="Times New Roman"/>
                  </a:rPr>
                  <a:t>b</a:t>
                </a:r>
                <a:r>
                  <a:rPr lang="pl-PL" sz="1270" spc="-5" dirty="0">
                    <a:solidFill>
                      <a:srgbClr val="1F487C"/>
                    </a:solidFill>
                    <a:latin typeface="Times New Roman"/>
                    <a:cs typeface="Times New Roman"/>
                  </a:rPr>
                  <a:t>4</a:t>
                </a:r>
                <a:endParaRPr lang="es-ES" sz="1270" spc="-5" dirty="0">
                  <a:solidFill>
                    <a:srgbClr val="1F487C"/>
                  </a:solidFill>
                  <a:latin typeface="Times New Roman"/>
                  <a:cs typeface="Times New Roman"/>
                </a:endParaRPr>
              </a:p>
              <a:p>
                <a:pPr marL="11516" marR="673131" algn="just">
                  <a:lnSpc>
                    <a:spcPct val="95700"/>
                  </a:lnSpc>
                </a:pPr>
                <a:endParaRPr lang="pl-PL" sz="3355" dirty="0">
                  <a:latin typeface="Times New Roman"/>
                  <a:cs typeface="Times New Roman"/>
                </a:endParaRPr>
              </a:p>
              <a:p>
                <a:pPr marL="11516" marR="4607">
                  <a:lnSpc>
                    <a:spcPts val="2167"/>
                  </a:lnSpc>
                </a:pPr>
                <a:r>
                  <a:rPr lang="es-ES" sz="1814" b="1" dirty="0">
                    <a:latin typeface="Times New Roman"/>
                    <a:cs typeface="Times New Roman"/>
                  </a:rPr>
                  <a:t>Para cada nodo de la capa oculta hay un peso asociado que lo conecta con la capa de salida.</a:t>
                </a:r>
              </a:p>
              <a:p>
                <a:pPr marL="11516" marR="4607">
                  <a:lnSpc>
                    <a:spcPts val="2167"/>
                  </a:lnSpc>
                </a:pPr>
                <a:r>
                  <a:rPr lang="pl-PL" sz="1814" dirty="0">
                    <a:latin typeface="Times New Roman"/>
                    <a:cs typeface="Times New Roman"/>
                  </a:rPr>
                  <a:t>El </a:t>
                </a:r>
                <a:r>
                  <a:rPr lang="pl-PL" sz="1814" spc="-5" dirty="0">
                    <a:latin typeface="Times New Roman"/>
                    <a:cs typeface="Times New Roman"/>
                  </a:rPr>
                  <a:t>parámetro</a:t>
                </a:r>
                <a:r>
                  <a:rPr lang="pl-PL" sz="1814" spc="5" dirty="0">
                    <a:latin typeface="Times New Roman"/>
                    <a:cs typeface="Times New Roman"/>
                  </a:rPr>
                  <a:t> </a:t>
                </a:r>
                <a:r>
                  <a:rPr lang="pl-PL" sz="1814" spc="-5" dirty="0">
                    <a:latin typeface="Times New Roman"/>
                    <a:cs typeface="Times New Roman"/>
                  </a:rPr>
                  <a:t>constante</a:t>
                </a:r>
                <a:r>
                  <a:rPr lang="es-ES" sz="1814" spc="-5" dirty="0">
                    <a:latin typeface="Times New Roman"/>
                    <a:cs typeface="Times New Roman"/>
                  </a:rPr>
                  <a:t> asociado a cada nodo,</a:t>
                </a:r>
                <a:r>
                  <a:rPr lang="pl-PL" sz="1814" spc="14" dirty="0">
                    <a:latin typeface="Times New Roman"/>
                    <a:cs typeface="Times New Roman"/>
                  </a:rPr>
                  <a:t> </a:t>
                </a:r>
                <a14:m>
                  <m:oMath xmlns:m="http://schemas.openxmlformats.org/officeDocument/2006/math">
                    <m:sSub>
                      <m:sSubPr>
                        <m:ctrlPr>
                          <a:rPr lang="pl-PL" sz="1814" i="1" spc="14">
                            <a:latin typeface="Cambria Math" panose="02040503050406030204" pitchFamily="18" charset="0"/>
                            <a:cs typeface="Times New Roman"/>
                          </a:rPr>
                        </m:ctrlPr>
                      </m:sSubPr>
                      <m:e>
                        <m:r>
                          <a:rPr lang="es-ES" sz="1814" i="1" spc="14">
                            <a:latin typeface="Cambria Math" panose="02040503050406030204" pitchFamily="18" charset="0"/>
                            <a:cs typeface="Times New Roman"/>
                          </a:rPr>
                          <m:t>𝑏</m:t>
                        </m:r>
                      </m:e>
                      <m:sub>
                        <m:r>
                          <a:rPr lang="es-ES" sz="1814" i="1" spc="14">
                            <a:latin typeface="Cambria Math" panose="02040503050406030204" pitchFamily="18" charset="0"/>
                            <a:cs typeface="Times New Roman"/>
                          </a:rPr>
                          <m:t>𝑗</m:t>
                        </m:r>
                      </m:sub>
                    </m:sSub>
                  </m:oMath>
                </a14:m>
                <a:r>
                  <a:rPr lang="pl-PL" sz="1270" spc="-9" dirty="0">
                    <a:solidFill>
                      <a:srgbClr val="1F487C"/>
                    </a:solidFill>
                    <a:latin typeface="Times New Roman"/>
                    <a:cs typeface="Times New Roman"/>
                  </a:rPr>
                  <a:t> </a:t>
                </a:r>
                <a:r>
                  <a:rPr lang="pl-PL" sz="1814" spc="-5" dirty="0">
                    <a:latin typeface="Times New Roman"/>
                    <a:cs typeface="Times New Roman"/>
                  </a:rPr>
                  <a:t>se</a:t>
                </a:r>
                <a:r>
                  <a:rPr lang="pl-PL" sz="1814" dirty="0">
                    <a:latin typeface="Times New Roman"/>
                    <a:cs typeface="Times New Roman"/>
                  </a:rPr>
                  <a:t> </a:t>
                </a:r>
                <a:r>
                  <a:rPr lang="pl-PL" sz="1814" spc="-5" dirty="0">
                    <a:latin typeface="Times New Roman"/>
                    <a:cs typeface="Times New Roman"/>
                  </a:rPr>
                  <a:t>denomina,</a:t>
                </a:r>
                <a:r>
                  <a:rPr lang="pl-PL" sz="1814" spc="5" dirty="0">
                    <a:latin typeface="Times New Roman"/>
                    <a:cs typeface="Times New Roman"/>
                  </a:rPr>
                  <a:t> </a:t>
                </a:r>
                <a:r>
                  <a:rPr lang="pl-PL" sz="1814" dirty="0">
                    <a:latin typeface="Times New Roman"/>
                    <a:cs typeface="Times New Roman"/>
                  </a:rPr>
                  <a:t>en jerga </a:t>
                </a:r>
                <a:r>
                  <a:rPr lang="pl-PL" sz="1814" spc="-439" dirty="0">
                    <a:latin typeface="Times New Roman"/>
                    <a:cs typeface="Times New Roman"/>
                  </a:rPr>
                  <a:t> </a:t>
                </a:r>
                <a:r>
                  <a:rPr lang="pl-PL" sz="1814" dirty="0">
                    <a:latin typeface="Times New Roman"/>
                    <a:cs typeface="Times New Roman"/>
                  </a:rPr>
                  <a:t>neuronal,</a:t>
                </a:r>
                <a:r>
                  <a:rPr lang="pl-PL" sz="1814" spc="-18" dirty="0">
                    <a:latin typeface="Times New Roman"/>
                    <a:cs typeface="Times New Roman"/>
                  </a:rPr>
                  <a:t> </a:t>
                </a:r>
                <a:r>
                  <a:rPr lang="es-ES" sz="1814" b="1" spc="-18" dirty="0" err="1">
                    <a:latin typeface="Times New Roman"/>
                    <a:cs typeface="Times New Roman"/>
                  </a:rPr>
                  <a:t>bias</a:t>
                </a:r>
                <a:r>
                  <a:rPr lang="es-ES" sz="1814" spc="-18" dirty="0">
                    <a:latin typeface="Times New Roman"/>
                    <a:cs typeface="Times New Roman"/>
                  </a:rPr>
                  <a:t> </a:t>
                </a:r>
                <a:r>
                  <a:rPr lang="pl-PL" sz="1814" dirty="0">
                    <a:latin typeface="Times New Roman"/>
                    <a:cs typeface="Times New Roman"/>
                  </a:rPr>
                  <a:t>(sesgo)</a:t>
                </a:r>
                <a:r>
                  <a:rPr lang="es-ES" sz="1814" dirty="0">
                    <a:latin typeface="Times New Roman"/>
                    <a:cs typeface="Times New Roman"/>
                  </a:rPr>
                  <a:t>. Es el parámetro que controla “</a:t>
                </a:r>
                <a:r>
                  <a:rPr lang="es-ES" sz="1814" b="1" dirty="0">
                    <a:latin typeface="Times New Roman"/>
                    <a:cs typeface="Times New Roman"/>
                  </a:rPr>
                  <a:t>lo que no puede explicar el modelo con los pesos</a:t>
                </a:r>
                <a:r>
                  <a:rPr lang="es-ES" sz="1814" dirty="0">
                    <a:latin typeface="Times New Roman"/>
                    <a:cs typeface="Times New Roman"/>
                  </a:rPr>
                  <a:t>”. Hay que estimarlos.</a:t>
                </a:r>
                <a:endParaRPr sz="1814" dirty="0">
                  <a:latin typeface="Times New Roman"/>
                  <a:cs typeface="Times New Roman"/>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93700" y="1876425"/>
                <a:ext cx="5257800" cy="4748416"/>
              </a:xfrm>
              <a:prstGeom prst="rect">
                <a:avLst/>
              </a:prstGeom>
              <a:blipFill rotWithShape="0">
                <a:blip r:embed="rId3"/>
                <a:stretch>
                  <a:fillRect l="-2784" t="-1412" r="-2552" b="-218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1540064" y="362180"/>
                <a:ext cx="7596258" cy="924484"/>
              </a:xfrm>
              <a:prstGeom prst="rect">
                <a:avLst/>
              </a:prstGeom>
              <a:noFill/>
            </p:spPr>
            <p:txBody>
              <a:bodyPr wrap="square" rtlCol="0">
                <a:spAutoFit/>
              </a:bodyPr>
              <a:lstStyle/>
              <a:p>
                <a:r>
                  <a:rPr lang="es-ES" sz="1814" dirty="0">
                    <a:latin typeface="Times New Roman" panose="02020603050405020304" pitchFamily="18" charset="0"/>
                    <a:cs typeface="Times New Roman" panose="02020603050405020304" pitchFamily="18" charset="0"/>
                  </a:rPr>
                  <a:t>Los nodos de la capa de entrada se conectan con los nodos de la capa oculta mediante una </a:t>
                </a:r>
                <a:r>
                  <a:rPr lang="es-ES" sz="1814" b="1" dirty="0">
                    <a:latin typeface="Times New Roman" panose="02020603050405020304" pitchFamily="18" charset="0"/>
                    <a:cs typeface="Times New Roman" panose="02020603050405020304" pitchFamily="18" charset="0"/>
                  </a:rPr>
                  <a:t>función de combinación </a:t>
                </a:r>
                <a:r>
                  <a:rPr lang="es-ES" sz="1814" dirty="0">
                    <a:latin typeface="Times New Roman" panose="02020603050405020304" pitchFamily="18" charset="0"/>
                    <a:cs typeface="Times New Roman" panose="02020603050405020304" pitchFamily="18" charset="0"/>
                  </a:rPr>
                  <a:t>∑ cuyos parámetros son los pesos </a:t>
                </a:r>
                <a14:m>
                  <m:oMath xmlns:m="http://schemas.openxmlformats.org/officeDocument/2006/math">
                    <m:sSub>
                      <m:sSubPr>
                        <m:ctrlPr>
                          <a:rPr lang="es-ES" sz="1814" i="1">
                            <a:latin typeface="Cambria Math" panose="02040503050406030204" pitchFamily="18" charset="0"/>
                          </a:rPr>
                        </m:ctrlPr>
                      </m:sSubPr>
                      <m:e>
                        <m:r>
                          <a:rPr lang="es-ES" sz="1814" i="1">
                            <a:latin typeface="Cambria Math" panose="02040503050406030204" pitchFamily="18" charset="0"/>
                          </a:rPr>
                          <m:t>𝑤</m:t>
                        </m:r>
                      </m:e>
                      <m:sub>
                        <m:r>
                          <a:rPr lang="es-ES" sz="1814" i="1">
                            <a:latin typeface="Cambria Math" panose="02040503050406030204" pitchFamily="18" charset="0"/>
                          </a:rPr>
                          <m:t>𝑖𝑗</m:t>
                        </m:r>
                      </m:sub>
                    </m:sSub>
                  </m:oMath>
                </a14:m>
                <a:r>
                  <a:rPr lang="es-ES" sz="1632" dirty="0">
                    <a:latin typeface="Times New Roman" panose="02020603050405020304" pitchFamily="18" charset="0"/>
                    <a:cs typeface="Times New Roman" panose="02020603050405020304" pitchFamily="18" charset="0"/>
                  </a:rPr>
                  <a:t>.</a:t>
                </a:r>
              </a:p>
              <a:p>
                <a:endParaRPr lang="es-ES" sz="1632" dirty="0">
                  <a:latin typeface="Times New Roman" panose="02020603050405020304" pitchFamily="18" charset="0"/>
                  <a:cs typeface="Times New Roman" panose="02020603050405020304" pitchFamily="18" charset="0"/>
                </a:endParaRPr>
              </a:p>
            </p:txBody>
          </p:sp>
        </mc:Choice>
        <mc:Fallback xmlns="">
          <p:sp>
            <p:nvSpPr>
              <p:cNvPr id="5" name="CuadroTexto 4"/>
              <p:cNvSpPr txBox="1">
                <a:spLocks noRot="1" noChangeAspect="1" noMove="1" noResize="1" noEditPoints="1" noAdjustHandles="1" noChangeArrowheads="1" noChangeShapeType="1" noTextEdit="1"/>
              </p:cNvSpPr>
              <p:nvPr/>
            </p:nvSpPr>
            <p:spPr>
              <a:xfrm>
                <a:off x="322514" y="399404"/>
                <a:ext cx="8376985" cy="1009572"/>
              </a:xfrm>
              <a:prstGeom prst="rect">
                <a:avLst/>
              </a:prstGeom>
              <a:blipFill rotWithShape="0">
                <a:blip r:embed="rId4"/>
                <a:stretch>
                  <a:fillRect l="-801" t="-3636"/>
                </a:stretch>
              </a:blipFill>
            </p:spPr>
            <p:txBody>
              <a:bodyPr/>
              <a:lstStyle/>
              <a:p>
                <a:r>
                  <a:rPr lang="es-ES">
                    <a:noFill/>
                  </a:rPr>
                  <a:t> </a:t>
                </a:r>
              </a:p>
            </p:txBody>
          </p:sp>
        </mc:Fallback>
      </mc:AlternateContent>
      <p:sp>
        <p:nvSpPr>
          <p:cNvPr id="6" name="CuadroTexto 5"/>
          <p:cNvSpPr txBox="1"/>
          <p:nvPr/>
        </p:nvSpPr>
        <p:spPr>
          <a:xfrm>
            <a:off x="1535517" y="6034706"/>
            <a:ext cx="8552118" cy="650691"/>
          </a:xfrm>
          <a:prstGeom prst="rect">
            <a:avLst/>
          </a:prstGeom>
          <a:noFill/>
        </p:spPr>
        <p:txBody>
          <a:bodyPr wrap="square" rtlCol="0">
            <a:spAutoFit/>
          </a:bodyPr>
          <a:lstStyle/>
          <a:p>
            <a:r>
              <a:rPr lang="es-ES" sz="1814" dirty="0">
                <a:latin typeface="Times New Roman" panose="02020603050405020304" pitchFamily="18" charset="0"/>
                <a:cs typeface="Times New Roman" panose="02020603050405020304" pitchFamily="18" charset="0"/>
              </a:rPr>
              <a:t>La activación externa de las neuronas de entrada junto con la función de combinación que las conecta con los nodos de la capa oculta, se </a:t>
            </a:r>
            <a:r>
              <a:rPr lang="es-ES" sz="1814" b="1" dirty="0">
                <a:latin typeface="Times New Roman" panose="02020603050405020304" pitchFamily="18" charset="0"/>
                <a:cs typeface="Times New Roman" panose="02020603050405020304" pitchFamily="18" charset="0"/>
              </a:rPr>
              <a:t>activan</a:t>
            </a:r>
            <a:r>
              <a:rPr lang="es-ES" sz="1814" dirty="0">
                <a:latin typeface="Times New Roman" panose="02020603050405020304" pitchFamily="18" charset="0"/>
                <a:cs typeface="Times New Roman" panose="02020603050405020304" pitchFamily="18" charset="0"/>
              </a:rPr>
              <a:t> y pasan a la capa de salida.</a:t>
            </a:r>
          </a:p>
        </p:txBody>
      </p:sp>
    </p:spTree>
    <p:extLst>
      <p:ext uri="{BB962C8B-B14F-4D97-AF65-F5344CB8AC3E}">
        <p14:creationId xmlns:p14="http://schemas.microsoft.com/office/powerpoint/2010/main" val="26203581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2234" y="285512"/>
            <a:ext cx="9067531" cy="558139"/>
          </a:xfrm>
          <a:prstGeom prst="rect">
            <a:avLst/>
          </a:prstGeom>
        </p:spPr>
        <p:txBody>
          <a:bodyPr vert="horz" wrap="square" lIns="0" tIns="21881" rIns="0" bIns="0" rtlCol="0" anchor="ctr">
            <a:spAutoFit/>
          </a:bodyPr>
          <a:lstStyle/>
          <a:p>
            <a:pPr marL="11516" marR="4607">
              <a:lnSpc>
                <a:spcPct val="96400"/>
              </a:lnSpc>
              <a:spcBef>
                <a:spcPts val="172"/>
              </a:spcBef>
            </a:pPr>
            <a:r>
              <a:rPr sz="1814" spc="-5" dirty="0"/>
              <a:t>Tras</a:t>
            </a:r>
            <a:r>
              <a:rPr sz="1814" dirty="0"/>
              <a:t> </a:t>
            </a:r>
            <a:r>
              <a:rPr sz="1814" spc="-5" dirty="0"/>
              <a:t>aplicar</a:t>
            </a:r>
            <a:r>
              <a:rPr sz="1814" dirty="0"/>
              <a:t> la </a:t>
            </a:r>
            <a:r>
              <a:rPr sz="1814" spc="-5" dirty="0"/>
              <a:t>función</a:t>
            </a:r>
            <a:r>
              <a:rPr sz="1814" spc="9" dirty="0"/>
              <a:t> </a:t>
            </a:r>
            <a:r>
              <a:rPr sz="1814" spc="-5" dirty="0"/>
              <a:t>de</a:t>
            </a:r>
            <a:r>
              <a:rPr sz="1814" dirty="0"/>
              <a:t> </a:t>
            </a:r>
            <a:r>
              <a:rPr sz="1814" spc="-5" dirty="0"/>
              <a:t>combinación,</a:t>
            </a:r>
            <a:r>
              <a:rPr sz="1814" spc="9" dirty="0"/>
              <a:t> </a:t>
            </a:r>
            <a:r>
              <a:rPr sz="1814" b="1" spc="-5" dirty="0"/>
              <a:t>aplicamos</a:t>
            </a:r>
            <a:r>
              <a:rPr sz="1814" b="1" spc="5" dirty="0"/>
              <a:t> </a:t>
            </a:r>
            <a:r>
              <a:rPr sz="1814" b="1" spc="-5" dirty="0"/>
              <a:t>a</a:t>
            </a:r>
            <a:r>
              <a:rPr sz="1814" b="1" spc="9" dirty="0"/>
              <a:t> </a:t>
            </a:r>
            <a:r>
              <a:rPr sz="1814" b="1" spc="-5" dirty="0"/>
              <a:t>cada</a:t>
            </a:r>
            <a:r>
              <a:rPr sz="1814" b="1" dirty="0"/>
              <a:t> </a:t>
            </a:r>
            <a:r>
              <a:rPr sz="1814" b="1" spc="-5" dirty="0"/>
              <a:t>nodo</a:t>
            </a:r>
            <a:r>
              <a:rPr sz="1814" b="1" spc="9" dirty="0"/>
              <a:t> </a:t>
            </a:r>
            <a:r>
              <a:rPr sz="1814" b="1" spc="-5" dirty="0"/>
              <a:t>oculto</a:t>
            </a:r>
            <a:r>
              <a:rPr sz="1814" b="1" spc="5" dirty="0"/>
              <a:t> </a:t>
            </a:r>
            <a:r>
              <a:rPr sz="1814" b="1" spc="-5" dirty="0"/>
              <a:t>la</a:t>
            </a:r>
            <a:r>
              <a:rPr sz="1814" b="1" spc="59" dirty="0"/>
              <a:t> </a:t>
            </a:r>
            <a:r>
              <a:rPr sz="1814" b="1" spc="-5" dirty="0"/>
              <a:t>función</a:t>
            </a:r>
            <a:r>
              <a:rPr sz="1814" b="1" dirty="0"/>
              <a:t> de </a:t>
            </a:r>
            <a:r>
              <a:rPr sz="1814" b="1" spc="-485" dirty="0"/>
              <a:t> </a:t>
            </a:r>
            <a:r>
              <a:rPr sz="1814" b="1" spc="-5" dirty="0"/>
              <a:t>activación</a:t>
            </a:r>
            <a:r>
              <a:rPr sz="1814" b="1" spc="5" dirty="0"/>
              <a:t> </a:t>
            </a:r>
            <a:r>
              <a:rPr sz="1814" b="1" spc="-5" dirty="0"/>
              <a:t>, representada </a:t>
            </a:r>
            <a:r>
              <a:rPr sz="1814" b="1" dirty="0"/>
              <a:t>por</a:t>
            </a:r>
            <a:r>
              <a:rPr sz="1814" b="1" spc="14" dirty="0"/>
              <a:t> </a:t>
            </a:r>
            <a:r>
              <a:rPr sz="1814" b="1" i="1" spc="-5" dirty="0"/>
              <a:t>f</a:t>
            </a:r>
            <a:r>
              <a:rPr sz="1814" b="1" i="1" spc="-131" dirty="0"/>
              <a:t> </a:t>
            </a:r>
            <a:r>
              <a:rPr sz="1814" spc="-5" dirty="0"/>
              <a:t>.</a:t>
            </a:r>
            <a:endParaRPr sz="1814" dirty="0"/>
          </a:p>
        </p:txBody>
      </p:sp>
      <p:sp>
        <p:nvSpPr>
          <p:cNvPr id="3" name="object 3"/>
          <p:cNvSpPr txBox="1"/>
          <p:nvPr/>
        </p:nvSpPr>
        <p:spPr>
          <a:xfrm>
            <a:off x="1562233" y="1010562"/>
            <a:ext cx="4410771" cy="621303"/>
          </a:xfrm>
          <a:prstGeom prst="rect">
            <a:avLst/>
          </a:prstGeom>
        </p:spPr>
        <p:txBody>
          <a:bodyPr vert="horz" wrap="square" lIns="0" tIns="31094" rIns="0" bIns="0" rtlCol="0">
            <a:spAutoFit/>
          </a:bodyPr>
          <a:lstStyle/>
          <a:p>
            <a:pPr marL="11516" marR="4607">
              <a:lnSpc>
                <a:spcPts val="2294"/>
              </a:lnSpc>
              <a:spcBef>
                <a:spcPts val="245"/>
              </a:spcBef>
            </a:pPr>
            <a:r>
              <a:rPr sz="1995" spc="-9" dirty="0">
                <a:latin typeface="Times New Roman"/>
                <a:cs typeface="Times New Roman"/>
              </a:rPr>
              <a:t>Una</a:t>
            </a:r>
            <a:r>
              <a:rPr sz="1995" dirty="0">
                <a:latin typeface="Times New Roman"/>
                <a:cs typeface="Times New Roman"/>
              </a:rPr>
              <a:t> </a:t>
            </a:r>
            <a:r>
              <a:rPr sz="1995" spc="-5" dirty="0">
                <a:latin typeface="Times New Roman"/>
                <a:cs typeface="Times New Roman"/>
              </a:rPr>
              <a:t>función</a:t>
            </a:r>
            <a:r>
              <a:rPr sz="1995" dirty="0">
                <a:latin typeface="Times New Roman"/>
                <a:cs typeface="Times New Roman"/>
              </a:rPr>
              <a:t> </a:t>
            </a:r>
            <a:r>
              <a:rPr sz="1995" spc="-5" dirty="0">
                <a:latin typeface="Times New Roman"/>
                <a:cs typeface="Times New Roman"/>
              </a:rPr>
              <a:t>de</a:t>
            </a:r>
            <a:r>
              <a:rPr sz="1995" dirty="0">
                <a:latin typeface="Times New Roman"/>
                <a:cs typeface="Times New Roman"/>
              </a:rPr>
              <a:t> </a:t>
            </a:r>
            <a:r>
              <a:rPr sz="1995" spc="-5" dirty="0">
                <a:solidFill>
                  <a:srgbClr val="C00000"/>
                </a:solidFill>
                <a:latin typeface="Times New Roman"/>
                <a:cs typeface="Times New Roman"/>
              </a:rPr>
              <a:t>activación</a:t>
            </a:r>
            <a:r>
              <a:rPr sz="1995" spc="9" dirty="0">
                <a:solidFill>
                  <a:srgbClr val="C00000"/>
                </a:solidFill>
                <a:latin typeface="Times New Roman"/>
                <a:cs typeface="Times New Roman"/>
              </a:rPr>
              <a:t> </a:t>
            </a:r>
            <a:r>
              <a:rPr sz="1995" spc="-9" dirty="0">
                <a:latin typeface="Times New Roman"/>
                <a:cs typeface="Times New Roman"/>
              </a:rPr>
              <a:t>muy</a:t>
            </a:r>
            <a:r>
              <a:rPr sz="1995" spc="23" dirty="0">
                <a:latin typeface="Times New Roman"/>
                <a:cs typeface="Times New Roman"/>
              </a:rPr>
              <a:t> </a:t>
            </a:r>
            <a:r>
              <a:rPr sz="1995" spc="-5" dirty="0">
                <a:latin typeface="Times New Roman"/>
                <a:cs typeface="Times New Roman"/>
              </a:rPr>
              <a:t>utilizada</a:t>
            </a:r>
            <a:r>
              <a:rPr sz="1995" dirty="0">
                <a:latin typeface="Times New Roman"/>
                <a:cs typeface="Times New Roman"/>
              </a:rPr>
              <a:t> </a:t>
            </a:r>
            <a:r>
              <a:rPr sz="1995" spc="-5" dirty="0">
                <a:latin typeface="Times New Roman"/>
                <a:cs typeface="Times New Roman"/>
              </a:rPr>
              <a:t>es </a:t>
            </a:r>
            <a:r>
              <a:rPr sz="1995" spc="-485" dirty="0">
                <a:latin typeface="Times New Roman"/>
                <a:cs typeface="Times New Roman"/>
              </a:rPr>
              <a:t> </a:t>
            </a:r>
            <a:r>
              <a:rPr sz="1995" spc="-5" dirty="0">
                <a:latin typeface="Times New Roman"/>
                <a:cs typeface="Times New Roman"/>
              </a:rPr>
              <a:t>la</a:t>
            </a:r>
            <a:r>
              <a:rPr sz="1995" spc="-9" dirty="0">
                <a:latin typeface="Times New Roman"/>
                <a:cs typeface="Times New Roman"/>
              </a:rPr>
              <a:t> </a:t>
            </a:r>
            <a:r>
              <a:rPr sz="1995" b="1" spc="-5" dirty="0">
                <a:solidFill>
                  <a:srgbClr val="C00000"/>
                </a:solidFill>
                <a:latin typeface="Times New Roman"/>
                <a:cs typeface="Times New Roman"/>
              </a:rPr>
              <a:t>tangente hiperbólica</a:t>
            </a:r>
            <a:r>
              <a:rPr sz="1995" b="1" spc="-5" dirty="0">
                <a:latin typeface="Times New Roman"/>
                <a:cs typeface="Times New Roman"/>
              </a:rPr>
              <a:t>,</a:t>
            </a:r>
            <a:endParaRPr sz="1995" b="1" dirty="0">
              <a:latin typeface="Times New Roman"/>
              <a:cs typeface="Times New Roman"/>
            </a:endParaRPr>
          </a:p>
        </p:txBody>
      </p:sp>
      <p:sp>
        <p:nvSpPr>
          <p:cNvPr id="4" name="object 4"/>
          <p:cNvSpPr txBox="1"/>
          <p:nvPr/>
        </p:nvSpPr>
        <p:spPr>
          <a:xfrm>
            <a:off x="1604615" y="2876214"/>
            <a:ext cx="4781597" cy="2326885"/>
          </a:xfrm>
          <a:prstGeom prst="rect">
            <a:avLst/>
          </a:prstGeom>
        </p:spPr>
        <p:txBody>
          <a:bodyPr vert="horz" wrap="square" lIns="0" tIns="29366" rIns="0" bIns="0" rtlCol="0">
            <a:spAutoFit/>
          </a:bodyPr>
          <a:lstStyle/>
          <a:p>
            <a:pPr marL="11516" marR="4607">
              <a:lnSpc>
                <a:spcPts val="2095"/>
              </a:lnSpc>
              <a:spcBef>
                <a:spcPts val="230"/>
              </a:spcBef>
            </a:pPr>
            <a:r>
              <a:rPr sz="1814" spc="-5" dirty="0">
                <a:latin typeface="Times New Roman"/>
                <a:cs typeface="Times New Roman"/>
              </a:rPr>
              <a:t>Aplicando</a:t>
            </a:r>
            <a:r>
              <a:rPr sz="1814" dirty="0">
                <a:latin typeface="Times New Roman"/>
                <a:cs typeface="Times New Roman"/>
              </a:rPr>
              <a:t> la</a:t>
            </a:r>
            <a:r>
              <a:rPr sz="1814" spc="-9" dirty="0">
                <a:latin typeface="Times New Roman"/>
                <a:cs typeface="Times New Roman"/>
              </a:rPr>
              <a:t> </a:t>
            </a:r>
            <a:r>
              <a:rPr sz="1814" spc="-5" dirty="0">
                <a:latin typeface="Times New Roman"/>
                <a:cs typeface="Times New Roman"/>
              </a:rPr>
              <a:t>función</a:t>
            </a:r>
            <a:r>
              <a:rPr sz="1814" dirty="0">
                <a:latin typeface="Times New Roman"/>
                <a:cs typeface="Times New Roman"/>
              </a:rPr>
              <a:t> de</a:t>
            </a:r>
            <a:r>
              <a:rPr sz="1814" spc="-5" dirty="0">
                <a:latin typeface="Times New Roman"/>
                <a:cs typeface="Times New Roman"/>
              </a:rPr>
              <a:t> activación</a:t>
            </a:r>
            <a:r>
              <a:rPr sz="1814" spc="14" dirty="0">
                <a:latin typeface="Times New Roman"/>
                <a:cs typeface="Times New Roman"/>
              </a:rPr>
              <a:t> </a:t>
            </a:r>
            <a:r>
              <a:rPr sz="1814" dirty="0">
                <a:latin typeface="Times New Roman"/>
                <a:cs typeface="Times New Roman"/>
              </a:rPr>
              <a:t>a</a:t>
            </a:r>
            <a:r>
              <a:rPr sz="1814" spc="-5" dirty="0">
                <a:latin typeface="Times New Roman"/>
                <a:cs typeface="Times New Roman"/>
              </a:rPr>
              <a:t> </a:t>
            </a:r>
            <a:r>
              <a:rPr sz="1814" dirty="0">
                <a:latin typeface="Times New Roman"/>
                <a:cs typeface="Times New Roman"/>
              </a:rPr>
              <a:t>cada</a:t>
            </a:r>
            <a:r>
              <a:rPr sz="1814" spc="-5" dirty="0">
                <a:latin typeface="Times New Roman"/>
                <a:cs typeface="Times New Roman"/>
              </a:rPr>
              <a:t> </a:t>
            </a:r>
            <a:r>
              <a:rPr sz="1814" dirty="0" err="1">
                <a:latin typeface="Times New Roman"/>
                <a:cs typeface="Times New Roman"/>
              </a:rPr>
              <a:t>nodo</a:t>
            </a:r>
            <a:r>
              <a:rPr sz="1814" dirty="0">
                <a:latin typeface="Times New Roman"/>
                <a:cs typeface="Times New Roman"/>
              </a:rPr>
              <a:t> </a:t>
            </a:r>
            <a:r>
              <a:rPr sz="1814" spc="-439" dirty="0">
                <a:latin typeface="Times New Roman"/>
                <a:cs typeface="Times New Roman"/>
              </a:rPr>
              <a:t> </a:t>
            </a:r>
            <a:r>
              <a:rPr sz="1814" dirty="0" err="1">
                <a:latin typeface="Times New Roman"/>
                <a:cs typeface="Times New Roman"/>
              </a:rPr>
              <a:t>oculto</a:t>
            </a:r>
            <a:r>
              <a:rPr lang="es-ES" sz="1814" dirty="0">
                <a:latin typeface="Times New Roman"/>
                <a:cs typeface="Times New Roman"/>
              </a:rPr>
              <a:t> (que ya ha recibido la combinación con los nodos de la capa de entrada)</a:t>
            </a:r>
            <a:r>
              <a:rPr sz="1814" dirty="0">
                <a:latin typeface="Times New Roman"/>
                <a:cs typeface="Times New Roman"/>
              </a:rPr>
              <a:t>:</a:t>
            </a:r>
          </a:p>
          <a:p>
            <a:pPr>
              <a:lnSpc>
                <a:spcPct val="100000"/>
              </a:lnSpc>
            </a:pPr>
            <a:endParaRPr sz="1678" dirty="0">
              <a:latin typeface="Times New Roman"/>
              <a:cs typeface="Times New Roman"/>
            </a:endParaRPr>
          </a:p>
          <a:p>
            <a:pPr marL="11516">
              <a:lnSpc>
                <a:spcPts val="2122"/>
              </a:lnSpc>
            </a:pPr>
            <a:r>
              <a:rPr sz="1814" spc="-5" dirty="0">
                <a:latin typeface="Times New Roman"/>
                <a:cs typeface="Times New Roman"/>
              </a:rPr>
              <a:t>H1=</a:t>
            </a:r>
            <a:r>
              <a:rPr sz="1814" spc="-5" dirty="0" err="1">
                <a:latin typeface="Times New Roman"/>
                <a:cs typeface="Times New Roman"/>
              </a:rPr>
              <a:t>tanh</a:t>
            </a:r>
            <a:r>
              <a:rPr sz="1814" spc="-5" dirty="0">
                <a:latin typeface="Times New Roman"/>
                <a:cs typeface="Times New Roman"/>
              </a:rPr>
              <a:t>(</a:t>
            </a:r>
            <a:r>
              <a:rPr sz="2176" spc="-5" dirty="0">
                <a:latin typeface="Times New Roman"/>
                <a:cs typeface="Times New Roman"/>
              </a:rPr>
              <a:t>w</a:t>
            </a:r>
            <a:r>
              <a:rPr sz="1270" spc="-5" dirty="0">
                <a:latin typeface="Times New Roman"/>
                <a:cs typeface="Times New Roman"/>
              </a:rPr>
              <a:t>11</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21</a:t>
            </a:r>
            <a:r>
              <a:rPr sz="1814" spc="-5" dirty="0">
                <a:latin typeface="Times New Roman"/>
                <a:cs typeface="Times New Roman"/>
              </a:rPr>
              <a:t>X</a:t>
            </a:r>
            <a:r>
              <a:rPr lang="es-ES" sz="1814" spc="-5" dirty="0">
                <a:latin typeface="Times New Roman"/>
                <a:cs typeface="Times New Roman"/>
              </a:rPr>
              <a:t>2+</a:t>
            </a:r>
            <a:r>
              <a:rPr sz="2176" spc="-5" dirty="0">
                <a:latin typeface="Times New Roman"/>
                <a:cs typeface="Times New Roman"/>
              </a:rPr>
              <a:t>w</a:t>
            </a:r>
            <a:r>
              <a:rPr sz="1270" spc="-5" dirty="0">
                <a:latin typeface="Times New Roman"/>
                <a:cs typeface="Times New Roman"/>
              </a:rPr>
              <a:t>31</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41</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1</a:t>
            </a:r>
            <a:r>
              <a:rPr sz="1814" spc="-5" dirty="0">
                <a:latin typeface="Times New Roman"/>
                <a:cs typeface="Times New Roman"/>
              </a:rPr>
              <a:t>)</a:t>
            </a:r>
            <a:endParaRPr sz="1859" dirty="0">
              <a:latin typeface="Times New Roman"/>
              <a:cs typeface="Times New Roman"/>
            </a:endParaRPr>
          </a:p>
          <a:p>
            <a:pPr marL="11516" marR="89828" algn="just">
              <a:lnSpc>
                <a:spcPts val="2503"/>
              </a:lnSpc>
            </a:pPr>
            <a:r>
              <a:rPr sz="1814" spc="-5" dirty="0">
                <a:latin typeface="Times New Roman"/>
                <a:cs typeface="Times New Roman"/>
              </a:rPr>
              <a:t>H2=tanh(</a:t>
            </a:r>
            <a:r>
              <a:rPr sz="2176" spc="-5" dirty="0">
                <a:latin typeface="Times New Roman"/>
                <a:cs typeface="Times New Roman"/>
              </a:rPr>
              <a:t>w</a:t>
            </a:r>
            <a:r>
              <a:rPr sz="1270" spc="-5" dirty="0">
                <a:latin typeface="Times New Roman"/>
                <a:cs typeface="Times New Roman"/>
              </a:rPr>
              <a:t>12</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22</a:t>
            </a:r>
            <a:r>
              <a:rPr sz="1814" spc="-5" dirty="0">
                <a:latin typeface="Times New Roman"/>
                <a:cs typeface="Times New Roman"/>
              </a:rPr>
              <a:t>X2+</a:t>
            </a:r>
            <a:r>
              <a:rPr sz="2176" spc="-5" dirty="0">
                <a:latin typeface="Times New Roman"/>
                <a:cs typeface="Times New Roman"/>
              </a:rPr>
              <a:t>w</a:t>
            </a:r>
            <a:r>
              <a:rPr sz="1270" spc="-5" dirty="0">
                <a:latin typeface="Times New Roman"/>
                <a:cs typeface="Times New Roman"/>
              </a:rPr>
              <a:t>32</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42</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2</a:t>
            </a:r>
            <a:r>
              <a:rPr sz="1814" spc="-5" dirty="0">
                <a:latin typeface="Times New Roman"/>
                <a:cs typeface="Times New Roman"/>
              </a:rPr>
              <a:t>) </a:t>
            </a:r>
            <a:r>
              <a:rPr sz="1814" spc="-444" dirty="0">
                <a:latin typeface="Times New Roman"/>
                <a:cs typeface="Times New Roman"/>
              </a:rPr>
              <a:t> </a:t>
            </a:r>
            <a:r>
              <a:rPr sz="1814" spc="-5" dirty="0">
                <a:latin typeface="Times New Roman"/>
                <a:cs typeface="Times New Roman"/>
              </a:rPr>
              <a:t>H3=tanh(</a:t>
            </a:r>
            <a:r>
              <a:rPr sz="2176" spc="-5" dirty="0">
                <a:latin typeface="Times New Roman"/>
                <a:cs typeface="Times New Roman"/>
              </a:rPr>
              <a:t>w</a:t>
            </a:r>
            <a:r>
              <a:rPr sz="1270" spc="-5" dirty="0">
                <a:latin typeface="Times New Roman"/>
                <a:cs typeface="Times New Roman"/>
              </a:rPr>
              <a:t>13</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23</a:t>
            </a:r>
            <a:r>
              <a:rPr sz="1814" spc="-5" dirty="0">
                <a:latin typeface="Times New Roman"/>
                <a:cs typeface="Times New Roman"/>
              </a:rPr>
              <a:t>X2+</a:t>
            </a:r>
            <a:r>
              <a:rPr sz="2176" spc="-5" dirty="0">
                <a:latin typeface="Times New Roman"/>
                <a:cs typeface="Times New Roman"/>
              </a:rPr>
              <a:t>w</a:t>
            </a:r>
            <a:r>
              <a:rPr sz="1270" spc="-5" dirty="0">
                <a:latin typeface="Times New Roman"/>
                <a:cs typeface="Times New Roman"/>
              </a:rPr>
              <a:t>33</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43</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3</a:t>
            </a:r>
            <a:r>
              <a:rPr sz="1814" spc="-5" dirty="0">
                <a:latin typeface="Times New Roman"/>
                <a:cs typeface="Times New Roman"/>
              </a:rPr>
              <a:t>) </a:t>
            </a:r>
            <a:r>
              <a:rPr sz="1814" spc="-444" dirty="0">
                <a:latin typeface="Times New Roman"/>
                <a:cs typeface="Times New Roman"/>
              </a:rPr>
              <a:t> </a:t>
            </a:r>
            <a:r>
              <a:rPr sz="1814" spc="-5" dirty="0">
                <a:latin typeface="Times New Roman"/>
                <a:cs typeface="Times New Roman"/>
              </a:rPr>
              <a:t>H4=tanh(</a:t>
            </a:r>
            <a:r>
              <a:rPr sz="2176" spc="-5" dirty="0">
                <a:latin typeface="Times New Roman"/>
                <a:cs typeface="Times New Roman"/>
              </a:rPr>
              <a:t>w</a:t>
            </a:r>
            <a:r>
              <a:rPr sz="1270" spc="-5" dirty="0">
                <a:latin typeface="Times New Roman"/>
                <a:cs typeface="Times New Roman"/>
              </a:rPr>
              <a:t>14</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24</a:t>
            </a:r>
            <a:r>
              <a:rPr sz="1814" spc="-5" dirty="0">
                <a:latin typeface="Times New Roman"/>
                <a:cs typeface="Times New Roman"/>
              </a:rPr>
              <a:t>X2+</a:t>
            </a:r>
            <a:r>
              <a:rPr sz="2176" spc="-5" dirty="0">
                <a:latin typeface="Times New Roman"/>
                <a:cs typeface="Times New Roman"/>
              </a:rPr>
              <a:t>w</a:t>
            </a:r>
            <a:r>
              <a:rPr sz="1270" spc="-5" dirty="0">
                <a:latin typeface="Times New Roman"/>
                <a:cs typeface="Times New Roman"/>
              </a:rPr>
              <a:t>34</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44</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4</a:t>
            </a:r>
            <a:r>
              <a:rPr sz="1814" spc="-5" dirty="0">
                <a:latin typeface="Times New Roman"/>
                <a:cs typeface="Times New Roman"/>
              </a:rPr>
              <a:t>)</a:t>
            </a:r>
            <a:endParaRPr sz="1814" dirty="0">
              <a:latin typeface="Times New Roman"/>
              <a:cs typeface="Times New Roman"/>
            </a:endParaRPr>
          </a:p>
        </p:txBody>
      </p:sp>
      <p:grpSp>
        <p:nvGrpSpPr>
          <p:cNvPr id="5" name="object 5"/>
          <p:cNvGrpSpPr/>
          <p:nvPr/>
        </p:nvGrpSpPr>
        <p:grpSpPr>
          <a:xfrm>
            <a:off x="4575839" y="1217856"/>
            <a:ext cx="5966056" cy="3070840"/>
            <a:chOff x="3649979" y="1652905"/>
            <a:chExt cx="6579234" cy="3386454"/>
          </a:xfrm>
        </p:grpSpPr>
        <p:pic>
          <p:nvPicPr>
            <p:cNvPr id="6" name="object 6"/>
            <p:cNvPicPr/>
            <p:nvPr/>
          </p:nvPicPr>
          <p:blipFill>
            <a:blip r:embed="rId2" cstate="print"/>
            <a:stretch>
              <a:fillRect/>
            </a:stretch>
          </p:blipFill>
          <p:spPr>
            <a:xfrm>
              <a:off x="5379719" y="1652905"/>
              <a:ext cx="4849198" cy="3386454"/>
            </a:xfrm>
            <a:prstGeom prst="rect">
              <a:avLst/>
            </a:prstGeom>
          </p:spPr>
        </p:pic>
        <p:pic>
          <p:nvPicPr>
            <p:cNvPr id="7" name="object 7"/>
            <p:cNvPicPr/>
            <p:nvPr/>
          </p:nvPicPr>
          <p:blipFill>
            <a:blip r:embed="rId3" cstate="print"/>
            <a:stretch>
              <a:fillRect/>
            </a:stretch>
          </p:blipFill>
          <p:spPr>
            <a:xfrm>
              <a:off x="3649979" y="1877695"/>
              <a:ext cx="1996439" cy="1666875"/>
            </a:xfrm>
            <a:prstGeom prst="rect">
              <a:avLst/>
            </a:prstGeom>
          </p:spPr>
        </p:pic>
      </p:grpSp>
      <p:pic>
        <p:nvPicPr>
          <p:cNvPr id="8" name="object 8"/>
          <p:cNvPicPr/>
          <p:nvPr/>
        </p:nvPicPr>
        <p:blipFill>
          <a:blip r:embed="rId4" cstate="print"/>
          <a:stretch>
            <a:fillRect/>
          </a:stretch>
        </p:blipFill>
        <p:spPr>
          <a:xfrm>
            <a:off x="1671643" y="1908839"/>
            <a:ext cx="2510454" cy="341796"/>
          </a:xfrm>
          <a:prstGeom prst="rect">
            <a:avLst/>
          </a:prstGeom>
        </p:spPr>
      </p:pic>
      <p:sp>
        <p:nvSpPr>
          <p:cNvPr id="9" name="CuadroTexto 8"/>
          <p:cNvSpPr txBox="1"/>
          <p:nvPr/>
        </p:nvSpPr>
        <p:spPr>
          <a:xfrm>
            <a:off x="1562234" y="5282712"/>
            <a:ext cx="8570252" cy="929870"/>
          </a:xfrm>
          <a:prstGeom prst="rect">
            <a:avLst/>
          </a:prstGeom>
          <a:noFill/>
        </p:spPr>
        <p:txBody>
          <a:bodyPr wrap="square" rtlCol="0">
            <a:spAutoFit/>
          </a:bodyPr>
          <a:lstStyle/>
          <a:p>
            <a:r>
              <a:rPr lang="es-ES" sz="1814" b="1" dirty="0">
                <a:solidFill>
                  <a:srgbClr val="FF0000"/>
                </a:solidFill>
                <a:latin typeface="Times New Roman" panose="02020603050405020304" pitchFamily="18" charset="0"/>
                <a:cs typeface="Times New Roman" panose="02020603050405020304" pitchFamily="18" charset="0"/>
              </a:rPr>
              <a:t>Las funciones de activación son la “entrada” a la siguiente capa; bien sea otra capa oculta, si es que hay más, o la capa de salida.</a:t>
            </a:r>
          </a:p>
          <a:p>
            <a:r>
              <a:rPr lang="es-ES" sz="1814" dirty="0">
                <a:latin typeface="Times New Roman" panose="02020603050405020304" pitchFamily="18" charset="0"/>
                <a:cs typeface="Times New Roman" panose="02020603050405020304" pitchFamily="18" charset="0"/>
              </a:rPr>
              <a:t>En general, dentro de la misma capa se suele usar la misma función de activación.</a:t>
            </a:r>
          </a:p>
        </p:txBody>
      </p:sp>
      <p:sp>
        <p:nvSpPr>
          <p:cNvPr id="10" name="Elipse 9"/>
          <p:cNvSpPr/>
          <p:nvPr/>
        </p:nvSpPr>
        <p:spPr>
          <a:xfrm>
            <a:off x="8859930" y="1625576"/>
            <a:ext cx="414589" cy="2798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32"/>
          </a:p>
        </p:txBody>
      </p:sp>
      <p:sp>
        <p:nvSpPr>
          <p:cNvPr id="11" name="CuadroTexto 10"/>
          <p:cNvSpPr txBox="1"/>
          <p:nvPr/>
        </p:nvSpPr>
        <p:spPr>
          <a:xfrm>
            <a:off x="8837588" y="1064069"/>
            <a:ext cx="1836865" cy="427168"/>
          </a:xfrm>
          <a:prstGeom prst="rect">
            <a:avLst/>
          </a:prstGeom>
          <a:noFill/>
          <a:ln>
            <a:solidFill>
              <a:srgbClr val="002060"/>
            </a:solidFill>
          </a:ln>
        </p:spPr>
        <p:txBody>
          <a:bodyPr wrap="square" rtlCol="0">
            <a:spAutoFit/>
          </a:bodyPr>
          <a:lstStyle/>
          <a:p>
            <a:r>
              <a:rPr lang="es-ES" sz="1088" dirty="0">
                <a:solidFill>
                  <a:srgbClr val="002060"/>
                </a:solidFill>
              </a:rPr>
              <a:t>Peso que conecta cada nodo oculto con el nodo de salida</a:t>
            </a:r>
          </a:p>
        </p:txBody>
      </p:sp>
      <p:cxnSp>
        <p:nvCxnSpPr>
          <p:cNvPr id="13" name="Conector recto de flecha 12"/>
          <p:cNvCxnSpPr/>
          <p:nvPr/>
        </p:nvCxnSpPr>
        <p:spPr>
          <a:xfrm flipH="1">
            <a:off x="9274520" y="1517399"/>
            <a:ext cx="481500" cy="210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4056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2234" y="274390"/>
            <a:ext cx="9067531" cy="326350"/>
          </a:xfrm>
          <a:prstGeom prst="rect">
            <a:avLst/>
          </a:prstGeom>
        </p:spPr>
        <p:txBody>
          <a:bodyPr vert="horz" wrap="square" lIns="0" tIns="31094" rIns="0" bIns="0" rtlCol="0" anchor="ctr">
            <a:spAutoFit/>
          </a:bodyPr>
          <a:lstStyle/>
          <a:p>
            <a:pPr marL="11516" marR="4607">
              <a:lnSpc>
                <a:spcPts val="2294"/>
              </a:lnSpc>
              <a:spcBef>
                <a:spcPts val="245"/>
              </a:spcBef>
            </a:pPr>
            <a:r>
              <a:rPr sz="1814" spc="-5" dirty="0"/>
              <a:t>Finalmente</a:t>
            </a:r>
            <a:r>
              <a:rPr sz="1814" dirty="0"/>
              <a:t> </a:t>
            </a:r>
            <a:r>
              <a:rPr sz="1814" spc="-5" dirty="0"/>
              <a:t>aplicamos</a:t>
            </a:r>
            <a:r>
              <a:rPr sz="1814" spc="9" dirty="0"/>
              <a:t> </a:t>
            </a:r>
            <a:r>
              <a:rPr sz="1814" spc="-5" dirty="0"/>
              <a:t>combinación</a:t>
            </a:r>
            <a:r>
              <a:rPr sz="1814" dirty="0"/>
              <a:t> </a:t>
            </a:r>
            <a:r>
              <a:rPr sz="1814" spc="-5" dirty="0"/>
              <a:t>y</a:t>
            </a:r>
            <a:r>
              <a:rPr sz="1814" spc="14" dirty="0"/>
              <a:t> </a:t>
            </a:r>
            <a:r>
              <a:rPr sz="1814" spc="-5" dirty="0"/>
              <a:t>después</a:t>
            </a:r>
            <a:r>
              <a:rPr sz="1814" dirty="0"/>
              <a:t> </a:t>
            </a:r>
            <a:r>
              <a:rPr sz="1814" spc="-5" dirty="0"/>
              <a:t>activación</a:t>
            </a:r>
            <a:r>
              <a:rPr sz="1814" spc="14" dirty="0"/>
              <a:t> </a:t>
            </a:r>
            <a:r>
              <a:rPr sz="1814" dirty="0"/>
              <a:t>de</a:t>
            </a:r>
            <a:r>
              <a:rPr sz="1814" spc="5" dirty="0"/>
              <a:t> </a:t>
            </a:r>
            <a:r>
              <a:rPr sz="1814" spc="-5" dirty="0"/>
              <a:t>la</a:t>
            </a:r>
            <a:r>
              <a:rPr sz="1814" spc="5" dirty="0"/>
              <a:t> </a:t>
            </a:r>
            <a:r>
              <a:rPr sz="1814" spc="-5" dirty="0"/>
              <a:t>capa</a:t>
            </a:r>
            <a:r>
              <a:rPr sz="1814" dirty="0"/>
              <a:t> </a:t>
            </a:r>
            <a:r>
              <a:rPr sz="1814" spc="-5" dirty="0"/>
              <a:t>oculta</a:t>
            </a:r>
            <a:r>
              <a:rPr sz="1814" spc="5" dirty="0"/>
              <a:t> </a:t>
            </a:r>
            <a:r>
              <a:rPr sz="1814" spc="-5" dirty="0"/>
              <a:t>a</a:t>
            </a:r>
            <a:r>
              <a:rPr sz="1814" spc="5" dirty="0"/>
              <a:t> </a:t>
            </a:r>
            <a:r>
              <a:rPr sz="1814" spc="-5" dirty="0"/>
              <a:t>la</a:t>
            </a:r>
            <a:r>
              <a:rPr sz="1814" spc="5" dirty="0"/>
              <a:t> </a:t>
            </a:r>
            <a:r>
              <a:rPr sz="1814" spc="-5" dirty="0"/>
              <a:t>capa </a:t>
            </a:r>
            <a:r>
              <a:rPr sz="1814" spc="-485" dirty="0"/>
              <a:t> </a:t>
            </a:r>
            <a:r>
              <a:rPr sz="1814" spc="-5" dirty="0"/>
              <a:t>output</a:t>
            </a:r>
            <a:endParaRPr sz="1814" dirty="0"/>
          </a:p>
        </p:txBody>
      </p:sp>
      <p:sp>
        <p:nvSpPr>
          <p:cNvPr id="3" name="object 3"/>
          <p:cNvSpPr txBox="1"/>
          <p:nvPr/>
        </p:nvSpPr>
        <p:spPr>
          <a:xfrm>
            <a:off x="1562234" y="3792456"/>
            <a:ext cx="8541464" cy="2859007"/>
          </a:xfrm>
          <a:prstGeom prst="rect">
            <a:avLst/>
          </a:prstGeom>
        </p:spPr>
        <p:txBody>
          <a:bodyPr vert="horz" wrap="square" lIns="0" tIns="10941" rIns="0" bIns="0" rtlCol="0">
            <a:spAutoFit/>
          </a:bodyPr>
          <a:lstStyle/>
          <a:p>
            <a:pPr marL="11516">
              <a:lnSpc>
                <a:spcPts val="2335"/>
              </a:lnSpc>
              <a:spcBef>
                <a:spcPts val="86"/>
              </a:spcBef>
            </a:pPr>
            <a:r>
              <a:rPr sz="1814" spc="-5" dirty="0">
                <a:latin typeface="Times New Roman"/>
                <a:cs typeface="Times New Roman"/>
              </a:rPr>
              <a:t>Combinación</a:t>
            </a:r>
            <a:r>
              <a:rPr sz="1814" spc="5" dirty="0">
                <a:latin typeface="Times New Roman"/>
                <a:cs typeface="Times New Roman"/>
              </a:rPr>
              <a:t> </a:t>
            </a:r>
            <a:r>
              <a:rPr sz="1814" spc="-5" dirty="0">
                <a:latin typeface="Times New Roman"/>
                <a:cs typeface="Times New Roman"/>
              </a:rPr>
              <a:t>de</a:t>
            </a:r>
            <a:r>
              <a:rPr sz="1814" dirty="0">
                <a:latin typeface="Times New Roman"/>
                <a:cs typeface="Times New Roman"/>
              </a:rPr>
              <a:t> </a:t>
            </a:r>
            <a:r>
              <a:rPr sz="1814" spc="-5" dirty="0">
                <a:latin typeface="Times New Roman"/>
                <a:cs typeface="Times New Roman"/>
              </a:rPr>
              <a:t>los</a:t>
            </a:r>
            <a:r>
              <a:rPr sz="1814" dirty="0">
                <a:latin typeface="Times New Roman"/>
                <a:cs typeface="Times New Roman"/>
              </a:rPr>
              <a:t> </a:t>
            </a:r>
            <a:r>
              <a:rPr sz="1814" spc="-5" dirty="0">
                <a:latin typeface="Times New Roman"/>
                <a:cs typeface="Times New Roman"/>
              </a:rPr>
              <a:t>nodos</a:t>
            </a:r>
            <a:r>
              <a:rPr sz="1814" spc="-9" dirty="0">
                <a:latin typeface="Times New Roman"/>
                <a:cs typeface="Times New Roman"/>
              </a:rPr>
              <a:t> </a:t>
            </a:r>
            <a:r>
              <a:rPr sz="1814" spc="-5" dirty="0">
                <a:latin typeface="Times New Roman"/>
                <a:cs typeface="Times New Roman"/>
              </a:rPr>
              <a:t>de</a:t>
            </a:r>
            <a:r>
              <a:rPr sz="1814" dirty="0">
                <a:latin typeface="Times New Roman"/>
                <a:cs typeface="Times New Roman"/>
              </a:rPr>
              <a:t> </a:t>
            </a:r>
            <a:r>
              <a:rPr sz="1814" spc="-5" dirty="0">
                <a:latin typeface="Times New Roman"/>
                <a:cs typeface="Times New Roman"/>
              </a:rPr>
              <a:t>la capa</a:t>
            </a:r>
            <a:r>
              <a:rPr sz="1814" dirty="0">
                <a:latin typeface="Times New Roman"/>
                <a:cs typeface="Times New Roman"/>
              </a:rPr>
              <a:t> </a:t>
            </a:r>
            <a:r>
              <a:rPr sz="1814" spc="-5" dirty="0">
                <a:latin typeface="Times New Roman"/>
                <a:cs typeface="Times New Roman"/>
              </a:rPr>
              <a:t>oculta:</a:t>
            </a:r>
            <a:endParaRPr sz="1814" dirty="0">
              <a:latin typeface="Times New Roman"/>
              <a:cs typeface="Times New Roman"/>
            </a:endParaRPr>
          </a:p>
          <a:p>
            <a:pPr marL="11516">
              <a:lnSpc>
                <a:spcPts val="2553"/>
              </a:lnSpc>
            </a:pPr>
            <a:r>
              <a:rPr sz="1814" spc="-5" dirty="0">
                <a:latin typeface="Times New Roman"/>
                <a:cs typeface="Times New Roman"/>
              </a:rPr>
              <a:t>Y=w</a:t>
            </a:r>
            <a:r>
              <a:rPr sz="1814" spc="-5" baseline="-25000" dirty="0">
                <a:latin typeface="Times New Roman"/>
                <a:cs typeface="Times New Roman"/>
              </a:rPr>
              <a:t>1,out</a:t>
            </a:r>
            <a:r>
              <a:rPr sz="1814" spc="-5" dirty="0">
                <a:latin typeface="Times New Roman"/>
                <a:cs typeface="Times New Roman"/>
              </a:rPr>
              <a:t>H1+w</a:t>
            </a:r>
            <a:r>
              <a:rPr sz="1814" spc="-5" baseline="-25000" dirty="0">
                <a:latin typeface="Times New Roman"/>
                <a:cs typeface="Times New Roman"/>
              </a:rPr>
              <a:t>2</a:t>
            </a:r>
            <a:r>
              <a:rPr lang="es-ES" sz="1814" spc="-5" baseline="-25000" dirty="0">
                <a:latin typeface="Times New Roman"/>
                <a:cs typeface="Times New Roman"/>
              </a:rPr>
              <a:t>,</a:t>
            </a:r>
            <a:r>
              <a:rPr sz="1814" spc="-5" baseline="-25000" dirty="0">
                <a:latin typeface="Times New Roman"/>
                <a:cs typeface="Times New Roman"/>
              </a:rPr>
              <a:t>out</a:t>
            </a:r>
            <a:r>
              <a:rPr sz="1814" spc="-5" dirty="0">
                <a:latin typeface="Times New Roman"/>
                <a:cs typeface="Times New Roman"/>
              </a:rPr>
              <a:t>H2+w</a:t>
            </a:r>
            <a:r>
              <a:rPr sz="1814" spc="-5" baseline="-25000" dirty="0">
                <a:latin typeface="Times New Roman"/>
                <a:cs typeface="Times New Roman"/>
              </a:rPr>
              <a:t>3,out</a:t>
            </a:r>
            <a:r>
              <a:rPr sz="1814" spc="-5" dirty="0">
                <a:latin typeface="Times New Roman"/>
                <a:cs typeface="Times New Roman"/>
              </a:rPr>
              <a:t>H3+w4</a:t>
            </a:r>
            <a:r>
              <a:rPr sz="1814" spc="-5" baseline="-25000" dirty="0">
                <a:latin typeface="Times New Roman"/>
                <a:cs typeface="Times New Roman"/>
              </a:rPr>
              <a:t>,out</a:t>
            </a:r>
            <a:r>
              <a:rPr sz="1814" spc="-5" dirty="0">
                <a:latin typeface="Times New Roman"/>
                <a:cs typeface="Times New Roman"/>
              </a:rPr>
              <a:t>H4+</a:t>
            </a:r>
            <a:r>
              <a:rPr sz="1814" spc="-5" dirty="0">
                <a:solidFill>
                  <a:srgbClr val="1F487C"/>
                </a:solidFill>
                <a:latin typeface="Times New Roman"/>
                <a:cs typeface="Times New Roman"/>
              </a:rPr>
              <a:t>bout</a:t>
            </a:r>
            <a:endParaRPr sz="1814" dirty="0">
              <a:latin typeface="Times New Roman"/>
              <a:cs typeface="Times New Roman"/>
            </a:endParaRPr>
          </a:p>
          <a:p>
            <a:pPr>
              <a:spcBef>
                <a:spcPts val="14"/>
              </a:spcBef>
            </a:pPr>
            <a:endParaRPr sz="1814" dirty="0">
              <a:latin typeface="Times New Roman"/>
              <a:cs typeface="Times New Roman"/>
            </a:endParaRPr>
          </a:p>
          <a:p>
            <a:pPr marL="11516"/>
            <a:r>
              <a:rPr sz="1814" b="1" spc="-9" dirty="0">
                <a:solidFill>
                  <a:srgbClr val="FF0000"/>
                </a:solidFill>
                <a:latin typeface="Times New Roman"/>
                <a:cs typeface="Times New Roman"/>
              </a:rPr>
              <a:t>Activación</a:t>
            </a:r>
            <a:r>
              <a:rPr sz="1814" b="1" spc="23" dirty="0">
                <a:solidFill>
                  <a:srgbClr val="FF0000"/>
                </a:solidFill>
                <a:latin typeface="Times New Roman"/>
                <a:cs typeface="Times New Roman"/>
              </a:rPr>
              <a:t> </a:t>
            </a:r>
            <a:r>
              <a:rPr sz="1814" b="1" spc="-5" dirty="0">
                <a:solidFill>
                  <a:srgbClr val="FF0000"/>
                </a:solidFill>
                <a:latin typeface="Times New Roman"/>
                <a:cs typeface="Times New Roman"/>
              </a:rPr>
              <a:t>final</a:t>
            </a:r>
            <a:r>
              <a:rPr sz="1814" b="1" spc="9" dirty="0">
                <a:solidFill>
                  <a:srgbClr val="FF0000"/>
                </a:solidFill>
                <a:latin typeface="Times New Roman"/>
                <a:cs typeface="Times New Roman"/>
              </a:rPr>
              <a:t> </a:t>
            </a:r>
            <a:r>
              <a:rPr sz="1814" b="1" spc="-5" dirty="0">
                <a:solidFill>
                  <a:srgbClr val="FF0000"/>
                </a:solidFill>
                <a:latin typeface="Times New Roman"/>
                <a:cs typeface="Times New Roman"/>
              </a:rPr>
              <a:t>(nota:</a:t>
            </a:r>
            <a:r>
              <a:rPr sz="1814" b="1" spc="5" dirty="0">
                <a:solidFill>
                  <a:srgbClr val="FF0000"/>
                </a:solidFill>
                <a:latin typeface="Times New Roman"/>
                <a:cs typeface="Times New Roman"/>
              </a:rPr>
              <a:t> </a:t>
            </a:r>
            <a:r>
              <a:rPr sz="1814" b="1" spc="-5" dirty="0">
                <a:solidFill>
                  <a:srgbClr val="FF0000"/>
                </a:solidFill>
                <a:latin typeface="Times New Roman"/>
                <a:cs typeface="Times New Roman"/>
              </a:rPr>
              <a:t>cuando</a:t>
            </a:r>
            <a:r>
              <a:rPr sz="1814" b="1" spc="14" dirty="0">
                <a:solidFill>
                  <a:srgbClr val="FF0000"/>
                </a:solidFill>
                <a:latin typeface="Times New Roman"/>
                <a:cs typeface="Times New Roman"/>
              </a:rPr>
              <a:t> </a:t>
            </a:r>
            <a:r>
              <a:rPr sz="1814" b="1" spc="-5" dirty="0">
                <a:solidFill>
                  <a:srgbClr val="FF0000"/>
                </a:solidFill>
                <a:latin typeface="Times New Roman"/>
                <a:cs typeface="Times New Roman"/>
              </a:rPr>
              <a:t>la</a:t>
            </a:r>
            <a:r>
              <a:rPr sz="1814" b="1" spc="5" dirty="0">
                <a:solidFill>
                  <a:srgbClr val="FF0000"/>
                </a:solidFill>
                <a:latin typeface="Times New Roman"/>
                <a:cs typeface="Times New Roman"/>
              </a:rPr>
              <a:t> </a:t>
            </a:r>
            <a:r>
              <a:rPr sz="1814" b="1" spc="-5" dirty="0">
                <a:solidFill>
                  <a:srgbClr val="FF0000"/>
                </a:solidFill>
                <a:latin typeface="Times New Roman"/>
                <a:cs typeface="Times New Roman"/>
              </a:rPr>
              <a:t>variable</a:t>
            </a:r>
            <a:r>
              <a:rPr sz="1814" b="1" dirty="0">
                <a:solidFill>
                  <a:srgbClr val="FF0000"/>
                </a:solidFill>
                <a:latin typeface="Times New Roman"/>
                <a:cs typeface="Times New Roman"/>
              </a:rPr>
              <a:t> </a:t>
            </a:r>
            <a:r>
              <a:rPr sz="1814" b="1" spc="-5" dirty="0">
                <a:solidFill>
                  <a:srgbClr val="FF0000"/>
                </a:solidFill>
                <a:latin typeface="Times New Roman"/>
                <a:cs typeface="Times New Roman"/>
              </a:rPr>
              <a:t>output</a:t>
            </a:r>
            <a:r>
              <a:rPr sz="1814" b="1" spc="9" dirty="0">
                <a:solidFill>
                  <a:srgbClr val="FF0000"/>
                </a:solidFill>
                <a:latin typeface="Times New Roman"/>
                <a:cs typeface="Times New Roman"/>
              </a:rPr>
              <a:t> </a:t>
            </a:r>
            <a:r>
              <a:rPr sz="1814" b="1" spc="-5" dirty="0">
                <a:solidFill>
                  <a:srgbClr val="FF0000"/>
                </a:solidFill>
                <a:latin typeface="Times New Roman"/>
                <a:cs typeface="Times New Roman"/>
              </a:rPr>
              <a:t>es</a:t>
            </a:r>
            <a:r>
              <a:rPr sz="1814" b="1" spc="23" dirty="0">
                <a:solidFill>
                  <a:srgbClr val="FF0000"/>
                </a:solidFill>
                <a:latin typeface="Times New Roman"/>
                <a:cs typeface="Times New Roman"/>
              </a:rPr>
              <a:t> </a:t>
            </a:r>
            <a:r>
              <a:rPr sz="1814" b="1" spc="-5" dirty="0">
                <a:solidFill>
                  <a:srgbClr val="FF0000"/>
                </a:solidFill>
                <a:latin typeface="Times New Roman"/>
                <a:cs typeface="Times New Roman"/>
              </a:rPr>
              <a:t>continua</a:t>
            </a:r>
            <a:r>
              <a:rPr sz="1814" b="1" spc="14" dirty="0">
                <a:solidFill>
                  <a:srgbClr val="FF0000"/>
                </a:solidFill>
                <a:latin typeface="Times New Roman"/>
                <a:cs typeface="Times New Roman"/>
              </a:rPr>
              <a:t> </a:t>
            </a:r>
            <a:r>
              <a:rPr sz="1814" b="1" spc="-5" dirty="0">
                <a:solidFill>
                  <a:srgbClr val="FF0000"/>
                </a:solidFill>
                <a:latin typeface="Times New Roman"/>
                <a:cs typeface="Times New Roman"/>
              </a:rPr>
              <a:t>no</a:t>
            </a:r>
            <a:r>
              <a:rPr sz="1814" b="1" spc="14" dirty="0">
                <a:solidFill>
                  <a:srgbClr val="FF0000"/>
                </a:solidFill>
                <a:latin typeface="Times New Roman"/>
                <a:cs typeface="Times New Roman"/>
              </a:rPr>
              <a:t> </a:t>
            </a:r>
            <a:r>
              <a:rPr sz="1814" b="1" spc="-5" dirty="0">
                <a:solidFill>
                  <a:srgbClr val="FF0000"/>
                </a:solidFill>
                <a:latin typeface="Times New Roman"/>
                <a:cs typeface="Times New Roman"/>
              </a:rPr>
              <a:t>se</a:t>
            </a:r>
            <a:r>
              <a:rPr sz="1814" b="1" spc="5" dirty="0">
                <a:solidFill>
                  <a:srgbClr val="FF0000"/>
                </a:solidFill>
                <a:latin typeface="Times New Roman"/>
                <a:cs typeface="Times New Roman"/>
              </a:rPr>
              <a:t> </a:t>
            </a:r>
            <a:r>
              <a:rPr sz="1814" b="1" spc="-5" dirty="0" err="1">
                <a:solidFill>
                  <a:srgbClr val="FF0000"/>
                </a:solidFill>
                <a:latin typeface="Times New Roman"/>
                <a:cs typeface="Times New Roman"/>
              </a:rPr>
              <a:t>realiza</a:t>
            </a:r>
            <a:r>
              <a:rPr sz="1814" b="1" spc="9" dirty="0">
                <a:solidFill>
                  <a:srgbClr val="FF0000"/>
                </a:solidFill>
                <a:latin typeface="Times New Roman"/>
                <a:cs typeface="Times New Roman"/>
              </a:rPr>
              <a:t> </a:t>
            </a:r>
            <a:r>
              <a:rPr sz="1814" b="1" dirty="0" err="1">
                <a:solidFill>
                  <a:srgbClr val="FF0000"/>
                </a:solidFill>
                <a:latin typeface="Times New Roman"/>
                <a:cs typeface="Times New Roman"/>
              </a:rPr>
              <a:t>activació</a:t>
            </a:r>
            <a:r>
              <a:rPr lang="es-ES" sz="1814" b="1" dirty="0">
                <a:solidFill>
                  <a:srgbClr val="FF0000"/>
                </a:solidFill>
                <a:latin typeface="Times New Roman"/>
                <a:cs typeface="Times New Roman"/>
              </a:rPr>
              <a:t>n en el nodo de salida</a:t>
            </a:r>
            <a:r>
              <a:rPr sz="1814" b="1" dirty="0">
                <a:solidFill>
                  <a:srgbClr val="FF0000"/>
                </a:solidFill>
                <a:latin typeface="Times New Roman"/>
                <a:cs typeface="Times New Roman"/>
              </a:rPr>
              <a:t>)</a:t>
            </a:r>
          </a:p>
          <a:p>
            <a:pPr>
              <a:spcBef>
                <a:spcPts val="9"/>
              </a:spcBef>
            </a:pPr>
            <a:endParaRPr sz="1814" dirty="0">
              <a:latin typeface="Times New Roman"/>
              <a:cs typeface="Times New Roman"/>
            </a:endParaRPr>
          </a:p>
          <a:p>
            <a:pPr marL="322458" marR="4607" indent="-310942">
              <a:lnSpc>
                <a:spcPts val="2167"/>
              </a:lnSpc>
              <a:buFont typeface="Arial" panose="020B0604020202020204" pitchFamily="34" charset="0"/>
              <a:buChar char="•"/>
            </a:pPr>
            <a:r>
              <a:rPr sz="1814" spc="-5" dirty="0">
                <a:latin typeface="Times New Roman"/>
                <a:cs typeface="Times New Roman"/>
              </a:rPr>
              <a:t>Y=tanh(Y)=tanh(w</a:t>
            </a:r>
            <a:r>
              <a:rPr sz="1814" spc="-5" baseline="-25000" dirty="0">
                <a:latin typeface="Times New Roman"/>
                <a:cs typeface="Times New Roman"/>
              </a:rPr>
              <a:t>1,out</a:t>
            </a:r>
            <a:r>
              <a:rPr sz="1814" spc="-5" dirty="0">
                <a:latin typeface="Times New Roman"/>
                <a:cs typeface="Times New Roman"/>
              </a:rPr>
              <a:t>H1+w</a:t>
            </a:r>
            <a:r>
              <a:rPr sz="1814" spc="-5" baseline="-25000" dirty="0">
                <a:latin typeface="Times New Roman"/>
                <a:cs typeface="Times New Roman"/>
              </a:rPr>
              <a:t>2,out</a:t>
            </a:r>
            <a:r>
              <a:rPr sz="1814" spc="-5" dirty="0">
                <a:latin typeface="Times New Roman"/>
                <a:cs typeface="Times New Roman"/>
              </a:rPr>
              <a:t>H2+w</a:t>
            </a:r>
            <a:r>
              <a:rPr sz="1814" spc="-5" baseline="-25000" dirty="0">
                <a:latin typeface="Times New Roman"/>
                <a:cs typeface="Times New Roman"/>
              </a:rPr>
              <a:t>3,out</a:t>
            </a:r>
            <a:r>
              <a:rPr sz="1814" spc="-5" dirty="0">
                <a:latin typeface="Times New Roman"/>
                <a:cs typeface="Times New Roman"/>
              </a:rPr>
              <a:t>H3+w</a:t>
            </a:r>
            <a:r>
              <a:rPr sz="1814" spc="-5" baseline="-25000" dirty="0">
                <a:latin typeface="Times New Roman"/>
                <a:cs typeface="Times New Roman"/>
              </a:rPr>
              <a:t>4,out</a:t>
            </a:r>
            <a:r>
              <a:rPr sz="1814" spc="-5" dirty="0">
                <a:latin typeface="Times New Roman"/>
                <a:cs typeface="Times New Roman"/>
              </a:rPr>
              <a:t>H4+</a:t>
            </a:r>
            <a:r>
              <a:rPr sz="1814" spc="-5" dirty="0">
                <a:solidFill>
                  <a:srgbClr val="1F487C"/>
                </a:solidFill>
                <a:latin typeface="Times New Roman"/>
                <a:cs typeface="Times New Roman"/>
              </a:rPr>
              <a:t>bout</a:t>
            </a:r>
            <a:r>
              <a:rPr sz="1814" spc="-5" dirty="0">
                <a:latin typeface="Times New Roman"/>
                <a:cs typeface="Times New Roman"/>
              </a:rPr>
              <a:t>)</a:t>
            </a:r>
            <a:r>
              <a:rPr sz="1814" spc="14" dirty="0">
                <a:latin typeface="Times New Roman"/>
                <a:cs typeface="Times New Roman"/>
              </a:rPr>
              <a:t> </a:t>
            </a:r>
            <a:r>
              <a:rPr sz="1814" spc="-5" dirty="0">
                <a:solidFill>
                  <a:srgbClr val="FF0000"/>
                </a:solidFill>
                <a:latin typeface="Times New Roman"/>
                <a:cs typeface="Times New Roman"/>
              </a:rPr>
              <a:t>si</a:t>
            </a:r>
            <a:r>
              <a:rPr sz="1814" spc="18" dirty="0">
                <a:solidFill>
                  <a:srgbClr val="FF0000"/>
                </a:solidFill>
                <a:latin typeface="Times New Roman"/>
                <a:cs typeface="Times New Roman"/>
              </a:rPr>
              <a:t> </a:t>
            </a:r>
            <a:r>
              <a:rPr sz="1814" spc="-5" dirty="0">
                <a:solidFill>
                  <a:srgbClr val="FF0000"/>
                </a:solidFill>
                <a:latin typeface="Times New Roman"/>
                <a:cs typeface="Times New Roman"/>
              </a:rPr>
              <a:t>la</a:t>
            </a:r>
            <a:r>
              <a:rPr sz="1814" spc="9" dirty="0">
                <a:solidFill>
                  <a:srgbClr val="FF0000"/>
                </a:solidFill>
                <a:latin typeface="Times New Roman"/>
                <a:cs typeface="Times New Roman"/>
              </a:rPr>
              <a:t> </a:t>
            </a:r>
            <a:r>
              <a:rPr sz="1814" spc="-5" dirty="0">
                <a:solidFill>
                  <a:srgbClr val="FF0000"/>
                </a:solidFill>
                <a:latin typeface="Times New Roman"/>
                <a:cs typeface="Times New Roman"/>
              </a:rPr>
              <a:t>variable</a:t>
            </a:r>
            <a:r>
              <a:rPr sz="1814" spc="18" dirty="0">
                <a:solidFill>
                  <a:srgbClr val="FF0000"/>
                </a:solidFill>
                <a:latin typeface="Times New Roman"/>
                <a:cs typeface="Times New Roman"/>
              </a:rPr>
              <a:t> </a:t>
            </a:r>
            <a:r>
              <a:rPr sz="1814" dirty="0">
                <a:solidFill>
                  <a:srgbClr val="FF0000"/>
                </a:solidFill>
                <a:latin typeface="Times New Roman"/>
                <a:cs typeface="Times New Roman"/>
              </a:rPr>
              <a:t>output</a:t>
            </a:r>
            <a:r>
              <a:rPr sz="1814" spc="18" dirty="0">
                <a:solidFill>
                  <a:srgbClr val="FF0000"/>
                </a:solidFill>
                <a:latin typeface="Times New Roman"/>
                <a:cs typeface="Times New Roman"/>
              </a:rPr>
              <a:t> </a:t>
            </a:r>
            <a:r>
              <a:rPr sz="1814" dirty="0">
                <a:solidFill>
                  <a:srgbClr val="FF0000"/>
                </a:solidFill>
                <a:latin typeface="Times New Roman"/>
                <a:cs typeface="Times New Roman"/>
              </a:rPr>
              <a:t>es</a:t>
            </a:r>
            <a:r>
              <a:rPr sz="1814" spc="5" dirty="0">
                <a:solidFill>
                  <a:srgbClr val="FF0000"/>
                </a:solidFill>
                <a:latin typeface="Times New Roman"/>
                <a:cs typeface="Times New Roman"/>
              </a:rPr>
              <a:t> </a:t>
            </a:r>
            <a:r>
              <a:rPr sz="1814" spc="-5" dirty="0">
                <a:solidFill>
                  <a:srgbClr val="FF0000"/>
                </a:solidFill>
                <a:latin typeface="Times New Roman"/>
                <a:cs typeface="Times New Roman"/>
              </a:rPr>
              <a:t>binaria, </a:t>
            </a:r>
            <a:r>
              <a:rPr sz="1814" spc="-439" dirty="0">
                <a:solidFill>
                  <a:srgbClr val="FF0000"/>
                </a:solidFill>
                <a:latin typeface="Times New Roman"/>
                <a:cs typeface="Times New Roman"/>
              </a:rPr>
              <a:t> </a:t>
            </a:r>
            <a:r>
              <a:rPr sz="1814" dirty="0">
                <a:solidFill>
                  <a:srgbClr val="FF0000"/>
                </a:solidFill>
                <a:latin typeface="Times New Roman"/>
                <a:cs typeface="Times New Roman"/>
              </a:rPr>
              <a:t>codificada</a:t>
            </a:r>
            <a:r>
              <a:rPr sz="1814" spc="-14" dirty="0">
                <a:solidFill>
                  <a:srgbClr val="FF0000"/>
                </a:solidFill>
                <a:latin typeface="Times New Roman"/>
                <a:cs typeface="Times New Roman"/>
              </a:rPr>
              <a:t> </a:t>
            </a:r>
            <a:r>
              <a:rPr sz="1814" dirty="0">
                <a:solidFill>
                  <a:srgbClr val="FF0000"/>
                </a:solidFill>
                <a:latin typeface="Times New Roman"/>
                <a:cs typeface="Times New Roman"/>
              </a:rPr>
              <a:t>0,1 o</a:t>
            </a:r>
            <a:r>
              <a:rPr sz="1814" spc="5" dirty="0">
                <a:solidFill>
                  <a:srgbClr val="FF0000"/>
                </a:solidFill>
                <a:latin typeface="Times New Roman"/>
                <a:cs typeface="Times New Roman"/>
              </a:rPr>
              <a:t> </a:t>
            </a:r>
            <a:r>
              <a:rPr sz="1814" spc="-5" dirty="0">
                <a:solidFill>
                  <a:srgbClr val="FF0000"/>
                </a:solidFill>
                <a:latin typeface="Times New Roman"/>
                <a:cs typeface="Times New Roman"/>
              </a:rPr>
              <a:t>-1,1</a:t>
            </a:r>
            <a:endParaRPr lang="es-ES" sz="1814" spc="-5" dirty="0">
              <a:solidFill>
                <a:srgbClr val="FF0000"/>
              </a:solidFill>
              <a:latin typeface="Times New Roman"/>
              <a:cs typeface="Times New Roman"/>
            </a:endParaRPr>
          </a:p>
          <a:p>
            <a:pPr marL="322458" marR="4607" indent="-310942">
              <a:lnSpc>
                <a:spcPts val="2167"/>
              </a:lnSpc>
              <a:buFont typeface="Arial" panose="020B0604020202020204" pitchFamily="34" charset="0"/>
              <a:buChar char="•"/>
            </a:pPr>
            <a:endParaRPr sz="1814" dirty="0">
              <a:latin typeface="Times New Roman"/>
              <a:cs typeface="Times New Roman"/>
            </a:endParaRPr>
          </a:p>
          <a:p>
            <a:pPr marL="322458" indent="-310942">
              <a:lnSpc>
                <a:spcPts val="2018"/>
              </a:lnSpc>
              <a:buFont typeface="Arial" panose="020B0604020202020204" pitchFamily="34" charset="0"/>
              <a:buChar char="•"/>
            </a:pPr>
            <a:r>
              <a:rPr sz="1814" dirty="0">
                <a:latin typeface="Times New Roman"/>
                <a:cs typeface="Times New Roman"/>
              </a:rPr>
              <a:t>Y=</a:t>
            </a:r>
            <a:r>
              <a:rPr sz="1814" spc="-14" dirty="0">
                <a:latin typeface="Times New Roman"/>
                <a:cs typeface="Times New Roman"/>
              </a:rPr>
              <a:t> </a:t>
            </a:r>
            <a:r>
              <a:rPr sz="1814" dirty="0">
                <a:latin typeface="Times New Roman"/>
                <a:cs typeface="Times New Roman"/>
              </a:rPr>
              <a:t>Y </a:t>
            </a:r>
            <a:r>
              <a:rPr sz="1814" spc="-5" dirty="0">
                <a:solidFill>
                  <a:srgbClr val="FF0000"/>
                </a:solidFill>
                <a:latin typeface="Times New Roman"/>
                <a:cs typeface="Times New Roman"/>
              </a:rPr>
              <a:t>si la</a:t>
            </a:r>
            <a:r>
              <a:rPr sz="1814" spc="-14" dirty="0">
                <a:solidFill>
                  <a:srgbClr val="FF0000"/>
                </a:solidFill>
                <a:latin typeface="Times New Roman"/>
                <a:cs typeface="Times New Roman"/>
              </a:rPr>
              <a:t> </a:t>
            </a:r>
            <a:r>
              <a:rPr sz="1814" spc="-5" dirty="0">
                <a:solidFill>
                  <a:srgbClr val="FF0000"/>
                </a:solidFill>
                <a:latin typeface="Times New Roman"/>
                <a:cs typeface="Times New Roman"/>
              </a:rPr>
              <a:t>variable </a:t>
            </a:r>
            <a:r>
              <a:rPr sz="1814" dirty="0">
                <a:solidFill>
                  <a:srgbClr val="FF0000"/>
                </a:solidFill>
                <a:latin typeface="Times New Roman"/>
                <a:cs typeface="Times New Roman"/>
              </a:rPr>
              <a:t>output</a:t>
            </a:r>
            <a:r>
              <a:rPr sz="1814" spc="-5" dirty="0">
                <a:solidFill>
                  <a:srgbClr val="FF0000"/>
                </a:solidFill>
                <a:latin typeface="Times New Roman"/>
                <a:cs typeface="Times New Roman"/>
              </a:rPr>
              <a:t> </a:t>
            </a:r>
            <a:r>
              <a:rPr sz="1814" dirty="0">
                <a:solidFill>
                  <a:srgbClr val="FF0000"/>
                </a:solidFill>
                <a:latin typeface="Times New Roman"/>
                <a:cs typeface="Times New Roman"/>
              </a:rPr>
              <a:t>es</a:t>
            </a:r>
            <a:r>
              <a:rPr sz="1814" spc="-18" dirty="0">
                <a:solidFill>
                  <a:srgbClr val="FF0000"/>
                </a:solidFill>
                <a:latin typeface="Times New Roman"/>
                <a:cs typeface="Times New Roman"/>
              </a:rPr>
              <a:t> </a:t>
            </a:r>
            <a:r>
              <a:rPr sz="1814" dirty="0">
                <a:solidFill>
                  <a:srgbClr val="FF0000"/>
                </a:solidFill>
                <a:latin typeface="Times New Roman"/>
                <a:cs typeface="Times New Roman"/>
              </a:rPr>
              <a:t>continua</a:t>
            </a:r>
            <a:endParaRPr sz="1814" dirty="0">
              <a:latin typeface="Times New Roman"/>
              <a:cs typeface="Times New Roman"/>
            </a:endParaRPr>
          </a:p>
        </p:txBody>
      </p:sp>
      <p:pic>
        <p:nvPicPr>
          <p:cNvPr id="4" name="object 4"/>
          <p:cNvPicPr/>
          <p:nvPr/>
        </p:nvPicPr>
        <p:blipFill>
          <a:blip r:embed="rId2" cstate="print"/>
          <a:stretch>
            <a:fillRect/>
          </a:stretch>
        </p:blipFill>
        <p:spPr>
          <a:xfrm>
            <a:off x="1562233" y="721616"/>
            <a:ext cx="4397258" cy="3070840"/>
          </a:xfrm>
          <a:prstGeom prst="rect">
            <a:avLst/>
          </a:prstGeom>
        </p:spPr>
      </p:pic>
      <p:sp>
        <p:nvSpPr>
          <p:cNvPr id="5" name="Rectángulo 4"/>
          <p:cNvSpPr/>
          <p:nvPr/>
        </p:nvSpPr>
        <p:spPr>
          <a:xfrm>
            <a:off x="6441491" y="2876214"/>
            <a:ext cx="2763929" cy="1592744"/>
          </a:xfrm>
          <a:prstGeom prst="rect">
            <a:avLst/>
          </a:prstGeom>
          <a:ln>
            <a:solidFill>
              <a:schemeClr val="tx1"/>
            </a:solidFill>
          </a:ln>
        </p:spPr>
        <p:txBody>
          <a:bodyPr wrap="square">
            <a:spAutoFit/>
          </a:bodyPr>
          <a:lstStyle/>
          <a:p>
            <a:pPr marL="11516">
              <a:lnSpc>
                <a:spcPts val="2122"/>
              </a:lnSpc>
            </a:pPr>
            <a:r>
              <a:rPr lang="es-ES" sz="997" b="1" spc="-5" dirty="0">
                <a:latin typeface="Times New Roman"/>
                <a:cs typeface="Times New Roman"/>
              </a:rPr>
              <a:t>RECORDATORIO:</a:t>
            </a:r>
          </a:p>
          <a:p>
            <a:pPr marL="11516">
              <a:lnSpc>
                <a:spcPts val="2122"/>
              </a:lnSpc>
            </a:pPr>
            <a:r>
              <a:rPr lang="es-ES" sz="997" spc="-5" dirty="0">
                <a:latin typeface="Times New Roman"/>
                <a:cs typeface="Times New Roman"/>
              </a:rPr>
              <a:t>H1=</a:t>
            </a:r>
            <a:r>
              <a:rPr lang="es-ES" sz="997" spc="-5" dirty="0" err="1">
                <a:latin typeface="Times New Roman"/>
                <a:cs typeface="Times New Roman"/>
              </a:rPr>
              <a:t>tanh</a:t>
            </a:r>
            <a:r>
              <a:rPr lang="es-ES" sz="997" spc="-5" dirty="0">
                <a:latin typeface="Times New Roman"/>
                <a:cs typeface="Times New Roman"/>
              </a:rPr>
              <a:t>(</a:t>
            </a:r>
            <a:r>
              <a:rPr lang="es-ES" sz="1088" spc="-5" dirty="0">
                <a:latin typeface="Times New Roman"/>
                <a:cs typeface="Times New Roman"/>
              </a:rPr>
              <a:t>w</a:t>
            </a:r>
            <a:r>
              <a:rPr lang="es-ES" sz="816" spc="-5" dirty="0">
                <a:latin typeface="Times New Roman"/>
                <a:cs typeface="Times New Roman"/>
              </a:rPr>
              <a:t>11</a:t>
            </a:r>
            <a:r>
              <a:rPr lang="es-ES" sz="997" spc="-5" dirty="0">
                <a:latin typeface="Times New Roman"/>
                <a:cs typeface="Times New Roman"/>
              </a:rPr>
              <a:t>X1</a:t>
            </a:r>
            <a:r>
              <a:rPr lang="es-ES" sz="1088" spc="-5" dirty="0">
                <a:latin typeface="Times New Roman"/>
                <a:cs typeface="Times New Roman"/>
              </a:rPr>
              <a:t>+w</a:t>
            </a:r>
            <a:r>
              <a:rPr lang="es-ES" sz="816" spc="-5" dirty="0">
                <a:latin typeface="Times New Roman"/>
                <a:cs typeface="Times New Roman"/>
              </a:rPr>
              <a:t>21</a:t>
            </a:r>
            <a:r>
              <a:rPr lang="es-ES" sz="997" spc="-5" dirty="0">
                <a:latin typeface="Times New Roman"/>
                <a:cs typeface="Times New Roman"/>
              </a:rPr>
              <a:t>X2+</a:t>
            </a:r>
            <a:r>
              <a:rPr lang="es-ES" sz="1088" spc="-5" dirty="0">
                <a:latin typeface="Times New Roman"/>
                <a:cs typeface="Times New Roman"/>
              </a:rPr>
              <a:t>w</a:t>
            </a:r>
            <a:r>
              <a:rPr lang="es-ES" sz="816" spc="-5" dirty="0">
                <a:latin typeface="Times New Roman"/>
                <a:cs typeface="Times New Roman"/>
              </a:rPr>
              <a:t>31</a:t>
            </a:r>
            <a:r>
              <a:rPr lang="es-ES" sz="997" spc="-5" dirty="0">
                <a:latin typeface="Times New Roman"/>
                <a:cs typeface="Times New Roman"/>
              </a:rPr>
              <a:t>X3+</a:t>
            </a:r>
            <a:r>
              <a:rPr lang="es-ES" sz="1088" spc="-5" dirty="0">
                <a:latin typeface="Times New Roman"/>
                <a:cs typeface="Times New Roman"/>
              </a:rPr>
              <a:t>w</a:t>
            </a:r>
            <a:r>
              <a:rPr lang="es-ES" sz="816" spc="-5" dirty="0">
                <a:latin typeface="Times New Roman"/>
                <a:cs typeface="Times New Roman"/>
              </a:rPr>
              <a:t>41</a:t>
            </a:r>
            <a:r>
              <a:rPr lang="es-ES" sz="997" spc="-5" dirty="0">
                <a:latin typeface="Times New Roman"/>
                <a:cs typeface="Times New Roman"/>
              </a:rPr>
              <a:t>X4+</a:t>
            </a:r>
            <a:r>
              <a:rPr lang="es-ES" sz="1088" spc="-5" dirty="0">
                <a:solidFill>
                  <a:srgbClr val="1F487C"/>
                </a:solidFill>
                <a:latin typeface="Times New Roman"/>
                <a:cs typeface="Times New Roman"/>
              </a:rPr>
              <a:t>b</a:t>
            </a:r>
            <a:r>
              <a:rPr lang="es-ES" sz="816" spc="-5" dirty="0">
                <a:solidFill>
                  <a:srgbClr val="1F487C"/>
                </a:solidFill>
                <a:latin typeface="Times New Roman"/>
                <a:cs typeface="Times New Roman"/>
              </a:rPr>
              <a:t>1</a:t>
            </a:r>
            <a:r>
              <a:rPr lang="es-ES" sz="997" spc="-5" dirty="0">
                <a:latin typeface="Times New Roman"/>
                <a:cs typeface="Times New Roman"/>
              </a:rPr>
              <a:t>)</a:t>
            </a:r>
            <a:endParaRPr lang="es-ES" sz="1088" dirty="0">
              <a:latin typeface="Times New Roman"/>
              <a:cs typeface="Times New Roman"/>
            </a:endParaRPr>
          </a:p>
          <a:p>
            <a:pPr marL="11516" marR="89828" algn="just">
              <a:lnSpc>
                <a:spcPts val="2503"/>
              </a:lnSpc>
            </a:pPr>
            <a:r>
              <a:rPr lang="es-ES" sz="997" spc="-5" dirty="0">
                <a:latin typeface="Times New Roman"/>
                <a:cs typeface="Times New Roman"/>
              </a:rPr>
              <a:t>H2=</a:t>
            </a:r>
            <a:r>
              <a:rPr lang="es-ES" sz="997" spc="-5" dirty="0" err="1">
                <a:latin typeface="Times New Roman"/>
                <a:cs typeface="Times New Roman"/>
              </a:rPr>
              <a:t>tanh</a:t>
            </a:r>
            <a:r>
              <a:rPr lang="es-ES" sz="997" spc="-5" dirty="0">
                <a:latin typeface="Times New Roman"/>
                <a:cs typeface="Times New Roman"/>
              </a:rPr>
              <a:t>(</a:t>
            </a:r>
            <a:r>
              <a:rPr lang="es-ES" sz="1088" spc="-5" dirty="0">
                <a:latin typeface="Times New Roman"/>
                <a:cs typeface="Times New Roman"/>
              </a:rPr>
              <a:t>w</a:t>
            </a:r>
            <a:r>
              <a:rPr lang="es-ES" sz="816" spc="-5" dirty="0">
                <a:latin typeface="Times New Roman"/>
                <a:cs typeface="Times New Roman"/>
              </a:rPr>
              <a:t>12</a:t>
            </a:r>
            <a:r>
              <a:rPr lang="es-ES" sz="997" spc="-5" dirty="0">
                <a:latin typeface="Times New Roman"/>
                <a:cs typeface="Times New Roman"/>
              </a:rPr>
              <a:t>X1</a:t>
            </a:r>
            <a:r>
              <a:rPr lang="es-ES" sz="1088" spc="-5" dirty="0">
                <a:latin typeface="Times New Roman"/>
                <a:cs typeface="Times New Roman"/>
              </a:rPr>
              <a:t>+w</a:t>
            </a:r>
            <a:r>
              <a:rPr lang="es-ES" sz="816" spc="-5" dirty="0">
                <a:latin typeface="Times New Roman"/>
                <a:cs typeface="Times New Roman"/>
              </a:rPr>
              <a:t>22</a:t>
            </a:r>
            <a:r>
              <a:rPr lang="es-ES" sz="997" spc="-5" dirty="0">
                <a:latin typeface="Times New Roman"/>
                <a:cs typeface="Times New Roman"/>
              </a:rPr>
              <a:t>X2+</a:t>
            </a:r>
            <a:r>
              <a:rPr lang="es-ES" sz="1088" spc="-5" dirty="0">
                <a:latin typeface="Times New Roman"/>
                <a:cs typeface="Times New Roman"/>
              </a:rPr>
              <a:t>w</a:t>
            </a:r>
            <a:r>
              <a:rPr lang="es-ES" sz="816" spc="-5" dirty="0">
                <a:latin typeface="Times New Roman"/>
                <a:cs typeface="Times New Roman"/>
              </a:rPr>
              <a:t>32</a:t>
            </a:r>
            <a:r>
              <a:rPr lang="es-ES" sz="997" spc="-5" dirty="0">
                <a:latin typeface="Times New Roman"/>
                <a:cs typeface="Times New Roman"/>
              </a:rPr>
              <a:t>X3+</a:t>
            </a:r>
            <a:r>
              <a:rPr lang="es-ES" sz="1088" spc="-5" dirty="0">
                <a:latin typeface="Times New Roman"/>
                <a:cs typeface="Times New Roman"/>
              </a:rPr>
              <a:t>w</a:t>
            </a:r>
            <a:r>
              <a:rPr lang="es-ES" sz="816" spc="-5" dirty="0">
                <a:latin typeface="Times New Roman"/>
                <a:cs typeface="Times New Roman"/>
              </a:rPr>
              <a:t>42</a:t>
            </a:r>
            <a:r>
              <a:rPr lang="es-ES" sz="997" spc="-5" dirty="0">
                <a:latin typeface="Times New Roman"/>
                <a:cs typeface="Times New Roman"/>
              </a:rPr>
              <a:t>X4+</a:t>
            </a:r>
            <a:r>
              <a:rPr lang="es-ES" sz="1088" spc="-5" dirty="0">
                <a:solidFill>
                  <a:srgbClr val="1F487C"/>
                </a:solidFill>
                <a:latin typeface="Times New Roman"/>
                <a:cs typeface="Times New Roman"/>
              </a:rPr>
              <a:t>b</a:t>
            </a:r>
            <a:r>
              <a:rPr lang="es-ES" sz="816" spc="-5" dirty="0">
                <a:solidFill>
                  <a:srgbClr val="1F487C"/>
                </a:solidFill>
                <a:latin typeface="Times New Roman"/>
                <a:cs typeface="Times New Roman"/>
              </a:rPr>
              <a:t>2</a:t>
            </a:r>
            <a:r>
              <a:rPr lang="es-ES" sz="997" spc="-5" dirty="0">
                <a:latin typeface="Times New Roman"/>
                <a:cs typeface="Times New Roman"/>
              </a:rPr>
              <a:t>) </a:t>
            </a:r>
            <a:r>
              <a:rPr lang="es-ES" sz="997" spc="-444" dirty="0">
                <a:latin typeface="Times New Roman"/>
                <a:cs typeface="Times New Roman"/>
              </a:rPr>
              <a:t> </a:t>
            </a:r>
            <a:r>
              <a:rPr lang="es-ES" sz="997" spc="-5" dirty="0">
                <a:latin typeface="Times New Roman"/>
                <a:cs typeface="Times New Roman"/>
              </a:rPr>
              <a:t>H3=</a:t>
            </a:r>
            <a:r>
              <a:rPr lang="es-ES" sz="997" spc="-5" dirty="0" err="1">
                <a:latin typeface="Times New Roman"/>
                <a:cs typeface="Times New Roman"/>
              </a:rPr>
              <a:t>tanh</a:t>
            </a:r>
            <a:r>
              <a:rPr lang="es-ES" sz="997" spc="-5" dirty="0">
                <a:latin typeface="Times New Roman"/>
                <a:cs typeface="Times New Roman"/>
              </a:rPr>
              <a:t>(</a:t>
            </a:r>
            <a:r>
              <a:rPr lang="es-ES" sz="1088" spc="-5" dirty="0">
                <a:latin typeface="Times New Roman"/>
                <a:cs typeface="Times New Roman"/>
              </a:rPr>
              <a:t>w</a:t>
            </a:r>
            <a:r>
              <a:rPr lang="es-ES" sz="816" spc="-5" dirty="0">
                <a:latin typeface="Times New Roman"/>
                <a:cs typeface="Times New Roman"/>
              </a:rPr>
              <a:t>13</a:t>
            </a:r>
            <a:r>
              <a:rPr lang="es-ES" sz="997" spc="-5" dirty="0">
                <a:latin typeface="Times New Roman"/>
                <a:cs typeface="Times New Roman"/>
              </a:rPr>
              <a:t>X1</a:t>
            </a:r>
            <a:r>
              <a:rPr lang="es-ES" sz="1088" spc="-5" dirty="0">
                <a:latin typeface="Times New Roman"/>
                <a:cs typeface="Times New Roman"/>
              </a:rPr>
              <a:t>+w</a:t>
            </a:r>
            <a:r>
              <a:rPr lang="es-ES" sz="816" spc="-5" dirty="0">
                <a:latin typeface="Times New Roman"/>
                <a:cs typeface="Times New Roman"/>
              </a:rPr>
              <a:t>23</a:t>
            </a:r>
            <a:r>
              <a:rPr lang="es-ES" sz="997" spc="-5" dirty="0">
                <a:latin typeface="Times New Roman"/>
                <a:cs typeface="Times New Roman"/>
              </a:rPr>
              <a:t>X2+</a:t>
            </a:r>
            <a:r>
              <a:rPr lang="es-ES" sz="1088" spc="-5" dirty="0">
                <a:latin typeface="Times New Roman"/>
                <a:cs typeface="Times New Roman"/>
              </a:rPr>
              <a:t>w</a:t>
            </a:r>
            <a:r>
              <a:rPr lang="es-ES" sz="816" spc="-5" dirty="0">
                <a:latin typeface="Times New Roman"/>
                <a:cs typeface="Times New Roman"/>
              </a:rPr>
              <a:t>33</a:t>
            </a:r>
            <a:r>
              <a:rPr lang="es-ES" sz="997" spc="-5" dirty="0">
                <a:latin typeface="Times New Roman"/>
                <a:cs typeface="Times New Roman"/>
              </a:rPr>
              <a:t>X3+</a:t>
            </a:r>
            <a:r>
              <a:rPr lang="es-ES" sz="1088" spc="-5" dirty="0">
                <a:latin typeface="Times New Roman"/>
                <a:cs typeface="Times New Roman"/>
              </a:rPr>
              <a:t>w</a:t>
            </a:r>
            <a:r>
              <a:rPr lang="es-ES" sz="816" spc="-5" dirty="0">
                <a:latin typeface="Times New Roman"/>
                <a:cs typeface="Times New Roman"/>
              </a:rPr>
              <a:t>43</a:t>
            </a:r>
            <a:r>
              <a:rPr lang="es-ES" sz="997" spc="-5" dirty="0">
                <a:latin typeface="Times New Roman"/>
                <a:cs typeface="Times New Roman"/>
              </a:rPr>
              <a:t>X4+</a:t>
            </a:r>
            <a:r>
              <a:rPr lang="es-ES" sz="1088" spc="-5" dirty="0">
                <a:solidFill>
                  <a:srgbClr val="1F487C"/>
                </a:solidFill>
                <a:latin typeface="Times New Roman"/>
                <a:cs typeface="Times New Roman"/>
              </a:rPr>
              <a:t>b</a:t>
            </a:r>
            <a:r>
              <a:rPr lang="es-ES" sz="816" spc="-5" dirty="0">
                <a:solidFill>
                  <a:srgbClr val="1F487C"/>
                </a:solidFill>
                <a:latin typeface="Times New Roman"/>
                <a:cs typeface="Times New Roman"/>
              </a:rPr>
              <a:t>3</a:t>
            </a:r>
            <a:r>
              <a:rPr lang="es-ES" sz="997" spc="-5" dirty="0">
                <a:latin typeface="Times New Roman"/>
                <a:cs typeface="Times New Roman"/>
              </a:rPr>
              <a:t>) </a:t>
            </a:r>
            <a:r>
              <a:rPr lang="es-ES" sz="997" spc="-444" dirty="0">
                <a:latin typeface="Times New Roman"/>
                <a:cs typeface="Times New Roman"/>
              </a:rPr>
              <a:t> </a:t>
            </a:r>
            <a:r>
              <a:rPr lang="es-ES" sz="997" spc="-5" dirty="0">
                <a:latin typeface="Times New Roman"/>
                <a:cs typeface="Times New Roman"/>
              </a:rPr>
              <a:t>H4=</a:t>
            </a:r>
            <a:r>
              <a:rPr lang="es-ES" sz="997" spc="-5" dirty="0" err="1">
                <a:latin typeface="Times New Roman"/>
                <a:cs typeface="Times New Roman"/>
              </a:rPr>
              <a:t>tanh</a:t>
            </a:r>
            <a:r>
              <a:rPr lang="es-ES" sz="997" spc="-5" dirty="0">
                <a:latin typeface="Times New Roman"/>
                <a:cs typeface="Times New Roman"/>
              </a:rPr>
              <a:t>(</a:t>
            </a:r>
            <a:r>
              <a:rPr lang="es-ES" sz="1088" spc="-5" dirty="0">
                <a:latin typeface="Times New Roman"/>
                <a:cs typeface="Times New Roman"/>
              </a:rPr>
              <a:t>w</a:t>
            </a:r>
            <a:r>
              <a:rPr lang="es-ES" sz="816" spc="-5" dirty="0">
                <a:latin typeface="Times New Roman"/>
                <a:cs typeface="Times New Roman"/>
              </a:rPr>
              <a:t>14</a:t>
            </a:r>
            <a:r>
              <a:rPr lang="es-ES" sz="997" spc="-5" dirty="0">
                <a:latin typeface="Times New Roman"/>
                <a:cs typeface="Times New Roman"/>
              </a:rPr>
              <a:t>X1</a:t>
            </a:r>
            <a:r>
              <a:rPr lang="es-ES" sz="1088" spc="-5" dirty="0">
                <a:latin typeface="Times New Roman"/>
                <a:cs typeface="Times New Roman"/>
              </a:rPr>
              <a:t>+w</a:t>
            </a:r>
            <a:r>
              <a:rPr lang="es-ES" sz="816" spc="-5" dirty="0">
                <a:latin typeface="Times New Roman"/>
                <a:cs typeface="Times New Roman"/>
              </a:rPr>
              <a:t>24</a:t>
            </a:r>
            <a:r>
              <a:rPr lang="es-ES" sz="997" spc="-5" dirty="0">
                <a:latin typeface="Times New Roman"/>
                <a:cs typeface="Times New Roman"/>
              </a:rPr>
              <a:t>X2+</a:t>
            </a:r>
            <a:r>
              <a:rPr lang="es-ES" sz="1088" spc="-5" dirty="0">
                <a:latin typeface="Times New Roman"/>
                <a:cs typeface="Times New Roman"/>
              </a:rPr>
              <a:t>w</a:t>
            </a:r>
            <a:r>
              <a:rPr lang="es-ES" sz="816" spc="-5" dirty="0">
                <a:latin typeface="Times New Roman"/>
                <a:cs typeface="Times New Roman"/>
              </a:rPr>
              <a:t>34</a:t>
            </a:r>
            <a:r>
              <a:rPr lang="es-ES" sz="997" spc="-5" dirty="0">
                <a:latin typeface="Times New Roman"/>
                <a:cs typeface="Times New Roman"/>
              </a:rPr>
              <a:t>X3+</a:t>
            </a:r>
            <a:r>
              <a:rPr lang="es-ES" sz="1088" spc="-5" dirty="0">
                <a:latin typeface="Times New Roman"/>
                <a:cs typeface="Times New Roman"/>
              </a:rPr>
              <a:t>w</a:t>
            </a:r>
            <a:r>
              <a:rPr lang="es-ES" sz="816" spc="-5" dirty="0">
                <a:latin typeface="Times New Roman"/>
                <a:cs typeface="Times New Roman"/>
              </a:rPr>
              <a:t>44</a:t>
            </a:r>
            <a:r>
              <a:rPr lang="es-ES" sz="997" spc="-5" dirty="0">
                <a:latin typeface="Times New Roman"/>
                <a:cs typeface="Times New Roman"/>
              </a:rPr>
              <a:t>X4+</a:t>
            </a:r>
            <a:r>
              <a:rPr lang="es-ES" sz="1088" spc="-5" dirty="0">
                <a:solidFill>
                  <a:srgbClr val="1F487C"/>
                </a:solidFill>
                <a:latin typeface="Times New Roman"/>
                <a:cs typeface="Times New Roman"/>
              </a:rPr>
              <a:t>b</a:t>
            </a:r>
            <a:r>
              <a:rPr lang="es-ES" sz="816" spc="-5" dirty="0">
                <a:solidFill>
                  <a:srgbClr val="1F487C"/>
                </a:solidFill>
                <a:latin typeface="Times New Roman"/>
                <a:cs typeface="Times New Roman"/>
              </a:rPr>
              <a:t>4</a:t>
            </a:r>
            <a:r>
              <a:rPr lang="es-ES" sz="997" spc="-5" dirty="0">
                <a:latin typeface="Times New Roman"/>
                <a:cs typeface="Times New Roman"/>
              </a:rPr>
              <a:t>)</a:t>
            </a:r>
            <a:endParaRPr lang="es-ES" sz="997" dirty="0">
              <a:latin typeface="Times New Roman"/>
              <a:cs typeface="Times New Roman"/>
            </a:endParaRPr>
          </a:p>
        </p:txBody>
      </p:sp>
    </p:spTree>
    <p:extLst>
      <p:ext uri="{BB962C8B-B14F-4D97-AF65-F5344CB8AC3E}">
        <p14:creationId xmlns:p14="http://schemas.microsoft.com/office/powerpoint/2010/main" val="34629278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62233" y="286266"/>
            <a:ext cx="8886955" cy="569986"/>
          </a:xfrm>
          <a:prstGeom prst="rect">
            <a:avLst/>
          </a:prstGeom>
        </p:spPr>
        <p:txBody>
          <a:bodyPr vert="horz" wrap="square" lIns="0" tIns="11516" rIns="0" bIns="0" rtlCol="0">
            <a:spAutoFit/>
          </a:bodyPr>
          <a:lstStyle/>
          <a:p>
            <a:pPr marL="11516">
              <a:spcBef>
                <a:spcPts val="91"/>
              </a:spcBef>
            </a:pPr>
            <a:r>
              <a:rPr sz="1814" spc="-5" dirty="0">
                <a:solidFill>
                  <a:srgbClr val="4F6128"/>
                </a:solidFill>
                <a:latin typeface="Times New Roman"/>
                <a:cs typeface="Times New Roman"/>
              </a:rPr>
              <a:t>Desarrollando</a:t>
            </a:r>
            <a:r>
              <a:rPr sz="1814" spc="-9" dirty="0">
                <a:solidFill>
                  <a:srgbClr val="4F6128"/>
                </a:solidFill>
                <a:latin typeface="Times New Roman"/>
                <a:cs typeface="Times New Roman"/>
              </a:rPr>
              <a:t> </a:t>
            </a:r>
            <a:r>
              <a:rPr sz="1814" spc="-5" dirty="0">
                <a:solidFill>
                  <a:srgbClr val="4F6128"/>
                </a:solidFill>
                <a:latin typeface="Times New Roman"/>
                <a:cs typeface="Times New Roman"/>
              </a:rPr>
              <a:t>los</a:t>
            </a:r>
            <a:r>
              <a:rPr sz="1814" dirty="0">
                <a:solidFill>
                  <a:srgbClr val="4F6128"/>
                </a:solidFill>
                <a:latin typeface="Times New Roman"/>
                <a:cs typeface="Times New Roman"/>
              </a:rPr>
              <a:t> valores</a:t>
            </a:r>
            <a:r>
              <a:rPr sz="1814" spc="-18" dirty="0">
                <a:solidFill>
                  <a:srgbClr val="4F6128"/>
                </a:solidFill>
                <a:latin typeface="Times New Roman"/>
                <a:cs typeface="Times New Roman"/>
              </a:rPr>
              <a:t> </a:t>
            </a:r>
            <a:r>
              <a:rPr sz="1814" dirty="0">
                <a:solidFill>
                  <a:srgbClr val="4F6128"/>
                </a:solidFill>
                <a:latin typeface="Times New Roman"/>
                <a:cs typeface="Times New Roman"/>
              </a:rPr>
              <a:t>de</a:t>
            </a:r>
            <a:r>
              <a:rPr sz="1814" spc="-5" dirty="0">
                <a:solidFill>
                  <a:srgbClr val="4F6128"/>
                </a:solidFill>
                <a:latin typeface="Times New Roman"/>
                <a:cs typeface="Times New Roman"/>
              </a:rPr>
              <a:t> </a:t>
            </a:r>
            <a:r>
              <a:rPr sz="1814" spc="-9" dirty="0">
                <a:solidFill>
                  <a:srgbClr val="4F6128"/>
                </a:solidFill>
                <a:latin typeface="Times New Roman"/>
                <a:cs typeface="Times New Roman"/>
              </a:rPr>
              <a:t>los </a:t>
            </a:r>
            <a:r>
              <a:rPr sz="1814" dirty="0" err="1">
                <a:solidFill>
                  <a:srgbClr val="4F6128"/>
                </a:solidFill>
                <a:latin typeface="Times New Roman"/>
                <a:cs typeface="Times New Roman"/>
              </a:rPr>
              <a:t>nodos</a:t>
            </a:r>
            <a:r>
              <a:rPr sz="1814" spc="-14" dirty="0">
                <a:solidFill>
                  <a:srgbClr val="4F6128"/>
                </a:solidFill>
                <a:latin typeface="Times New Roman"/>
                <a:cs typeface="Times New Roman"/>
              </a:rPr>
              <a:t> </a:t>
            </a:r>
            <a:r>
              <a:rPr sz="1814" dirty="0" err="1">
                <a:solidFill>
                  <a:srgbClr val="4F6128"/>
                </a:solidFill>
                <a:latin typeface="Times New Roman"/>
                <a:cs typeface="Times New Roman"/>
              </a:rPr>
              <a:t>ocultos</a:t>
            </a:r>
            <a:r>
              <a:rPr lang="es-ES" sz="1814" dirty="0">
                <a:solidFill>
                  <a:srgbClr val="4F6128"/>
                </a:solidFill>
                <a:latin typeface="Times New Roman"/>
                <a:cs typeface="Times New Roman"/>
              </a:rPr>
              <a:t> (</a:t>
            </a:r>
            <a:r>
              <a:rPr lang="es-ES" sz="1814" b="1" dirty="0">
                <a:solidFill>
                  <a:srgbClr val="4F6128"/>
                </a:solidFill>
                <a:latin typeface="Times New Roman"/>
                <a:cs typeface="Times New Roman"/>
              </a:rPr>
              <a:t>si la variable dependiente fuera binaria; </a:t>
            </a:r>
            <a:r>
              <a:rPr lang="es-ES" sz="1814" b="1" u="sng" dirty="0">
                <a:solidFill>
                  <a:srgbClr val="4F6128"/>
                </a:solidFill>
                <a:latin typeface="Times New Roman"/>
                <a:cs typeface="Times New Roman"/>
              </a:rPr>
              <a:t>si es continua no hay que aplicar la primera </a:t>
            </a:r>
            <a:r>
              <a:rPr lang="es-ES" sz="1814" b="1" i="1" u="sng" dirty="0" err="1">
                <a:solidFill>
                  <a:srgbClr val="4F6128"/>
                </a:solidFill>
                <a:latin typeface="Times New Roman"/>
                <a:cs typeface="Times New Roman"/>
              </a:rPr>
              <a:t>tanh</a:t>
            </a:r>
            <a:r>
              <a:rPr lang="es-ES" sz="1814" b="1" i="1" u="sng" dirty="0">
                <a:solidFill>
                  <a:srgbClr val="4F6128"/>
                </a:solidFill>
                <a:latin typeface="Times New Roman"/>
                <a:cs typeface="Times New Roman"/>
              </a:rPr>
              <a:t>, </a:t>
            </a:r>
            <a:r>
              <a:rPr lang="es-ES" sz="1814" dirty="0">
                <a:solidFill>
                  <a:srgbClr val="4F6128"/>
                </a:solidFill>
                <a:latin typeface="Times New Roman"/>
                <a:cs typeface="Times New Roman"/>
              </a:rPr>
              <a:t>correspondiente a la capa output)</a:t>
            </a:r>
            <a:r>
              <a:rPr sz="1814" dirty="0">
                <a:solidFill>
                  <a:srgbClr val="4F6128"/>
                </a:solidFill>
                <a:latin typeface="Times New Roman"/>
                <a:cs typeface="Times New Roman"/>
              </a:rPr>
              <a:t>:</a:t>
            </a:r>
            <a:r>
              <a:rPr lang="es-ES" sz="1814" dirty="0">
                <a:solidFill>
                  <a:srgbClr val="4F6128"/>
                </a:solidFill>
                <a:latin typeface="Times New Roman"/>
                <a:cs typeface="Times New Roman"/>
              </a:rPr>
              <a:t> </a:t>
            </a:r>
            <a:endParaRPr sz="1814" dirty="0">
              <a:latin typeface="Times New Roman"/>
              <a:cs typeface="Times New Roman"/>
            </a:endParaRPr>
          </a:p>
        </p:txBody>
      </p:sp>
      <p:sp>
        <p:nvSpPr>
          <p:cNvPr id="3" name="object 3"/>
          <p:cNvSpPr txBox="1">
            <a:spLocks noGrp="1"/>
          </p:cNvSpPr>
          <p:nvPr>
            <p:ph type="title"/>
          </p:nvPr>
        </p:nvSpPr>
        <p:spPr>
          <a:xfrm>
            <a:off x="1562234" y="700341"/>
            <a:ext cx="5098298" cy="1365845"/>
          </a:xfrm>
          <a:prstGeom prst="rect">
            <a:avLst/>
          </a:prstGeom>
        </p:spPr>
        <p:txBody>
          <a:bodyPr vert="horz" wrap="square" lIns="0" tIns="11516" rIns="0" bIns="0" rtlCol="0" anchor="ctr">
            <a:spAutoFit/>
          </a:bodyPr>
          <a:lstStyle/>
          <a:p>
            <a:pPr marL="11516">
              <a:lnSpc>
                <a:spcPct val="100000"/>
              </a:lnSpc>
              <a:spcBef>
                <a:spcPts val="91"/>
              </a:spcBef>
            </a:pPr>
            <a:r>
              <a:rPr sz="1814" spc="-5" dirty="0">
                <a:solidFill>
                  <a:srgbClr val="000000"/>
                </a:solidFill>
              </a:rPr>
              <a:t>Y=</a:t>
            </a:r>
            <a:r>
              <a:rPr sz="1814" b="1" u="sng" spc="-5" dirty="0">
                <a:solidFill>
                  <a:srgbClr val="000000"/>
                </a:solidFill>
              </a:rPr>
              <a:t>tanh</a:t>
            </a:r>
            <a:r>
              <a:rPr sz="1814" spc="-5" dirty="0">
                <a:solidFill>
                  <a:srgbClr val="000000"/>
                </a:solidFill>
              </a:rPr>
              <a:t>(</a:t>
            </a:r>
            <a:r>
              <a:rPr spc="-5" dirty="0">
                <a:solidFill>
                  <a:srgbClr val="000000"/>
                </a:solidFill>
              </a:rPr>
              <a:t>w</a:t>
            </a:r>
            <a:r>
              <a:rPr sz="1270" spc="-5" dirty="0">
                <a:solidFill>
                  <a:srgbClr val="000000"/>
                </a:solidFill>
              </a:rPr>
              <a:t>1,out</a:t>
            </a:r>
            <a:r>
              <a:rPr sz="1814" spc="-5" dirty="0">
                <a:solidFill>
                  <a:srgbClr val="000000"/>
                </a:solidFill>
              </a:rPr>
              <a:t>H1+</a:t>
            </a:r>
            <a:r>
              <a:rPr spc="-5" dirty="0">
                <a:solidFill>
                  <a:srgbClr val="000000"/>
                </a:solidFill>
              </a:rPr>
              <a:t>w</a:t>
            </a:r>
            <a:r>
              <a:rPr sz="1270" spc="-5" dirty="0">
                <a:solidFill>
                  <a:srgbClr val="000000"/>
                </a:solidFill>
              </a:rPr>
              <a:t>2,out</a:t>
            </a:r>
            <a:r>
              <a:rPr sz="1814" spc="-5" dirty="0">
                <a:solidFill>
                  <a:srgbClr val="000000"/>
                </a:solidFill>
              </a:rPr>
              <a:t>H2+</a:t>
            </a:r>
            <a:r>
              <a:rPr spc="-5" dirty="0">
                <a:solidFill>
                  <a:srgbClr val="000000"/>
                </a:solidFill>
              </a:rPr>
              <a:t>w</a:t>
            </a:r>
            <a:r>
              <a:rPr sz="1270" spc="-5" dirty="0">
                <a:solidFill>
                  <a:srgbClr val="000000"/>
                </a:solidFill>
              </a:rPr>
              <a:t>3,out</a:t>
            </a:r>
            <a:r>
              <a:rPr sz="1814" spc="-5" dirty="0">
                <a:solidFill>
                  <a:srgbClr val="000000"/>
                </a:solidFill>
              </a:rPr>
              <a:t>H3+</a:t>
            </a:r>
            <a:r>
              <a:rPr spc="-5" dirty="0">
                <a:solidFill>
                  <a:srgbClr val="000000"/>
                </a:solidFill>
              </a:rPr>
              <a:t>w</a:t>
            </a:r>
            <a:r>
              <a:rPr sz="1270" spc="-5" dirty="0">
                <a:solidFill>
                  <a:srgbClr val="000000"/>
                </a:solidFill>
              </a:rPr>
              <a:t>4,out</a:t>
            </a:r>
            <a:r>
              <a:rPr sz="1814" spc="-5" dirty="0">
                <a:solidFill>
                  <a:srgbClr val="000000"/>
                </a:solidFill>
              </a:rPr>
              <a:t>H4+</a:t>
            </a:r>
            <a:r>
              <a:rPr spc="-5" dirty="0">
                <a:solidFill>
                  <a:srgbClr val="1F487C"/>
                </a:solidFill>
              </a:rPr>
              <a:t>b</a:t>
            </a:r>
            <a:r>
              <a:rPr sz="1270" spc="-5" dirty="0">
                <a:solidFill>
                  <a:srgbClr val="1F487C"/>
                </a:solidFill>
              </a:rPr>
              <a:t>out</a:t>
            </a:r>
            <a:r>
              <a:rPr sz="1814" spc="-5" dirty="0">
                <a:solidFill>
                  <a:srgbClr val="000000"/>
                </a:solidFill>
              </a:rPr>
              <a:t>)=</a:t>
            </a:r>
            <a:endParaRPr sz="1814" dirty="0"/>
          </a:p>
        </p:txBody>
      </p:sp>
      <p:sp>
        <p:nvSpPr>
          <p:cNvPr id="4" name="object 4"/>
          <p:cNvSpPr txBox="1"/>
          <p:nvPr/>
        </p:nvSpPr>
        <p:spPr>
          <a:xfrm>
            <a:off x="1562233" y="1405228"/>
            <a:ext cx="8827300" cy="4746899"/>
          </a:xfrm>
          <a:prstGeom prst="rect">
            <a:avLst/>
          </a:prstGeom>
        </p:spPr>
        <p:txBody>
          <a:bodyPr vert="horz" wrap="square" lIns="0" tIns="11516" rIns="0" bIns="0" rtlCol="0">
            <a:spAutoFit/>
          </a:bodyPr>
          <a:lstStyle/>
          <a:p>
            <a:pPr marL="11516">
              <a:lnSpc>
                <a:spcPts val="2557"/>
              </a:lnSpc>
              <a:spcBef>
                <a:spcPts val="91"/>
              </a:spcBef>
            </a:pPr>
            <a:r>
              <a:rPr sz="1814" spc="-5" dirty="0">
                <a:latin typeface="Times New Roman"/>
                <a:cs typeface="Times New Roman"/>
              </a:rPr>
              <a:t>=tanh(</a:t>
            </a:r>
            <a:r>
              <a:rPr sz="2176" spc="-5" dirty="0">
                <a:latin typeface="Times New Roman"/>
                <a:cs typeface="Times New Roman"/>
              </a:rPr>
              <a:t>w</a:t>
            </a:r>
            <a:r>
              <a:rPr sz="1270" spc="-5" dirty="0">
                <a:latin typeface="Times New Roman"/>
                <a:cs typeface="Times New Roman"/>
              </a:rPr>
              <a:t>1,out</a:t>
            </a:r>
            <a:r>
              <a:rPr sz="1814" spc="-5" dirty="0">
                <a:latin typeface="Times New Roman"/>
                <a:cs typeface="Times New Roman"/>
              </a:rPr>
              <a:t>(tanh(</a:t>
            </a:r>
            <a:r>
              <a:rPr sz="2176" spc="-5" dirty="0">
                <a:latin typeface="Times New Roman"/>
                <a:cs typeface="Times New Roman"/>
              </a:rPr>
              <a:t>w</a:t>
            </a:r>
            <a:r>
              <a:rPr sz="1270" spc="-5" dirty="0">
                <a:latin typeface="Times New Roman"/>
                <a:cs typeface="Times New Roman"/>
              </a:rPr>
              <a:t>11</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21</a:t>
            </a:r>
            <a:r>
              <a:rPr sz="1814" spc="-5" dirty="0">
                <a:latin typeface="Times New Roman"/>
                <a:cs typeface="Times New Roman"/>
              </a:rPr>
              <a:t>X2+</a:t>
            </a:r>
            <a:r>
              <a:rPr sz="2176" spc="-5" dirty="0">
                <a:latin typeface="Times New Roman"/>
                <a:cs typeface="Times New Roman"/>
              </a:rPr>
              <a:t>w</a:t>
            </a:r>
            <a:r>
              <a:rPr sz="1270" spc="-5" dirty="0">
                <a:latin typeface="Times New Roman"/>
                <a:cs typeface="Times New Roman"/>
              </a:rPr>
              <a:t>31</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41</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1</a:t>
            </a:r>
            <a:r>
              <a:rPr sz="1814" spc="-5" dirty="0">
                <a:latin typeface="Times New Roman"/>
                <a:cs typeface="Times New Roman"/>
              </a:rPr>
              <a:t>))</a:t>
            </a:r>
            <a:endParaRPr sz="1814" dirty="0">
              <a:latin typeface="Times New Roman"/>
              <a:cs typeface="Times New Roman"/>
            </a:endParaRPr>
          </a:p>
          <a:p>
            <a:pPr marL="11516">
              <a:lnSpc>
                <a:spcPts val="2503"/>
              </a:lnSpc>
            </a:pPr>
            <a:r>
              <a:rPr sz="1814" spc="-5" dirty="0">
                <a:latin typeface="Times New Roman"/>
                <a:cs typeface="Times New Roman"/>
              </a:rPr>
              <a:t>+</a:t>
            </a:r>
            <a:r>
              <a:rPr sz="2176" spc="-5" dirty="0">
                <a:latin typeface="Times New Roman"/>
                <a:cs typeface="Times New Roman"/>
              </a:rPr>
              <a:t>w</a:t>
            </a:r>
            <a:r>
              <a:rPr sz="1270" spc="-5" dirty="0">
                <a:latin typeface="Times New Roman"/>
                <a:cs typeface="Times New Roman"/>
              </a:rPr>
              <a:t>2,out</a:t>
            </a:r>
            <a:r>
              <a:rPr sz="1814" spc="-5" dirty="0">
                <a:latin typeface="Times New Roman"/>
                <a:cs typeface="Times New Roman"/>
              </a:rPr>
              <a:t>(tanh(</a:t>
            </a:r>
            <a:r>
              <a:rPr sz="2176" spc="-5" dirty="0">
                <a:latin typeface="Times New Roman"/>
                <a:cs typeface="Times New Roman"/>
              </a:rPr>
              <a:t>w</a:t>
            </a:r>
            <a:r>
              <a:rPr sz="1270" spc="-5" dirty="0">
                <a:latin typeface="Times New Roman"/>
                <a:cs typeface="Times New Roman"/>
              </a:rPr>
              <a:t>12</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22</a:t>
            </a:r>
            <a:r>
              <a:rPr sz="1814" spc="-5" dirty="0">
                <a:latin typeface="Times New Roman"/>
                <a:cs typeface="Times New Roman"/>
              </a:rPr>
              <a:t>X2+</a:t>
            </a:r>
            <a:r>
              <a:rPr sz="2176" spc="-5" dirty="0">
                <a:latin typeface="Times New Roman"/>
                <a:cs typeface="Times New Roman"/>
              </a:rPr>
              <a:t>w</a:t>
            </a:r>
            <a:r>
              <a:rPr sz="1270" spc="-5" dirty="0">
                <a:latin typeface="Times New Roman"/>
                <a:cs typeface="Times New Roman"/>
              </a:rPr>
              <a:t>32</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42</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2</a:t>
            </a:r>
            <a:r>
              <a:rPr sz="1814" spc="-5" dirty="0">
                <a:latin typeface="Times New Roman"/>
                <a:cs typeface="Times New Roman"/>
              </a:rPr>
              <a:t>))+</a:t>
            </a:r>
            <a:endParaRPr sz="1814" dirty="0">
              <a:latin typeface="Times New Roman"/>
              <a:cs typeface="Times New Roman"/>
            </a:endParaRPr>
          </a:p>
          <a:p>
            <a:pPr marL="11516">
              <a:lnSpc>
                <a:spcPts val="2503"/>
              </a:lnSpc>
            </a:pPr>
            <a:r>
              <a:rPr sz="1270" spc="-5" dirty="0">
                <a:latin typeface="Times New Roman"/>
                <a:cs typeface="Times New Roman"/>
              </a:rPr>
              <a:t>+</a:t>
            </a:r>
            <a:r>
              <a:rPr sz="2176" spc="-5" dirty="0">
                <a:latin typeface="Times New Roman"/>
                <a:cs typeface="Times New Roman"/>
              </a:rPr>
              <a:t>w</a:t>
            </a:r>
            <a:r>
              <a:rPr sz="1270" spc="-5" dirty="0">
                <a:latin typeface="Times New Roman"/>
                <a:cs typeface="Times New Roman"/>
              </a:rPr>
              <a:t>3,out</a:t>
            </a:r>
            <a:r>
              <a:rPr sz="1814" spc="-5" dirty="0">
                <a:latin typeface="Times New Roman"/>
                <a:cs typeface="Times New Roman"/>
              </a:rPr>
              <a:t>(tanh(</a:t>
            </a:r>
            <a:r>
              <a:rPr sz="2176" spc="-5" dirty="0">
                <a:latin typeface="Times New Roman"/>
                <a:cs typeface="Times New Roman"/>
              </a:rPr>
              <a:t>w</a:t>
            </a:r>
            <a:r>
              <a:rPr sz="1270" spc="-5" dirty="0">
                <a:latin typeface="Times New Roman"/>
                <a:cs typeface="Times New Roman"/>
              </a:rPr>
              <a:t>13</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23</a:t>
            </a:r>
            <a:r>
              <a:rPr sz="1814" spc="-5" dirty="0">
                <a:latin typeface="Times New Roman"/>
                <a:cs typeface="Times New Roman"/>
              </a:rPr>
              <a:t>X2+</a:t>
            </a:r>
            <a:r>
              <a:rPr sz="2176" spc="-5" dirty="0">
                <a:latin typeface="Times New Roman"/>
                <a:cs typeface="Times New Roman"/>
              </a:rPr>
              <a:t>w</a:t>
            </a:r>
            <a:r>
              <a:rPr sz="1270" spc="-5" dirty="0">
                <a:latin typeface="Times New Roman"/>
                <a:cs typeface="Times New Roman"/>
              </a:rPr>
              <a:t>33</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43</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3</a:t>
            </a:r>
            <a:r>
              <a:rPr sz="1814" spc="-5" dirty="0">
                <a:latin typeface="Times New Roman"/>
                <a:cs typeface="Times New Roman"/>
              </a:rPr>
              <a:t>))+</a:t>
            </a:r>
            <a:endParaRPr sz="1814" dirty="0">
              <a:latin typeface="Times New Roman"/>
              <a:cs typeface="Times New Roman"/>
            </a:endParaRPr>
          </a:p>
          <a:p>
            <a:pPr marL="11516">
              <a:lnSpc>
                <a:spcPts val="2503"/>
              </a:lnSpc>
            </a:pPr>
            <a:r>
              <a:rPr sz="1270" spc="-5" dirty="0">
                <a:latin typeface="Times New Roman"/>
                <a:cs typeface="Times New Roman"/>
              </a:rPr>
              <a:t>+</a:t>
            </a:r>
            <a:r>
              <a:rPr sz="2176" spc="-5" dirty="0">
                <a:latin typeface="Times New Roman"/>
                <a:cs typeface="Times New Roman"/>
              </a:rPr>
              <a:t>w</a:t>
            </a:r>
            <a:r>
              <a:rPr sz="1270" spc="-5" dirty="0">
                <a:latin typeface="Times New Roman"/>
                <a:cs typeface="Times New Roman"/>
              </a:rPr>
              <a:t>4,out</a:t>
            </a:r>
            <a:r>
              <a:rPr sz="1814" spc="-5" dirty="0">
                <a:latin typeface="Times New Roman"/>
                <a:cs typeface="Times New Roman"/>
              </a:rPr>
              <a:t>(tanh(</a:t>
            </a:r>
            <a:r>
              <a:rPr sz="2176" spc="-5" dirty="0">
                <a:latin typeface="Times New Roman"/>
                <a:cs typeface="Times New Roman"/>
              </a:rPr>
              <a:t>w</a:t>
            </a:r>
            <a:r>
              <a:rPr sz="1270" spc="-5" dirty="0">
                <a:latin typeface="Times New Roman"/>
                <a:cs typeface="Times New Roman"/>
              </a:rPr>
              <a:t>14</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24</a:t>
            </a:r>
            <a:r>
              <a:rPr sz="1814" spc="-5" dirty="0">
                <a:latin typeface="Times New Roman"/>
                <a:cs typeface="Times New Roman"/>
              </a:rPr>
              <a:t>X2+</a:t>
            </a:r>
            <a:r>
              <a:rPr sz="2176" spc="-5" dirty="0">
                <a:latin typeface="Times New Roman"/>
                <a:cs typeface="Times New Roman"/>
              </a:rPr>
              <a:t>w</a:t>
            </a:r>
            <a:r>
              <a:rPr sz="1270" spc="-5" dirty="0">
                <a:latin typeface="Times New Roman"/>
                <a:cs typeface="Times New Roman"/>
              </a:rPr>
              <a:t>34</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44</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4</a:t>
            </a:r>
            <a:r>
              <a:rPr sz="1814" spc="-5" dirty="0">
                <a:latin typeface="Times New Roman"/>
                <a:cs typeface="Times New Roman"/>
              </a:rPr>
              <a:t>))+</a:t>
            </a:r>
            <a:endParaRPr sz="1814" dirty="0">
              <a:latin typeface="Times New Roman"/>
              <a:cs typeface="Times New Roman"/>
            </a:endParaRPr>
          </a:p>
          <a:p>
            <a:pPr marL="11516">
              <a:lnSpc>
                <a:spcPts val="2557"/>
              </a:lnSpc>
            </a:pPr>
            <a:r>
              <a:rPr sz="1814" spc="-5" dirty="0">
                <a:latin typeface="Times New Roman"/>
                <a:cs typeface="Times New Roman"/>
              </a:rPr>
              <a:t>+</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out</a:t>
            </a:r>
            <a:r>
              <a:rPr sz="1814" spc="-5" dirty="0">
                <a:latin typeface="Times New Roman"/>
                <a:cs typeface="Times New Roman"/>
              </a:rPr>
              <a:t>)</a:t>
            </a:r>
            <a:endParaRPr sz="1814" dirty="0">
              <a:latin typeface="Times New Roman"/>
              <a:cs typeface="Times New Roman"/>
            </a:endParaRPr>
          </a:p>
          <a:p>
            <a:pPr>
              <a:spcBef>
                <a:spcPts val="27"/>
              </a:spcBef>
            </a:pPr>
            <a:endParaRPr sz="2040" dirty="0">
              <a:latin typeface="Times New Roman"/>
              <a:cs typeface="Times New Roman"/>
            </a:endParaRPr>
          </a:p>
          <a:p>
            <a:pPr marL="11516" marR="4607" algn="just">
              <a:lnSpc>
                <a:spcPts val="2294"/>
              </a:lnSpc>
            </a:pPr>
            <a:r>
              <a:rPr sz="1995" b="1" spc="-5" dirty="0">
                <a:solidFill>
                  <a:srgbClr val="FF0000"/>
                </a:solidFill>
                <a:latin typeface="Times New Roman"/>
                <a:cs typeface="Times New Roman"/>
              </a:rPr>
              <a:t>En una red con 4 variables inputs , </a:t>
            </a:r>
            <a:r>
              <a:rPr sz="1995" b="1" spc="-9" dirty="0">
                <a:solidFill>
                  <a:srgbClr val="FF0000"/>
                </a:solidFill>
                <a:latin typeface="Times New Roman"/>
                <a:cs typeface="Times New Roman"/>
              </a:rPr>
              <a:t>una </a:t>
            </a:r>
            <a:r>
              <a:rPr sz="1995" b="1" spc="-5" dirty="0">
                <a:solidFill>
                  <a:srgbClr val="FF0000"/>
                </a:solidFill>
                <a:latin typeface="Times New Roman"/>
                <a:cs typeface="Times New Roman"/>
              </a:rPr>
              <a:t>output, </a:t>
            </a:r>
            <a:r>
              <a:rPr sz="1995" b="1" spc="-9" dirty="0">
                <a:solidFill>
                  <a:srgbClr val="FF0000"/>
                </a:solidFill>
                <a:latin typeface="Times New Roman"/>
                <a:cs typeface="Times New Roman"/>
              </a:rPr>
              <a:t>una </a:t>
            </a:r>
            <a:r>
              <a:rPr sz="1995" b="1" spc="-5" dirty="0">
                <a:solidFill>
                  <a:srgbClr val="FF0000"/>
                </a:solidFill>
                <a:latin typeface="Times New Roman"/>
                <a:cs typeface="Times New Roman"/>
              </a:rPr>
              <a:t>capa oculta con cuatro nodos </a:t>
            </a:r>
            <a:r>
              <a:rPr sz="1995" b="1" dirty="0">
                <a:solidFill>
                  <a:srgbClr val="FF0000"/>
                </a:solidFill>
                <a:latin typeface="Times New Roman"/>
                <a:cs typeface="Times New Roman"/>
              </a:rPr>
              <a:t> </a:t>
            </a:r>
            <a:r>
              <a:rPr sz="1995" b="1" spc="-5" dirty="0">
                <a:solidFill>
                  <a:srgbClr val="FF0000"/>
                </a:solidFill>
                <a:latin typeface="Times New Roman"/>
                <a:cs typeface="Times New Roman"/>
              </a:rPr>
              <a:t>ocultos, funciones de combinación lineal y funciones de activación tanh, el modelo </a:t>
            </a:r>
            <a:r>
              <a:rPr sz="1995" b="1" spc="-485" dirty="0">
                <a:solidFill>
                  <a:srgbClr val="FF0000"/>
                </a:solidFill>
                <a:latin typeface="Times New Roman"/>
                <a:cs typeface="Times New Roman"/>
              </a:rPr>
              <a:t> </a:t>
            </a:r>
            <a:r>
              <a:rPr sz="1995" b="1" spc="-5" dirty="0">
                <a:solidFill>
                  <a:srgbClr val="FF0000"/>
                </a:solidFill>
                <a:latin typeface="Times New Roman"/>
                <a:cs typeface="Times New Roman"/>
              </a:rPr>
              <a:t>planteado</a:t>
            </a:r>
            <a:r>
              <a:rPr sz="1995" b="1" dirty="0">
                <a:solidFill>
                  <a:srgbClr val="FF0000"/>
                </a:solidFill>
                <a:latin typeface="Times New Roman"/>
                <a:cs typeface="Times New Roman"/>
              </a:rPr>
              <a:t> </a:t>
            </a:r>
            <a:r>
              <a:rPr sz="1995" b="1" spc="-5" dirty="0">
                <a:solidFill>
                  <a:srgbClr val="FF0000"/>
                </a:solidFill>
                <a:latin typeface="Times New Roman"/>
                <a:cs typeface="Times New Roman"/>
              </a:rPr>
              <a:t>es:</a:t>
            </a:r>
            <a:endParaRPr sz="1995" dirty="0">
              <a:latin typeface="Times New Roman"/>
              <a:cs typeface="Times New Roman"/>
            </a:endParaRPr>
          </a:p>
          <a:p>
            <a:pPr>
              <a:spcBef>
                <a:spcPts val="18"/>
              </a:spcBef>
            </a:pPr>
            <a:endParaRPr sz="1814" dirty="0">
              <a:latin typeface="Times New Roman"/>
              <a:cs typeface="Times New Roman"/>
            </a:endParaRPr>
          </a:p>
          <a:p>
            <a:pPr marL="11516">
              <a:lnSpc>
                <a:spcPts val="2557"/>
              </a:lnSpc>
            </a:pPr>
            <a:r>
              <a:rPr sz="1814" spc="-5" dirty="0">
                <a:latin typeface="Times New Roman"/>
                <a:cs typeface="Times New Roman"/>
              </a:rPr>
              <a:t>Y=tanh(</a:t>
            </a:r>
            <a:r>
              <a:rPr sz="2176" spc="-5" dirty="0">
                <a:latin typeface="Times New Roman"/>
                <a:cs typeface="Times New Roman"/>
              </a:rPr>
              <a:t>w</a:t>
            </a:r>
            <a:r>
              <a:rPr sz="1270" spc="-5" dirty="0">
                <a:latin typeface="Times New Roman"/>
                <a:cs typeface="Times New Roman"/>
              </a:rPr>
              <a:t>1,out</a:t>
            </a:r>
            <a:r>
              <a:rPr sz="1814" spc="-5" dirty="0">
                <a:latin typeface="Times New Roman"/>
                <a:cs typeface="Times New Roman"/>
              </a:rPr>
              <a:t>(tanh(</a:t>
            </a:r>
            <a:r>
              <a:rPr sz="2176" spc="-5" dirty="0">
                <a:latin typeface="Times New Roman"/>
                <a:cs typeface="Times New Roman"/>
              </a:rPr>
              <a:t>w</a:t>
            </a:r>
            <a:r>
              <a:rPr sz="1270" spc="-5" dirty="0">
                <a:latin typeface="Times New Roman"/>
                <a:cs typeface="Times New Roman"/>
              </a:rPr>
              <a:t>11</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21</a:t>
            </a:r>
            <a:r>
              <a:rPr sz="1814" spc="-5" dirty="0">
                <a:latin typeface="Times New Roman"/>
                <a:cs typeface="Times New Roman"/>
              </a:rPr>
              <a:t>X2+</a:t>
            </a:r>
            <a:r>
              <a:rPr sz="2176" spc="-5" dirty="0">
                <a:latin typeface="Times New Roman"/>
                <a:cs typeface="Times New Roman"/>
              </a:rPr>
              <a:t>w</a:t>
            </a:r>
            <a:r>
              <a:rPr sz="1270" spc="-5" dirty="0">
                <a:latin typeface="Times New Roman"/>
                <a:cs typeface="Times New Roman"/>
              </a:rPr>
              <a:t>31</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41</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1</a:t>
            </a:r>
            <a:r>
              <a:rPr sz="1814" spc="-5" dirty="0">
                <a:latin typeface="Times New Roman"/>
                <a:cs typeface="Times New Roman"/>
              </a:rPr>
              <a:t>))</a:t>
            </a:r>
            <a:endParaRPr sz="1814" dirty="0">
              <a:latin typeface="Times New Roman"/>
              <a:cs typeface="Times New Roman"/>
            </a:endParaRPr>
          </a:p>
          <a:p>
            <a:pPr marL="11516">
              <a:lnSpc>
                <a:spcPts val="2503"/>
              </a:lnSpc>
            </a:pPr>
            <a:r>
              <a:rPr sz="1814" spc="-5" dirty="0">
                <a:latin typeface="Times New Roman"/>
                <a:cs typeface="Times New Roman"/>
              </a:rPr>
              <a:t>+</a:t>
            </a:r>
            <a:r>
              <a:rPr sz="2176" spc="-5" dirty="0">
                <a:latin typeface="Times New Roman"/>
                <a:cs typeface="Times New Roman"/>
              </a:rPr>
              <a:t>w</a:t>
            </a:r>
            <a:r>
              <a:rPr sz="1270" spc="-5" dirty="0">
                <a:latin typeface="Times New Roman"/>
                <a:cs typeface="Times New Roman"/>
              </a:rPr>
              <a:t>2,out</a:t>
            </a:r>
            <a:r>
              <a:rPr sz="1814" spc="-5" dirty="0">
                <a:latin typeface="Times New Roman"/>
                <a:cs typeface="Times New Roman"/>
              </a:rPr>
              <a:t>(tanh(</a:t>
            </a:r>
            <a:r>
              <a:rPr sz="2176" spc="-5" dirty="0">
                <a:latin typeface="Times New Roman"/>
                <a:cs typeface="Times New Roman"/>
              </a:rPr>
              <a:t>w</a:t>
            </a:r>
            <a:r>
              <a:rPr sz="1270" spc="-5" dirty="0">
                <a:latin typeface="Times New Roman"/>
                <a:cs typeface="Times New Roman"/>
              </a:rPr>
              <a:t>12</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22</a:t>
            </a:r>
            <a:r>
              <a:rPr sz="1814" spc="-5" dirty="0">
                <a:latin typeface="Times New Roman"/>
                <a:cs typeface="Times New Roman"/>
              </a:rPr>
              <a:t>X2+</a:t>
            </a:r>
            <a:r>
              <a:rPr sz="2176" spc="-5" dirty="0">
                <a:latin typeface="Times New Roman"/>
                <a:cs typeface="Times New Roman"/>
              </a:rPr>
              <a:t>w</a:t>
            </a:r>
            <a:r>
              <a:rPr sz="1270" spc="-5" dirty="0">
                <a:latin typeface="Times New Roman"/>
                <a:cs typeface="Times New Roman"/>
              </a:rPr>
              <a:t>32</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42</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2</a:t>
            </a:r>
            <a:r>
              <a:rPr sz="1814" spc="-5" dirty="0">
                <a:latin typeface="Times New Roman"/>
                <a:cs typeface="Times New Roman"/>
              </a:rPr>
              <a:t>))+</a:t>
            </a:r>
            <a:endParaRPr sz="1814" dirty="0">
              <a:latin typeface="Times New Roman"/>
              <a:cs typeface="Times New Roman"/>
            </a:endParaRPr>
          </a:p>
          <a:p>
            <a:pPr marL="11516">
              <a:lnSpc>
                <a:spcPts val="2503"/>
              </a:lnSpc>
            </a:pPr>
            <a:r>
              <a:rPr sz="1270" spc="-5" dirty="0">
                <a:latin typeface="Times New Roman"/>
                <a:cs typeface="Times New Roman"/>
              </a:rPr>
              <a:t>+</a:t>
            </a:r>
            <a:r>
              <a:rPr sz="2176" spc="-5" dirty="0">
                <a:latin typeface="Times New Roman"/>
                <a:cs typeface="Times New Roman"/>
              </a:rPr>
              <a:t>w</a:t>
            </a:r>
            <a:r>
              <a:rPr sz="1270" spc="-5" dirty="0">
                <a:latin typeface="Times New Roman"/>
                <a:cs typeface="Times New Roman"/>
              </a:rPr>
              <a:t>3,out</a:t>
            </a:r>
            <a:r>
              <a:rPr sz="1814" spc="-5" dirty="0">
                <a:latin typeface="Times New Roman"/>
                <a:cs typeface="Times New Roman"/>
              </a:rPr>
              <a:t>(tanh(</a:t>
            </a:r>
            <a:r>
              <a:rPr sz="2176" spc="-5" dirty="0">
                <a:latin typeface="Times New Roman"/>
                <a:cs typeface="Times New Roman"/>
              </a:rPr>
              <a:t>w</a:t>
            </a:r>
            <a:r>
              <a:rPr sz="1270" spc="-5" dirty="0">
                <a:latin typeface="Times New Roman"/>
                <a:cs typeface="Times New Roman"/>
              </a:rPr>
              <a:t>13</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23</a:t>
            </a:r>
            <a:r>
              <a:rPr sz="1814" spc="-5" dirty="0">
                <a:latin typeface="Times New Roman"/>
                <a:cs typeface="Times New Roman"/>
              </a:rPr>
              <a:t>X2+</a:t>
            </a:r>
            <a:r>
              <a:rPr sz="2176" spc="-5" dirty="0">
                <a:latin typeface="Times New Roman"/>
                <a:cs typeface="Times New Roman"/>
              </a:rPr>
              <a:t>w</a:t>
            </a:r>
            <a:r>
              <a:rPr sz="1270" spc="-5" dirty="0">
                <a:latin typeface="Times New Roman"/>
                <a:cs typeface="Times New Roman"/>
              </a:rPr>
              <a:t>33</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43</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3</a:t>
            </a:r>
            <a:r>
              <a:rPr sz="1814" spc="-5" dirty="0">
                <a:latin typeface="Times New Roman"/>
                <a:cs typeface="Times New Roman"/>
              </a:rPr>
              <a:t>))+</a:t>
            </a:r>
            <a:endParaRPr sz="1814" dirty="0">
              <a:latin typeface="Times New Roman"/>
              <a:cs typeface="Times New Roman"/>
            </a:endParaRPr>
          </a:p>
          <a:p>
            <a:pPr marL="11516">
              <a:lnSpc>
                <a:spcPts val="2503"/>
              </a:lnSpc>
            </a:pPr>
            <a:r>
              <a:rPr sz="1270" spc="-5" dirty="0">
                <a:latin typeface="Times New Roman"/>
                <a:cs typeface="Times New Roman"/>
              </a:rPr>
              <a:t>+</a:t>
            </a:r>
            <a:r>
              <a:rPr sz="2176" spc="-5" dirty="0">
                <a:latin typeface="Times New Roman"/>
                <a:cs typeface="Times New Roman"/>
              </a:rPr>
              <a:t>w</a:t>
            </a:r>
            <a:r>
              <a:rPr sz="1270" spc="-5" dirty="0">
                <a:latin typeface="Times New Roman"/>
                <a:cs typeface="Times New Roman"/>
              </a:rPr>
              <a:t>4,out</a:t>
            </a:r>
            <a:r>
              <a:rPr sz="1814" spc="-5" dirty="0">
                <a:latin typeface="Times New Roman"/>
                <a:cs typeface="Times New Roman"/>
              </a:rPr>
              <a:t>(tanh(</a:t>
            </a:r>
            <a:r>
              <a:rPr sz="2176" spc="-5" dirty="0">
                <a:latin typeface="Times New Roman"/>
                <a:cs typeface="Times New Roman"/>
              </a:rPr>
              <a:t>w</a:t>
            </a:r>
            <a:r>
              <a:rPr sz="1270" spc="-5" dirty="0">
                <a:latin typeface="Times New Roman"/>
                <a:cs typeface="Times New Roman"/>
              </a:rPr>
              <a:t>14</a:t>
            </a:r>
            <a:r>
              <a:rPr sz="1814" spc="-5" dirty="0">
                <a:latin typeface="Times New Roman"/>
                <a:cs typeface="Times New Roman"/>
              </a:rPr>
              <a:t>X1</a:t>
            </a:r>
            <a:r>
              <a:rPr sz="2176" spc="-5" dirty="0">
                <a:latin typeface="Times New Roman"/>
                <a:cs typeface="Times New Roman"/>
              </a:rPr>
              <a:t>+w</a:t>
            </a:r>
            <a:r>
              <a:rPr sz="1270" spc="-5" dirty="0">
                <a:latin typeface="Times New Roman"/>
                <a:cs typeface="Times New Roman"/>
              </a:rPr>
              <a:t>24</a:t>
            </a:r>
            <a:r>
              <a:rPr sz="1814" spc="-5" dirty="0">
                <a:latin typeface="Times New Roman"/>
                <a:cs typeface="Times New Roman"/>
              </a:rPr>
              <a:t>X2+</a:t>
            </a:r>
            <a:r>
              <a:rPr sz="2176" spc="-5" dirty="0">
                <a:latin typeface="Times New Roman"/>
                <a:cs typeface="Times New Roman"/>
              </a:rPr>
              <a:t>w</a:t>
            </a:r>
            <a:r>
              <a:rPr sz="1270" spc="-5" dirty="0">
                <a:latin typeface="Times New Roman"/>
                <a:cs typeface="Times New Roman"/>
              </a:rPr>
              <a:t>34</a:t>
            </a:r>
            <a:r>
              <a:rPr sz="1814" spc="-5" dirty="0">
                <a:latin typeface="Times New Roman"/>
                <a:cs typeface="Times New Roman"/>
              </a:rPr>
              <a:t>X3+</a:t>
            </a:r>
            <a:r>
              <a:rPr sz="2176" spc="-5" dirty="0">
                <a:latin typeface="Times New Roman"/>
                <a:cs typeface="Times New Roman"/>
              </a:rPr>
              <a:t>w</a:t>
            </a:r>
            <a:r>
              <a:rPr sz="1270" spc="-5" dirty="0">
                <a:latin typeface="Times New Roman"/>
                <a:cs typeface="Times New Roman"/>
              </a:rPr>
              <a:t>44</a:t>
            </a:r>
            <a:r>
              <a:rPr sz="1814" spc="-5" dirty="0">
                <a:latin typeface="Times New Roman"/>
                <a:cs typeface="Times New Roman"/>
              </a:rPr>
              <a:t>X4+</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4</a:t>
            </a:r>
            <a:r>
              <a:rPr sz="1814" spc="-5" dirty="0">
                <a:latin typeface="Times New Roman"/>
                <a:cs typeface="Times New Roman"/>
              </a:rPr>
              <a:t>))+</a:t>
            </a:r>
            <a:endParaRPr sz="1814" dirty="0">
              <a:latin typeface="Times New Roman"/>
              <a:cs typeface="Times New Roman"/>
            </a:endParaRPr>
          </a:p>
          <a:p>
            <a:pPr marL="11516">
              <a:lnSpc>
                <a:spcPts val="2557"/>
              </a:lnSpc>
            </a:pPr>
            <a:r>
              <a:rPr sz="1814" spc="-5" dirty="0">
                <a:latin typeface="Times New Roman"/>
                <a:cs typeface="Times New Roman"/>
              </a:rPr>
              <a:t>+</a:t>
            </a:r>
            <a:r>
              <a:rPr sz="2176" spc="-5" dirty="0">
                <a:solidFill>
                  <a:srgbClr val="1F487C"/>
                </a:solidFill>
                <a:latin typeface="Times New Roman"/>
                <a:cs typeface="Times New Roman"/>
              </a:rPr>
              <a:t>b</a:t>
            </a:r>
            <a:r>
              <a:rPr sz="1270" spc="-5" dirty="0">
                <a:solidFill>
                  <a:srgbClr val="1F487C"/>
                </a:solidFill>
                <a:latin typeface="Times New Roman"/>
                <a:cs typeface="Times New Roman"/>
              </a:rPr>
              <a:t>out</a:t>
            </a:r>
            <a:r>
              <a:rPr sz="1814" spc="-5" dirty="0">
                <a:latin typeface="Times New Roman"/>
                <a:cs typeface="Times New Roman"/>
              </a:rPr>
              <a:t>)</a:t>
            </a:r>
            <a:endParaRPr sz="1814" dirty="0">
              <a:latin typeface="Times New Roman"/>
              <a:cs typeface="Times New Roman"/>
            </a:endParaRPr>
          </a:p>
        </p:txBody>
      </p:sp>
    </p:spTree>
    <p:extLst>
      <p:ext uri="{BB962C8B-B14F-4D97-AF65-F5344CB8AC3E}">
        <p14:creationId xmlns:p14="http://schemas.microsoft.com/office/powerpoint/2010/main" val="15999259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2234" y="3705393"/>
            <a:ext cx="10338018" cy="2769696"/>
          </a:xfrm>
          <a:prstGeom prst="rect">
            <a:avLst/>
          </a:prstGeom>
        </p:spPr>
        <p:txBody>
          <a:bodyPr vert="horz" wrap="square" lIns="0" tIns="12092" rIns="0" bIns="0" rtlCol="0">
            <a:spAutoFit/>
          </a:bodyPr>
          <a:lstStyle/>
          <a:p>
            <a:pPr marL="11516" algn="just">
              <a:spcBef>
                <a:spcPts val="95"/>
              </a:spcBef>
            </a:pPr>
            <a:r>
              <a:rPr sz="1632" dirty="0">
                <a:solidFill>
                  <a:srgbClr val="FF0000"/>
                </a:solidFill>
                <a:latin typeface="Times New Roman"/>
                <a:cs typeface="Times New Roman"/>
              </a:rPr>
              <a:t>4*4 pesos</a:t>
            </a:r>
            <a:r>
              <a:rPr sz="1632" spc="5" dirty="0">
                <a:solidFill>
                  <a:srgbClr val="FF0000"/>
                </a:solidFill>
                <a:latin typeface="Times New Roman"/>
                <a:cs typeface="Times New Roman"/>
              </a:rPr>
              <a:t> </a:t>
            </a:r>
            <a:r>
              <a:rPr sz="1632" spc="-5" dirty="0">
                <a:solidFill>
                  <a:srgbClr val="FF0000"/>
                </a:solidFill>
                <a:latin typeface="Times New Roman"/>
                <a:cs typeface="Times New Roman"/>
              </a:rPr>
              <a:t>capa</a:t>
            </a:r>
            <a:r>
              <a:rPr sz="1632" spc="5" dirty="0">
                <a:solidFill>
                  <a:srgbClr val="FF0000"/>
                </a:solidFill>
                <a:latin typeface="Times New Roman"/>
                <a:cs typeface="Times New Roman"/>
              </a:rPr>
              <a:t> </a:t>
            </a:r>
            <a:r>
              <a:rPr sz="1632" spc="-5" dirty="0">
                <a:solidFill>
                  <a:srgbClr val="FF0000"/>
                </a:solidFill>
                <a:latin typeface="Times New Roman"/>
                <a:cs typeface="Times New Roman"/>
              </a:rPr>
              <a:t>input-capa</a:t>
            </a:r>
            <a:r>
              <a:rPr sz="1632" spc="9" dirty="0">
                <a:solidFill>
                  <a:srgbClr val="FF0000"/>
                </a:solidFill>
                <a:latin typeface="Times New Roman"/>
                <a:cs typeface="Times New Roman"/>
              </a:rPr>
              <a:t> </a:t>
            </a:r>
            <a:r>
              <a:rPr sz="1632" spc="-5" dirty="0">
                <a:solidFill>
                  <a:srgbClr val="FF0000"/>
                </a:solidFill>
                <a:latin typeface="Times New Roman"/>
                <a:cs typeface="Times New Roman"/>
              </a:rPr>
              <a:t>oculta+4</a:t>
            </a:r>
            <a:r>
              <a:rPr sz="1632" spc="9" dirty="0">
                <a:solidFill>
                  <a:srgbClr val="FF0000"/>
                </a:solidFill>
                <a:latin typeface="Times New Roman"/>
                <a:cs typeface="Times New Roman"/>
              </a:rPr>
              <a:t> </a:t>
            </a:r>
            <a:r>
              <a:rPr sz="1632" spc="-5" dirty="0">
                <a:solidFill>
                  <a:srgbClr val="FF0000"/>
                </a:solidFill>
                <a:latin typeface="Times New Roman"/>
                <a:cs typeface="Times New Roman"/>
              </a:rPr>
              <a:t>bias</a:t>
            </a:r>
            <a:r>
              <a:rPr sz="1632" spc="9" dirty="0">
                <a:solidFill>
                  <a:srgbClr val="FF0000"/>
                </a:solidFill>
                <a:latin typeface="Times New Roman"/>
                <a:cs typeface="Times New Roman"/>
              </a:rPr>
              <a:t> </a:t>
            </a:r>
            <a:r>
              <a:rPr sz="1632" spc="-5" dirty="0">
                <a:solidFill>
                  <a:srgbClr val="FF0000"/>
                </a:solidFill>
                <a:latin typeface="Times New Roman"/>
                <a:cs typeface="Times New Roman"/>
              </a:rPr>
              <a:t>capa</a:t>
            </a:r>
            <a:r>
              <a:rPr sz="1632" spc="14" dirty="0">
                <a:solidFill>
                  <a:srgbClr val="FF0000"/>
                </a:solidFill>
                <a:latin typeface="Times New Roman"/>
                <a:cs typeface="Times New Roman"/>
              </a:rPr>
              <a:t> </a:t>
            </a:r>
            <a:r>
              <a:rPr sz="1632" spc="-5" dirty="0">
                <a:solidFill>
                  <a:srgbClr val="FF0000"/>
                </a:solidFill>
                <a:latin typeface="Times New Roman"/>
                <a:cs typeface="Times New Roman"/>
              </a:rPr>
              <a:t>oculta+4 </a:t>
            </a:r>
            <a:r>
              <a:rPr sz="1632" dirty="0">
                <a:solidFill>
                  <a:srgbClr val="FF0000"/>
                </a:solidFill>
                <a:latin typeface="Times New Roman"/>
                <a:cs typeface="Times New Roman"/>
              </a:rPr>
              <a:t>pesos</a:t>
            </a:r>
            <a:r>
              <a:rPr sz="1632" spc="-9" dirty="0">
                <a:solidFill>
                  <a:srgbClr val="FF0000"/>
                </a:solidFill>
                <a:latin typeface="Times New Roman"/>
                <a:cs typeface="Times New Roman"/>
              </a:rPr>
              <a:t> </a:t>
            </a:r>
            <a:r>
              <a:rPr sz="1632" dirty="0">
                <a:solidFill>
                  <a:srgbClr val="FF0000"/>
                </a:solidFill>
                <a:latin typeface="Times New Roman"/>
                <a:cs typeface="Times New Roman"/>
              </a:rPr>
              <a:t>capa oculta-capa</a:t>
            </a:r>
            <a:r>
              <a:rPr sz="1632" spc="5" dirty="0">
                <a:solidFill>
                  <a:srgbClr val="FF0000"/>
                </a:solidFill>
                <a:latin typeface="Times New Roman"/>
                <a:cs typeface="Times New Roman"/>
              </a:rPr>
              <a:t> </a:t>
            </a:r>
            <a:r>
              <a:rPr sz="1632" dirty="0">
                <a:solidFill>
                  <a:srgbClr val="FF0000"/>
                </a:solidFill>
                <a:latin typeface="Times New Roman"/>
                <a:cs typeface="Times New Roman"/>
              </a:rPr>
              <a:t>output+bias</a:t>
            </a:r>
            <a:r>
              <a:rPr sz="1632" spc="-5" dirty="0">
                <a:solidFill>
                  <a:srgbClr val="FF0000"/>
                </a:solidFill>
                <a:latin typeface="Times New Roman"/>
                <a:cs typeface="Times New Roman"/>
              </a:rPr>
              <a:t> capa</a:t>
            </a:r>
            <a:r>
              <a:rPr sz="1632" spc="9" dirty="0">
                <a:solidFill>
                  <a:srgbClr val="FF0000"/>
                </a:solidFill>
                <a:latin typeface="Times New Roman"/>
                <a:cs typeface="Times New Roman"/>
              </a:rPr>
              <a:t> </a:t>
            </a:r>
            <a:r>
              <a:rPr sz="1632" dirty="0">
                <a:solidFill>
                  <a:srgbClr val="FF0000"/>
                </a:solidFill>
                <a:latin typeface="Times New Roman"/>
                <a:cs typeface="Times New Roman"/>
              </a:rPr>
              <a:t>output=</a:t>
            </a:r>
            <a:r>
              <a:rPr sz="2358" dirty="0">
                <a:solidFill>
                  <a:srgbClr val="FF0000"/>
                </a:solidFill>
                <a:latin typeface="Times New Roman"/>
                <a:cs typeface="Times New Roman"/>
              </a:rPr>
              <a:t>25</a:t>
            </a:r>
            <a:endParaRPr sz="2358" dirty="0">
              <a:latin typeface="Times New Roman"/>
              <a:cs typeface="Times New Roman"/>
            </a:endParaRPr>
          </a:p>
          <a:p>
            <a:pPr marL="11516" algn="just">
              <a:spcBef>
                <a:spcPts val="1591"/>
              </a:spcBef>
            </a:pPr>
            <a:r>
              <a:rPr sz="1451" spc="-5" dirty="0">
                <a:solidFill>
                  <a:srgbClr val="FF0000"/>
                </a:solidFill>
                <a:latin typeface="Times New Roman"/>
                <a:cs typeface="Times New Roman"/>
              </a:rPr>
              <a:t>(¡Más</a:t>
            </a:r>
            <a:r>
              <a:rPr sz="1451" spc="-14" dirty="0">
                <a:solidFill>
                  <a:srgbClr val="FF0000"/>
                </a:solidFill>
                <a:latin typeface="Times New Roman"/>
                <a:cs typeface="Times New Roman"/>
              </a:rPr>
              <a:t> </a:t>
            </a:r>
            <a:r>
              <a:rPr sz="1451" spc="-5" dirty="0">
                <a:solidFill>
                  <a:srgbClr val="FF0000"/>
                </a:solidFill>
                <a:latin typeface="Times New Roman"/>
                <a:cs typeface="Times New Roman"/>
              </a:rPr>
              <a:t>vale</a:t>
            </a:r>
            <a:r>
              <a:rPr sz="1451" spc="-14" dirty="0">
                <a:solidFill>
                  <a:srgbClr val="FF0000"/>
                </a:solidFill>
                <a:latin typeface="Times New Roman"/>
                <a:cs typeface="Times New Roman"/>
              </a:rPr>
              <a:t> </a:t>
            </a:r>
            <a:r>
              <a:rPr sz="1451" dirty="0">
                <a:solidFill>
                  <a:srgbClr val="FF0000"/>
                </a:solidFill>
                <a:latin typeface="Times New Roman"/>
                <a:cs typeface="Times New Roman"/>
              </a:rPr>
              <a:t>tener</a:t>
            </a:r>
            <a:r>
              <a:rPr sz="1451" spc="5" dirty="0">
                <a:solidFill>
                  <a:srgbClr val="FF0000"/>
                </a:solidFill>
                <a:latin typeface="Times New Roman"/>
                <a:cs typeface="Times New Roman"/>
              </a:rPr>
              <a:t> </a:t>
            </a:r>
            <a:r>
              <a:rPr sz="1451" spc="-5" dirty="0">
                <a:solidFill>
                  <a:srgbClr val="FF0000"/>
                </a:solidFill>
                <a:latin typeface="Times New Roman"/>
                <a:cs typeface="Times New Roman"/>
              </a:rPr>
              <a:t>muchas</a:t>
            </a:r>
            <a:r>
              <a:rPr sz="1451" spc="-14" dirty="0">
                <a:solidFill>
                  <a:srgbClr val="FF0000"/>
                </a:solidFill>
                <a:latin typeface="Times New Roman"/>
                <a:cs typeface="Times New Roman"/>
              </a:rPr>
              <a:t> </a:t>
            </a:r>
            <a:r>
              <a:rPr sz="1451" spc="-5" dirty="0">
                <a:solidFill>
                  <a:srgbClr val="FF0000"/>
                </a:solidFill>
                <a:latin typeface="Times New Roman"/>
                <a:cs typeface="Times New Roman"/>
              </a:rPr>
              <a:t>observaciones!)</a:t>
            </a:r>
            <a:endParaRPr sz="1451" dirty="0">
              <a:latin typeface="Times New Roman"/>
              <a:cs typeface="Times New Roman"/>
            </a:endParaRPr>
          </a:p>
          <a:p>
            <a:pPr algn="just">
              <a:spcBef>
                <a:spcPts val="14"/>
              </a:spcBef>
            </a:pPr>
            <a:endParaRPr sz="1360" dirty="0">
              <a:latin typeface="Times New Roman"/>
              <a:cs typeface="Times New Roman"/>
            </a:endParaRPr>
          </a:p>
          <a:p>
            <a:pPr marL="11516" algn="just">
              <a:lnSpc>
                <a:spcPts val="1904"/>
              </a:lnSpc>
              <a:spcBef>
                <a:spcPts val="5"/>
              </a:spcBef>
            </a:pPr>
            <a:r>
              <a:rPr sz="1632" dirty="0">
                <a:latin typeface="Times New Roman"/>
                <a:cs typeface="Times New Roman"/>
              </a:rPr>
              <a:t>En</a:t>
            </a:r>
            <a:r>
              <a:rPr sz="1632" spc="5" dirty="0">
                <a:latin typeface="Times New Roman"/>
                <a:cs typeface="Times New Roman"/>
              </a:rPr>
              <a:t> </a:t>
            </a:r>
            <a:r>
              <a:rPr sz="1632" spc="-5" dirty="0">
                <a:latin typeface="Times New Roman"/>
                <a:cs typeface="Times New Roman"/>
              </a:rPr>
              <a:t>general,</a:t>
            </a:r>
            <a:r>
              <a:rPr sz="1632" spc="9" dirty="0">
                <a:latin typeface="Times New Roman"/>
                <a:cs typeface="Times New Roman"/>
              </a:rPr>
              <a:t> </a:t>
            </a:r>
            <a:r>
              <a:rPr sz="1632" spc="-5" dirty="0">
                <a:latin typeface="Times New Roman"/>
                <a:cs typeface="Times New Roman"/>
              </a:rPr>
              <a:t>Número</a:t>
            </a:r>
            <a:r>
              <a:rPr sz="1632" spc="5" dirty="0">
                <a:latin typeface="Times New Roman"/>
                <a:cs typeface="Times New Roman"/>
              </a:rPr>
              <a:t> </a:t>
            </a:r>
            <a:r>
              <a:rPr sz="1632" dirty="0">
                <a:latin typeface="Times New Roman"/>
                <a:cs typeface="Times New Roman"/>
              </a:rPr>
              <a:t>de </a:t>
            </a:r>
            <a:r>
              <a:rPr sz="1632" spc="-5" dirty="0">
                <a:latin typeface="Times New Roman"/>
                <a:cs typeface="Times New Roman"/>
              </a:rPr>
              <a:t>parámetros </a:t>
            </a:r>
            <a:r>
              <a:rPr sz="1632" dirty="0">
                <a:latin typeface="Times New Roman"/>
                <a:cs typeface="Times New Roman"/>
              </a:rPr>
              <a:t>Red</a:t>
            </a:r>
            <a:r>
              <a:rPr sz="1632" spc="5" dirty="0">
                <a:latin typeface="Times New Roman"/>
                <a:cs typeface="Times New Roman"/>
              </a:rPr>
              <a:t> </a:t>
            </a:r>
            <a:r>
              <a:rPr sz="1632" spc="-5" dirty="0">
                <a:latin typeface="Times New Roman"/>
                <a:cs typeface="Times New Roman"/>
              </a:rPr>
              <a:t>neuronal</a:t>
            </a:r>
            <a:r>
              <a:rPr sz="1632" spc="27" dirty="0">
                <a:latin typeface="Times New Roman"/>
                <a:cs typeface="Times New Roman"/>
              </a:rPr>
              <a:t> </a:t>
            </a:r>
            <a:r>
              <a:rPr sz="1632" spc="-5" dirty="0">
                <a:latin typeface="Times New Roman"/>
                <a:cs typeface="Times New Roman"/>
              </a:rPr>
              <a:t>con</a:t>
            </a:r>
            <a:r>
              <a:rPr sz="1632" spc="5" dirty="0">
                <a:latin typeface="Times New Roman"/>
                <a:cs typeface="Times New Roman"/>
              </a:rPr>
              <a:t> </a:t>
            </a:r>
            <a:r>
              <a:rPr sz="1632" dirty="0">
                <a:latin typeface="Times New Roman"/>
                <a:cs typeface="Times New Roman"/>
              </a:rPr>
              <a:t>una</a:t>
            </a:r>
            <a:r>
              <a:rPr sz="1632" spc="5" dirty="0">
                <a:latin typeface="Times New Roman"/>
                <a:cs typeface="Times New Roman"/>
              </a:rPr>
              <a:t> </a:t>
            </a:r>
            <a:r>
              <a:rPr sz="1632" spc="-5" dirty="0">
                <a:latin typeface="Times New Roman"/>
                <a:cs typeface="Times New Roman"/>
              </a:rPr>
              <a:t>capa</a:t>
            </a:r>
            <a:r>
              <a:rPr sz="1632" dirty="0">
                <a:latin typeface="Times New Roman"/>
                <a:cs typeface="Times New Roman"/>
              </a:rPr>
              <a:t> y</a:t>
            </a:r>
            <a:r>
              <a:rPr sz="1632" spc="5" dirty="0">
                <a:latin typeface="Times New Roman"/>
                <a:cs typeface="Times New Roman"/>
              </a:rPr>
              <a:t> </a:t>
            </a:r>
            <a:r>
              <a:rPr sz="1632" spc="-5" dirty="0">
                <a:latin typeface="Times New Roman"/>
                <a:cs typeface="Times New Roman"/>
              </a:rPr>
              <a:t>una</a:t>
            </a:r>
            <a:r>
              <a:rPr sz="1632" spc="5" dirty="0">
                <a:latin typeface="Times New Roman"/>
                <a:cs typeface="Times New Roman"/>
              </a:rPr>
              <a:t> </a:t>
            </a:r>
            <a:r>
              <a:rPr sz="1632" spc="-5" dirty="0">
                <a:latin typeface="Times New Roman"/>
                <a:cs typeface="Times New Roman"/>
              </a:rPr>
              <a:t>variable</a:t>
            </a:r>
            <a:r>
              <a:rPr sz="1632" spc="9" dirty="0">
                <a:latin typeface="Times New Roman"/>
                <a:cs typeface="Times New Roman"/>
              </a:rPr>
              <a:t> </a:t>
            </a:r>
            <a:r>
              <a:rPr sz="1632" spc="-5" dirty="0">
                <a:latin typeface="Times New Roman"/>
                <a:cs typeface="Times New Roman"/>
              </a:rPr>
              <a:t>output:</a:t>
            </a:r>
            <a:endParaRPr lang="es-ES" sz="1632" dirty="0">
              <a:latin typeface="Times New Roman"/>
              <a:cs typeface="Times New Roman"/>
            </a:endParaRPr>
          </a:p>
          <a:p>
            <a:pPr marL="11516" algn="just">
              <a:lnSpc>
                <a:spcPts val="1904"/>
              </a:lnSpc>
              <a:spcBef>
                <a:spcPts val="5"/>
              </a:spcBef>
            </a:pPr>
            <a:endParaRPr lang="es-ES" sz="2176" b="1" i="1" dirty="0">
              <a:latin typeface="Times New Roman"/>
              <a:cs typeface="Times New Roman"/>
            </a:endParaRPr>
          </a:p>
          <a:p>
            <a:pPr marL="11516" algn="just">
              <a:lnSpc>
                <a:spcPts val="1904"/>
              </a:lnSpc>
              <a:spcBef>
                <a:spcPts val="5"/>
              </a:spcBef>
            </a:pPr>
            <a:r>
              <a:rPr lang="es-ES" sz="2176" b="1" i="1" dirty="0">
                <a:latin typeface="Times New Roman"/>
                <a:cs typeface="Times New Roman"/>
              </a:rPr>
              <a:t>                                                    </a:t>
            </a:r>
            <a:r>
              <a:rPr sz="2176" b="1" i="1" dirty="0">
                <a:latin typeface="Times New Roman"/>
                <a:cs typeface="Times New Roman"/>
              </a:rPr>
              <a:t>h(k+1)+h+1</a:t>
            </a:r>
          </a:p>
          <a:p>
            <a:pPr marL="11516" marR="3840706" algn="just">
              <a:lnSpc>
                <a:spcPts val="3754"/>
              </a:lnSpc>
              <a:spcBef>
                <a:spcPts val="240"/>
              </a:spcBef>
            </a:pPr>
            <a:r>
              <a:rPr sz="1632" dirty="0">
                <a:latin typeface="Times New Roman"/>
                <a:cs typeface="Times New Roman"/>
              </a:rPr>
              <a:t>donde</a:t>
            </a:r>
            <a:r>
              <a:rPr sz="1632" spc="-5" dirty="0">
                <a:latin typeface="Times New Roman"/>
                <a:cs typeface="Times New Roman"/>
              </a:rPr>
              <a:t> </a:t>
            </a:r>
            <a:r>
              <a:rPr sz="1632" i="1" dirty="0">
                <a:latin typeface="Times New Roman"/>
                <a:cs typeface="Times New Roman"/>
              </a:rPr>
              <a:t>h</a:t>
            </a:r>
            <a:r>
              <a:rPr sz="1632" dirty="0">
                <a:latin typeface="Times New Roman"/>
                <a:cs typeface="Times New Roman"/>
              </a:rPr>
              <a:t>=</a:t>
            </a:r>
            <a:r>
              <a:rPr sz="1632" spc="-14" dirty="0">
                <a:latin typeface="Times New Roman"/>
                <a:cs typeface="Times New Roman"/>
              </a:rPr>
              <a:t> </a:t>
            </a:r>
            <a:r>
              <a:rPr sz="1632" spc="-5" dirty="0">
                <a:latin typeface="Times New Roman"/>
                <a:cs typeface="Times New Roman"/>
              </a:rPr>
              <a:t>número </a:t>
            </a:r>
            <a:r>
              <a:rPr sz="1632" dirty="0">
                <a:latin typeface="Times New Roman"/>
                <a:cs typeface="Times New Roman"/>
              </a:rPr>
              <a:t>de</a:t>
            </a:r>
            <a:r>
              <a:rPr sz="1632" spc="-5" dirty="0">
                <a:latin typeface="Times New Roman"/>
                <a:cs typeface="Times New Roman"/>
              </a:rPr>
              <a:t> </a:t>
            </a:r>
            <a:r>
              <a:rPr sz="1632" dirty="0">
                <a:latin typeface="Times New Roman"/>
                <a:cs typeface="Times New Roman"/>
              </a:rPr>
              <a:t>nodos</a:t>
            </a:r>
            <a:r>
              <a:rPr sz="1632" spc="-9" dirty="0">
                <a:latin typeface="Times New Roman"/>
                <a:cs typeface="Times New Roman"/>
              </a:rPr>
              <a:t> </a:t>
            </a:r>
            <a:r>
              <a:rPr sz="1632" spc="-5" dirty="0">
                <a:latin typeface="Times New Roman"/>
                <a:cs typeface="Times New Roman"/>
              </a:rPr>
              <a:t>ocultos,</a:t>
            </a:r>
            <a:r>
              <a:rPr sz="1632" dirty="0">
                <a:latin typeface="Times New Roman"/>
                <a:cs typeface="Times New Roman"/>
              </a:rPr>
              <a:t> </a:t>
            </a:r>
            <a:r>
              <a:rPr sz="1632" i="1" dirty="0">
                <a:latin typeface="Times New Roman"/>
                <a:cs typeface="Times New Roman"/>
              </a:rPr>
              <a:t>k</a:t>
            </a:r>
            <a:r>
              <a:rPr sz="1632" dirty="0">
                <a:latin typeface="Times New Roman"/>
                <a:cs typeface="Times New Roman"/>
              </a:rPr>
              <a:t>=número</a:t>
            </a:r>
            <a:r>
              <a:rPr sz="1632" spc="-5" dirty="0">
                <a:latin typeface="Times New Roman"/>
                <a:cs typeface="Times New Roman"/>
              </a:rPr>
              <a:t> </a:t>
            </a:r>
            <a:r>
              <a:rPr sz="1632" spc="-9" dirty="0">
                <a:latin typeface="Times New Roman"/>
                <a:cs typeface="Times New Roman"/>
              </a:rPr>
              <a:t>de</a:t>
            </a:r>
            <a:r>
              <a:rPr sz="1632" spc="-14" dirty="0">
                <a:latin typeface="Times New Roman"/>
                <a:cs typeface="Times New Roman"/>
              </a:rPr>
              <a:t> </a:t>
            </a:r>
            <a:r>
              <a:rPr sz="1632" dirty="0">
                <a:latin typeface="Times New Roman"/>
                <a:cs typeface="Times New Roman"/>
              </a:rPr>
              <a:t>nodos</a:t>
            </a:r>
            <a:r>
              <a:rPr sz="1632" spc="-5" dirty="0">
                <a:latin typeface="Times New Roman"/>
                <a:cs typeface="Times New Roman"/>
              </a:rPr>
              <a:t> </a:t>
            </a:r>
            <a:r>
              <a:rPr sz="1632" dirty="0">
                <a:latin typeface="Times New Roman"/>
                <a:cs typeface="Times New Roman"/>
              </a:rPr>
              <a:t>input </a:t>
            </a:r>
            <a:r>
              <a:rPr sz="1632" spc="-394" dirty="0">
                <a:latin typeface="Times New Roman"/>
                <a:cs typeface="Times New Roman"/>
              </a:rPr>
              <a:t> </a:t>
            </a:r>
            <a:endParaRPr lang="es-ES" sz="1632" spc="-394" dirty="0">
              <a:latin typeface="Times New Roman"/>
              <a:cs typeface="Times New Roman"/>
            </a:endParaRPr>
          </a:p>
          <a:p>
            <a:pPr marL="11516" marR="3840706" algn="just">
              <a:lnSpc>
                <a:spcPts val="3754"/>
              </a:lnSpc>
              <a:spcBef>
                <a:spcPts val="240"/>
              </a:spcBef>
            </a:pPr>
            <a:r>
              <a:rPr lang="es-ES" sz="1632" dirty="0">
                <a:latin typeface="Times New Roman"/>
                <a:cs typeface="Times New Roman"/>
              </a:rPr>
              <a:t>E</a:t>
            </a:r>
            <a:r>
              <a:rPr sz="1632" dirty="0">
                <a:latin typeface="Times New Roman"/>
                <a:cs typeface="Times New Roman"/>
              </a:rPr>
              <a:t>n</a:t>
            </a:r>
            <a:r>
              <a:rPr sz="1632" spc="5" dirty="0">
                <a:latin typeface="Times New Roman"/>
                <a:cs typeface="Times New Roman"/>
              </a:rPr>
              <a:t> </a:t>
            </a:r>
            <a:r>
              <a:rPr sz="1632" spc="-5" dirty="0">
                <a:latin typeface="Times New Roman"/>
                <a:cs typeface="Times New Roman"/>
              </a:rPr>
              <a:t>regresión </a:t>
            </a:r>
            <a:r>
              <a:rPr sz="1632" dirty="0">
                <a:latin typeface="Times New Roman"/>
                <a:cs typeface="Times New Roman"/>
              </a:rPr>
              <a:t>clásica</a:t>
            </a:r>
            <a:r>
              <a:rPr sz="1632" spc="-5" dirty="0">
                <a:latin typeface="Times New Roman"/>
                <a:cs typeface="Times New Roman"/>
              </a:rPr>
              <a:t> serían</a:t>
            </a:r>
            <a:r>
              <a:rPr sz="1632" spc="-9" dirty="0">
                <a:latin typeface="Times New Roman"/>
                <a:cs typeface="Times New Roman"/>
              </a:rPr>
              <a:t> </a:t>
            </a:r>
            <a:r>
              <a:rPr sz="1632" i="1" dirty="0">
                <a:latin typeface="Times New Roman"/>
                <a:cs typeface="Times New Roman"/>
              </a:rPr>
              <a:t>k+1=5</a:t>
            </a:r>
            <a:r>
              <a:rPr sz="1632" spc="-9" dirty="0">
                <a:latin typeface="Times New Roman"/>
                <a:cs typeface="Times New Roman"/>
              </a:rPr>
              <a:t> </a:t>
            </a:r>
            <a:r>
              <a:rPr sz="1632" dirty="0">
                <a:latin typeface="Times New Roman"/>
                <a:cs typeface="Times New Roman"/>
              </a:rPr>
              <a:t>en</a:t>
            </a:r>
            <a:r>
              <a:rPr sz="1632" spc="-5" dirty="0">
                <a:latin typeface="Times New Roman"/>
                <a:cs typeface="Times New Roman"/>
              </a:rPr>
              <a:t> </a:t>
            </a:r>
            <a:r>
              <a:rPr sz="1632" spc="-5" dirty="0" err="1">
                <a:latin typeface="Times New Roman"/>
                <a:cs typeface="Times New Roman"/>
              </a:rPr>
              <a:t>nuestro</a:t>
            </a:r>
            <a:r>
              <a:rPr sz="1632" spc="-5" dirty="0">
                <a:latin typeface="Times New Roman"/>
                <a:cs typeface="Times New Roman"/>
              </a:rPr>
              <a:t> </a:t>
            </a:r>
            <a:r>
              <a:rPr sz="1632" spc="-5" dirty="0" err="1">
                <a:latin typeface="Times New Roman"/>
                <a:cs typeface="Times New Roman"/>
              </a:rPr>
              <a:t>caso</a:t>
            </a:r>
            <a:r>
              <a:rPr lang="es-ES" sz="1632" spc="-5" dirty="0">
                <a:latin typeface="Times New Roman"/>
                <a:cs typeface="Times New Roman"/>
              </a:rPr>
              <a:t> con 4 variables de entrada</a:t>
            </a:r>
            <a:r>
              <a:rPr sz="1632" spc="-5" dirty="0">
                <a:latin typeface="Times New Roman"/>
                <a:cs typeface="Times New Roman"/>
              </a:rPr>
              <a:t>.</a:t>
            </a:r>
            <a:endParaRPr sz="1632" dirty="0">
              <a:latin typeface="Times New Roman"/>
              <a:cs typeface="Times New Roman"/>
            </a:endParaRPr>
          </a:p>
        </p:txBody>
      </p:sp>
      <p:pic>
        <p:nvPicPr>
          <p:cNvPr id="4" name="object 4"/>
          <p:cNvPicPr/>
          <p:nvPr/>
        </p:nvPicPr>
        <p:blipFill>
          <a:blip r:embed="rId2" cstate="print"/>
          <a:stretch>
            <a:fillRect/>
          </a:stretch>
        </p:blipFill>
        <p:spPr>
          <a:xfrm>
            <a:off x="3608463" y="735839"/>
            <a:ext cx="4397258" cy="3070841"/>
          </a:xfrm>
          <a:prstGeom prst="rect">
            <a:avLst/>
          </a:prstGeom>
        </p:spPr>
      </p:pic>
      <p:sp>
        <p:nvSpPr>
          <p:cNvPr id="6" name="Rectángulo 5"/>
          <p:cNvSpPr/>
          <p:nvPr/>
        </p:nvSpPr>
        <p:spPr>
          <a:xfrm>
            <a:off x="1562234" y="205564"/>
            <a:ext cx="8568180" cy="538930"/>
          </a:xfrm>
          <a:prstGeom prst="rect">
            <a:avLst/>
          </a:prstGeom>
        </p:spPr>
        <p:txBody>
          <a:bodyPr wrap="square">
            <a:spAutoFit/>
          </a:bodyPr>
          <a:lstStyle/>
          <a:p>
            <a:pPr algn="just"/>
            <a:r>
              <a:rPr lang="es-ES" sz="2902" b="1" dirty="0">
                <a:solidFill>
                  <a:schemeClr val="tx2"/>
                </a:solidFill>
              </a:rPr>
              <a:t>Parámetros de una red neuronal</a:t>
            </a:r>
            <a:endParaRPr lang="es-ES" sz="1814" dirty="0"/>
          </a:p>
        </p:txBody>
      </p:sp>
    </p:spTree>
    <p:extLst>
      <p:ext uri="{BB962C8B-B14F-4D97-AF65-F5344CB8AC3E}">
        <p14:creationId xmlns:p14="http://schemas.microsoft.com/office/powerpoint/2010/main" val="13300371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2234" y="498144"/>
            <a:ext cx="8403268" cy="375814"/>
          </a:xfrm>
          <a:prstGeom prst="rect">
            <a:avLst/>
          </a:prstGeom>
        </p:spPr>
        <p:txBody>
          <a:bodyPr vert="horz" wrap="square" lIns="0" tIns="9213" rIns="0" bIns="0" rtlCol="0" anchor="ctr">
            <a:spAutoFit/>
          </a:bodyPr>
          <a:lstStyle/>
          <a:p>
            <a:pPr marL="11516" marR="4607">
              <a:lnSpc>
                <a:spcPct val="100699"/>
              </a:lnSpc>
              <a:spcBef>
                <a:spcPts val="73"/>
              </a:spcBef>
              <a:tabLst>
                <a:tab pos="5255491" algn="l"/>
              </a:tabLst>
            </a:pPr>
            <a:r>
              <a:rPr sz="1995" spc="-5" dirty="0"/>
              <a:t>El</a:t>
            </a:r>
            <a:r>
              <a:rPr sz="1995" spc="9" dirty="0"/>
              <a:t> </a:t>
            </a:r>
            <a:r>
              <a:rPr sz="1995" spc="-5" dirty="0"/>
              <a:t>objetivo</a:t>
            </a:r>
            <a:r>
              <a:rPr sz="1995" spc="18" dirty="0"/>
              <a:t> </a:t>
            </a:r>
            <a:r>
              <a:rPr sz="1995" spc="-5" dirty="0"/>
              <a:t>computacional</a:t>
            </a:r>
            <a:r>
              <a:rPr sz="1995" spc="23" dirty="0"/>
              <a:t> </a:t>
            </a:r>
            <a:r>
              <a:rPr sz="1995" spc="-5" dirty="0"/>
              <a:t>concreto</a:t>
            </a:r>
            <a:r>
              <a:rPr sz="1995" spc="18" dirty="0"/>
              <a:t> </a:t>
            </a:r>
            <a:r>
              <a:rPr sz="1995" spc="-5" dirty="0"/>
              <a:t>es</a:t>
            </a:r>
            <a:r>
              <a:rPr sz="1995" spc="9" dirty="0"/>
              <a:t> </a:t>
            </a:r>
            <a:r>
              <a:rPr sz="1995" b="1" spc="-5" dirty="0">
                <a:latin typeface="Times New Roman"/>
                <a:cs typeface="Times New Roman"/>
              </a:rPr>
              <a:t>estimar</a:t>
            </a:r>
            <a:r>
              <a:rPr sz="1995" b="1" spc="14" dirty="0">
                <a:latin typeface="Times New Roman"/>
                <a:cs typeface="Times New Roman"/>
              </a:rPr>
              <a:t> </a:t>
            </a:r>
            <a:r>
              <a:rPr sz="1995" spc="-5" dirty="0"/>
              <a:t>los	parámetros </a:t>
            </a:r>
            <a:r>
              <a:rPr sz="2358" dirty="0"/>
              <a:t>w</a:t>
            </a:r>
            <a:r>
              <a:rPr sz="2358" spc="-9" dirty="0"/>
              <a:t> </a:t>
            </a:r>
            <a:r>
              <a:rPr sz="2358" dirty="0"/>
              <a:t>y</a:t>
            </a:r>
            <a:r>
              <a:rPr sz="2358" spc="-14" dirty="0"/>
              <a:t> </a:t>
            </a:r>
            <a:r>
              <a:rPr sz="2358" dirty="0"/>
              <a:t>b</a:t>
            </a:r>
            <a:r>
              <a:rPr sz="2358" spc="-9" dirty="0"/>
              <a:t> </a:t>
            </a:r>
            <a:r>
              <a:rPr sz="1995" spc="-5" dirty="0"/>
              <a:t>del </a:t>
            </a:r>
            <a:r>
              <a:rPr sz="1995" spc="-485" dirty="0"/>
              <a:t> </a:t>
            </a:r>
            <a:r>
              <a:rPr sz="1995" spc="-5" dirty="0"/>
              <a:t>modelo.</a:t>
            </a:r>
            <a:endParaRPr sz="1995" dirty="0"/>
          </a:p>
        </p:txBody>
      </p:sp>
      <mc:AlternateContent xmlns:mc="http://schemas.openxmlformats.org/markup-compatibility/2006" xmlns:a14="http://schemas.microsoft.com/office/drawing/2010/main">
        <mc:Choice Requires="a14">
          <p:sp>
            <p:nvSpPr>
              <p:cNvPr id="3" name="object 3"/>
              <p:cNvSpPr txBox="1"/>
              <p:nvPr/>
            </p:nvSpPr>
            <p:spPr>
              <a:xfrm>
                <a:off x="1742811" y="1356053"/>
                <a:ext cx="8610563" cy="4971765"/>
              </a:xfrm>
              <a:prstGeom prst="rect">
                <a:avLst/>
              </a:prstGeom>
            </p:spPr>
            <p:txBody>
              <a:bodyPr vert="horz" wrap="square" lIns="0" tIns="10941" rIns="0" bIns="0" rtlCol="0">
                <a:spAutoFit/>
              </a:bodyPr>
              <a:lstStyle/>
              <a:p>
                <a:pPr marL="11516" algn="ctr">
                  <a:lnSpc>
                    <a:spcPts val="2344"/>
                  </a:lnSpc>
                  <a:spcBef>
                    <a:spcPts val="86"/>
                  </a:spcBef>
                </a:pPr>
                <a:r>
                  <a:rPr lang="es-ES" sz="1632" i="1" spc="-5" dirty="0">
                    <a:latin typeface="Times New Roman"/>
                    <a:cs typeface="Times New Roman"/>
                  </a:rPr>
                  <a:t>Y=tanh(</a:t>
                </a:r>
                <a:r>
                  <a:rPr lang="es-ES" sz="1995" i="1" spc="-5" dirty="0">
                    <a:latin typeface="Times New Roman"/>
                    <a:cs typeface="Times New Roman"/>
                  </a:rPr>
                  <a:t>w</a:t>
                </a:r>
                <a:r>
                  <a:rPr lang="es-ES" sz="1088" i="1" spc="-5" dirty="0">
                    <a:latin typeface="Times New Roman"/>
                    <a:cs typeface="Times New Roman"/>
                  </a:rPr>
                  <a:t>1,out</a:t>
                </a:r>
                <a:r>
                  <a:rPr lang="es-ES" sz="1632" i="1" spc="-5" dirty="0">
                    <a:latin typeface="Times New Roman"/>
                    <a:cs typeface="Times New Roman"/>
                  </a:rPr>
                  <a:t>(tanh(</a:t>
                </a:r>
                <a:r>
                  <a:rPr lang="es-ES" sz="1995" i="1" spc="-5" dirty="0">
                    <a:latin typeface="Times New Roman"/>
                    <a:cs typeface="Times New Roman"/>
                  </a:rPr>
                  <a:t>w</a:t>
                </a:r>
                <a:r>
                  <a:rPr lang="es-ES" sz="1088" i="1" spc="-5" dirty="0">
                    <a:latin typeface="Times New Roman"/>
                    <a:cs typeface="Times New Roman"/>
                  </a:rPr>
                  <a:t>11</a:t>
                </a:r>
                <a:r>
                  <a:rPr lang="es-ES" sz="1632" i="1" spc="-5" dirty="0">
                    <a:latin typeface="Times New Roman"/>
                    <a:cs typeface="Times New Roman"/>
                  </a:rPr>
                  <a:t>X1</a:t>
                </a:r>
                <a:r>
                  <a:rPr lang="es-ES" sz="1995" i="1" spc="-5" dirty="0">
                    <a:latin typeface="Times New Roman"/>
                    <a:cs typeface="Times New Roman"/>
                  </a:rPr>
                  <a:t>+w</a:t>
                </a:r>
                <a:r>
                  <a:rPr lang="es-ES" sz="1088" i="1" spc="-5" dirty="0">
                    <a:latin typeface="Times New Roman"/>
                    <a:cs typeface="Times New Roman"/>
                  </a:rPr>
                  <a:t>21</a:t>
                </a:r>
                <a:r>
                  <a:rPr lang="es-ES" sz="1632" i="1" spc="-5" dirty="0">
                    <a:latin typeface="Times New Roman"/>
                    <a:cs typeface="Times New Roman"/>
                  </a:rPr>
                  <a:t>X2+</a:t>
                </a:r>
                <a:r>
                  <a:rPr lang="es-ES" sz="1995" i="1" spc="-5" dirty="0">
                    <a:latin typeface="Times New Roman"/>
                    <a:cs typeface="Times New Roman"/>
                  </a:rPr>
                  <a:t>w</a:t>
                </a:r>
                <a:r>
                  <a:rPr lang="es-ES" sz="1088" i="1" spc="-5" dirty="0">
                    <a:latin typeface="Times New Roman"/>
                    <a:cs typeface="Times New Roman"/>
                  </a:rPr>
                  <a:t>31</a:t>
                </a:r>
                <a:r>
                  <a:rPr lang="es-ES" sz="1632" i="1" spc="-5" dirty="0">
                    <a:latin typeface="Times New Roman"/>
                    <a:cs typeface="Times New Roman"/>
                  </a:rPr>
                  <a:t>X3+</a:t>
                </a:r>
                <a:r>
                  <a:rPr lang="es-ES" sz="1995" i="1" spc="-5" dirty="0">
                    <a:latin typeface="Times New Roman"/>
                    <a:cs typeface="Times New Roman"/>
                  </a:rPr>
                  <a:t>w</a:t>
                </a:r>
                <a:r>
                  <a:rPr lang="es-ES" sz="1088" i="1" spc="-5" dirty="0">
                    <a:latin typeface="Times New Roman"/>
                    <a:cs typeface="Times New Roman"/>
                  </a:rPr>
                  <a:t>41</a:t>
                </a:r>
                <a:r>
                  <a:rPr lang="es-ES" sz="1632" i="1" spc="-5" dirty="0">
                    <a:latin typeface="Times New Roman"/>
                    <a:cs typeface="Times New Roman"/>
                  </a:rPr>
                  <a:t>X4+</a:t>
                </a:r>
                <a:r>
                  <a:rPr lang="es-ES" sz="1995" i="1" spc="-5" dirty="0">
                    <a:solidFill>
                      <a:srgbClr val="1F487C"/>
                    </a:solidFill>
                    <a:latin typeface="Times New Roman"/>
                    <a:cs typeface="Times New Roman"/>
                  </a:rPr>
                  <a:t>b</a:t>
                </a:r>
                <a:r>
                  <a:rPr lang="es-ES" sz="1088" i="1" spc="-5" dirty="0">
                    <a:solidFill>
                      <a:srgbClr val="1F487C"/>
                    </a:solidFill>
                    <a:latin typeface="Times New Roman"/>
                    <a:cs typeface="Times New Roman"/>
                  </a:rPr>
                  <a:t>1</a:t>
                </a:r>
                <a:r>
                  <a:rPr lang="es-ES" sz="1632" i="1" spc="-5" dirty="0">
                    <a:latin typeface="Times New Roman"/>
                    <a:cs typeface="Times New Roman"/>
                  </a:rPr>
                  <a:t>))</a:t>
                </a:r>
                <a:endParaRPr lang="es-ES" sz="1632" i="1" dirty="0">
                  <a:latin typeface="Times New Roman"/>
                  <a:cs typeface="Times New Roman"/>
                </a:endParaRPr>
              </a:p>
              <a:p>
                <a:pPr marL="11516" algn="ctr">
                  <a:lnSpc>
                    <a:spcPts val="2299"/>
                  </a:lnSpc>
                </a:pPr>
                <a:r>
                  <a:rPr lang="es-ES" sz="1632" i="1" spc="-5" dirty="0">
                    <a:latin typeface="Times New Roman"/>
                    <a:cs typeface="Times New Roman"/>
                  </a:rPr>
                  <a:t>+</a:t>
                </a:r>
                <a:r>
                  <a:rPr lang="es-ES" sz="1995" i="1" spc="-5" dirty="0">
                    <a:latin typeface="Times New Roman"/>
                    <a:cs typeface="Times New Roman"/>
                  </a:rPr>
                  <a:t>w</a:t>
                </a:r>
                <a:r>
                  <a:rPr lang="es-ES" sz="1088" i="1" spc="-5" dirty="0">
                    <a:latin typeface="Times New Roman"/>
                    <a:cs typeface="Times New Roman"/>
                  </a:rPr>
                  <a:t>2,out</a:t>
                </a:r>
                <a:r>
                  <a:rPr lang="es-ES" sz="1632" i="1" spc="-5" dirty="0">
                    <a:latin typeface="Times New Roman"/>
                    <a:cs typeface="Times New Roman"/>
                  </a:rPr>
                  <a:t>(tanh(</a:t>
                </a:r>
                <a:r>
                  <a:rPr lang="es-ES" sz="1995" i="1" spc="-5" dirty="0">
                    <a:latin typeface="Times New Roman"/>
                    <a:cs typeface="Times New Roman"/>
                  </a:rPr>
                  <a:t>w</a:t>
                </a:r>
                <a:r>
                  <a:rPr lang="es-ES" sz="1088" i="1" spc="-5" dirty="0">
                    <a:latin typeface="Times New Roman"/>
                    <a:cs typeface="Times New Roman"/>
                  </a:rPr>
                  <a:t>12</a:t>
                </a:r>
                <a:r>
                  <a:rPr lang="es-ES" sz="1632" i="1" spc="-5" dirty="0">
                    <a:latin typeface="Times New Roman"/>
                    <a:cs typeface="Times New Roman"/>
                  </a:rPr>
                  <a:t>X1</a:t>
                </a:r>
                <a:r>
                  <a:rPr lang="es-ES" sz="1995" i="1" spc="-5" dirty="0">
                    <a:latin typeface="Times New Roman"/>
                    <a:cs typeface="Times New Roman"/>
                  </a:rPr>
                  <a:t>+w</a:t>
                </a:r>
                <a:r>
                  <a:rPr lang="es-ES" sz="1088" i="1" spc="-5" dirty="0">
                    <a:latin typeface="Times New Roman"/>
                    <a:cs typeface="Times New Roman"/>
                  </a:rPr>
                  <a:t>22</a:t>
                </a:r>
                <a:r>
                  <a:rPr lang="es-ES" sz="1632" i="1" spc="-5" dirty="0">
                    <a:latin typeface="Times New Roman"/>
                    <a:cs typeface="Times New Roman"/>
                  </a:rPr>
                  <a:t>X2+</a:t>
                </a:r>
                <a:r>
                  <a:rPr lang="es-ES" sz="1995" i="1" spc="-5" dirty="0">
                    <a:latin typeface="Times New Roman"/>
                    <a:cs typeface="Times New Roman"/>
                  </a:rPr>
                  <a:t>w</a:t>
                </a:r>
                <a:r>
                  <a:rPr lang="es-ES" sz="1088" i="1" spc="-5" dirty="0">
                    <a:latin typeface="Times New Roman"/>
                    <a:cs typeface="Times New Roman"/>
                  </a:rPr>
                  <a:t>32</a:t>
                </a:r>
                <a:r>
                  <a:rPr lang="es-ES" sz="1632" i="1" spc="-5" dirty="0">
                    <a:latin typeface="Times New Roman"/>
                    <a:cs typeface="Times New Roman"/>
                  </a:rPr>
                  <a:t>X3+</a:t>
                </a:r>
                <a:r>
                  <a:rPr lang="es-ES" sz="1995" i="1" spc="-5" dirty="0">
                    <a:latin typeface="Times New Roman"/>
                    <a:cs typeface="Times New Roman"/>
                  </a:rPr>
                  <a:t>w</a:t>
                </a:r>
                <a:r>
                  <a:rPr lang="es-ES" sz="1088" i="1" spc="-5" dirty="0">
                    <a:latin typeface="Times New Roman"/>
                    <a:cs typeface="Times New Roman"/>
                  </a:rPr>
                  <a:t>42</a:t>
                </a:r>
                <a:r>
                  <a:rPr lang="es-ES" sz="1632" i="1" spc="-5" dirty="0">
                    <a:latin typeface="Times New Roman"/>
                    <a:cs typeface="Times New Roman"/>
                  </a:rPr>
                  <a:t>X4+</a:t>
                </a:r>
                <a:r>
                  <a:rPr lang="es-ES" sz="1995" i="1" spc="-5" dirty="0">
                    <a:solidFill>
                      <a:srgbClr val="1F487C"/>
                    </a:solidFill>
                    <a:latin typeface="Times New Roman"/>
                    <a:cs typeface="Times New Roman"/>
                  </a:rPr>
                  <a:t>b</a:t>
                </a:r>
                <a:r>
                  <a:rPr lang="es-ES" sz="1088" i="1" spc="-5" dirty="0">
                    <a:solidFill>
                      <a:srgbClr val="1F487C"/>
                    </a:solidFill>
                    <a:latin typeface="Times New Roman"/>
                    <a:cs typeface="Times New Roman"/>
                  </a:rPr>
                  <a:t>2</a:t>
                </a:r>
                <a:r>
                  <a:rPr lang="es-ES" sz="1632" i="1" spc="-5" dirty="0">
                    <a:latin typeface="Times New Roman"/>
                    <a:cs typeface="Times New Roman"/>
                  </a:rPr>
                  <a:t>))+</a:t>
                </a:r>
                <a:endParaRPr lang="es-ES" sz="1632" i="1" dirty="0">
                  <a:latin typeface="Times New Roman"/>
                  <a:cs typeface="Times New Roman"/>
                </a:endParaRPr>
              </a:p>
              <a:p>
                <a:pPr marL="11516" algn="ctr">
                  <a:lnSpc>
                    <a:spcPts val="2299"/>
                  </a:lnSpc>
                </a:pPr>
                <a:r>
                  <a:rPr lang="es-ES" sz="1088" i="1" spc="-5" dirty="0">
                    <a:latin typeface="Times New Roman"/>
                    <a:cs typeface="Times New Roman"/>
                  </a:rPr>
                  <a:t>+</a:t>
                </a:r>
                <a:r>
                  <a:rPr lang="es-ES" sz="1995" i="1" spc="-5" dirty="0">
                    <a:latin typeface="Times New Roman"/>
                    <a:cs typeface="Times New Roman"/>
                  </a:rPr>
                  <a:t>w</a:t>
                </a:r>
                <a:r>
                  <a:rPr lang="es-ES" sz="1088" i="1" spc="-5" dirty="0">
                    <a:latin typeface="Times New Roman"/>
                    <a:cs typeface="Times New Roman"/>
                  </a:rPr>
                  <a:t>3,out</a:t>
                </a:r>
                <a:r>
                  <a:rPr lang="es-ES" sz="1632" i="1" spc="-5" dirty="0">
                    <a:latin typeface="Times New Roman"/>
                    <a:cs typeface="Times New Roman"/>
                  </a:rPr>
                  <a:t>(tanh(</a:t>
                </a:r>
                <a:r>
                  <a:rPr lang="es-ES" sz="1995" i="1" spc="-5" dirty="0">
                    <a:latin typeface="Times New Roman"/>
                    <a:cs typeface="Times New Roman"/>
                  </a:rPr>
                  <a:t>w</a:t>
                </a:r>
                <a:r>
                  <a:rPr lang="es-ES" sz="1088" i="1" spc="-5" dirty="0">
                    <a:latin typeface="Times New Roman"/>
                    <a:cs typeface="Times New Roman"/>
                  </a:rPr>
                  <a:t>13</a:t>
                </a:r>
                <a:r>
                  <a:rPr lang="es-ES" sz="1632" i="1" spc="-5" dirty="0">
                    <a:latin typeface="Times New Roman"/>
                    <a:cs typeface="Times New Roman"/>
                  </a:rPr>
                  <a:t>X1</a:t>
                </a:r>
                <a:r>
                  <a:rPr lang="es-ES" sz="1995" i="1" spc="-5" dirty="0">
                    <a:latin typeface="Times New Roman"/>
                    <a:cs typeface="Times New Roman"/>
                  </a:rPr>
                  <a:t>+w</a:t>
                </a:r>
                <a:r>
                  <a:rPr lang="es-ES" sz="1088" i="1" spc="-5" dirty="0">
                    <a:latin typeface="Times New Roman"/>
                    <a:cs typeface="Times New Roman"/>
                  </a:rPr>
                  <a:t>23</a:t>
                </a:r>
                <a:r>
                  <a:rPr lang="es-ES" sz="1632" i="1" spc="-5" dirty="0">
                    <a:latin typeface="Times New Roman"/>
                    <a:cs typeface="Times New Roman"/>
                  </a:rPr>
                  <a:t>X2+</a:t>
                </a:r>
                <a:r>
                  <a:rPr lang="es-ES" sz="1995" i="1" spc="-5" dirty="0">
                    <a:latin typeface="Times New Roman"/>
                    <a:cs typeface="Times New Roman"/>
                  </a:rPr>
                  <a:t>w</a:t>
                </a:r>
                <a:r>
                  <a:rPr lang="es-ES" sz="1088" i="1" spc="-5" dirty="0">
                    <a:latin typeface="Times New Roman"/>
                    <a:cs typeface="Times New Roman"/>
                  </a:rPr>
                  <a:t>33</a:t>
                </a:r>
                <a:r>
                  <a:rPr lang="es-ES" sz="1632" i="1" spc="-5" dirty="0">
                    <a:latin typeface="Times New Roman"/>
                    <a:cs typeface="Times New Roman"/>
                  </a:rPr>
                  <a:t>X3+</a:t>
                </a:r>
                <a:r>
                  <a:rPr lang="es-ES" sz="1995" i="1" spc="-5" dirty="0">
                    <a:latin typeface="Times New Roman"/>
                    <a:cs typeface="Times New Roman"/>
                  </a:rPr>
                  <a:t>w</a:t>
                </a:r>
                <a:r>
                  <a:rPr lang="es-ES" sz="1088" i="1" spc="-5" dirty="0">
                    <a:latin typeface="Times New Roman"/>
                    <a:cs typeface="Times New Roman"/>
                  </a:rPr>
                  <a:t>43</a:t>
                </a:r>
                <a:r>
                  <a:rPr lang="es-ES" sz="1632" i="1" spc="-5" dirty="0">
                    <a:latin typeface="Times New Roman"/>
                    <a:cs typeface="Times New Roman"/>
                  </a:rPr>
                  <a:t>X4+</a:t>
                </a:r>
                <a:r>
                  <a:rPr lang="es-ES" sz="1995" i="1" spc="-5" dirty="0">
                    <a:solidFill>
                      <a:srgbClr val="1F487C"/>
                    </a:solidFill>
                    <a:latin typeface="Times New Roman"/>
                    <a:cs typeface="Times New Roman"/>
                  </a:rPr>
                  <a:t>b</a:t>
                </a:r>
                <a:r>
                  <a:rPr lang="es-ES" sz="1088" i="1" spc="-5" dirty="0">
                    <a:solidFill>
                      <a:srgbClr val="1F487C"/>
                    </a:solidFill>
                    <a:latin typeface="Times New Roman"/>
                    <a:cs typeface="Times New Roman"/>
                  </a:rPr>
                  <a:t>3</a:t>
                </a:r>
                <a:r>
                  <a:rPr lang="es-ES" sz="1632" i="1" spc="-5" dirty="0">
                    <a:latin typeface="Times New Roman"/>
                    <a:cs typeface="Times New Roman"/>
                  </a:rPr>
                  <a:t>))+</a:t>
                </a:r>
                <a:endParaRPr lang="es-ES" sz="1632" i="1" dirty="0">
                  <a:latin typeface="Times New Roman"/>
                  <a:cs typeface="Times New Roman"/>
                </a:endParaRPr>
              </a:p>
              <a:p>
                <a:pPr marL="11516" algn="ctr">
                  <a:lnSpc>
                    <a:spcPts val="2290"/>
                  </a:lnSpc>
                </a:pPr>
                <a:r>
                  <a:rPr lang="es-ES" sz="1088" i="1" spc="-5" dirty="0">
                    <a:latin typeface="Times New Roman"/>
                    <a:cs typeface="Times New Roman"/>
                  </a:rPr>
                  <a:t>+</a:t>
                </a:r>
                <a:r>
                  <a:rPr lang="es-ES" sz="1995" i="1" spc="-5" dirty="0">
                    <a:latin typeface="Times New Roman"/>
                    <a:cs typeface="Times New Roman"/>
                  </a:rPr>
                  <a:t>w</a:t>
                </a:r>
                <a:r>
                  <a:rPr lang="es-ES" sz="1088" i="1" spc="-5" dirty="0">
                    <a:latin typeface="Times New Roman"/>
                    <a:cs typeface="Times New Roman"/>
                  </a:rPr>
                  <a:t>4,out</a:t>
                </a:r>
                <a:r>
                  <a:rPr lang="es-ES" sz="1632" i="1" spc="-5" dirty="0">
                    <a:latin typeface="Times New Roman"/>
                    <a:cs typeface="Times New Roman"/>
                  </a:rPr>
                  <a:t>(</a:t>
                </a:r>
                <a:r>
                  <a:rPr lang="es-ES" sz="1632" i="1" spc="-5" dirty="0" err="1">
                    <a:latin typeface="Times New Roman"/>
                    <a:cs typeface="Times New Roman"/>
                  </a:rPr>
                  <a:t>tanh</a:t>
                </a:r>
                <a:r>
                  <a:rPr lang="es-ES" sz="1632" i="1" spc="-5" dirty="0">
                    <a:latin typeface="Times New Roman"/>
                    <a:cs typeface="Times New Roman"/>
                  </a:rPr>
                  <a:t>(</a:t>
                </a:r>
                <a:r>
                  <a:rPr lang="es-ES" sz="1995" i="1" spc="-5" dirty="0">
                    <a:latin typeface="Times New Roman"/>
                    <a:cs typeface="Times New Roman"/>
                  </a:rPr>
                  <a:t>w</a:t>
                </a:r>
                <a:r>
                  <a:rPr lang="es-ES" sz="1088" i="1" spc="-5" dirty="0">
                    <a:latin typeface="Times New Roman"/>
                    <a:cs typeface="Times New Roman"/>
                  </a:rPr>
                  <a:t>14</a:t>
                </a:r>
                <a:r>
                  <a:rPr lang="es-ES" sz="1632" i="1" spc="-5" dirty="0">
                    <a:latin typeface="Times New Roman"/>
                    <a:cs typeface="Times New Roman"/>
                  </a:rPr>
                  <a:t>X1</a:t>
                </a:r>
                <a:r>
                  <a:rPr lang="es-ES" sz="1995" i="1" spc="-5" dirty="0">
                    <a:latin typeface="Times New Roman"/>
                    <a:cs typeface="Times New Roman"/>
                  </a:rPr>
                  <a:t>+w</a:t>
                </a:r>
                <a:r>
                  <a:rPr lang="es-ES" sz="1088" i="1" spc="-5" dirty="0">
                    <a:latin typeface="Times New Roman"/>
                    <a:cs typeface="Times New Roman"/>
                  </a:rPr>
                  <a:t>24</a:t>
                </a:r>
                <a:r>
                  <a:rPr lang="es-ES" sz="1632" i="1" spc="-5" dirty="0">
                    <a:latin typeface="Times New Roman"/>
                    <a:cs typeface="Times New Roman"/>
                  </a:rPr>
                  <a:t>X2+</a:t>
                </a:r>
                <a:r>
                  <a:rPr lang="es-ES" sz="1995" i="1" spc="-5" dirty="0">
                    <a:latin typeface="Times New Roman"/>
                    <a:cs typeface="Times New Roman"/>
                  </a:rPr>
                  <a:t>w</a:t>
                </a:r>
                <a:r>
                  <a:rPr lang="es-ES" sz="1088" i="1" spc="-5" dirty="0">
                    <a:latin typeface="Times New Roman"/>
                    <a:cs typeface="Times New Roman"/>
                  </a:rPr>
                  <a:t>34</a:t>
                </a:r>
                <a:r>
                  <a:rPr lang="es-ES" sz="1632" i="1" spc="-5" dirty="0">
                    <a:latin typeface="Times New Roman"/>
                    <a:cs typeface="Times New Roman"/>
                  </a:rPr>
                  <a:t>X3+</a:t>
                </a:r>
                <a:r>
                  <a:rPr lang="es-ES" sz="1995" i="1" spc="-5" dirty="0">
                    <a:latin typeface="Times New Roman"/>
                    <a:cs typeface="Times New Roman"/>
                  </a:rPr>
                  <a:t>w</a:t>
                </a:r>
                <a:r>
                  <a:rPr lang="es-ES" sz="1088" i="1" spc="-5" dirty="0">
                    <a:latin typeface="Times New Roman"/>
                    <a:cs typeface="Times New Roman"/>
                  </a:rPr>
                  <a:t>44</a:t>
                </a:r>
                <a:r>
                  <a:rPr lang="es-ES" sz="1632" i="1" spc="-5" dirty="0">
                    <a:latin typeface="Times New Roman"/>
                    <a:cs typeface="Times New Roman"/>
                  </a:rPr>
                  <a:t>X4+</a:t>
                </a:r>
                <a:r>
                  <a:rPr lang="es-ES" sz="1995" i="1" spc="-5" dirty="0">
                    <a:solidFill>
                      <a:srgbClr val="1F487C"/>
                    </a:solidFill>
                    <a:latin typeface="Times New Roman"/>
                    <a:cs typeface="Times New Roman"/>
                  </a:rPr>
                  <a:t>b</a:t>
                </a:r>
                <a:r>
                  <a:rPr lang="es-ES" sz="1088" i="1" spc="-5" dirty="0">
                    <a:solidFill>
                      <a:srgbClr val="1F487C"/>
                    </a:solidFill>
                    <a:latin typeface="Times New Roman"/>
                    <a:cs typeface="Times New Roman"/>
                  </a:rPr>
                  <a:t>4</a:t>
                </a:r>
                <a:r>
                  <a:rPr lang="es-ES" sz="1632" i="1" spc="-5" dirty="0">
                    <a:latin typeface="Times New Roman"/>
                    <a:cs typeface="Times New Roman"/>
                  </a:rPr>
                  <a:t>))</a:t>
                </a:r>
                <a:r>
                  <a:rPr lang="es-ES" sz="1632" i="1" dirty="0">
                    <a:latin typeface="Times New Roman"/>
                    <a:cs typeface="Times New Roman"/>
                  </a:rPr>
                  <a:t>+</a:t>
                </a:r>
                <a:r>
                  <a:rPr lang="es-ES" sz="1995" i="1" dirty="0">
                    <a:solidFill>
                      <a:srgbClr val="1F487C"/>
                    </a:solidFill>
                    <a:latin typeface="Times New Roman"/>
                    <a:cs typeface="Times New Roman"/>
                  </a:rPr>
                  <a:t>b</a:t>
                </a:r>
                <a:r>
                  <a:rPr lang="es-ES" sz="1088" i="1" dirty="0">
                    <a:solidFill>
                      <a:srgbClr val="1F487C"/>
                    </a:solidFill>
                    <a:latin typeface="Times New Roman"/>
                    <a:cs typeface="Times New Roman"/>
                  </a:rPr>
                  <a:t>out</a:t>
                </a:r>
                <a:r>
                  <a:rPr lang="es-ES" sz="1632" i="1" dirty="0">
                    <a:latin typeface="Times New Roman"/>
                    <a:cs typeface="Times New Roman"/>
                  </a:rPr>
                  <a:t>)</a:t>
                </a:r>
              </a:p>
              <a:p>
                <a:pPr>
                  <a:spcBef>
                    <a:spcPts val="5"/>
                  </a:spcBef>
                </a:pPr>
                <a:endParaRPr lang="es-ES" sz="1859" dirty="0">
                  <a:latin typeface="Times New Roman"/>
                  <a:cs typeface="Times New Roman"/>
                </a:endParaRPr>
              </a:p>
              <a:p>
                <a:pPr marL="11516" marR="643765" algn="just">
                  <a:lnSpc>
                    <a:spcPts val="2086"/>
                  </a:lnSpc>
                  <a:tabLst>
                    <a:tab pos="3920169" algn="l"/>
                  </a:tabLst>
                </a:pPr>
                <a:r>
                  <a:rPr lang="es-ES" sz="1814" spc="-5" dirty="0">
                    <a:latin typeface="Times New Roman"/>
                    <a:cs typeface="Times New Roman"/>
                  </a:rPr>
                  <a:t>U</a:t>
                </a:r>
                <a:r>
                  <a:rPr lang="es-ES" sz="1814" spc="5" dirty="0">
                    <a:latin typeface="Times New Roman"/>
                    <a:cs typeface="Times New Roman"/>
                  </a:rPr>
                  <a:t>n</a:t>
                </a:r>
                <a:r>
                  <a:rPr lang="es-ES" sz="1814" dirty="0">
                    <a:latin typeface="Times New Roman"/>
                    <a:cs typeface="Times New Roman"/>
                  </a:rPr>
                  <a:t>a</a:t>
                </a:r>
                <a:r>
                  <a:rPr lang="es-ES" sz="1814" spc="-14" dirty="0">
                    <a:latin typeface="Times New Roman"/>
                    <a:cs typeface="Times New Roman"/>
                  </a:rPr>
                  <a:t> </a:t>
                </a:r>
                <a:r>
                  <a:rPr lang="es-ES" sz="1814" spc="5" dirty="0">
                    <a:latin typeface="Times New Roman"/>
                    <a:cs typeface="Times New Roman"/>
                  </a:rPr>
                  <a:t>v</a:t>
                </a:r>
                <a:r>
                  <a:rPr lang="es-ES" sz="1814" dirty="0">
                    <a:latin typeface="Times New Roman"/>
                    <a:cs typeface="Times New Roman"/>
                  </a:rPr>
                  <a:t>ez</a:t>
                </a:r>
                <a:r>
                  <a:rPr lang="es-ES" sz="1814" spc="-14" dirty="0">
                    <a:latin typeface="Times New Roman"/>
                    <a:cs typeface="Times New Roman"/>
                  </a:rPr>
                  <a:t> </a:t>
                </a:r>
                <a:r>
                  <a:rPr lang="es-ES" sz="1814" dirty="0">
                    <a:latin typeface="Times New Roman"/>
                    <a:cs typeface="Times New Roman"/>
                  </a:rPr>
                  <a:t>est</a:t>
                </a:r>
                <a:r>
                  <a:rPr lang="es-ES" sz="1814" spc="-9" dirty="0">
                    <a:latin typeface="Times New Roman"/>
                    <a:cs typeface="Times New Roman"/>
                  </a:rPr>
                  <a:t>i</a:t>
                </a:r>
                <a:r>
                  <a:rPr lang="es-ES" sz="1814" spc="-14" dirty="0">
                    <a:latin typeface="Times New Roman"/>
                    <a:cs typeface="Times New Roman"/>
                  </a:rPr>
                  <a:t>m</a:t>
                </a:r>
                <a:r>
                  <a:rPr lang="es-ES" sz="1814" dirty="0">
                    <a:latin typeface="Times New Roman"/>
                    <a:cs typeface="Times New Roman"/>
                  </a:rPr>
                  <a:t>ad</a:t>
                </a:r>
                <a:r>
                  <a:rPr lang="es-ES" sz="1814" spc="5" dirty="0">
                    <a:latin typeface="Times New Roman"/>
                    <a:cs typeface="Times New Roman"/>
                  </a:rPr>
                  <a:t>o</a:t>
                </a:r>
                <a:r>
                  <a:rPr lang="es-ES" sz="1814" dirty="0">
                    <a:latin typeface="Times New Roman"/>
                    <a:cs typeface="Times New Roman"/>
                  </a:rPr>
                  <a:t>s</a:t>
                </a:r>
                <a:r>
                  <a:rPr lang="es-ES" sz="1814" spc="-14" dirty="0">
                    <a:latin typeface="Times New Roman"/>
                    <a:cs typeface="Times New Roman"/>
                  </a:rPr>
                  <a:t> </a:t>
                </a:r>
                <a:r>
                  <a:rPr lang="es-ES" sz="1814" dirty="0">
                    <a:latin typeface="Times New Roman"/>
                    <a:cs typeface="Times New Roman"/>
                  </a:rPr>
                  <a:t>los</a:t>
                </a:r>
                <a:r>
                  <a:rPr lang="es-ES" sz="1814" spc="-9" dirty="0">
                    <a:latin typeface="Times New Roman"/>
                    <a:cs typeface="Times New Roman"/>
                  </a:rPr>
                  <a:t> </a:t>
                </a:r>
                <a:r>
                  <a:rPr lang="es-ES" sz="1814" spc="5" dirty="0">
                    <a:latin typeface="Times New Roman"/>
                    <a:cs typeface="Times New Roman"/>
                  </a:rPr>
                  <a:t>p</a:t>
                </a:r>
                <a:r>
                  <a:rPr lang="es-ES" sz="1814" dirty="0">
                    <a:latin typeface="Times New Roman"/>
                    <a:cs typeface="Times New Roman"/>
                  </a:rPr>
                  <a:t>e</a:t>
                </a:r>
                <a:r>
                  <a:rPr lang="es-ES" sz="1814" spc="-14" dirty="0">
                    <a:latin typeface="Times New Roman"/>
                    <a:cs typeface="Times New Roman"/>
                  </a:rPr>
                  <a:t>s</a:t>
                </a:r>
                <a:r>
                  <a:rPr lang="es-ES" sz="1814" dirty="0">
                    <a:latin typeface="Times New Roman"/>
                    <a:cs typeface="Times New Roman"/>
                  </a:rPr>
                  <a:t>os,</a:t>
                </a:r>
                <a:r>
                  <a:rPr lang="es-ES" sz="1814" spc="-14" dirty="0">
                    <a:latin typeface="Times New Roman"/>
                    <a:cs typeface="Times New Roman"/>
                  </a:rPr>
                  <a:t> </a:t>
                </a:r>
                <a:r>
                  <a:rPr lang="es-ES" sz="1814" spc="-5" dirty="0">
                    <a:latin typeface="Times New Roman"/>
                    <a:cs typeface="Times New Roman"/>
                  </a:rPr>
                  <a:t>s</a:t>
                </a:r>
                <a:r>
                  <a:rPr lang="es-ES" sz="1814" dirty="0">
                    <a:latin typeface="Times New Roman"/>
                    <a:cs typeface="Times New Roman"/>
                  </a:rPr>
                  <a:t>e obti</a:t>
                </a:r>
                <a:r>
                  <a:rPr lang="es-ES" sz="1814" spc="-9" dirty="0">
                    <a:latin typeface="Times New Roman"/>
                    <a:cs typeface="Times New Roman"/>
                  </a:rPr>
                  <a:t>e</a:t>
                </a:r>
                <a:r>
                  <a:rPr lang="es-ES" sz="1814" dirty="0">
                    <a:latin typeface="Times New Roman"/>
                    <a:cs typeface="Times New Roman"/>
                  </a:rPr>
                  <a:t>n</a:t>
                </a:r>
                <a:r>
                  <a:rPr lang="es-ES" sz="1814" spc="-9" dirty="0">
                    <a:latin typeface="Times New Roman"/>
                    <a:cs typeface="Times New Roman"/>
                  </a:rPr>
                  <a:t>e</a:t>
                </a:r>
                <a:r>
                  <a:rPr lang="es-ES" sz="1814" dirty="0">
                    <a:latin typeface="Times New Roman"/>
                    <a:cs typeface="Times New Roman"/>
                  </a:rPr>
                  <a:t>n	l</a:t>
                </a:r>
                <a:r>
                  <a:rPr lang="es-ES" sz="1814" spc="-9" dirty="0">
                    <a:latin typeface="Times New Roman"/>
                    <a:cs typeface="Times New Roman"/>
                  </a:rPr>
                  <a:t>a</a:t>
                </a:r>
                <a:r>
                  <a:rPr lang="es-ES" sz="1814" dirty="0">
                    <a:latin typeface="Times New Roman"/>
                    <a:cs typeface="Times New Roman"/>
                  </a:rPr>
                  <a:t>s predi</a:t>
                </a:r>
                <a:r>
                  <a:rPr lang="es-ES" sz="1814" spc="-9" dirty="0">
                    <a:latin typeface="Times New Roman"/>
                    <a:cs typeface="Times New Roman"/>
                  </a:rPr>
                  <a:t>c</a:t>
                </a:r>
                <a:r>
                  <a:rPr lang="es-ES" sz="1814" dirty="0">
                    <a:latin typeface="Times New Roman"/>
                    <a:cs typeface="Times New Roman"/>
                  </a:rPr>
                  <a:t>c</a:t>
                </a:r>
                <a:r>
                  <a:rPr lang="es-ES" sz="1814" spc="-9" dirty="0">
                    <a:latin typeface="Times New Roman"/>
                    <a:cs typeface="Times New Roman"/>
                  </a:rPr>
                  <a:t>i</a:t>
                </a:r>
                <a:r>
                  <a:rPr lang="es-ES" sz="1814" dirty="0">
                    <a:latin typeface="Times New Roman"/>
                    <a:cs typeface="Times New Roman"/>
                  </a:rPr>
                  <a:t>ones</a:t>
                </a:r>
                <a:r>
                  <a:rPr lang="es-ES" sz="1814" spc="-23" dirty="0">
                    <a:latin typeface="Times New Roman"/>
                    <a:cs typeface="Times New Roman"/>
                  </a:rPr>
                  <a:t> </a:t>
                </a:r>
                <a:r>
                  <a:rPr lang="es-ES" sz="1814" dirty="0">
                    <a:latin typeface="Times New Roman"/>
                    <a:cs typeface="Times New Roman"/>
                  </a:rPr>
                  <a:t>(se de</a:t>
                </a:r>
                <a:r>
                  <a:rPr lang="es-ES" sz="1814" spc="-9" dirty="0">
                    <a:latin typeface="Times New Roman"/>
                    <a:cs typeface="Times New Roman"/>
                  </a:rPr>
                  <a:t>n</a:t>
                </a:r>
                <a:r>
                  <a:rPr lang="es-ES" sz="1814" dirty="0">
                    <a:latin typeface="Times New Roman"/>
                    <a:cs typeface="Times New Roman"/>
                  </a:rPr>
                  <a:t>otará</a:t>
                </a:r>
                <a:r>
                  <a:rPr lang="es-ES" sz="1814" spc="-9" dirty="0">
                    <a:latin typeface="Times New Roman"/>
                    <a:cs typeface="Times New Roman"/>
                  </a:rPr>
                  <a:t> </a:t>
                </a:r>
                <a:r>
                  <a:rPr lang="es-ES" sz="1814" dirty="0">
                    <a:latin typeface="Times New Roman"/>
                    <a:cs typeface="Times New Roman"/>
                  </a:rPr>
                  <a:t>p</a:t>
                </a:r>
                <a:r>
                  <a:rPr lang="es-ES" sz="1814" spc="-9" dirty="0">
                    <a:latin typeface="Times New Roman"/>
                    <a:cs typeface="Times New Roman"/>
                  </a:rPr>
                  <a:t>o</a:t>
                </a:r>
                <a:r>
                  <a:rPr lang="es-ES" sz="1814" dirty="0">
                    <a:latin typeface="Times New Roman"/>
                    <a:cs typeface="Times New Roman"/>
                  </a:rPr>
                  <a:t>r </a:t>
                </a:r>
                <a14:m>
                  <m:oMath xmlns:m="http://schemas.openxmlformats.org/officeDocument/2006/math">
                    <m:acc>
                      <m:accPr>
                        <m:chr m:val="̂"/>
                        <m:ctrlPr>
                          <a:rPr lang="es-ES" sz="1814" i="1">
                            <a:latin typeface="Cambria Math" panose="02040503050406030204" pitchFamily="18" charset="0"/>
                            <a:cs typeface="Times New Roman"/>
                          </a:rPr>
                        </m:ctrlPr>
                      </m:accPr>
                      <m:e>
                        <m:r>
                          <a:rPr lang="es-ES" sz="1814" i="1">
                            <a:latin typeface="Cambria Math" panose="02040503050406030204" pitchFamily="18" charset="0"/>
                            <a:cs typeface="Times New Roman"/>
                          </a:rPr>
                          <m:t>𝑌</m:t>
                        </m:r>
                      </m:e>
                    </m:acc>
                  </m:oMath>
                </a14:m>
                <a:r>
                  <a:rPr lang="es-ES" sz="1632" spc="154" dirty="0">
                    <a:latin typeface="Cambria Math"/>
                    <a:cs typeface="Cambria Math"/>
                  </a:rPr>
                  <a:t> </a:t>
                </a:r>
                <a:r>
                  <a:rPr lang="es-ES" sz="1814" dirty="0">
                    <a:latin typeface="Times New Roman"/>
                    <a:cs typeface="Times New Roman"/>
                  </a:rPr>
                  <a:t>la</a:t>
                </a:r>
                <a:r>
                  <a:rPr lang="es-ES" sz="1814" spc="-5" dirty="0">
                    <a:latin typeface="Times New Roman"/>
                    <a:cs typeface="Times New Roman"/>
                  </a:rPr>
                  <a:t> </a:t>
                </a:r>
                <a:r>
                  <a:rPr lang="es-ES" sz="1814" spc="5" dirty="0">
                    <a:latin typeface="Times New Roman"/>
                    <a:cs typeface="Times New Roman"/>
                  </a:rPr>
                  <a:t>p</a:t>
                </a:r>
                <a:r>
                  <a:rPr lang="es-ES" sz="1814" dirty="0">
                    <a:latin typeface="Times New Roman"/>
                    <a:cs typeface="Times New Roman"/>
                  </a:rPr>
                  <a:t>r</a:t>
                </a:r>
                <a:r>
                  <a:rPr lang="es-ES" sz="1814" spc="-9" dirty="0">
                    <a:latin typeface="Times New Roman"/>
                    <a:cs typeface="Times New Roman"/>
                  </a:rPr>
                  <a:t>e</a:t>
                </a:r>
                <a:r>
                  <a:rPr lang="es-ES" sz="1814" dirty="0">
                    <a:latin typeface="Times New Roman"/>
                    <a:cs typeface="Times New Roman"/>
                  </a:rPr>
                  <a:t>dicc</a:t>
                </a:r>
                <a:r>
                  <a:rPr lang="es-ES" sz="1814" spc="-9" dirty="0">
                    <a:latin typeface="Times New Roman"/>
                    <a:cs typeface="Times New Roman"/>
                  </a:rPr>
                  <a:t>i</a:t>
                </a:r>
                <a:r>
                  <a:rPr lang="es-ES" sz="1814" dirty="0">
                    <a:latin typeface="Times New Roman"/>
                    <a:cs typeface="Times New Roman"/>
                  </a:rPr>
                  <a:t>ón  obtenida </a:t>
                </a:r>
                <a:r>
                  <a:rPr lang="es-ES" sz="1814" spc="-5" dirty="0">
                    <a:latin typeface="Times New Roman"/>
                    <a:cs typeface="Times New Roman"/>
                  </a:rPr>
                  <a:t>con</a:t>
                </a:r>
                <a:r>
                  <a:rPr lang="es-ES" sz="1814" dirty="0">
                    <a:latin typeface="Times New Roman"/>
                    <a:cs typeface="Times New Roman"/>
                  </a:rPr>
                  <a:t> el</a:t>
                </a:r>
                <a:r>
                  <a:rPr lang="es-ES" sz="1814" spc="-14" dirty="0">
                    <a:latin typeface="Times New Roman"/>
                    <a:cs typeface="Times New Roman"/>
                  </a:rPr>
                  <a:t> </a:t>
                </a:r>
                <a:r>
                  <a:rPr lang="es-ES" sz="1814" spc="-5" dirty="0">
                    <a:latin typeface="Times New Roman"/>
                    <a:cs typeface="Times New Roman"/>
                  </a:rPr>
                  <a:t>modelo,</a:t>
                </a:r>
                <a:r>
                  <a:rPr lang="es-ES" sz="1814" spc="5" dirty="0">
                    <a:latin typeface="Times New Roman"/>
                    <a:cs typeface="Times New Roman"/>
                  </a:rPr>
                  <a:t> </a:t>
                </a:r>
                <a:r>
                  <a:rPr lang="es-ES" sz="1814" spc="-5" dirty="0">
                    <a:latin typeface="Times New Roman"/>
                    <a:cs typeface="Times New Roman"/>
                  </a:rPr>
                  <a:t>mientras</a:t>
                </a:r>
                <a:r>
                  <a:rPr lang="es-ES" sz="1814" dirty="0">
                    <a:latin typeface="Times New Roman"/>
                    <a:cs typeface="Times New Roman"/>
                  </a:rPr>
                  <a:t> que</a:t>
                </a:r>
                <a:r>
                  <a:rPr lang="es-ES" sz="1814" spc="5" dirty="0">
                    <a:latin typeface="Times New Roman"/>
                    <a:cs typeface="Times New Roman"/>
                  </a:rPr>
                  <a:t> </a:t>
                </a:r>
                <a:r>
                  <a:rPr lang="es-ES" sz="1814" i="1" spc="5" dirty="0">
                    <a:latin typeface="Times New Roman"/>
                    <a:cs typeface="Times New Roman"/>
                  </a:rPr>
                  <a:t>Y “</a:t>
                </a:r>
                <a:r>
                  <a:rPr lang="es-ES" sz="1814" spc="-5" dirty="0">
                    <a:latin typeface="Times New Roman"/>
                    <a:cs typeface="Times New Roman"/>
                  </a:rPr>
                  <a:t>sin</a:t>
                </a:r>
                <a:r>
                  <a:rPr lang="es-ES" sz="1814" spc="-9" dirty="0">
                    <a:latin typeface="Times New Roman"/>
                    <a:cs typeface="Times New Roman"/>
                  </a:rPr>
                  <a:t> </a:t>
                </a:r>
                <a:r>
                  <a:rPr lang="es-ES" sz="1814" dirty="0">
                    <a:latin typeface="Times New Roman"/>
                    <a:cs typeface="Times New Roman"/>
                  </a:rPr>
                  <a:t>gorro” </a:t>
                </a:r>
                <a:r>
                  <a:rPr lang="es-ES" sz="1814" spc="-5" dirty="0">
                    <a:latin typeface="Times New Roman"/>
                    <a:cs typeface="Times New Roman"/>
                  </a:rPr>
                  <a:t>son</a:t>
                </a:r>
                <a:r>
                  <a:rPr lang="es-ES" sz="1814" dirty="0">
                    <a:latin typeface="Times New Roman"/>
                    <a:cs typeface="Times New Roman"/>
                  </a:rPr>
                  <a:t> </a:t>
                </a:r>
                <a:r>
                  <a:rPr lang="es-ES" sz="1814" spc="-5" dirty="0">
                    <a:latin typeface="Times New Roman"/>
                    <a:cs typeface="Times New Roman"/>
                  </a:rPr>
                  <a:t>los</a:t>
                </a:r>
                <a:r>
                  <a:rPr lang="es-ES" sz="1814" spc="-9" dirty="0">
                    <a:latin typeface="Times New Roman"/>
                    <a:cs typeface="Times New Roman"/>
                  </a:rPr>
                  <a:t> </a:t>
                </a:r>
                <a:r>
                  <a:rPr lang="es-ES" sz="1814" dirty="0">
                    <a:latin typeface="Times New Roman"/>
                    <a:cs typeface="Times New Roman"/>
                  </a:rPr>
                  <a:t>valores reales).</a:t>
                </a:r>
              </a:p>
              <a:p>
                <a:pPr algn="just">
                  <a:spcBef>
                    <a:spcPts val="5"/>
                  </a:spcBef>
                </a:pPr>
                <a:endParaRPr lang="es-ES" sz="1678" dirty="0">
                  <a:latin typeface="Times New Roman"/>
                  <a:cs typeface="Times New Roman"/>
                </a:endParaRPr>
              </a:p>
              <a:p>
                <a:pPr marL="11516" algn="just">
                  <a:spcBef>
                    <a:spcPts val="5"/>
                  </a:spcBef>
                </a:pPr>
                <a14:m>
                  <m:oMathPara xmlns:m="http://schemas.openxmlformats.org/officeDocument/2006/math">
                    <m:oMathParaPr>
                      <m:jc m:val="centerGroup"/>
                    </m:oMathParaPr>
                    <m:oMath xmlns:m="http://schemas.openxmlformats.org/officeDocument/2006/math">
                      <m:acc>
                        <m:accPr>
                          <m:chr m:val="̂"/>
                          <m:ctrlPr>
                            <a:rPr lang="ar-AE" sz="1632" i="1" spc="-18">
                              <a:latin typeface="Cambria Math" panose="02040503050406030204" pitchFamily="18" charset="0"/>
                              <a:cs typeface="Times New Roman"/>
                            </a:rPr>
                          </m:ctrlPr>
                        </m:accPr>
                        <m:e>
                          <m:r>
                            <a:rPr lang="es-ES" sz="1632" i="1" spc="-18">
                              <a:latin typeface="Cambria Math" panose="02040503050406030204" pitchFamily="18" charset="0"/>
                              <a:cs typeface="Times New Roman"/>
                            </a:rPr>
                            <m:t>𝑌</m:t>
                          </m:r>
                        </m:e>
                      </m:acc>
                      <m:r>
                        <a:rPr lang="es-ES" sz="1632" i="1" spc="-18">
                          <a:latin typeface="Cambria Math" panose="02040503050406030204" pitchFamily="18" charset="0"/>
                          <a:cs typeface="Times New Roman"/>
                        </a:rPr>
                        <m:t>=</m:t>
                      </m:r>
                      <m:r>
                        <m:rPr>
                          <m:sty m:val="p"/>
                        </m:rPr>
                        <a:rPr lang="es-ES" sz="1632" spc="-18">
                          <a:latin typeface="Cambria Math" panose="02040503050406030204" pitchFamily="18" charset="0"/>
                          <a:cs typeface="Times New Roman"/>
                        </a:rPr>
                        <m:t>tanh</m:t>
                      </m:r>
                      <m:r>
                        <a:rPr lang="es-ES" sz="1632" i="1" spc="-18">
                          <a:latin typeface="Cambria Math" panose="02040503050406030204" pitchFamily="18" charset="0"/>
                          <a:cs typeface="Times New Roman"/>
                        </a:rPr>
                        <m:t>⁡(</m:t>
                      </m:r>
                      <m:r>
                        <a:rPr lang="es-ES" sz="1632" i="1" spc="-18">
                          <a:latin typeface="Cambria Math" panose="02040503050406030204" pitchFamily="18" charset="0"/>
                          <a:cs typeface="Times New Roman"/>
                        </a:rPr>
                        <m:t>0</m:t>
                      </m:r>
                      <m:r>
                        <a:rPr lang="es-ES" sz="1632" i="1" spc="-18">
                          <a:latin typeface="Cambria Math" panose="02040503050406030204" pitchFamily="18" charset="0"/>
                          <a:cs typeface="Times New Roman"/>
                        </a:rPr>
                        <m:t>.</m:t>
                      </m:r>
                      <m:r>
                        <a:rPr lang="es-ES" sz="1632" i="1" spc="-18">
                          <a:latin typeface="Cambria Math" panose="02040503050406030204" pitchFamily="18" charset="0"/>
                          <a:cs typeface="Times New Roman"/>
                        </a:rPr>
                        <m:t>21</m:t>
                      </m:r>
                      <m:d>
                        <m:dPr>
                          <m:ctrlPr>
                            <a:rPr lang="es-ES" sz="1632" i="1" spc="-18">
                              <a:latin typeface="Cambria Math" panose="02040503050406030204" pitchFamily="18" charset="0"/>
                              <a:cs typeface="Times New Roman"/>
                            </a:rPr>
                          </m:ctrlPr>
                        </m:dPr>
                        <m:e>
                          <m:func>
                            <m:funcPr>
                              <m:ctrlPr>
                                <a:rPr lang="es-ES" sz="1632" i="1" spc="-18">
                                  <a:latin typeface="Cambria Math" panose="02040503050406030204" pitchFamily="18" charset="0"/>
                                  <a:cs typeface="Times New Roman"/>
                                </a:rPr>
                              </m:ctrlPr>
                            </m:funcPr>
                            <m:fName>
                              <m:r>
                                <m:rPr>
                                  <m:sty m:val="p"/>
                                </m:rPr>
                                <a:rPr lang="es-ES" sz="1632" spc="-18">
                                  <a:latin typeface="Cambria Math" panose="02040503050406030204" pitchFamily="18" charset="0"/>
                                  <a:cs typeface="Times New Roman"/>
                                </a:rPr>
                                <m:t>tanh</m:t>
                              </m:r>
                            </m:fName>
                            <m:e>
                              <m:d>
                                <m:dPr>
                                  <m:ctrlPr>
                                    <a:rPr lang="es-ES" sz="1632" i="1" spc="-18">
                                      <a:latin typeface="Cambria Math" panose="02040503050406030204" pitchFamily="18" charset="0"/>
                                      <a:cs typeface="Times New Roman"/>
                                    </a:rPr>
                                  </m:ctrlPr>
                                </m:dPr>
                                <m:e>
                                  <m:r>
                                    <a:rPr lang="es-ES" sz="1632" i="1" spc="-18">
                                      <a:latin typeface="Cambria Math" panose="02040503050406030204" pitchFamily="18" charset="0"/>
                                      <a:cs typeface="Times New Roman"/>
                                    </a:rPr>
                                    <m:t>0</m:t>
                                  </m:r>
                                  <m:r>
                                    <a:rPr lang="es-ES" sz="1632" i="1" spc="-18">
                                      <a:latin typeface="Cambria Math" panose="02040503050406030204" pitchFamily="18" charset="0"/>
                                      <a:cs typeface="Times New Roman"/>
                                    </a:rPr>
                                    <m:t>.</m:t>
                                  </m:r>
                                  <m:r>
                                    <a:rPr lang="es-ES" sz="1632" i="1" spc="-18">
                                      <a:latin typeface="Cambria Math" panose="02040503050406030204" pitchFamily="18" charset="0"/>
                                      <a:cs typeface="Times New Roman"/>
                                    </a:rPr>
                                    <m:t>15</m:t>
                                  </m:r>
                                  <m:r>
                                    <a:rPr lang="es-ES" sz="1632" i="1" spc="-18">
                                      <a:latin typeface="Cambria Math" panose="02040503050406030204" pitchFamily="18" charset="0"/>
                                      <a:cs typeface="Times New Roman"/>
                                    </a:rPr>
                                    <m:t>𝑋</m:t>
                                  </m:r>
                                  <m:r>
                                    <a:rPr lang="es-ES" sz="1632" i="1" spc="-18">
                                      <a:latin typeface="Cambria Math" panose="02040503050406030204" pitchFamily="18" charset="0"/>
                                      <a:cs typeface="Times New Roman"/>
                                    </a:rPr>
                                    <m:t>1</m:t>
                                  </m:r>
                                  <m:r>
                                    <a:rPr lang="es-ES" sz="1632" i="1" spc="-18">
                                      <a:latin typeface="Cambria Math" panose="02040503050406030204" pitchFamily="18" charset="0"/>
                                      <a:cs typeface="Times New Roman"/>
                                    </a:rPr>
                                    <m:t>−</m:t>
                                  </m:r>
                                  <m:r>
                                    <a:rPr lang="es-ES" sz="1632" i="1" spc="-18">
                                      <a:latin typeface="Cambria Math" panose="02040503050406030204" pitchFamily="18" charset="0"/>
                                      <a:cs typeface="Times New Roman"/>
                                    </a:rPr>
                                    <m:t>0</m:t>
                                  </m:r>
                                  <m:r>
                                    <a:rPr lang="es-ES" sz="1632" i="1" spc="-18">
                                      <a:latin typeface="Cambria Math" panose="02040503050406030204" pitchFamily="18" charset="0"/>
                                      <a:cs typeface="Times New Roman"/>
                                    </a:rPr>
                                    <m:t>.</m:t>
                                  </m:r>
                                  <m:r>
                                    <a:rPr lang="es-ES" sz="1632" i="1" spc="-18">
                                      <a:latin typeface="Cambria Math" panose="02040503050406030204" pitchFamily="18" charset="0"/>
                                      <a:cs typeface="Times New Roman"/>
                                    </a:rPr>
                                    <m:t>53</m:t>
                                  </m:r>
                                  <m:r>
                                    <a:rPr lang="es-ES" sz="1632" i="1" spc="-18">
                                      <a:latin typeface="Cambria Math" panose="02040503050406030204" pitchFamily="18" charset="0"/>
                                      <a:cs typeface="Times New Roman"/>
                                    </a:rPr>
                                    <m:t>𝑋</m:t>
                                  </m:r>
                                  <m:r>
                                    <a:rPr lang="es-ES" sz="1632" i="1" spc="-18">
                                      <a:latin typeface="Cambria Math" panose="02040503050406030204" pitchFamily="18" charset="0"/>
                                      <a:cs typeface="Times New Roman"/>
                                    </a:rPr>
                                    <m:t>2</m:t>
                                  </m:r>
                                  <m:r>
                                    <a:rPr lang="es-ES" sz="1632" i="1" spc="-18">
                                      <a:latin typeface="Cambria Math" panose="02040503050406030204" pitchFamily="18" charset="0"/>
                                      <a:cs typeface="Times New Roman"/>
                                    </a:rPr>
                                    <m:t>+</m:t>
                                  </m:r>
                                  <m:r>
                                    <a:rPr lang="es-ES" sz="1632" i="1" spc="-18">
                                      <a:latin typeface="Cambria Math" panose="02040503050406030204" pitchFamily="18" charset="0"/>
                                      <a:cs typeface="Times New Roman"/>
                                    </a:rPr>
                                    <m:t>2</m:t>
                                  </m:r>
                                  <m:r>
                                    <a:rPr lang="es-ES" sz="1632" i="1" spc="-18">
                                      <a:latin typeface="Cambria Math" panose="02040503050406030204" pitchFamily="18" charset="0"/>
                                      <a:cs typeface="Times New Roman"/>
                                    </a:rPr>
                                    <m:t>.</m:t>
                                  </m:r>
                                  <m:r>
                                    <a:rPr lang="es-ES" sz="1632" i="1" spc="-18">
                                      <a:latin typeface="Cambria Math" panose="02040503050406030204" pitchFamily="18" charset="0"/>
                                      <a:cs typeface="Times New Roman"/>
                                    </a:rPr>
                                    <m:t>1</m:t>
                                  </m:r>
                                  <m:r>
                                    <a:rPr lang="es-ES" sz="1632" i="1" spc="-18">
                                      <a:latin typeface="Cambria Math" panose="02040503050406030204" pitchFamily="18" charset="0"/>
                                      <a:cs typeface="Times New Roman"/>
                                    </a:rPr>
                                    <m:t>𝑋</m:t>
                                  </m:r>
                                  <m:r>
                                    <a:rPr lang="es-ES" sz="1632" i="1" spc="-18">
                                      <a:latin typeface="Cambria Math" panose="02040503050406030204" pitchFamily="18" charset="0"/>
                                      <a:cs typeface="Times New Roman"/>
                                    </a:rPr>
                                    <m:t>3</m:t>
                                  </m:r>
                                  <m:r>
                                    <a:rPr lang="es-ES" sz="1632" i="1" spc="-18">
                                      <a:latin typeface="Cambria Math" panose="02040503050406030204" pitchFamily="18" charset="0"/>
                                      <a:cs typeface="Times New Roman"/>
                                    </a:rPr>
                                    <m:t>+</m:t>
                                  </m:r>
                                  <m:r>
                                    <a:rPr lang="es-ES" sz="1632" i="1" spc="-18">
                                      <a:latin typeface="Cambria Math" panose="02040503050406030204" pitchFamily="18" charset="0"/>
                                      <a:cs typeface="Times New Roman"/>
                                    </a:rPr>
                                    <m:t>3</m:t>
                                  </m:r>
                                  <m:r>
                                    <a:rPr lang="es-ES" sz="1632" i="1" spc="-18">
                                      <a:latin typeface="Cambria Math" panose="02040503050406030204" pitchFamily="18" charset="0"/>
                                      <a:cs typeface="Times New Roman"/>
                                    </a:rPr>
                                    <m:t>.</m:t>
                                  </m:r>
                                  <m:r>
                                    <a:rPr lang="es-ES" sz="1632" i="1" spc="-18">
                                      <a:latin typeface="Cambria Math" panose="02040503050406030204" pitchFamily="18" charset="0"/>
                                      <a:cs typeface="Times New Roman"/>
                                    </a:rPr>
                                    <m:t>5</m:t>
                                  </m:r>
                                  <m:r>
                                    <a:rPr lang="es-ES" sz="1632" i="1" spc="-18">
                                      <a:latin typeface="Cambria Math" panose="02040503050406030204" pitchFamily="18" charset="0"/>
                                      <a:cs typeface="Times New Roman"/>
                                    </a:rPr>
                                    <m:t>𝑋</m:t>
                                  </m:r>
                                  <m:r>
                                    <a:rPr lang="es-ES" sz="1632" i="1" spc="-18">
                                      <a:latin typeface="Cambria Math" panose="02040503050406030204" pitchFamily="18" charset="0"/>
                                      <a:cs typeface="Times New Roman"/>
                                    </a:rPr>
                                    <m:t>4</m:t>
                                  </m:r>
                                  <m:r>
                                    <a:rPr lang="es-ES" sz="1632" i="1" spc="-18">
                                      <a:latin typeface="Cambria Math" panose="02040503050406030204" pitchFamily="18" charset="0"/>
                                      <a:cs typeface="Times New Roman"/>
                                    </a:rPr>
                                    <m:t>+</m:t>
                                  </m:r>
                                  <m:r>
                                    <a:rPr lang="es-ES" sz="1632" i="1" spc="-18">
                                      <a:latin typeface="Cambria Math" panose="02040503050406030204" pitchFamily="18" charset="0"/>
                                      <a:cs typeface="Times New Roman"/>
                                    </a:rPr>
                                    <m:t>6</m:t>
                                  </m:r>
                                </m:e>
                              </m:d>
                            </m:e>
                          </m:func>
                        </m:e>
                      </m:d>
                      <m:r>
                        <a:rPr lang="es-ES" sz="1632" i="1" spc="-18">
                          <a:latin typeface="Cambria Math" panose="02040503050406030204" pitchFamily="18" charset="0"/>
                          <a:cs typeface="Times New Roman"/>
                        </a:rPr>
                        <m:t>+…+…+…)</m:t>
                      </m:r>
                    </m:oMath>
                  </m:oMathPara>
                </a14:m>
                <a:endParaRPr lang="es-ES" sz="1632" dirty="0">
                  <a:latin typeface="Times New Roman"/>
                  <a:cs typeface="Times New Roman"/>
                </a:endParaRPr>
              </a:p>
              <a:p>
                <a:pPr algn="just">
                  <a:spcBef>
                    <a:spcPts val="5"/>
                  </a:spcBef>
                </a:pPr>
                <a:endParaRPr lang="es-ES" sz="1723" dirty="0">
                  <a:latin typeface="Times New Roman"/>
                  <a:cs typeface="Times New Roman"/>
                </a:endParaRPr>
              </a:p>
              <a:p>
                <a:pPr marL="11516" algn="just"/>
                <a:r>
                  <a:rPr lang="es-ES" sz="1814" dirty="0">
                    <a:latin typeface="Times New Roman"/>
                    <a:cs typeface="Times New Roman"/>
                  </a:rPr>
                  <a:t>La</a:t>
                </a:r>
                <a:r>
                  <a:rPr lang="es-ES" sz="1814" spc="5" dirty="0">
                    <a:latin typeface="Times New Roman"/>
                    <a:cs typeface="Times New Roman"/>
                  </a:rPr>
                  <a:t> </a:t>
                </a:r>
                <a:r>
                  <a:rPr lang="es-ES" sz="1814" spc="-5" dirty="0">
                    <a:latin typeface="Times New Roman"/>
                    <a:cs typeface="Times New Roman"/>
                  </a:rPr>
                  <a:t>estimación</a:t>
                </a:r>
                <a:r>
                  <a:rPr lang="es-ES" sz="1814" spc="9" dirty="0">
                    <a:latin typeface="Times New Roman"/>
                    <a:cs typeface="Times New Roman"/>
                  </a:rPr>
                  <a:t> </a:t>
                </a:r>
                <a:r>
                  <a:rPr lang="es-ES" sz="1814" dirty="0">
                    <a:latin typeface="Times New Roman"/>
                    <a:cs typeface="Times New Roman"/>
                  </a:rPr>
                  <a:t>de</a:t>
                </a:r>
                <a:r>
                  <a:rPr lang="es-ES" sz="1814" spc="9" dirty="0">
                    <a:latin typeface="Times New Roman"/>
                    <a:cs typeface="Times New Roman"/>
                  </a:rPr>
                  <a:t> </a:t>
                </a:r>
                <a:r>
                  <a:rPr lang="es-ES" sz="1814" spc="-5" dirty="0">
                    <a:latin typeface="Times New Roman"/>
                    <a:cs typeface="Times New Roman"/>
                  </a:rPr>
                  <a:t>parámetros</a:t>
                </a:r>
                <a:r>
                  <a:rPr lang="es-ES" sz="1814" dirty="0">
                    <a:latin typeface="Times New Roman"/>
                    <a:cs typeface="Times New Roman"/>
                  </a:rPr>
                  <a:t> </a:t>
                </a:r>
                <a:r>
                  <a:rPr lang="es-ES" sz="1814" spc="-5" dirty="0">
                    <a:latin typeface="Times New Roman"/>
                    <a:cs typeface="Times New Roman"/>
                  </a:rPr>
                  <a:t>se</a:t>
                </a:r>
                <a:r>
                  <a:rPr lang="es-ES" sz="1814" spc="9" dirty="0">
                    <a:latin typeface="Times New Roman"/>
                    <a:cs typeface="Times New Roman"/>
                  </a:rPr>
                  <a:t> </a:t>
                </a:r>
                <a:r>
                  <a:rPr lang="es-ES" sz="1814" spc="-5" dirty="0">
                    <a:latin typeface="Times New Roman"/>
                    <a:cs typeface="Times New Roman"/>
                  </a:rPr>
                  <a:t>llama,</a:t>
                </a:r>
                <a:r>
                  <a:rPr lang="es-ES" sz="1814" spc="5" dirty="0">
                    <a:latin typeface="Times New Roman"/>
                    <a:cs typeface="Times New Roman"/>
                  </a:rPr>
                  <a:t> </a:t>
                </a:r>
                <a:r>
                  <a:rPr lang="es-ES" sz="1814" dirty="0">
                    <a:latin typeface="Times New Roman"/>
                    <a:cs typeface="Times New Roman"/>
                  </a:rPr>
                  <a:t>en</a:t>
                </a:r>
                <a:r>
                  <a:rPr lang="es-ES" sz="1814" spc="5" dirty="0">
                    <a:latin typeface="Times New Roman"/>
                    <a:cs typeface="Times New Roman"/>
                  </a:rPr>
                  <a:t> </a:t>
                </a:r>
                <a:r>
                  <a:rPr lang="es-ES" sz="1814" spc="-5" dirty="0">
                    <a:latin typeface="Times New Roman"/>
                    <a:cs typeface="Times New Roman"/>
                  </a:rPr>
                  <a:t>jerga</a:t>
                </a:r>
                <a:r>
                  <a:rPr lang="es-ES" sz="1814" spc="9" dirty="0">
                    <a:latin typeface="Times New Roman"/>
                    <a:cs typeface="Times New Roman"/>
                  </a:rPr>
                  <a:t> </a:t>
                </a:r>
                <a:r>
                  <a:rPr lang="es-ES" sz="1814" spc="-5" dirty="0">
                    <a:latin typeface="Times New Roman"/>
                    <a:cs typeface="Times New Roman"/>
                  </a:rPr>
                  <a:t>neuronal,</a:t>
                </a:r>
                <a:r>
                  <a:rPr lang="es-ES" sz="1814" spc="18" dirty="0">
                    <a:latin typeface="Times New Roman"/>
                    <a:cs typeface="Times New Roman"/>
                  </a:rPr>
                  <a:t> </a:t>
                </a:r>
                <a:r>
                  <a:rPr lang="es-ES" sz="1814" b="1" spc="-5" dirty="0">
                    <a:latin typeface="Times New Roman"/>
                    <a:cs typeface="Times New Roman"/>
                  </a:rPr>
                  <a:t>“entrenar</a:t>
                </a:r>
                <a:r>
                  <a:rPr lang="es-ES" sz="1814" b="1" spc="9" dirty="0">
                    <a:latin typeface="Times New Roman"/>
                    <a:cs typeface="Times New Roman"/>
                  </a:rPr>
                  <a:t>" </a:t>
                </a:r>
                <a:r>
                  <a:rPr lang="es-ES" sz="1814" b="1" spc="18" dirty="0">
                    <a:latin typeface="Times New Roman"/>
                    <a:cs typeface="Times New Roman"/>
                  </a:rPr>
                  <a:t> </a:t>
                </a:r>
                <a:r>
                  <a:rPr lang="es-ES" sz="1814" dirty="0">
                    <a:latin typeface="Times New Roman"/>
                    <a:cs typeface="Times New Roman"/>
                  </a:rPr>
                  <a:t>la</a:t>
                </a:r>
                <a:r>
                  <a:rPr lang="es-ES" sz="1814" spc="-9" dirty="0">
                    <a:latin typeface="Times New Roman"/>
                    <a:cs typeface="Times New Roman"/>
                  </a:rPr>
                  <a:t> </a:t>
                </a:r>
                <a:r>
                  <a:rPr lang="es-ES" sz="1814" spc="-5" dirty="0">
                    <a:latin typeface="Times New Roman"/>
                    <a:cs typeface="Times New Roman"/>
                  </a:rPr>
                  <a:t>red.</a:t>
                </a:r>
                <a:endParaRPr lang="es-ES" sz="1814" dirty="0">
                  <a:latin typeface="Times New Roman"/>
                  <a:cs typeface="Times New Roman"/>
                </a:endParaRPr>
              </a:p>
              <a:p>
                <a:pPr algn="just">
                  <a:spcBef>
                    <a:spcPts val="14"/>
                  </a:spcBef>
                </a:pPr>
                <a:endParaRPr lang="es-ES" sz="1814" dirty="0">
                  <a:latin typeface="Times New Roman"/>
                  <a:cs typeface="Times New Roman"/>
                </a:endParaRPr>
              </a:p>
              <a:p>
                <a:pPr marL="11516" marR="4607" algn="just">
                  <a:lnSpc>
                    <a:spcPct val="95700"/>
                  </a:lnSpc>
                </a:pPr>
                <a:r>
                  <a:rPr lang="es-ES" sz="1814" dirty="0">
                    <a:latin typeface="Times New Roman"/>
                    <a:cs typeface="Times New Roman"/>
                  </a:rPr>
                  <a:t>Los</a:t>
                </a:r>
                <a:r>
                  <a:rPr lang="es-ES" sz="1814" spc="9" dirty="0">
                    <a:latin typeface="Times New Roman"/>
                    <a:cs typeface="Times New Roman"/>
                  </a:rPr>
                  <a:t> </a:t>
                </a:r>
                <a:r>
                  <a:rPr lang="es-ES" sz="1814" spc="-5" dirty="0">
                    <a:latin typeface="Times New Roman"/>
                    <a:cs typeface="Times New Roman"/>
                  </a:rPr>
                  <a:t>métodos</a:t>
                </a:r>
                <a:r>
                  <a:rPr lang="es-ES" sz="1814" spc="9" dirty="0">
                    <a:latin typeface="Times New Roman"/>
                    <a:cs typeface="Times New Roman"/>
                  </a:rPr>
                  <a:t> </a:t>
                </a:r>
                <a:r>
                  <a:rPr lang="es-ES" sz="1814" spc="-5" dirty="0">
                    <a:latin typeface="Times New Roman"/>
                    <a:cs typeface="Times New Roman"/>
                  </a:rPr>
                  <a:t>utilizados</a:t>
                </a:r>
                <a:r>
                  <a:rPr lang="es-ES" sz="1814" spc="5" dirty="0">
                    <a:latin typeface="Times New Roman"/>
                    <a:cs typeface="Times New Roman"/>
                  </a:rPr>
                  <a:t> </a:t>
                </a:r>
                <a:r>
                  <a:rPr lang="es-ES" sz="1814" spc="-5" dirty="0">
                    <a:latin typeface="Times New Roman"/>
                    <a:cs typeface="Times New Roman"/>
                  </a:rPr>
                  <a:t>son</a:t>
                </a:r>
                <a:r>
                  <a:rPr lang="es-ES" sz="1814" spc="9" dirty="0">
                    <a:latin typeface="Times New Roman"/>
                    <a:cs typeface="Times New Roman"/>
                  </a:rPr>
                  <a:t> </a:t>
                </a:r>
                <a:r>
                  <a:rPr lang="es-ES" sz="1814" spc="-5" dirty="0">
                    <a:latin typeface="Times New Roman"/>
                    <a:cs typeface="Times New Roman"/>
                  </a:rPr>
                  <a:t>técnicas </a:t>
                </a:r>
                <a:r>
                  <a:rPr lang="es-ES" sz="1814" dirty="0">
                    <a:latin typeface="Times New Roman"/>
                    <a:cs typeface="Times New Roman"/>
                  </a:rPr>
                  <a:t>de</a:t>
                </a:r>
                <a:r>
                  <a:rPr lang="es-ES" sz="1814" spc="5" dirty="0">
                    <a:latin typeface="Times New Roman"/>
                    <a:cs typeface="Times New Roman"/>
                  </a:rPr>
                  <a:t> </a:t>
                </a:r>
                <a:r>
                  <a:rPr lang="es-ES" sz="1814" b="1" spc="-5" dirty="0">
                    <a:latin typeface="Times New Roman"/>
                    <a:cs typeface="Times New Roman"/>
                  </a:rPr>
                  <a:t>optimización</a:t>
                </a:r>
                <a:r>
                  <a:rPr lang="es-ES" sz="1814" b="1" spc="18" dirty="0">
                    <a:latin typeface="Times New Roman"/>
                    <a:cs typeface="Times New Roman"/>
                  </a:rPr>
                  <a:t> </a:t>
                </a:r>
                <a:r>
                  <a:rPr lang="es-ES" sz="1814" b="1" dirty="0">
                    <a:latin typeface="Times New Roman"/>
                    <a:cs typeface="Times New Roman"/>
                  </a:rPr>
                  <a:t>numérica,</a:t>
                </a:r>
                <a:r>
                  <a:rPr lang="es-ES" sz="1814" b="1" spc="-5" dirty="0">
                    <a:latin typeface="Times New Roman"/>
                    <a:cs typeface="Times New Roman"/>
                  </a:rPr>
                  <a:t> </a:t>
                </a:r>
                <a:r>
                  <a:rPr lang="es-ES" sz="1814" spc="5" dirty="0">
                    <a:latin typeface="Times New Roman"/>
                    <a:cs typeface="Times New Roman"/>
                  </a:rPr>
                  <a:t>que</a:t>
                </a:r>
                <a:r>
                  <a:rPr lang="es-ES" sz="1814" spc="-5" dirty="0">
                    <a:latin typeface="Times New Roman"/>
                    <a:cs typeface="Times New Roman"/>
                  </a:rPr>
                  <a:t> van</a:t>
                </a:r>
                <a:r>
                  <a:rPr lang="es-ES" sz="1814" spc="9" dirty="0">
                    <a:latin typeface="Times New Roman"/>
                    <a:cs typeface="Times New Roman"/>
                  </a:rPr>
                  <a:t> </a:t>
                </a:r>
                <a:r>
                  <a:rPr lang="es-ES" sz="1814" spc="-5" dirty="0">
                    <a:latin typeface="Times New Roman"/>
                    <a:cs typeface="Times New Roman"/>
                  </a:rPr>
                  <a:t>variando</a:t>
                </a:r>
                <a:r>
                  <a:rPr lang="es-ES" sz="1814" spc="5" dirty="0">
                    <a:latin typeface="Times New Roman"/>
                    <a:cs typeface="Times New Roman"/>
                  </a:rPr>
                  <a:t> </a:t>
                </a:r>
                <a:r>
                  <a:rPr lang="es-ES" sz="1814" dirty="0">
                    <a:latin typeface="Times New Roman"/>
                    <a:cs typeface="Times New Roman"/>
                  </a:rPr>
                  <a:t>los</a:t>
                </a:r>
                <a:r>
                  <a:rPr lang="es-ES" sz="1814" spc="9" dirty="0">
                    <a:latin typeface="Times New Roman"/>
                    <a:cs typeface="Times New Roman"/>
                  </a:rPr>
                  <a:t> </a:t>
                </a:r>
                <a:r>
                  <a:rPr lang="es-ES" sz="1814" spc="-5" dirty="0">
                    <a:latin typeface="Times New Roman"/>
                    <a:cs typeface="Times New Roman"/>
                  </a:rPr>
                  <a:t>valores</a:t>
                </a:r>
                <a:r>
                  <a:rPr lang="es-ES" sz="1814" spc="-9" dirty="0">
                    <a:latin typeface="Times New Roman"/>
                    <a:cs typeface="Times New Roman"/>
                  </a:rPr>
                  <a:t> </a:t>
                </a:r>
                <a:r>
                  <a:rPr lang="es-ES" sz="1814" dirty="0">
                    <a:latin typeface="Times New Roman"/>
                    <a:cs typeface="Times New Roman"/>
                  </a:rPr>
                  <a:t>de </a:t>
                </a:r>
                <a:r>
                  <a:rPr lang="es-ES" sz="1814" spc="5" dirty="0">
                    <a:latin typeface="Times New Roman"/>
                    <a:cs typeface="Times New Roman"/>
                  </a:rPr>
                  <a:t> </a:t>
                </a:r>
                <a:r>
                  <a:rPr lang="es-ES" sz="1814" dirty="0">
                    <a:latin typeface="Times New Roman"/>
                    <a:cs typeface="Times New Roman"/>
                  </a:rPr>
                  <a:t>los</a:t>
                </a:r>
                <a:r>
                  <a:rPr lang="es-ES" sz="1814" spc="9" dirty="0">
                    <a:latin typeface="Times New Roman"/>
                    <a:cs typeface="Times New Roman"/>
                  </a:rPr>
                  <a:t> </a:t>
                </a:r>
                <a:r>
                  <a:rPr lang="es-ES" sz="1814" spc="-5" dirty="0">
                    <a:latin typeface="Times New Roman"/>
                    <a:cs typeface="Times New Roman"/>
                  </a:rPr>
                  <a:t>parámetros</a:t>
                </a:r>
                <a:r>
                  <a:rPr lang="es-ES" sz="1814" spc="5" dirty="0">
                    <a:latin typeface="Times New Roman"/>
                    <a:cs typeface="Times New Roman"/>
                  </a:rPr>
                  <a:t> </a:t>
                </a:r>
                <a:r>
                  <a:rPr lang="es-ES" sz="1814" dirty="0">
                    <a:latin typeface="Times New Roman"/>
                    <a:cs typeface="Times New Roman"/>
                  </a:rPr>
                  <a:t>de</a:t>
                </a:r>
                <a:r>
                  <a:rPr lang="es-ES" sz="1814" spc="14" dirty="0">
                    <a:latin typeface="Times New Roman"/>
                    <a:cs typeface="Times New Roman"/>
                  </a:rPr>
                  <a:t> </a:t>
                </a:r>
                <a:r>
                  <a:rPr lang="es-ES" sz="1814" spc="-5" dirty="0">
                    <a:latin typeface="Times New Roman"/>
                    <a:cs typeface="Times New Roman"/>
                  </a:rPr>
                  <a:t>manera</a:t>
                </a:r>
                <a:r>
                  <a:rPr lang="es-ES" sz="1814" spc="14" dirty="0">
                    <a:latin typeface="Times New Roman"/>
                    <a:cs typeface="Times New Roman"/>
                  </a:rPr>
                  <a:t> </a:t>
                </a:r>
                <a:r>
                  <a:rPr lang="es-ES" sz="1814" spc="-5" dirty="0">
                    <a:latin typeface="Times New Roman"/>
                    <a:cs typeface="Times New Roman"/>
                  </a:rPr>
                  <a:t>iterativa,</a:t>
                </a:r>
                <a:r>
                  <a:rPr lang="es-ES" sz="1814" spc="9" dirty="0">
                    <a:latin typeface="Times New Roman"/>
                    <a:cs typeface="Times New Roman"/>
                  </a:rPr>
                  <a:t> </a:t>
                </a:r>
                <a:r>
                  <a:rPr lang="es-ES" sz="1814" spc="-5" dirty="0">
                    <a:latin typeface="Times New Roman"/>
                    <a:cs typeface="Times New Roman"/>
                  </a:rPr>
                  <a:t>hasta</a:t>
                </a:r>
                <a:r>
                  <a:rPr lang="es-ES" sz="1814" spc="5" dirty="0">
                    <a:latin typeface="Times New Roman"/>
                    <a:cs typeface="Times New Roman"/>
                  </a:rPr>
                  <a:t> </a:t>
                </a:r>
                <a:r>
                  <a:rPr lang="es-ES" sz="1814" spc="-5" dirty="0">
                    <a:latin typeface="Times New Roman"/>
                    <a:cs typeface="Times New Roman"/>
                  </a:rPr>
                  <a:t>cumplir</a:t>
                </a:r>
                <a:r>
                  <a:rPr lang="es-ES" sz="1814" spc="9" dirty="0">
                    <a:latin typeface="Times New Roman"/>
                    <a:cs typeface="Times New Roman"/>
                  </a:rPr>
                  <a:t> </a:t>
                </a:r>
                <a:r>
                  <a:rPr lang="es-ES" sz="1814" dirty="0">
                    <a:latin typeface="Times New Roman"/>
                    <a:cs typeface="Times New Roman"/>
                  </a:rPr>
                  <a:t>el</a:t>
                </a:r>
                <a:r>
                  <a:rPr lang="es-ES" sz="1814" spc="14" dirty="0">
                    <a:latin typeface="Times New Roman"/>
                    <a:cs typeface="Times New Roman"/>
                  </a:rPr>
                  <a:t> </a:t>
                </a:r>
                <a:r>
                  <a:rPr lang="es-ES" sz="1814" spc="-5" dirty="0">
                    <a:latin typeface="Times New Roman"/>
                    <a:cs typeface="Times New Roman"/>
                  </a:rPr>
                  <a:t>objetivo</a:t>
                </a:r>
                <a:r>
                  <a:rPr lang="es-ES" sz="1814" spc="14" dirty="0">
                    <a:latin typeface="Times New Roman"/>
                    <a:cs typeface="Times New Roman"/>
                  </a:rPr>
                  <a:t> </a:t>
                </a:r>
                <a:r>
                  <a:rPr lang="es-ES" sz="1814" dirty="0">
                    <a:latin typeface="Times New Roman"/>
                    <a:cs typeface="Times New Roman"/>
                  </a:rPr>
                  <a:t>de</a:t>
                </a:r>
                <a:r>
                  <a:rPr lang="es-ES" sz="1814" spc="-5" dirty="0">
                    <a:latin typeface="Times New Roman"/>
                    <a:cs typeface="Times New Roman"/>
                  </a:rPr>
                  <a:t> optimización</a:t>
                </a:r>
                <a:r>
                  <a:rPr lang="es-ES" sz="1814" spc="14" dirty="0">
                    <a:latin typeface="Times New Roman"/>
                    <a:cs typeface="Times New Roman"/>
                  </a:rPr>
                  <a:t> </a:t>
                </a:r>
                <a:r>
                  <a:rPr lang="es-ES" sz="1814" spc="-5" dirty="0">
                    <a:latin typeface="Times New Roman"/>
                    <a:cs typeface="Times New Roman"/>
                  </a:rPr>
                  <a:t>(función</a:t>
                </a:r>
                <a:r>
                  <a:rPr lang="es-ES" sz="1814" spc="9" dirty="0">
                    <a:latin typeface="Times New Roman"/>
                    <a:cs typeface="Times New Roman"/>
                  </a:rPr>
                  <a:t> </a:t>
                </a:r>
                <a:r>
                  <a:rPr lang="es-ES" sz="1814" spc="-5" dirty="0">
                    <a:latin typeface="Times New Roman"/>
                    <a:cs typeface="Times New Roman"/>
                  </a:rPr>
                  <a:t>de</a:t>
                </a:r>
                <a:r>
                  <a:rPr lang="es-ES" sz="1814" spc="14" dirty="0">
                    <a:latin typeface="Times New Roman"/>
                    <a:cs typeface="Times New Roman"/>
                  </a:rPr>
                  <a:t> </a:t>
                </a:r>
                <a:r>
                  <a:rPr lang="es-ES" sz="1814" spc="-5" dirty="0">
                    <a:latin typeface="Times New Roman"/>
                    <a:cs typeface="Times New Roman"/>
                  </a:rPr>
                  <a:t>error</a:t>
                </a:r>
                <a:r>
                  <a:rPr lang="es-ES" sz="1814" spc="14" dirty="0">
                    <a:latin typeface="Times New Roman"/>
                    <a:cs typeface="Times New Roman"/>
                  </a:rPr>
                  <a:t> </a:t>
                </a:r>
                <a:r>
                  <a:rPr lang="es-ES" sz="1814" spc="-9" dirty="0">
                    <a:latin typeface="Times New Roman"/>
                    <a:cs typeface="Times New Roman"/>
                  </a:rPr>
                  <a:t>en </a:t>
                </a:r>
                <a:r>
                  <a:rPr lang="es-ES" sz="1814" spc="-439" dirty="0">
                    <a:latin typeface="Times New Roman"/>
                    <a:cs typeface="Times New Roman"/>
                  </a:rPr>
                  <a:t> </a:t>
                </a:r>
                <a:r>
                  <a:rPr lang="es-ES" sz="1814" dirty="0">
                    <a:latin typeface="Times New Roman"/>
                    <a:cs typeface="Times New Roman"/>
                  </a:rPr>
                  <a:t>datos</a:t>
                </a:r>
                <a:r>
                  <a:rPr lang="es-ES" sz="1814" spc="5" dirty="0">
                    <a:latin typeface="Times New Roman"/>
                    <a:cs typeface="Times New Roman"/>
                  </a:rPr>
                  <a:t> </a:t>
                </a:r>
                <a:r>
                  <a:rPr lang="es-ES" sz="1814" spc="-5" dirty="0">
                    <a:latin typeface="Times New Roman"/>
                    <a:cs typeface="Times New Roman"/>
                  </a:rPr>
                  <a:t>training</a:t>
                </a:r>
                <a:r>
                  <a:rPr lang="es-ES" sz="1814" dirty="0">
                    <a:latin typeface="Times New Roman"/>
                    <a:cs typeface="Times New Roman"/>
                  </a:rPr>
                  <a:t> o </a:t>
                </a:r>
                <a:r>
                  <a:rPr lang="es-ES" sz="1814" spc="-5" dirty="0">
                    <a:latin typeface="Times New Roman"/>
                    <a:cs typeface="Times New Roman"/>
                  </a:rPr>
                  <a:t>en</a:t>
                </a:r>
                <a:r>
                  <a:rPr lang="es-ES" sz="1814" dirty="0">
                    <a:latin typeface="Times New Roman"/>
                    <a:cs typeface="Times New Roman"/>
                  </a:rPr>
                  <a:t> datos</a:t>
                </a:r>
                <a:r>
                  <a:rPr lang="es-ES" sz="1814" spc="-5" dirty="0">
                    <a:latin typeface="Times New Roman"/>
                    <a:cs typeface="Times New Roman"/>
                  </a:rPr>
                  <a:t> </a:t>
                </a:r>
                <a:r>
                  <a:rPr lang="es-ES" sz="1814" dirty="0">
                    <a:latin typeface="Times New Roman"/>
                    <a:cs typeface="Times New Roman"/>
                  </a:rPr>
                  <a:t>de</a:t>
                </a:r>
                <a:r>
                  <a:rPr lang="es-ES" sz="1814" spc="-9" dirty="0">
                    <a:latin typeface="Times New Roman"/>
                    <a:cs typeface="Times New Roman"/>
                  </a:rPr>
                  <a:t> </a:t>
                </a:r>
                <a:r>
                  <a:rPr lang="es-ES" sz="1814" dirty="0">
                    <a:latin typeface="Times New Roman"/>
                    <a:cs typeface="Times New Roman"/>
                  </a:rPr>
                  <a:t>validación,</a:t>
                </a:r>
                <a:r>
                  <a:rPr lang="es-ES" sz="1814" spc="-9" dirty="0">
                    <a:latin typeface="Times New Roman"/>
                    <a:cs typeface="Times New Roman"/>
                  </a:rPr>
                  <a:t> </a:t>
                </a:r>
                <a:r>
                  <a:rPr lang="es-ES" sz="1814" spc="-5" dirty="0">
                    <a:latin typeface="Times New Roman"/>
                    <a:cs typeface="Times New Roman"/>
                  </a:rPr>
                  <a:t>coste,</a:t>
                </a:r>
                <a:r>
                  <a:rPr lang="es-ES" sz="1814" dirty="0">
                    <a:latin typeface="Times New Roman"/>
                    <a:cs typeface="Times New Roman"/>
                  </a:rPr>
                  <a:t> </a:t>
                </a:r>
                <a:r>
                  <a:rPr lang="es-ES" sz="1814" spc="-5" dirty="0">
                    <a:latin typeface="Times New Roman"/>
                    <a:cs typeface="Times New Roman"/>
                  </a:rPr>
                  <a:t>etc.).</a:t>
                </a:r>
              </a:p>
              <a:p>
                <a:pPr marL="11516" marR="4607" algn="just">
                  <a:lnSpc>
                    <a:spcPct val="95700"/>
                  </a:lnSpc>
                </a:pPr>
                <a:endParaRPr lang="es-ES" sz="1814" spc="-5" dirty="0">
                  <a:latin typeface="Times New Roman"/>
                  <a:cs typeface="Times New Roman"/>
                </a:endParaRPr>
              </a:p>
              <a:p>
                <a:pPr marL="11516" marR="4607" algn="just">
                  <a:lnSpc>
                    <a:spcPct val="95700"/>
                  </a:lnSpc>
                </a:pPr>
                <a:r>
                  <a:rPr lang="es-ES" sz="1814" spc="-5" dirty="0">
                    <a:latin typeface="Times New Roman"/>
                    <a:cs typeface="Times New Roman"/>
                  </a:rPr>
                  <a:t>La idea es que la diferencia entre </a:t>
                </a:r>
                <a14:m>
                  <m:oMath xmlns:m="http://schemas.openxmlformats.org/officeDocument/2006/math">
                    <m:acc>
                      <m:accPr>
                        <m:chr m:val="̂"/>
                        <m:ctrlPr>
                          <a:rPr lang="ar-AE" sz="1814" i="1" spc="-5">
                            <a:latin typeface="Cambria Math" panose="02040503050406030204" pitchFamily="18" charset="0"/>
                            <a:cs typeface="Times New Roman"/>
                          </a:rPr>
                        </m:ctrlPr>
                      </m:accPr>
                      <m:e>
                        <m:r>
                          <a:rPr lang="ar-AE" sz="1814" spc="-5">
                            <a:latin typeface="Cambria Math" panose="02040503050406030204" pitchFamily="18" charset="0"/>
                            <a:cs typeface="Times New Roman"/>
                          </a:rPr>
                          <m:t>𝑌</m:t>
                        </m:r>
                      </m:e>
                    </m:acc>
                  </m:oMath>
                </a14:m>
                <a:r>
                  <a:rPr lang="ar-AE" sz="1814" spc="-5" dirty="0">
                    <a:latin typeface="Times New Roman"/>
                    <a:cs typeface="Times New Roman"/>
                  </a:rPr>
                  <a:t> </a:t>
                </a:r>
                <a:r>
                  <a:rPr lang="es-ES" sz="1814" spc="-5" dirty="0">
                    <a:latin typeface="Times New Roman"/>
                    <a:cs typeface="Times New Roman"/>
                  </a:rPr>
                  <a:t>e </a:t>
                </a:r>
                <a:r>
                  <a:rPr lang="es-ES" sz="1814" i="1" spc="-5" dirty="0">
                    <a:latin typeface="Times New Roman"/>
                    <a:cs typeface="Times New Roman"/>
                  </a:rPr>
                  <a:t>Y</a:t>
                </a:r>
                <a:r>
                  <a:rPr lang="es-ES" sz="1814" spc="-5" dirty="0">
                    <a:latin typeface="Times New Roman"/>
                    <a:cs typeface="Times New Roman"/>
                  </a:rPr>
                  <a:t> sea lo más pequeña posible.</a:t>
                </a:r>
              </a:p>
            </p:txBody>
          </p:sp>
        </mc:Choice>
        <mc:Fallback xmlns="">
          <p:sp>
            <p:nvSpPr>
              <p:cNvPr id="3" name="object 3"/>
              <p:cNvSpPr txBox="1">
                <a:spLocks noRot="1" noChangeAspect="1" noMove="1" noResize="1" noEditPoints="1" noAdjustHandles="1" noChangeArrowheads="1" noChangeShapeType="1" noTextEdit="1"/>
              </p:cNvSpPr>
              <p:nvPr/>
            </p:nvSpPr>
            <p:spPr>
              <a:xfrm>
                <a:off x="546100" y="1495425"/>
                <a:ext cx="9495537" cy="5470152"/>
              </a:xfrm>
              <a:prstGeom prst="rect">
                <a:avLst/>
              </a:prstGeom>
              <a:blipFill rotWithShape="0">
                <a:blip r:embed="rId2"/>
                <a:stretch>
                  <a:fillRect l="-1541" t="-1448" r="-1606" b="-1893"/>
                </a:stretch>
              </a:blipFill>
            </p:spPr>
            <p:txBody>
              <a:bodyPr/>
              <a:lstStyle/>
              <a:p>
                <a:r>
                  <a:rPr lang="es-ES">
                    <a:noFill/>
                  </a:rPr>
                  <a:t> </a:t>
                </a:r>
              </a:p>
            </p:txBody>
          </p:sp>
        </mc:Fallback>
      </mc:AlternateContent>
    </p:spTree>
    <p:extLst>
      <p:ext uri="{BB962C8B-B14F-4D97-AF65-F5344CB8AC3E}">
        <p14:creationId xmlns:p14="http://schemas.microsoft.com/office/powerpoint/2010/main" val="35676674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50106" y="285631"/>
            <a:ext cx="8360887" cy="513945"/>
          </a:xfrm>
          <a:prstGeom prst="rect">
            <a:avLst/>
          </a:prstGeom>
        </p:spPr>
        <p:txBody>
          <a:bodyPr vert="horz" wrap="square" lIns="0" tIns="11516" rIns="0" bIns="0" rtlCol="0" anchor="ctr">
            <a:spAutoFit/>
          </a:bodyPr>
          <a:lstStyle/>
          <a:p>
            <a:pPr marL="11516" algn="ctr">
              <a:lnSpc>
                <a:spcPct val="100000"/>
              </a:lnSpc>
              <a:spcBef>
                <a:spcPts val="91"/>
              </a:spcBef>
            </a:pPr>
            <a:r>
              <a:rPr lang="es-ES" sz="3264" dirty="0">
                <a:solidFill>
                  <a:schemeClr val="tx2">
                    <a:lumMod val="60000"/>
                    <a:lumOff val="40000"/>
                  </a:schemeClr>
                </a:solidFill>
              </a:rPr>
              <a:t>Explicación matemática</a:t>
            </a:r>
            <a:endParaRPr sz="3264" dirty="0">
              <a:solidFill>
                <a:schemeClr val="tx2">
                  <a:lumMod val="60000"/>
                  <a:lumOff val="40000"/>
                </a:schemeClr>
              </a:solidFill>
            </a:endParaRPr>
          </a:p>
        </p:txBody>
      </p:sp>
      <p:sp>
        <p:nvSpPr>
          <p:cNvPr id="8" name="Rectangle 5"/>
          <p:cNvSpPr>
            <a:spLocks noChangeArrowheads="1"/>
          </p:cNvSpPr>
          <p:nvPr/>
        </p:nvSpPr>
        <p:spPr bwMode="auto">
          <a:xfrm>
            <a:off x="1432691" y="972352"/>
            <a:ext cx="9085597" cy="5860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18" tIns="41459" rIns="82918" bIns="41459"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59118" indent="-259118" algn="just" defTabSz="829178">
              <a:buFont typeface="Arial" panose="020B0604020202020204" pitchFamily="34" charset="0"/>
              <a:buChar char="•"/>
            </a:pPr>
            <a:r>
              <a:rPr lang="es-ES" altLang="es-ES" sz="1632" dirty="0">
                <a:solidFill>
                  <a:srgbClr val="000000"/>
                </a:solidFill>
                <a:latin typeface="Söhne"/>
              </a:rPr>
              <a:t>Las redes neuronales se basan en el </a:t>
            </a:r>
            <a:r>
              <a:rPr lang="es-ES" altLang="es-ES" sz="1632" b="1" dirty="0">
                <a:solidFill>
                  <a:schemeClr val="tx2">
                    <a:lumMod val="60000"/>
                    <a:lumOff val="40000"/>
                  </a:schemeClr>
                </a:solidFill>
                <a:latin typeface="Söhne"/>
              </a:rPr>
              <a:t>cálculo</a:t>
            </a:r>
            <a:r>
              <a:rPr lang="es-ES" altLang="es-ES" sz="1632" dirty="0">
                <a:solidFill>
                  <a:srgbClr val="000000"/>
                </a:solidFill>
                <a:latin typeface="Söhne"/>
              </a:rPr>
              <a:t> y el </a:t>
            </a:r>
            <a:r>
              <a:rPr lang="es-ES" altLang="es-ES" sz="1632" b="1" dirty="0">
                <a:solidFill>
                  <a:schemeClr val="tx2">
                    <a:lumMod val="60000"/>
                    <a:lumOff val="40000"/>
                  </a:schemeClr>
                </a:solidFill>
                <a:latin typeface="Söhne"/>
              </a:rPr>
              <a:t>álgebra lineal</a:t>
            </a:r>
            <a:r>
              <a:rPr lang="es-ES" altLang="es-ES" sz="1632" dirty="0">
                <a:solidFill>
                  <a:srgbClr val="000000"/>
                </a:solidFill>
                <a:latin typeface="Söhne"/>
              </a:rPr>
              <a:t>. </a:t>
            </a:r>
          </a:p>
          <a:p>
            <a:pPr marL="259118" indent="-259118" algn="just" defTabSz="829178">
              <a:buFont typeface="Arial" panose="020B0604020202020204" pitchFamily="34" charset="0"/>
              <a:buChar char="•"/>
            </a:pPr>
            <a:r>
              <a:rPr lang="es-ES" altLang="es-ES" sz="1632" dirty="0">
                <a:solidFill>
                  <a:srgbClr val="000000"/>
                </a:solidFill>
                <a:latin typeface="Söhne"/>
              </a:rPr>
              <a:t>Se puede representar una red neuronal como una función matemática que toma una serie de entradas y produce una salida. Esta función se construye a partir de múltiples capas de neuronas, cada una de las cuales realiza una operación matemática simple.</a:t>
            </a:r>
          </a:p>
          <a:p>
            <a:pPr marL="259118" indent="-259118" algn="just" defTabSz="829178">
              <a:buFont typeface="Arial" panose="020B0604020202020204" pitchFamily="34" charset="0"/>
              <a:buChar char="•"/>
            </a:pPr>
            <a:r>
              <a:rPr lang="es-ES" altLang="es-ES" sz="1632" dirty="0">
                <a:solidFill>
                  <a:srgbClr val="000000"/>
                </a:solidFill>
                <a:latin typeface="Söhne"/>
              </a:rPr>
              <a:t>Cada neurona tiene un </a:t>
            </a:r>
            <a:r>
              <a:rPr lang="es-ES" altLang="es-ES" sz="1632" b="1" dirty="0">
                <a:solidFill>
                  <a:schemeClr val="tx2">
                    <a:lumMod val="60000"/>
                    <a:lumOff val="40000"/>
                  </a:schemeClr>
                </a:solidFill>
                <a:latin typeface="Söhne"/>
              </a:rPr>
              <a:t>vector de pesos </a:t>
            </a:r>
            <a:r>
              <a:rPr lang="es-ES" altLang="es-ES" sz="1632" dirty="0">
                <a:solidFill>
                  <a:srgbClr val="000000"/>
                </a:solidFill>
                <a:latin typeface="Söhne"/>
              </a:rPr>
              <a:t>y un </a:t>
            </a:r>
            <a:r>
              <a:rPr lang="es-ES" altLang="es-ES" sz="1632" b="1" dirty="0">
                <a:solidFill>
                  <a:schemeClr val="tx2">
                    <a:lumMod val="60000"/>
                    <a:lumOff val="40000"/>
                  </a:schemeClr>
                </a:solidFill>
                <a:latin typeface="Söhne"/>
              </a:rPr>
              <a:t>sesgo</a:t>
            </a:r>
            <a:r>
              <a:rPr lang="es-ES" altLang="es-ES" sz="1632" dirty="0">
                <a:solidFill>
                  <a:srgbClr val="000000"/>
                </a:solidFill>
                <a:latin typeface="Söhne"/>
              </a:rPr>
              <a:t>. </a:t>
            </a:r>
          </a:p>
          <a:p>
            <a:pPr marL="259118" indent="-259118" algn="just" defTabSz="829178">
              <a:buFont typeface="Arial" panose="020B0604020202020204" pitchFamily="34" charset="0"/>
              <a:buChar char="•"/>
            </a:pPr>
            <a:r>
              <a:rPr lang="es-ES" altLang="es-ES" sz="1632" dirty="0">
                <a:solidFill>
                  <a:srgbClr val="000000"/>
                </a:solidFill>
                <a:latin typeface="Söhne"/>
              </a:rPr>
              <a:t>Los pesos se representan mediante una matriz y se utilizan para </a:t>
            </a:r>
            <a:r>
              <a:rPr lang="es-ES" altLang="es-ES" sz="1632" b="1" dirty="0">
                <a:solidFill>
                  <a:schemeClr val="tx2">
                    <a:lumMod val="60000"/>
                    <a:lumOff val="40000"/>
                  </a:schemeClr>
                </a:solidFill>
                <a:latin typeface="Söhne"/>
              </a:rPr>
              <a:t>ponderar las entradas </a:t>
            </a:r>
            <a:r>
              <a:rPr lang="es-ES" altLang="es-ES" sz="1632" dirty="0">
                <a:solidFill>
                  <a:srgbClr val="000000"/>
                </a:solidFill>
                <a:latin typeface="Söhne"/>
              </a:rPr>
              <a:t>de la neurona. </a:t>
            </a:r>
          </a:p>
          <a:p>
            <a:pPr marL="259118" indent="-259118" algn="just" defTabSz="829178">
              <a:buFont typeface="Arial" panose="020B0604020202020204" pitchFamily="34" charset="0"/>
              <a:buChar char="•"/>
            </a:pPr>
            <a:r>
              <a:rPr lang="es-ES" altLang="es-ES" sz="1632" dirty="0">
                <a:solidFill>
                  <a:srgbClr val="000000"/>
                </a:solidFill>
                <a:latin typeface="Söhne"/>
              </a:rPr>
              <a:t>El sesgo se representa mediante un valor escalar y se utiliza para ajustar el </a:t>
            </a:r>
            <a:r>
              <a:rPr lang="es-ES" altLang="es-ES" sz="1632" b="1" dirty="0">
                <a:solidFill>
                  <a:schemeClr val="tx2">
                    <a:lumMod val="60000"/>
                    <a:lumOff val="40000"/>
                  </a:schemeClr>
                </a:solidFill>
                <a:latin typeface="Söhne"/>
              </a:rPr>
              <a:t>umbral de activación </a:t>
            </a:r>
            <a:r>
              <a:rPr lang="es-ES" altLang="es-ES" sz="1632" dirty="0">
                <a:solidFill>
                  <a:srgbClr val="000000"/>
                </a:solidFill>
                <a:latin typeface="Söhne"/>
              </a:rPr>
              <a:t>de la neurona.</a:t>
            </a:r>
          </a:p>
          <a:p>
            <a:pPr marL="259118" indent="-259118" algn="just" defTabSz="829178">
              <a:buFont typeface="Arial" panose="020B0604020202020204" pitchFamily="34" charset="0"/>
              <a:buChar char="•"/>
            </a:pPr>
            <a:r>
              <a:rPr lang="es-ES" altLang="es-ES" sz="1632" dirty="0">
                <a:solidFill>
                  <a:srgbClr val="000000"/>
                </a:solidFill>
                <a:latin typeface="Söhne"/>
              </a:rPr>
              <a:t>La </a:t>
            </a:r>
            <a:r>
              <a:rPr lang="es-ES" altLang="es-ES" sz="1632" b="1" dirty="0">
                <a:solidFill>
                  <a:schemeClr val="tx2">
                    <a:lumMod val="60000"/>
                    <a:lumOff val="40000"/>
                  </a:schemeClr>
                </a:solidFill>
                <a:latin typeface="Söhne"/>
              </a:rPr>
              <a:t>salida</a:t>
            </a:r>
            <a:r>
              <a:rPr lang="es-ES" altLang="es-ES" sz="1632" dirty="0">
                <a:solidFill>
                  <a:srgbClr val="000000"/>
                </a:solidFill>
                <a:latin typeface="Söhne"/>
              </a:rPr>
              <a:t> de una neurona se calcula mediante una </a:t>
            </a:r>
            <a:r>
              <a:rPr lang="es-ES" altLang="es-ES" sz="1632" b="1" dirty="0">
                <a:solidFill>
                  <a:schemeClr val="tx2">
                    <a:lumMod val="60000"/>
                    <a:lumOff val="40000"/>
                  </a:schemeClr>
                </a:solidFill>
                <a:latin typeface="Söhne"/>
              </a:rPr>
              <a:t>función de activación no lineal </a:t>
            </a:r>
            <a:r>
              <a:rPr lang="es-ES" altLang="es-ES" sz="1632" dirty="0">
                <a:solidFill>
                  <a:srgbClr val="000000"/>
                </a:solidFill>
                <a:latin typeface="Söhne"/>
              </a:rPr>
              <a:t>que toma como entrada la </a:t>
            </a:r>
            <a:r>
              <a:rPr lang="es-ES" altLang="es-ES" sz="1632" b="1" dirty="0">
                <a:solidFill>
                  <a:schemeClr val="tx2">
                    <a:lumMod val="60000"/>
                    <a:lumOff val="40000"/>
                  </a:schemeClr>
                </a:solidFill>
                <a:latin typeface="Söhne"/>
              </a:rPr>
              <a:t>suma ponderada de las entradas y los pesos de la neurona más el sesgo</a:t>
            </a:r>
            <a:r>
              <a:rPr lang="es-ES" altLang="es-ES" sz="1632" dirty="0">
                <a:solidFill>
                  <a:srgbClr val="000000"/>
                </a:solidFill>
                <a:latin typeface="Söhne"/>
              </a:rPr>
              <a:t>. Las funciones de activación más comunes incluyen la función sigmoidea, la función </a:t>
            </a:r>
            <a:r>
              <a:rPr lang="es-ES" altLang="es-ES" sz="1632" dirty="0" err="1">
                <a:solidFill>
                  <a:srgbClr val="000000"/>
                </a:solidFill>
                <a:latin typeface="Söhne"/>
              </a:rPr>
              <a:t>ReLU</a:t>
            </a:r>
            <a:r>
              <a:rPr lang="es-ES" altLang="es-ES" sz="1632" dirty="0">
                <a:solidFill>
                  <a:srgbClr val="000000"/>
                </a:solidFill>
                <a:latin typeface="Söhne"/>
              </a:rPr>
              <a:t>, la función </a:t>
            </a:r>
            <a:r>
              <a:rPr lang="es-ES" altLang="es-ES" sz="1632" dirty="0" err="1">
                <a:solidFill>
                  <a:srgbClr val="000000"/>
                </a:solidFill>
                <a:latin typeface="Söhne"/>
              </a:rPr>
              <a:t>tanh</a:t>
            </a:r>
            <a:r>
              <a:rPr lang="es-ES" altLang="es-ES" sz="1632" dirty="0">
                <a:solidFill>
                  <a:srgbClr val="000000"/>
                </a:solidFill>
                <a:latin typeface="Söhne"/>
              </a:rPr>
              <a:t> y la función </a:t>
            </a:r>
            <a:r>
              <a:rPr lang="es-ES" altLang="es-ES" sz="1632" dirty="0" err="1">
                <a:solidFill>
                  <a:srgbClr val="000000"/>
                </a:solidFill>
                <a:latin typeface="Söhne"/>
              </a:rPr>
              <a:t>softmax</a:t>
            </a:r>
            <a:r>
              <a:rPr lang="es-ES" altLang="es-ES" sz="1632" dirty="0">
                <a:solidFill>
                  <a:srgbClr val="000000"/>
                </a:solidFill>
                <a:latin typeface="Söhne"/>
              </a:rPr>
              <a:t>.</a:t>
            </a:r>
          </a:p>
          <a:p>
            <a:pPr marL="259118" indent="-259118" algn="just" defTabSz="829178">
              <a:buFont typeface="Arial" panose="020B0604020202020204" pitchFamily="34" charset="0"/>
              <a:buChar char="•"/>
            </a:pPr>
            <a:r>
              <a:rPr lang="es-ES" altLang="es-ES" sz="1632" dirty="0">
                <a:solidFill>
                  <a:srgbClr val="000000"/>
                </a:solidFill>
                <a:latin typeface="Söhne"/>
              </a:rPr>
              <a:t>La salida de una capa de neuronas se utiliza como entrada para la siguiente capa. La red neuronal se </a:t>
            </a:r>
            <a:r>
              <a:rPr lang="es-ES" altLang="es-ES" sz="1632" b="1" dirty="0">
                <a:solidFill>
                  <a:schemeClr val="tx2">
                    <a:lumMod val="60000"/>
                    <a:lumOff val="40000"/>
                  </a:schemeClr>
                </a:solidFill>
                <a:latin typeface="Söhne"/>
              </a:rPr>
              <a:t>entrena ajustando los pesos </a:t>
            </a:r>
            <a:r>
              <a:rPr lang="es-ES" altLang="es-ES" sz="1632" dirty="0">
                <a:solidFill>
                  <a:srgbClr val="000000"/>
                </a:solidFill>
                <a:latin typeface="Söhne"/>
              </a:rPr>
              <a:t>de las conexiones entre las neuronas para </a:t>
            </a:r>
            <a:r>
              <a:rPr lang="es-ES" altLang="es-ES" sz="1632" b="1" dirty="0">
                <a:solidFill>
                  <a:schemeClr val="tx2">
                    <a:lumMod val="60000"/>
                    <a:lumOff val="40000"/>
                  </a:schemeClr>
                </a:solidFill>
                <a:latin typeface="Söhne"/>
              </a:rPr>
              <a:t>minimizar</a:t>
            </a:r>
            <a:r>
              <a:rPr lang="es-ES" altLang="es-ES" sz="1632" dirty="0">
                <a:solidFill>
                  <a:srgbClr val="000000"/>
                </a:solidFill>
                <a:latin typeface="Söhne"/>
              </a:rPr>
              <a:t> una </a:t>
            </a:r>
            <a:r>
              <a:rPr lang="es-ES" altLang="es-ES" sz="1632" b="1" dirty="0">
                <a:solidFill>
                  <a:schemeClr val="tx2">
                    <a:lumMod val="60000"/>
                    <a:lumOff val="40000"/>
                  </a:schemeClr>
                </a:solidFill>
                <a:latin typeface="Söhne"/>
              </a:rPr>
              <a:t>función</a:t>
            </a:r>
            <a:r>
              <a:rPr lang="es-ES" altLang="es-ES" sz="1632" dirty="0">
                <a:solidFill>
                  <a:srgbClr val="000000"/>
                </a:solidFill>
                <a:latin typeface="Söhne"/>
              </a:rPr>
              <a:t> de </a:t>
            </a:r>
            <a:r>
              <a:rPr lang="es-ES" altLang="es-ES" sz="1632" b="1" dirty="0">
                <a:solidFill>
                  <a:schemeClr val="tx2">
                    <a:lumMod val="60000"/>
                    <a:lumOff val="40000"/>
                  </a:schemeClr>
                </a:solidFill>
                <a:latin typeface="Söhne"/>
              </a:rPr>
              <a:t>pérdida</a:t>
            </a:r>
            <a:r>
              <a:rPr lang="es-ES" altLang="es-ES" sz="1632" dirty="0">
                <a:solidFill>
                  <a:srgbClr val="000000"/>
                </a:solidFill>
                <a:latin typeface="Söhne"/>
              </a:rPr>
              <a:t> que mide la discrepancia entre la </a:t>
            </a:r>
            <a:r>
              <a:rPr lang="es-ES" altLang="es-ES" sz="1632" u="sng" dirty="0">
                <a:solidFill>
                  <a:srgbClr val="000000"/>
                </a:solidFill>
                <a:latin typeface="Söhne"/>
              </a:rPr>
              <a:t>salida de la red </a:t>
            </a:r>
            <a:r>
              <a:rPr lang="es-ES" altLang="es-ES" sz="1632" dirty="0">
                <a:solidFill>
                  <a:srgbClr val="000000"/>
                </a:solidFill>
                <a:latin typeface="Söhne"/>
              </a:rPr>
              <a:t>y la </a:t>
            </a:r>
            <a:r>
              <a:rPr lang="es-ES" altLang="es-ES" sz="1632" u="sng" dirty="0">
                <a:solidFill>
                  <a:srgbClr val="000000"/>
                </a:solidFill>
                <a:latin typeface="Söhne"/>
              </a:rPr>
              <a:t>salida esperada</a:t>
            </a:r>
            <a:r>
              <a:rPr lang="es-ES" altLang="es-ES" sz="1632" dirty="0">
                <a:solidFill>
                  <a:srgbClr val="000000"/>
                </a:solidFill>
                <a:latin typeface="Söhne"/>
              </a:rPr>
              <a:t>. </a:t>
            </a:r>
          </a:p>
          <a:p>
            <a:pPr marL="259118" indent="-259118" algn="just" defTabSz="829178">
              <a:buFont typeface="Arial" panose="020B0604020202020204" pitchFamily="34" charset="0"/>
              <a:buChar char="•"/>
            </a:pPr>
            <a:r>
              <a:rPr lang="es-ES" altLang="es-ES" sz="1632" dirty="0">
                <a:solidFill>
                  <a:srgbClr val="000000"/>
                </a:solidFill>
                <a:latin typeface="Söhne"/>
              </a:rPr>
              <a:t>El </a:t>
            </a:r>
            <a:r>
              <a:rPr lang="es-ES" altLang="es-ES" sz="1632" b="1" dirty="0">
                <a:solidFill>
                  <a:schemeClr val="tx2">
                    <a:lumMod val="60000"/>
                    <a:lumOff val="40000"/>
                  </a:schemeClr>
                </a:solidFill>
                <a:latin typeface="Söhne"/>
              </a:rPr>
              <a:t>ajuste de los pesos </a:t>
            </a:r>
            <a:r>
              <a:rPr lang="es-ES" altLang="es-ES" sz="1632" dirty="0">
                <a:solidFill>
                  <a:srgbClr val="000000"/>
                </a:solidFill>
                <a:latin typeface="Söhne"/>
              </a:rPr>
              <a:t>se realiza mediante el cálculo del </a:t>
            </a:r>
            <a:r>
              <a:rPr lang="es-ES" altLang="es-ES" sz="1632" b="1" dirty="0">
                <a:solidFill>
                  <a:schemeClr val="tx2">
                    <a:lumMod val="60000"/>
                    <a:lumOff val="40000"/>
                  </a:schemeClr>
                </a:solidFill>
                <a:latin typeface="Söhne"/>
              </a:rPr>
              <a:t>gradiente de la función </a:t>
            </a:r>
            <a:r>
              <a:rPr lang="es-ES" altLang="es-ES" sz="1632" dirty="0">
                <a:solidFill>
                  <a:srgbClr val="000000"/>
                </a:solidFill>
                <a:latin typeface="Söhne"/>
              </a:rPr>
              <a:t>de pérdida con respecto a los pesos de las conexiones y la actualización de los pesos en la dirección del gradiente descendente. </a:t>
            </a:r>
          </a:p>
          <a:p>
            <a:pPr marL="259118" indent="-259118" algn="just" defTabSz="829178">
              <a:buFont typeface="Arial" panose="020B0604020202020204" pitchFamily="34" charset="0"/>
              <a:buChar char="•"/>
            </a:pPr>
            <a:r>
              <a:rPr lang="es-ES" altLang="es-ES" sz="1632" dirty="0">
                <a:solidFill>
                  <a:srgbClr val="000000"/>
                </a:solidFill>
                <a:latin typeface="Söhne"/>
              </a:rPr>
              <a:t>Esto les permite aprender a partir de los datos de entrenamiento y producir resultados precisos en nuevos conjuntos de datos.</a:t>
            </a:r>
          </a:p>
          <a:p>
            <a:pPr defTabSz="829178"/>
            <a:endParaRPr lang="es-ES" altLang="es-ES" sz="1632" dirty="0"/>
          </a:p>
        </p:txBody>
      </p:sp>
    </p:spTree>
    <p:extLst>
      <p:ext uri="{BB962C8B-B14F-4D97-AF65-F5344CB8AC3E}">
        <p14:creationId xmlns:p14="http://schemas.microsoft.com/office/powerpoint/2010/main" val="41529064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05013" y="288903"/>
            <a:ext cx="3178519" cy="513945"/>
          </a:xfrm>
          <a:prstGeom prst="rect">
            <a:avLst/>
          </a:prstGeom>
        </p:spPr>
        <p:txBody>
          <a:bodyPr vert="horz" wrap="square" lIns="0" tIns="11516" rIns="0" bIns="0" rtlCol="0" anchor="ctr">
            <a:spAutoFit/>
          </a:bodyPr>
          <a:lstStyle/>
          <a:p>
            <a:pPr marL="11516">
              <a:lnSpc>
                <a:spcPct val="100000"/>
              </a:lnSpc>
              <a:spcBef>
                <a:spcPts val="91"/>
              </a:spcBef>
            </a:pPr>
            <a:r>
              <a:rPr sz="3264" dirty="0">
                <a:solidFill>
                  <a:schemeClr val="tx2">
                    <a:lumMod val="60000"/>
                    <a:lumOff val="40000"/>
                  </a:schemeClr>
                </a:solidFill>
              </a:rPr>
              <a:t>El</a:t>
            </a:r>
            <a:r>
              <a:rPr sz="3264" spc="-27" dirty="0">
                <a:solidFill>
                  <a:schemeClr val="tx2">
                    <a:lumMod val="60000"/>
                    <a:lumOff val="40000"/>
                  </a:schemeClr>
                </a:solidFill>
              </a:rPr>
              <a:t> </a:t>
            </a:r>
            <a:r>
              <a:rPr sz="3264" spc="-5" dirty="0">
                <a:solidFill>
                  <a:schemeClr val="tx2">
                    <a:lumMod val="60000"/>
                    <a:lumOff val="40000"/>
                  </a:schemeClr>
                </a:solidFill>
              </a:rPr>
              <a:t>Soporte</a:t>
            </a:r>
            <a:r>
              <a:rPr sz="3264" spc="-18" dirty="0">
                <a:solidFill>
                  <a:schemeClr val="tx2">
                    <a:lumMod val="60000"/>
                    <a:lumOff val="40000"/>
                  </a:schemeClr>
                </a:solidFill>
              </a:rPr>
              <a:t> </a:t>
            </a:r>
            <a:r>
              <a:rPr sz="3264" spc="-5" dirty="0">
                <a:solidFill>
                  <a:schemeClr val="tx2">
                    <a:lumMod val="60000"/>
                    <a:lumOff val="40000"/>
                  </a:schemeClr>
                </a:solidFill>
              </a:rPr>
              <a:t>Teórico</a:t>
            </a:r>
            <a:endParaRPr sz="3264" dirty="0">
              <a:solidFill>
                <a:schemeClr val="tx2">
                  <a:lumMod val="60000"/>
                  <a:lumOff val="40000"/>
                </a:schemeClr>
              </a:solidFill>
            </a:endParaRPr>
          </a:p>
        </p:txBody>
      </p:sp>
      <p:sp>
        <p:nvSpPr>
          <p:cNvPr id="3" name="object 3"/>
          <p:cNvSpPr txBox="1"/>
          <p:nvPr/>
        </p:nvSpPr>
        <p:spPr>
          <a:xfrm>
            <a:off x="1807015" y="906587"/>
            <a:ext cx="8573076" cy="3482569"/>
          </a:xfrm>
          <a:prstGeom prst="rect">
            <a:avLst/>
          </a:prstGeom>
        </p:spPr>
        <p:txBody>
          <a:bodyPr vert="horz" wrap="square" lIns="0" tIns="27063" rIns="0" bIns="0" rtlCol="0">
            <a:spAutoFit/>
          </a:bodyPr>
          <a:lstStyle/>
          <a:p>
            <a:pPr marL="46065" marR="16123" algn="just">
              <a:lnSpc>
                <a:spcPct val="95800"/>
              </a:lnSpc>
              <a:spcBef>
                <a:spcPts val="213"/>
              </a:spcBef>
            </a:pPr>
            <a:r>
              <a:rPr sz="2176" spc="-5" dirty="0">
                <a:latin typeface="Times New Roman"/>
                <a:cs typeface="Times New Roman"/>
              </a:rPr>
              <a:t>La</a:t>
            </a:r>
            <a:r>
              <a:rPr sz="2176" spc="-9" dirty="0">
                <a:latin typeface="Times New Roman"/>
                <a:cs typeface="Times New Roman"/>
              </a:rPr>
              <a:t> </a:t>
            </a:r>
            <a:r>
              <a:rPr sz="2176" spc="-5" dirty="0">
                <a:latin typeface="Times New Roman"/>
                <a:cs typeface="Times New Roman"/>
              </a:rPr>
              <a:t>justificación</a:t>
            </a:r>
            <a:r>
              <a:rPr sz="2176" dirty="0">
                <a:latin typeface="Times New Roman"/>
                <a:cs typeface="Times New Roman"/>
              </a:rPr>
              <a:t> de</a:t>
            </a:r>
            <a:r>
              <a:rPr sz="2176" spc="-9" dirty="0">
                <a:latin typeface="Times New Roman"/>
                <a:cs typeface="Times New Roman"/>
              </a:rPr>
              <a:t> </a:t>
            </a:r>
            <a:r>
              <a:rPr sz="2176" dirty="0">
                <a:latin typeface="Times New Roman"/>
                <a:cs typeface="Times New Roman"/>
              </a:rPr>
              <a:t>la red </a:t>
            </a:r>
            <a:r>
              <a:rPr sz="2176" spc="-5" dirty="0">
                <a:latin typeface="Times New Roman"/>
                <a:cs typeface="Times New Roman"/>
              </a:rPr>
              <a:t>neuronal </a:t>
            </a:r>
            <a:r>
              <a:rPr sz="2176" spc="-9" dirty="0">
                <a:latin typeface="Times New Roman"/>
                <a:cs typeface="Times New Roman"/>
              </a:rPr>
              <a:t>como</a:t>
            </a:r>
            <a:r>
              <a:rPr sz="2176" spc="14" dirty="0">
                <a:latin typeface="Times New Roman"/>
                <a:cs typeface="Times New Roman"/>
              </a:rPr>
              <a:t> </a:t>
            </a:r>
            <a:r>
              <a:rPr sz="2176" spc="-5" dirty="0">
                <a:latin typeface="Times New Roman"/>
                <a:cs typeface="Times New Roman"/>
              </a:rPr>
              <a:t>modelo</a:t>
            </a:r>
            <a:r>
              <a:rPr sz="2176" spc="9" dirty="0">
                <a:latin typeface="Times New Roman"/>
                <a:cs typeface="Times New Roman"/>
              </a:rPr>
              <a:t> </a:t>
            </a:r>
            <a:r>
              <a:rPr sz="2176" spc="-5" dirty="0">
                <a:latin typeface="Times New Roman"/>
                <a:cs typeface="Times New Roman"/>
              </a:rPr>
              <a:t>está basada</a:t>
            </a:r>
            <a:r>
              <a:rPr sz="2176" dirty="0">
                <a:latin typeface="Times New Roman"/>
                <a:cs typeface="Times New Roman"/>
              </a:rPr>
              <a:t> en </a:t>
            </a:r>
            <a:r>
              <a:rPr sz="2176" spc="5" dirty="0">
                <a:latin typeface="Times New Roman"/>
                <a:cs typeface="Times New Roman"/>
              </a:rPr>
              <a:t> </a:t>
            </a:r>
            <a:r>
              <a:rPr sz="2176" b="1" spc="-5" dirty="0">
                <a:solidFill>
                  <a:srgbClr val="622322"/>
                </a:solidFill>
                <a:latin typeface="Times New Roman"/>
                <a:cs typeface="Times New Roman"/>
              </a:rPr>
              <a:t>Teoremas</a:t>
            </a:r>
            <a:r>
              <a:rPr sz="2176" b="1" spc="5" dirty="0">
                <a:solidFill>
                  <a:srgbClr val="622322"/>
                </a:solidFill>
                <a:latin typeface="Times New Roman"/>
                <a:cs typeface="Times New Roman"/>
              </a:rPr>
              <a:t> </a:t>
            </a:r>
            <a:r>
              <a:rPr sz="2176" b="1" spc="-5" dirty="0">
                <a:solidFill>
                  <a:srgbClr val="622322"/>
                </a:solidFill>
                <a:latin typeface="Times New Roman"/>
                <a:cs typeface="Times New Roman"/>
              </a:rPr>
              <a:t>de</a:t>
            </a:r>
            <a:r>
              <a:rPr sz="2176" b="1" dirty="0">
                <a:solidFill>
                  <a:srgbClr val="622322"/>
                </a:solidFill>
                <a:latin typeface="Times New Roman"/>
                <a:cs typeface="Times New Roman"/>
              </a:rPr>
              <a:t> </a:t>
            </a:r>
            <a:r>
              <a:rPr sz="2176" b="1" spc="-5" dirty="0">
                <a:solidFill>
                  <a:srgbClr val="622322"/>
                </a:solidFill>
                <a:latin typeface="Times New Roman"/>
                <a:cs typeface="Times New Roman"/>
              </a:rPr>
              <a:t>aproximación</a:t>
            </a:r>
            <a:r>
              <a:rPr sz="2176" b="1" spc="9" dirty="0">
                <a:solidFill>
                  <a:srgbClr val="622322"/>
                </a:solidFill>
                <a:latin typeface="Times New Roman"/>
                <a:cs typeface="Times New Roman"/>
              </a:rPr>
              <a:t> </a:t>
            </a:r>
            <a:r>
              <a:rPr sz="2176" b="1" dirty="0">
                <a:solidFill>
                  <a:srgbClr val="622322"/>
                </a:solidFill>
                <a:latin typeface="Times New Roman"/>
                <a:cs typeface="Times New Roman"/>
              </a:rPr>
              <a:t>universal</a:t>
            </a:r>
            <a:r>
              <a:rPr sz="2176" dirty="0">
                <a:latin typeface="Times New Roman"/>
                <a:cs typeface="Times New Roman"/>
              </a:rPr>
              <a:t>,</a:t>
            </a:r>
            <a:r>
              <a:rPr sz="2176" spc="-5" dirty="0">
                <a:latin typeface="Times New Roman"/>
                <a:cs typeface="Times New Roman"/>
              </a:rPr>
              <a:t> en varias </a:t>
            </a:r>
            <a:r>
              <a:rPr sz="2176" dirty="0">
                <a:latin typeface="Times New Roman"/>
                <a:cs typeface="Times New Roman"/>
              </a:rPr>
              <a:t>versiones </a:t>
            </a:r>
            <a:r>
              <a:rPr sz="2176" spc="5" dirty="0">
                <a:latin typeface="Times New Roman"/>
                <a:cs typeface="Times New Roman"/>
              </a:rPr>
              <a:t> </a:t>
            </a:r>
            <a:r>
              <a:rPr sz="2176" spc="-5" dirty="0">
                <a:latin typeface="Times New Roman"/>
                <a:cs typeface="Times New Roman"/>
              </a:rPr>
              <a:t>(Cybenko-Funahashi-Hornik),</a:t>
            </a:r>
            <a:r>
              <a:rPr sz="2176" spc="-14" dirty="0">
                <a:latin typeface="Times New Roman"/>
                <a:cs typeface="Times New Roman"/>
              </a:rPr>
              <a:t> </a:t>
            </a:r>
            <a:r>
              <a:rPr sz="2176" spc="-5" dirty="0">
                <a:latin typeface="Times New Roman"/>
                <a:cs typeface="Times New Roman"/>
              </a:rPr>
              <a:t>que</a:t>
            </a:r>
            <a:r>
              <a:rPr sz="2176" dirty="0">
                <a:latin typeface="Times New Roman"/>
                <a:cs typeface="Times New Roman"/>
              </a:rPr>
              <a:t> </a:t>
            </a:r>
            <a:r>
              <a:rPr sz="2176" spc="-5" dirty="0">
                <a:latin typeface="Times New Roman"/>
                <a:cs typeface="Times New Roman"/>
              </a:rPr>
              <a:t>enuncia que</a:t>
            </a:r>
            <a:r>
              <a:rPr sz="2176" dirty="0">
                <a:latin typeface="Times New Roman"/>
                <a:cs typeface="Times New Roman"/>
              </a:rPr>
              <a:t> cualquier</a:t>
            </a:r>
            <a:r>
              <a:rPr sz="2176" spc="9" dirty="0">
                <a:latin typeface="Times New Roman"/>
                <a:cs typeface="Times New Roman"/>
              </a:rPr>
              <a:t> </a:t>
            </a:r>
            <a:r>
              <a:rPr sz="2176" spc="-5" dirty="0">
                <a:latin typeface="Times New Roman"/>
                <a:cs typeface="Times New Roman"/>
              </a:rPr>
              <a:t>función </a:t>
            </a:r>
            <a:r>
              <a:rPr sz="2176" dirty="0">
                <a:latin typeface="Times New Roman"/>
                <a:cs typeface="Times New Roman"/>
              </a:rPr>
              <a:t> </a:t>
            </a:r>
            <a:r>
              <a:rPr sz="2176" spc="-5" dirty="0">
                <a:latin typeface="Times New Roman"/>
                <a:cs typeface="Times New Roman"/>
              </a:rPr>
              <a:t>continua</a:t>
            </a:r>
            <a:r>
              <a:rPr sz="2176" dirty="0">
                <a:latin typeface="Times New Roman"/>
                <a:cs typeface="Times New Roman"/>
              </a:rPr>
              <a:t> </a:t>
            </a:r>
            <a:r>
              <a:rPr sz="2176" spc="-5" dirty="0">
                <a:latin typeface="Times New Roman"/>
                <a:cs typeface="Times New Roman"/>
              </a:rPr>
              <a:t>puede</a:t>
            </a:r>
            <a:r>
              <a:rPr sz="2176" spc="5" dirty="0">
                <a:latin typeface="Times New Roman"/>
                <a:cs typeface="Times New Roman"/>
              </a:rPr>
              <a:t> </a:t>
            </a:r>
            <a:r>
              <a:rPr sz="2176" spc="-5" dirty="0">
                <a:latin typeface="Times New Roman"/>
                <a:cs typeface="Times New Roman"/>
              </a:rPr>
              <a:t>aproximarse</a:t>
            </a:r>
            <a:r>
              <a:rPr sz="2176" spc="9" dirty="0">
                <a:latin typeface="Times New Roman"/>
                <a:cs typeface="Times New Roman"/>
              </a:rPr>
              <a:t> </a:t>
            </a:r>
            <a:r>
              <a:rPr sz="2176" spc="-5" dirty="0">
                <a:latin typeface="Times New Roman"/>
                <a:cs typeface="Times New Roman"/>
              </a:rPr>
              <a:t>al</a:t>
            </a:r>
            <a:r>
              <a:rPr sz="2176" spc="5" dirty="0">
                <a:latin typeface="Times New Roman"/>
                <a:cs typeface="Times New Roman"/>
              </a:rPr>
              <a:t> </a:t>
            </a:r>
            <a:r>
              <a:rPr sz="2176" spc="-5" dirty="0">
                <a:latin typeface="Times New Roman"/>
                <a:cs typeface="Times New Roman"/>
              </a:rPr>
              <a:t>nivel</a:t>
            </a:r>
            <a:r>
              <a:rPr sz="2176" dirty="0">
                <a:latin typeface="Times New Roman"/>
                <a:cs typeface="Times New Roman"/>
              </a:rPr>
              <a:t> </a:t>
            </a:r>
            <a:r>
              <a:rPr sz="2176" spc="-5" dirty="0">
                <a:latin typeface="Times New Roman"/>
                <a:cs typeface="Times New Roman"/>
              </a:rPr>
              <a:t>requerido</a:t>
            </a:r>
            <a:r>
              <a:rPr sz="2176" spc="18" dirty="0">
                <a:latin typeface="Times New Roman"/>
                <a:cs typeface="Times New Roman"/>
              </a:rPr>
              <a:t> </a:t>
            </a:r>
            <a:r>
              <a:rPr sz="2176" spc="-9" dirty="0">
                <a:latin typeface="Times New Roman"/>
                <a:cs typeface="Times New Roman"/>
              </a:rPr>
              <a:t>con</a:t>
            </a:r>
            <a:r>
              <a:rPr sz="2176" spc="14" dirty="0">
                <a:latin typeface="Times New Roman"/>
                <a:cs typeface="Times New Roman"/>
              </a:rPr>
              <a:t> </a:t>
            </a:r>
            <a:r>
              <a:rPr sz="2176" spc="9" dirty="0">
                <a:latin typeface="Times New Roman"/>
                <a:cs typeface="Times New Roman"/>
              </a:rPr>
              <a:t>una</a:t>
            </a:r>
            <a:r>
              <a:rPr sz="2176" dirty="0">
                <a:latin typeface="Times New Roman"/>
                <a:cs typeface="Times New Roman"/>
              </a:rPr>
              <a:t> </a:t>
            </a:r>
            <a:r>
              <a:rPr sz="2176" spc="-5" dirty="0">
                <a:latin typeface="Times New Roman"/>
                <a:cs typeface="Times New Roman"/>
              </a:rPr>
              <a:t>red</a:t>
            </a:r>
            <a:r>
              <a:rPr sz="2176" dirty="0">
                <a:latin typeface="Times New Roman"/>
                <a:cs typeface="Times New Roman"/>
              </a:rPr>
              <a:t> neuronal </a:t>
            </a:r>
            <a:r>
              <a:rPr sz="2176" spc="-621" dirty="0">
                <a:latin typeface="Times New Roman"/>
                <a:cs typeface="Times New Roman"/>
              </a:rPr>
              <a:t> </a:t>
            </a:r>
            <a:r>
              <a:rPr sz="2176" spc="-5" dirty="0">
                <a:latin typeface="Times New Roman"/>
                <a:cs typeface="Times New Roman"/>
              </a:rPr>
              <a:t>con</a:t>
            </a:r>
            <a:r>
              <a:rPr sz="2176" dirty="0">
                <a:latin typeface="Times New Roman"/>
                <a:cs typeface="Times New Roman"/>
              </a:rPr>
              <a:t> </a:t>
            </a:r>
            <a:r>
              <a:rPr sz="2176" spc="-5" dirty="0">
                <a:latin typeface="Times New Roman"/>
                <a:cs typeface="Times New Roman"/>
              </a:rPr>
              <a:t>al</a:t>
            </a:r>
            <a:r>
              <a:rPr sz="2176" spc="9" dirty="0">
                <a:latin typeface="Times New Roman"/>
                <a:cs typeface="Times New Roman"/>
              </a:rPr>
              <a:t> </a:t>
            </a:r>
            <a:r>
              <a:rPr sz="2176" spc="-5" dirty="0">
                <a:latin typeface="Times New Roman"/>
                <a:cs typeface="Times New Roman"/>
              </a:rPr>
              <a:t>menos</a:t>
            </a:r>
            <a:r>
              <a:rPr sz="2176" spc="9" dirty="0">
                <a:latin typeface="Times New Roman"/>
                <a:cs typeface="Times New Roman"/>
              </a:rPr>
              <a:t> </a:t>
            </a:r>
            <a:r>
              <a:rPr sz="2176" spc="-5" dirty="0">
                <a:latin typeface="Times New Roman"/>
                <a:cs typeface="Times New Roman"/>
              </a:rPr>
              <a:t>una capa</a:t>
            </a:r>
            <a:r>
              <a:rPr sz="2176" dirty="0">
                <a:latin typeface="Times New Roman"/>
                <a:cs typeface="Times New Roman"/>
              </a:rPr>
              <a:t> </a:t>
            </a:r>
            <a:r>
              <a:rPr sz="2176" spc="-5" dirty="0">
                <a:latin typeface="Times New Roman"/>
                <a:cs typeface="Times New Roman"/>
              </a:rPr>
              <a:t>oculta</a:t>
            </a:r>
            <a:r>
              <a:rPr sz="2176" dirty="0">
                <a:latin typeface="Times New Roman"/>
                <a:cs typeface="Times New Roman"/>
              </a:rPr>
              <a:t> </a:t>
            </a:r>
            <a:r>
              <a:rPr sz="2176" spc="-5" dirty="0">
                <a:latin typeface="Times New Roman"/>
                <a:cs typeface="Times New Roman"/>
              </a:rPr>
              <a:t>y</a:t>
            </a:r>
            <a:r>
              <a:rPr sz="2176" spc="5" dirty="0">
                <a:latin typeface="Times New Roman"/>
                <a:cs typeface="Times New Roman"/>
              </a:rPr>
              <a:t> </a:t>
            </a:r>
            <a:r>
              <a:rPr sz="2176" spc="-5" dirty="0">
                <a:latin typeface="Times New Roman"/>
                <a:cs typeface="Times New Roman"/>
              </a:rPr>
              <a:t>un</a:t>
            </a:r>
            <a:r>
              <a:rPr sz="2176" spc="5" dirty="0">
                <a:latin typeface="Times New Roman"/>
                <a:cs typeface="Times New Roman"/>
              </a:rPr>
              <a:t> </a:t>
            </a:r>
            <a:r>
              <a:rPr sz="2176" spc="-5" dirty="0">
                <a:latin typeface="Times New Roman"/>
                <a:cs typeface="Times New Roman"/>
              </a:rPr>
              <a:t>número</a:t>
            </a:r>
            <a:r>
              <a:rPr sz="2176" spc="5" dirty="0">
                <a:latin typeface="Times New Roman"/>
                <a:cs typeface="Times New Roman"/>
              </a:rPr>
              <a:t> </a:t>
            </a:r>
            <a:r>
              <a:rPr sz="2176" dirty="0">
                <a:latin typeface="Times New Roman"/>
                <a:cs typeface="Times New Roman"/>
              </a:rPr>
              <a:t>de</a:t>
            </a:r>
            <a:r>
              <a:rPr sz="2176" spc="-5" dirty="0">
                <a:latin typeface="Times New Roman"/>
                <a:cs typeface="Times New Roman"/>
              </a:rPr>
              <a:t> nodos</a:t>
            </a:r>
            <a:r>
              <a:rPr sz="2176" dirty="0">
                <a:latin typeface="Times New Roman"/>
                <a:cs typeface="Times New Roman"/>
              </a:rPr>
              <a:t> </a:t>
            </a:r>
            <a:r>
              <a:rPr sz="2176" spc="-5" dirty="0">
                <a:latin typeface="Times New Roman"/>
                <a:cs typeface="Times New Roman"/>
              </a:rPr>
              <a:t>a</a:t>
            </a:r>
            <a:r>
              <a:rPr sz="2176" dirty="0">
                <a:latin typeface="Times New Roman"/>
                <a:cs typeface="Times New Roman"/>
              </a:rPr>
              <a:t> </a:t>
            </a:r>
            <a:r>
              <a:rPr sz="2176" spc="-5" dirty="0">
                <a:latin typeface="Times New Roman"/>
                <a:cs typeface="Times New Roman"/>
              </a:rPr>
              <a:t>determinar.</a:t>
            </a:r>
            <a:endParaRPr sz="2176" dirty="0">
              <a:latin typeface="Times New Roman"/>
              <a:cs typeface="Times New Roman"/>
            </a:endParaRPr>
          </a:p>
          <a:p>
            <a:pPr>
              <a:spcBef>
                <a:spcPts val="23"/>
              </a:spcBef>
            </a:pPr>
            <a:endParaRPr sz="2176" dirty="0">
              <a:latin typeface="Times New Roman"/>
              <a:cs typeface="Times New Roman"/>
            </a:endParaRPr>
          </a:p>
          <a:p>
            <a:pPr marL="46065">
              <a:lnSpc>
                <a:spcPts val="2988"/>
              </a:lnSpc>
            </a:pPr>
            <a:r>
              <a:rPr sz="2176" spc="-5" dirty="0">
                <a:solidFill>
                  <a:srgbClr val="FF0000"/>
                </a:solidFill>
                <a:latin typeface="Times New Roman"/>
                <a:cs typeface="Times New Roman"/>
              </a:rPr>
              <a:t>Teorema</a:t>
            </a:r>
            <a:r>
              <a:rPr sz="2176" dirty="0">
                <a:solidFill>
                  <a:srgbClr val="FF0000"/>
                </a:solidFill>
                <a:latin typeface="Times New Roman"/>
                <a:cs typeface="Times New Roman"/>
              </a:rPr>
              <a:t> de</a:t>
            </a:r>
            <a:r>
              <a:rPr sz="2176" spc="-5" dirty="0">
                <a:solidFill>
                  <a:srgbClr val="FF0000"/>
                </a:solidFill>
                <a:latin typeface="Times New Roman"/>
                <a:cs typeface="Times New Roman"/>
              </a:rPr>
              <a:t> aproximación:</a:t>
            </a:r>
            <a:r>
              <a:rPr sz="2176" spc="5" dirty="0">
                <a:solidFill>
                  <a:srgbClr val="FF0000"/>
                </a:solidFill>
                <a:latin typeface="Times New Roman"/>
                <a:cs typeface="Times New Roman"/>
              </a:rPr>
              <a:t> </a:t>
            </a:r>
            <a:r>
              <a:rPr sz="2176" spc="-5" dirty="0">
                <a:solidFill>
                  <a:srgbClr val="FF0000"/>
                </a:solidFill>
                <a:latin typeface="Times New Roman"/>
                <a:cs typeface="Times New Roman"/>
              </a:rPr>
              <a:t>versión</a:t>
            </a:r>
            <a:r>
              <a:rPr sz="2176" dirty="0">
                <a:solidFill>
                  <a:srgbClr val="FF0000"/>
                </a:solidFill>
                <a:latin typeface="Times New Roman"/>
                <a:cs typeface="Times New Roman"/>
              </a:rPr>
              <a:t> </a:t>
            </a:r>
            <a:r>
              <a:rPr sz="2176" spc="-5" dirty="0">
                <a:solidFill>
                  <a:srgbClr val="FF0000"/>
                </a:solidFill>
                <a:latin typeface="Times New Roman"/>
                <a:cs typeface="Times New Roman"/>
              </a:rPr>
              <a:t>simplificada</a:t>
            </a:r>
            <a:endParaRPr sz="2176" dirty="0">
              <a:latin typeface="Times New Roman"/>
              <a:cs typeface="Times New Roman"/>
            </a:endParaRPr>
          </a:p>
          <a:p>
            <a:pPr marL="46065" marR="134741" algn="just">
              <a:lnSpc>
                <a:spcPts val="2920"/>
              </a:lnSpc>
              <a:spcBef>
                <a:spcPts val="145"/>
              </a:spcBef>
              <a:tabLst>
                <a:tab pos="671404" algn="l"/>
              </a:tabLst>
            </a:pPr>
            <a:r>
              <a:rPr sz="2176" spc="-9" dirty="0">
                <a:latin typeface="Times New Roman"/>
                <a:cs typeface="Times New Roman"/>
              </a:rPr>
              <a:t>Sea	φ(·)</a:t>
            </a:r>
            <a:r>
              <a:rPr sz="2176" spc="9" dirty="0">
                <a:latin typeface="Times New Roman"/>
                <a:cs typeface="Times New Roman"/>
              </a:rPr>
              <a:t> </a:t>
            </a:r>
            <a:r>
              <a:rPr sz="2176" spc="-5" dirty="0">
                <a:latin typeface="Times New Roman"/>
                <a:cs typeface="Times New Roman"/>
              </a:rPr>
              <a:t>función</a:t>
            </a:r>
            <a:r>
              <a:rPr sz="2176" spc="9" dirty="0">
                <a:latin typeface="Times New Roman"/>
                <a:cs typeface="Times New Roman"/>
              </a:rPr>
              <a:t> </a:t>
            </a:r>
            <a:r>
              <a:rPr sz="2176" spc="-5" dirty="0">
                <a:latin typeface="Times New Roman"/>
                <a:cs typeface="Times New Roman"/>
              </a:rPr>
              <a:t>no constante,</a:t>
            </a:r>
            <a:r>
              <a:rPr sz="2176" spc="5" dirty="0">
                <a:latin typeface="Times New Roman"/>
                <a:cs typeface="Times New Roman"/>
              </a:rPr>
              <a:t> </a:t>
            </a:r>
            <a:r>
              <a:rPr sz="2176" spc="-5" dirty="0">
                <a:latin typeface="Times New Roman"/>
                <a:cs typeface="Times New Roman"/>
              </a:rPr>
              <a:t>acotada</a:t>
            </a:r>
            <a:r>
              <a:rPr sz="2176" spc="9" dirty="0">
                <a:latin typeface="Times New Roman"/>
                <a:cs typeface="Times New Roman"/>
              </a:rPr>
              <a:t> </a:t>
            </a:r>
            <a:r>
              <a:rPr sz="2176" spc="-5" dirty="0">
                <a:latin typeface="Times New Roman"/>
                <a:cs typeface="Times New Roman"/>
              </a:rPr>
              <a:t>,</a:t>
            </a:r>
            <a:r>
              <a:rPr sz="2176" dirty="0">
                <a:latin typeface="Times New Roman"/>
                <a:cs typeface="Times New Roman"/>
              </a:rPr>
              <a:t> </a:t>
            </a:r>
            <a:r>
              <a:rPr sz="2176" spc="-5" dirty="0">
                <a:latin typeface="Times New Roman"/>
                <a:cs typeface="Times New Roman"/>
              </a:rPr>
              <a:t>monótona</a:t>
            </a:r>
            <a:r>
              <a:rPr sz="2176" dirty="0">
                <a:latin typeface="Times New Roman"/>
                <a:cs typeface="Times New Roman"/>
              </a:rPr>
              <a:t> </a:t>
            </a:r>
            <a:r>
              <a:rPr sz="2176" spc="-5" dirty="0">
                <a:latin typeface="Times New Roman"/>
                <a:cs typeface="Times New Roman"/>
              </a:rPr>
              <a:t>creciente y </a:t>
            </a:r>
            <a:r>
              <a:rPr sz="2176" dirty="0">
                <a:latin typeface="Times New Roman"/>
                <a:cs typeface="Times New Roman"/>
              </a:rPr>
              <a:t> </a:t>
            </a:r>
            <a:r>
              <a:rPr sz="2176" spc="-5" dirty="0">
                <a:latin typeface="Times New Roman"/>
                <a:cs typeface="Times New Roman"/>
              </a:rPr>
              <a:t>continua.</a:t>
            </a:r>
            <a:r>
              <a:rPr sz="2176" dirty="0">
                <a:latin typeface="Times New Roman"/>
                <a:cs typeface="Times New Roman"/>
              </a:rPr>
              <a:t> </a:t>
            </a:r>
            <a:r>
              <a:rPr sz="2176" spc="-9" dirty="0">
                <a:latin typeface="Times New Roman"/>
                <a:cs typeface="Times New Roman"/>
              </a:rPr>
              <a:t>Dada</a:t>
            </a:r>
            <a:r>
              <a:rPr sz="2176" spc="14" dirty="0">
                <a:latin typeface="Times New Roman"/>
                <a:cs typeface="Times New Roman"/>
              </a:rPr>
              <a:t> </a:t>
            </a:r>
            <a:r>
              <a:rPr sz="2176" spc="-5" dirty="0">
                <a:latin typeface="Times New Roman"/>
                <a:cs typeface="Times New Roman"/>
              </a:rPr>
              <a:t>cualquier</a:t>
            </a:r>
            <a:r>
              <a:rPr sz="2176" spc="5" dirty="0">
                <a:latin typeface="Times New Roman"/>
                <a:cs typeface="Times New Roman"/>
              </a:rPr>
              <a:t> </a:t>
            </a:r>
            <a:r>
              <a:rPr sz="2176" spc="-5" dirty="0">
                <a:latin typeface="Times New Roman"/>
                <a:cs typeface="Times New Roman"/>
              </a:rPr>
              <a:t>función</a:t>
            </a:r>
            <a:r>
              <a:rPr sz="2176" spc="14" dirty="0">
                <a:latin typeface="Times New Roman"/>
                <a:cs typeface="Times New Roman"/>
              </a:rPr>
              <a:t> </a:t>
            </a:r>
            <a:r>
              <a:rPr sz="2176" spc="-5" dirty="0">
                <a:latin typeface="Times New Roman"/>
                <a:cs typeface="Times New Roman"/>
              </a:rPr>
              <a:t>f(x)</a:t>
            </a:r>
            <a:r>
              <a:rPr sz="2176" spc="5" dirty="0">
                <a:latin typeface="Times New Roman"/>
                <a:cs typeface="Times New Roman"/>
              </a:rPr>
              <a:t> </a:t>
            </a:r>
            <a:r>
              <a:rPr sz="2176" spc="-5" dirty="0">
                <a:latin typeface="Times New Roman"/>
                <a:cs typeface="Times New Roman"/>
              </a:rPr>
              <a:t>en</a:t>
            </a:r>
            <a:r>
              <a:rPr sz="2176" dirty="0">
                <a:latin typeface="Times New Roman"/>
                <a:cs typeface="Times New Roman"/>
              </a:rPr>
              <a:t> </a:t>
            </a:r>
            <a:r>
              <a:rPr sz="2176" spc="-5" dirty="0">
                <a:latin typeface="Times New Roman"/>
                <a:cs typeface="Times New Roman"/>
              </a:rPr>
              <a:t>el</a:t>
            </a:r>
            <a:r>
              <a:rPr sz="2176" spc="5" dirty="0">
                <a:latin typeface="Times New Roman"/>
                <a:cs typeface="Times New Roman"/>
              </a:rPr>
              <a:t> </a:t>
            </a:r>
            <a:r>
              <a:rPr sz="2176" spc="-5" dirty="0">
                <a:latin typeface="Times New Roman"/>
                <a:cs typeface="Times New Roman"/>
              </a:rPr>
              <a:t>hipercubo</a:t>
            </a:r>
            <a:r>
              <a:rPr sz="2176" spc="14" dirty="0">
                <a:latin typeface="Times New Roman"/>
                <a:cs typeface="Times New Roman"/>
              </a:rPr>
              <a:t> </a:t>
            </a:r>
            <a:r>
              <a:rPr sz="2176" spc="-5" dirty="0">
                <a:latin typeface="Times New Roman"/>
                <a:cs typeface="Times New Roman"/>
              </a:rPr>
              <a:t>[0,1]</a:t>
            </a:r>
            <a:r>
              <a:rPr sz="2176" spc="-18" dirty="0">
                <a:latin typeface="Times New Roman"/>
                <a:cs typeface="Times New Roman"/>
              </a:rPr>
              <a:t> </a:t>
            </a:r>
            <a:r>
              <a:rPr sz="2176" spc="-5" dirty="0">
                <a:latin typeface="Times New Roman"/>
                <a:cs typeface="Times New Roman"/>
              </a:rPr>
              <a:t>y</a:t>
            </a:r>
            <a:r>
              <a:rPr sz="2176" spc="14" dirty="0">
                <a:latin typeface="Times New Roman"/>
                <a:cs typeface="Times New Roman"/>
              </a:rPr>
              <a:t> </a:t>
            </a:r>
            <a:r>
              <a:rPr sz="2176" spc="-5" dirty="0">
                <a:latin typeface="Times New Roman"/>
                <a:cs typeface="Times New Roman"/>
              </a:rPr>
              <a:t>є</a:t>
            </a:r>
            <a:r>
              <a:rPr sz="2176" spc="5" dirty="0">
                <a:latin typeface="Times New Roman"/>
                <a:cs typeface="Times New Roman"/>
              </a:rPr>
              <a:t> </a:t>
            </a:r>
            <a:r>
              <a:rPr sz="2176" spc="-5" dirty="0">
                <a:latin typeface="Times New Roman"/>
                <a:cs typeface="Times New Roman"/>
              </a:rPr>
              <a:t>&gt;</a:t>
            </a:r>
            <a:r>
              <a:rPr sz="2176" spc="-9" dirty="0">
                <a:latin typeface="Times New Roman"/>
                <a:cs typeface="Times New Roman"/>
              </a:rPr>
              <a:t> </a:t>
            </a:r>
            <a:r>
              <a:rPr sz="2176" spc="-5" dirty="0">
                <a:latin typeface="Times New Roman"/>
                <a:cs typeface="Times New Roman"/>
              </a:rPr>
              <a:t>0, </a:t>
            </a:r>
            <a:r>
              <a:rPr sz="2176" spc="-621" dirty="0">
                <a:latin typeface="Times New Roman"/>
                <a:cs typeface="Times New Roman"/>
              </a:rPr>
              <a:t> </a:t>
            </a:r>
            <a:r>
              <a:rPr sz="2176" spc="-5" dirty="0">
                <a:latin typeface="Times New Roman"/>
                <a:cs typeface="Times New Roman"/>
              </a:rPr>
              <a:t>existe</a:t>
            </a:r>
            <a:r>
              <a:rPr sz="2176" spc="-9" dirty="0">
                <a:latin typeface="Times New Roman"/>
                <a:cs typeface="Times New Roman"/>
              </a:rPr>
              <a:t> </a:t>
            </a:r>
            <a:r>
              <a:rPr sz="2176" i="1" spc="-5" dirty="0">
                <a:latin typeface="Times New Roman"/>
                <a:cs typeface="Times New Roman"/>
              </a:rPr>
              <a:t>N</a:t>
            </a:r>
            <a:r>
              <a:rPr sz="2176" i="1" dirty="0">
                <a:latin typeface="Times New Roman"/>
                <a:cs typeface="Times New Roman"/>
              </a:rPr>
              <a:t> </a:t>
            </a:r>
            <a:r>
              <a:rPr sz="2176" spc="-5" dirty="0">
                <a:latin typeface="Times New Roman"/>
                <a:cs typeface="Times New Roman"/>
              </a:rPr>
              <a:t>y</a:t>
            </a:r>
            <a:r>
              <a:rPr sz="2176" spc="9" dirty="0">
                <a:latin typeface="Times New Roman"/>
                <a:cs typeface="Times New Roman"/>
              </a:rPr>
              <a:t> </a:t>
            </a:r>
            <a:r>
              <a:rPr sz="2176" spc="-5" dirty="0">
                <a:latin typeface="Times New Roman"/>
                <a:cs typeface="Times New Roman"/>
              </a:rPr>
              <a:t>constantes</a:t>
            </a:r>
            <a:r>
              <a:rPr sz="2176" spc="5" dirty="0">
                <a:latin typeface="Times New Roman"/>
                <a:cs typeface="Times New Roman"/>
              </a:rPr>
              <a:t> </a:t>
            </a:r>
            <a:r>
              <a:rPr sz="2176" i="1" spc="-5" dirty="0">
                <a:latin typeface="Times New Roman"/>
                <a:cs typeface="Times New Roman"/>
              </a:rPr>
              <a:t>α</a:t>
            </a:r>
            <a:r>
              <a:rPr sz="2176" i="1" spc="-6" baseline="-12345" dirty="0">
                <a:latin typeface="Times New Roman"/>
                <a:cs typeface="Times New Roman"/>
              </a:rPr>
              <a:t>i</a:t>
            </a:r>
            <a:r>
              <a:rPr sz="2176" spc="-5" dirty="0">
                <a:latin typeface="Times New Roman"/>
                <a:cs typeface="Times New Roman"/>
              </a:rPr>
              <a:t>,</a:t>
            </a:r>
            <a:r>
              <a:rPr sz="2176" spc="-9" dirty="0">
                <a:latin typeface="Times New Roman"/>
                <a:cs typeface="Times New Roman"/>
              </a:rPr>
              <a:t> </a:t>
            </a:r>
            <a:r>
              <a:rPr sz="2176" i="1" dirty="0">
                <a:latin typeface="Times New Roman"/>
                <a:cs typeface="Times New Roman"/>
              </a:rPr>
              <a:t>b</a:t>
            </a:r>
            <a:r>
              <a:rPr sz="2176" i="1" baseline="-12345" dirty="0">
                <a:latin typeface="Times New Roman"/>
                <a:cs typeface="Times New Roman"/>
              </a:rPr>
              <a:t>i</a:t>
            </a:r>
            <a:r>
              <a:rPr sz="2176" dirty="0">
                <a:latin typeface="Times New Roman"/>
                <a:cs typeface="Times New Roman"/>
              </a:rPr>
              <a:t>,</a:t>
            </a:r>
            <a:r>
              <a:rPr sz="2176" spc="5" dirty="0">
                <a:latin typeface="Times New Roman"/>
                <a:cs typeface="Times New Roman"/>
              </a:rPr>
              <a:t> </a:t>
            </a:r>
            <a:r>
              <a:rPr sz="2176" i="1" spc="-5" dirty="0">
                <a:latin typeface="Times New Roman"/>
                <a:cs typeface="Times New Roman"/>
              </a:rPr>
              <a:t>w</a:t>
            </a:r>
            <a:r>
              <a:rPr sz="2176" i="1" spc="-6" baseline="-12345" dirty="0">
                <a:latin typeface="Times New Roman"/>
                <a:cs typeface="Times New Roman"/>
              </a:rPr>
              <a:t>i</a:t>
            </a:r>
            <a:r>
              <a:rPr sz="2176" i="1" spc="333" baseline="-12345" dirty="0">
                <a:latin typeface="Times New Roman"/>
                <a:cs typeface="Times New Roman"/>
              </a:rPr>
              <a:t> </a:t>
            </a:r>
            <a:r>
              <a:rPr sz="2176" dirty="0">
                <a:latin typeface="Times New Roman"/>
                <a:cs typeface="Times New Roman"/>
              </a:rPr>
              <a:t>en </a:t>
            </a:r>
            <a:r>
              <a:rPr sz="2176" b="1" spc="-5" dirty="0">
                <a:latin typeface="Times New Roman"/>
                <a:cs typeface="Times New Roman"/>
              </a:rPr>
              <a:t>R</a:t>
            </a:r>
            <a:r>
              <a:rPr sz="2176" i="1" spc="-6" baseline="38580" dirty="0">
                <a:latin typeface="Times New Roman"/>
                <a:cs typeface="Times New Roman"/>
              </a:rPr>
              <a:t>m</a:t>
            </a:r>
            <a:r>
              <a:rPr sz="2176" spc="-5" dirty="0">
                <a:latin typeface="Times New Roman"/>
                <a:cs typeface="Times New Roman"/>
              </a:rPr>
              <a:t>,</a:t>
            </a:r>
            <a:r>
              <a:rPr sz="2176" dirty="0">
                <a:latin typeface="Times New Roman"/>
                <a:cs typeface="Times New Roman"/>
              </a:rPr>
              <a:t> </a:t>
            </a:r>
            <a:r>
              <a:rPr sz="2176" spc="-5" dirty="0">
                <a:latin typeface="Times New Roman"/>
                <a:cs typeface="Times New Roman"/>
              </a:rPr>
              <a:t>tales</a:t>
            </a:r>
            <a:r>
              <a:rPr sz="2176" spc="9" dirty="0">
                <a:latin typeface="Times New Roman"/>
                <a:cs typeface="Times New Roman"/>
              </a:rPr>
              <a:t> </a:t>
            </a:r>
            <a:r>
              <a:rPr sz="2176" spc="-5" dirty="0">
                <a:latin typeface="Times New Roman"/>
                <a:cs typeface="Times New Roman"/>
              </a:rPr>
              <a:t>que:</a:t>
            </a:r>
            <a:endParaRPr sz="2176" dirty="0">
              <a:latin typeface="Times New Roman"/>
              <a:cs typeface="Times New Roman"/>
            </a:endParaRPr>
          </a:p>
        </p:txBody>
      </p:sp>
      <p:grpSp>
        <p:nvGrpSpPr>
          <p:cNvPr id="4" name="object 4"/>
          <p:cNvGrpSpPr/>
          <p:nvPr/>
        </p:nvGrpSpPr>
        <p:grpSpPr>
          <a:xfrm>
            <a:off x="4368544" y="4444916"/>
            <a:ext cx="4007698" cy="1105572"/>
            <a:chOff x="817244" y="5384292"/>
            <a:chExt cx="4619625" cy="1638300"/>
          </a:xfrm>
        </p:grpSpPr>
        <p:pic>
          <p:nvPicPr>
            <p:cNvPr id="5" name="object 5"/>
            <p:cNvPicPr/>
            <p:nvPr/>
          </p:nvPicPr>
          <p:blipFill>
            <a:blip r:embed="rId2" cstate="print"/>
            <a:stretch>
              <a:fillRect/>
            </a:stretch>
          </p:blipFill>
          <p:spPr>
            <a:xfrm>
              <a:off x="817244" y="5384292"/>
              <a:ext cx="4619625" cy="1066241"/>
            </a:xfrm>
            <a:prstGeom prst="rect">
              <a:avLst/>
            </a:prstGeom>
          </p:spPr>
        </p:pic>
        <p:pic>
          <p:nvPicPr>
            <p:cNvPr id="6" name="object 6"/>
            <p:cNvPicPr/>
            <p:nvPr/>
          </p:nvPicPr>
          <p:blipFill>
            <a:blip r:embed="rId3" cstate="print"/>
            <a:stretch>
              <a:fillRect/>
            </a:stretch>
          </p:blipFill>
          <p:spPr>
            <a:xfrm>
              <a:off x="817244" y="6451092"/>
              <a:ext cx="4048125" cy="570941"/>
            </a:xfrm>
            <a:prstGeom prst="rect">
              <a:avLst/>
            </a:prstGeom>
          </p:spPr>
        </p:pic>
      </p:grpSp>
      <p:sp>
        <p:nvSpPr>
          <p:cNvPr id="7" name="Rectángulo 6"/>
          <p:cNvSpPr/>
          <p:nvPr/>
        </p:nvSpPr>
        <p:spPr>
          <a:xfrm>
            <a:off x="1881008" y="5847439"/>
            <a:ext cx="7946297" cy="538865"/>
          </a:xfrm>
          <a:prstGeom prst="rect">
            <a:avLst/>
          </a:prstGeom>
          <a:ln>
            <a:solidFill>
              <a:schemeClr val="accent1"/>
            </a:solidFill>
          </a:ln>
        </p:spPr>
        <p:txBody>
          <a:bodyPr wrap="square">
            <a:spAutoFit/>
          </a:bodyPr>
          <a:lstStyle/>
          <a:p>
            <a:r>
              <a:rPr lang="es-ES" sz="1451" dirty="0"/>
              <a:t>Script para entender de manera interactiva el Teorema de Aproximación Universal: https://ichi.pro/es/comprender-el-teorema-de-aproximacion-universal-con-codigo-131176068372273</a:t>
            </a:r>
          </a:p>
        </p:txBody>
      </p:sp>
    </p:spTree>
    <p:extLst>
      <p:ext uri="{BB962C8B-B14F-4D97-AF65-F5344CB8AC3E}">
        <p14:creationId xmlns:p14="http://schemas.microsoft.com/office/powerpoint/2010/main" val="31863887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05013" y="288903"/>
            <a:ext cx="3178519" cy="513945"/>
          </a:xfrm>
          <a:prstGeom prst="rect">
            <a:avLst/>
          </a:prstGeom>
        </p:spPr>
        <p:txBody>
          <a:bodyPr vert="horz" wrap="square" lIns="0" tIns="11516" rIns="0" bIns="0" rtlCol="0" anchor="ctr">
            <a:spAutoFit/>
          </a:bodyPr>
          <a:lstStyle/>
          <a:p>
            <a:pPr marL="11516">
              <a:lnSpc>
                <a:spcPct val="100000"/>
              </a:lnSpc>
              <a:spcBef>
                <a:spcPts val="91"/>
              </a:spcBef>
            </a:pPr>
            <a:r>
              <a:rPr lang="es-ES" sz="3264" dirty="0">
                <a:solidFill>
                  <a:schemeClr val="tx2">
                    <a:lumMod val="60000"/>
                    <a:lumOff val="40000"/>
                  </a:schemeClr>
                </a:solidFill>
              </a:rPr>
              <a:t>En otras palabras</a:t>
            </a:r>
            <a:endParaRPr sz="3264" dirty="0">
              <a:solidFill>
                <a:schemeClr val="tx2">
                  <a:lumMod val="60000"/>
                  <a:lumOff val="40000"/>
                </a:schemeClr>
              </a:solidFill>
            </a:endParaRPr>
          </a:p>
        </p:txBody>
      </p:sp>
      <p:sp>
        <p:nvSpPr>
          <p:cNvPr id="8" name="Rectángulo 7"/>
          <p:cNvSpPr/>
          <p:nvPr/>
        </p:nvSpPr>
        <p:spPr>
          <a:xfrm>
            <a:off x="1810182" y="806145"/>
            <a:ext cx="8568181" cy="5339282"/>
          </a:xfrm>
          <a:prstGeom prst="rect">
            <a:avLst/>
          </a:prstGeom>
        </p:spPr>
        <p:txBody>
          <a:bodyPr wrap="square">
            <a:spAutoFit/>
          </a:bodyPr>
          <a:lstStyle/>
          <a:p>
            <a:pPr algn="just"/>
            <a:r>
              <a:rPr lang="es-ES" sz="1995" dirty="0">
                <a:solidFill>
                  <a:srgbClr val="374151"/>
                </a:solidFill>
                <a:latin typeface="+mj-lt"/>
              </a:rPr>
              <a:t>El teorema de aproximación universal dice que una red neuronal con una capa oculta y un número suficientemente grande de neuronas puede aproximar cualquier función continua en un intervalo finito de forma arbitrariamente precisa.</a:t>
            </a:r>
          </a:p>
          <a:p>
            <a:pPr algn="just"/>
            <a:endParaRPr lang="es-ES" sz="1995" dirty="0">
              <a:solidFill>
                <a:srgbClr val="374151"/>
              </a:solidFill>
              <a:latin typeface="+mj-lt"/>
            </a:endParaRPr>
          </a:p>
          <a:p>
            <a:pPr algn="just"/>
            <a:r>
              <a:rPr lang="es-ES" sz="1995" dirty="0">
                <a:solidFill>
                  <a:srgbClr val="374151"/>
                </a:solidFill>
                <a:latin typeface="+mj-lt"/>
              </a:rPr>
              <a:t>Por tanto, una red neuronal con </a:t>
            </a:r>
            <a:r>
              <a:rPr lang="es-ES" sz="1995" b="1" dirty="0">
                <a:solidFill>
                  <a:srgbClr val="374151"/>
                </a:solidFill>
                <a:latin typeface="+mj-lt"/>
              </a:rPr>
              <a:t>una sola capa oculta</a:t>
            </a:r>
            <a:r>
              <a:rPr lang="es-ES" sz="1995" dirty="0">
                <a:solidFill>
                  <a:srgbClr val="374151"/>
                </a:solidFill>
                <a:latin typeface="+mj-lt"/>
              </a:rPr>
              <a:t> puede modelar </a:t>
            </a:r>
            <a:r>
              <a:rPr lang="es-ES" sz="1995" b="1" dirty="0">
                <a:solidFill>
                  <a:srgbClr val="374151"/>
                </a:solidFill>
                <a:latin typeface="+mj-lt"/>
              </a:rPr>
              <a:t>cualquier función matemática continua</a:t>
            </a:r>
            <a:r>
              <a:rPr lang="es-ES" sz="1995" dirty="0">
                <a:solidFill>
                  <a:srgbClr val="374151"/>
                </a:solidFill>
                <a:latin typeface="+mj-lt"/>
              </a:rPr>
              <a:t> si tiene suficientes neuronas en esa capa oculta. </a:t>
            </a:r>
          </a:p>
          <a:p>
            <a:pPr algn="just"/>
            <a:endParaRPr lang="es-ES" sz="1995" dirty="0">
              <a:solidFill>
                <a:srgbClr val="374151"/>
              </a:solidFill>
              <a:latin typeface="+mj-lt"/>
            </a:endParaRPr>
          </a:p>
          <a:p>
            <a:pPr algn="just"/>
            <a:r>
              <a:rPr lang="es-ES" sz="1995" dirty="0">
                <a:solidFill>
                  <a:srgbClr val="374151"/>
                </a:solidFill>
                <a:latin typeface="+mj-lt"/>
              </a:rPr>
              <a:t>En otras palabras…si se puede representar una función matemática en un gráfico, entonces una red neuronal de una capa oculta con suficientes neuronas puede aproximar esa función con una precisión arbitraria.</a:t>
            </a:r>
          </a:p>
          <a:p>
            <a:pPr algn="just"/>
            <a:endParaRPr lang="es-ES" sz="1995" dirty="0">
              <a:solidFill>
                <a:srgbClr val="374151"/>
              </a:solidFill>
              <a:latin typeface="+mj-lt"/>
            </a:endParaRPr>
          </a:p>
          <a:p>
            <a:pPr algn="just"/>
            <a:r>
              <a:rPr lang="es-ES" sz="1995" dirty="0">
                <a:solidFill>
                  <a:srgbClr val="C00000"/>
                </a:solidFill>
                <a:latin typeface="+mj-lt"/>
              </a:rPr>
              <a:t>Este teorema es importante porque muestra la capacidad de las redes neuronales para modelar cualquier tipo de función matemática.</a:t>
            </a:r>
          </a:p>
          <a:p>
            <a:pPr algn="just"/>
            <a:endParaRPr lang="es-ES" sz="1995" dirty="0">
              <a:solidFill>
                <a:srgbClr val="374151"/>
              </a:solidFill>
              <a:latin typeface="+mj-lt"/>
            </a:endParaRPr>
          </a:p>
          <a:p>
            <a:pPr algn="just"/>
            <a:r>
              <a:rPr lang="es-ES" sz="1995" dirty="0">
                <a:solidFill>
                  <a:srgbClr val="374151"/>
                </a:solidFill>
                <a:latin typeface="+mj-lt"/>
              </a:rPr>
              <a:t>Además, el teorema también proporciona una guía para determinar el número adecuado de neuronas en la capa oculta de una red neuronal para aproximar una función dada con una precisión determinada</a:t>
            </a:r>
            <a:r>
              <a:rPr lang="es-ES" sz="2176" dirty="0">
                <a:solidFill>
                  <a:srgbClr val="374151"/>
                </a:solidFill>
                <a:latin typeface="+mj-lt"/>
              </a:rPr>
              <a:t>.</a:t>
            </a:r>
          </a:p>
        </p:txBody>
      </p:sp>
    </p:spTree>
    <p:extLst>
      <p:ext uri="{BB962C8B-B14F-4D97-AF65-F5344CB8AC3E}">
        <p14:creationId xmlns:p14="http://schemas.microsoft.com/office/powerpoint/2010/main" val="8168458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2295597" y="1079661"/>
            <a:ext cx="8429985" cy="4298018"/>
          </a:xfrm>
        </p:spPr>
        <p:txBody>
          <a:bodyPr>
            <a:normAutofit lnSpcReduction="10000"/>
          </a:bodyPr>
          <a:lstStyle/>
          <a:p>
            <a:pPr algn="just"/>
            <a:r>
              <a:rPr lang="es-ES" sz="2539" dirty="0"/>
              <a:t>Cuantos más nodos haya en la capa oculta, mejor se ajustará el modelo a los datos de entrenamiento. Sin embargo, esto puede provocar el problema de </a:t>
            </a:r>
            <a:r>
              <a:rPr lang="es-ES" sz="2539" b="1" dirty="0"/>
              <a:t>sobreajuste</a:t>
            </a:r>
            <a:r>
              <a:rPr lang="es-ES" sz="2539" dirty="0"/>
              <a:t>, de manera que cuando se introduzcan datos nuevos el modelo no sepa ajustarse. Por eso, es importante llegar a un </a:t>
            </a:r>
            <a:r>
              <a:rPr lang="es-ES" sz="2539" b="1" dirty="0"/>
              <a:t>equilibrio</a:t>
            </a:r>
            <a:r>
              <a:rPr lang="es-ES" sz="2539" dirty="0"/>
              <a:t>.</a:t>
            </a:r>
          </a:p>
          <a:p>
            <a:pPr algn="just"/>
            <a:endParaRPr lang="es-ES" sz="2539" dirty="0"/>
          </a:p>
          <a:p>
            <a:pPr algn="just"/>
            <a:r>
              <a:rPr lang="es-ES" sz="2539" dirty="0"/>
              <a:t>El número de nodos de la capa oculta se calcula mediante </a:t>
            </a:r>
            <a:r>
              <a:rPr lang="es-ES" sz="2539" b="1" dirty="0"/>
              <a:t>prueba-error</a:t>
            </a:r>
            <a:r>
              <a:rPr lang="es-ES" sz="2539" dirty="0"/>
              <a:t>, atendiendo al número de observaciones, su complejidad, cantidad de variables, relaciones entre ellas, etc. Lo que está claro es que si no hay muchas observaciones, hay que evitar cantidades grandes de nodos en la capa oculta.</a:t>
            </a:r>
            <a:endParaRPr lang="es-ES" dirty="0">
              <a:solidFill>
                <a:schemeClr val="tx1"/>
              </a:solidFill>
            </a:endParaRPr>
          </a:p>
        </p:txBody>
      </p:sp>
    </p:spTree>
    <p:extLst>
      <p:ext uri="{BB962C8B-B14F-4D97-AF65-F5344CB8AC3E}">
        <p14:creationId xmlns:p14="http://schemas.microsoft.com/office/powerpoint/2010/main" val="30026178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50107" y="526875"/>
            <a:ext cx="7946297" cy="5753261"/>
          </a:xfrm>
          <a:prstGeom prst="rect">
            <a:avLst/>
          </a:prstGeom>
        </p:spPr>
        <p:txBody>
          <a:bodyPr vert="horz" wrap="square" lIns="0" tIns="10941" rIns="0" bIns="0" rtlCol="0">
            <a:spAutoFit/>
          </a:bodyPr>
          <a:lstStyle/>
          <a:p>
            <a:pPr marL="11516">
              <a:spcBef>
                <a:spcPts val="86"/>
              </a:spcBef>
            </a:pPr>
            <a:r>
              <a:rPr sz="2539" spc="-5" dirty="0">
                <a:solidFill>
                  <a:schemeClr val="tx2">
                    <a:lumMod val="60000"/>
                    <a:lumOff val="40000"/>
                  </a:schemeClr>
                </a:solidFill>
                <a:cs typeface="Times New Roman"/>
              </a:rPr>
              <a:t>Recapitulemos</a:t>
            </a:r>
            <a:endParaRPr sz="2539" dirty="0">
              <a:solidFill>
                <a:schemeClr val="tx2">
                  <a:lumMod val="60000"/>
                  <a:lumOff val="40000"/>
                </a:schemeClr>
              </a:solidFill>
              <a:cs typeface="Times New Roman"/>
            </a:endParaRPr>
          </a:p>
          <a:p>
            <a:pPr>
              <a:spcBef>
                <a:spcPts val="18"/>
              </a:spcBef>
            </a:pPr>
            <a:endParaRPr sz="2675" dirty="0">
              <a:cs typeface="Times New Roman"/>
            </a:endParaRPr>
          </a:p>
          <a:p>
            <a:pPr marL="426105" marR="567181" indent="-207294" algn="just">
              <a:lnSpc>
                <a:spcPct val="95900"/>
              </a:lnSpc>
              <a:buFont typeface="Symbol"/>
              <a:buChar char=""/>
              <a:tabLst>
                <a:tab pos="426680" algn="l"/>
              </a:tabLst>
            </a:pPr>
            <a:r>
              <a:rPr sz="2539" spc="-5" dirty="0">
                <a:cs typeface="Times New Roman"/>
              </a:rPr>
              <a:t>La</a:t>
            </a:r>
            <a:r>
              <a:rPr sz="2539" spc="-9" dirty="0">
                <a:cs typeface="Times New Roman"/>
              </a:rPr>
              <a:t> </a:t>
            </a:r>
            <a:r>
              <a:rPr sz="2539" dirty="0">
                <a:cs typeface="Times New Roman"/>
              </a:rPr>
              <a:t>red neuronal </a:t>
            </a:r>
            <a:r>
              <a:rPr sz="2539" spc="-5" dirty="0">
                <a:cs typeface="Times New Roman"/>
              </a:rPr>
              <a:t>consiste en</a:t>
            </a:r>
            <a:r>
              <a:rPr sz="2539" dirty="0">
                <a:cs typeface="Times New Roman"/>
              </a:rPr>
              <a:t> </a:t>
            </a:r>
            <a:r>
              <a:rPr sz="2539" spc="-5" dirty="0">
                <a:cs typeface="Times New Roman"/>
              </a:rPr>
              <a:t>un</a:t>
            </a:r>
            <a:r>
              <a:rPr sz="2539" spc="32" dirty="0">
                <a:cs typeface="Times New Roman"/>
              </a:rPr>
              <a:t> </a:t>
            </a:r>
            <a:r>
              <a:rPr sz="2539" spc="-5" dirty="0">
                <a:cs typeface="Times New Roman"/>
              </a:rPr>
              <a:t>planteamiento</a:t>
            </a:r>
            <a:r>
              <a:rPr sz="2539" spc="5" dirty="0">
                <a:cs typeface="Times New Roman"/>
              </a:rPr>
              <a:t> </a:t>
            </a:r>
            <a:r>
              <a:rPr sz="2539" spc="-5" dirty="0">
                <a:cs typeface="Times New Roman"/>
              </a:rPr>
              <a:t>gráfico</a:t>
            </a:r>
            <a:r>
              <a:rPr sz="2539" spc="14" dirty="0">
                <a:cs typeface="Times New Roman"/>
              </a:rPr>
              <a:t> </a:t>
            </a:r>
            <a:r>
              <a:rPr sz="2539" spc="-5" dirty="0">
                <a:cs typeface="Times New Roman"/>
              </a:rPr>
              <a:t>que </a:t>
            </a:r>
            <a:r>
              <a:rPr sz="2539" dirty="0">
                <a:cs typeface="Times New Roman"/>
              </a:rPr>
              <a:t> </a:t>
            </a:r>
            <a:r>
              <a:rPr sz="2539" spc="-5" dirty="0">
                <a:cs typeface="Times New Roman"/>
              </a:rPr>
              <a:t>resulta</a:t>
            </a:r>
            <a:r>
              <a:rPr sz="2539" spc="5" dirty="0">
                <a:cs typeface="Times New Roman"/>
              </a:rPr>
              <a:t> </a:t>
            </a:r>
            <a:r>
              <a:rPr sz="2539" spc="-9" dirty="0">
                <a:cs typeface="Times New Roman"/>
              </a:rPr>
              <a:t>en</a:t>
            </a:r>
            <a:r>
              <a:rPr sz="2539" spc="18" dirty="0">
                <a:cs typeface="Times New Roman"/>
              </a:rPr>
              <a:t> </a:t>
            </a:r>
            <a:r>
              <a:rPr sz="2539" spc="-5" dirty="0">
                <a:cs typeface="Times New Roman"/>
              </a:rPr>
              <a:t>un</a:t>
            </a:r>
            <a:r>
              <a:rPr sz="2539" spc="14" dirty="0">
                <a:cs typeface="Times New Roman"/>
              </a:rPr>
              <a:t> </a:t>
            </a:r>
            <a:r>
              <a:rPr sz="2539" spc="-5" dirty="0">
                <a:cs typeface="Times New Roman"/>
              </a:rPr>
              <a:t>planteamiento</a:t>
            </a:r>
            <a:r>
              <a:rPr sz="2539" spc="14" dirty="0">
                <a:cs typeface="Times New Roman"/>
              </a:rPr>
              <a:t> </a:t>
            </a:r>
            <a:r>
              <a:rPr sz="2539" spc="-5" dirty="0">
                <a:cs typeface="Times New Roman"/>
              </a:rPr>
              <a:t>de</a:t>
            </a:r>
            <a:r>
              <a:rPr sz="2539" spc="32" dirty="0">
                <a:cs typeface="Times New Roman"/>
              </a:rPr>
              <a:t> </a:t>
            </a:r>
            <a:r>
              <a:rPr sz="2539" spc="-5" dirty="0">
                <a:solidFill>
                  <a:srgbClr val="FF0000"/>
                </a:solidFill>
                <a:cs typeface="Times New Roman"/>
              </a:rPr>
              <a:t>aproximación</a:t>
            </a:r>
            <a:r>
              <a:rPr sz="2539" dirty="0">
                <a:solidFill>
                  <a:srgbClr val="FF0000"/>
                </a:solidFill>
                <a:cs typeface="Times New Roman"/>
              </a:rPr>
              <a:t> </a:t>
            </a:r>
            <a:r>
              <a:rPr sz="2539" spc="-5" dirty="0">
                <a:solidFill>
                  <a:srgbClr val="FF0000"/>
                </a:solidFill>
                <a:cs typeface="Times New Roman"/>
              </a:rPr>
              <a:t>funcional</a:t>
            </a:r>
            <a:r>
              <a:rPr sz="2539" spc="18" dirty="0">
                <a:solidFill>
                  <a:srgbClr val="FF0000"/>
                </a:solidFill>
                <a:cs typeface="Times New Roman"/>
              </a:rPr>
              <a:t> </a:t>
            </a:r>
            <a:r>
              <a:rPr sz="2539" spc="-5" dirty="0">
                <a:cs typeface="Times New Roman"/>
              </a:rPr>
              <a:t>a</a:t>
            </a:r>
            <a:r>
              <a:rPr sz="2539" dirty="0">
                <a:cs typeface="Times New Roman"/>
              </a:rPr>
              <a:t> la </a:t>
            </a:r>
            <a:r>
              <a:rPr sz="2539" spc="-621" dirty="0">
                <a:cs typeface="Times New Roman"/>
              </a:rPr>
              <a:t> </a:t>
            </a:r>
            <a:r>
              <a:rPr sz="2539" spc="-5" dirty="0">
                <a:cs typeface="Times New Roman"/>
              </a:rPr>
              <a:t>relación</a:t>
            </a:r>
            <a:r>
              <a:rPr sz="2539" spc="-9" dirty="0">
                <a:cs typeface="Times New Roman"/>
              </a:rPr>
              <a:t> </a:t>
            </a:r>
            <a:r>
              <a:rPr sz="2539" dirty="0">
                <a:cs typeface="Times New Roman"/>
              </a:rPr>
              <a:t>entre</a:t>
            </a:r>
            <a:r>
              <a:rPr sz="2539" spc="-5" dirty="0">
                <a:cs typeface="Times New Roman"/>
              </a:rPr>
              <a:t> las</a:t>
            </a:r>
            <a:r>
              <a:rPr sz="2539" dirty="0">
                <a:cs typeface="Times New Roman"/>
              </a:rPr>
              <a:t> </a:t>
            </a:r>
            <a:r>
              <a:rPr sz="2539" spc="-5" dirty="0">
                <a:cs typeface="Times New Roman"/>
              </a:rPr>
              <a:t>variables</a:t>
            </a:r>
            <a:r>
              <a:rPr sz="2539" dirty="0">
                <a:cs typeface="Times New Roman"/>
              </a:rPr>
              <a:t> input </a:t>
            </a:r>
            <a:r>
              <a:rPr sz="2539" spc="-5" dirty="0">
                <a:cs typeface="Times New Roman"/>
              </a:rPr>
              <a:t>y las</a:t>
            </a:r>
            <a:r>
              <a:rPr sz="2539" dirty="0">
                <a:cs typeface="Times New Roman"/>
              </a:rPr>
              <a:t> variables</a:t>
            </a:r>
            <a:r>
              <a:rPr sz="2539" spc="-5" dirty="0">
                <a:cs typeface="Times New Roman"/>
              </a:rPr>
              <a:t> </a:t>
            </a:r>
            <a:r>
              <a:rPr sz="2539" dirty="0">
                <a:cs typeface="Times New Roman"/>
              </a:rPr>
              <a:t>output</a:t>
            </a:r>
            <a:r>
              <a:rPr lang="es-ES" sz="2539" dirty="0">
                <a:cs typeface="Times New Roman"/>
              </a:rPr>
              <a:t>.</a:t>
            </a:r>
            <a:endParaRPr sz="2539" dirty="0">
              <a:cs typeface="Times New Roman"/>
            </a:endParaRPr>
          </a:p>
          <a:p>
            <a:pPr algn="just">
              <a:spcBef>
                <a:spcPts val="45"/>
              </a:spcBef>
              <a:buClr>
                <a:srgbClr val="1F487C"/>
              </a:buClr>
              <a:buFont typeface="Symbol"/>
              <a:buChar char=""/>
            </a:pPr>
            <a:endParaRPr sz="2720" dirty="0">
              <a:cs typeface="Times New Roman"/>
            </a:endParaRPr>
          </a:p>
          <a:p>
            <a:pPr marL="426105" marR="4607" indent="-207294" algn="just">
              <a:lnSpc>
                <a:spcPts val="2920"/>
              </a:lnSpc>
              <a:buFont typeface="Symbol"/>
              <a:buChar char=""/>
              <a:tabLst>
                <a:tab pos="426680" algn="l"/>
              </a:tabLst>
            </a:pPr>
            <a:r>
              <a:rPr sz="2539" spc="-5" dirty="0">
                <a:cs typeface="Times New Roman"/>
              </a:rPr>
              <a:t>La </a:t>
            </a:r>
            <a:r>
              <a:rPr sz="2539" dirty="0">
                <a:cs typeface="Times New Roman"/>
              </a:rPr>
              <a:t>red neuronal </a:t>
            </a:r>
            <a:r>
              <a:rPr sz="2539" spc="-5" dirty="0">
                <a:cs typeface="Times New Roman"/>
              </a:rPr>
              <a:t>funcionará mejor que los modelos </a:t>
            </a:r>
            <a:r>
              <a:rPr sz="2539" dirty="0">
                <a:cs typeface="Times New Roman"/>
              </a:rPr>
              <a:t>habituales si </a:t>
            </a:r>
            <a:r>
              <a:rPr sz="2539" spc="-621" dirty="0">
                <a:cs typeface="Times New Roman"/>
              </a:rPr>
              <a:t> </a:t>
            </a:r>
            <a:r>
              <a:rPr sz="2539" spc="-5" dirty="0">
                <a:cs typeface="Times New Roman"/>
              </a:rPr>
              <a:t>las</a:t>
            </a:r>
            <a:r>
              <a:rPr sz="2539" spc="5" dirty="0">
                <a:cs typeface="Times New Roman"/>
              </a:rPr>
              <a:t> </a:t>
            </a:r>
            <a:r>
              <a:rPr sz="2539" spc="-5" dirty="0">
                <a:solidFill>
                  <a:srgbClr val="FF0000"/>
                </a:solidFill>
                <a:cs typeface="Times New Roman"/>
              </a:rPr>
              <a:t>relaciones</a:t>
            </a:r>
            <a:r>
              <a:rPr sz="2539" spc="9" dirty="0">
                <a:solidFill>
                  <a:srgbClr val="FF0000"/>
                </a:solidFill>
                <a:cs typeface="Times New Roman"/>
              </a:rPr>
              <a:t> </a:t>
            </a:r>
            <a:r>
              <a:rPr sz="2539" spc="-5" dirty="0">
                <a:cs typeface="Times New Roman"/>
              </a:rPr>
              <a:t>reales</a:t>
            </a:r>
            <a:r>
              <a:rPr sz="2539" dirty="0">
                <a:cs typeface="Times New Roman"/>
              </a:rPr>
              <a:t> </a:t>
            </a:r>
            <a:r>
              <a:rPr sz="2539" spc="-5" dirty="0">
                <a:cs typeface="Times New Roman"/>
              </a:rPr>
              <a:t>subyacentes</a:t>
            </a:r>
            <a:r>
              <a:rPr sz="2539" spc="14" dirty="0">
                <a:cs typeface="Times New Roman"/>
              </a:rPr>
              <a:t> </a:t>
            </a:r>
            <a:r>
              <a:rPr sz="2539" spc="-5" dirty="0">
                <a:cs typeface="Times New Roman"/>
              </a:rPr>
              <a:t>son</a:t>
            </a:r>
            <a:r>
              <a:rPr sz="2539" spc="9" dirty="0">
                <a:cs typeface="Times New Roman"/>
              </a:rPr>
              <a:t> </a:t>
            </a:r>
            <a:r>
              <a:rPr sz="2539" spc="-5" dirty="0">
                <a:solidFill>
                  <a:srgbClr val="FF0000"/>
                </a:solidFill>
                <a:cs typeface="Times New Roman"/>
              </a:rPr>
              <a:t>no</a:t>
            </a:r>
            <a:r>
              <a:rPr sz="2539" spc="9" dirty="0">
                <a:solidFill>
                  <a:srgbClr val="FF0000"/>
                </a:solidFill>
                <a:cs typeface="Times New Roman"/>
              </a:rPr>
              <a:t> </a:t>
            </a:r>
            <a:r>
              <a:rPr sz="2539" spc="-5" dirty="0">
                <a:solidFill>
                  <a:srgbClr val="FF0000"/>
                </a:solidFill>
                <a:cs typeface="Times New Roman"/>
              </a:rPr>
              <a:t>lineales</a:t>
            </a:r>
            <a:r>
              <a:rPr sz="2539" spc="9" dirty="0">
                <a:solidFill>
                  <a:srgbClr val="FF0000"/>
                </a:solidFill>
                <a:cs typeface="Times New Roman"/>
              </a:rPr>
              <a:t> </a:t>
            </a:r>
            <a:r>
              <a:rPr sz="2539" spc="-5" dirty="0">
                <a:solidFill>
                  <a:srgbClr val="FF0000"/>
                </a:solidFill>
                <a:cs typeface="Times New Roman"/>
              </a:rPr>
              <a:t>o</a:t>
            </a:r>
            <a:r>
              <a:rPr sz="2539" spc="14" dirty="0">
                <a:solidFill>
                  <a:srgbClr val="FF0000"/>
                </a:solidFill>
                <a:cs typeface="Times New Roman"/>
              </a:rPr>
              <a:t> </a:t>
            </a:r>
            <a:r>
              <a:rPr sz="2539" spc="-5" dirty="0" err="1">
                <a:solidFill>
                  <a:srgbClr val="FF0000"/>
                </a:solidFill>
                <a:cs typeface="Times New Roman"/>
              </a:rPr>
              <a:t>complejas</a:t>
            </a:r>
            <a:r>
              <a:rPr lang="es-ES" sz="2539" spc="-5" dirty="0">
                <a:cs typeface="Times New Roman"/>
              </a:rPr>
              <a:t> (o desconocidas).</a:t>
            </a:r>
            <a:endParaRPr sz="2539" dirty="0">
              <a:cs typeface="Times New Roman"/>
            </a:endParaRPr>
          </a:p>
          <a:p>
            <a:pPr algn="just">
              <a:spcBef>
                <a:spcPts val="5"/>
              </a:spcBef>
              <a:buClr>
                <a:srgbClr val="1F487C"/>
              </a:buClr>
              <a:buFont typeface="Symbol"/>
              <a:buChar char=""/>
            </a:pPr>
            <a:endParaRPr sz="2630" dirty="0">
              <a:cs typeface="Times New Roman"/>
            </a:endParaRPr>
          </a:p>
          <a:p>
            <a:pPr marL="426105" marR="369098" indent="-207294" algn="just">
              <a:lnSpc>
                <a:spcPct val="95900"/>
              </a:lnSpc>
              <a:buFont typeface="Symbol"/>
              <a:buChar char=""/>
              <a:tabLst>
                <a:tab pos="426680" algn="l"/>
              </a:tabLst>
            </a:pPr>
            <a:r>
              <a:rPr sz="2539" spc="-5" dirty="0">
                <a:cs typeface="Times New Roman"/>
              </a:rPr>
              <a:t>Al no</a:t>
            </a:r>
            <a:r>
              <a:rPr sz="2539" spc="5" dirty="0">
                <a:cs typeface="Times New Roman"/>
              </a:rPr>
              <a:t> </a:t>
            </a:r>
            <a:r>
              <a:rPr sz="2539" spc="-5" dirty="0">
                <a:cs typeface="Times New Roman"/>
              </a:rPr>
              <a:t>existir</a:t>
            </a:r>
            <a:r>
              <a:rPr sz="2539" dirty="0">
                <a:cs typeface="Times New Roman"/>
              </a:rPr>
              <a:t> </a:t>
            </a:r>
            <a:r>
              <a:rPr sz="2539" spc="-5" dirty="0">
                <a:cs typeface="Times New Roman"/>
              </a:rPr>
              <a:t>planteamientos</a:t>
            </a:r>
            <a:r>
              <a:rPr sz="2539" dirty="0">
                <a:cs typeface="Times New Roman"/>
              </a:rPr>
              <a:t> </a:t>
            </a:r>
            <a:r>
              <a:rPr sz="2539" spc="-5" dirty="0">
                <a:cs typeface="Times New Roman"/>
              </a:rPr>
              <a:t>inferenciales</a:t>
            </a:r>
            <a:r>
              <a:rPr sz="2539" dirty="0">
                <a:cs typeface="Times New Roman"/>
              </a:rPr>
              <a:t> </a:t>
            </a:r>
            <a:r>
              <a:rPr sz="2539" spc="-5" dirty="0">
                <a:cs typeface="Times New Roman"/>
              </a:rPr>
              <a:t>sobre</a:t>
            </a:r>
            <a:r>
              <a:rPr sz="2539" dirty="0">
                <a:cs typeface="Times New Roman"/>
              </a:rPr>
              <a:t> </a:t>
            </a:r>
            <a:r>
              <a:rPr sz="2539" spc="-5" dirty="0">
                <a:cs typeface="Times New Roman"/>
              </a:rPr>
              <a:t>un</a:t>
            </a:r>
            <a:r>
              <a:rPr sz="2539" spc="5" dirty="0">
                <a:cs typeface="Times New Roman"/>
              </a:rPr>
              <a:t> </a:t>
            </a:r>
            <a:r>
              <a:rPr sz="2539" spc="-5" dirty="0">
                <a:cs typeface="Times New Roman"/>
              </a:rPr>
              <a:t>modelo</a:t>
            </a:r>
            <a:r>
              <a:rPr sz="2539" spc="9" dirty="0">
                <a:cs typeface="Times New Roman"/>
              </a:rPr>
              <a:t> </a:t>
            </a:r>
            <a:r>
              <a:rPr sz="2539" spc="-5" dirty="0">
                <a:cs typeface="Times New Roman"/>
              </a:rPr>
              <a:t>a </a:t>
            </a:r>
            <a:r>
              <a:rPr sz="2539" spc="-621" dirty="0">
                <a:cs typeface="Times New Roman"/>
              </a:rPr>
              <a:t> </a:t>
            </a:r>
            <a:r>
              <a:rPr sz="2539" dirty="0">
                <a:cs typeface="Times New Roman"/>
              </a:rPr>
              <a:t>priori,</a:t>
            </a:r>
            <a:r>
              <a:rPr sz="2539" spc="-14" dirty="0">
                <a:cs typeface="Times New Roman"/>
              </a:rPr>
              <a:t> </a:t>
            </a:r>
            <a:r>
              <a:rPr sz="2539" spc="-5" dirty="0">
                <a:solidFill>
                  <a:srgbClr val="FF0000"/>
                </a:solidFill>
                <a:cs typeface="Times New Roman"/>
              </a:rPr>
              <a:t>la</a:t>
            </a:r>
            <a:r>
              <a:rPr sz="2539" dirty="0">
                <a:solidFill>
                  <a:srgbClr val="FF0000"/>
                </a:solidFill>
                <a:cs typeface="Times New Roman"/>
              </a:rPr>
              <a:t> red </a:t>
            </a:r>
            <a:r>
              <a:rPr sz="2539" spc="-5" dirty="0">
                <a:solidFill>
                  <a:srgbClr val="FF0000"/>
                </a:solidFill>
                <a:cs typeface="Times New Roman"/>
              </a:rPr>
              <a:t>tiende </a:t>
            </a:r>
            <a:r>
              <a:rPr sz="2539" dirty="0">
                <a:solidFill>
                  <a:srgbClr val="FF0000"/>
                </a:solidFill>
                <a:cs typeface="Times New Roman"/>
              </a:rPr>
              <a:t>al</a:t>
            </a:r>
            <a:r>
              <a:rPr sz="2539" spc="9" dirty="0">
                <a:solidFill>
                  <a:srgbClr val="FF0000"/>
                </a:solidFill>
                <a:cs typeface="Times New Roman"/>
              </a:rPr>
              <a:t> </a:t>
            </a:r>
            <a:r>
              <a:rPr sz="2539" spc="-5" dirty="0">
                <a:solidFill>
                  <a:srgbClr val="FF0000"/>
                </a:solidFill>
                <a:cs typeface="Times New Roman"/>
              </a:rPr>
              <a:t>sobreajuste</a:t>
            </a:r>
            <a:r>
              <a:rPr sz="2539" spc="9" dirty="0">
                <a:solidFill>
                  <a:srgbClr val="FF0000"/>
                </a:solidFill>
                <a:cs typeface="Times New Roman"/>
              </a:rPr>
              <a:t> </a:t>
            </a:r>
            <a:r>
              <a:rPr sz="2539" spc="-5" dirty="0">
                <a:solidFill>
                  <a:srgbClr val="FF0000"/>
                </a:solidFill>
                <a:cs typeface="Times New Roman"/>
              </a:rPr>
              <a:t>y </a:t>
            </a:r>
            <a:r>
              <a:rPr sz="2539" spc="-9" dirty="0">
                <a:solidFill>
                  <a:srgbClr val="FF0000"/>
                </a:solidFill>
                <a:cs typeface="Times New Roman"/>
              </a:rPr>
              <a:t>serán</a:t>
            </a:r>
            <a:r>
              <a:rPr sz="2539" spc="9" dirty="0">
                <a:solidFill>
                  <a:srgbClr val="FF0000"/>
                </a:solidFill>
                <a:cs typeface="Times New Roman"/>
              </a:rPr>
              <a:t> </a:t>
            </a:r>
            <a:r>
              <a:rPr sz="2539" spc="-5" dirty="0">
                <a:solidFill>
                  <a:srgbClr val="FF0000"/>
                </a:solidFill>
                <a:cs typeface="Times New Roman"/>
              </a:rPr>
              <a:t>necesarios</a:t>
            </a:r>
            <a:r>
              <a:rPr sz="2539" spc="32" dirty="0">
                <a:solidFill>
                  <a:srgbClr val="FF0000"/>
                </a:solidFill>
                <a:cs typeface="Times New Roman"/>
              </a:rPr>
              <a:t> </a:t>
            </a:r>
            <a:r>
              <a:rPr sz="2539" spc="-5" dirty="0">
                <a:solidFill>
                  <a:srgbClr val="FF0000"/>
                </a:solidFill>
                <a:cs typeface="Times New Roman"/>
              </a:rPr>
              <a:t>muchos </a:t>
            </a:r>
            <a:r>
              <a:rPr sz="2539" spc="-621" dirty="0">
                <a:solidFill>
                  <a:srgbClr val="FF0000"/>
                </a:solidFill>
                <a:cs typeface="Times New Roman"/>
              </a:rPr>
              <a:t> </a:t>
            </a:r>
            <a:r>
              <a:rPr sz="2539" spc="-5" dirty="0">
                <a:solidFill>
                  <a:srgbClr val="FF0000"/>
                </a:solidFill>
                <a:cs typeface="Times New Roman"/>
              </a:rPr>
              <a:t>datos</a:t>
            </a:r>
            <a:r>
              <a:rPr sz="2539" spc="5" dirty="0">
                <a:solidFill>
                  <a:srgbClr val="FF0000"/>
                </a:solidFill>
                <a:cs typeface="Times New Roman"/>
              </a:rPr>
              <a:t> </a:t>
            </a:r>
            <a:r>
              <a:rPr sz="2539" spc="-5" dirty="0">
                <a:solidFill>
                  <a:srgbClr val="FF0000"/>
                </a:solidFill>
                <a:cs typeface="Times New Roman"/>
              </a:rPr>
              <a:t>de</a:t>
            </a:r>
            <a:r>
              <a:rPr sz="2539" dirty="0">
                <a:solidFill>
                  <a:srgbClr val="FF0000"/>
                </a:solidFill>
                <a:cs typeface="Times New Roman"/>
              </a:rPr>
              <a:t> </a:t>
            </a:r>
            <a:r>
              <a:rPr sz="2539" spc="-5" dirty="0">
                <a:solidFill>
                  <a:srgbClr val="FF0000"/>
                </a:solidFill>
                <a:cs typeface="Times New Roman"/>
              </a:rPr>
              <a:t>training</a:t>
            </a:r>
            <a:r>
              <a:rPr sz="2539" dirty="0">
                <a:solidFill>
                  <a:srgbClr val="FF0000"/>
                </a:solidFill>
                <a:cs typeface="Times New Roman"/>
              </a:rPr>
              <a:t> </a:t>
            </a:r>
            <a:r>
              <a:rPr sz="2539" spc="-5" dirty="0">
                <a:solidFill>
                  <a:srgbClr val="FF0000"/>
                </a:solidFill>
                <a:cs typeface="Times New Roman"/>
              </a:rPr>
              <a:t>y</a:t>
            </a:r>
            <a:r>
              <a:rPr sz="2539" spc="5" dirty="0">
                <a:solidFill>
                  <a:srgbClr val="FF0000"/>
                </a:solidFill>
                <a:cs typeface="Times New Roman"/>
              </a:rPr>
              <a:t> </a:t>
            </a:r>
            <a:r>
              <a:rPr sz="2539" spc="-9" dirty="0">
                <a:solidFill>
                  <a:srgbClr val="FF0000"/>
                </a:solidFill>
                <a:cs typeface="Times New Roman"/>
              </a:rPr>
              <a:t>de</a:t>
            </a:r>
            <a:r>
              <a:rPr sz="2539" dirty="0">
                <a:solidFill>
                  <a:srgbClr val="FF0000"/>
                </a:solidFill>
                <a:cs typeface="Times New Roman"/>
              </a:rPr>
              <a:t> </a:t>
            </a:r>
            <a:r>
              <a:rPr sz="2539" spc="-5" dirty="0">
                <a:solidFill>
                  <a:srgbClr val="FF0000"/>
                </a:solidFill>
                <a:cs typeface="Times New Roman"/>
              </a:rPr>
              <a:t>validación</a:t>
            </a:r>
            <a:r>
              <a:rPr sz="2539" dirty="0">
                <a:solidFill>
                  <a:srgbClr val="FF0000"/>
                </a:solidFill>
                <a:cs typeface="Times New Roman"/>
              </a:rPr>
              <a:t> </a:t>
            </a:r>
            <a:r>
              <a:rPr sz="2539" spc="-5" dirty="0">
                <a:cs typeface="Times New Roman"/>
              </a:rPr>
              <a:t>para obtener</a:t>
            </a:r>
            <a:r>
              <a:rPr sz="2539" spc="5" dirty="0">
                <a:cs typeface="Times New Roman"/>
              </a:rPr>
              <a:t> </a:t>
            </a:r>
            <a:r>
              <a:rPr sz="2539" spc="-5" dirty="0">
                <a:cs typeface="Times New Roman"/>
              </a:rPr>
              <a:t>un</a:t>
            </a:r>
            <a:r>
              <a:rPr sz="2539" spc="14" dirty="0">
                <a:cs typeface="Times New Roman"/>
              </a:rPr>
              <a:t> </a:t>
            </a:r>
            <a:r>
              <a:rPr sz="2539" spc="-5" dirty="0" err="1">
                <a:cs typeface="Times New Roman"/>
              </a:rPr>
              <a:t>modelo</a:t>
            </a:r>
            <a:r>
              <a:rPr sz="2539" spc="-5" dirty="0">
                <a:cs typeface="Times New Roman"/>
              </a:rPr>
              <a:t> </a:t>
            </a:r>
            <a:r>
              <a:rPr sz="2539" dirty="0">
                <a:cs typeface="Times New Roman"/>
              </a:rPr>
              <a:t> </a:t>
            </a:r>
            <a:r>
              <a:rPr sz="2539" spc="-5" dirty="0" err="1">
                <a:cs typeface="Times New Roman"/>
              </a:rPr>
              <a:t>robusto</a:t>
            </a:r>
            <a:r>
              <a:rPr lang="es-ES" sz="2539" spc="-5" dirty="0">
                <a:cs typeface="Times New Roman"/>
              </a:rPr>
              <a:t>.</a:t>
            </a:r>
            <a:endParaRPr sz="2539" dirty="0">
              <a:cs typeface="Times New Roman"/>
            </a:endParaRPr>
          </a:p>
        </p:txBody>
      </p:sp>
    </p:spTree>
    <p:extLst>
      <p:ext uri="{BB962C8B-B14F-4D97-AF65-F5344CB8AC3E}">
        <p14:creationId xmlns:p14="http://schemas.microsoft.com/office/powerpoint/2010/main" val="104600193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11909" y="1356053"/>
            <a:ext cx="8429985" cy="4288501"/>
          </a:xfrm>
          <a:prstGeom prst="rect">
            <a:avLst/>
          </a:prstGeom>
        </p:spPr>
        <p:txBody>
          <a:bodyPr vert="horz" wrap="square" lIns="0" tIns="10941" rIns="0" bIns="0" rtlCol="0">
            <a:spAutoFit/>
          </a:bodyPr>
          <a:lstStyle/>
          <a:p>
            <a:pPr marL="11516" algn="just">
              <a:spcBef>
                <a:spcPts val="86"/>
              </a:spcBef>
            </a:pPr>
            <a:r>
              <a:rPr lang="es-ES" sz="1814" dirty="0"/>
              <a:t>Las variables deben seguir una distribución normal o uniforme, y el rango de posibles valores debe ser aproximadamente el mismo y acotado dentro del intervalo de trabajo de la función de activación empleada en las capas ocultas y de salida de la red neuronal. Así, las variables de entrada y salida suelen acotarse en valores comprendidos entre 0 y 1 </a:t>
            </a:r>
            <a:r>
              <a:rPr lang="es-ES" sz="1814" dirty="0" err="1"/>
              <a:t>ó</a:t>
            </a:r>
            <a:r>
              <a:rPr lang="es-ES" sz="1814" dirty="0"/>
              <a:t> entre −1 y 1.</a:t>
            </a:r>
          </a:p>
          <a:p>
            <a:pPr marL="11516" algn="just">
              <a:spcBef>
                <a:spcPts val="86"/>
              </a:spcBef>
            </a:pPr>
            <a:endParaRPr lang="es-ES" sz="1814" dirty="0">
              <a:cs typeface="Times New Roman"/>
            </a:endParaRPr>
          </a:p>
          <a:p>
            <a:pPr marL="426105" indent="-414589">
              <a:spcBef>
                <a:spcPts val="86"/>
              </a:spcBef>
              <a:buFont typeface="Arial" panose="020B0604020202020204" pitchFamily="34" charset="0"/>
              <a:buChar char="•"/>
            </a:pPr>
            <a:r>
              <a:rPr lang="es-ES" sz="1814" spc="-5" dirty="0">
                <a:cs typeface="Times New Roman"/>
              </a:rPr>
              <a:t>Las variables categóricas hay que convertirlas a </a:t>
            </a:r>
            <a:r>
              <a:rPr lang="es-ES" sz="1814" spc="-5" dirty="0" err="1">
                <a:solidFill>
                  <a:srgbClr val="FF0000"/>
                </a:solidFill>
                <a:cs typeface="Times New Roman"/>
              </a:rPr>
              <a:t>dummies</a:t>
            </a:r>
            <a:r>
              <a:rPr lang="es-ES" sz="1814" spc="-5" dirty="0">
                <a:solidFill>
                  <a:srgbClr val="FF0000"/>
                </a:solidFill>
                <a:cs typeface="Times New Roman"/>
              </a:rPr>
              <a:t> </a:t>
            </a:r>
            <a:r>
              <a:rPr lang="es-ES" sz="1814" spc="-5" dirty="0">
                <a:cs typeface="Times New Roman"/>
              </a:rPr>
              <a:t>antes de introducirlas en la red. </a:t>
            </a:r>
          </a:p>
          <a:p>
            <a:pPr marL="426105" indent="-414589">
              <a:spcBef>
                <a:spcPts val="86"/>
              </a:spcBef>
              <a:buFont typeface="Arial" panose="020B0604020202020204" pitchFamily="34" charset="0"/>
              <a:buChar char="•"/>
            </a:pPr>
            <a:endParaRPr lang="es-ES" sz="1814" spc="-5" dirty="0">
              <a:cs typeface="Times New Roman"/>
            </a:endParaRPr>
          </a:p>
          <a:p>
            <a:pPr marL="426105" indent="-414589">
              <a:spcBef>
                <a:spcPts val="86"/>
              </a:spcBef>
              <a:buFont typeface="Arial" panose="020B0604020202020204" pitchFamily="34" charset="0"/>
              <a:buChar char="•"/>
            </a:pPr>
            <a:r>
              <a:rPr lang="es-ES" sz="1814" spc="-5" dirty="0">
                <a:cs typeface="Times New Roman"/>
              </a:rPr>
              <a:t>Para cada variable </a:t>
            </a:r>
            <a:r>
              <a:rPr lang="es-ES" sz="1814" spc="-5" dirty="0" err="1">
                <a:cs typeface="Times New Roman"/>
              </a:rPr>
              <a:t>categória</a:t>
            </a:r>
            <a:r>
              <a:rPr lang="es-ES" sz="1814" spc="-5" dirty="0">
                <a:cs typeface="Times New Roman"/>
              </a:rPr>
              <a:t> con </a:t>
            </a:r>
            <a:r>
              <a:rPr lang="es-ES" sz="1814" i="1" spc="-5" dirty="0">
                <a:solidFill>
                  <a:srgbClr val="FF0000"/>
                </a:solidFill>
                <a:cs typeface="Times New Roman"/>
              </a:rPr>
              <a:t>k </a:t>
            </a:r>
            <a:r>
              <a:rPr lang="es-ES" sz="1814" spc="-5" dirty="0">
                <a:solidFill>
                  <a:srgbClr val="FF0000"/>
                </a:solidFill>
                <a:cs typeface="Times New Roman"/>
              </a:rPr>
              <a:t>categorías: (</a:t>
            </a:r>
            <a:r>
              <a:rPr lang="es-ES" sz="1814" i="1" spc="-5" dirty="0">
                <a:solidFill>
                  <a:srgbClr val="FF0000"/>
                </a:solidFill>
                <a:cs typeface="Times New Roman"/>
              </a:rPr>
              <a:t>k-1</a:t>
            </a:r>
            <a:r>
              <a:rPr lang="es-ES" sz="1814" spc="-5" dirty="0">
                <a:solidFill>
                  <a:srgbClr val="FF0000"/>
                </a:solidFill>
                <a:cs typeface="Times New Roman"/>
              </a:rPr>
              <a:t>) variables </a:t>
            </a:r>
            <a:r>
              <a:rPr lang="es-ES" sz="1814" spc="-5" dirty="0" err="1">
                <a:solidFill>
                  <a:srgbClr val="FF0000"/>
                </a:solidFill>
                <a:cs typeface="Times New Roman"/>
              </a:rPr>
              <a:t>dummies</a:t>
            </a:r>
            <a:r>
              <a:rPr lang="es-ES" sz="1814" spc="-5" dirty="0">
                <a:solidFill>
                  <a:srgbClr val="FF0000"/>
                </a:solidFill>
                <a:cs typeface="Times New Roman"/>
              </a:rPr>
              <a:t>. </a:t>
            </a:r>
            <a:r>
              <a:rPr lang="es-ES" sz="1814" spc="-5" dirty="0">
                <a:cs typeface="Times New Roman"/>
              </a:rPr>
              <a:t>El valor de la “última” variable </a:t>
            </a:r>
            <a:r>
              <a:rPr lang="es-ES" sz="1814" spc="-5" dirty="0" err="1">
                <a:cs typeface="Times New Roman"/>
              </a:rPr>
              <a:t>dummy</a:t>
            </a:r>
            <a:r>
              <a:rPr lang="es-ES" sz="1814" spc="-5" dirty="0">
                <a:cs typeface="Times New Roman"/>
              </a:rPr>
              <a:t> se puede obtener a partir de las (</a:t>
            </a:r>
            <a:r>
              <a:rPr lang="es-ES" sz="1814" i="1" spc="-5" dirty="0">
                <a:cs typeface="Times New Roman"/>
              </a:rPr>
              <a:t>k-1</a:t>
            </a:r>
            <a:r>
              <a:rPr lang="es-ES" sz="1814" spc="-5" dirty="0">
                <a:cs typeface="Times New Roman"/>
              </a:rPr>
              <a:t>) restantes.</a:t>
            </a:r>
          </a:p>
          <a:p>
            <a:pPr marL="426105" indent="-414589">
              <a:spcBef>
                <a:spcPts val="86"/>
              </a:spcBef>
              <a:buFont typeface="Arial" panose="020B0604020202020204" pitchFamily="34" charset="0"/>
              <a:buChar char="•"/>
            </a:pPr>
            <a:endParaRPr lang="es-ES" sz="1814" spc="-5" dirty="0">
              <a:cs typeface="Times New Roman"/>
            </a:endParaRPr>
          </a:p>
          <a:p>
            <a:pPr marL="426105" indent="-414589">
              <a:spcBef>
                <a:spcPts val="86"/>
              </a:spcBef>
              <a:buFont typeface="Arial" panose="020B0604020202020204" pitchFamily="34" charset="0"/>
              <a:buChar char="•"/>
            </a:pPr>
            <a:r>
              <a:rPr lang="es-ES" sz="1814" spc="-5" dirty="0">
                <a:cs typeface="Times New Roman"/>
              </a:rPr>
              <a:t>Los </a:t>
            </a:r>
            <a:r>
              <a:rPr lang="es-ES" sz="1814" spc="-5" dirty="0">
                <a:solidFill>
                  <a:srgbClr val="FF0000"/>
                </a:solidFill>
                <a:cs typeface="Times New Roman"/>
              </a:rPr>
              <a:t>datos</a:t>
            </a:r>
            <a:r>
              <a:rPr lang="es-ES" sz="1814" spc="-5" dirty="0">
                <a:cs typeface="Times New Roman"/>
              </a:rPr>
              <a:t> deben estar </a:t>
            </a:r>
            <a:r>
              <a:rPr lang="es-ES" sz="1814" spc="-5" dirty="0">
                <a:solidFill>
                  <a:srgbClr val="FF0000"/>
                </a:solidFill>
                <a:cs typeface="Times New Roman"/>
              </a:rPr>
              <a:t>depurados y sin datos</a:t>
            </a:r>
            <a:r>
              <a:rPr lang="es-ES" sz="1814" spc="-5" dirty="0">
                <a:cs typeface="Times New Roman"/>
              </a:rPr>
              <a:t> </a:t>
            </a:r>
            <a:r>
              <a:rPr lang="es-ES" sz="1814" spc="-5" dirty="0" err="1">
                <a:solidFill>
                  <a:srgbClr val="FF0000"/>
                </a:solidFill>
                <a:cs typeface="Times New Roman"/>
              </a:rPr>
              <a:t>missing</a:t>
            </a:r>
            <a:r>
              <a:rPr lang="es-ES" sz="1814" spc="-5" dirty="0">
                <a:cs typeface="Times New Roman"/>
              </a:rPr>
              <a:t>: las redes no son una buena herramienta para la depuración de datos.</a:t>
            </a:r>
          </a:p>
          <a:p>
            <a:pPr marL="11516" algn="just">
              <a:spcBef>
                <a:spcPts val="86"/>
              </a:spcBef>
            </a:pPr>
            <a:endParaRPr sz="1814" dirty="0">
              <a:latin typeface="Times New Roman"/>
              <a:cs typeface="Times New Roman"/>
            </a:endParaRPr>
          </a:p>
        </p:txBody>
      </p:sp>
      <p:sp>
        <p:nvSpPr>
          <p:cNvPr id="3" name="object 2"/>
          <p:cNvSpPr txBox="1">
            <a:spLocks/>
          </p:cNvSpPr>
          <p:nvPr/>
        </p:nvSpPr>
        <p:spPr>
          <a:xfrm>
            <a:off x="1950106" y="595972"/>
            <a:ext cx="7877199" cy="374485"/>
          </a:xfrm>
          <a:prstGeom prst="rect">
            <a:avLst/>
          </a:prstGeom>
        </p:spPr>
        <p:txBody>
          <a:bodyPr vert="horz" wrap="square" lIns="0" tIns="11516" rIns="0" bIns="0" rtlCol="0">
            <a:spAutoFit/>
          </a:bodyPr>
          <a:lstStyle>
            <a:lvl1pPr>
              <a:defRPr sz="2400" b="0" i="0">
                <a:solidFill>
                  <a:srgbClr val="FF0000"/>
                </a:solidFill>
                <a:latin typeface="Times New Roman"/>
                <a:ea typeface="+mj-ea"/>
                <a:cs typeface="Times New Roman"/>
              </a:defRPr>
            </a:lvl1pPr>
          </a:lstStyle>
          <a:p>
            <a:pPr marL="11516">
              <a:spcBef>
                <a:spcPts val="91"/>
              </a:spcBef>
            </a:pPr>
            <a:r>
              <a:rPr lang="es-ES" sz="2358" b="1" kern="0" spc="-5" dirty="0">
                <a:solidFill>
                  <a:srgbClr val="538DD3"/>
                </a:solidFill>
              </a:rPr>
              <a:t>Preparación de los datos. Especificaciones para NN</a:t>
            </a:r>
            <a:endParaRPr lang="es-ES" sz="2358" kern="0" dirty="0"/>
          </a:p>
        </p:txBody>
      </p:sp>
    </p:spTree>
    <p:extLst>
      <p:ext uri="{BB962C8B-B14F-4D97-AF65-F5344CB8AC3E}">
        <p14:creationId xmlns:p14="http://schemas.microsoft.com/office/powerpoint/2010/main" val="14902816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1685229" y="457776"/>
            <a:ext cx="7877199" cy="374485"/>
          </a:xfrm>
          <a:prstGeom prst="rect">
            <a:avLst/>
          </a:prstGeom>
        </p:spPr>
        <p:txBody>
          <a:bodyPr vert="horz" wrap="square" lIns="0" tIns="11516" rIns="0" bIns="0" rtlCol="0">
            <a:spAutoFit/>
          </a:bodyPr>
          <a:lstStyle>
            <a:lvl1pPr>
              <a:defRPr sz="2400" b="0" i="0">
                <a:solidFill>
                  <a:srgbClr val="FF0000"/>
                </a:solidFill>
                <a:latin typeface="Times New Roman"/>
                <a:ea typeface="+mj-ea"/>
                <a:cs typeface="Times New Roman"/>
              </a:defRPr>
            </a:lvl1pPr>
          </a:lstStyle>
          <a:p>
            <a:pPr marL="11516">
              <a:spcBef>
                <a:spcPts val="91"/>
              </a:spcBef>
            </a:pPr>
            <a:r>
              <a:rPr lang="es-ES" sz="2358" b="1" kern="0" spc="-5" dirty="0">
                <a:solidFill>
                  <a:srgbClr val="538DD3"/>
                </a:solidFill>
              </a:rPr>
              <a:t>Selección de variables en NN ¿Por qué es importante?</a:t>
            </a:r>
            <a:endParaRPr lang="es-ES" sz="2358" kern="0" dirty="0"/>
          </a:p>
        </p:txBody>
      </p:sp>
      <p:sp>
        <p:nvSpPr>
          <p:cNvPr id="3" name="Rectángulo 2"/>
          <p:cNvSpPr/>
          <p:nvPr/>
        </p:nvSpPr>
        <p:spPr>
          <a:xfrm>
            <a:off x="1685229" y="1079660"/>
            <a:ext cx="8982771" cy="4864345"/>
          </a:xfrm>
          <a:prstGeom prst="rect">
            <a:avLst/>
          </a:prstGeom>
        </p:spPr>
        <p:txBody>
          <a:bodyPr wrap="square">
            <a:spAutoFit/>
          </a:bodyPr>
          <a:lstStyle/>
          <a:p>
            <a:pPr>
              <a:buFont typeface="+mj-lt"/>
              <a:buAutoNum type="arabicPeriod"/>
            </a:pPr>
            <a:r>
              <a:rPr lang="es-ES" sz="1632" b="1" dirty="0">
                <a:solidFill>
                  <a:srgbClr val="374151"/>
                </a:solidFill>
              </a:rPr>
              <a:t>Eficiencia Computacional:</a:t>
            </a:r>
            <a:r>
              <a:rPr lang="es-ES" sz="1632" dirty="0">
                <a:solidFill>
                  <a:srgbClr val="374151"/>
                </a:solidFill>
              </a:rPr>
              <a:t> reducir la cantidad de variables puede hacer que el proceso de entrenamiento sea más rápido y menos intensivo computacionalmente. Menos variables implican menos cálculos durante la </a:t>
            </a:r>
            <a:r>
              <a:rPr lang="es-ES" sz="1632" dirty="0" err="1">
                <a:solidFill>
                  <a:srgbClr val="374151"/>
                </a:solidFill>
              </a:rPr>
              <a:t>retropropagación</a:t>
            </a:r>
            <a:r>
              <a:rPr lang="es-ES" sz="1632" dirty="0">
                <a:solidFill>
                  <a:srgbClr val="374151"/>
                </a:solidFill>
              </a:rPr>
              <a:t> del error y, por lo tanto, menos tiempo de entrenamiento.</a:t>
            </a:r>
          </a:p>
          <a:p>
            <a:pPr>
              <a:buFont typeface="+mj-lt"/>
              <a:buAutoNum type="arabicPeriod"/>
            </a:pPr>
            <a:r>
              <a:rPr lang="es-ES" sz="1632" b="1" dirty="0">
                <a:solidFill>
                  <a:srgbClr val="374151"/>
                </a:solidFill>
              </a:rPr>
              <a:t>Evitar </a:t>
            </a:r>
            <a:r>
              <a:rPr lang="es-ES" sz="1632" b="1" dirty="0" err="1">
                <a:solidFill>
                  <a:srgbClr val="374151"/>
                </a:solidFill>
              </a:rPr>
              <a:t>dimensionalidad</a:t>
            </a:r>
            <a:r>
              <a:rPr lang="es-ES" sz="1632" b="1" dirty="0">
                <a:solidFill>
                  <a:srgbClr val="374151"/>
                </a:solidFill>
              </a:rPr>
              <a:t>: </a:t>
            </a:r>
            <a:r>
              <a:rPr lang="es-ES" sz="1632" dirty="0">
                <a:solidFill>
                  <a:srgbClr val="374151"/>
                </a:solidFill>
              </a:rPr>
              <a:t>a medida que aumenta el número de variables, el espacio de búsqueda se vuelve más grande, y el modelo puede tener dificultades para encontrar patrones significativos en los datos. La </a:t>
            </a:r>
            <a:r>
              <a:rPr lang="es-ES" sz="1632" dirty="0" err="1">
                <a:solidFill>
                  <a:srgbClr val="374151"/>
                </a:solidFill>
              </a:rPr>
              <a:t>dimensionalidad</a:t>
            </a:r>
            <a:r>
              <a:rPr lang="es-ES" sz="1632" dirty="0">
                <a:solidFill>
                  <a:srgbClr val="374151"/>
                </a:solidFill>
              </a:rPr>
              <a:t> puede llevar a </a:t>
            </a:r>
            <a:r>
              <a:rPr lang="es-ES" sz="1632" dirty="0" err="1">
                <a:solidFill>
                  <a:srgbClr val="374151"/>
                </a:solidFill>
              </a:rPr>
              <a:t>overfitting</a:t>
            </a:r>
            <a:r>
              <a:rPr lang="es-ES" sz="1632" dirty="0">
                <a:solidFill>
                  <a:srgbClr val="374151"/>
                </a:solidFill>
              </a:rPr>
              <a:t> y a una disminución del rendimiento del modelo.</a:t>
            </a:r>
          </a:p>
          <a:p>
            <a:pPr>
              <a:buFont typeface="+mj-lt"/>
              <a:buAutoNum type="arabicPeriod"/>
            </a:pPr>
            <a:r>
              <a:rPr lang="es-ES" sz="1632" b="1" dirty="0">
                <a:solidFill>
                  <a:srgbClr val="374151"/>
                </a:solidFill>
              </a:rPr>
              <a:t>Mejora de la generalización:</a:t>
            </a:r>
            <a:r>
              <a:rPr lang="es-ES" sz="1632" dirty="0">
                <a:solidFill>
                  <a:srgbClr val="374151"/>
                </a:solidFill>
              </a:rPr>
              <a:t> un modelo entrenado con un conjunto de características más pequeño puede generalizar mejor a datos no vistos. </a:t>
            </a:r>
          </a:p>
          <a:p>
            <a:pPr>
              <a:buFont typeface="+mj-lt"/>
              <a:buAutoNum type="arabicPeriod"/>
            </a:pPr>
            <a:r>
              <a:rPr lang="es-ES" sz="1632" b="1" dirty="0" err="1">
                <a:solidFill>
                  <a:srgbClr val="374151"/>
                </a:solidFill>
              </a:rPr>
              <a:t>Interpretabilidad</a:t>
            </a:r>
            <a:r>
              <a:rPr lang="es-ES" sz="1632" b="1" dirty="0">
                <a:solidFill>
                  <a:srgbClr val="374151"/>
                </a:solidFill>
              </a:rPr>
              <a:t> del Modelo: </a:t>
            </a:r>
            <a:r>
              <a:rPr lang="es-ES" sz="1632" dirty="0">
                <a:solidFill>
                  <a:srgbClr val="374151"/>
                </a:solidFill>
              </a:rPr>
              <a:t>una red neuronal más simple con un conjunto de variables más pequeño es más fácil de entender e interpretar. </a:t>
            </a:r>
          </a:p>
          <a:p>
            <a:pPr>
              <a:buFont typeface="+mj-lt"/>
              <a:buAutoNum type="arabicPeriod"/>
            </a:pPr>
            <a:r>
              <a:rPr lang="es-ES" sz="1632" b="1" dirty="0">
                <a:solidFill>
                  <a:srgbClr val="374151"/>
                </a:solidFill>
              </a:rPr>
              <a:t>Reducción del riesgo de </a:t>
            </a:r>
            <a:r>
              <a:rPr lang="es-ES" sz="1632" b="1" dirty="0" err="1">
                <a:solidFill>
                  <a:srgbClr val="374151"/>
                </a:solidFill>
              </a:rPr>
              <a:t>overfitting</a:t>
            </a:r>
            <a:r>
              <a:rPr lang="es-ES" sz="1632" b="1" dirty="0">
                <a:solidFill>
                  <a:srgbClr val="374151"/>
                </a:solidFill>
              </a:rPr>
              <a:t>:</a:t>
            </a:r>
            <a:r>
              <a:rPr lang="es-ES" sz="1632" dirty="0">
                <a:solidFill>
                  <a:srgbClr val="374151"/>
                </a:solidFill>
              </a:rPr>
              <a:t> un conjunto de datos con un gran número de variables puede llevar a un modelo que memoriza el conjunto de entrenamiento en lugar de aprender patrones generales. Esto aumenta el riesgo de </a:t>
            </a:r>
            <a:r>
              <a:rPr lang="es-ES" sz="1632" dirty="0" err="1">
                <a:solidFill>
                  <a:srgbClr val="374151"/>
                </a:solidFill>
              </a:rPr>
              <a:t>overfitting</a:t>
            </a:r>
            <a:r>
              <a:rPr lang="es-ES" sz="1632" dirty="0">
                <a:solidFill>
                  <a:srgbClr val="374151"/>
                </a:solidFill>
              </a:rPr>
              <a:t>, donde el modelo se ajusta demasiado a los datos de entrenamiento y no generaliza bien a nuevos datos.</a:t>
            </a:r>
          </a:p>
          <a:p>
            <a:pPr>
              <a:buFont typeface="+mj-lt"/>
              <a:buAutoNum type="arabicPeriod"/>
            </a:pPr>
            <a:r>
              <a:rPr lang="es-ES" sz="1632" b="1" dirty="0">
                <a:solidFill>
                  <a:srgbClr val="374151"/>
                </a:solidFill>
              </a:rPr>
              <a:t>Manejo de variables redundantes o </a:t>
            </a:r>
            <a:r>
              <a:rPr lang="es-ES" sz="1632" b="1" dirty="0" err="1">
                <a:solidFill>
                  <a:srgbClr val="374151"/>
                </a:solidFill>
              </a:rPr>
              <a:t>colineales</a:t>
            </a:r>
            <a:r>
              <a:rPr lang="es-ES" sz="1632" b="1" dirty="0">
                <a:solidFill>
                  <a:srgbClr val="374151"/>
                </a:solidFill>
              </a:rPr>
              <a:t>:</a:t>
            </a:r>
            <a:r>
              <a:rPr lang="es-ES" sz="1632" dirty="0">
                <a:solidFill>
                  <a:srgbClr val="374151"/>
                </a:solidFill>
              </a:rPr>
              <a:t> la selección de variables ayuda a identificar y eliminar características redundantes o altamente correlacionadas. El uso de variables redundantes puede afectar negativamente al rendimiento y dificultar la interpretación del modelo.</a:t>
            </a:r>
          </a:p>
          <a:p>
            <a:pPr>
              <a:buFont typeface="+mj-lt"/>
              <a:buAutoNum type="arabicPeriod"/>
            </a:pPr>
            <a:r>
              <a:rPr lang="es-ES" sz="1632" b="1" dirty="0">
                <a:solidFill>
                  <a:srgbClr val="374151"/>
                </a:solidFill>
              </a:rPr>
              <a:t>Reducción del Ruido: </a:t>
            </a:r>
            <a:r>
              <a:rPr lang="es-ES" sz="1632" dirty="0">
                <a:solidFill>
                  <a:srgbClr val="374151"/>
                </a:solidFill>
              </a:rPr>
              <a:t>para mejorar la calidad de los datos de entrada, facilitando que el modelo capture patrones significativos</a:t>
            </a:r>
          </a:p>
        </p:txBody>
      </p:sp>
    </p:spTree>
    <p:extLst>
      <p:ext uri="{BB962C8B-B14F-4D97-AF65-F5344CB8AC3E}">
        <p14:creationId xmlns:p14="http://schemas.microsoft.com/office/powerpoint/2010/main" val="37578371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1685229" y="457776"/>
            <a:ext cx="7877199" cy="374485"/>
          </a:xfrm>
          <a:prstGeom prst="rect">
            <a:avLst/>
          </a:prstGeom>
        </p:spPr>
        <p:txBody>
          <a:bodyPr vert="horz" wrap="square" lIns="0" tIns="11516" rIns="0" bIns="0" rtlCol="0">
            <a:spAutoFit/>
          </a:bodyPr>
          <a:lstStyle>
            <a:lvl1pPr>
              <a:defRPr sz="2400" b="0" i="0">
                <a:solidFill>
                  <a:srgbClr val="FF0000"/>
                </a:solidFill>
                <a:latin typeface="Times New Roman"/>
                <a:ea typeface="+mj-ea"/>
                <a:cs typeface="Times New Roman"/>
              </a:defRPr>
            </a:lvl1pPr>
          </a:lstStyle>
          <a:p>
            <a:pPr marL="11516">
              <a:spcBef>
                <a:spcPts val="91"/>
              </a:spcBef>
            </a:pPr>
            <a:r>
              <a:rPr lang="es-ES" sz="2358" b="1" kern="0" spc="-5" dirty="0">
                <a:solidFill>
                  <a:srgbClr val="538DD3"/>
                </a:solidFill>
              </a:rPr>
              <a:t>Selección de variables en NN ¿Cómo?</a:t>
            </a:r>
            <a:endParaRPr lang="es-ES" sz="2358" kern="0" dirty="0"/>
          </a:p>
        </p:txBody>
      </p:sp>
      <p:sp>
        <p:nvSpPr>
          <p:cNvPr id="3" name="Rectángulo 2"/>
          <p:cNvSpPr/>
          <p:nvPr/>
        </p:nvSpPr>
        <p:spPr>
          <a:xfrm>
            <a:off x="1336760" y="987830"/>
            <a:ext cx="8982771" cy="4990340"/>
          </a:xfrm>
          <a:prstGeom prst="rect">
            <a:avLst/>
          </a:prstGeom>
        </p:spPr>
        <p:txBody>
          <a:bodyPr wrap="square">
            <a:spAutoFit/>
          </a:bodyPr>
          <a:lstStyle/>
          <a:p>
            <a:pPr algn="just">
              <a:lnSpc>
                <a:spcPct val="150000"/>
              </a:lnSpc>
              <a:buFont typeface="+mj-lt"/>
              <a:buAutoNum type="arabicPeriod"/>
            </a:pPr>
            <a:r>
              <a:rPr lang="es-ES" sz="1632" b="1" dirty="0">
                <a:solidFill>
                  <a:srgbClr val="374151"/>
                </a:solidFill>
              </a:rPr>
              <a:t>Importancia de las Características:</a:t>
            </a:r>
            <a:r>
              <a:rPr lang="es-ES" sz="1632" dirty="0">
                <a:solidFill>
                  <a:srgbClr val="374151"/>
                </a:solidFill>
              </a:rPr>
              <a:t> análisis de </a:t>
            </a:r>
            <a:r>
              <a:rPr lang="es-ES" sz="1632" b="1" dirty="0">
                <a:solidFill>
                  <a:srgbClr val="374151"/>
                </a:solidFill>
              </a:rPr>
              <a:t>sensibilidad</a:t>
            </a:r>
            <a:r>
              <a:rPr lang="es-ES" sz="1632" dirty="0">
                <a:solidFill>
                  <a:srgbClr val="374151"/>
                </a:solidFill>
              </a:rPr>
              <a:t> (</a:t>
            </a:r>
            <a:r>
              <a:rPr lang="es-ES" sz="1632" dirty="0"/>
              <a:t>cómo las predicciones cambian cuando se modifican los valores de una característica específica), selección preliminar con modelos que miden la importancia inherentemente (árboles, </a:t>
            </a:r>
            <a:r>
              <a:rPr lang="es-ES" sz="1632" dirty="0" err="1"/>
              <a:t>gradient</a:t>
            </a:r>
            <a:r>
              <a:rPr lang="es-ES" sz="1632" dirty="0"/>
              <a:t> </a:t>
            </a:r>
            <a:r>
              <a:rPr lang="es-ES" sz="1632" dirty="0" err="1"/>
              <a:t>boosting</a:t>
            </a:r>
            <a:r>
              <a:rPr lang="es-ES" sz="1632" dirty="0"/>
              <a:t>, etc.), RFE (eliminación recursiva de características),</a:t>
            </a:r>
            <a:endParaRPr lang="es-ES" sz="1632" dirty="0">
              <a:solidFill>
                <a:srgbClr val="374151"/>
              </a:solidFill>
            </a:endParaRPr>
          </a:p>
          <a:p>
            <a:pPr algn="just">
              <a:lnSpc>
                <a:spcPct val="150000"/>
              </a:lnSpc>
              <a:buFont typeface="+mj-lt"/>
              <a:buAutoNum type="arabicPeriod"/>
            </a:pPr>
            <a:r>
              <a:rPr lang="es-ES" sz="1632" b="1" dirty="0">
                <a:solidFill>
                  <a:srgbClr val="374151"/>
                </a:solidFill>
              </a:rPr>
              <a:t>Selección Manual:</a:t>
            </a:r>
            <a:r>
              <a:rPr lang="es-ES" sz="1632" dirty="0">
                <a:solidFill>
                  <a:srgbClr val="374151"/>
                </a:solidFill>
              </a:rPr>
              <a:t> hecha por expertos en el dominio que pueden seleccionar manualmente un subconjunto de características basándose en su conocimiento y comprensión del problema.</a:t>
            </a:r>
          </a:p>
          <a:p>
            <a:pPr algn="just">
              <a:lnSpc>
                <a:spcPct val="150000"/>
              </a:lnSpc>
              <a:buFont typeface="+mj-lt"/>
              <a:buAutoNum type="arabicPeriod"/>
            </a:pPr>
            <a:r>
              <a:rPr lang="es-ES" sz="1632" b="1" dirty="0">
                <a:solidFill>
                  <a:srgbClr val="374151"/>
                </a:solidFill>
              </a:rPr>
              <a:t>Técnicas Automáticas:</a:t>
            </a:r>
            <a:r>
              <a:rPr lang="es-ES" sz="1632" dirty="0">
                <a:solidFill>
                  <a:srgbClr val="374151"/>
                </a:solidFill>
              </a:rPr>
              <a:t> eliminación recursiva de variables (RFE) o técnicas basadas en información mutua.</a:t>
            </a:r>
          </a:p>
          <a:p>
            <a:pPr algn="just">
              <a:lnSpc>
                <a:spcPct val="150000"/>
              </a:lnSpc>
              <a:buFont typeface="+mj-lt"/>
              <a:buAutoNum type="arabicPeriod"/>
            </a:pPr>
            <a:r>
              <a:rPr lang="es-ES" sz="1632" b="1" dirty="0">
                <a:solidFill>
                  <a:srgbClr val="374151"/>
                </a:solidFill>
              </a:rPr>
              <a:t>Regularización: </a:t>
            </a:r>
            <a:r>
              <a:rPr lang="es-ES" sz="1632" dirty="0">
                <a:solidFill>
                  <a:srgbClr val="374151"/>
                </a:solidFill>
              </a:rPr>
              <a:t>L1 (LASSO) o L2 (Ridge), pueden ayudar a reducir la importancia de ciertas características al penalizar sus coeficientes. </a:t>
            </a:r>
          </a:p>
          <a:p>
            <a:pPr algn="just">
              <a:lnSpc>
                <a:spcPct val="150000"/>
              </a:lnSpc>
              <a:buFont typeface="+mj-lt"/>
              <a:buAutoNum type="arabicPeriod"/>
            </a:pPr>
            <a:r>
              <a:rPr lang="es-ES" sz="1632" b="1" dirty="0">
                <a:solidFill>
                  <a:srgbClr val="374151"/>
                </a:solidFill>
              </a:rPr>
              <a:t>Análisis de Correlación: </a:t>
            </a:r>
            <a:r>
              <a:rPr lang="es-ES" sz="1632" dirty="0">
                <a:solidFill>
                  <a:srgbClr val="374151"/>
                </a:solidFill>
              </a:rPr>
              <a:t>si dos variables están altamente correlacionadas, una de ellas podría ser redundante y eliminarse.</a:t>
            </a:r>
          </a:p>
          <a:p>
            <a:pPr algn="just">
              <a:lnSpc>
                <a:spcPct val="150000"/>
              </a:lnSpc>
              <a:buFont typeface="+mj-lt"/>
              <a:buAutoNum type="arabicPeriod"/>
            </a:pPr>
            <a:r>
              <a:rPr lang="es-ES" sz="1632" b="1" dirty="0">
                <a:solidFill>
                  <a:srgbClr val="374151"/>
                </a:solidFill>
              </a:rPr>
              <a:t>Reducción de </a:t>
            </a:r>
            <a:r>
              <a:rPr lang="es-ES" sz="1632" b="1" dirty="0" err="1">
                <a:solidFill>
                  <a:srgbClr val="374151"/>
                </a:solidFill>
              </a:rPr>
              <a:t>Dimensionalidad</a:t>
            </a:r>
            <a:r>
              <a:rPr lang="es-ES" sz="1632" b="1" dirty="0">
                <a:solidFill>
                  <a:srgbClr val="374151"/>
                </a:solidFill>
              </a:rPr>
              <a:t>: </a:t>
            </a:r>
            <a:r>
              <a:rPr lang="es-ES" sz="1632" dirty="0">
                <a:solidFill>
                  <a:srgbClr val="374151"/>
                </a:solidFill>
              </a:rPr>
              <a:t>como Análisis de Componentes Principales (PCA) o t-SNE</a:t>
            </a:r>
          </a:p>
        </p:txBody>
      </p:sp>
    </p:spTree>
    <p:extLst>
      <p:ext uri="{BB962C8B-B14F-4D97-AF65-F5344CB8AC3E}">
        <p14:creationId xmlns:p14="http://schemas.microsoft.com/office/powerpoint/2010/main" val="22908562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50106" y="584340"/>
            <a:ext cx="8383573" cy="5592745"/>
          </a:xfrm>
          <a:prstGeom prst="rect">
            <a:avLst/>
          </a:prstGeom>
        </p:spPr>
        <p:txBody>
          <a:bodyPr vert="horz" wrap="square" lIns="0" tIns="33397" rIns="0" bIns="0" rtlCol="0">
            <a:spAutoFit/>
          </a:bodyPr>
          <a:lstStyle/>
          <a:p>
            <a:pPr marL="11516" marR="4607" algn="just">
              <a:lnSpc>
                <a:spcPts val="2503"/>
              </a:lnSpc>
              <a:spcBef>
                <a:spcPts val="263"/>
              </a:spcBef>
            </a:pPr>
            <a:r>
              <a:rPr sz="2176" dirty="0">
                <a:cs typeface="Times New Roman"/>
              </a:rPr>
              <a:t>El orden de </a:t>
            </a:r>
            <a:r>
              <a:rPr sz="2176" spc="-5" dirty="0">
                <a:cs typeface="Times New Roman"/>
              </a:rPr>
              <a:t>importancia </a:t>
            </a:r>
            <a:r>
              <a:rPr sz="2176" dirty="0">
                <a:cs typeface="Times New Roman"/>
              </a:rPr>
              <a:t>planteado </a:t>
            </a:r>
            <a:r>
              <a:rPr sz="2176" dirty="0" err="1">
                <a:cs typeface="Times New Roman"/>
              </a:rPr>
              <a:t>por</a:t>
            </a:r>
            <a:r>
              <a:rPr sz="2176" dirty="0">
                <a:cs typeface="Times New Roman"/>
              </a:rPr>
              <a:t> </a:t>
            </a:r>
            <a:r>
              <a:rPr lang="es-ES" sz="2176" dirty="0">
                <a:cs typeface="Times New Roman"/>
              </a:rPr>
              <a:t>los</a:t>
            </a:r>
            <a:r>
              <a:rPr sz="2176" dirty="0">
                <a:cs typeface="Times New Roman"/>
              </a:rPr>
              <a:t> </a:t>
            </a:r>
            <a:r>
              <a:rPr sz="2176" spc="-5" dirty="0" err="1">
                <a:cs typeface="Times New Roman"/>
              </a:rPr>
              <a:t>métodos</a:t>
            </a:r>
            <a:r>
              <a:rPr sz="2176" spc="-5" dirty="0">
                <a:cs typeface="Times New Roman"/>
              </a:rPr>
              <a:t> </a:t>
            </a:r>
            <a:r>
              <a:rPr lang="es-ES" sz="2176" spc="-5" dirty="0">
                <a:cs typeface="Times New Roman"/>
              </a:rPr>
              <a:t>de selección </a:t>
            </a:r>
            <a:r>
              <a:rPr sz="2176" dirty="0" err="1">
                <a:cs typeface="Times New Roman"/>
              </a:rPr>
              <a:t>puede</a:t>
            </a:r>
            <a:r>
              <a:rPr sz="2176" dirty="0">
                <a:cs typeface="Times New Roman"/>
              </a:rPr>
              <a:t> ayudar, </a:t>
            </a:r>
            <a:r>
              <a:rPr sz="2176" dirty="0" err="1">
                <a:cs typeface="Times New Roman"/>
              </a:rPr>
              <a:t>pero</a:t>
            </a:r>
            <a:r>
              <a:rPr sz="2176" dirty="0">
                <a:cs typeface="Times New Roman"/>
              </a:rPr>
              <a:t> a</a:t>
            </a:r>
            <a:r>
              <a:rPr lang="es-ES" sz="2176" dirty="0">
                <a:cs typeface="Times New Roman"/>
              </a:rPr>
              <a:t> </a:t>
            </a:r>
            <a:r>
              <a:rPr sz="2176" spc="-5" dirty="0">
                <a:cs typeface="Times New Roman"/>
              </a:rPr>
              <a:t>menudo</a:t>
            </a:r>
            <a:r>
              <a:rPr sz="2176" dirty="0">
                <a:cs typeface="Times New Roman"/>
              </a:rPr>
              <a:t> el</a:t>
            </a:r>
            <a:r>
              <a:rPr sz="2176" spc="9" dirty="0">
                <a:cs typeface="Times New Roman"/>
              </a:rPr>
              <a:t> </a:t>
            </a:r>
            <a:r>
              <a:rPr sz="2176" spc="-5" dirty="0">
                <a:cs typeface="Times New Roman"/>
              </a:rPr>
              <a:t>problema</a:t>
            </a:r>
            <a:r>
              <a:rPr sz="2176" spc="5" dirty="0">
                <a:cs typeface="Times New Roman"/>
              </a:rPr>
              <a:t> </a:t>
            </a:r>
            <a:r>
              <a:rPr sz="2176" dirty="0">
                <a:cs typeface="Times New Roman"/>
              </a:rPr>
              <a:t>es</a:t>
            </a:r>
            <a:r>
              <a:rPr sz="2176" spc="9" dirty="0">
                <a:cs typeface="Times New Roman"/>
              </a:rPr>
              <a:t> </a:t>
            </a:r>
            <a:r>
              <a:rPr sz="2176" spc="-5" dirty="0">
                <a:cs typeface="Times New Roman"/>
              </a:rPr>
              <a:t>complejo</a:t>
            </a:r>
            <a:r>
              <a:rPr sz="2176" dirty="0">
                <a:cs typeface="Times New Roman"/>
              </a:rPr>
              <a:t> con </a:t>
            </a:r>
            <a:r>
              <a:rPr sz="2176" spc="-5" dirty="0" err="1">
                <a:cs typeface="Times New Roman"/>
              </a:rPr>
              <a:t>muchas</a:t>
            </a:r>
            <a:r>
              <a:rPr sz="2176" spc="5" dirty="0">
                <a:cs typeface="Times New Roman"/>
              </a:rPr>
              <a:t> </a:t>
            </a:r>
            <a:r>
              <a:rPr sz="2176" dirty="0" err="1">
                <a:cs typeface="Times New Roman"/>
              </a:rPr>
              <a:t>posibilidades</a:t>
            </a:r>
            <a:r>
              <a:rPr lang="es-ES" sz="2176" dirty="0">
                <a:cs typeface="Times New Roman"/>
              </a:rPr>
              <a:t> </a:t>
            </a:r>
            <a:r>
              <a:rPr sz="2176" dirty="0">
                <a:cs typeface="Times New Roman"/>
              </a:rPr>
              <a:t>y</a:t>
            </a:r>
            <a:r>
              <a:rPr lang="es-ES" sz="2176" spc="-5" dirty="0">
                <a:cs typeface="Times New Roman"/>
              </a:rPr>
              <a:t> </a:t>
            </a:r>
            <a:r>
              <a:rPr sz="2176" spc="-5" dirty="0" err="1">
                <a:cs typeface="Times New Roman"/>
              </a:rPr>
              <a:t>necesario</a:t>
            </a:r>
            <a:r>
              <a:rPr lang="es-ES" sz="2176" spc="-5" dirty="0">
                <a:cs typeface="Times New Roman"/>
              </a:rPr>
              <a:t> </a:t>
            </a:r>
            <a:r>
              <a:rPr sz="2176" spc="-5" dirty="0" err="1">
                <a:cs typeface="Times New Roman"/>
              </a:rPr>
              <a:t>utilizar</a:t>
            </a:r>
            <a:r>
              <a:rPr lang="es-ES" sz="2176" spc="-530" dirty="0">
                <a:cs typeface="Times New Roman"/>
              </a:rPr>
              <a:t> </a:t>
            </a:r>
            <a:r>
              <a:rPr sz="2176" dirty="0" err="1">
                <a:cs typeface="Times New Roman"/>
              </a:rPr>
              <a:t>varios</a:t>
            </a:r>
            <a:r>
              <a:rPr sz="2176" dirty="0">
                <a:cs typeface="Times New Roman"/>
              </a:rPr>
              <a:t> </a:t>
            </a:r>
            <a:r>
              <a:rPr sz="2176" spc="-5" dirty="0">
                <a:cs typeface="Times New Roman"/>
              </a:rPr>
              <a:t>métodos</a:t>
            </a:r>
            <a:r>
              <a:rPr sz="2176" dirty="0">
                <a:cs typeface="Times New Roman"/>
              </a:rPr>
              <a:t> de </a:t>
            </a:r>
            <a:r>
              <a:rPr sz="2176" spc="-5" dirty="0">
                <a:cs typeface="Times New Roman"/>
              </a:rPr>
              <a:t>manera</a:t>
            </a:r>
            <a:r>
              <a:rPr sz="2176" dirty="0">
                <a:cs typeface="Times New Roman"/>
              </a:rPr>
              <a:t> </a:t>
            </a:r>
            <a:r>
              <a:rPr sz="2176" spc="-5" dirty="0">
                <a:cs typeface="Times New Roman"/>
              </a:rPr>
              <a:t>alternativa/paralela.</a:t>
            </a:r>
            <a:endParaRPr sz="2176" dirty="0">
              <a:cs typeface="Times New Roman"/>
            </a:endParaRPr>
          </a:p>
          <a:p>
            <a:pPr algn="just">
              <a:lnSpc>
                <a:spcPct val="100000"/>
              </a:lnSpc>
            </a:pPr>
            <a:endParaRPr sz="2176" dirty="0">
              <a:cs typeface="Times New Roman"/>
            </a:endParaRPr>
          </a:p>
          <a:p>
            <a:pPr marL="11516" marR="59309" algn="just">
              <a:lnSpc>
                <a:spcPts val="2503"/>
              </a:lnSpc>
            </a:pPr>
            <a:r>
              <a:rPr sz="2176" dirty="0">
                <a:cs typeface="Times New Roman"/>
              </a:rPr>
              <a:t>En </a:t>
            </a:r>
            <a:r>
              <a:rPr sz="2176" spc="-5" dirty="0">
                <a:cs typeface="Times New Roman"/>
              </a:rPr>
              <a:t>términos</a:t>
            </a:r>
            <a:r>
              <a:rPr sz="2176" spc="5" dirty="0">
                <a:cs typeface="Times New Roman"/>
              </a:rPr>
              <a:t> </a:t>
            </a:r>
            <a:r>
              <a:rPr sz="2176" dirty="0">
                <a:cs typeface="Times New Roman"/>
              </a:rPr>
              <a:t>generales</a:t>
            </a:r>
            <a:r>
              <a:rPr sz="2176" spc="9" dirty="0">
                <a:cs typeface="Times New Roman"/>
              </a:rPr>
              <a:t> </a:t>
            </a:r>
            <a:r>
              <a:rPr sz="2176" dirty="0">
                <a:cs typeface="Times New Roman"/>
              </a:rPr>
              <a:t>la</a:t>
            </a:r>
            <a:r>
              <a:rPr sz="2176" spc="-14" dirty="0">
                <a:cs typeface="Times New Roman"/>
              </a:rPr>
              <a:t> </a:t>
            </a:r>
            <a:r>
              <a:rPr sz="2176" spc="-5" dirty="0">
                <a:cs typeface="Times New Roman"/>
              </a:rPr>
              <a:t>selección</a:t>
            </a:r>
            <a:r>
              <a:rPr sz="2176" spc="5" dirty="0">
                <a:cs typeface="Times New Roman"/>
              </a:rPr>
              <a:t> </a:t>
            </a:r>
            <a:r>
              <a:rPr sz="2176" dirty="0">
                <a:cs typeface="Times New Roman"/>
              </a:rPr>
              <a:t>de</a:t>
            </a:r>
            <a:r>
              <a:rPr sz="2176" spc="-5" dirty="0">
                <a:cs typeface="Times New Roman"/>
              </a:rPr>
              <a:t> variables</a:t>
            </a:r>
            <a:r>
              <a:rPr sz="2176" dirty="0">
                <a:cs typeface="Times New Roman"/>
              </a:rPr>
              <a:t> </a:t>
            </a:r>
            <a:r>
              <a:rPr sz="2176" spc="-5" dirty="0">
                <a:cs typeface="Times New Roman"/>
              </a:rPr>
              <a:t>(salvo</a:t>
            </a:r>
            <a:r>
              <a:rPr sz="2176" spc="5" dirty="0">
                <a:cs typeface="Times New Roman"/>
              </a:rPr>
              <a:t> </a:t>
            </a:r>
            <a:r>
              <a:rPr sz="2176" spc="-5" dirty="0">
                <a:cs typeface="Times New Roman"/>
              </a:rPr>
              <a:t>quizás</a:t>
            </a:r>
            <a:r>
              <a:rPr sz="2176" spc="-9" dirty="0">
                <a:cs typeface="Times New Roman"/>
              </a:rPr>
              <a:t> </a:t>
            </a:r>
            <a:r>
              <a:rPr sz="2176" dirty="0">
                <a:cs typeface="Times New Roman"/>
              </a:rPr>
              <a:t>unas pocas) debe </a:t>
            </a:r>
            <a:r>
              <a:rPr sz="2176" spc="-530" dirty="0">
                <a:cs typeface="Times New Roman"/>
              </a:rPr>
              <a:t> </a:t>
            </a:r>
            <a:r>
              <a:rPr sz="2176" dirty="0">
                <a:cs typeface="Times New Roman"/>
              </a:rPr>
              <a:t>realizarse:</a:t>
            </a:r>
          </a:p>
          <a:p>
            <a:pPr algn="just">
              <a:spcBef>
                <a:spcPts val="45"/>
              </a:spcBef>
            </a:pPr>
            <a:endParaRPr sz="2131" dirty="0">
              <a:cs typeface="Times New Roman"/>
            </a:endParaRPr>
          </a:p>
          <a:p>
            <a:pPr marL="426105" indent="-207294" algn="just">
              <a:buFont typeface="Symbol"/>
              <a:buChar char=""/>
              <a:tabLst>
                <a:tab pos="426105" algn="l"/>
              </a:tabLst>
            </a:pPr>
            <a:r>
              <a:rPr sz="2176" b="1" spc="-5" dirty="0">
                <a:cs typeface="Times New Roman"/>
              </a:rPr>
              <a:t>previamente</a:t>
            </a:r>
            <a:r>
              <a:rPr sz="2176" spc="-18" dirty="0">
                <a:cs typeface="Times New Roman"/>
              </a:rPr>
              <a:t> </a:t>
            </a:r>
            <a:r>
              <a:rPr sz="2176" dirty="0">
                <a:cs typeface="Times New Roman"/>
              </a:rPr>
              <a:t>a</a:t>
            </a:r>
            <a:r>
              <a:rPr sz="2176" spc="-5" dirty="0">
                <a:cs typeface="Times New Roman"/>
              </a:rPr>
              <a:t> </a:t>
            </a:r>
            <a:r>
              <a:rPr sz="2176" dirty="0">
                <a:cs typeface="Times New Roman"/>
              </a:rPr>
              <a:t>la</a:t>
            </a:r>
            <a:r>
              <a:rPr sz="2176" spc="-9" dirty="0">
                <a:cs typeface="Times New Roman"/>
              </a:rPr>
              <a:t> </a:t>
            </a:r>
            <a:r>
              <a:rPr sz="2176" b="1" dirty="0">
                <a:cs typeface="Times New Roman"/>
              </a:rPr>
              <a:t>construcción</a:t>
            </a:r>
            <a:r>
              <a:rPr sz="2176" spc="-5" dirty="0">
                <a:cs typeface="Times New Roman"/>
              </a:rPr>
              <a:t> </a:t>
            </a:r>
            <a:r>
              <a:rPr sz="2176" dirty="0">
                <a:cs typeface="Times New Roman"/>
              </a:rPr>
              <a:t>de</a:t>
            </a:r>
            <a:r>
              <a:rPr sz="2176" spc="-9" dirty="0">
                <a:cs typeface="Times New Roman"/>
              </a:rPr>
              <a:t> </a:t>
            </a:r>
            <a:r>
              <a:rPr sz="2176" dirty="0">
                <a:cs typeface="Times New Roman"/>
              </a:rPr>
              <a:t>la</a:t>
            </a:r>
            <a:r>
              <a:rPr sz="2176" spc="-5" dirty="0">
                <a:cs typeface="Times New Roman"/>
              </a:rPr>
              <a:t> </a:t>
            </a:r>
            <a:r>
              <a:rPr sz="2176" dirty="0">
                <a:cs typeface="Times New Roman"/>
              </a:rPr>
              <a:t>red</a:t>
            </a:r>
          </a:p>
          <a:p>
            <a:pPr algn="just">
              <a:spcBef>
                <a:spcPts val="9"/>
              </a:spcBef>
              <a:buClr>
                <a:srgbClr val="333399"/>
              </a:buClr>
              <a:buFont typeface="Symbol"/>
              <a:buChar char=""/>
            </a:pPr>
            <a:endParaRPr sz="2358" dirty="0">
              <a:cs typeface="Times New Roman"/>
            </a:endParaRPr>
          </a:p>
          <a:p>
            <a:pPr marL="425530" marR="264876" indent="-207294" algn="just">
              <a:lnSpc>
                <a:spcPts val="2503"/>
              </a:lnSpc>
              <a:buFont typeface="Symbol"/>
              <a:buChar char=""/>
              <a:tabLst>
                <a:tab pos="426105" algn="l"/>
              </a:tabLst>
            </a:pPr>
            <a:r>
              <a:rPr sz="2176" dirty="0">
                <a:cs typeface="Times New Roman"/>
              </a:rPr>
              <a:t>debe fijarse en este </a:t>
            </a:r>
            <a:r>
              <a:rPr sz="2176" spc="-5" dirty="0">
                <a:cs typeface="Times New Roman"/>
              </a:rPr>
              <a:t>estudio </a:t>
            </a:r>
            <a:r>
              <a:rPr sz="2176" dirty="0">
                <a:cs typeface="Times New Roman"/>
              </a:rPr>
              <a:t>un rango de conjuntos de variables que vaya </a:t>
            </a:r>
            <a:r>
              <a:rPr sz="2176" spc="5" dirty="0">
                <a:cs typeface="Times New Roman"/>
              </a:rPr>
              <a:t> </a:t>
            </a:r>
            <a:r>
              <a:rPr sz="2176" dirty="0">
                <a:cs typeface="Times New Roman"/>
              </a:rPr>
              <a:t>desde el </a:t>
            </a:r>
            <a:r>
              <a:rPr sz="2176" spc="-5" dirty="0">
                <a:cs typeface="Times New Roman"/>
              </a:rPr>
              <a:t>conjunto</a:t>
            </a:r>
            <a:r>
              <a:rPr sz="2176" dirty="0">
                <a:cs typeface="Times New Roman"/>
              </a:rPr>
              <a:t> </a:t>
            </a:r>
            <a:r>
              <a:rPr sz="2176" spc="-9" dirty="0">
                <a:cs typeface="Times New Roman"/>
              </a:rPr>
              <a:t>más</a:t>
            </a:r>
            <a:r>
              <a:rPr sz="2176" dirty="0">
                <a:cs typeface="Times New Roman"/>
              </a:rPr>
              <a:t> conservador y</a:t>
            </a:r>
            <a:r>
              <a:rPr sz="2176" spc="-14" dirty="0">
                <a:cs typeface="Times New Roman"/>
              </a:rPr>
              <a:t> </a:t>
            </a:r>
            <a:r>
              <a:rPr sz="2176" dirty="0">
                <a:cs typeface="Times New Roman"/>
              </a:rPr>
              <a:t>robusto pero</a:t>
            </a:r>
            <a:r>
              <a:rPr sz="2176" spc="-14" dirty="0">
                <a:cs typeface="Times New Roman"/>
              </a:rPr>
              <a:t> </a:t>
            </a:r>
            <a:r>
              <a:rPr sz="2176" dirty="0">
                <a:cs typeface="Times New Roman"/>
              </a:rPr>
              <a:t>con </a:t>
            </a:r>
            <a:r>
              <a:rPr sz="2176" spc="-5" dirty="0">
                <a:cs typeface="Times New Roman"/>
              </a:rPr>
              <a:t>menos</a:t>
            </a:r>
            <a:r>
              <a:rPr sz="2176" spc="14" dirty="0">
                <a:cs typeface="Times New Roman"/>
              </a:rPr>
              <a:t> </a:t>
            </a:r>
            <a:r>
              <a:rPr sz="2176" spc="-5" dirty="0" err="1">
                <a:cs typeface="Times New Roman"/>
              </a:rPr>
              <a:t>capacidad</a:t>
            </a:r>
            <a:r>
              <a:rPr sz="2176" spc="-5" dirty="0">
                <a:cs typeface="Times New Roman"/>
              </a:rPr>
              <a:t> </a:t>
            </a:r>
            <a:r>
              <a:rPr sz="2176" dirty="0">
                <a:cs typeface="Times New Roman"/>
              </a:rPr>
              <a:t> </a:t>
            </a:r>
            <a:r>
              <a:rPr sz="2176" dirty="0" err="1">
                <a:cs typeface="Times New Roman"/>
              </a:rPr>
              <a:t>predictiva</a:t>
            </a:r>
            <a:r>
              <a:rPr lang="es-ES" sz="2176" dirty="0">
                <a:cs typeface="Times New Roman"/>
              </a:rPr>
              <a:t> (</a:t>
            </a:r>
            <a:r>
              <a:rPr lang="es-ES" sz="2176" b="1" dirty="0">
                <a:cs typeface="Times New Roman"/>
              </a:rPr>
              <a:t>modelo sencillo</a:t>
            </a:r>
            <a:r>
              <a:rPr lang="es-ES" sz="2176" dirty="0">
                <a:cs typeface="Times New Roman"/>
              </a:rPr>
              <a:t>)</a:t>
            </a:r>
            <a:r>
              <a:rPr sz="2176" dirty="0">
                <a:cs typeface="Times New Roman"/>
              </a:rPr>
              <a:t>, </a:t>
            </a:r>
            <a:r>
              <a:rPr sz="2176" spc="-5" dirty="0">
                <a:cs typeface="Times New Roman"/>
              </a:rPr>
              <a:t>al </a:t>
            </a:r>
            <a:r>
              <a:rPr sz="2176" dirty="0">
                <a:cs typeface="Times New Roman"/>
              </a:rPr>
              <a:t>conjunto que esté en el </a:t>
            </a:r>
            <a:r>
              <a:rPr sz="2176" spc="-5" dirty="0">
                <a:cs typeface="Times New Roman"/>
              </a:rPr>
              <a:t>límite </a:t>
            </a:r>
            <a:r>
              <a:rPr sz="2176" dirty="0">
                <a:cs typeface="Times New Roman"/>
              </a:rPr>
              <a:t>del </a:t>
            </a:r>
            <a:r>
              <a:rPr sz="2176" spc="-5" dirty="0">
                <a:cs typeface="Times New Roman"/>
              </a:rPr>
              <a:t>sobreajuste </a:t>
            </a:r>
            <a:r>
              <a:rPr sz="2176" dirty="0">
                <a:cs typeface="Times New Roman"/>
              </a:rPr>
              <a:t>o un poco </a:t>
            </a:r>
            <a:r>
              <a:rPr sz="2176" dirty="0" err="1">
                <a:cs typeface="Times New Roman"/>
              </a:rPr>
              <a:t>por</a:t>
            </a:r>
            <a:r>
              <a:rPr sz="2176" dirty="0">
                <a:cs typeface="Times New Roman"/>
              </a:rPr>
              <a:t> </a:t>
            </a:r>
            <a:r>
              <a:rPr sz="2176" spc="-530" dirty="0">
                <a:cs typeface="Times New Roman"/>
              </a:rPr>
              <a:t> </a:t>
            </a:r>
            <a:r>
              <a:rPr sz="2176" spc="-5" dirty="0" err="1">
                <a:cs typeface="Times New Roman"/>
              </a:rPr>
              <a:t>encima</a:t>
            </a:r>
            <a:r>
              <a:rPr lang="es-ES" sz="2176" spc="-5" dirty="0">
                <a:cs typeface="Times New Roman"/>
              </a:rPr>
              <a:t> (</a:t>
            </a:r>
            <a:r>
              <a:rPr lang="es-ES" sz="2176" b="1" spc="-5" dirty="0">
                <a:cs typeface="Times New Roman"/>
              </a:rPr>
              <a:t>modelo complejo</a:t>
            </a:r>
            <a:r>
              <a:rPr lang="es-ES" sz="2176" spc="-5" dirty="0">
                <a:cs typeface="Times New Roman"/>
              </a:rPr>
              <a:t>)</a:t>
            </a:r>
            <a:endParaRPr sz="2176" dirty="0">
              <a:cs typeface="Times New Roman"/>
            </a:endParaRPr>
          </a:p>
          <a:p>
            <a:pPr algn="just">
              <a:spcBef>
                <a:spcPts val="5"/>
              </a:spcBef>
              <a:buClr>
                <a:srgbClr val="333399"/>
              </a:buClr>
              <a:buFont typeface="Symbol"/>
              <a:buChar char=""/>
            </a:pPr>
            <a:endParaRPr sz="2267" dirty="0">
              <a:cs typeface="Times New Roman"/>
            </a:endParaRPr>
          </a:p>
          <a:p>
            <a:pPr marL="425530" marR="454320" indent="-207294" algn="just">
              <a:lnSpc>
                <a:spcPct val="95600"/>
              </a:lnSpc>
              <a:buFont typeface="Symbol"/>
              <a:buChar char=""/>
              <a:tabLst>
                <a:tab pos="426105" algn="l"/>
              </a:tabLst>
            </a:pPr>
            <a:r>
              <a:rPr sz="2176" spc="-5" dirty="0">
                <a:cs typeface="Times New Roman"/>
              </a:rPr>
              <a:t>sobre </a:t>
            </a:r>
            <a:r>
              <a:rPr sz="2176" dirty="0">
                <a:cs typeface="Times New Roman"/>
              </a:rPr>
              <a:t>esa </a:t>
            </a:r>
            <a:r>
              <a:rPr sz="2176" spc="-5" dirty="0">
                <a:cs typeface="Times New Roman"/>
              </a:rPr>
              <a:t>lista </a:t>
            </a:r>
            <a:r>
              <a:rPr sz="2176" dirty="0">
                <a:cs typeface="Times New Roman"/>
              </a:rPr>
              <a:t>de </a:t>
            </a:r>
            <a:r>
              <a:rPr sz="2176" spc="-5" dirty="0">
                <a:cs typeface="Times New Roman"/>
              </a:rPr>
              <a:t>conjuntos </a:t>
            </a:r>
            <a:r>
              <a:rPr sz="2176" dirty="0">
                <a:cs typeface="Times New Roman"/>
              </a:rPr>
              <a:t>se </a:t>
            </a:r>
            <a:r>
              <a:rPr sz="2176" spc="-5" dirty="0">
                <a:cs typeface="Times New Roman"/>
              </a:rPr>
              <a:t>trabajará </a:t>
            </a:r>
            <a:r>
              <a:rPr sz="2176" dirty="0">
                <a:cs typeface="Times New Roman"/>
              </a:rPr>
              <a:t>con la red, </a:t>
            </a:r>
            <a:r>
              <a:rPr sz="2176" spc="-5" dirty="0">
                <a:cs typeface="Times New Roman"/>
              </a:rPr>
              <a:t>siempre </a:t>
            </a:r>
            <a:r>
              <a:rPr sz="2176" dirty="0">
                <a:cs typeface="Times New Roman"/>
              </a:rPr>
              <a:t>teniendo en </a:t>
            </a:r>
            <a:r>
              <a:rPr sz="2176" spc="-530" dirty="0">
                <a:cs typeface="Times New Roman"/>
              </a:rPr>
              <a:t> </a:t>
            </a:r>
            <a:r>
              <a:rPr sz="2176" dirty="0">
                <a:cs typeface="Times New Roman"/>
              </a:rPr>
              <a:t>cuenta el </a:t>
            </a:r>
            <a:r>
              <a:rPr sz="2176" spc="-5" dirty="0">
                <a:cs typeface="Times New Roman"/>
              </a:rPr>
              <a:t>estudio </a:t>
            </a:r>
            <a:r>
              <a:rPr sz="2176" dirty="0">
                <a:cs typeface="Times New Roman"/>
              </a:rPr>
              <a:t>de la </a:t>
            </a:r>
            <a:r>
              <a:rPr sz="2176" spc="-5" dirty="0">
                <a:cs typeface="Times New Roman"/>
              </a:rPr>
              <a:t>capacidad predictiva </a:t>
            </a:r>
            <a:r>
              <a:rPr sz="2176" dirty="0">
                <a:cs typeface="Times New Roman"/>
              </a:rPr>
              <a:t>y </a:t>
            </a:r>
            <a:r>
              <a:rPr sz="2176" spc="-5" dirty="0">
                <a:cs typeface="Times New Roman"/>
              </a:rPr>
              <a:t>sobreajuste, </a:t>
            </a:r>
            <a:r>
              <a:rPr sz="2176" dirty="0">
                <a:cs typeface="Times New Roman"/>
              </a:rPr>
              <a:t>con datos de </a:t>
            </a:r>
            <a:r>
              <a:rPr sz="2176" spc="-530" dirty="0">
                <a:cs typeface="Times New Roman"/>
              </a:rPr>
              <a:t> </a:t>
            </a:r>
            <a:r>
              <a:rPr sz="2176" b="1" spc="-5" dirty="0">
                <a:cs typeface="Times New Roman"/>
              </a:rPr>
              <a:t>validación-test</a:t>
            </a:r>
            <a:r>
              <a:rPr sz="2176" spc="-5" dirty="0">
                <a:cs typeface="Times New Roman"/>
              </a:rPr>
              <a:t>.</a:t>
            </a:r>
            <a:endParaRPr sz="2176" dirty="0">
              <a:cs typeface="Times New Roman"/>
            </a:endParaRPr>
          </a:p>
        </p:txBody>
      </p:sp>
    </p:spTree>
    <p:extLst>
      <p:ext uri="{BB962C8B-B14F-4D97-AF65-F5344CB8AC3E}">
        <p14:creationId xmlns:p14="http://schemas.microsoft.com/office/powerpoint/2010/main" val="3029214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9127" y="748897"/>
            <a:ext cx="10611605" cy="4393021"/>
          </a:xfrm>
          <a:prstGeom prst="rect">
            <a:avLst/>
          </a:prstGeom>
        </p:spPr>
        <p:txBody>
          <a:bodyPr vert="horz" wrap="square" lIns="0" tIns="11516" rIns="0" bIns="0" rtlCol="0">
            <a:spAutoFit/>
          </a:bodyPr>
          <a:lstStyle/>
          <a:p>
            <a:pPr marL="1759700">
              <a:spcBef>
                <a:spcPts val="91"/>
              </a:spcBef>
            </a:pPr>
            <a:r>
              <a:rPr sz="2176" b="1" spc="-5" dirty="0">
                <a:solidFill>
                  <a:srgbClr val="333399"/>
                </a:solidFill>
                <a:latin typeface="+mj-lt"/>
                <a:cs typeface="Times New Roman"/>
              </a:rPr>
              <a:t>Algunas ideas</a:t>
            </a:r>
            <a:r>
              <a:rPr sz="2176" b="1" dirty="0">
                <a:solidFill>
                  <a:srgbClr val="333399"/>
                </a:solidFill>
                <a:latin typeface="+mj-lt"/>
                <a:cs typeface="Times New Roman"/>
              </a:rPr>
              <a:t> </a:t>
            </a:r>
            <a:r>
              <a:rPr sz="2176" b="1" spc="-5" dirty="0">
                <a:solidFill>
                  <a:srgbClr val="333399"/>
                </a:solidFill>
                <a:latin typeface="+mj-lt"/>
                <a:cs typeface="Times New Roman"/>
              </a:rPr>
              <a:t>para </a:t>
            </a:r>
            <a:r>
              <a:rPr sz="2176" b="1" dirty="0">
                <a:solidFill>
                  <a:srgbClr val="333399"/>
                </a:solidFill>
                <a:latin typeface="+mj-lt"/>
                <a:cs typeface="Times New Roman"/>
              </a:rPr>
              <a:t>la</a:t>
            </a:r>
            <a:r>
              <a:rPr sz="2176" b="1" spc="5" dirty="0">
                <a:solidFill>
                  <a:srgbClr val="333399"/>
                </a:solidFill>
                <a:latin typeface="+mj-lt"/>
                <a:cs typeface="Times New Roman"/>
              </a:rPr>
              <a:t> </a:t>
            </a:r>
            <a:r>
              <a:rPr sz="2176" b="1" spc="-5" dirty="0">
                <a:solidFill>
                  <a:srgbClr val="333399"/>
                </a:solidFill>
                <a:latin typeface="+mj-lt"/>
                <a:cs typeface="Times New Roman"/>
              </a:rPr>
              <a:t>preselección</a:t>
            </a:r>
            <a:r>
              <a:rPr sz="2176" b="1" spc="-9" dirty="0">
                <a:solidFill>
                  <a:srgbClr val="333399"/>
                </a:solidFill>
                <a:latin typeface="+mj-lt"/>
                <a:cs typeface="Times New Roman"/>
              </a:rPr>
              <a:t> </a:t>
            </a:r>
            <a:r>
              <a:rPr sz="2176" b="1" spc="-5" dirty="0">
                <a:solidFill>
                  <a:srgbClr val="333399"/>
                </a:solidFill>
                <a:latin typeface="+mj-lt"/>
                <a:cs typeface="Times New Roman"/>
              </a:rPr>
              <a:t>de</a:t>
            </a:r>
            <a:r>
              <a:rPr sz="2176" b="1" dirty="0">
                <a:solidFill>
                  <a:srgbClr val="333399"/>
                </a:solidFill>
                <a:latin typeface="+mj-lt"/>
                <a:cs typeface="Times New Roman"/>
              </a:rPr>
              <a:t> </a:t>
            </a:r>
            <a:r>
              <a:rPr sz="2176" b="1" spc="-5" dirty="0">
                <a:solidFill>
                  <a:srgbClr val="333399"/>
                </a:solidFill>
                <a:latin typeface="+mj-lt"/>
                <a:cs typeface="Times New Roman"/>
              </a:rPr>
              <a:t>variables</a:t>
            </a:r>
            <a:endParaRPr lang="es-ES" sz="2176" b="1" spc="-5" dirty="0">
              <a:solidFill>
                <a:srgbClr val="333399"/>
              </a:solidFill>
              <a:latin typeface="+mj-lt"/>
              <a:cs typeface="Times New Roman"/>
            </a:endParaRPr>
          </a:p>
          <a:p>
            <a:pPr marL="1759700">
              <a:spcBef>
                <a:spcPts val="91"/>
              </a:spcBef>
            </a:pPr>
            <a:endParaRPr lang="es-ES" sz="2176" b="1" spc="-5" dirty="0">
              <a:solidFill>
                <a:srgbClr val="333399"/>
              </a:solidFill>
              <a:latin typeface="+mj-lt"/>
              <a:cs typeface="Times New Roman"/>
            </a:endParaRPr>
          </a:p>
          <a:p>
            <a:pPr marL="1759700">
              <a:spcBef>
                <a:spcPts val="91"/>
              </a:spcBef>
            </a:pPr>
            <a:endParaRPr sz="2176" dirty="0">
              <a:latin typeface="+mj-lt"/>
              <a:cs typeface="Times New Roman"/>
            </a:endParaRPr>
          </a:p>
          <a:p>
            <a:pPr marL="322458" marR="2795021" indent="-310942" algn="just">
              <a:spcBef>
                <a:spcPts val="544"/>
              </a:spcBef>
              <a:buFont typeface="Arial" panose="020B0604020202020204" pitchFamily="34" charset="0"/>
              <a:buChar char="•"/>
            </a:pPr>
            <a:r>
              <a:rPr sz="2176" b="1" spc="-5" dirty="0">
                <a:cs typeface="Times New Roman"/>
              </a:rPr>
              <a:t>Selección sesgada </a:t>
            </a:r>
            <a:r>
              <a:rPr sz="2176" b="1" dirty="0">
                <a:cs typeface="Times New Roman"/>
              </a:rPr>
              <a:t>por el </a:t>
            </a:r>
            <a:r>
              <a:rPr sz="2176" b="1" spc="-5" dirty="0" err="1">
                <a:cs typeface="Times New Roman"/>
              </a:rPr>
              <a:t>planteamiento</a:t>
            </a:r>
            <a:r>
              <a:rPr sz="2176" b="1" spc="-5" dirty="0">
                <a:cs typeface="Times New Roman"/>
              </a:rPr>
              <a:t> </a:t>
            </a:r>
            <a:r>
              <a:rPr sz="2176" b="1" dirty="0">
                <a:cs typeface="Times New Roman"/>
              </a:rPr>
              <a:t>lineal</a:t>
            </a:r>
            <a:r>
              <a:rPr lang="es-ES" sz="2176" b="1" dirty="0">
                <a:cs typeface="Times New Roman"/>
              </a:rPr>
              <a:t>: </a:t>
            </a:r>
            <a:r>
              <a:rPr lang="es-ES" sz="2176" spc="-5" dirty="0">
                <a:cs typeface="Times New Roman"/>
              </a:rPr>
              <a:t>m</a:t>
            </a:r>
            <a:r>
              <a:rPr sz="2176" spc="-5" dirty="0" err="1">
                <a:cs typeface="Times New Roman"/>
              </a:rPr>
              <a:t>étodos</a:t>
            </a:r>
            <a:r>
              <a:rPr sz="2176" spc="-5" dirty="0">
                <a:cs typeface="Times New Roman"/>
              </a:rPr>
              <a:t> Stepwise,</a:t>
            </a:r>
            <a:r>
              <a:rPr sz="2176" dirty="0">
                <a:cs typeface="Times New Roman"/>
              </a:rPr>
              <a:t> Backward y</a:t>
            </a:r>
            <a:r>
              <a:rPr sz="2176" spc="-5" dirty="0">
                <a:cs typeface="Times New Roman"/>
              </a:rPr>
              <a:t> Forward </a:t>
            </a:r>
            <a:r>
              <a:rPr sz="2176" dirty="0" err="1">
                <a:cs typeface="Times New Roman"/>
              </a:rPr>
              <a:t>en</a:t>
            </a:r>
            <a:r>
              <a:rPr sz="2176" dirty="0">
                <a:cs typeface="Times New Roman"/>
              </a:rPr>
              <a:t> </a:t>
            </a:r>
            <a:r>
              <a:rPr sz="2176" spc="-5" dirty="0" err="1">
                <a:cs typeface="Times New Roman"/>
              </a:rPr>
              <a:t>regresión</a:t>
            </a:r>
            <a:endParaRPr lang="es-ES" sz="2176" spc="-5" dirty="0">
              <a:cs typeface="Times New Roman"/>
            </a:endParaRPr>
          </a:p>
          <a:p>
            <a:pPr marL="11516" marR="2795021" algn="just">
              <a:spcBef>
                <a:spcPts val="544"/>
              </a:spcBef>
            </a:pPr>
            <a:endParaRPr sz="2176" dirty="0">
              <a:cs typeface="Times New Roman"/>
            </a:endParaRPr>
          </a:p>
          <a:p>
            <a:pPr marL="322458" marR="3065078" indent="-310942" algn="just">
              <a:spcBef>
                <a:spcPts val="5"/>
              </a:spcBef>
              <a:buFont typeface="Arial" panose="020B0604020202020204" pitchFamily="34" charset="0"/>
              <a:buChar char="•"/>
            </a:pPr>
            <a:r>
              <a:rPr sz="2176" b="1" spc="-5" dirty="0">
                <a:cs typeface="Times New Roman"/>
              </a:rPr>
              <a:t>Selección </a:t>
            </a:r>
            <a:r>
              <a:rPr sz="2176" b="1" dirty="0">
                <a:cs typeface="Times New Roman"/>
              </a:rPr>
              <a:t>no </a:t>
            </a:r>
            <a:r>
              <a:rPr sz="2176" b="1" spc="-5" dirty="0">
                <a:cs typeface="Times New Roman"/>
              </a:rPr>
              <a:t>sesgada</a:t>
            </a:r>
            <a:r>
              <a:rPr sz="2176" b="1" dirty="0">
                <a:cs typeface="Times New Roman"/>
              </a:rPr>
              <a:t> </a:t>
            </a:r>
            <a:r>
              <a:rPr sz="2176" b="1" spc="-5" dirty="0">
                <a:cs typeface="Times New Roman"/>
              </a:rPr>
              <a:t>por</a:t>
            </a:r>
            <a:r>
              <a:rPr sz="2176" b="1" dirty="0">
                <a:cs typeface="Times New Roman"/>
              </a:rPr>
              <a:t> el </a:t>
            </a:r>
            <a:r>
              <a:rPr sz="2176" b="1" spc="-5" dirty="0" err="1">
                <a:cs typeface="Times New Roman"/>
              </a:rPr>
              <a:t>planteamiento</a:t>
            </a:r>
            <a:r>
              <a:rPr lang="es-ES" sz="2176" b="1" spc="-5" dirty="0">
                <a:cs typeface="Times New Roman"/>
              </a:rPr>
              <a:t> </a:t>
            </a:r>
            <a:r>
              <a:rPr sz="2176" b="1" dirty="0">
                <a:cs typeface="Times New Roman"/>
              </a:rPr>
              <a:t>lineal</a:t>
            </a:r>
            <a:r>
              <a:rPr lang="es-ES" sz="2176" b="1" dirty="0">
                <a:cs typeface="Times New Roman"/>
              </a:rPr>
              <a:t>:</a:t>
            </a:r>
            <a:r>
              <a:rPr sz="2176" b="1" dirty="0">
                <a:cs typeface="Times New Roman"/>
              </a:rPr>
              <a:t> </a:t>
            </a:r>
            <a:r>
              <a:rPr lang="es-ES" sz="2176" spc="-5" dirty="0">
                <a:cs typeface="Times New Roman"/>
              </a:rPr>
              <a:t>v</a:t>
            </a:r>
            <a:r>
              <a:rPr sz="2176" spc="-5" dirty="0" err="1">
                <a:cs typeface="Times New Roman"/>
              </a:rPr>
              <a:t>ariable</a:t>
            </a:r>
            <a:r>
              <a:rPr lang="es-ES" sz="2176" spc="-5" dirty="0">
                <a:cs typeface="Times New Roman"/>
              </a:rPr>
              <a:t>s</a:t>
            </a:r>
            <a:r>
              <a:rPr sz="2176" spc="-9" dirty="0">
                <a:cs typeface="Times New Roman"/>
              </a:rPr>
              <a:t> </a:t>
            </a:r>
            <a:r>
              <a:rPr sz="2176" dirty="0" err="1">
                <a:cs typeface="Times New Roman"/>
              </a:rPr>
              <a:t>importan</a:t>
            </a:r>
            <a:r>
              <a:rPr lang="es-ES" sz="2176" dirty="0" err="1">
                <a:cs typeface="Times New Roman"/>
              </a:rPr>
              <a:t>tes</a:t>
            </a:r>
            <a:r>
              <a:rPr sz="2176" spc="-9" dirty="0">
                <a:cs typeface="Times New Roman"/>
              </a:rPr>
              <a:t> </a:t>
            </a:r>
            <a:r>
              <a:rPr sz="2176" dirty="0">
                <a:cs typeface="Times New Roman"/>
              </a:rPr>
              <a:t>en</a:t>
            </a:r>
            <a:r>
              <a:rPr sz="2176" spc="-9" dirty="0">
                <a:cs typeface="Times New Roman"/>
              </a:rPr>
              <a:t> </a:t>
            </a:r>
            <a:r>
              <a:rPr sz="2176" dirty="0">
                <a:cs typeface="Times New Roman"/>
              </a:rPr>
              <a:t>árboles</a:t>
            </a:r>
            <a:r>
              <a:rPr sz="2176" spc="-5" dirty="0">
                <a:cs typeface="Times New Roman"/>
              </a:rPr>
              <a:t> </a:t>
            </a:r>
            <a:r>
              <a:rPr sz="2176" dirty="0">
                <a:cs typeface="Times New Roman"/>
              </a:rPr>
              <a:t>y </a:t>
            </a:r>
            <a:r>
              <a:rPr sz="2176" spc="-5" dirty="0">
                <a:cs typeface="Times New Roman"/>
              </a:rPr>
              <a:t>gradient</a:t>
            </a:r>
            <a:r>
              <a:rPr lang="es-ES" sz="2176" dirty="0">
                <a:cs typeface="Times New Roman"/>
              </a:rPr>
              <a:t> </a:t>
            </a:r>
            <a:r>
              <a:rPr sz="2176" spc="-5" dirty="0">
                <a:cs typeface="Times New Roman"/>
              </a:rPr>
              <a:t>boosting</a:t>
            </a:r>
            <a:r>
              <a:rPr lang="es-ES" sz="2176" spc="-5" dirty="0">
                <a:cs typeface="Times New Roman"/>
              </a:rPr>
              <a:t>:</a:t>
            </a:r>
            <a:endParaRPr sz="2176" dirty="0">
              <a:cs typeface="Times New Roman"/>
            </a:endParaRPr>
          </a:p>
          <a:p>
            <a:pPr marL="322458" indent="-310942" algn="just">
              <a:spcBef>
                <a:spcPts val="1826"/>
              </a:spcBef>
              <a:buFont typeface="Arial" panose="020B0604020202020204" pitchFamily="34" charset="0"/>
              <a:buChar char="•"/>
            </a:pPr>
            <a:r>
              <a:rPr sz="2176" b="1" spc="-5" dirty="0">
                <a:cs typeface="Times New Roman"/>
              </a:rPr>
              <a:t>Agrupaciones</a:t>
            </a:r>
            <a:r>
              <a:rPr sz="2176" b="1" spc="-14" dirty="0">
                <a:cs typeface="Times New Roman"/>
              </a:rPr>
              <a:t> </a:t>
            </a:r>
            <a:r>
              <a:rPr sz="2176" b="1" dirty="0">
                <a:cs typeface="Times New Roman"/>
              </a:rPr>
              <a:t>de</a:t>
            </a:r>
            <a:r>
              <a:rPr sz="2176" b="1" spc="-5" dirty="0">
                <a:cs typeface="Times New Roman"/>
              </a:rPr>
              <a:t> </a:t>
            </a:r>
            <a:r>
              <a:rPr sz="2176" b="1" spc="-5" dirty="0" err="1">
                <a:cs typeface="Times New Roman"/>
              </a:rPr>
              <a:t>categorías</a:t>
            </a:r>
            <a:r>
              <a:rPr lang="es-ES" sz="2176" b="1" dirty="0">
                <a:cs typeface="Times New Roman"/>
              </a:rPr>
              <a:t>: </a:t>
            </a:r>
            <a:r>
              <a:rPr lang="es-ES" sz="2176" spc="-5" dirty="0">
                <a:cs typeface="Times New Roman"/>
              </a:rPr>
              <a:t>á</a:t>
            </a:r>
            <a:r>
              <a:rPr sz="2176" spc="-5" dirty="0" err="1">
                <a:cs typeface="Times New Roman"/>
              </a:rPr>
              <a:t>rboles</a:t>
            </a:r>
            <a:r>
              <a:rPr sz="2176" spc="-5" dirty="0">
                <a:cs typeface="Times New Roman"/>
              </a:rPr>
              <a:t>, otros métodos</a:t>
            </a:r>
            <a:r>
              <a:rPr sz="2176" spc="9" dirty="0">
                <a:cs typeface="Times New Roman"/>
              </a:rPr>
              <a:t> </a:t>
            </a:r>
            <a:r>
              <a:rPr sz="2176" dirty="0">
                <a:cs typeface="Times New Roman"/>
              </a:rPr>
              <a:t>de</a:t>
            </a:r>
            <a:r>
              <a:rPr sz="2176" spc="-5" dirty="0">
                <a:cs typeface="Times New Roman"/>
              </a:rPr>
              <a:t> agrupación</a:t>
            </a:r>
            <a:endParaRPr sz="2176" dirty="0">
              <a:cs typeface="Times New Roman"/>
            </a:endParaRPr>
          </a:p>
          <a:p>
            <a:pPr marL="310942" indent="-310942" algn="just">
              <a:spcBef>
                <a:spcPts val="14"/>
              </a:spcBef>
              <a:buFont typeface="Arial" panose="020B0604020202020204" pitchFamily="34" charset="0"/>
              <a:buChar char="•"/>
            </a:pPr>
            <a:endParaRPr sz="2222" dirty="0">
              <a:cs typeface="Times New Roman"/>
            </a:endParaRPr>
          </a:p>
          <a:p>
            <a:pPr marL="322458" marR="4607" indent="-310942" algn="just">
              <a:lnSpc>
                <a:spcPts val="2503"/>
              </a:lnSpc>
              <a:buFont typeface="Arial" panose="020B0604020202020204" pitchFamily="34" charset="0"/>
              <a:buChar char="•"/>
            </a:pPr>
            <a:r>
              <a:rPr sz="2176" dirty="0">
                <a:cs typeface="Times New Roman"/>
              </a:rPr>
              <a:t>A</a:t>
            </a:r>
            <a:r>
              <a:rPr sz="2176" spc="-5" dirty="0">
                <a:cs typeface="Times New Roman"/>
              </a:rPr>
              <a:t> </a:t>
            </a:r>
            <a:r>
              <a:rPr sz="2176" dirty="0">
                <a:cs typeface="Times New Roman"/>
              </a:rPr>
              <a:t>estos</a:t>
            </a:r>
            <a:r>
              <a:rPr sz="2176" spc="9" dirty="0">
                <a:cs typeface="Times New Roman"/>
              </a:rPr>
              <a:t> </a:t>
            </a:r>
            <a:r>
              <a:rPr sz="2176" spc="-5" dirty="0">
                <a:cs typeface="Times New Roman"/>
              </a:rPr>
              <a:t>métodos</a:t>
            </a:r>
            <a:r>
              <a:rPr sz="2176" spc="9" dirty="0">
                <a:cs typeface="Times New Roman"/>
              </a:rPr>
              <a:t> </a:t>
            </a:r>
            <a:r>
              <a:rPr sz="2176" dirty="0">
                <a:cs typeface="Times New Roman"/>
              </a:rPr>
              <a:t>habría que</a:t>
            </a:r>
            <a:r>
              <a:rPr sz="2176" spc="5" dirty="0">
                <a:cs typeface="Times New Roman"/>
              </a:rPr>
              <a:t> </a:t>
            </a:r>
            <a:r>
              <a:rPr sz="2176" dirty="0">
                <a:cs typeface="Times New Roman"/>
              </a:rPr>
              <a:t>añadir</a:t>
            </a:r>
            <a:r>
              <a:rPr sz="2176" spc="5" dirty="0">
                <a:cs typeface="Times New Roman"/>
              </a:rPr>
              <a:t> </a:t>
            </a:r>
            <a:r>
              <a:rPr sz="2176" spc="-5" dirty="0" err="1">
                <a:cs typeface="Times New Roman"/>
              </a:rPr>
              <a:t>consideraciones</a:t>
            </a:r>
            <a:r>
              <a:rPr sz="2176" spc="9" dirty="0">
                <a:cs typeface="Times New Roman"/>
              </a:rPr>
              <a:t> </a:t>
            </a:r>
            <a:r>
              <a:rPr sz="2176" b="1" spc="-5" dirty="0" err="1">
                <a:cs typeface="Times New Roman"/>
              </a:rPr>
              <a:t>inferenciales</a:t>
            </a:r>
            <a:endParaRPr lang="es-ES" sz="2176" b="1" spc="-5" dirty="0">
              <a:cs typeface="Times New Roman"/>
            </a:endParaRPr>
          </a:p>
          <a:p>
            <a:pPr marL="11516" marR="4607" algn="just">
              <a:lnSpc>
                <a:spcPts val="2503"/>
              </a:lnSpc>
            </a:pPr>
            <a:r>
              <a:rPr sz="2176" spc="5" dirty="0">
                <a:cs typeface="Times New Roman"/>
              </a:rPr>
              <a:t> </a:t>
            </a:r>
            <a:r>
              <a:rPr lang="es-ES" sz="2176" spc="5" dirty="0">
                <a:cs typeface="Times New Roman"/>
              </a:rPr>
              <a:t>    </a:t>
            </a:r>
            <a:r>
              <a:rPr sz="2176" dirty="0">
                <a:cs typeface="Times New Roman"/>
              </a:rPr>
              <a:t>y</a:t>
            </a:r>
            <a:r>
              <a:rPr sz="2176" spc="5" dirty="0">
                <a:cs typeface="Times New Roman"/>
              </a:rPr>
              <a:t> </a:t>
            </a:r>
            <a:r>
              <a:rPr sz="2176" b="1" spc="-5" dirty="0">
                <a:cs typeface="Times New Roman"/>
              </a:rPr>
              <a:t>descriptivas </a:t>
            </a:r>
            <a:r>
              <a:rPr sz="2176" b="1" spc="-530" dirty="0">
                <a:cs typeface="Times New Roman"/>
              </a:rPr>
              <a:t> </a:t>
            </a:r>
            <a:r>
              <a:rPr sz="2176" dirty="0">
                <a:cs typeface="Times New Roman"/>
              </a:rPr>
              <a:t>realizadas</a:t>
            </a:r>
            <a:r>
              <a:rPr sz="2176" spc="-5" dirty="0">
                <a:cs typeface="Times New Roman"/>
              </a:rPr>
              <a:t> </a:t>
            </a:r>
            <a:r>
              <a:rPr sz="2176" dirty="0">
                <a:cs typeface="Times New Roman"/>
              </a:rPr>
              <a:t>tras un </a:t>
            </a:r>
            <a:r>
              <a:rPr sz="2176" spc="-5" dirty="0">
                <a:cs typeface="Times New Roman"/>
              </a:rPr>
              <a:t>estudio</a:t>
            </a:r>
            <a:r>
              <a:rPr sz="2176" spc="-9" dirty="0">
                <a:cs typeface="Times New Roman"/>
              </a:rPr>
              <a:t> </a:t>
            </a:r>
            <a:r>
              <a:rPr sz="2176" dirty="0" err="1">
                <a:cs typeface="Times New Roman"/>
              </a:rPr>
              <a:t>artesanal</a:t>
            </a:r>
            <a:r>
              <a:rPr sz="2176" spc="-9" dirty="0">
                <a:cs typeface="Times New Roman"/>
              </a:rPr>
              <a:t> </a:t>
            </a:r>
            <a:r>
              <a:rPr sz="2176" dirty="0" smtClean="0">
                <a:cs typeface="Times New Roman"/>
              </a:rPr>
              <a:t>e</a:t>
            </a:r>
            <a:r>
              <a:rPr lang="es-ES" sz="2176" dirty="0" smtClean="0">
                <a:cs typeface="Times New Roman"/>
              </a:rPr>
              <a:t> imaginativo.</a:t>
            </a:r>
            <a:endParaRPr sz="2176" dirty="0">
              <a:cs typeface="Times New Roman"/>
            </a:endParaRPr>
          </a:p>
        </p:txBody>
      </p:sp>
    </p:spTree>
    <p:extLst>
      <p:ext uri="{BB962C8B-B14F-4D97-AF65-F5344CB8AC3E}">
        <p14:creationId xmlns:p14="http://schemas.microsoft.com/office/powerpoint/2010/main" val="9893312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4614" y="667687"/>
            <a:ext cx="8817857" cy="728547"/>
          </a:xfrm>
          <a:prstGeom prst="rect">
            <a:avLst/>
          </a:prstGeom>
        </p:spPr>
        <p:txBody>
          <a:bodyPr vert="horz" wrap="square" lIns="0" tIns="35701" rIns="0" bIns="0" rtlCol="0" anchor="ctr">
            <a:spAutoFit/>
          </a:bodyPr>
          <a:lstStyle/>
          <a:p>
            <a:pPr marL="11516" marR="4607" algn="just">
              <a:lnSpc>
                <a:spcPts val="2711"/>
              </a:lnSpc>
              <a:spcBef>
                <a:spcPts val="281"/>
              </a:spcBef>
            </a:pPr>
            <a:r>
              <a:rPr sz="2358" b="1" spc="-5" dirty="0">
                <a:latin typeface="+mn-lt"/>
                <a:cs typeface="Times New Roman"/>
              </a:rPr>
              <a:t>Pre-procesado</a:t>
            </a:r>
            <a:r>
              <a:rPr sz="2358" b="1" spc="14" dirty="0">
                <a:latin typeface="+mn-lt"/>
                <a:cs typeface="Times New Roman"/>
              </a:rPr>
              <a:t> </a:t>
            </a:r>
            <a:r>
              <a:rPr sz="2358" b="1" spc="-5" dirty="0">
                <a:solidFill>
                  <a:srgbClr val="234060"/>
                </a:solidFill>
                <a:latin typeface="+mn-lt"/>
                <a:cs typeface="Times New Roman"/>
              </a:rPr>
              <a:t>de</a:t>
            </a:r>
            <a:r>
              <a:rPr sz="2358" b="1" spc="9" dirty="0">
                <a:solidFill>
                  <a:srgbClr val="234060"/>
                </a:solidFill>
                <a:latin typeface="+mn-lt"/>
                <a:cs typeface="Times New Roman"/>
              </a:rPr>
              <a:t> </a:t>
            </a:r>
            <a:r>
              <a:rPr sz="2358" b="1" dirty="0">
                <a:solidFill>
                  <a:srgbClr val="234060"/>
                </a:solidFill>
                <a:latin typeface="+mn-lt"/>
                <a:cs typeface="Times New Roman"/>
              </a:rPr>
              <a:t>las</a:t>
            </a:r>
            <a:r>
              <a:rPr sz="2358" b="1" spc="-9" dirty="0">
                <a:solidFill>
                  <a:srgbClr val="234060"/>
                </a:solidFill>
                <a:latin typeface="+mn-lt"/>
                <a:cs typeface="Times New Roman"/>
              </a:rPr>
              <a:t> </a:t>
            </a:r>
            <a:r>
              <a:rPr sz="2358" b="1" spc="-5" dirty="0">
                <a:latin typeface="+mn-lt"/>
                <a:cs typeface="Times New Roman"/>
              </a:rPr>
              <a:t>variables </a:t>
            </a:r>
            <a:r>
              <a:rPr sz="2358" b="1" dirty="0">
                <a:latin typeface="+mn-lt"/>
                <a:cs typeface="Times New Roman"/>
              </a:rPr>
              <a:t>input </a:t>
            </a:r>
            <a:r>
              <a:rPr sz="2358" b="1" spc="-5" dirty="0">
                <a:solidFill>
                  <a:srgbClr val="234060"/>
                </a:solidFill>
                <a:latin typeface="+mn-lt"/>
                <a:cs typeface="Times New Roman"/>
              </a:rPr>
              <a:t>para</a:t>
            </a:r>
            <a:r>
              <a:rPr sz="2358" b="1" dirty="0">
                <a:solidFill>
                  <a:srgbClr val="234060"/>
                </a:solidFill>
                <a:latin typeface="+mn-lt"/>
                <a:cs typeface="Times New Roman"/>
              </a:rPr>
              <a:t> la</a:t>
            </a:r>
            <a:r>
              <a:rPr sz="2358" b="1" spc="5" dirty="0">
                <a:solidFill>
                  <a:srgbClr val="234060"/>
                </a:solidFill>
                <a:latin typeface="+mn-lt"/>
                <a:cs typeface="Times New Roman"/>
              </a:rPr>
              <a:t> </a:t>
            </a:r>
            <a:r>
              <a:rPr sz="2358" b="1" spc="-5" dirty="0">
                <a:solidFill>
                  <a:srgbClr val="234060"/>
                </a:solidFill>
                <a:latin typeface="+mn-lt"/>
                <a:cs typeface="Times New Roman"/>
              </a:rPr>
              <a:t>construcción</a:t>
            </a:r>
            <a:r>
              <a:rPr sz="2358" b="1" spc="14" dirty="0">
                <a:solidFill>
                  <a:srgbClr val="234060"/>
                </a:solidFill>
                <a:latin typeface="+mn-lt"/>
                <a:cs typeface="Times New Roman"/>
              </a:rPr>
              <a:t> </a:t>
            </a:r>
            <a:r>
              <a:rPr sz="2358" b="1" spc="-5" dirty="0">
                <a:solidFill>
                  <a:srgbClr val="234060"/>
                </a:solidFill>
                <a:latin typeface="+mn-lt"/>
                <a:cs typeface="Times New Roman"/>
              </a:rPr>
              <a:t>de</a:t>
            </a:r>
            <a:r>
              <a:rPr sz="2358" b="1" spc="9" dirty="0">
                <a:solidFill>
                  <a:srgbClr val="234060"/>
                </a:solidFill>
                <a:latin typeface="+mn-lt"/>
                <a:cs typeface="Times New Roman"/>
              </a:rPr>
              <a:t> </a:t>
            </a:r>
            <a:r>
              <a:rPr sz="2358" b="1" spc="-9" dirty="0">
                <a:solidFill>
                  <a:srgbClr val="234060"/>
                </a:solidFill>
                <a:latin typeface="+mn-lt"/>
                <a:cs typeface="Times New Roman"/>
              </a:rPr>
              <a:t>una</a:t>
            </a:r>
            <a:r>
              <a:rPr sz="2358" b="1" spc="9" dirty="0">
                <a:solidFill>
                  <a:srgbClr val="234060"/>
                </a:solidFill>
                <a:latin typeface="+mn-lt"/>
                <a:cs typeface="Times New Roman"/>
              </a:rPr>
              <a:t> </a:t>
            </a:r>
            <a:r>
              <a:rPr sz="2358" b="1" dirty="0">
                <a:solidFill>
                  <a:srgbClr val="234060"/>
                </a:solidFill>
                <a:latin typeface="+mn-lt"/>
                <a:cs typeface="Times New Roman"/>
              </a:rPr>
              <a:t>red </a:t>
            </a:r>
            <a:r>
              <a:rPr sz="2358" b="1" spc="-576" dirty="0">
                <a:solidFill>
                  <a:srgbClr val="234060"/>
                </a:solidFill>
                <a:latin typeface="+mn-lt"/>
                <a:cs typeface="Times New Roman"/>
              </a:rPr>
              <a:t> </a:t>
            </a:r>
            <a:r>
              <a:rPr sz="2358" b="1" spc="-5" dirty="0">
                <a:solidFill>
                  <a:srgbClr val="234060"/>
                </a:solidFill>
                <a:latin typeface="+mn-lt"/>
                <a:cs typeface="Times New Roman"/>
              </a:rPr>
              <a:t>neuronal</a:t>
            </a:r>
            <a:r>
              <a:rPr sz="2358" b="1" dirty="0">
                <a:solidFill>
                  <a:srgbClr val="234060"/>
                </a:solidFill>
                <a:latin typeface="+mn-lt"/>
                <a:cs typeface="Times New Roman"/>
              </a:rPr>
              <a:t> ,</a:t>
            </a:r>
            <a:r>
              <a:rPr sz="2358" b="1" spc="-18" dirty="0">
                <a:solidFill>
                  <a:srgbClr val="234060"/>
                </a:solidFill>
                <a:latin typeface="+mn-lt"/>
                <a:cs typeface="Times New Roman"/>
              </a:rPr>
              <a:t> </a:t>
            </a:r>
            <a:r>
              <a:rPr sz="2358" b="1" dirty="0">
                <a:solidFill>
                  <a:srgbClr val="234060"/>
                </a:solidFill>
                <a:latin typeface="+mn-lt"/>
                <a:cs typeface="Times New Roman"/>
              </a:rPr>
              <a:t>en general,</a:t>
            </a:r>
            <a:r>
              <a:rPr sz="2358" b="1" spc="-14" dirty="0">
                <a:solidFill>
                  <a:srgbClr val="234060"/>
                </a:solidFill>
                <a:latin typeface="+mn-lt"/>
                <a:cs typeface="Times New Roman"/>
              </a:rPr>
              <a:t> </a:t>
            </a:r>
            <a:r>
              <a:rPr sz="2358" b="1" spc="-5" dirty="0">
                <a:solidFill>
                  <a:srgbClr val="234060"/>
                </a:solidFill>
                <a:latin typeface="+mn-lt"/>
                <a:cs typeface="Times New Roman"/>
              </a:rPr>
              <a:t>pero</a:t>
            </a:r>
            <a:r>
              <a:rPr sz="2358" b="1" dirty="0">
                <a:solidFill>
                  <a:srgbClr val="234060"/>
                </a:solidFill>
                <a:latin typeface="+mn-lt"/>
                <a:cs typeface="Times New Roman"/>
              </a:rPr>
              <a:t> </a:t>
            </a:r>
            <a:r>
              <a:rPr sz="2358" b="1" spc="-5" dirty="0">
                <a:solidFill>
                  <a:srgbClr val="234060"/>
                </a:solidFill>
                <a:latin typeface="+mn-lt"/>
                <a:cs typeface="Times New Roman"/>
              </a:rPr>
              <a:t>sobre</a:t>
            </a:r>
            <a:r>
              <a:rPr sz="2358" b="1" dirty="0">
                <a:solidFill>
                  <a:srgbClr val="234060"/>
                </a:solidFill>
                <a:latin typeface="+mn-lt"/>
                <a:cs typeface="Times New Roman"/>
              </a:rPr>
              <a:t> </a:t>
            </a:r>
            <a:r>
              <a:rPr sz="2358" b="1" spc="-5" dirty="0">
                <a:solidFill>
                  <a:srgbClr val="234060"/>
                </a:solidFill>
                <a:latin typeface="+mn-lt"/>
                <a:cs typeface="Times New Roman"/>
              </a:rPr>
              <a:t>todo</a:t>
            </a:r>
            <a:r>
              <a:rPr sz="2358" b="1" spc="9" dirty="0">
                <a:solidFill>
                  <a:srgbClr val="234060"/>
                </a:solidFill>
                <a:latin typeface="+mn-lt"/>
                <a:cs typeface="Times New Roman"/>
              </a:rPr>
              <a:t> </a:t>
            </a:r>
            <a:r>
              <a:rPr sz="2358" b="1" dirty="0">
                <a:solidFill>
                  <a:srgbClr val="234060"/>
                </a:solidFill>
                <a:latin typeface="+mn-lt"/>
                <a:cs typeface="Times New Roman"/>
              </a:rPr>
              <a:t>en</a:t>
            </a:r>
            <a:r>
              <a:rPr sz="2358" b="1" spc="-9" dirty="0">
                <a:solidFill>
                  <a:srgbClr val="234060"/>
                </a:solidFill>
                <a:latin typeface="+mn-lt"/>
                <a:cs typeface="Times New Roman"/>
              </a:rPr>
              <a:t> </a:t>
            </a:r>
            <a:r>
              <a:rPr sz="2358" b="1" spc="-5" dirty="0">
                <a:solidFill>
                  <a:srgbClr val="234060"/>
                </a:solidFill>
                <a:latin typeface="+mn-lt"/>
                <a:cs typeface="Times New Roman"/>
              </a:rPr>
              <a:t>paquetes</a:t>
            </a:r>
            <a:r>
              <a:rPr sz="2358" b="1" spc="-9" dirty="0">
                <a:solidFill>
                  <a:srgbClr val="234060"/>
                </a:solidFill>
                <a:latin typeface="+mn-lt"/>
                <a:cs typeface="Times New Roman"/>
              </a:rPr>
              <a:t> </a:t>
            </a:r>
            <a:r>
              <a:rPr sz="2358" b="1" spc="-5" dirty="0">
                <a:solidFill>
                  <a:srgbClr val="234060"/>
                </a:solidFill>
                <a:latin typeface="+mn-lt"/>
                <a:cs typeface="Times New Roman"/>
              </a:rPr>
              <a:t>de</a:t>
            </a:r>
            <a:r>
              <a:rPr sz="2358" b="1" dirty="0">
                <a:solidFill>
                  <a:srgbClr val="234060"/>
                </a:solidFill>
                <a:latin typeface="+mn-lt"/>
                <a:cs typeface="Times New Roman"/>
              </a:rPr>
              <a:t> R o</a:t>
            </a:r>
            <a:r>
              <a:rPr sz="2358" b="1" spc="5" dirty="0">
                <a:solidFill>
                  <a:srgbClr val="234060"/>
                </a:solidFill>
                <a:latin typeface="+mn-lt"/>
                <a:cs typeface="Times New Roman"/>
              </a:rPr>
              <a:t> </a:t>
            </a:r>
            <a:r>
              <a:rPr sz="2358" b="1" dirty="0">
                <a:solidFill>
                  <a:srgbClr val="234060"/>
                </a:solidFill>
                <a:latin typeface="+mn-lt"/>
                <a:cs typeface="Times New Roman"/>
              </a:rPr>
              <a:t>Python</a:t>
            </a:r>
            <a:endParaRPr sz="2358" dirty="0">
              <a:latin typeface="+mn-lt"/>
              <a:cs typeface="Times New Roman"/>
            </a:endParaRPr>
          </a:p>
        </p:txBody>
      </p:sp>
      <p:sp>
        <p:nvSpPr>
          <p:cNvPr id="3" name="object 3"/>
          <p:cNvSpPr txBox="1"/>
          <p:nvPr/>
        </p:nvSpPr>
        <p:spPr>
          <a:xfrm>
            <a:off x="2088303" y="2047035"/>
            <a:ext cx="7850482" cy="3580207"/>
          </a:xfrm>
          <a:prstGeom prst="rect">
            <a:avLst/>
          </a:prstGeom>
        </p:spPr>
        <p:txBody>
          <a:bodyPr vert="horz" wrap="square" lIns="0" tIns="33397" rIns="0" bIns="0" rtlCol="0">
            <a:spAutoFit/>
          </a:bodyPr>
          <a:lstStyle/>
          <a:p>
            <a:pPr marL="11516" marR="909792" algn="just">
              <a:lnSpc>
                <a:spcPts val="2503"/>
              </a:lnSpc>
              <a:spcBef>
                <a:spcPts val="263"/>
              </a:spcBef>
              <a:buAutoNum type="arabicParenR"/>
              <a:tabLst>
                <a:tab pos="310942" algn="l"/>
              </a:tabLst>
            </a:pPr>
            <a:r>
              <a:rPr lang="es-ES" sz="2176" spc="-5" dirty="0">
                <a:cs typeface="Times New Roman"/>
              </a:rPr>
              <a:t> </a:t>
            </a:r>
            <a:r>
              <a:rPr sz="2176" spc="-5" dirty="0">
                <a:cs typeface="Times New Roman"/>
              </a:rPr>
              <a:t>Si</a:t>
            </a:r>
            <a:r>
              <a:rPr sz="2176" dirty="0">
                <a:cs typeface="Times New Roman"/>
              </a:rPr>
              <a:t> hay valores</a:t>
            </a:r>
            <a:r>
              <a:rPr sz="2176" spc="9" dirty="0">
                <a:cs typeface="Times New Roman"/>
              </a:rPr>
              <a:t> </a:t>
            </a:r>
            <a:r>
              <a:rPr sz="2176" b="1" spc="-5" dirty="0">
                <a:cs typeface="Times New Roman"/>
              </a:rPr>
              <a:t>missing</a:t>
            </a:r>
            <a:r>
              <a:rPr sz="2176" b="1" dirty="0">
                <a:cs typeface="Times New Roman"/>
              </a:rPr>
              <a:t> </a:t>
            </a:r>
            <a:r>
              <a:rPr sz="2176" dirty="0">
                <a:cs typeface="Times New Roman"/>
              </a:rPr>
              <a:t>en las variables </a:t>
            </a:r>
            <a:r>
              <a:rPr sz="2176" spc="-5" dirty="0">
                <a:cs typeface="Times New Roman"/>
              </a:rPr>
              <a:t>input,</a:t>
            </a:r>
            <a:r>
              <a:rPr sz="2176" spc="-9" dirty="0">
                <a:cs typeface="Times New Roman"/>
              </a:rPr>
              <a:t> </a:t>
            </a:r>
            <a:r>
              <a:rPr sz="2176" dirty="0">
                <a:cs typeface="Times New Roman"/>
              </a:rPr>
              <a:t>deben </a:t>
            </a:r>
            <a:r>
              <a:rPr sz="2176" spc="-5" dirty="0">
                <a:cs typeface="Times New Roman"/>
              </a:rPr>
              <a:t>eliminarse esas </a:t>
            </a:r>
            <a:r>
              <a:rPr sz="2176" spc="-530" dirty="0">
                <a:cs typeface="Times New Roman"/>
              </a:rPr>
              <a:t> </a:t>
            </a:r>
            <a:r>
              <a:rPr sz="2176" spc="-5" dirty="0">
                <a:cs typeface="Times New Roman"/>
              </a:rPr>
              <a:t>observaciones</a:t>
            </a:r>
            <a:r>
              <a:rPr sz="2176" spc="5" dirty="0">
                <a:cs typeface="Times New Roman"/>
              </a:rPr>
              <a:t> </a:t>
            </a:r>
            <a:r>
              <a:rPr sz="2176" dirty="0">
                <a:cs typeface="Times New Roman"/>
              </a:rPr>
              <a:t>o </a:t>
            </a:r>
            <a:r>
              <a:rPr sz="2176" spc="-5" dirty="0">
                <a:cs typeface="Times New Roman"/>
              </a:rPr>
              <a:t>imputar</a:t>
            </a:r>
            <a:r>
              <a:rPr sz="2176" dirty="0">
                <a:cs typeface="Times New Roman"/>
              </a:rPr>
              <a:t> los</a:t>
            </a:r>
            <a:r>
              <a:rPr sz="2176" spc="9" dirty="0">
                <a:cs typeface="Times New Roman"/>
              </a:rPr>
              <a:t> </a:t>
            </a:r>
            <a:r>
              <a:rPr sz="2176" spc="-5" dirty="0">
                <a:cs typeface="Times New Roman"/>
              </a:rPr>
              <a:t>valores</a:t>
            </a:r>
            <a:r>
              <a:rPr sz="2176" spc="-14" dirty="0">
                <a:cs typeface="Times New Roman"/>
              </a:rPr>
              <a:t> </a:t>
            </a:r>
            <a:r>
              <a:rPr sz="2176" spc="-5" dirty="0">
                <a:cs typeface="Times New Roman"/>
              </a:rPr>
              <a:t>missing.</a:t>
            </a:r>
            <a:endParaRPr sz="2176" dirty="0">
              <a:cs typeface="Times New Roman"/>
            </a:endParaRPr>
          </a:p>
          <a:p>
            <a:pPr algn="just">
              <a:spcBef>
                <a:spcPts val="36"/>
              </a:spcBef>
              <a:buClr>
                <a:srgbClr val="FF0000"/>
              </a:buClr>
              <a:buFont typeface="Times New Roman"/>
              <a:buAutoNum type="arabicParenR"/>
            </a:pPr>
            <a:endParaRPr sz="1995" dirty="0">
              <a:cs typeface="Times New Roman"/>
            </a:endParaRPr>
          </a:p>
          <a:p>
            <a:pPr marL="310366" indent="-299425" algn="just">
              <a:buAutoNum type="arabicParenR"/>
              <a:tabLst>
                <a:tab pos="310942" algn="l"/>
              </a:tabLst>
            </a:pPr>
            <a:r>
              <a:rPr sz="2176" spc="-5" dirty="0">
                <a:cs typeface="Times New Roman"/>
              </a:rPr>
              <a:t>Si</a:t>
            </a:r>
            <a:r>
              <a:rPr sz="2176" spc="-9" dirty="0">
                <a:cs typeface="Times New Roman"/>
              </a:rPr>
              <a:t> </a:t>
            </a:r>
            <a:r>
              <a:rPr sz="2176" dirty="0">
                <a:cs typeface="Times New Roman"/>
              </a:rPr>
              <a:t>hay</a:t>
            </a:r>
            <a:r>
              <a:rPr sz="2176" spc="-5" dirty="0">
                <a:cs typeface="Times New Roman"/>
              </a:rPr>
              <a:t> </a:t>
            </a:r>
            <a:r>
              <a:rPr sz="2176" dirty="0">
                <a:cs typeface="Times New Roman"/>
              </a:rPr>
              <a:t>variables</a:t>
            </a:r>
            <a:r>
              <a:rPr sz="2176" spc="-5" dirty="0">
                <a:cs typeface="Times New Roman"/>
              </a:rPr>
              <a:t> </a:t>
            </a:r>
            <a:r>
              <a:rPr sz="2176" b="1" spc="-5" dirty="0">
                <a:cs typeface="Times New Roman"/>
              </a:rPr>
              <a:t>input</a:t>
            </a:r>
            <a:r>
              <a:rPr sz="2176" b="1" spc="-14" dirty="0">
                <a:cs typeface="Times New Roman"/>
              </a:rPr>
              <a:t> </a:t>
            </a:r>
            <a:r>
              <a:rPr sz="2176" b="1" dirty="0">
                <a:cs typeface="Times New Roman"/>
              </a:rPr>
              <a:t>categóricas</a:t>
            </a:r>
            <a:r>
              <a:rPr sz="2176" dirty="0">
                <a:cs typeface="Times New Roman"/>
              </a:rPr>
              <a:t>,</a:t>
            </a:r>
            <a:r>
              <a:rPr sz="2176" spc="-23" dirty="0">
                <a:cs typeface="Times New Roman"/>
              </a:rPr>
              <a:t> </a:t>
            </a:r>
            <a:r>
              <a:rPr sz="2176" dirty="0">
                <a:cs typeface="Times New Roman"/>
              </a:rPr>
              <a:t>deben</a:t>
            </a:r>
            <a:r>
              <a:rPr sz="2176" spc="-9" dirty="0">
                <a:cs typeface="Times New Roman"/>
              </a:rPr>
              <a:t> </a:t>
            </a:r>
            <a:r>
              <a:rPr sz="2176" spc="-5" dirty="0">
                <a:cs typeface="Times New Roman"/>
              </a:rPr>
              <a:t>pasarse</a:t>
            </a:r>
            <a:r>
              <a:rPr sz="2176" spc="-9" dirty="0">
                <a:cs typeface="Times New Roman"/>
              </a:rPr>
              <a:t> </a:t>
            </a:r>
            <a:r>
              <a:rPr sz="2176" dirty="0">
                <a:cs typeface="Times New Roman"/>
              </a:rPr>
              <a:t>a</a:t>
            </a:r>
            <a:r>
              <a:rPr sz="2176" spc="-5" dirty="0">
                <a:cs typeface="Times New Roman"/>
              </a:rPr>
              <a:t> </a:t>
            </a:r>
            <a:r>
              <a:rPr sz="2176" b="1" dirty="0">
                <a:cs typeface="Times New Roman"/>
              </a:rPr>
              <a:t>dummy</a:t>
            </a:r>
            <a:r>
              <a:rPr sz="2176" dirty="0">
                <a:cs typeface="Times New Roman"/>
              </a:rPr>
              <a:t>.</a:t>
            </a:r>
          </a:p>
          <a:p>
            <a:pPr algn="just">
              <a:lnSpc>
                <a:spcPct val="100000"/>
              </a:lnSpc>
              <a:buClr>
                <a:srgbClr val="FF0000"/>
              </a:buClr>
              <a:buFont typeface="Times New Roman"/>
              <a:buAutoNum type="arabicParenR"/>
            </a:pPr>
            <a:endParaRPr sz="2176" dirty="0">
              <a:cs typeface="Times New Roman"/>
            </a:endParaRPr>
          </a:p>
          <a:p>
            <a:pPr marL="11516" marR="4607" algn="just">
              <a:lnSpc>
                <a:spcPct val="95900"/>
              </a:lnSpc>
              <a:buAutoNum type="arabicParenR"/>
              <a:tabLst>
                <a:tab pos="311518" algn="l"/>
              </a:tabLst>
            </a:pPr>
            <a:r>
              <a:rPr lang="es-ES" sz="2176" dirty="0">
                <a:cs typeface="Times New Roman"/>
              </a:rPr>
              <a:t> </a:t>
            </a:r>
            <a:r>
              <a:rPr sz="2176" dirty="0">
                <a:cs typeface="Times New Roman"/>
              </a:rPr>
              <a:t>Las </a:t>
            </a:r>
            <a:r>
              <a:rPr sz="2176" spc="-5" dirty="0">
                <a:cs typeface="Times New Roman"/>
              </a:rPr>
              <a:t>variables </a:t>
            </a:r>
            <a:r>
              <a:rPr sz="2176" b="1" dirty="0">
                <a:cs typeface="Times New Roman"/>
              </a:rPr>
              <a:t>input </a:t>
            </a:r>
            <a:r>
              <a:rPr sz="2176" b="1" spc="-5" dirty="0">
                <a:cs typeface="Times New Roman"/>
              </a:rPr>
              <a:t>continuas</a:t>
            </a:r>
            <a:r>
              <a:rPr sz="2176" spc="-5" dirty="0">
                <a:cs typeface="Times New Roman"/>
              </a:rPr>
              <a:t> </a:t>
            </a:r>
            <a:r>
              <a:rPr sz="2176" spc="-5" dirty="0" err="1">
                <a:cs typeface="Times New Roman"/>
              </a:rPr>
              <a:t>deben</a:t>
            </a:r>
            <a:r>
              <a:rPr sz="2176" spc="-5" dirty="0">
                <a:cs typeface="Times New Roman"/>
              </a:rPr>
              <a:t> </a:t>
            </a:r>
            <a:r>
              <a:rPr sz="2176" b="1" spc="-5" dirty="0" err="1">
                <a:cs typeface="Times New Roman"/>
              </a:rPr>
              <a:t>estandarizarse</a:t>
            </a:r>
            <a:r>
              <a:rPr lang="es-ES" sz="2176" b="1" spc="-5" dirty="0">
                <a:cs typeface="Times New Roman"/>
              </a:rPr>
              <a:t> </a:t>
            </a:r>
            <a:r>
              <a:rPr lang="es-ES" sz="2176" spc="-5" dirty="0">
                <a:cs typeface="Times New Roman"/>
              </a:rPr>
              <a:t>(normalización o  cambio de escala)</a:t>
            </a:r>
            <a:r>
              <a:rPr sz="2176" spc="-5" dirty="0">
                <a:cs typeface="Times New Roman"/>
              </a:rPr>
              <a:t>. </a:t>
            </a:r>
            <a:r>
              <a:rPr sz="2176" dirty="0">
                <a:cs typeface="Times New Roman"/>
              </a:rPr>
              <a:t>La razón es </a:t>
            </a:r>
            <a:r>
              <a:rPr sz="2176" spc="-5" dirty="0">
                <a:cs typeface="Times New Roman"/>
              </a:rPr>
              <a:t>porque </a:t>
            </a:r>
            <a:r>
              <a:rPr sz="2176" dirty="0">
                <a:cs typeface="Times New Roman"/>
              </a:rPr>
              <a:t>los </a:t>
            </a:r>
            <a:r>
              <a:rPr sz="2176" spc="-530" dirty="0">
                <a:cs typeface="Times New Roman"/>
              </a:rPr>
              <a:t> </a:t>
            </a:r>
            <a:r>
              <a:rPr sz="2176" spc="-5" dirty="0">
                <a:cs typeface="Times New Roman"/>
              </a:rPr>
              <a:t>algoritmos </a:t>
            </a:r>
            <a:r>
              <a:rPr sz="2176" spc="5" dirty="0">
                <a:cs typeface="Times New Roman"/>
              </a:rPr>
              <a:t>de </a:t>
            </a:r>
            <a:r>
              <a:rPr sz="2176" spc="-5" dirty="0" err="1">
                <a:cs typeface="Times New Roman"/>
              </a:rPr>
              <a:t>optimización</a:t>
            </a:r>
            <a:r>
              <a:rPr sz="2176" spc="-5" dirty="0">
                <a:cs typeface="Times New Roman"/>
              </a:rPr>
              <a:t> </a:t>
            </a:r>
            <a:r>
              <a:rPr lang="es-ES" sz="2176" spc="-5" dirty="0">
                <a:cs typeface="Times New Roman"/>
              </a:rPr>
              <a:t>(usados para estimar los parámetros de la red) </a:t>
            </a:r>
            <a:r>
              <a:rPr sz="2176" spc="-5" dirty="0" err="1">
                <a:cs typeface="Times New Roman"/>
              </a:rPr>
              <a:t>funcionan</a:t>
            </a:r>
            <a:r>
              <a:rPr sz="2176" spc="-5" dirty="0">
                <a:cs typeface="Times New Roman"/>
              </a:rPr>
              <a:t> </a:t>
            </a:r>
            <a:r>
              <a:rPr sz="2176" dirty="0">
                <a:cs typeface="Times New Roman"/>
              </a:rPr>
              <a:t>así </a:t>
            </a:r>
            <a:r>
              <a:rPr sz="2176" spc="-5" dirty="0">
                <a:cs typeface="Times New Roman"/>
              </a:rPr>
              <a:t>mejor </a:t>
            </a:r>
            <a:r>
              <a:rPr sz="2176" dirty="0">
                <a:cs typeface="Times New Roman"/>
              </a:rPr>
              <a:t>pues están </a:t>
            </a:r>
            <a:r>
              <a:rPr sz="2176" spc="-5" dirty="0">
                <a:cs typeface="Times New Roman"/>
              </a:rPr>
              <a:t>menos </a:t>
            </a:r>
            <a:r>
              <a:rPr sz="2176" dirty="0">
                <a:cs typeface="Times New Roman"/>
              </a:rPr>
              <a:t>expuestos a </a:t>
            </a:r>
            <a:r>
              <a:rPr sz="2176" spc="-530" dirty="0">
                <a:cs typeface="Times New Roman"/>
              </a:rPr>
              <a:t> </a:t>
            </a:r>
            <a:r>
              <a:rPr sz="2176" dirty="0">
                <a:cs typeface="Times New Roman"/>
              </a:rPr>
              <a:t>overflow</a:t>
            </a:r>
            <a:r>
              <a:rPr sz="2176" spc="-14" dirty="0">
                <a:cs typeface="Times New Roman"/>
              </a:rPr>
              <a:t> </a:t>
            </a:r>
            <a:r>
              <a:rPr lang="es-ES" sz="2176" spc="-14" dirty="0">
                <a:cs typeface="Times New Roman"/>
              </a:rPr>
              <a:t>(desbordamiento computacional) </a:t>
            </a:r>
            <a:r>
              <a:rPr sz="2176" dirty="0">
                <a:cs typeface="Times New Roman"/>
              </a:rPr>
              <a:t>y valores</a:t>
            </a:r>
            <a:r>
              <a:rPr sz="2176" spc="-14" dirty="0">
                <a:cs typeface="Times New Roman"/>
              </a:rPr>
              <a:t> </a:t>
            </a:r>
            <a:r>
              <a:rPr sz="2176" spc="-5" dirty="0">
                <a:cs typeface="Times New Roman"/>
              </a:rPr>
              <a:t>extremos</a:t>
            </a:r>
            <a:r>
              <a:rPr sz="2176" dirty="0">
                <a:cs typeface="Times New Roman"/>
              </a:rPr>
              <a:t> de los </a:t>
            </a:r>
            <a:r>
              <a:rPr sz="2176" spc="-5" dirty="0">
                <a:cs typeface="Times New Roman"/>
              </a:rPr>
              <a:t>parámetros.</a:t>
            </a:r>
            <a:endParaRPr sz="2176" dirty="0">
              <a:cs typeface="Times New Roman"/>
            </a:endParaRPr>
          </a:p>
        </p:txBody>
      </p:sp>
    </p:spTree>
    <p:extLst>
      <p:ext uri="{BB962C8B-B14F-4D97-AF65-F5344CB8AC3E}">
        <p14:creationId xmlns:p14="http://schemas.microsoft.com/office/powerpoint/2010/main" val="35098464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9545" y="504441"/>
            <a:ext cx="8637280" cy="341884"/>
          </a:xfrm>
          <a:prstGeom prst="rect">
            <a:avLst/>
          </a:prstGeom>
        </p:spPr>
        <p:txBody>
          <a:bodyPr vert="horz" wrap="square" lIns="0" tIns="33397" rIns="0" bIns="0" rtlCol="0" anchor="ctr">
            <a:spAutoFit/>
          </a:bodyPr>
          <a:lstStyle/>
          <a:p>
            <a:pPr marL="449713" marR="4607" indent="-438773">
              <a:lnSpc>
                <a:spcPts val="2503"/>
              </a:lnSpc>
              <a:spcBef>
                <a:spcPts val="263"/>
              </a:spcBef>
            </a:pPr>
            <a:r>
              <a:rPr lang="es-ES" sz="2000" b="1" spc="-5" dirty="0">
                <a:solidFill>
                  <a:srgbClr val="365F91"/>
                </a:solidFill>
              </a:rPr>
              <a:t>Algunas r</a:t>
            </a:r>
            <a:r>
              <a:rPr sz="2000" b="1" dirty="0" err="1" smtClean="0">
                <a:solidFill>
                  <a:srgbClr val="365F91"/>
                </a:solidFill>
              </a:rPr>
              <a:t>ecomendaciones</a:t>
            </a:r>
            <a:r>
              <a:rPr sz="2000" b="1" spc="-23" dirty="0">
                <a:solidFill>
                  <a:srgbClr val="365F91"/>
                </a:solidFill>
              </a:rPr>
              <a:t> </a:t>
            </a:r>
            <a:r>
              <a:rPr sz="2000" b="1" dirty="0">
                <a:solidFill>
                  <a:srgbClr val="365F91"/>
                </a:solidFill>
              </a:rPr>
              <a:t>para</a:t>
            </a:r>
            <a:r>
              <a:rPr sz="2000" b="1" spc="-9" dirty="0">
                <a:solidFill>
                  <a:srgbClr val="365F91"/>
                </a:solidFill>
              </a:rPr>
              <a:t> </a:t>
            </a:r>
            <a:r>
              <a:rPr sz="2000" b="1" dirty="0">
                <a:solidFill>
                  <a:srgbClr val="365F91"/>
                </a:solidFill>
              </a:rPr>
              <a:t>fijar </a:t>
            </a:r>
            <a:r>
              <a:rPr sz="2000" b="1" spc="-530" dirty="0">
                <a:solidFill>
                  <a:srgbClr val="365F91"/>
                </a:solidFill>
              </a:rPr>
              <a:t> </a:t>
            </a:r>
            <a:r>
              <a:rPr sz="2000" b="1" dirty="0">
                <a:solidFill>
                  <a:srgbClr val="365F91"/>
                </a:solidFill>
              </a:rPr>
              <a:t>el </a:t>
            </a:r>
            <a:r>
              <a:rPr sz="2000" b="1" spc="-5" dirty="0">
                <a:solidFill>
                  <a:srgbClr val="365F91"/>
                </a:solidFill>
              </a:rPr>
              <a:t>número </a:t>
            </a:r>
            <a:r>
              <a:rPr sz="2000" b="1" dirty="0">
                <a:solidFill>
                  <a:srgbClr val="365F91"/>
                </a:solidFill>
              </a:rPr>
              <a:t>de</a:t>
            </a:r>
            <a:r>
              <a:rPr sz="2000" b="1" spc="-5" dirty="0">
                <a:solidFill>
                  <a:srgbClr val="365F91"/>
                </a:solidFill>
              </a:rPr>
              <a:t> </a:t>
            </a:r>
            <a:r>
              <a:rPr sz="2000" b="1" dirty="0">
                <a:solidFill>
                  <a:srgbClr val="365F91"/>
                </a:solidFill>
              </a:rPr>
              <a:t>nodos,</a:t>
            </a:r>
            <a:r>
              <a:rPr sz="2000" b="1" spc="-5" dirty="0">
                <a:solidFill>
                  <a:srgbClr val="365F91"/>
                </a:solidFill>
              </a:rPr>
              <a:t> </a:t>
            </a:r>
            <a:r>
              <a:rPr sz="2000" b="1" dirty="0">
                <a:solidFill>
                  <a:srgbClr val="365F91"/>
                </a:solidFill>
              </a:rPr>
              <a:t>dados</a:t>
            </a:r>
            <a:r>
              <a:rPr sz="2000" b="1" spc="-5" dirty="0">
                <a:solidFill>
                  <a:srgbClr val="365F91"/>
                </a:solidFill>
              </a:rPr>
              <a:t> </a:t>
            </a:r>
            <a:r>
              <a:rPr sz="2000" b="1" dirty="0">
                <a:solidFill>
                  <a:srgbClr val="365F91"/>
                </a:solidFill>
              </a:rPr>
              <a:t>los</a:t>
            </a:r>
            <a:r>
              <a:rPr sz="2000" b="1" spc="-5" dirty="0">
                <a:solidFill>
                  <a:srgbClr val="365F91"/>
                </a:solidFill>
              </a:rPr>
              <a:t> datos</a:t>
            </a:r>
          </a:p>
        </p:txBody>
      </p:sp>
      <p:sp>
        <p:nvSpPr>
          <p:cNvPr id="3" name="object 3"/>
          <p:cNvSpPr txBox="1"/>
          <p:nvPr/>
        </p:nvSpPr>
        <p:spPr>
          <a:xfrm>
            <a:off x="1604615" y="1217857"/>
            <a:ext cx="8679661" cy="5024880"/>
          </a:xfrm>
          <a:prstGeom prst="rect">
            <a:avLst/>
          </a:prstGeom>
        </p:spPr>
        <p:txBody>
          <a:bodyPr vert="horz" wrap="square" lIns="0" tIns="81766" rIns="0" bIns="0" rtlCol="0">
            <a:spAutoFit/>
          </a:bodyPr>
          <a:lstStyle/>
          <a:p>
            <a:pPr marL="426105" indent="-207294" algn="just">
              <a:spcBef>
                <a:spcPts val="644"/>
              </a:spcBef>
              <a:buFont typeface="Symbol"/>
              <a:buChar char=""/>
              <a:tabLst>
                <a:tab pos="426105" algn="l"/>
              </a:tabLst>
            </a:pPr>
            <a:r>
              <a:rPr sz="2176" dirty="0">
                <a:cs typeface="Times New Roman" panose="02020603050405020304" pitchFamily="18" charset="0"/>
              </a:rPr>
              <a:t>10-20 observaciones </a:t>
            </a:r>
            <a:r>
              <a:rPr sz="2176" dirty="0" err="1">
                <a:cs typeface="Times New Roman" panose="02020603050405020304" pitchFamily="18" charset="0"/>
              </a:rPr>
              <a:t>por</a:t>
            </a:r>
            <a:r>
              <a:rPr sz="2176" dirty="0">
                <a:cs typeface="Times New Roman" panose="02020603050405020304" pitchFamily="18" charset="0"/>
              </a:rPr>
              <a:t> </a:t>
            </a:r>
            <a:r>
              <a:rPr sz="2176" dirty="0" err="1">
                <a:cs typeface="Times New Roman" panose="02020603050405020304" pitchFamily="18" charset="0"/>
              </a:rPr>
              <a:t>parámetro</a:t>
            </a:r>
            <a:r>
              <a:rPr lang="es-ES" sz="2176" dirty="0">
                <a:cs typeface="Times New Roman" panose="02020603050405020304" pitchFamily="18" charset="0"/>
              </a:rPr>
              <a:t>.</a:t>
            </a:r>
            <a:endParaRPr sz="2176" dirty="0">
              <a:cs typeface="Times New Roman" panose="02020603050405020304" pitchFamily="18" charset="0"/>
            </a:endParaRPr>
          </a:p>
          <a:p>
            <a:pPr marL="425530" marR="779658" indent="-207294" algn="just">
              <a:lnSpc>
                <a:spcPct val="109200"/>
              </a:lnSpc>
              <a:spcBef>
                <a:spcPts val="317"/>
              </a:spcBef>
              <a:buFont typeface="Symbol"/>
              <a:buChar char=""/>
              <a:tabLst>
                <a:tab pos="426105" algn="l"/>
              </a:tabLst>
            </a:pPr>
            <a:r>
              <a:rPr sz="2176" dirty="0">
                <a:cs typeface="Times New Roman" panose="02020603050405020304" pitchFamily="18" charset="0"/>
              </a:rPr>
              <a:t>Para regresión, entre 5 y 25 observaciones por parámetro; para clasificación, entre 5 y 25  observaciones en la categoría más pequeña, </a:t>
            </a:r>
            <a:r>
              <a:rPr sz="2176" dirty="0" err="1">
                <a:cs typeface="Times New Roman" panose="02020603050405020304" pitchFamily="18" charset="0"/>
              </a:rPr>
              <a:t>por</a:t>
            </a:r>
            <a:r>
              <a:rPr sz="2176" dirty="0">
                <a:cs typeface="Times New Roman" panose="02020603050405020304" pitchFamily="18" charset="0"/>
              </a:rPr>
              <a:t> </a:t>
            </a:r>
            <a:r>
              <a:rPr sz="2176" dirty="0" err="1">
                <a:cs typeface="Times New Roman" panose="02020603050405020304" pitchFamily="18" charset="0"/>
              </a:rPr>
              <a:t>parámetro</a:t>
            </a:r>
            <a:r>
              <a:rPr sz="2176" dirty="0">
                <a:cs typeface="Times New Roman" panose="02020603050405020304" pitchFamily="18" charset="0"/>
              </a:rPr>
              <a:t> (SAS-manual)</a:t>
            </a:r>
          </a:p>
          <a:p>
            <a:pPr marL="425530" marR="210749" indent="-207294" algn="just">
              <a:lnSpc>
                <a:spcPct val="109600"/>
              </a:lnSpc>
              <a:spcBef>
                <a:spcPts val="295"/>
              </a:spcBef>
              <a:buFont typeface="Symbol"/>
              <a:buChar char=""/>
              <a:tabLst>
                <a:tab pos="426105" algn="l"/>
              </a:tabLst>
            </a:pPr>
            <a:r>
              <a:rPr sz="2176" dirty="0" err="1">
                <a:cs typeface="Times New Roman" panose="02020603050405020304" pitchFamily="18" charset="0"/>
              </a:rPr>
              <a:t>Tantos</a:t>
            </a:r>
            <a:r>
              <a:rPr sz="2176" dirty="0">
                <a:cs typeface="Times New Roman" panose="02020603050405020304" pitchFamily="18" charset="0"/>
              </a:rPr>
              <a:t> </a:t>
            </a:r>
            <a:r>
              <a:rPr lang="es-ES" sz="2176" dirty="0">
                <a:cs typeface="Times New Roman" panose="02020603050405020304" pitchFamily="18" charset="0"/>
              </a:rPr>
              <a:t>nodos </a:t>
            </a:r>
            <a:r>
              <a:rPr sz="2176" dirty="0" err="1">
                <a:cs typeface="Times New Roman" panose="02020603050405020304" pitchFamily="18" charset="0"/>
              </a:rPr>
              <a:t>como</a:t>
            </a:r>
            <a:r>
              <a:rPr sz="2176" dirty="0">
                <a:cs typeface="Times New Roman" panose="02020603050405020304" pitchFamily="18" charset="0"/>
              </a:rPr>
              <a:t> dimensiones en componentes principales suficientes para capturar un 70-90 % de la  varianza de </a:t>
            </a:r>
            <a:r>
              <a:rPr sz="2176" dirty="0" err="1">
                <a:cs typeface="Times New Roman" panose="02020603050405020304" pitchFamily="18" charset="0"/>
              </a:rPr>
              <a:t>los</a:t>
            </a:r>
            <a:r>
              <a:rPr sz="2176" dirty="0">
                <a:cs typeface="Times New Roman" panose="02020603050405020304" pitchFamily="18" charset="0"/>
              </a:rPr>
              <a:t> inputs</a:t>
            </a:r>
          </a:p>
          <a:p>
            <a:pPr marL="426105" indent="-207294" algn="just">
              <a:spcBef>
                <a:spcPts val="544"/>
              </a:spcBef>
              <a:buFont typeface="Symbol"/>
              <a:buChar char=""/>
              <a:tabLst>
                <a:tab pos="426105" algn="l"/>
              </a:tabLst>
            </a:pPr>
            <a:r>
              <a:rPr lang="es-ES" sz="2176" dirty="0">
                <a:cs typeface="Times New Roman" panose="02020603050405020304" pitchFamily="18" charset="0"/>
              </a:rPr>
              <a:t>número de nodos inferior a </a:t>
            </a:r>
            <a:r>
              <a:rPr sz="2176" dirty="0">
                <a:cs typeface="Times New Roman" panose="02020603050405020304" pitchFamily="18" charset="0"/>
              </a:rPr>
              <a:t>1/30 de </a:t>
            </a:r>
            <a:r>
              <a:rPr sz="2176" dirty="0" err="1">
                <a:cs typeface="Times New Roman" panose="02020603050405020304" pitchFamily="18" charset="0"/>
              </a:rPr>
              <a:t>los</a:t>
            </a:r>
            <a:r>
              <a:rPr sz="2176" dirty="0">
                <a:cs typeface="Times New Roman" panose="02020603050405020304" pitchFamily="18" charset="0"/>
              </a:rPr>
              <a:t> </a:t>
            </a:r>
            <a:r>
              <a:rPr lang="es-ES" sz="2176" dirty="0">
                <a:cs typeface="Times New Roman" panose="02020603050405020304" pitchFamily="18" charset="0"/>
              </a:rPr>
              <a:t>datos</a:t>
            </a:r>
            <a:r>
              <a:rPr sz="2176" dirty="0">
                <a:cs typeface="Times New Roman" panose="02020603050405020304" pitchFamily="18" charset="0"/>
              </a:rPr>
              <a:t> de </a:t>
            </a:r>
            <a:r>
              <a:rPr sz="2176" dirty="0" err="1">
                <a:cs typeface="Times New Roman" panose="02020603050405020304" pitchFamily="18" charset="0"/>
              </a:rPr>
              <a:t>entrenamiento</a:t>
            </a:r>
            <a:endParaRPr sz="2176" dirty="0">
              <a:cs typeface="Times New Roman" panose="02020603050405020304" pitchFamily="18" charset="0"/>
            </a:endParaRPr>
          </a:p>
          <a:p>
            <a:pPr marL="426105" indent="-207294" algn="just">
              <a:spcBef>
                <a:spcPts val="544"/>
              </a:spcBef>
              <a:buFont typeface="Symbol"/>
              <a:buChar char=""/>
              <a:tabLst>
                <a:tab pos="426105" algn="l"/>
              </a:tabLst>
            </a:pPr>
            <a:r>
              <a:rPr sz="2176" dirty="0">
                <a:cs typeface="Times New Roman" panose="02020603050405020304" pitchFamily="18" charset="0"/>
              </a:rPr>
              <a:t>Para ajustar 20 nodos es necesario habitualmente tener entre 150 y 2500 observaciones” (Bishop).</a:t>
            </a:r>
          </a:p>
          <a:p>
            <a:pPr marL="11516" algn="just">
              <a:spcBef>
                <a:spcPts val="390"/>
              </a:spcBef>
            </a:pPr>
            <a:endParaRPr sz="1995" dirty="0">
              <a:cs typeface="Times New Roman"/>
            </a:endParaRPr>
          </a:p>
          <a:p>
            <a:pPr marL="11516" marR="217658" algn="just">
              <a:lnSpc>
                <a:spcPct val="95900"/>
              </a:lnSpc>
              <a:spcBef>
                <a:spcPts val="1882"/>
              </a:spcBef>
            </a:pPr>
            <a:r>
              <a:rPr sz="2176" b="1" dirty="0">
                <a:cs typeface="Times New Roman"/>
              </a:rPr>
              <a:t>Estas </a:t>
            </a:r>
            <a:r>
              <a:rPr sz="2176" b="1" spc="-5" dirty="0">
                <a:cs typeface="Times New Roman"/>
              </a:rPr>
              <a:t>recomendaciones </a:t>
            </a:r>
            <a:r>
              <a:rPr sz="2176" b="1" dirty="0">
                <a:cs typeface="Times New Roman"/>
              </a:rPr>
              <a:t>tomadas </a:t>
            </a:r>
            <a:r>
              <a:rPr sz="2176" b="1" spc="-9" dirty="0">
                <a:cs typeface="Times New Roman"/>
              </a:rPr>
              <a:t>así </a:t>
            </a:r>
            <a:r>
              <a:rPr sz="2176" b="1" spc="-5" dirty="0">
                <a:cs typeface="Times New Roman"/>
              </a:rPr>
              <a:t>no suelen tener sentido, pues </a:t>
            </a:r>
            <a:r>
              <a:rPr sz="2176" b="1" dirty="0">
                <a:cs typeface="Times New Roman"/>
              </a:rPr>
              <a:t>cada </a:t>
            </a:r>
            <a:r>
              <a:rPr sz="2176" b="1" spc="-5" dirty="0">
                <a:cs typeface="Times New Roman"/>
              </a:rPr>
              <a:t>una </a:t>
            </a:r>
            <a:r>
              <a:rPr sz="2176" b="1" spc="-530" dirty="0">
                <a:cs typeface="Times New Roman"/>
              </a:rPr>
              <a:t> </a:t>
            </a:r>
            <a:r>
              <a:rPr sz="2176" b="1" spc="-5" dirty="0">
                <a:cs typeface="Times New Roman"/>
              </a:rPr>
              <a:t>de </a:t>
            </a:r>
            <a:r>
              <a:rPr sz="2176" b="1" dirty="0">
                <a:cs typeface="Times New Roman"/>
              </a:rPr>
              <a:t>ellas </a:t>
            </a:r>
            <a:r>
              <a:rPr sz="2176" b="1" spc="-9" dirty="0">
                <a:cs typeface="Times New Roman"/>
              </a:rPr>
              <a:t>deja </a:t>
            </a:r>
            <a:r>
              <a:rPr sz="2176" b="1" spc="-5" dirty="0">
                <a:cs typeface="Times New Roman"/>
              </a:rPr>
              <a:t>de tener en </a:t>
            </a:r>
            <a:r>
              <a:rPr sz="2176" b="1" dirty="0">
                <a:cs typeface="Times New Roman"/>
              </a:rPr>
              <a:t>cuenta </a:t>
            </a:r>
            <a:r>
              <a:rPr sz="2176" b="1" spc="-5" dirty="0">
                <a:cs typeface="Times New Roman"/>
              </a:rPr>
              <a:t>alguna </a:t>
            </a:r>
            <a:r>
              <a:rPr sz="2176" b="1" dirty="0">
                <a:cs typeface="Times New Roman"/>
              </a:rPr>
              <a:t>faceta (variables </a:t>
            </a:r>
            <a:r>
              <a:rPr sz="2176" b="1" spc="-5" dirty="0">
                <a:cs typeface="Times New Roman"/>
              </a:rPr>
              <a:t>input, </a:t>
            </a:r>
            <a:r>
              <a:rPr sz="2176" b="1" dirty="0">
                <a:cs typeface="Times New Roman"/>
              </a:rPr>
              <a:t> </a:t>
            </a:r>
            <a:r>
              <a:rPr sz="2176" b="1" spc="-5" dirty="0">
                <a:cs typeface="Times New Roman"/>
              </a:rPr>
              <a:t>observaciones,</a:t>
            </a:r>
            <a:r>
              <a:rPr sz="2176" b="1" dirty="0">
                <a:cs typeface="Times New Roman"/>
              </a:rPr>
              <a:t> </a:t>
            </a:r>
            <a:r>
              <a:rPr sz="2176" b="1" spc="-5" dirty="0">
                <a:cs typeface="Times New Roman"/>
              </a:rPr>
              <a:t>complejidad,</a:t>
            </a:r>
            <a:r>
              <a:rPr sz="2176" b="1" dirty="0">
                <a:cs typeface="Times New Roman"/>
              </a:rPr>
              <a:t> algoritmo,</a:t>
            </a:r>
            <a:r>
              <a:rPr sz="2176" b="1" spc="9" dirty="0">
                <a:cs typeface="Times New Roman"/>
              </a:rPr>
              <a:t> </a:t>
            </a:r>
            <a:r>
              <a:rPr sz="2176" b="1" dirty="0">
                <a:cs typeface="Times New Roman"/>
              </a:rPr>
              <a:t>ruido,</a:t>
            </a:r>
            <a:r>
              <a:rPr sz="2176" b="1" spc="-5" dirty="0">
                <a:cs typeface="Times New Roman"/>
              </a:rPr>
              <a:t> etc.)</a:t>
            </a:r>
            <a:endParaRPr sz="2176" dirty="0">
              <a:cs typeface="Times New Roman"/>
            </a:endParaRPr>
          </a:p>
        </p:txBody>
      </p:sp>
    </p:spTree>
    <p:extLst>
      <p:ext uri="{BB962C8B-B14F-4D97-AF65-F5344CB8AC3E}">
        <p14:creationId xmlns:p14="http://schemas.microsoft.com/office/powerpoint/2010/main" val="25482450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2234" y="283303"/>
            <a:ext cx="9067531" cy="689544"/>
          </a:xfrm>
          <a:prstGeom prst="rect">
            <a:avLst/>
          </a:prstGeom>
        </p:spPr>
        <p:txBody>
          <a:bodyPr vert="horz" wrap="square" lIns="0" tIns="33397" rIns="0" bIns="0" rtlCol="0" anchor="ctr">
            <a:spAutoFit/>
          </a:bodyPr>
          <a:lstStyle/>
          <a:p>
            <a:pPr marL="11516" marR="4607">
              <a:lnSpc>
                <a:spcPts val="2503"/>
              </a:lnSpc>
              <a:spcBef>
                <a:spcPts val="263"/>
              </a:spcBef>
            </a:pPr>
            <a:r>
              <a:rPr sz="2800" b="1" dirty="0">
                <a:solidFill>
                  <a:srgbClr val="234060"/>
                </a:solidFill>
              </a:rPr>
              <a:t>Reglas </a:t>
            </a:r>
            <a:r>
              <a:rPr sz="2800" b="1" spc="-5" dirty="0">
                <a:solidFill>
                  <a:srgbClr val="234060"/>
                </a:solidFill>
              </a:rPr>
              <a:t>simples </a:t>
            </a:r>
            <a:r>
              <a:rPr sz="2800" b="1" dirty="0">
                <a:solidFill>
                  <a:srgbClr val="234060"/>
                </a:solidFill>
              </a:rPr>
              <a:t>a tener </a:t>
            </a:r>
            <a:r>
              <a:rPr sz="2800" b="1" spc="-5" dirty="0">
                <a:solidFill>
                  <a:srgbClr val="234060"/>
                </a:solidFill>
              </a:rPr>
              <a:t>en </a:t>
            </a:r>
            <a:r>
              <a:rPr sz="2800" b="1" dirty="0">
                <a:solidFill>
                  <a:srgbClr val="234060"/>
                </a:solidFill>
              </a:rPr>
              <a:t>cuenta </a:t>
            </a:r>
            <a:r>
              <a:rPr sz="2800" b="1" spc="-5" dirty="0">
                <a:solidFill>
                  <a:srgbClr val="234060"/>
                </a:solidFill>
              </a:rPr>
              <a:t>para </a:t>
            </a:r>
            <a:r>
              <a:rPr sz="2800" b="1" dirty="0">
                <a:solidFill>
                  <a:srgbClr val="234060"/>
                </a:solidFill>
              </a:rPr>
              <a:t>decidir el </a:t>
            </a:r>
            <a:r>
              <a:rPr sz="2800" b="1" spc="-5" dirty="0">
                <a:solidFill>
                  <a:srgbClr val="234060"/>
                </a:solidFill>
              </a:rPr>
              <a:t>número </a:t>
            </a:r>
            <a:r>
              <a:rPr sz="2800" b="1" dirty="0">
                <a:solidFill>
                  <a:srgbClr val="234060"/>
                </a:solidFill>
              </a:rPr>
              <a:t>de nodos y para </a:t>
            </a:r>
            <a:r>
              <a:rPr sz="2800" b="1" spc="-530" dirty="0">
                <a:solidFill>
                  <a:srgbClr val="234060"/>
                </a:solidFill>
              </a:rPr>
              <a:t> </a:t>
            </a:r>
            <a:r>
              <a:rPr sz="2800" b="1" spc="-5" dirty="0">
                <a:solidFill>
                  <a:srgbClr val="234060"/>
                </a:solidFill>
              </a:rPr>
              <a:t>comprender su </a:t>
            </a:r>
            <a:r>
              <a:rPr sz="2800" b="1" dirty="0">
                <a:solidFill>
                  <a:srgbClr val="234060"/>
                </a:solidFill>
              </a:rPr>
              <a:t>efecto en</a:t>
            </a:r>
            <a:r>
              <a:rPr sz="2800" b="1" spc="-9" dirty="0">
                <a:solidFill>
                  <a:srgbClr val="234060"/>
                </a:solidFill>
              </a:rPr>
              <a:t> </a:t>
            </a:r>
            <a:r>
              <a:rPr sz="2800" b="1" dirty="0">
                <a:solidFill>
                  <a:srgbClr val="234060"/>
                </a:solidFill>
              </a:rPr>
              <a:t>las</a:t>
            </a:r>
            <a:r>
              <a:rPr sz="2800" b="1" spc="-5" dirty="0">
                <a:solidFill>
                  <a:srgbClr val="234060"/>
                </a:solidFill>
              </a:rPr>
              <a:t> predicciones</a:t>
            </a:r>
          </a:p>
        </p:txBody>
      </p:sp>
      <p:sp>
        <p:nvSpPr>
          <p:cNvPr id="3" name="object 3"/>
          <p:cNvSpPr txBox="1"/>
          <p:nvPr/>
        </p:nvSpPr>
        <p:spPr>
          <a:xfrm>
            <a:off x="1562234" y="1249066"/>
            <a:ext cx="9067531" cy="1156483"/>
          </a:xfrm>
          <a:prstGeom prst="rect">
            <a:avLst/>
          </a:prstGeom>
        </p:spPr>
        <p:txBody>
          <a:bodyPr vert="horz" wrap="square" lIns="0" tIns="27063" rIns="0" bIns="0" rtlCol="0">
            <a:spAutoFit/>
          </a:bodyPr>
          <a:lstStyle/>
          <a:p>
            <a:pPr marL="11516" marR="4607">
              <a:lnSpc>
                <a:spcPts val="1886"/>
              </a:lnSpc>
              <a:spcBef>
                <a:spcPts val="213"/>
              </a:spcBef>
            </a:pPr>
            <a:r>
              <a:rPr sz="1632" dirty="0">
                <a:latin typeface="Times New Roman"/>
                <a:cs typeface="Times New Roman"/>
              </a:rPr>
              <a:t>a)</a:t>
            </a:r>
            <a:r>
              <a:rPr sz="1632" spc="9" dirty="0">
                <a:latin typeface="Times New Roman"/>
                <a:cs typeface="Times New Roman"/>
              </a:rPr>
              <a:t> </a:t>
            </a:r>
            <a:r>
              <a:rPr sz="1632" spc="-5" dirty="0">
                <a:latin typeface="Times New Roman"/>
                <a:cs typeface="Times New Roman"/>
              </a:rPr>
              <a:t>Respecto</a:t>
            </a:r>
            <a:r>
              <a:rPr sz="1632" dirty="0">
                <a:latin typeface="Times New Roman"/>
                <a:cs typeface="Times New Roman"/>
              </a:rPr>
              <a:t> a</a:t>
            </a:r>
            <a:r>
              <a:rPr sz="1632" spc="9" dirty="0">
                <a:latin typeface="Times New Roman"/>
                <a:cs typeface="Times New Roman"/>
              </a:rPr>
              <a:t> </a:t>
            </a:r>
            <a:r>
              <a:rPr sz="1632" spc="-5" dirty="0">
                <a:latin typeface="Times New Roman"/>
                <a:cs typeface="Times New Roman"/>
              </a:rPr>
              <a:t>ajuste-sobreajuste:</a:t>
            </a:r>
            <a:r>
              <a:rPr sz="1632" spc="9" dirty="0">
                <a:latin typeface="Times New Roman"/>
                <a:cs typeface="Times New Roman"/>
              </a:rPr>
              <a:t> </a:t>
            </a:r>
            <a:r>
              <a:rPr sz="1632" spc="-5" dirty="0">
                <a:latin typeface="Times New Roman"/>
                <a:cs typeface="Times New Roman"/>
              </a:rPr>
              <a:t>si</a:t>
            </a:r>
            <a:r>
              <a:rPr sz="1632" spc="9" dirty="0">
                <a:latin typeface="Times New Roman"/>
                <a:cs typeface="Times New Roman"/>
              </a:rPr>
              <a:t> </a:t>
            </a:r>
            <a:r>
              <a:rPr sz="1632" spc="-5" dirty="0">
                <a:latin typeface="Times New Roman"/>
                <a:cs typeface="Times New Roman"/>
              </a:rPr>
              <a:t>queremos</a:t>
            </a:r>
            <a:r>
              <a:rPr sz="1632" spc="5" dirty="0">
                <a:latin typeface="Times New Roman"/>
                <a:cs typeface="Times New Roman"/>
              </a:rPr>
              <a:t> </a:t>
            </a:r>
            <a:r>
              <a:rPr sz="1632" b="1" spc="-5" dirty="0">
                <a:latin typeface="Times New Roman"/>
                <a:cs typeface="Times New Roman"/>
              </a:rPr>
              <a:t>menos</a:t>
            </a:r>
            <a:r>
              <a:rPr sz="1632" b="1" spc="14" dirty="0">
                <a:latin typeface="Times New Roman"/>
                <a:cs typeface="Times New Roman"/>
              </a:rPr>
              <a:t> </a:t>
            </a:r>
            <a:r>
              <a:rPr sz="1632" b="1" dirty="0">
                <a:latin typeface="Times New Roman"/>
                <a:cs typeface="Times New Roman"/>
              </a:rPr>
              <a:t>error,</a:t>
            </a:r>
            <a:r>
              <a:rPr sz="1632" b="1" spc="5" dirty="0">
                <a:latin typeface="Times New Roman"/>
                <a:cs typeface="Times New Roman"/>
              </a:rPr>
              <a:t> </a:t>
            </a:r>
            <a:r>
              <a:rPr sz="1632" b="1" spc="-5" dirty="0">
                <a:latin typeface="Times New Roman"/>
                <a:cs typeface="Times New Roman"/>
              </a:rPr>
              <a:t>aumentamos</a:t>
            </a:r>
            <a:r>
              <a:rPr sz="1632" b="1" spc="9" dirty="0">
                <a:latin typeface="Times New Roman"/>
                <a:cs typeface="Times New Roman"/>
              </a:rPr>
              <a:t> </a:t>
            </a:r>
            <a:r>
              <a:rPr sz="1632" b="1" dirty="0">
                <a:latin typeface="Times New Roman"/>
                <a:cs typeface="Times New Roman"/>
              </a:rPr>
              <a:t>el</a:t>
            </a:r>
            <a:r>
              <a:rPr sz="1632" b="1" spc="9" dirty="0">
                <a:latin typeface="Times New Roman"/>
                <a:cs typeface="Times New Roman"/>
              </a:rPr>
              <a:t> </a:t>
            </a:r>
            <a:r>
              <a:rPr sz="1632" b="1" spc="-5" dirty="0">
                <a:latin typeface="Times New Roman"/>
                <a:cs typeface="Times New Roman"/>
              </a:rPr>
              <a:t>número</a:t>
            </a:r>
            <a:r>
              <a:rPr sz="1632" spc="5" dirty="0">
                <a:latin typeface="Times New Roman"/>
                <a:cs typeface="Times New Roman"/>
              </a:rPr>
              <a:t> </a:t>
            </a:r>
            <a:r>
              <a:rPr sz="1632" dirty="0">
                <a:latin typeface="Times New Roman"/>
                <a:cs typeface="Times New Roman"/>
              </a:rPr>
              <a:t>de</a:t>
            </a:r>
            <a:r>
              <a:rPr sz="1632" spc="14" dirty="0">
                <a:latin typeface="Times New Roman"/>
                <a:cs typeface="Times New Roman"/>
              </a:rPr>
              <a:t> </a:t>
            </a:r>
            <a:r>
              <a:rPr sz="1632" spc="-5" dirty="0">
                <a:latin typeface="Times New Roman"/>
                <a:cs typeface="Times New Roman"/>
              </a:rPr>
              <a:t>nodos,</a:t>
            </a:r>
            <a:r>
              <a:rPr sz="1632" spc="14" dirty="0">
                <a:latin typeface="Times New Roman"/>
                <a:cs typeface="Times New Roman"/>
              </a:rPr>
              <a:t> </a:t>
            </a:r>
            <a:r>
              <a:rPr sz="1632" dirty="0">
                <a:latin typeface="Times New Roman"/>
                <a:cs typeface="Times New Roman"/>
              </a:rPr>
              <a:t>pero </a:t>
            </a:r>
            <a:r>
              <a:rPr sz="1632" spc="-5" dirty="0">
                <a:latin typeface="Times New Roman"/>
                <a:cs typeface="Times New Roman"/>
              </a:rPr>
              <a:t>corremos </a:t>
            </a:r>
            <a:r>
              <a:rPr sz="1632" spc="-394" dirty="0">
                <a:latin typeface="Times New Roman"/>
                <a:cs typeface="Times New Roman"/>
              </a:rPr>
              <a:t> </a:t>
            </a:r>
            <a:r>
              <a:rPr sz="1632" dirty="0">
                <a:latin typeface="Times New Roman"/>
                <a:cs typeface="Times New Roman"/>
              </a:rPr>
              <a:t>el</a:t>
            </a:r>
            <a:r>
              <a:rPr sz="1632" spc="9" dirty="0">
                <a:latin typeface="Times New Roman"/>
                <a:cs typeface="Times New Roman"/>
              </a:rPr>
              <a:t> </a:t>
            </a:r>
            <a:r>
              <a:rPr sz="1632" spc="-5" dirty="0">
                <a:latin typeface="Times New Roman"/>
                <a:cs typeface="Times New Roman"/>
              </a:rPr>
              <a:t>riesgo</a:t>
            </a:r>
            <a:r>
              <a:rPr sz="1632" dirty="0">
                <a:latin typeface="Times New Roman"/>
                <a:cs typeface="Times New Roman"/>
              </a:rPr>
              <a:t> </a:t>
            </a:r>
            <a:r>
              <a:rPr sz="1632" spc="-9" dirty="0">
                <a:latin typeface="Times New Roman"/>
                <a:cs typeface="Times New Roman"/>
              </a:rPr>
              <a:t>de</a:t>
            </a:r>
            <a:r>
              <a:rPr sz="1632" spc="5" dirty="0">
                <a:latin typeface="Times New Roman"/>
                <a:cs typeface="Times New Roman"/>
              </a:rPr>
              <a:t> </a:t>
            </a:r>
            <a:r>
              <a:rPr sz="1632" dirty="0">
                <a:latin typeface="Times New Roman"/>
                <a:cs typeface="Times New Roman"/>
              </a:rPr>
              <a:t>que</a:t>
            </a:r>
            <a:r>
              <a:rPr sz="1632" spc="-9" dirty="0">
                <a:latin typeface="Times New Roman"/>
                <a:cs typeface="Times New Roman"/>
              </a:rPr>
              <a:t> </a:t>
            </a:r>
            <a:r>
              <a:rPr sz="1632" dirty="0">
                <a:latin typeface="Times New Roman"/>
                <a:cs typeface="Times New Roman"/>
              </a:rPr>
              <a:t>el</a:t>
            </a:r>
            <a:r>
              <a:rPr sz="1632" spc="9" dirty="0">
                <a:latin typeface="Times New Roman"/>
                <a:cs typeface="Times New Roman"/>
              </a:rPr>
              <a:t> </a:t>
            </a:r>
            <a:r>
              <a:rPr sz="1632" spc="-5" dirty="0" err="1">
                <a:latin typeface="Times New Roman"/>
                <a:cs typeface="Times New Roman"/>
              </a:rPr>
              <a:t>modelo</a:t>
            </a:r>
            <a:r>
              <a:rPr sz="1632" spc="-5" dirty="0">
                <a:latin typeface="Times New Roman"/>
                <a:cs typeface="Times New Roman"/>
              </a:rPr>
              <a:t> </a:t>
            </a:r>
            <a:r>
              <a:rPr sz="1632" dirty="0">
                <a:latin typeface="Times New Roman"/>
                <a:cs typeface="Times New Roman"/>
              </a:rPr>
              <a:t>s</a:t>
            </a:r>
            <a:r>
              <a:rPr lang="es-ES" sz="1632" dirty="0" err="1">
                <a:latin typeface="Times New Roman"/>
                <a:cs typeface="Times New Roman"/>
              </a:rPr>
              <a:t>ea</a:t>
            </a:r>
            <a:r>
              <a:rPr sz="1632" spc="5" dirty="0">
                <a:latin typeface="Times New Roman"/>
                <a:cs typeface="Times New Roman"/>
              </a:rPr>
              <a:t> </a:t>
            </a:r>
            <a:r>
              <a:rPr sz="1632" spc="-5" dirty="0">
                <a:latin typeface="Times New Roman"/>
                <a:cs typeface="Times New Roman"/>
              </a:rPr>
              <a:t>demasiado</a:t>
            </a:r>
            <a:r>
              <a:rPr sz="1632" spc="5" dirty="0">
                <a:latin typeface="Times New Roman"/>
                <a:cs typeface="Times New Roman"/>
              </a:rPr>
              <a:t> </a:t>
            </a:r>
            <a:r>
              <a:rPr sz="1632" dirty="0">
                <a:latin typeface="Times New Roman"/>
                <a:cs typeface="Times New Roman"/>
              </a:rPr>
              <a:t>complejo</a:t>
            </a:r>
            <a:r>
              <a:rPr sz="1632" spc="-9" dirty="0">
                <a:latin typeface="Times New Roman"/>
                <a:cs typeface="Times New Roman"/>
              </a:rPr>
              <a:t> </a:t>
            </a:r>
            <a:r>
              <a:rPr sz="1632" dirty="0">
                <a:latin typeface="Times New Roman"/>
                <a:cs typeface="Times New Roman"/>
              </a:rPr>
              <a:t>y</a:t>
            </a:r>
            <a:r>
              <a:rPr sz="1632" spc="14" dirty="0">
                <a:latin typeface="Times New Roman"/>
                <a:cs typeface="Times New Roman"/>
              </a:rPr>
              <a:t> </a:t>
            </a:r>
            <a:r>
              <a:rPr sz="1632" dirty="0">
                <a:latin typeface="Times New Roman"/>
                <a:cs typeface="Times New Roman"/>
              </a:rPr>
              <a:t>funcione</a:t>
            </a:r>
            <a:r>
              <a:rPr sz="1632" spc="-5" dirty="0">
                <a:latin typeface="Times New Roman"/>
                <a:cs typeface="Times New Roman"/>
              </a:rPr>
              <a:t> mal</a:t>
            </a:r>
            <a:r>
              <a:rPr sz="1632" spc="5" dirty="0">
                <a:latin typeface="Times New Roman"/>
                <a:cs typeface="Times New Roman"/>
              </a:rPr>
              <a:t> </a:t>
            </a:r>
            <a:r>
              <a:rPr sz="1632" dirty="0">
                <a:latin typeface="Times New Roman"/>
                <a:cs typeface="Times New Roman"/>
              </a:rPr>
              <a:t>para</a:t>
            </a:r>
            <a:r>
              <a:rPr sz="1632" spc="-5" dirty="0">
                <a:latin typeface="Times New Roman"/>
                <a:cs typeface="Times New Roman"/>
              </a:rPr>
              <a:t> nuevas</a:t>
            </a:r>
            <a:r>
              <a:rPr sz="1632" spc="9" dirty="0">
                <a:latin typeface="Times New Roman"/>
                <a:cs typeface="Times New Roman"/>
              </a:rPr>
              <a:t> </a:t>
            </a:r>
            <a:r>
              <a:rPr sz="1632" spc="-5" dirty="0">
                <a:latin typeface="Times New Roman"/>
                <a:cs typeface="Times New Roman"/>
              </a:rPr>
              <a:t>observaciones test</a:t>
            </a:r>
            <a:endParaRPr sz="1632" dirty="0">
              <a:latin typeface="Times New Roman"/>
              <a:cs typeface="Times New Roman"/>
            </a:endParaRPr>
          </a:p>
          <a:p>
            <a:pPr>
              <a:spcBef>
                <a:spcPts val="45"/>
              </a:spcBef>
            </a:pPr>
            <a:endParaRPr sz="1995" dirty="0">
              <a:latin typeface="Times New Roman"/>
              <a:cs typeface="Times New Roman"/>
            </a:endParaRPr>
          </a:p>
          <a:p>
            <a:pPr marL="110557" algn="ctr">
              <a:spcBef>
                <a:spcPts val="5"/>
              </a:spcBef>
            </a:pPr>
            <a:r>
              <a:rPr sz="2176" dirty="0">
                <a:solidFill>
                  <a:srgbClr val="FF0000"/>
                </a:solidFill>
                <a:latin typeface="Times New Roman"/>
                <a:cs typeface="Times New Roman"/>
              </a:rPr>
              <a:t>-</a:t>
            </a:r>
            <a:r>
              <a:rPr sz="2176" spc="-18" dirty="0">
                <a:solidFill>
                  <a:srgbClr val="FF0000"/>
                </a:solidFill>
                <a:latin typeface="Times New Roman"/>
                <a:cs typeface="Times New Roman"/>
              </a:rPr>
              <a:t> </a:t>
            </a:r>
            <a:r>
              <a:rPr sz="2176" spc="-5" dirty="0">
                <a:solidFill>
                  <a:srgbClr val="FF0000"/>
                </a:solidFill>
                <a:latin typeface="Times New Roman"/>
                <a:cs typeface="Times New Roman"/>
              </a:rPr>
              <a:t>Número</a:t>
            </a:r>
            <a:r>
              <a:rPr sz="2176" spc="-14" dirty="0">
                <a:solidFill>
                  <a:srgbClr val="FF0000"/>
                </a:solidFill>
                <a:latin typeface="Times New Roman"/>
                <a:cs typeface="Times New Roman"/>
              </a:rPr>
              <a:t> </a:t>
            </a:r>
            <a:r>
              <a:rPr sz="2176" dirty="0">
                <a:solidFill>
                  <a:srgbClr val="FF0000"/>
                </a:solidFill>
                <a:latin typeface="Times New Roman"/>
                <a:cs typeface="Times New Roman"/>
              </a:rPr>
              <a:t>de</a:t>
            </a:r>
            <a:r>
              <a:rPr sz="2176" spc="-18" dirty="0">
                <a:solidFill>
                  <a:srgbClr val="FF0000"/>
                </a:solidFill>
                <a:latin typeface="Times New Roman"/>
                <a:cs typeface="Times New Roman"/>
              </a:rPr>
              <a:t> </a:t>
            </a:r>
            <a:r>
              <a:rPr sz="2176" dirty="0">
                <a:solidFill>
                  <a:srgbClr val="FF0000"/>
                </a:solidFill>
                <a:latin typeface="Times New Roman"/>
                <a:cs typeface="Times New Roman"/>
              </a:rPr>
              <a:t>nodos</a:t>
            </a:r>
            <a:r>
              <a:rPr sz="2176" spc="-5" dirty="0">
                <a:solidFill>
                  <a:srgbClr val="FF0000"/>
                </a:solidFill>
                <a:latin typeface="Times New Roman"/>
                <a:cs typeface="Times New Roman"/>
              </a:rPr>
              <a:t> </a:t>
            </a:r>
            <a:r>
              <a:rPr sz="2176" dirty="0">
                <a:solidFill>
                  <a:srgbClr val="FF0000"/>
                </a:solidFill>
                <a:latin typeface="Times New Roman"/>
                <a:cs typeface="Times New Roman"/>
              </a:rPr>
              <a:t>+</a:t>
            </a:r>
            <a:endParaRPr sz="2176" dirty="0">
              <a:latin typeface="Times New Roman"/>
              <a:cs typeface="Times New Roman"/>
            </a:endParaRPr>
          </a:p>
        </p:txBody>
      </p:sp>
      <p:sp>
        <p:nvSpPr>
          <p:cNvPr id="4" name="object 4"/>
          <p:cNvSpPr txBox="1"/>
          <p:nvPr/>
        </p:nvSpPr>
        <p:spPr>
          <a:xfrm>
            <a:off x="1562234" y="3554759"/>
            <a:ext cx="8695437" cy="1394137"/>
          </a:xfrm>
          <a:prstGeom prst="rect">
            <a:avLst/>
          </a:prstGeom>
        </p:spPr>
        <p:txBody>
          <a:bodyPr vert="horz" wrap="square" lIns="0" tIns="21881" rIns="0" bIns="0" rtlCol="0">
            <a:spAutoFit/>
          </a:bodyPr>
          <a:lstStyle/>
          <a:p>
            <a:pPr marL="11516" marR="4607">
              <a:lnSpc>
                <a:spcPct val="95800"/>
              </a:lnSpc>
              <a:spcBef>
                <a:spcPts val="172"/>
              </a:spcBef>
            </a:pPr>
            <a:r>
              <a:rPr sz="1632" spc="-5" dirty="0">
                <a:latin typeface="Times New Roman"/>
                <a:cs typeface="Times New Roman"/>
              </a:rPr>
              <a:t>b) Respecto a complejidad de los datos (número de variables, relaciones raras, muchas categóricas, etc.).  </a:t>
            </a:r>
            <a:r>
              <a:rPr sz="1632" b="1" spc="-5" dirty="0">
                <a:latin typeface="Times New Roman"/>
                <a:cs typeface="Times New Roman"/>
              </a:rPr>
              <a:t>Más complejidad requiere más nodos</a:t>
            </a:r>
            <a:r>
              <a:rPr sz="1632" spc="-5" dirty="0">
                <a:latin typeface="Times New Roman"/>
                <a:cs typeface="Times New Roman"/>
              </a:rPr>
              <a:t>, porque con pocos nodos la red puede no ajustarse bien.  Recíprocamente, </a:t>
            </a:r>
            <a:r>
              <a:rPr sz="1632" b="1" spc="-5" dirty="0">
                <a:latin typeface="Times New Roman"/>
                <a:cs typeface="Times New Roman"/>
              </a:rPr>
              <a:t>si los datos son simples, demasiados nodos pueden provocar sobreajuste</a:t>
            </a:r>
            <a:r>
              <a:rPr sz="1632" spc="-5" dirty="0">
                <a:latin typeface="Times New Roman"/>
                <a:cs typeface="Times New Roman"/>
              </a:rPr>
              <a:t>.</a:t>
            </a:r>
          </a:p>
          <a:p>
            <a:pPr>
              <a:spcBef>
                <a:spcPts val="45"/>
              </a:spcBef>
            </a:pPr>
            <a:endParaRPr sz="2040" dirty="0">
              <a:latin typeface="Times New Roman"/>
              <a:cs typeface="Times New Roman"/>
            </a:endParaRPr>
          </a:p>
          <a:p>
            <a:pPr marL="368524" algn="ctr"/>
            <a:r>
              <a:rPr sz="2176" dirty="0">
                <a:solidFill>
                  <a:srgbClr val="FF0000"/>
                </a:solidFill>
                <a:latin typeface="Times New Roman"/>
                <a:cs typeface="Times New Roman"/>
              </a:rPr>
              <a:t>-</a:t>
            </a:r>
            <a:r>
              <a:rPr sz="2176" spc="-18" dirty="0">
                <a:solidFill>
                  <a:srgbClr val="FF0000"/>
                </a:solidFill>
                <a:latin typeface="Times New Roman"/>
                <a:cs typeface="Times New Roman"/>
              </a:rPr>
              <a:t> </a:t>
            </a:r>
            <a:r>
              <a:rPr sz="2176" spc="-5" dirty="0">
                <a:solidFill>
                  <a:srgbClr val="FF0000"/>
                </a:solidFill>
                <a:latin typeface="Times New Roman"/>
                <a:cs typeface="Times New Roman"/>
              </a:rPr>
              <a:t>Número</a:t>
            </a:r>
            <a:r>
              <a:rPr sz="2176" spc="-14" dirty="0">
                <a:solidFill>
                  <a:srgbClr val="FF0000"/>
                </a:solidFill>
                <a:latin typeface="Times New Roman"/>
                <a:cs typeface="Times New Roman"/>
              </a:rPr>
              <a:t> </a:t>
            </a:r>
            <a:r>
              <a:rPr sz="2176" dirty="0">
                <a:solidFill>
                  <a:srgbClr val="FF0000"/>
                </a:solidFill>
                <a:latin typeface="Times New Roman"/>
                <a:cs typeface="Times New Roman"/>
              </a:rPr>
              <a:t>de</a:t>
            </a:r>
            <a:r>
              <a:rPr sz="2176" spc="-18" dirty="0">
                <a:solidFill>
                  <a:srgbClr val="FF0000"/>
                </a:solidFill>
                <a:latin typeface="Times New Roman"/>
                <a:cs typeface="Times New Roman"/>
              </a:rPr>
              <a:t> </a:t>
            </a:r>
            <a:r>
              <a:rPr sz="2176" dirty="0">
                <a:solidFill>
                  <a:srgbClr val="FF0000"/>
                </a:solidFill>
                <a:latin typeface="Times New Roman"/>
                <a:cs typeface="Times New Roman"/>
              </a:rPr>
              <a:t>nodos</a:t>
            </a:r>
            <a:r>
              <a:rPr sz="2176" spc="-14" dirty="0">
                <a:solidFill>
                  <a:srgbClr val="FF0000"/>
                </a:solidFill>
                <a:latin typeface="Times New Roman"/>
                <a:cs typeface="Times New Roman"/>
              </a:rPr>
              <a:t> </a:t>
            </a:r>
            <a:r>
              <a:rPr sz="2176" dirty="0">
                <a:solidFill>
                  <a:srgbClr val="FF0000"/>
                </a:solidFill>
                <a:latin typeface="Times New Roman"/>
                <a:cs typeface="Times New Roman"/>
              </a:rPr>
              <a:t>+</a:t>
            </a:r>
            <a:endParaRPr sz="2176" dirty="0">
              <a:latin typeface="Times New Roman"/>
              <a:cs typeface="Times New Roman"/>
            </a:endParaRPr>
          </a:p>
        </p:txBody>
      </p:sp>
      <p:sp>
        <p:nvSpPr>
          <p:cNvPr id="5" name="object 5"/>
          <p:cNvSpPr/>
          <p:nvPr/>
        </p:nvSpPr>
        <p:spPr>
          <a:xfrm>
            <a:off x="2232257" y="2601549"/>
            <a:ext cx="7307139" cy="34549"/>
          </a:xfrm>
          <a:custGeom>
            <a:avLst/>
            <a:gdLst/>
            <a:ahLst/>
            <a:cxnLst/>
            <a:rect l="l" t="t" r="r" b="b"/>
            <a:pathLst>
              <a:path w="8058150" h="38100">
                <a:moveTo>
                  <a:pt x="0" y="38100"/>
                </a:moveTo>
                <a:lnTo>
                  <a:pt x="8058150" y="0"/>
                </a:lnTo>
              </a:path>
            </a:pathLst>
          </a:custGeom>
          <a:ln w="9525">
            <a:solidFill>
              <a:srgbClr val="000000"/>
            </a:solidFill>
          </a:ln>
        </p:spPr>
        <p:txBody>
          <a:bodyPr wrap="square" lIns="0" tIns="0" rIns="0" bIns="0" rtlCol="0"/>
          <a:lstStyle/>
          <a:p>
            <a:endParaRPr sz="1632"/>
          </a:p>
        </p:txBody>
      </p:sp>
      <p:sp>
        <p:nvSpPr>
          <p:cNvPr id="6" name="object 6"/>
          <p:cNvSpPr txBox="1"/>
          <p:nvPr/>
        </p:nvSpPr>
        <p:spPr>
          <a:xfrm>
            <a:off x="8386030" y="2814026"/>
            <a:ext cx="1045687" cy="253502"/>
          </a:xfrm>
          <a:prstGeom prst="rect">
            <a:avLst/>
          </a:prstGeom>
          <a:ln w="9525">
            <a:solidFill>
              <a:srgbClr val="000000"/>
            </a:solidFill>
          </a:ln>
        </p:spPr>
        <p:txBody>
          <a:bodyPr vert="horz" wrap="square" lIns="0" tIns="29943" rIns="0" bIns="0" rtlCol="0">
            <a:spAutoFit/>
          </a:bodyPr>
          <a:lstStyle/>
          <a:p>
            <a:pPr marL="88676">
              <a:spcBef>
                <a:spcPts val="236"/>
              </a:spcBef>
            </a:pPr>
            <a:r>
              <a:rPr sz="1451" spc="-5" dirty="0">
                <a:solidFill>
                  <a:srgbClr val="FF0000"/>
                </a:solidFill>
                <a:latin typeface="Times New Roman"/>
                <a:cs typeface="Times New Roman"/>
              </a:rPr>
              <a:t>Sobreajuste</a:t>
            </a:r>
            <a:endParaRPr sz="1451">
              <a:latin typeface="Times New Roman"/>
              <a:cs typeface="Times New Roman"/>
            </a:endParaRPr>
          </a:p>
        </p:txBody>
      </p:sp>
      <p:sp>
        <p:nvSpPr>
          <p:cNvPr id="7" name="object 7"/>
          <p:cNvSpPr txBox="1"/>
          <p:nvPr/>
        </p:nvSpPr>
        <p:spPr>
          <a:xfrm>
            <a:off x="2237439" y="2818633"/>
            <a:ext cx="1175246" cy="480788"/>
          </a:xfrm>
          <a:prstGeom prst="rect">
            <a:avLst/>
          </a:prstGeom>
          <a:ln w="9525">
            <a:solidFill>
              <a:srgbClr val="000000"/>
            </a:solidFill>
          </a:ln>
        </p:spPr>
        <p:txBody>
          <a:bodyPr vert="horz" wrap="square" lIns="0" tIns="44338" rIns="0" bIns="0" rtlCol="0">
            <a:spAutoFit/>
          </a:bodyPr>
          <a:lstStyle/>
          <a:p>
            <a:pPr marL="88100" marR="219387">
              <a:lnSpc>
                <a:spcPts val="1668"/>
              </a:lnSpc>
              <a:spcBef>
                <a:spcPts val="349"/>
              </a:spcBef>
            </a:pPr>
            <a:r>
              <a:rPr sz="1451" spc="-9" dirty="0">
                <a:solidFill>
                  <a:srgbClr val="FF0000"/>
                </a:solidFill>
                <a:latin typeface="Times New Roman"/>
                <a:cs typeface="Times New Roman"/>
              </a:rPr>
              <a:t>Ajuste </a:t>
            </a:r>
            <a:r>
              <a:rPr sz="1451" spc="-5" dirty="0">
                <a:solidFill>
                  <a:srgbClr val="FF0000"/>
                </a:solidFill>
                <a:latin typeface="Times New Roman"/>
                <a:cs typeface="Times New Roman"/>
              </a:rPr>
              <a:t> i</a:t>
            </a:r>
            <a:r>
              <a:rPr sz="1451" dirty="0">
                <a:solidFill>
                  <a:srgbClr val="FF0000"/>
                </a:solidFill>
                <a:latin typeface="Times New Roman"/>
                <a:cs typeface="Times New Roman"/>
              </a:rPr>
              <a:t>n</a:t>
            </a:r>
            <a:r>
              <a:rPr sz="1451" spc="-9" dirty="0">
                <a:solidFill>
                  <a:srgbClr val="FF0000"/>
                </a:solidFill>
                <a:latin typeface="Times New Roman"/>
                <a:cs typeface="Times New Roman"/>
              </a:rPr>
              <a:t>s</a:t>
            </a:r>
            <a:r>
              <a:rPr sz="1451" dirty="0">
                <a:solidFill>
                  <a:srgbClr val="FF0000"/>
                </a:solidFill>
                <a:latin typeface="Times New Roman"/>
                <a:cs typeface="Times New Roman"/>
              </a:rPr>
              <a:t>uf</a:t>
            </a:r>
            <a:r>
              <a:rPr sz="1451" spc="-5" dirty="0">
                <a:solidFill>
                  <a:srgbClr val="FF0000"/>
                </a:solidFill>
                <a:latin typeface="Times New Roman"/>
                <a:cs typeface="Times New Roman"/>
              </a:rPr>
              <a:t>iciente</a:t>
            </a:r>
            <a:endParaRPr sz="1451">
              <a:latin typeface="Times New Roman"/>
              <a:cs typeface="Times New Roman"/>
            </a:endParaRPr>
          </a:p>
        </p:txBody>
      </p:sp>
      <p:sp>
        <p:nvSpPr>
          <p:cNvPr id="8" name="object 8"/>
          <p:cNvSpPr/>
          <p:nvPr/>
        </p:nvSpPr>
        <p:spPr>
          <a:xfrm>
            <a:off x="2232257" y="5143787"/>
            <a:ext cx="7307139" cy="34549"/>
          </a:xfrm>
          <a:custGeom>
            <a:avLst/>
            <a:gdLst/>
            <a:ahLst/>
            <a:cxnLst/>
            <a:rect l="l" t="t" r="r" b="b"/>
            <a:pathLst>
              <a:path w="8058150" h="38100">
                <a:moveTo>
                  <a:pt x="0" y="38099"/>
                </a:moveTo>
                <a:lnTo>
                  <a:pt x="8058150" y="0"/>
                </a:lnTo>
              </a:path>
            </a:pathLst>
          </a:custGeom>
          <a:ln w="9525">
            <a:solidFill>
              <a:srgbClr val="000000"/>
            </a:solidFill>
          </a:ln>
        </p:spPr>
        <p:txBody>
          <a:bodyPr wrap="square" lIns="0" tIns="0" rIns="0" bIns="0" rtlCol="0"/>
          <a:lstStyle/>
          <a:p>
            <a:endParaRPr sz="1632"/>
          </a:p>
        </p:txBody>
      </p:sp>
      <p:sp>
        <p:nvSpPr>
          <p:cNvPr id="9" name="object 9"/>
          <p:cNvSpPr txBox="1"/>
          <p:nvPr/>
        </p:nvSpPr>
        <p:spPr>
          <a:xfrm>
            <a:off x="8386030" y="5356266"/>
            <a:ext cx="1045687" cy="480788"/>
          </a:xfrm>
          <a:prstGeom prst="rect">
            <a:avLst/>
          </a:prstGeom>
          <a:ln w="9525">
            <a:solidFill>
              <a:srgbClr val="000000"/>
            </a:solidFill>
          </a:ln>
        </p:spPr>
        <p:txBody>
          <a:bodyPr vert="horz" wrap="square" lIns="0" tIns="44338" rIns="0" bIns="0" rtlCol="0">
            <a:spAutoFit/>
          </a:bodyPr>
          <a:lstStyle/>
          <a:p>
            <a:pPr marL="88676" marR="179079">
              <a:lnSpc>
                <a:spcPts val="1668"/>
              </a:lnSpc>
              <a:spcBef>
                <a:spcPts val="349"/>
              </a:spcBef>
            </a:pPr>
            <a:r>
              <a:rPr sz="1451" spc="-5" dirty="0">
                <a:solidFill>
                  <a:srgbClr val="FF0000"/>
                </a:solidFill>
                <a:latin typeface="Times New Roman"/>
                <a:cs typeface="Times New Roman"/>
              </a:rPr>
              <a:t>Datos</a:t>
            </a:r>
            <a:r>
              <a:rPr sz="1451" spc="-77" dirty="0">
                <a:solidFill>
                  <a:srgbClr val="FF0000"/>
                </a:solidFill>
                <a:latin typeface="Times New Roman"/>
                <a:cs typeface="Times New Roman"/>
              </a:rPr>
              <a:t> </a:t>
            </a:r>
            <a:r>
              <a:rPr sz="1451" spc="-9" dirty="0">
                <a:solidFill>
                  <a:srgbClr val="FF0000"/>
                </a:solidFill>
                <a:latin typeface="Times New Roman"/>
                <a:cs typeface="Times New Roman"/>
              </a:rPr>
              <a:t>más </a:t>
            </a:r>
            <a:r>
              <a:rPr sz="1451" spc="-349" dirty="0">
                <a:solidFill>
                  <a:srgbClr val="FF0000"/>
                </a:solidFill>
                <a:latin typeface="Times New Roman"/>
                <a:cs typeface="Times New Roman"/>
              </a:rPr>
              <a:t> </a:t>
            </a:r>
            <a:r>
              <a:rPr sz="1451" spc="-5" dirty="0">
                <a:solidFill>
                  <a:srgbClr val="FF0000"/>
                </a:solidFill>
                <a:latin typeface="Times New Roman"/>
                <a:cs typeface="Times New Roman"/>
              </a:rPr>
              <a:t>complejos</a:t>
            </a:r>
            <a:endParaRPr sz="1451">
              <a:latin typeface="Times New Roman"/>
              <a:cs typeface="Times New Roman"/>
            </a:endParaRPr>
          </a:p>
        </p:txBody>
      </p:sp>
      <p:sp>
        <p:nvSpPr>
          <p:cNvPr id="10" name="object 10"/>
          <p:cNvSpPr txBox="1"/>
          <p:nvPr/>
        </p:nvSpPr>
        <p:spPr>
          <a:xfrm>
            <a:off x="2237439" y="5360871"/>
            <a:ext cx="1175246" cy="481951"/>
          </a:xfrm>
          <a:prstGeom prst="rect">
            <a:avLst/>
          </a:prstGeom>
          <a:ln w="9525">
            <a:solidFill>
              <a:srgbClr val="000000"/>
            </a:solidFill>
          </a:ln>
        </p:spPr>
        <p:txBody>
          <a:bodyPr vert="horz" wrap="square" lIns="0" tIns="45490" rIns="0" bIns="0" rtlCol="0">
            <a:spAutoFit/>
          </a:bodyPr>
          <a:lstStyle/>
          <a:p>
            <a:pPr marL="88100" marR="124377">
              <a:lnSpc>
                <a:spcPts val="1668"/>
              </a:lnSpc>
              <a:spcBef>
                <a:spcPts val="358"/>
              </a:spcBef>
            </a:pPr>
            <a:r>
              <a:rPr sz="1451" spc="-5" dirty="0">
                <a:solidFill>
                  <a:srgbClr val="FF0000"/>
                </a:solidFill>
                <a:latin typeface="Times New Roman"/>
                <a:cs typeface="Times New Roman"/>
              </a:rPr>
              <a:t>Datos</a:t>
            </a:r>
            <a:r>
              <a:rPr sz="1451" spc="-63" dirty="0">
                <a:solidFill>
                  <a:srgbClr val="FF0000"/>
                </a:solidFill>
                <a:latin typeface="Times New Roman"/>
                <a:cs typeface="Times New Roman"/>
              </a:rPr>
              <a:t> </a:t>
            </a:r>
            <a:r>
              <a:rPr sz="1451" spc="-9" dirty="0">
                <a:solidFill>
                  <a:srgbClr val="FF0000"/>
                </a:solidFill>
                <a:latin typeface="Times New Roman"/>
                <a:cs typeface="Times New Roman"/>
              </a:rPr>
              <a:t>menos </a:t>
            </a:r>
            <a:r>
              <a:rPr sz="1451" spc="-349" dirty="0">
                <a:solidFill>
                  <a:srgbClr val="FF0000"/>
                </a:solidFill>
                <a:latin typeface="Times New Roman"/>
                <a:cs typeface="Times New Roman"/>
              </a:rPr>
              <a:t> </a:t>
            </a:r>
            <a:r>
              <a:rPr sz="1451" spc="-5" dirty="0">
                <a:solidFill>
                  <a:srgbClr val="FF0000"/>
                </a:solidFill>
                <a:latin typeface="Times New Roman"/>
                <a:cs typeface="Times New Roman"/>
              </a:rPr>
              <a:t>complejos</a:t>
            </a:r>
            <a:endParaRPr sz="1451">
              <a:latin typeface="Times New Roman"/>
              <a:cs typeface="Times New Roman"/>
            </a:endParaRPr>
          </a:p>
        </p:txBody>
      </p:sp>
    </p:spTree>
    <p:extLst>
      <p:ext uri="{BB962C8B-B14F-4D97-AF65-F5344CB8AC3E}">
        <p14:creationId xmlns:p14="http://schemas.microsoft.com/office/powerpoint/2010/main" val="387952101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2234" y="286154"/>
            <a:ext cx="9067531" cy="767800"/>
          </a:xfrm>
          <a:prstGeom prst="rect">
            <a:avLst/>
          </a:prstGeom>
        </p:spPr>
        <p:txBody>
          <a:bodyPr vert="horz" wrap="square" lIns="0" tIns="277774" rIns="0" bIns="0" rtlCol="0" anchor="ctr">
            <a:spAutoFit/>
          </a:bodyPr>
          <a:lstStyle/>
          <a:p>
            <a:pPr marL="11516" marR="4607">
              <a:lnSpc>
                <a:spcPts val="1868"/>
              </a:lnSpc>
              <a:spcBef>
                <a:spcPts val="227"/>
              </a:spcBef>
            </a:pPr>
            <a:r>
              <a:rPr sz="1632" dirty="0"/>
              <a:t>c)</a:t>
            </a:r>
            <a:r>
              <a:rPr sz="1632" spc="9" dirty="0"/>
              <a:t> </a:t>
            </a:r>
            <a:r>
              <a:rPr sz="1632" spc="-5" dirty="0"/>
              <a:t>Respecto</a:t>
            </a:r>
            <a:r>
              <a:rPr sz="1632" dirty="0"/>
              <a:t> al</a:t>
            </a:r>
            <a:r>
              <a:rPr sz="1632" spc="9" dirty="0"/>
              <a:t> </a:t>
            </a:r>
            <a:r>
              <a:rPr sz="1632" spc="-5" dirty="0"/>
              <a:t>número</a:t>
            </a:r>
            <a:r>
              <a:rPr sz="1632" spc="14" dirty="0"/>
              <a:t> </a:t>
            </a:r>
            <a:r>
              <a:rPr sz="1632" dirty="0"/>
              <a:t>de</a:t>
            </a:r>
            <a:r>
              <a:rPr sz="1632" spc="14" dirty="0"/>
              <a:t> </a:t>
            </a:r>
            <a:r>
              <a:rPr sz="1632" spc="-5" dirty="0"/>
              <a:t>observaciones.</a:t>
            </a:r>
            <a:r>
              <a:rPr sz="1632" spc="14" dirty="0"/>
              <a:t> </a:t>
            </a:r>
            <a:r>
              <a:rPr sz="1632" b="1" spc="-5" dirty="0"/>
              <a:t>Más</a:t>
            </a:r>
            <a:r>
              <a:rPr sz="1632" b="1" spc="5" dirty="0"/>
              <a:t> </a:t>
            </a:r>
            <a:r>
              <a:rPr sz="1632" b="1" spc="-5" dirty="0"/>
              <a:t>observaciones</a:t>
            </a:r>
            <a:r>
              <a:rPr sz="1632" spc="41" dirty="0"/>
              <a:t> </a:t>
            </a:r>
            <a:r>
              <a:rPr sz="1632" dirty="0"/>
              <a:t>nos</a:t>
            </a:r>
            <a:r>
              <a:rPr sz="1632" spc="-5" dirty="0"/>
              <a:t> permiten</a:t>
            </a:r>
            <a:r>
              <a:rPr sz="1632" spc="14" dirty="0"/>
              <a:t> </a:t>
            </a:r>
            <a:r>
              <a:rPr sz="1632" b="1" spc="-5" dirty="0"/>
              <a:t>más</a:t>
            </a:r>
            <a:r>
              <a:rPr sz="1632" b="1" spc="14" dirty="0"/>
              <a:t> </a:t>
            </a:r>
            <a:r>
              <a:rPr sz="1632" b="1" spc="-5" dirty="0"/>
              <a:t>nodos,</a:t>
            </a:r>
            <a:r>
              <a:rPr sz="1632" spc="14" dirty="0"/>
              <a:t> </a:t>
            </a:r>
            <a:r>
              <a:rPr sz="1632" dirty="0"/>
              <a:t>pocas</a:t>
            </a:r>
            <a:r>
              <a:rPr sz="1632" spc="-5" dirty="0"/>
              <a:t> observaciones </a:t>
            </a:r>
            <a:r>
              <a:rPr sz="1632" spc="-394" dirty="0"/>
              <a:t> </a:t>
            </a:r>
            <a:r>
              <a:rPr sz="1632" spc="-5" dirty="0"/>
              <a:t>son insuficientes.</a:t>
            </a:r>
            <a:r>
              <a:rPr sz="1632" spc="159" dirty="0"/>
              <a:t> </a:t>
            </a:r>
            <a:r>
              <a:rPr sz="1632" dirty="0"/>
              <a:t>La </a:t>
            </a:r>
            <a:r>
              <a:rPr sz="1632" spc="-5" dirty="0"/>
              <a:t>regla</a:t>
            </a:r>
            <a:r>
              <a:rPr sz="1632" spc="14" dirty="0"/>
              <a:t> </a:t>
            </a:r>
            <a:r>
              <a:rPr sz="1632" spc="-9" dirty="0"/>
              <a:t>de</a:t>
            </a:r>
            <a:r>
              <a:rPr sz="1632" spc="9" dirty="0"/>
              <a:t> </a:t>
            </a:r>
            <a:r>
              <a:rPr sz="1632" b="1" dirty="0"/>
              <a:t>20</a:t>
            </a:r>
            <a:r>
              <a:rPr sz="1632" b="1" spc="-14" dirty="0"/>
              <a:t> </a:t>
            </a:r>
            <a:r>
              <a:rPr sz="1632" b="1" spc="-5" dirty="0"/>
              <a:t>observaciones</a:t>
            </a:r>
            <a:r>
              <a:rPr sz="1632" b="1" spc="9" dirty="0"/>
              <a:t> </a:t>
            </a:r>
            <a:r>
              <a:rPr sz="1632" b="1" spc="-5" dirty="0"/>
              <a:t>por</a:t>
            </a:r>
            <a:r>
              <a:rPr sz="1632" b="1" spc="9" dirty="0"/>
              <a:t> </a:t>
            </a:r>
            <a:r>
              <a:rPr sz="1632" b="1" spc="-5" dirty="0"/>
              <a:t>parámetro</a:t>
            </a:r>
            <a:r>
              <a:rPr sz="1632" spc="9" dirty="0"/>
              <a:t> </a:t>
            </a:r>
            <a:r>
              <a:rPr sz="1632" spc="-5" dirty="0"/>
              <a:t>también</a:t>
            </a:r>
            <a:r>
              <a:rPr sz="1632" dirty="0"/>
              <a:t> es</a:t>
            </a:r>
            <a:r>
              <a:rPr sz="1632" spc="9" dirty="0"/>
              <a:t> </a:t>
            </a:r>
            <a:r>
              <a:rPr sz="1632" spc="-5" dirty="0"/>
              <a:t>algo</a:t>
            </a:r>
            <a:r>
              <a:rPr sz="1632" spc="9" dirty="0"/>
              <a:t> </a:t>
            </a:r>
            <a:r>
              <a:rPr sz="1632" spc="-5" dirty="0"/>
              <a:t>razonable</a:t>
            </a:r>
            <a:r>
              <a:rPr sz="1632" spc="9" dirty="0"/>
              <a:t> </a:t>
            </a:r>
            <a:r>
              <a:rPr sz="1632" dirty="0"/>
              <a:t>a respetar.</a:t>
            </a:r>
          </a:p>
        </p:txBody>
      </p:sp>
      <p:sp>
        <p:nvSpPr>
          <p:cNvPr id="3" name="object 3"/>
          <p:cNvSpPr txBox="1"/>
          <p:nvPr/>
        </p:nvSpPr>
        <p:spPr>
          <a:xfrm>
            <a:off x="4907165" y="1326455"/>
            <a:ext cx="2374100" cy="346464"/>
          </a:xfrm>
          <a:prstGeom prst="rect">
            <a:avLst/>
          </a:prstGeom>
        </p:spPr>
        <p:txBody>
          <a:bodyPr vert="horz" wrap="square" lIns="0" tIns="11516" rIns="0" bIns="0" rtlCol="0">
            <a:spAutoFit/>
          </a:bodyPr>
          <a:lstStyle/>
          <a:p>
            <a:pPr marL="11516">
              <a:spcBef>
                <a:spcPts val="91"/>
              </a:spcBef>
            </a:pPr>
            <a:r>
              <a:rPr sz="2176" dirty="0">
                <a:solidFill>
                  <a:srgbClr val="FF0000"/>
                </a:solidFill>
                <a:latin typeface="Times New Roman"/>
                <a:cs typeface="Times New Roman"/>
              </a:rPr>
              <a:t>-</a:t>
            </a:r>
            <a:r>
              <a:rPr sz="2176" spc="-23" dirty="0">
                <a:solidFill>
                  <a:srgbClr val="FF0000"/>
                </a:solidFill>
                <a:latin typeface="Times New Roman"/>
                <a:cs typeface="Times New Roman"/>
              </a:rPr>
              <a:t> </a:t>
            </a:r>
            <a:r>
              <a:rPr sz="2176" spc="-5" dirty="0">
                <a:solidFill>
                  <a:srgbClr val="FF0000"/>
                </a:solidFill>
                <a:latin typeface="Times New Roman"/>
                <a:cs typeface="Times New Roman"/>
              </a:rPr>
              <a:t>Número</a:t>
            </a:r>
            <a:r>
              <a:rPr sz="2176" spc="-18" dirty="0">
                <a:solidFill>
                  <a:srgbClr val="FF0000"/>
                </a:solidFill>
                <a:latin typeface="Times New Roman"/>
                <a:cs typeface="Times New Roman"/>
              </a:rPr>
              <a:t> </a:t>
            </a:r>
            <a:r>
              <a:rPr sz="2176" dirty="0">
                <a:solidFill>
                  <a:srgbClr val="FF0000"/>
                </a:solidFill>
                <a:latin typeface="Times New Roman"/>
                <a:cs typeface="Times New Roman"/>
              </a:rPr>
              <a:t>de</a:t>
            </a:r>
            <a:r>
              <a:rPr sz="2176" spc="-18" dirty="0">
                <a:solidFill>
                  <a:srgbClr val="FF0000"/>
                </a:solidFill>
                <a:latin typeface="Times New Roman"/>
                <a:cs typeface="Times New Roman"/>
              </a:rPr>
              <a:t> </a:t>
            </a:r>
            <a:r>
              <a:rPr sz="2176" dirty="0">
                <a:solidFill>
                  <a:srgbClr val="FF0000"/>
                </a:solidFill>
                <a:latin typeface="Times New Roman"/>
                <a:cs typeface="Times New Roman"/>
              </a:rPr>
              <a:t>nodos</a:t>
            </a:r>
            <a:r>
              <a:rPr sz="2176" spc="-23" dirty="0">
                <a:solidFill>
                  <a:srgbClr val="FF0000"/>
                </a:solidFill>
                <a:latin typeface="Times New Roman"/>
                <a:cs typeface="Times New Roman"/>
              </a:rPr>
              <a:t> </a:t>
            </a:r>
            <a:r>
              <a:rPr sz="2176" dirty="0">
                <a:solidFill>
                  <a:srgbClr val="FF0000"/>
                </a:solidFill>
                <a:latin typeface="Times New Roman"/>
                <a:cs typeface="Times New Roman"/>
              </a:rPr>
              <a:t>+</a:t>
            </a:r>
            <a:endParaRPr sz="2176">
              <a:latin typeface="Times New Roman"/>
              <a:cs typeface="Times New Roman"/>
            </a:endParaRPr>
          </a:p>
        </p:txBody>
      </p:sp>
      <p:sp>
        <p:nvSpPr>
          <p:cNvPr id="4" name="object 4"/>
          <p:cNvSpPr/>
          <p:nvPr/>
        </p:nvSpPr>
        <p:spPr>
          <a:xfrm>
            <a:off x="2232257" y="1886382"/>
            <a:ext cx="7307139" cy="34549"/>
          </a:xfrm>
          <a:custGeom>
            <a:avLst/>
            <a:gdLst/>
            <a:ahLst/>
            <a:cxnLst/>
            <a:rect l="l" t="t" r="r" b="b"/>
            <a:pathLst>
              <a:path w="8058150" h="38100">
                <a:moveTo>
                  <a:pt x="0" y="38100"/>
                </a:moveTo>
                <a:lnTo>
                  <a:pt x="8058150" y="0"/>
                </a:lnTo>
              </a:path>
            </a:pathLst>
          </a:custGeom>
          <a:ln w="9525">
            <a:solidFill>
              <a:srgbClr val="000000"/>
            </a:solidFill>
          </a:ln>
        </p:spPr>
        <p:txBody>
          <a:bodyPr wrap="square" lIns="0" tIns="0" rIns="0" bIns="0" rtlCol="0"/>
          <a:lstStyle/>
          <a:p>
            <a:endParaRPr sz="1632"/>
          </a:p>
        </p:txBody>
      </p:sp>
      <p:sp>
        <p:nvSpPr>
          <p:cNvPr id="5" name="object 5"/>
          <p:cNvSpPr txBox="1"/>
          <p:nvPr/>
        </p:nvSpPr>
        <p:spPr>
          <a:xfrm>
            <a:off x="8391788" y="2103466"/>
            <a:ext cx="1417090" cy="479044"/>
          </a:xfrm>
          <a:prstGeom prst="rect">
            <a:avLst/>
          </a:prstGeom>
          <a:ln w="9525">
            <a:solidFill>
              <a:srgbClr val="000000"/>
            </a:solidFill>
          </a:ln>
        </p:spPr>
        <p:txBody>
          <a:bodyPr vert="horz" wrap="square" lIns="0" tIns="42611" rIns="0" bIns="0" rtlCol="0">
            <a:spAutoFit/>
          </a:bodyPr>
          <a:lstStyle/>
          <a:p>
            <a:pPr marL="88676" marR="277544">
              <a:lnSpc>
                <a:spcPts val="1678"/>
              </a:lnSpc>
              <a:spcBef>
                <a:spcPts val="336"/>
              </a:spcBef>
            </a:pPr>
            <a:r>
              <a:rPr sz="1451" spc="-5" dirty="0">
                <a:solidFill>
                  <a:srgbClr val="FF0000"/>
                </a:solidFill>
                <a:latin typeface="Times New Roman"/>
                <a:cs typeface="Times New Roman"/>
              </a:rPr>
              <a:t>Muchas </a:t>
            </a:r>
            <a:r>
              <a:rPr sz="1451" dirty="0">
                <a:solidFill>
                  <a:srgbClr val="FF0000"/>
                </a:solidFill>
                <a:latin typeface="Times New Roman"/>
                <a:cs typeface="Times New Roman"/>
              </a:rPr>
              <a:t> </a:t>
            </a:r>
            <a:r>
              <a:rPr sz="1451" spc="-5" dirty="0">
                <a:solidFill>
                  <a:srgbClr val="FF0000"/>
                </a:solidFill>
                <a:latin typeface="Times New Roman"/>
                <a:cs typeface="Times New Roman"/>
              </a:rPr>
              <a:t>ob</a:t>
            </a:r>
            <a:r>
              <a:rPr sz="1451" spc="-9" dirty="0">
                <a:solidFill>
                  <a:srgbClr val="FF0000"/>
                </a:solidFill>
                <a:latin typeface="Times New Roman"/>
                <a:cs typeface="Times New Roman"/>
              </a:rPr>
              <a:t>ser</a:t>
            </a:r>
            <a:r>
              <a:rPr sz="1451" spc="-5" dirty="0">
                <a:solidFill>
                  <a:srgbClr val="FF0000"/>
                </a:solidFill>
                <a:latin typeface="Times New Roman"/>
                <a:cs typeface="Times New Roman"/>
              </a:rPr>
              <a:t>vaciones</a:t>
            </a:r>
            <a:endParaRPr sz="1451">
              <a:latin typeface="Times New Roman"/>
              <a:cs typeface="Times New Roman"/>
            </a:endParaRPr>
          </a:p>
        </p:txBody>
      </p:sp>
      <p:sp>
        <p:nvSpPr>
          <p:cNvPr id="6" name="object 6"/>
          <p:cNvSpPr txBox="1"/>
          <p:nvPr/>
        </p:nvSpPr>
        <p:spPr>
          <a:xfrm>
            <a:off x="2237439" y="2103466"/>
            <a:ext cx="1265074" cy="479044"/>
          </a:xfrm>
          <a:prstGeom prst="rect">
            <a:avLst/>
          </a:prstGeom>
          <a:ln w="9525">
            <a:solidFill>
              <a:srgbClr val="000000"/>
            </a:solidFill>
          </a:ln>
        </p:spPr>
        <p:txBody>
          <a:bodyPr vert="horz" wrap="square" lIns="0" tIns="42611" rIns="0" bIns="0" rtlCol="0">
            <a:spAutoFit/>
          </a:bodyPr>
          <a:lstStyle/>
          <a:p>
            <a:pPr marL="88100" marR="126104">
              <a:lnSpc>
                <a:spcPts val="1678"/>
              </a:lnSpc>
              <a:spcBef>
                <a:spcPts val="336"/>
              </a:spcBef>
            </a:pPr>
            <a:r>
              <a:rPr sz="1451" spc="-5" dirty="0">
                <a:solidFill>
                  <a:srgbClr val="FF0000"/>
                </a:solidFill>
                <a:latin typeface="Times New Roman"/>
                <a:cs typeface="Times New Roman"/>
              </a:rPr>
              <a:t>Pocas </a:t>
            </a:r>
            <a:r>
              <a:rPr sz="1451" dirty="0">
                <a:solidFill>
                  <a:srgbClr val="FF0000"/>
                </a:solidFill>
                <a:latin typeface="Times New Roman"/>
                <a:cs typeface="Times New Roman"/>
              </a:rPr>
              <a:t> </a:t>
            </a:r>
            <a:r>
              <a:rPr sz="1451" spc="-5" dirty="0">
                <a:solidFill>
                  <a:srgbClr val="FF0000"/>
                </a:solidFill>
                <a:latin typeface="Times New Roman"/>
                <a:cs typeface="Times New Roman"/>
              </a:rPr>
              <a:t>ob</a:t>
            </a:r>
            <a:r>
              <a:rPr sz="1451" spc="-9" dirty="0">
                <a:solidFill>
                  <a:srgbClr val="FF0000"/>
                </a:solidFill>
                <a:latin typeface="Times New Roman"/>
                <a:cs typeface="Times New Roman"/>
              </a:rPr>
              <a:t>ser</a:t>
            </a:r>
            <a:r>
              <a:rPr sz="1451" spc="-5" dirty="0">
                <a:solidFill>
                  <a:srgbClr val="FF0000"/>
                </a:solidFill>
                <a:latin typeface="Times New Roman"/>
                <a:cs typeface="Times New Roman"/>
              </a:rPr>
              <a:t>vaciones</a:t>
            </a:r>
            <a:endParaRPr sz="1451">
              <a:latin typeface="Times New Roman"/>
              <a:cs typeface="Times New Roman"/>
            </a:endParaRPr>
          </a:p>
        </p:txBody>
      </p:sp>
    </p:spTree>
    <p:extLst>
      <p:ext uri="{BB962C8B-B14F-4D97-AF65-F5344CB8AC3E}">
        <p14:creationId xmlns:p14="http://schemas.microsoft.com/office/powerpoint/2010/main" val="2712414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11910" y="388677"/>
            <a:ext cx="8403268" cy="5853612"/>
          </a:xfrm>
          <a:prstGeom prst="rect">
            <a:avLst/>
          </a:prstGeom>
        </p:spPr>
        <p:txBody>
          <a:bodyPr vert="horz" wrap="square" lIns="0" tIns="11516" rIns="0" bIns="0" rtlCol="0">
            <a:spAutoFit/>
          </a:bodyPr>
          <a:lstStyle/>
          <a:p>
            <a:pPr marL="593093">
              <a:spcBef>
                <a:spcPts val="91"/>
              </a:spcBef>
            </a:pPr>
            <a:r>
              <a:rPr sz="2176" b="1" spc="-5" dirty="0">
                <a:solidFill>
                  <a:srgbClr val="003366"/>
                </a:solidFill>
                <a:latin typeface="Times New Roman"/>
                <a:cs typeface="Times New Roman"/>
              </a:rPr>
              <a:t>Planteamiento de </a:t>
            </a:r>
            <a:r>
              <a:rPr sz="2176" b="1" dirty="0">
                <a:solidFill>
                  <a:srgbClr val="003366"/>
                </a:solidFill>
                <a:latin typeface="Times New Roman"/>
                <a:cs typeface="Times New Roman"/>
              </a:rPr>
              <a:t>la</a:t>
            </a:r>
            <a:r>
              <a:rPr sz="2176" b="1" spc="5" dirty="0">
                <a:solidFill>
                  <a:srgbClr val="003366"/>
                </a:solidFill>
                <a:latin typeface="Times New Roman"/>
                <a:cs typeface="Times New Roman"/>
              </a:rPr>
              <a:t> </a:t>
            </a:r>
            <a:r>
              <a:rPr sz="2176" b="1" dirty="0">
                <a:solidFill>
                  <a:srgbClr val="003366"/>
                </a:solidFill>
                <a:latin typeface="Times New Roman"/>
                <a:cs typeface="Times New Roman"/>
              </a:rPr>
              <a:t>red</a:t>
            </a:r>
            <a:r>
              <a:rPr sz="2176" b="1" spc="-9" dirty="0">
                <a:solidFill>
                  <a:srgbClr val="003366"/>
                </a:solidFill>
                <a:latin typeface="Times New Roman"/>
                <a:cs typeface="Times New Roman"/>
              </a:rPr>
              <a:t> </a:t>
            </a:r>
            <a:r>
              <a:rPr sz="2176" b="1" spc="-5" dirty="0">
                <a:solidFill>
                  <a:srgbClr val="003366"/>
                </a:solidFill>
                <a:latin typeface="Times New Roman"/>
                <a:cs typeface="Times New Roman"/>
              </a:rPr>
              <a:t>neuronal</a:t>
            </a:r>
            <a:r>
              <a:rPr sz="2176" b="1" dirty="0">
                <a:solidFill>
                  <a:srgbClr val="003366"/>
                </a:solidFill>
                <a:latin typeface="Times New Roman"/>
                <a:cs typeface="Times New Roman"/>
              </a:rPr>
              <a:t> con </a:t>
            </a:r>
            <a:r>
              <a:rPr sz="2176" b="1" spc="-5" dirty="0">
                <a:solidFill>
                  <a:srgbClr val="003366"/>
                </a:solidFill>
                <a:latin typeface="Times New Roman"/>
                <a:cs typeface="Times New Roman"/>
              </a:rPr>
              <a:t>variable</a:t>
            </a:r>
            <a:r>
              <a:rPr sz="2176" b="1" spc="5" dirty="0">
                <a:solidFill>
                  <a:srgbClr val="003366"/>
                </a:solidFill>
                <a:latin typeface="Times New Roman"/>
                <a:cs typeface="Times New Roman"/>
              </a:rPr>
              <a:t> </a:t>
            </a:r>
            <a:r>
              <a:rPr sz="2176" b="1" spc="-5" dirty="0">
                <a:solidFill>
                  <a:srgbClr val="003366"/>
                </a:solidFill>
                <a:latin typeface="Times New Roman"/>
                <a:cs typeface="Times New Roman"/>
              </a:rPr>
              <a:t>dependiente</a:t>
            </a:r>
            <a:r>
              <a:rPr sz="2176" b="1" dirty="0">
                <a:solidFill>
                  <a:srgbClr val="003366"/>
                </a:solidFill>
                <a:latin typeface="Times New Roman"/>
                <a:cs typeface="Times New Roman"/>
              </a:rPr>
              <a:t> </a:t>
            </a:r>
            <a:r>
              <a:rPr sz="2176" b="1" spc="-5" dirty="0">
                <a:solidFill>
                  <a:srgbClr val="003366"/>
                </a:solidFill>
                <a:latin typeface="Times New Roman"/>
                <a:cs typeface="Times New Roman"/>
              </a:rPr>
              <a:t>binaria</a:t>
            </a:r>
            <a:endParaRPr sz="2176" dirty="0">
              <a:latin typeface="Times New Roman"/>
              <a:cs typeface="Times New Roman"/>
            </a:endParaRPr>
          </a:p>
          <a:p>
            <a:pPr>
              <a:spcBef>
                <a:spcPts val="45"/>
              </a:spcBef>
            </a:pPr>
            <a:endParaRPr sz="2176" dirty="0">
              <a:latin typeface="Times New Roman"/>
              <a:cs typeface="Times New Roman"/>
            </a:endParaRPr>
          </a:p>
          <a:p>
            <a:pPr marL="11516" marR="4607" algn="just">
              <a:lnSpc>
                <a:spcPts val="2503"/>
              </a:lnSpc>
              <a:buAutoNum type="arabicParenR"/>
              <a:tabLst>
                <a:tab pos="380615" algn="l"/>
              </a:tabLst>
            </a:pPr>
            <a:r>
              <a:rPr lang="es-ES" sz="2176" dirty="0">
                <a:cs typeface="Times New Roman"/>
              </a:rPr>
              <a:t> </a:t>
            </a:r>
            <a:r>
              <a:rPr sz="2176" dirty="0" err="1">
                <a:cs typeface="Times New Roman"/>
              </a:rPr>
              <a:t>Cuando</a:t>
            </a:r>
            <a:r>
              <a:rPr sz="2176" spc="5" dirty="0">
                <a:cs typeface="Times New Roman"/>
              </a:rPr>
              <a:t> </a:t>
            </a:r>
            <a:r>
              <a:rPr sz="2176" dirty="0">
                <a:cs typeface="Times New Roman"/>
              </a:rPr>
              <a:t>la</a:t>
            </a:r>
            <a:r>
              <a:rPr sz="2176" spc="5" dirty="0">
                <a:cs typeface="Times New Roman"/>
              </a:rPr>
              <a:t> </a:t>
            </a:r>
            <a:r>
              <a:rPr sz="2176" b="1" spc="-5" dirty="0">
                <a:cs typeface="Times New Roman"/>
              </a:rPr>
              <a:t>variable</a:t>
            </a:r>
            <a:r>
              <a:rPr sz="2176" b="1" dirty="0">
                <a:cs typeface="Times New Roman"/>
              </a:rPr>
              <a:t> dependiente</a:t>
            </a:r>
            <a:r>
              <a:rPr sz="2176" spc="5" dirty="0">
                <a:cs typeface="Times New Roman"/>
              </a:rPr>
              <a:t> </a:t>
            </a:r>
            <a:r>
              <a:rPr sz="2176" dirty="0">
                <a:cs typeface="Times New Roman"/>
              </a:rPr>
              <a:t>es</a:t>
            </a:r>
            <a:r>
              <a:rPr sz="2176" spc="5" dirty="0">
                <a:cs typeface="Times New Roman"/>
              </a:rPr>
              <a:t> </a:t>
            </a:r>
            <a:r>
              <a:rPr sz="2176" spc="-5" dirty="0">
                <a:cs typeface="Times New Roman"/>
              </a:rPr>
              <a:t>categórica</a:t>
            </a:r>
            <a:r>
              <a:rPr sz="2176" dirty="0">
                <a:cs typeface="Times New Roman"/>
              </a:rPr>
              <a:t> con</a:t>
            </a:r>
            <a:r>
              <a:rPr sz="2176" spc="5" dirty="0">
                <a:cs typeface="Times New Roman"/>
              </a:rPr>
              <a:t> </a:t>
            </a:r>
            <a:r>
              <a:rPr sz="2176" b="1" i="1" dirty="0">
                <a:cs typeface="Times New Roman"/>
              </a:rPr>
              <a:t>k</a:t>
            </a:r>
            <a:r>
              <a:rPr sz="2176" b="1" spc="5" dirty="0">
                <a:cs typeface="Times New Roman"/>
              </a:rPr>
              <a:t> </a:t>
            </a:r>
            <a:r>
              <a:rPr sz="2176" b="1" spc="-5" dirty="0">
                <a:cs typeface="Times New Roman"/>
              </a:rPr>
              <a:t>categorías</a:t>
            </a:r>
            <a:r>
              <a:rPr sz="2176" spc="-5" dirty="0">
                <a:cs typeface="Times New Roman"/>
              </a:rPr>
              <a:t>,</a:t>
            </a:r>
            <a:r>
              <a:rPr sz="2176" dirty="0">
                <a:cs typeface="Times New Roman"/>
              </a:rPr>
              <a:t> la</a:t>
            </a:r>
            <a:r>
              <a:rPr sz="2176" spc="5" dirty="0">
                <a:cs typeface="Times New Roman"/>
              </a:rPr>
              <a:t> </a:t>
            </a:r>
            <a:r>
              <a:rPr sz="2176" dirty="0">
                <a:cs typeface="Times New Roman"/>
              </a:rPr>
              <a:t>red</a:t>
            </a:r>
            <a:r>
              <a:rPr sz="2176" spc="5" dirty="0">
                <a:cs typeface="Times New Roman"/>
              </a:rPr>
              <a:t> </a:t>
            </a:r>
            <a:r>
              <a:rPr sz="2176" spc="-5" dirty="0">
                <a:cs typeface="Times New Roman"/>
              </a:rPr>
              <a:t>se </a:t>
            </a:r>
            <a:r>
              <a:rPr sz="2176" spc="-530" dirty="0">
                <a:cs typeface="Times New Roman"/>
              </a:rPr>
              <a:t> </a:t>
            </a:r>
            <a:r>
              <a:rPr sz="2176" dirty="0">
                <a:cs typeface="Times New Roman"/>
              </a:rPr>
              <a:t>plantea </a:t>
            </a:r>
            <a:r>
              <a:rPr sz="2176" spc="-5" dirty="0">
                <a:cs typeface="Times New Roman"/>
              </a:rPr>
              <a:t>simplemente </a:t>
            </a:r>
            <a:r>
              <a:rPr sz="2176" dirty="0">
                <a:cs typeface="Times New Roman"/>
              </a:rPr>
              <a:t>poniendo </a:t>
            </a:r>
            <a:r>
              <a:rPr sz="2176" b="1" i="1" spc="5" dirty="0">
                <a:cs typeface="Times New Roman"/>
              </a:rPr>
              <a:t>k-1</a:t>
            </a:r>
            <a:r>
              <a:rPr sz="2176" b="1" spc="5" dirty="0">
                <a:cs typeface="Times New Roman"/>
              </a:rPr>
              <a:t> </a:t>
            </a:r>
            <a:r>
              <a:rPr sz="2176" b="1" spc="-5" dirty="0">
                <a:cs typeface="Times New Roman"/>
              </a:rPr>
              <a:t>nodos </a:t>
            </a:r>
            <a:r>
              <a:rPr sz="2176" b="1" dirty="0">
                <a:cs typeface="Times New Roman"/>
              </a:rPr>
              <a:t>output</a:t>
            </a:r>
            <a:r>
              <a:rPr sz="2176" dirty="0">
                <a:cs typeface="Times New Roman"/>
              </a:rPr>
              <a:t> (cada uno </a:t>
            </a:r>
            <a:r>
              <a:rPr sz="2176" spc="-5" dirty="0">
                <a:cs typeface="Times New Roman"/>
              </a:rPr>
              <a:t>correspondiente </a:t>
            </a:r>
            <a:r>
              <a:rPr sz="2176" dirty="0">
                <a:cs typeface="Times New Roman"/>
              </a:rPr>
              <a:t>a </a:t>
            </a:r>
            <a:r>
              <a:rPr sz="2176" spc="-5" dirty="0">
                <a:cs typeface="Times New Roman"/>
              </a:rPr>
              <a:t>una </a:t>
            </a:r>
            <a:r>
              <a:rPr sz="2176" dirty="0">
                <a:cs typeface="Times New Roman"/>
              </a:rPr>
              <a:t> </a:t>
            </a:r>
            <a:r>
              <a:rPr sz="2176" spc="-5" dirty="0">
                <a:cs typeface="Times New Roman"/>
              </a:rPr>
              <a:t>categoría). </a:t>
            </a:r>
            <a:r>
              <a:rPr sz="2176" dirty="0">
                <a:cs typeface="Times New Roman"/>
              </a:rPr>
              <a:t>Esto lo </a:t>
            </a:r>
            <a:r>
              <a:rPr sz="2176" spc="-5" dirty="0">
                <a:cs typeface="Times New Roman"/>
              </a:rPr>
              <a:t>hace </a:t>
            </a:r>
            <a:r>
              <a:rPr sz="2176" dirty="0">
                <a:cs typeface="Times New Roman"/>
              </a:rPr>
              <a:t>el </a:t>
            </a:r>
            <a:r>
              <a:rPr sz="2176" spc="-5" dirty="0">
                <a:cs typeface="Times New Roman"/>
              </a:rPr>
              <a:t>paquete-programa automáticamente, </a:t>
            </a:r>
            <a:r>
              <a:rPr sz="2176" dirty="0">
                <a:cs typeface="Times New Roman"/>
              </a:rPr>
              <a:t>no es </a:t>
            </a:r>
            <a:r>
              <a:rPr sz="2176" spc="-5" dirty="0">
                <a:cs typeface="Times New Roman"/>
              </a:rPr>
              <a:t>necesario </a:t>
            </a:r>
            <a:r>
              <a:rPr sz="2176" dirty="0">
                <a:cs typeface="Times New Roman"/>
              </a:rPr>
              <a:t> crear </a:t>
            </a:r>
            <a:r>
              <a:rPr sz="2176" spc="-5" dirty="0">
                <a:cs typeface="Times New Roman"/>
              </a:rPr>
              <a:t>dummies </a:t>
            </a:r>
            <a:r>
              <a:rPr sz="2176" dirty="0">
                <a:cs typeface="Times New Roman"/>
              </a:rPr>
              <a:t>en la variable </a:t>
            </a:r>
            <a:r>
              <a:rPr sz="2176" spc="-5" dirty="0">
                <a:cs typeface="Times New Roman"/>
              </a:rPr>
              <a:t>output.</a:t>
            </a:r>
            <a:endParaRPr sz="2176" dirty="0">
              <a:cs typeface="Times New Roman"/>
            </a:endParaRPr>
          </a:p>
          <a:p>
            <a:pPr>
              <a:lnSpc>
                <a:spcPct val="100000"/>
              </a:lnSpc>
              <a:buClr>
                <a:srgbClr val="365F91"/>
              </a:buClr>
              <a:buFont typeface="Times New Roman"/>
              <a:buAutoNum type="arabicParenR"/>
            </a:pPr>
            <a:endParaRPr sz="2176" dirty="0">
              <a:cs typeface="Times New Roman"/>
            </a:endParaRPr>
          </a:p>
          <a:p>
            <a:pPr marL="11516" marR="9213" algn="just">
              <a:lnSpc>
                <a:spcPts val="2503"/>
              </a:lnSpc>
            </a:pPr>
            <a:r>
              <a:rPr sz="2176" spc="-5" dirty="0">
                <a:cs typeface="Times New Roman"/>
              </a:rPr>
              <a:t>Si</a:t>
            </a:r>
            <a:r>
              <a:rPr sz="2176" spc="73" dirty="0">
                <a:cs typeface="Times New Roman"/>
              </a:rPr>
              <a:t> </a:t>
            </a:r>
            <a:r>
              <a:rPr sz="2176" dirty="0">
                <a:cs typeface="Times New Roman"/>
              </a:rPr>
              <a:t>la</a:t>
            </a:r>
            <a:r>
              <a:rPr sz="2176" spc="77" dirty="0">
                <a:cs typeface="Times New Roman"/>
              </a:rPr>
              <a:t> </a:t>
            </a:r>
            <a:r>
              <a:rPr sz="2176" spc="-5" dirty="0">
                <a:cs typeface="Times New Roman"/>
              </a:rPr>
              <a:t>variable</a:t>
            </a:r>
            <a:r>
              <a:rPr sz="2176" spc="73" dirty="0">
                <a:cs typeface="Times New Roman"/>
              </a:rPr>
              <a:t> </a:t>
            </a:r>
            <a:r>
              <a:rPr sz="2176" dirty="0">
                <a:cs typeface="Times New Roman"/>
              </a:rPr>
              <a:t>output</a:t>
            </a:r>
            <a:r>
              <a:rPr sz="2176" spc="59" dirty="0">
                <a:cs typeface="Times New Roman"/>
              </a:rPr>
              <a:t> </a:t>
            </a:r>
            <a:r>
              <a:rPr sz="2176" spc="-5" dirty="0">
                <a:cs typeface="Times New Roman"/>
              </a:rPr>
              <a:t>es</a:t>
            </a:r>
            <a:r>
              <a:rPr sz="2176" spc="77" dirty="0">
                <a:cs typeface="Times New Roman"/>
              </a:rPr>
              <a:t> </a:t>
            </a:r>
            <a:r>
              <a:rPr sz="2176" dirty="0">
                <a:cs typeface="Times New Roman"/>
              </a:rPr>
              <a:t>binaria</a:t>
            </a:r>
            <a:r>
              <a:rPr sz="2176" spc="73" dirty="0">
                <a:cs typeface="Times New Roman"/>
              </a:rPr>
              <a:t> </a:t>
            </a:r>
            <a:r>
              <a:rPr sz="2176" dirty="0">
                <a:cs typeface="Times New Roman"/>
              </a:rPr>
              <a:t>(dos</a:t>
            </a:r>
            <a:r>
              <a:rPr sz="2176" spc="73" dirty="0">
                <a:cs typeface="Times New Roman"/>
              </a:rPr>
              <a:t> </a:t>
            </a:r>
            <a:r>
              <a:rPr sz="2176" spc="-5" dirty="0">
                <a:cs typeface="Times New Roman"/>
              </a:rPr>
              <a:t>categorías)</a:t>
            </a:r>
            <a:r>
              <a:rPr sz="2176" spc="68" dirty="0">
                <a:cs typeface="Times New Roman"/>
              </a:rPr>
              <a:t> </a:t>
            </a:r>
            <a:r>
              <a:rPr sz="2176" dirty="0">
                <a:cs typeface="Times New Roman"/>
              </a:rPr>
              <a:t>,</a:t>
            </a:r>
            <a:r>
              <a:rPr sz="2176" spc="73" dirty="0">
                <a:cs typeface="Times New Roman"/>
              </a:rPr>
              <a:t> </a:t>
            </a:r>
            <a:r>
              <a:rPr sz="2176" spc="-5" dirty="0">
                <a:cs typeface="Times New Roman"/>
              </a:rPr>
              <a:t>normalmente</a:t>
            </a:r>
            <a:r>
              <a:rPr sz="2176" spc="82" dirty="0">
                <a:cs typeface="Times New Roman"/>
              </a:rPr>
              <a:t> </a:t>
            </a:r>
            <a:r>
              <a:rPr sz="2176" spc="-5" dirty="0">
                <a:cs typeface="Times New Roman"/>
              </a:rPr>
              <a:t>daremos</a:t>
            </a:r>
            <a:r>
              <a:rPr sz="2176" spc="82" dirty="0">
                <a:cs typeface="Times New Roman"/>
              </a:rPr>
              <a:t> </a:t>
            </a:r>
            <a:r>
              <a:rPr sz="2176" dirty="0">
                <a:cs typeface="Times New Roman"/>
              </a:rPr>
              <a:t>valor</a:t>
            </a:r>
            <a:r>
              <a:rPr sz="2176" spc="63" dirty="0">
                <a:cs typeface="Times New Roman"/>
              </a:rPr>
              <a:t> </a:t>
            </a:r>
            <a:r>
              <a:rPr sz="2176" dirty="0">
                <a:cs typeface="Times New Roman"/>
              </a:rPr>
              <a:t>1 </a:t>
            </a:r>
            <a:r>
              <a:rPr sz="2176" spc="-530" dirty="0">
                <a:cs typeface="Times New Roman"/>
              </a:rPr>
              <a:t> </a:t>
            </a:r>
            <a:r>
              <a:rPr sz="2176" dirty="0">
                <a:cs typeface="Times New Roman"/>
              </a:rPr>
              <a:t>a la </a:t>
            </a:r>
            <a:r>
              <a:rPr sz="2176" spc="-5" dirty="0">
                <a:cs typeface="Times New Roman"/>
              </a:rPr>
              <a:t>categoría </a:t>
            </a:r>
            <a:r>
              <a:rPr sz="2176" dirty="0">
                <a:cs typeface="Times New Roman"/>
              </a:rPr>
              <a:t>de </a:t>
            </a:r>
            <a:r>
              <a:rPr sz="2176" spc="-5" dirty="0">
                <a:cs typeface="Times New Roman"/>
              </a:rPr>
              <a:t>interés </a:t>
            </a:r>
            <a:r>
              <a:rPr sz="2176" dirty="0">
                <a:cs typeface="Times New Roman"/>
              </a:rPr>
              <a:t>(suele </a:t>
            </a:r>
            <a:r>
              <a:rPr sz="2176" spc="-5" dirty="0">
                <a:cs typeface="Times New Roman"/>
              </a:rPr>
              <a:t>ser </a:t>
            </a:r>
            <a:r>
              <a:rPr sz="2176" dirty="0">
                <a:cs typeface="Times New Roman"/>
              </a:rPr>
              <a:t>la </a:t>
            </a:r>
            <a:r>
              <a:rPr sz="2176" b="1" spc="-5" dirty="0">
                <a:cs typeface="Times New Roman"/>
              </a:rPr>
              <a:t>menos </a:t>
            </a:r>
            <a:r>
              <a:rPr sz="2176" b="1" dirty="0">
                <a:cs typeface="Times New Roman"/>
              </a:rPr>
              <a:t>numerosa</a:t>
            </a:r>
            <a:r>
              <a:rPr sz="2176" dirty="0">
                <a:cs typeface="Times New Roman"/>
              </a:rPr>
              <a:t>) y </a:t>
            </a:r>
            <a:r>
              <a:rPr sz="2176" spc="-5" dirty="0">
                <a:cs typeface="Times New Roman"/>
              </a:rPr>
              <a:t>automáticamente </a:t>
            </a:r>
            <a:r>
              <a:rPr sz="2176" dirty="0">
                <a:cs typeface="Times New Roman"/>
              </a:rPr>
              <a:t>la red </a:t>
            </a:r>
            <a:r>
              <a:rPr sz="2176" spc="5" dirty="0">
                <a:cs typeface="Times New Roman"/>
              </a:rPr>
              <a:t> </a:t>
            </a:r>
            <a:r>
              <a:rPr sz="2176" dirty="0">
                <a:cs typeface="Times New Roman"/>
              </a:rPr>
              <a:t>modeliza</a:t>
            </a:r>
            <a:r>
              <a:rPr sz="2176" spc="-5" dirty="0">
                <a:cs typeface="Times New Roman"/>
              </a:rPr>
              <a:t> </a:t>
            </a:r>
            <a:r>
              <a:rPr sz="2176" dirty="0">
                <a:cs typeface="Times New Roman"/>
              </a:rPr>
              <a:t>la</a:t>
            </a:r>
            <a:r>
              <a:rPr sz="2176" spc="-14" dirty="0">
                <a:cs typeface="Times New Roman"/>
              </a:rPr>
              <a:t> </a:t>
            </a:r>
            <a:r>
              <a:rPr sz="2176" dirty="0">
                <a:cs typeface="Times New Roman"/>
              </a:rPr>
              <a:t>probabilidad de y=1.</a:t>
            </a:r>
          </a:p>
          <a:p>
            <a:pPr>
              <a:spcBef>
                <a:spcPts val="5"/>
              </a:spcBef>
            </a:pPr>
            <a:endParaRPr sz="2176" dirty="0">
              <a:cs typeface="Times New Roman"/>
            </a:endParaRPr>
          </a:p>
          <a:p>
            <a:pPr marL="11516" marR="5182" algn="just">
              <a:lnSpc>
                <a:spcPts val="2503"/>
              </a:lnSpc>
              <a:buAutoNum type="arabicParenR" startAt="2"/>
              <a:tabLst>
                <a:tab pos="314397" algn="l"/>
              </a:tabLst>
            </a:pPr>
            <a:r>
              <a:rPr lang="es-ES" sz="2176" dirty="0">
                <a:cs typeface="Times New Roman"/>
              </a:rPr>
              <a:t> </a:t>
            </a:r>
            <a:r>
              <a:rPr sz="2176" dirty="0">
                <a:cs typeface="Times New Roman"/>
              </a:rPr>
              <a:t>La red </a:t>
            </a:r>
            <a:r>
              <a:rPr sz="2176" spc="-5" dirty="0">
                <a:cs typeface="Times New Roman"/>
              </a:rPr>
              <a:t>se </a:t>
            </a:r>
            <a:r>
              <a:rPr sz="2176" dirty="0">
                <a:cs typeface="Times New Roman"/>
              </a:rPr>
              <a:t>plantea </a:t>
            </a:r>
            <a:r>
              <a:rPr sz="2176" spc="-5" dirty="0">
                <a:cs typeface="Times New Roman"/>
              </a:rPr>
              <a:t>técnicamente </a:t>
            </a:r>
            <a:r>
              <a:rPr sz="2176" dirty="0">
                <a:cs typeface="Times New Roman"/>
              </a:rPr>
              <a:t>añadiendo una función de activación de la capa </a:t>
            </a:r>
            <a:r>
              <a:rPr sz="2176" spc="-530" dirty="0">
                <a:cs typeface="Times New Roman"/>
              </a:rPr>
              <a:t> </a:t>
            </a:r>
            <a:r>
              <a:rPr sz="2176" dirty="0">
                <a:cs typeface="Times New Roman"/>
              </a:rPr>
              <a:t>oculta al </a:t>
            </a:r>
            <a:r>
              <a:rPr sz="2176" spc="-5" dirty="0" err="1">
                <a:cs typeface="Times New Roman"/>
              </a:rPr>
              <a:t>nodo</a:t>
            </a:r>
            <a:r>
              <a:rPr sz="2176" spc="-5" dirty="0">
                <a:cs typeface="Times New Roman"/>
              </a:rPr>
              <a:t> </a:t>
            </a:r>
            <a:r>
              <a:rPr sz="2176" dirty="0">
                <a:cs typeface="Times New Roman"/>
              </a:rPr>
              <a:t>output, para que el valor </a:t>
            </a:r>
            <a:r>
              <a:rPr sz="2176" spc="-5" dirty="0">
                <a:cs typeface="Times New Roman"/>
              </a:rPr>
              <a:t>resultante (probabilidad estimada </a:t>
            </a:r>
            <a:r>
              <a:rPr sz="2176" dirty="0">
                <a:cs typeface="Times New Roman"/>
              </a:rPr>
              <a:t>de </a:t>
            </a:r>
            <a:r>
              <a:rPr sz="2176" spc="-9" dirty="0">
                <a:cs typeface="Times New Roman"/>
              </a:rPr>
              <a:t>1) </a:t>
            </a:r>
            <a:r>
              <a:rPr sz="2176" spc="-5" dirty="0">
                <a:cs typeface="Times New Roman"/>
              </a:rPr>
              <a:t> tome </a:t>
            </a:r>
            <a:r>
              <a:rPr sz="2176" dirty="0">
                <a:cs typeface="Times New Roman"/>
              </a:rPr>
              <a:t>valores</a:t>
            </a:r>
            <a:r>
              <a:rPr sz="2176" spc="-5" dirty="0">
                <a:cs typeface="Times New Roman"/>
              </a:rPr>
              <a:t> </a:t>
            </a:r>
            <a:r>
              <a:rPr sz="2176" dirty="0">
                <a:cs typeface="Times New Roman"/>
              </a:rPr>
              <a:t>en el </a:t>
            </a:r>
            <a:r>
              <a:rPr sz="2176" spc="-5" dirty="0">
                <a:cs typeface="Times New Roman"/>
              </a:rPr>
              <a:t>intervalo</a:t>
            </a:r>
            <a:r>
              <a:rPr sz="2176" dirty="0">
                <a:cs typeface="Times New Roman"/>
              </a:rPr>
              <a:t> (0,1).</a:t>
            </a:r>
            <a:r>
              <a:rPr lang="es-ES" sz="2176" dirty="0">
                <a:cs typeface="Times New Roman"/>
              </a:rPr>
              <a:t> Necesitamos esta función de activación (</a:t>
            </a:r>
            <a:r>
              <a:rPr lang="es-ES" sz="2176" i="1" dirty="0" err="1">
                <a:cs typeface="Times New Roman"/>
              </a:rPr>
              <a:t>tanh</a:t>
            </a:r>
            <a:r>
              <a:rPr lang="es-ES" sz="2176" dirty="0">
                <a:cs typeface="Times New Roman"/>
              </a:rPr>
              <a:t> en general), para convertir el resultado de la red neuronal en un valor 0-1. Este paso no es necesario cuando la variable de salida es continua.</a:t>
            </a:r>
            <a:endParaRPr sz="2176" dirty="0">
              <a:cs typeface="Times New Roman"/>
            </a:endParaRPr>
          </a:p>
        </p:txBody>
      </p:sp>
    </p:spTree>
    <p:extLst>
      <p:ext uri="{BB962C8B-B14F-4D97-AF65-F5344CB8AC3E}">
        <p14:creationId xmlns:p14="http://schemas.microsoft.com/office/powerpoint/2010/main" val="3276612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2234" y="308846"/>
            <a:ext cx="4257374" cy="318824"/>
          </a:xfrm>
          <a:prstGeom prst="rect">
            <a:avLst/>
          </a:prstGeom>
        </p:spPr>
        <p:txBody>
          <a:bodyPr vert="horz" wrap="square" lIns="0" tIns="10941" rIns="0" bIns="0" rtlCol="0" anchor="ctr">
            <a:spAutoFit/>
          </a:bodyPr>
          <a:lstStyle/>
          <a:p>
            <a:pPr marL="11516">
              <a:lnSpc>
                <a:spcPct val="100000"/>
              </a:lnSpc>
              <a:spcBef>
                <a:spcPts val="86"/>
              </a:spcBef>
            </a:pPr>
            <a:r>
              <a:rPr lang="es-ES" sz="2000" b="1" spc="-5" dirty="0">
                <a:solidFill>
                  <a:schemeClr val="tx2"/>
                </a:solidFill>
                <a:latin typeface="+mn-lt"/>
              </a:rPr>
              <a:t>Red neuronal para regresión</a:t>
            </a:r>
            <a:endParaRPr sz="2000" b="1" dirty="0">
              <a:solidFill>
                <a:schemeClr val="tx2"/>
              </a:solidFill>
              <a:latin typeface="+mn-lt"/>
            </a:endParaRPr>
          </a:p>
        </p:txBody>
      </p:sp>
      <p:sp>
        <p:nvSpPr>
          <p:cNvPr id="3" name="object 3"/>
          <p:cNvSpPr txBox="1"/>
          <p:nvPr/>
        </p:nvSpPr>
        <p:spPr>
          <a:xfrm>
            <a:off x="1539201" y="677384"/>
            <a:ext cx="9405192" cy="1198384"/>
          </a:xfrm>
          <a:prstGeom prst="rect">
            <a:avLst/>
          </a:prstGeom>
        </p:spPr>
        <p:txBody>
          <a:bodyPr vert="horz" wrap="square" lIns="0" tIns="31094" rIns="0" bIns="0" rtlCol="0">
            <a:spAutoFit/>
          </a:bodyPr>
          <a:lstStyle/>
          <a:p>
            <a:pPr marL="11516" marR="111708" algn="just">
              <a:lnSpc>
                <a:spcPts val="2294"/>
              </a:lnSpc>
              <a:spcBef>
                <a:spcPts val="245"/>
              </a:spcBef>
            </a:pPr>
            <a:r>
              <a:rPr sz="1814" b="1" dirty="0">
                <a:latin typeface="Times New Roman"/>
                <a:cs typeface="Times New Roman"/>
              </a:rPr>
              <a:t>(</a:t>
            </a:r>
            <a:r>
              <a:rPr sz="1814" b="1" dirty="0">
                <a:cs typeface="Times New Roman"/>
              </a:rPr>
              <a:t>1)</a:t>
            </a:r>
            <a:r>
              <a:rPr sz="1814" b="1" spc="9" dirty="0">
                <a:cs typeface="Times New Roman"/>
              </a:rPr>
              <a:t> </a:t>
            </a:r>
            <a:r>
              <a:rPr sz="1814" spc="-5" dirty="0">
                <a:cs typeface="Times New Roman"/>
              </a:rPr>
              <a:t>Proceso</a:t>
            </a:r>
            <a:r>
              <a:rPr sz="1814" spc="14" dirty="0">
                <a:cs typeface="Times New Roman"/>
              </a:rPr>
              <a:t> </a:t>
            </a:r>
            <a:r>
              <a:rPr sz="1814" spc="-5" dirty="0">
                <a:cs typeface="Times New Roman"/>
              </a:rPr>
              <a:t>de</a:t>
            </a:r>
            <a:r>
              <a:rPr sz="1814" spc="5" dirty="0">
                <a:cs typeface="Times New Roman"/>
              </a:rPr>
              <a:t> </a:t>
            </a:r>
            <a:r>
              <a:rPr sz="1814" spc="-5" dirty="0">
                <a:cs typeface="Times New Roman"/>
              </a:rPr>
              <a:t>optimización-estimación</a:t>
            </a:r>
            <a:r>
              <a:rPr sz="1814" spc="18" dirty="0">
                <a:cs typeface="Times New Roman"/>
              </a:rPr>
              <a:t> </a:t>
            </a:r>
            <a:r>
              <a:rPr sz="1814" dirty="0">
                <a:cs typeface="Times New Roman"/>
              </a:rPr>
              <a:t>de</a:t>
            </a:r>
            <a:r>
              <a:rPr sz="1814" spc="5" dirty="0">
                <a:cs typeface="Times New Roman"/>
              </a:rPr>
              <a:t> </a:t>
            </a:r>
            <a:r>
              <a:rPr sz="1814" spc="-5" dirty="0">
                <a:cs typeface="Times New Roman"/>
              </a:rPr>
              <a:t>los</a:t>
            </a:r>
            <a:r>
              <a:rPr sz="1814" spc="5" dirty="0">
                <a:cs typeface="Times New Roman"/>
              </a:rPr>
              <a:t> </a:t>
            </a:r>
            <a:r>
              <a:rPr sz="1814" spc="-5" dirty="0">
                <a:cs typeface="Times New Roman"/>
              </a:rPr>
              <a:t>pesos.</a:t>
            </a:r>
            <a:r>
              <a:rPr sz="1814" spc="9" dirty="0">
                <a:cs typeface="Times New Roman"/>
              </a:rPr>
              <a:t> </a:t>
            </a:r>
            <a:r>
              <a:rPr sz="1814" spc="-5" dirty="0">
                <a:cs typeface="Times New Roman"/>
              </a:rPr>
              <a:t>Se</a:t>
            </a:r>
            <a:r>
              <a:rPr sz="1814" spc="5" dirty="0">
                <a:cs typeface="Times New Roman"/>
              </a:rPr>
              <a:t> </a:t>
            </a:r>
            <a:r>
              <a:rPr sz="1814" spc="-5" dirty="0" err="1">
                <a:cs typeface="Times New Roman"/>
              </a:rPr>
              <a:t>observa</a:t>
            </a:r>
            <a:r>
              <a:rPr sz="1814" spc="5" dirty="0">
                <a:cs typeface="Times New Roman"/>
              </a:rPr>
              <a:t> </a:t>
            </a:r>
            <a:r>
              <a:rPr sz="1814" spc="-9" dirty="0">
                <a:cs typeface="Times New Roman"/>
              </a:rPr>
              <a:t>c</a:t>
            </a:r>
            <a:r>
              <a:rPr lang="es-ES" sz="1814" spc="-9" dirty="0" err="1">
                <a:cs typeface="Times New Roman"/>
              </a:rPr>
              <a:t>ó</a:t>
            </a:r>
            <a:r>
              <a:rPr sz="1814" spc="-9" dirty="0" err="1">
                <a:cs typeface="Times New Roman"/>
              </a:rPr>
              <a:t>mo</a:t>
            </a:r>
            <a:r>
              <a:rPr sz="1814" spc="18" dirty="0">
                <a:cs typeface="Times New Roman"/>
              </a:rPr>
              <a:t> </a:t>
            </a:r>
            <a:r>
              <a:rPr sz="1814" spc="-5" dirty="0">
                <a:cs typeface="Times New Roman"/>
              </a:rPr>
              <a:t>va</a:t>
            </a:r>
            <a:r>
              <a:rPr sz="1814" spc="5" dirty="0">
                <a:cs typeface="Times New Roman"/>
              </a:rPr>
              <a:t> </a:t>
            </a:r>
            <a:r>
              <a:rPr sz="1814" spc="-5" dirty="0">
                <a:cs typeface="Times New Roman"/>
              </a:rPr>
              <a:t>descendiendo </a:t>
            </a:r>
            <a:r>
              <a:rPr sz="1814" spc="-485" dirty="0">
                <a:cs typeface="Times New Roman"/>
              </a:rPr>
              <a:t> </a:t>
            </a:r>
            <a:r>
              <a:rPr sz="1814" spc="-5" dirty="0">
                <a:cs typeface="Times New Roman"/>
              </a:rPr>
              <a:t>el valor</a:t>
            </a:r>
            <a:r>
              <a:rPr sz="1814" spc="9" dirty="0">
                <a:cs typeface="Times New Roman"/>
              </a:rPr>
              <a:t> </a:t>
            </a:r>
            <a:r>
              <a:rPr sz="1814" spc="-5" dirty="0">
                <a:cs typeface="Times New Roman"/>
              </a:rPr>
              <a:t>de</a:t>
            </a:r>
            <a:r>
              <a:rPr sz="1814" dirty="0">
                <a:cs typeface="Times New Roman"/>
              </a:rPr>
              <a:t> </a:t>
            </a:r>
            <a:r>
              <a:rPr sz="1814" spc="-5" dirty="0">
                <a:cs typeface="Times New Roman"/>
              </a:rPr>
              <a:t>la</a:t>
            </a:r>
            <a:r>
              <a:rPr sz="1814" dirty="0">
                <a:cs typeface="Times New Roman"/>
              </a:rPr>
              <a:t> </a:t>
            </a:r>
            <a:r>
              <a:rPr sz="1814" spc="-5" dirty="0">
                <a:cs typeface="Times New Roman"/>
              </a:rPr>
              <a:t>función</a:t>
            </a:r>
            <a:r>
              <a:rPr sz="1814" spc="9" dirty="0">
                <a:cs typeface="Times New Roman"/>
              </a:rPr>
              <a:t> </a:t>
            </a:r>
            <a:r>
              <a:rPr sz="1814" spc="-5" dirty="0">
                <a:cs typeface="Times New Roman"/>
              </a:rPr>
              <a:t>objetivo</a:t>
            </a:r>
            <a:r>
              <a:rPr sz="1814" spc="9" dirty="0">
                <a:cs typeface="Times New Roman"/>
              </a:rPr>
              <a:t> </a:t>
            </a:r>
            <a:r>
              <a:rPr sz="1814" spc="-5" dirty="0">
                <a:cs typeface="Times New Roman"/>
              </a:rPr>
              <a:t>a</a:t>
            </a:r>
            <a:r>
              <a:rPr sz="1814" dirty="0">
                <a:cs typeface="Times New Roman"/>
              </a:rPr>
              <a:t> </a:t>
            </a:r>
            <a:r>
              <a:rPr sz="1814" spc="-5" dirty="0">
                <a:cs typeface="Times New Roman"/>
              </a:rPr>
              <a:t>medida</a:t>
            </a:r>
            <a:r>
              <a:rPr sz="1814" spc="9" dirty="0">
                <a:cs typeface="Times New Roman"/>
              </a:rPr>
              <a:t> </a:t>
            </a:r>
            <a:r>
              <a:rPr sz="1814" spc="-5" dirty="0">
                <a:cs typeface="Times New Roman"/>
              </a:rPr>
              <a:t>que</a:t>
            </a:r>
            <a:r>
              <a:rPr sz="1814" dirty="0">
                <a:cs typeface="Times New Roman"/>
              </a:rPr>
              <a:t> </a:t>
            </a:r>
            <a:r>
              <a:rPr sz="1814" spc="-5" dirty="0">
                <a:cs typeface="Times New Roman"/>
              </a:rPr>
              <a:t>los</a:t>
            </a:r>
            <a:r>
              <a:rPr sz="1814" dirty="0">
                <a:cs typeface="Times New Roman"/>
              </a:rPr>
              <a:t> </a:t>
            </a:r>
            <a:r>
              <a:rPr sz="1814" spc="-5" dirty="0">
                <a:cs typeface="Times New Roman"/>
              </a:rPr>
              <a:t>pesos</a:t>
            </a:r>
            <a:r>
              <a:rPr sz="1814" dirty="0">
                <a:cs typeface="Times New Roman"/>
              </a:rPr>
              <a:t> </a:t>
            </a:r>
            <a:r>
              <a:rPr sz="1814" spc="-5" dirty="0">
                <a:cs typeface="Times New Roman"/>
              </a:rPr>
              <a:t>se</a:t>
            </a:r>
            <a:r>
              <a:rPr sz="1814" dirty="0">
                <a:cs typeface="Times New Roman"/>
              </a:rPr>
              <a:t> </a:t>
            </a:r>
            <a:r>
              <a:rPr sz="1814" spc="-5" dirty="0">
                <a:cs typeface="Times New Roman"/>
              </a:rPr>
              <a:t>estiman</a:t>
            </a:r>
            <a:r>
              <a:rPr sz="1814" spc="14" dirty="0">
                <a:cs typeface="Times New Roman"/>
              </a:rPr>
              <a:t> </a:t>
            </a:r>
            <a:r>
              <a:rPr sz="1814" spc="-5" dirty="0">
                <a:cs typeface="Times New Roman"/>
              </a:rPr>
              <a:t>mejor</a:t>
            </a:r>
            <a:r>
              <a:rPr sz="1814" dirty="0">
                <a:cs typeface="Times New Roman"/>
              </a:rPr>
              <a:t> </a:t>
            </a:r>
            <a:r>
              <a:rPr sz="1814" spc="-5" dirty="0">
                <a:cs typeface="Times New Roman"/>
              </a:rPr>
              <a:t>según</a:t>
            </a:r>
            <a:r>
              <a:rPr sz="1814" spc="9" dirty="0">
                <a:cs typeface="Times New Roman"/>
              </a:rPr>
              <a:t> </a:t>
            </a:r>
            <a:r>
              <a:rPr sz="1814" spc="-5" dirty="0">
                <a:cs typeface="Times New Roman"/>
              </a:rPr>
              <a:t>avanzan </a:t>
            </a:r>
            <a:r>
              <a:rPr sz="1814" dirty="0">
                <a:cs typeface="Times New Roman"/>
              </a:rPr>
              <a:t> </a:t>
            </a:r>
            <a:r>
              <a:rPr sz="1814" spc="-5" dirty="0">
                <a:cs typeface="Times New Roman"/>
              </a:rPr>
              <a:t>las</a:t>
            </a:r>
            <a:r>
              <a:rPr sz="1814" spc="-9" dirty="0">
                <a:cs typeface="Times New Roman"/>
              </a:rPr>
              <a:t> </a:t>
            </a:r>
            <a:r>
              <a:rPr sz="1814" spc="-5" dirty="0">
                <a:cs typeface="Times New Roman"/>
              </a:rPr>
              <a:t>iteraciones.</a:t>
            </a:r>
            <a:endParaRPr sz="1814" dirty="0">
              <a:cs typeface="Times New Roman"/>
            </a:endParaRPr>
          </a:p>
          <a:p>
            <a:pPr marL="11516" algn="just">
              <a:lnSpc>
                <a:spcPts val="2181"/>
              </a:lnSpc>
            </a:pPr>
            <a:r>
              <a:rPr sz="1814" b="1" spc="-9" dirty="0">
                <a:cs typeface="Times New Roman"/>
              </a:rPr>
              <a:t>Cuando</a:t>
            </a:r>
            <a:r>
              <a:rPr sz="1814" b="1" spc="18" dirty="0">
                <a:cs typeface="Times New Roman"/>
              </a:rPr>
              <a:t> </a:t>
            </a:r>
            <a:r>
              <a:rPr sz="1814" b="1" spc="-5" dirty="0">
                <a:cs typeface="Times New Roman"/>
              </a:rPr>
              <a:t>el</a:t>
            </a:r>
            <a:r>
              <a:rPr sz="1814" b="1" spc="9" dirty="0">
                <a:cs typeface="Times New Roman"/>
              </a:rPr>
              <a:t> </a:t>
            </a:r>
            <a:r>
              <a:rPr sz="1814" b="1" spc="-5" dirty="0">
                <a:cs typeface="Times New Roman"/>
              </a:rPr>
              <a:t>output</a:t>
            </a:r>
            <a:r>
              <a:rPr sz="1814" b="1" spc="5" dirty="0">
                <a:cs typeface="Times New Roman"/>
              </a:rPr>
              <a:t> </a:t>
            </a:r>
            <a:r>
              <a:rPr sz="1814" b="1" spc="-5" dirty="0">
                <a:cs typeface="Times New Roman"/>
              </a:rPr>
              <a:t>es</a:t>
            </a:r>
            <a:r>
              <a:rPr sz="1814" b="1" spc="5" dirty="0">
                <a:cs typeface="Times New Roman"/>
              </a:rPr>
              <a:t> </a:t>
            </a:r>
            <a:r>
              <a:rPr sz="1814" b="1" spc="-9" dirty="0">
                <a:cs typeface="Times New Roman"/>
              </a:rPr>
              <a:t>una</a:t>
            </a:r>
            <a:r>
              <a:rPr sz="1814" b="1" spc="14" dirty="0">
                <a:cs typeface="Times New Roman"/>
              </a:rPr>
              <a:t> </a:t>
            </a:r>
            <a:r>
              <a:rPr sz="1814" b="1" spc="-5" dirty="0">
                <a:cs typeface="Times New Roman"/>
              </a:rPr>
              <a:t>variable</a:t>
            </a:r>
            <a:r>
              <a:rPr sz="1814" b="1" dirty="0">
                <a:cs typeface="Times New Roman"/>
              </a:rPr>
              <a:t> continua</a:t>
            </a:r>
            <a:r>
              <a:rPr sz="1814" dirty="0">
                <a:cs typeface="Times New Roman"/>
              </a:rPr>
              <a:t>,</a:t>
            </a:r>
            <a:r>
              <a:rPr sz="1814" spc="5" dirty="0">
                <a:cs typeface="Times New Roman"/>
              </a:rPr>
              <a:t> </a:t>
            </a:r>
            <a:r>
              <a:rPr sz="1814" spc="-5" dirty="0">
                <a:cs typeface="Times New Roman"/>
              </a:rPr>
              <a:t>la</a:t>
            </a:r>
            <a:r>
              <a:rPr sz="1814" dirty="0">
                <a:cs typeface="Times New Roman"/>
              </a:rPr>
              <a:t> </a:t>
            </a:r>
            <a:r>
              <a:rPr sz="1814" spc="-5" dirty="0">
                <a:cs typeface="Times New Roman"/>
              </a:rPr>
              <a:t>función</a:t>
            </a:r>
            <a:r>
              <a:rPr sz="1814" spc="14" dirty="0">
                <a:cs typeface="Times New Roman"/>
              </a:rPr>
              <a:t> </a:t>
            </a:r>
            <a:r>
              <a:rPr sz="1814" spc="-5" dirty="0">
                <a:cs typeface="Times New Roman"/>
              </a:rPr>
              <a:t>de</a:t>
            </a:r>
            <a:r>
              <a:rPr sz="1814" spc="5" dirty="0">
                <a:cs typeface="Times New Roman"/>
              </a:rPr>
              <a:t> </a:t>
            </a:r>
            <a:r>
              <a:rPr sz="1814" spc="-5" dirty="0">
                <a:cs typeface="Times New Roman"/>
              </a:rPr>
              <a:t>error</a:t>
            </a:r>
            <a:r>
              <a:rPr sz="1814" spc="18" dirty="0">
                <a:cs typeface="Times New Roman"/>
              </a:rPr>
              <a:t> </a:t>
            </a:r>
            <a:r>
              <a:rPr sz="1814" spc="-5" dirty="0">
                <a:cs typeface="Times New Roman"/>
              </a:rPr>
              <a:t>habitual</a:t>
            </a:r>
            <a:r>
              <a:rPr sz="1814" spc="14" dirty="0">
                <a:cs typeface="Times New Roman"/>
              </a:rPr>
              <a:t> </a:t>
            </a:r>
            <a:r>
              <a:rPr sz="1814" spc="-5" dirty="0">
                <a:cs typeface="Times New Roman"/>
              </a:rPr>
              <a:t>a</a:t>
            </a:r>
            <a:r>
              <a:rPr sz="1814" spc="9" dirty="0">
                <a:cs typeface="Times New Roman"/>
              </a:rPr>
              <a:t> </a:t>
            </a:r>
            <a:r>
              <a:rPr sz="1814" spc="-9" dirty="0">
                <a:cs typeface="Times New Roman"/>
              </a:rPr>
              <a:t>minimizar</a:t>
            </a:r>
            <a:r>
              <a:rPr sz="1814" spc="18" dirty="0">
                <a:cs typeface="Times New Roman"/>
              </a:rPr>
              <a:t> </a:t>
            </a:r>
            <a:r>
              <a:rPr sz="1814" spc="-5" dirty="0">
                <a:cs typeface="Times New Roman"/>
              </a:rPr>
              <a:t>es</a:t>
            </a:r>
            <a:endParaRPr sz="1814" dirty="0">
              <a:cs typeface="Times New Roman"/>
            </a:endParaRPr>
          </a:p>
          <a:p>
            <a:pPr marL="11516" algn="just">
              <a:lnSpc>
                <a:spcPts val="2349"/>
              </a:lnSpc>
            </a:pPr>
            <a:r>
              <a:rPr sz="1814" spc="-5" dirty="0">
                <a:cs typeface="Times New Roman"/>
              </a:rPr>
              <a:t>el</a:t>
            </a:r>
            <a:r>
              <a:rPr sz="1814" spc="-9" dirty="0">
                <a:cs typeface="Times New Roman"/>
              </a:rPr>
              <a:t> Mean</a:t>
            </a:r>
            <a:r>
              <a:rPr sz="1814" dirty="0">
                <a:cs typeface="Times New Roman"/>
              </a:rPr>
              <a:t> </a:t>
            </a:r>
            <a:r>
              <a:rPr sz="1814" spc="-5" dirty="0">
                <a:cs typeface="Times New Roman"/>
              </a:rPr>
              <a:t>Squared</a:t>
            </a:r>
            <a:r>
              <a:rPr sz="1814" spc="-9" dirty="0">
                <a:cs typeface="Times New Roman"/>
              </a:rPr>
              <a:t> </a:t>
            </a:r>
            <a:r>
              <a:rPr sz="1814" spc="-5" dirty="0">
                <a:cs typeface="Times New Roman"/>
              </a:rPr>
              <a:t>Error</a:t>
            </a:r>
            <a:endParaRPr sz="1814" dirty="0">
              <a:cs typeface="Times New Roman"/>
            </a:endParaRPr>
          </a:p>
        </p:txBody>
      </p:sp>
      <mc:AlternateContent xmlns:mc="http://schemas.openxmlformats.org/markup-compatibility/2006" xmlns:a14="http://schemas.microsoft.com/office/drawing/2010/main">
        <mc:Choice Requires="a14">
          <p:sp>
            <p:nvSpPr>
              <p:cNvPr id="10" name="object 10"/>
              <p:cNvSpPr txBox="1"/>
              <p:nvPr/>
            </p:nvSpPr>
            <p:spPr>
              <a:xfrm>
                <a:off x="1669409" y="5679825"/>
                <a:ext cx="8254936" cy="828414"/>
              </a:xfrm>
              <a:prstGeom prst="rect">
                <a:avLst/>
              </a:prstGeom>
            </p:spPr>
            <p:txBody>
              <a:bodyPr vert="horz" wrap="square" lIns="0" tIns="133014" rIns="0" bIns="0" rtlCol="0">
                <a:spAutoFit/>
              </a:bodyPr>
              <a:lstStyle/>
              <a:p>
                <a:pPr marL="34549">
                  <a:spcBef>
                    <a:spcPts val="1047"/>
                  </a:spcBef>
                </a:pPr>
                <a:r>
                  <a:rPr lang="es-ES" sz="1814" spc="-5" dirty="0">
                    <a:latin typeface="Times New Roman"/>
                    <a:cs typeface="Times New Roman"/>
                  </a:rPr>
                  <a:t>La</a:t>
                </a:r>
                <a:r>
                  <a:rPr lang="es-ES" sz="1814" dirty="0">
                    <a:latin typeface="Times New Roman"/>
                    <a:cs typeface="Times New Roman"/>
                  </a:rPr>
                  <a:t> </a:t>
                </a:r>
                <a:r>
                  <a:rPr lang="es-ES" sz="1814" i="1" spc="-5" dirty="0" err="1">
                    <a:latin typeface="Times New Roman"/>
                    <a:cs typeface="Times New Roman"/>
                  </a:rPr>
                  <a:t>i</a:t>
                </a:r>
                <a:r>
                  <a:rPr lang="es-ES" sz="1814" spc="5" dirty="0">
                    <a:latin typeface="Times New Roman"/>
                    <a:cs typeface="Times New Roman"/>
                  </a:rPr>
                  <a:t> </a:t>
                </a:r>
                <a:r>
                  <a:rPr lang="es-ES" sz="1814" spc="-5" dirty="0">
                    <a:latin typeface="Times New Roman"/>
                    <a:cs typeface="Times New Roman"/>
                  </a:rPr>
                  <a:t>se</a:t>
                </a:r>
                <a:r>
                  <a:rPr lang="es-ES" sz="1814" spc="5" dirty="0">
                    <a:latin typeface="Times New Roman"/>
                    <a:cs typeface="Times New Roman"/>
                  </a:rPr>
                  <a:t> </a:t>
                </a:r>
                <a:r>
                  <a:rPr lang="es-ES" sz="1814" spc="-5" dirty="0">
                    <a:latin typeface="Times New Roman"/>
                    <a:cs typeface="Times New Roman"/>
                  </a:rPr>
                  <a:t>refiere</a:t>
                </a:r>
                <a:r>
                  <a:rPr lang="es-ES" sz="1814" dirty="0">
                    <a:latin typeface="Times New Roman"/>
                    <a:cs typeface="Times New Roman"/>
                  </a:rPr>
                  <a:t> </a:t>
                </a:r>
                <a:r>
                  <a:rPr lang="es-ES" sz="1814" spc="-5" dirty="0">
                    <a:latin typeface="Times New Roman"/>
                    <a:cs typeface="Times New Roman"/>
                  </a:rPr>
                  <a:t>a</a:t>
                </a:r>
                <a:r>
                  <a:rPr lang="es-ES" sz="1814" spc="9" dirty="0">
                    <a:latin typeface="Times New Roman"/>
                    <a:cs typeface="Times New Roman"/>
                  </a:rPr>
                  <a:t> </a:t>
                </a:r>
                <a:r>
                  <a:rPr lang="es-ES" sz="1814" spc="-5" dirty="0">
                    <a:latin typeface="Times New Roman"/>
                    <a:cs typeface="Times New Roman"/>
                  </a:rPr>
                  <a:t>cada</a:t>
                </a:r>
                <a:r>
                  <a:rPr lang="es-ES" sz="1814" spc="14" dirty="0">
                    <a:latin typeface="Times New Roman"/>
                    <a:cs typeface="Times New Roman"/>
                  </a:rPr>
                  <a:t> </a:t>
                </a:r>
                <a:r>
                  <a:rPr lang="es-ES" sz="1814" spc="-5" dirty="0">
                    <a:latin typeface="Times New Roman"/>
                    <a:cs typeface="Times New Roman"/>
                  </a:rPr>
                  <a:t>observación,</a:t>
                </a:r>
                <a:r>
                  <a:rPr lang="es-ES" sz="1814" dirty="0">
                    <a:latin typeface="Times New Roman"/>
                    <a:cs typeface="Times New Roman"/>
                  </a:rPr>
                  <a:t> </a:t>
                </a:r>
                <a:r>
                  <a:rPr lang="es-ES" sz="1814" spc="-9" dirty="0">
                    <a:latin typeface="Times New Roman"/>
                    <a:cs typeface="Times New Roman"/>
                  </a:rPr>
                  <a:t>con</a:t>
                </a:r>
                <a:r>
                  <a:rPr lang="es-ES" sz="1814" spc="9" dirty="0">
                    <a:latin typeface="Times New Roman"/>
                    <a:cs typeface="Times New Roman"/>
                  </a:rPr>
                  <a:t> </a:t>
                </a:r>
                <a:r>
                  <a:rPr lang="es-ES" sz="1814" spc="-5" dirty="0">
                    <a:latin typeface="Times New Roman"/>
                    <a:cs typeface="Times New Roman"/>
                  </a:rPr>
                  <a:t>sus</a:t>
                </a:r>
                <a:r>
                  <a:rPr lang="es-ES" sz="1814" dirty="0">
                    <a:latin typeface="Times New Roman"/>
                    <a:cs typeface="Times New Roman"/>
                  </a:rPr>
                  <a:t> </a:t>
                </a:r>
                <a:r>
                  <a:rPr lang="es-ES" sz="1814" spc="-5" dirty="0">
                    <a:latin typeface="Times New Roman"/>
                    <a:cs typeface="Times New Roman"/>
                  </a:rPr>
                  <a:t>valores</a:t>
                </a:r>
                <a:r>
                  <a:rPr lang="es-ES" sz="1814" dirty="0">
                    <a:latin typeface="Times New Roman"/>
                    <a:cs typeface="Times New Roman"/>
                  </a:rPr>
                  <a:t> </a:t>
                </a:r>
                <a:r>
                  <a:rPr lang="es-ES" sz="1814" spc="-5" dirty="0">
                    <a:latin typeface="Times New Roman"/>
                    <a:cs typeface="Times New Roman"/>
                  </a:rPr>
                  <a:t>de</a:t>
                </a:r>
                <a:r>
                  <a:rPr lang="es-ES" sz="1814" dirty="0">
                    <a:latin typeface="Times New Roman"/>
                    <a:cs typeface="Times New Roman"/>
                  </a:rPr>
                  <a:t> </a:t>
                </a:r>
                <a:r>
                  <a:rPr lang="es-ES" sz="1814" spc="-5" dirty="0">
                    <a:latin typeface="Times New Roman"/>
                    <a:cs typeface="Times New Roman"/>
                  </a:rPr>
                  <a:t>age</a:t>
                </a:r>
                <a:r>
                  <a:rPr lang="es-ES" sz="1814" spc="5" dirty="0">
                    <a:latin typeface="Times New Roman"/>
                    <a:cs typeface="Times New Roman"/>
                  </a:rPr>
                  <a:t> </a:t>
                </a:r>
                <a:r>
                  <a:rPr lang="es-ES" sz="1814" spc="-5" dirty="0">
                    <a:latin typeface="Times New Roman"/>
                    <a:cs typeface="Times New Roman"/>
                  </a:rPr>
                  <a:t>y</a:t>
                </a:r>
                <a:r>
                  <a:rPr lang="es-ES" sz="1814" spc="14" dirty="0">
                    <a:latin typeface="Times New Roman"/>
                    <a:cs typeface="Times New Roman"/>
                  </a:rPr>
                  <a:t> </a:t>
                </a:r>
                <a:r>
                  <a:rPr lang="es-ES" sz="1814" spc="-9" dirty="0">
                    <a:latin typeface="Times New Roman"/>
                    <a:cs typeface="Times New Roman"/>
                  </a:rPr>
                  <a:t>water.</a:t>
                </a:r>
                <a:endParaRPr lang="es-ES" sz="1814" dirty="0">
                  <a:latin typeface="Times New Roman"/>
                  <a:cs typeface="Times New Roman"/>
                </a:endParaRPr>
              </a:p>
              <a:p>
                <a:pPr marL="34549">
                  <a:spcBef>
                    <a:spcPts val="957"/>
                  </a:spcBef>
                </a:pPr>
                <a:r>
                  <a:rPr lang="es-ES" sz="1814" spc="-5" dirty="0">
                    <a:latin typeface="Times New Roman"/>
                    <a:cs typeface="Times New Roman"/>
                  </a:rPr>
                  <a:t>En</a:t>
                </a:r>
                <a:r>
                  <a:rPr lang="es-ES" sz="1814" spc="9" dirty="0">
                    <a:latin typeface="Times New Roman"/>
                    <a:cs typeface="Times New Roman"/>
                  </a:rPr>
                  <a:t> </a:t>
                </a:r>
                <a:r>
                  <a:rPr lang="es-ES" sz="1814" spc="-5" dirty="0">
                    <a:latin typeface="Times New Roman"/>
                    <a:cs typeface="Times New Roman"/>
                  </a:rPr>
                  <a:t>el</a:t>
                </a:r>
                <a:r>
                  <a:rPr lang="es-ES" sz="1814" dirty="0">
                    <a:latin typeface="Times New Roman"/>
                    <a:cs typeface="Times New Roman"/>
                  </a:rPr>
                  <a:t> </a:t>
                </a:r>
                <a:r>
                  <a:rPr lang="es-ES" sz="1814" spc="-5" dirty="0">
                    <a:latin typeface="Times New Roman"/>
                    <a:cs typeface="Times New Roman"/>
                  </a:rPr>
                  <a:t>ejemplo,</a:t>
                </a:r>
                <a:r>
                  <a:rPr lang="es-ES" sz="1814" spc="9" dirty="0">
                    <a:latin typeface="Times New Roman"/>
                    <a:cs typeface="Times New Roman"/>
                  </a:rPr>
                  <a:t> </a:t>
                </a:r>
                <a:r>
                  <a:rPr lang="es-ES" sz="1814" spc="-5" dirty="0">
                    <a:latin typeface="Times New Roman"/>
                    <a:cs typeface="Times New Roman"/>
                  </a:rPr>
                  <a:t>cstrength</a:t>
                </a:r>
                <a:r>
                  <a:rPr lang="es-ES" sz="1814" spc="9" dirty="0">
                    <a:latin typeface="Times New Roman"/>
                    <a:cs typeface="Times New Roman"/>
                  </a:rPr>
                  <a:t> </a:t>
                </a:r>
                <a:r>
                  <a:rPr lang="es-ES" sz="1814" spc="-5" dirty="0" err="1">
                    <a:latin typeface="Times New Roman"/>
                    <a:cs typeface="Times New Roman"/>
                  </a:rPr>
                  <a:t>es</a:t>
                </a:r>
                <a:r>
                  <a:rPr lang="es-ES" sz="1814" dirty="0">
                    <a:latin typeface="Times New Roman"/>
                    <a:cs typeface="Times New Roman"/>
                  </a:rPr>
                  <a:t> </a:t>
                </a:r>
                <a:r>
                  <a:rPr lang="es-ES" sz="1814" i="1" spc="5" dirty="0">
                    <a:latin typeface="Times New Roman"/>
                    <a:cs typeface="Times New Roman"/>
                  </a:rPr>
                  <a:t>Y</a:t>
                </a:r>
                <a:r>
                  <a:rPr lang="es-ES" sz="1814" spc="5" dirty="0">
                    <a:latin typeface="Times New Roman"/>
                    <a:cs typeface="Times New Roman"/>
                  </a:rPr>
                  <a:t>,</a:t>
                </a:r>
                <a:r>
                  <a:rPr lang="es-ES" sz="1814" spc="-5" dirty="0">
                    <a:latin typeface="Times New Roman"/>
                    <a:cs typeface="Times New Roman"/>
                  </a:rPr>
                  <a:t> predi</a:t>
                </a:r>
                <a:r>
                  <a:rPr lang="es-ES" sz="1814" spc="14" dirty="0">
                    <a:latin typeface="Times New Roman"/>
                    <a:cs typeface="Times New Roman"/>
                  </a:rPr>
                  <a:t> </a:t>
                </a:r>
                <a:r>
                  <a:rPr lang="es-ES" sz="1814" spc="-5" dirty="0" err="1">
                    <a:latin typeface="Times New Roman"/>
                    <a:cs typeface="Times New Roman"/>
                  </a:rPr>
                  <a:t>es</a:t>
                </a:r>
                <a:r>
                  <a:rPr lang="es-ES" sz="1814" spc="9" dirty="0">
                    <a:latin typeface="Times New Roman"/>
                    <a:cs typeface="Times New Roman"/>
                  </a:rPr>
                  <a:t> </a:t>
                </a:r>
                <a14:m>
                  <m:oMath xmlns:m="http://schemas.openxmlformats.org/officeDocument/2006/math">
                    <m:sSub>
                      <m:sSubPr>
                        <m:ctrlPr>
                          <a:rPr lang="ar-AE" sz="1814" i="1" spc="-5">
                            <a:latin typeface="Cambria Math" panose="02040503050406030204" pitchFamily="18" charset="0"/>
                            <a:cs typeface="Times New Roman"/>
                          </a:rPr>
                        </m:ctrlPr>
                      </m:sSubPr>
                      <m:e>
                        <m:acc>
                          <m:accPr>
                            <m:chr m:val="̂"/>
                            <m:ctrlPr>
                              <a:rPr lang="ar-AE" sz="1814" i="1" spc="-5">
                                <a:latin typeface="Cambria Math" panose="02040503050406030204" pitchFamily="18" charset="0"/>
                                <a:cs typeface="Times New Roman"/>
                              </a:rPr>
                            </m:ctrlPr>
                          </m:accPr>
                          <m:e>
                            <m:r>
                              <a:rPr lang="ar-AE" sz="1814" i="1" spc="-5">
                                <a:latin typeface="Cambria Math" panose="02040503050406030204" pitchFamily="18" charset="0"/>
                                <a:cs typeface="Times New Roman"/>
                              </a:rPr>
                              <m:t>𝑌</m:t>
                            </m:r>
                          </m:e>
                        </m:acc>
                      </m:e>
                      <m:sub>
                        <m:r>
                          <a:rPr lang="ar-AE" sz="1814" i="1" spc="-5">
                            <a:latin typeface="Cambria Math" panose="02040503050406030204" pitchFamily="18" charset="0"/>
                            <a:cs typeface="Times New Roman"/>
                          </a:rPr>
                          <m:t>𝑖</m:t>
                        </m:r>
                      </m:sub>
                    </m:sSub>
                  </m:oMath>
                </a14:m>
                <a:r>
                  <a:rPr lang="ar-AE" sz="1814" dirty="0">
                    <a:latin typeface="Times New Roman"/>
                    <a:cs typeface="Times New Roman"/>
                  </a:rPr>
                  <a:t> </a:t>
                </a:r>
                <a:r>
                  <a:rPr lang="es-ES" sz="1814" dirty="0">
                    <a:latin typeface="Times New Roman"/>
                    <a:cs typeface="Times New Roman"/>
                  </a:rPr>
                  <a:t>con</a:t>
                </a:r>
                <a:r>
                  <a:rPr lang="es-ES" sz="1814" spc="9" dirty="0">
                    <a:latin typeface="Times New Roman"/>
                    <a:cs typeface="Times New Roman"/>
                  </a:rPr>
                  <a:t> </a:t>
                </a:r>
                <a:r>
                  <a:rPr lang="es-ES" sz="1814" dirty="0">
                    <a:latin typeface="Times New Roman"/>
                    <a:cs typeface="Times New Roman"/>
                  </a:rPr>
                  <a:t>los </a:t>
                </a:r>
                <a:r>
                  <a:rPr lang="es-ES" sz="1814" spc="-5" dirty="0">
                    <a:latin typeface="Times New Roman"/>
                    <a:cs typeface="Times New Roman"/>
                  </a:rPr>
                  <a:t>estimadores</a:t>
                </a:r>
                <a:r>
                  <a:rPr lang="es-ES" sz="1814" dirty="0">
                    <a:latin typeface="Times New Roman"/>
                    <a:cs typeface="Times New Roman"/>
                  </a:rPr>
                  <a:t> </a:t>
                </a:r>
                <a:r>
                  <a:rPr lang="es-ES" sz="1814" spc="-5" dirty="0">
                    <a:latin typeface="Times New Roman"/>
                    <a:cs typeface="Times New Roman"/>
                  </a:rPr>
                  <a:t>finales</a:t>
                </a:r>
                <a:r>
                  <a:rPr lang="es-ES" sz="1814" spc="14" dirty="0">
                    <a:latin typeface="Times New Roman"/>
                    <a:cs typeface="Times New Roman"/>
                  </a:rPr>
                  <a:t> </a:t>
                </a:r>
                <a:r>
                  <a:rPr lang="es-ES" sz="1814" spc="-5" dirty="0">
                    <a:latin typeface="Times New Roman"/>
                    <a:cs typeface="Times New Roman"/>
                  </a:rPr>
                  <a:t>del</a:t>
                </a:r>
                <a:r>
                  <a:rPr lang="es-ES" sz="1814" spc="5" dirty="0">
                    <a:latin typeface="Times New Roman"/>
                    <a:cs typeface="Times New Roman"/>
                  </a:rPr>
                  <a:t> </a:t>
                </a:r>
                <a:r>
                  <a:rPr lang="es-ES" sz="1814" spc="-5" dirty="0">
                    <a:latin typeface="Times New Roman"/>
                    <a:cs typeface="Times New Roman"/>
                  </a:rPr>
                  <a:t>modelo</a:t>
                </a:r>
                <a:endParaRPr lang="es-ES" sz="1814" dirty="0">
                  <a:latin typeface="Times New Roman"/>
                  <a:cs typeface="Times New Roman"/>
                </a:endParaRPr>
              </a:p>
            </p:txBody>
          </p:sp>
        </mc:Choice>
        <mc:Fallback xmlns="">
          <p:sp>
            <p:nvSpPr>
              <p:cNvPr id="10" name="object 10"/>
              <p:cNvSpPr txBox="1">
                <a:spLocks noRot="1" noChangeAspect="1" noMove="1" noResize="1" noEditPoints="1" noAdjustHandles="1" noChangeArrowheads="1" noChangeShapeType="1" noTextEdit="1"/>
              </p:cNvSpPr>
              <p:nvPr/>
            </p:nvSpPr>
            <p:spPr>
              <a:xfrm>
                <a:off x="465154" y="6263585"/>
                <a:ext cx="9103360" cy="904735"/>
              </a:xfrm>
              <a:prstGeom prst="rect">
                <a:avLst/>
              </a:prstGeom>
              <a:blipFill rotWithShape="0">
                <a:blip r:embed="rId2"/>
                <a:stretch>
                  <a:fillRect l="-1272" b="-1745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p:cNvSpPr txBox="1"/>
              <p:nvPr/>
            </p:nvSpPr>
            <p:spPr>
              <a:xfrm>
                <a:off x="4783134" y="1818699"/>
                <a:ext cx="2023631" cy="68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632" i="1">
                          <a:latin typeface="Cambria Math" panose="02040503050406030204" pitchFamily="18" charset="0"/>
                        </a:rPr>
                        <m:t>𝑀𝑆𝐸</m:t>
                      </m:r>
                      <m:r>
                        <a:rPr lang="es-ES" sz="1632" i="1">
                          <a:latin typeface="Cambria Math" panose="02040503050406030204" pitchFamily="18" charset="0"/>
                        </a:rPr>
                        <m:t>=</m:t>
                      </m:r>
                      <m:f>
                        <m:fPr>
                          <m:ctrlPr>
                            <a:rPr lang="es-ES" sz="1632" i="1">
                              <a:latin typeface="Cambria Math" panose="02040503050406030204" pitchFamily="18" charset="0"/>
                            </a:rPr>
                          </m:ctrlPr>
                        </m:fPr>
                        <m:num>
                          <m:r>
                            <a:rPr lang="es-ES" sz="1632" i="1">
                              <a:latin typeface="Cambria Math" panose="02040503050406030204" pitchFamily="18" charset="0"/>
                            </a:rPr>
                            <m:t>1</m:t>
                          </m:r>
                        </m:num>
                        <m:den>
                          <m:r>
                            <a:rPr lang="es-ES" sz="1632" i="1">
                              <a:latin typeface="Cambria Math" panose="02040503050406030204" pitchFamily="18" charset="0"/>
                            </a:rPr>
                            <m:t>𝑛</m:t>
                          </m:r>
                        </m:den>
                      </m:f>
                      <m:nary>
                        <m:naryPr>
                          <m:chr m:val="∑"/>
                          <m:ctrlPr>
                            <a:rPr lang="es-ES" sz="1632" i="1">
                              <a:latin typeface="Cambria Math" panose="02040503050406030204" pitchFamily="18" charset="0"/>
                            </a:rPr>
                          </m:ctrlPr>
                        </m:naryPr>
                        <m:sub>
                          <m:r>
                            <m:rPr>
                              <m:brk m:alnAt="23"/>
                            </m:rPr>
                            <a:rPr lang="es-ES" sz="1632" i="1">
                              <a:latin typeface="Cambria Math" panose="02040503050406030204" pitchFamily="18" charset="0"/>
                            </a:rPr>
                            <m:t>𝑖</m:t>
                          </m:r>
                          <m:r>
                            <a:rPr lang="es-ES" sz="1632" i="1">
                              <a:latin typeface="Cambria Math" panose="02040503050406030204" pitchFamily="18" charset="0"/>
                            </a:rPr>
                            <m:t>=</m:t>
                          </m:r>
                          <m:r>
                            <m:rPr>
                              <m:brk m:alnAt="23"/>
                            </m:rPr>
                            <a:rPr lang="es-ES" sz="1632" i="1">
                              <a:latin typeface="Cambria Math" panose="02040503050406030204" pitchFamily="18" charset="0"/>
                            </a:rPr>
                            <m:t>1</m:t>
                          </m:r>
                        </m:sub>
                        <m:sup>
                          <m:r>
                            <a:rPr lang="es-ES" sz="1632" i="1">
                              <a:latin typeface="Cambria Math" panose="02040503050406030204" pitchFamily="18" charset="0"/>
                            </a:rPr>
                            <m:t>𝑛</m:t>
                          </m:r>
                        </m:sup>
                        <m:e>
                          <m:r>
                            <a:rPr lang="es-ES" sz="1632" i="1">
                              <a:latin typeface="Cambria Math" panose="02040503050406030204" pitchFamily="18" charset="0"/>
                            </a:rPr>
                            <m:t>(</m:t>
                          </m:r>
                          <m:sSub>
                            <m:sSubPr>
                              <m:ctrlPr>
                                <a:rPr lang="es-ES" sz="1632" i="1">
                                  <a:latin typeface="Cambria Math" panose="02040503050406030204" pitchFamily="18" charset="0"/>
                                </a:rPr>
                              </m:ctrlPr>
                            </m:sSubPr>
                            <m:e>
                              <m:r>
                                <a:rPr lang="es-ES" sz="1632" i="1">
                                  <a:latin typeface="Cambria Math" panose="02040503050406030204" pitchFamily="18" charset="0"/>
                                </a:rPr>
                                <m:t>𝑌</m:t>
                              </m:r>
                            </m:e>
                            <m:sub>
                              <m:r>
                                <a:rPr lang="es-ES" sz="1632" i="1">
                                  <a:latin typeface="Cambria Math" panose="02040503050406030204" pitchFamily="18" charset="0"/>
                                </a:rPr>
                                <m:t>𝑖</m:t>
                              </m:r>
                            </m:sub>
                          </m:sSub>
                          <m:r>
                            <a:rPr lang="es-ES" sz="1632" i="1">
                              <a:latin typeface="Cambria Math" panose="02040503050406030204" pitchFamily="18" charset="0"/>
                            </a:rPr>
                            <m:t>−</m:t>
                          </m:r>
                          <m:sSub>
                            <m:sSubPr>
                              <m:ctrlPr>
                                <a:rPr lang="es-ES" sz="1632" i="1">
                                  <a:latin typeface="Cambria Math" panose="02040503050406030204" pitchFamily="18" charset="0"/>
                                </a:rPr>
                              </m:ctrlPr>
                            </m:sSubPr>
                            <m:e>
                              <m:acc>
                                <m:accPr>
                                  <m:chr m:val="̂"/>
                                  <m:ctrlPr>
                                    <a:rPr lang="es-ES" sz="1632" i="1">
                                      <a:latin typeface="Cambria Math" panose="02040503050406030204" pitchFamily="18" charset="0"/>
                                    </a:rPr>
                                  </m:ctrlPr>
                                </m:accPr>
                                <m:e>
                                  <m:r>
                                    <a:rPr lang="es-ES" sz="1632" i="1">
                                      <a:latin typeface="Cambria Math" panose="02040503050406030204" pitchFamily="18" charset="0"/>
                                    </a:rPr>
                                    <m:t>𝑌</m:t>
                                  </m:r>
                                </m:e>
                              </m:acc>
                            </m:e>
                            <m:sub>
                              <m:r>
                                <a:rPr lang="es-ES" sz="1632" i="1">
                                  <a:latin typeface="Cambria Math" panose="02040503050406030204" pitchFamily="18" charset="0"/>
                                </a:rPr>
                                <m:t>𝑖</m:t>
                              </m:r>
                            </m:sub>
                          </m:sSub>
                          <m:sSup>
                            <m:sSupPr>
                              <m:ctrlPr>
                                <a:rPr lang="es-ES" sz="1632" i="1">
                                  <a:latin typeface="Cambria Math" panose="02040503050406030204" pitchFamily="18" charset="0"/>
                                </a:rPr>
                              </m:ctrlPr>
                            </m:sSupPr>
                            <m:e>
                              <m:r>
                                <a:rPr lang="es-ES" sz="1632" i="1">
                                  <a:latin typeface="Cambria Math" panose="02040503050406030204" pitchFamily="18" charset="0"/>
                                </a:rPr>
                                <m:t>)</m:t>
                              </m:r>
                            </m:e>
                            <m:sup>
                              <m:r>
                                <a:rPr lang="es-ES" sz="1632" i="1">
                                  <a:latin typeface="Cambria Math" panose="02040503050406030204" pitchFamily="18" charset="0"/>
                                </a:rPr>
                                <m:t>2</m:t>
                              </m:r>
                            </m:sup>
                          </m:sSup>
                        </m:e>
                      </m:nary>
                    </m:oMath>
                  </m:oMathPara>
                </a14:m>
                <a:endParaRPr lang="es-ES" sz="1632"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3898900" y="2005621"/>
                <a:ext cx="2235868" cy="756233"/>
              </a:xfrm>
              <a:prstGeom prst="rect">
                <a:avLst/>
              </a:prstGeom>
              <a:blipFill rotWithShape="0">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p:cNvSpPr txBox="1"/>
              <p:nvPr/>
            </p:nvSpPr>
            <p:spPr>
              <a:xfrm>
                <a:off x="1562234" y="2504453"/>
                <a:ext cx="9531872" cy="3434723"/>
              </a:xfrm>
              <a:prstGeom prst="rect">
                <a:avLst/>
              </a:prstGeom>
              <a:noFill/>
            </p:spPr>
            <p:txBody>
              <a:bodyPr wrap="square" rtlCol="0">
                <a:spAutoFit/>
              </a:bodyPr>
              <a:lstStyle/>
              <a:p>
                <a:pPr marL="46065" marR="1437818">
                  <a:lnSpc>
                    <a:spcPts val="2294"/>
                  </a:lnSpc>
                  <a:spcBef>
                    <a:spcPts val="245"/>
                  </a:spcBef>
                  <a:tabLst>
                    <a:tab pos="2085613" algn="l"/>
                  </a:tabLst>
                </a:pPr>
                <a:r>
                  <a:rPr lang="es-ES" sz="1814" spc="-5" dirty="0">
                    <a:latin typeface="Times New Roman"/>
                    <a:cs typeface="Times New Roman"/>
                  </a:rPr>
                  <a:t>(</a:t>
                </a:r>
                <a:r>
                  <a:rPr lang="es-ES" sz="1814" spc="-5" dirty="0">
                    <a:cs typeface="Times New Roman"/>
                  </a:rPr>
                  <a:t>algunos paquetes </a:t>
                </a:r>
                <a:r>
                  <a:rPr lang="es-ES" sz="1814" spc="-9" dirty="0">
                    <a:cs typeface="Times New Roman"/>
                  </a:rPr>
                  <a:t>presentan </a:t>
                </a:r>
                <a:r>
                  <a:rPr lang="es-ES" sz="1814" spc="-5" dirty="0">
                    <a:cs typeface="Times New Roman"/>
                  </a:rPr>
                  <a:t>el </a:t>
                </a:r>
                <a:r>
                  <a:rPr lang="es-ES" sz="1814" dirty="0">
                    <a:cs typeface="Times New Roman"/>
                  </a:rPr>
                  <a:t>valor de SSE (sum of </a:t>
                </a:r>
                <a:r>
                  <a:rPr lang="es-ES" sz="1814" dirty="0" err="1">
                    <a:cs typeface="Times New Roman"/>
                  </a:rPr>
                  <a:t>squared</a:t>
                </a:r>
                <a:r>
                  <a:rPr lang="es-ES" sz="1814" dirty="0">
                    <a:cs typeface="Times New Roman"/>
                  </a:rPr>
                  <a:t> </a:t>
                </a:r>
                <a:r>
                  <a:rPr lang="es-ES" sz="1814" dirty="0" err="1">
                    <a:cs typeface="Times New Roman"/>
                  </a:rPr>
                  <a:t>errors</a:t>
                </a:r>
                <a:r>
                  <a:rPr lang="es-ES" sz="1814" dirty="0">
                    <a:cs typeface="Times New Roman"/>
                  </a:rPr>
                  <a:t>)=n*MSE) </a:t>
                </a:r>
                <a:r>
                  <a:rPr lang="es-ES" sz="1814" spc="-485" dirty="0">
                    <a:cs typeface="Times New Roman"/>
                  </a:rPr>
                  <a:t> </a:t>
                </a:r>
                <a:r>
                  <a:rPr lang="es-ES" sz="1814" spc="-5" dirty="0">
                    <a:cs typeface="Times New Roman"/>
                  </a:rPr>
                  <a:t>Recordemos:</a:t>
                </a:r>
                <a:endParaRPr lang="es-ES" sz="1814" dirty="0">
                  <a:cs typeface="Times New Roman"/>
                </a:endParaRPr>
              </a:p>
              <a:p>
                <a:pPr marL="46065">
                  <a:lnSpc>
                    <a:spcPts val="2362"/>
                  </a:lnSpc>
                  <a:spcBef>
                    <a:spcPts val="5"/>
                  </a:spcBef>
                </a:pPr>
                <a14:m>
                  <m:oMath xmlns:m="http://schemas.openxmlformats.org/officeDocument/2006/math">
                    <m:sSub>
                      <m:sSubPr>
                        <m:ctrlPr>
                          <a:rPr lang="ar-AE" sz="1814" i="1">
                            <a:latin typeface="Cambria Math" panose="02040503050406030204" pitchFamily="18" charset="0"/>
                          </a:rPr>
                        </m:ctrlPr>
                      </m:sSubPr>
                      <m:e>
                        <m:r>
                          <a:rPr lang="es-ES" sz="1814" i="1">
                            <a:latin typeface="Cambria Math" panose="02040503050406030204" pitchFamily="18" charset="0"/>
                          </a:rPr>
                          <m:t>𝑌</m:t>
                        </m:r>
                      </m:e>
                      <m:sub>
                        <m:r>
                          <a:rPr lang="ar-AE" sz="1814" i="1">
                            <a:latin typeface="Cambria Math" panose="02040503050406030204" pitchFamily="18" charset="0"/>
                          </a:rPr>
                          <m:t>𝑖</m:t>
                        </m:r>
                      </m:sub>
                    </m:sSub>
                  </m:oMath>
                </a14:m>
                <a:r>
                  <a:rPr lang="ar-AE" sz="1814" spc="162" baseline="-15625" dirty="0">
                    <a:cs typeface="Cambria Math"/>
                  </a:rPr>
                  <a:t> </a:t>
                </a:r>
                <a:r>
                  <a:rPr lang="es-ES" sz="1814" spc="-9" dirty="0">
                    <a:cs typeface="Times New Roman"/>
                  </a:rPr>
                  <a:t>son</a:t>
                </a:r>
                <a:r>
                  <a:rPr lang="es-ES" sz="1814" spc="9" dirty="0">
                    <a:cs typeface="Times New Roman"/>
                  </a:rPr>
                  <a:t> </a:t>
                </a:r>
                <a:r>
                  <a:rPr lang="es-ES" sz="1814" dirty="0">
                    <a:cs typeface="Times New Roman"/>
                  </a:rPr>
                  <a:t>los </a:t>
                </a:r>
                <a:r>
                  <a:rPr lang="es-ES" sz="1814" spc="-5" dirty="0">
                    <a:cs typeface="Times New Roman"/>
                  </a:rPr>
                  <a:t>valores</a:t>
                </a:r>
                <a:r>
                  <a:rPr lang="es-ES" sz="1814" spc="14" dirty="0">
                    <a:cs typeface="Times New Roman"/>
                  </a:rPr>
                  <a:t> </a:t>
                </a:r>
                <a:r>
                  <a:rPr lang="es-ES" sz="1814" b="1" spc="-5" dirty="0">
                    <a:cs typeface="Times New Roman"/>
                  </a:rPr>
                  <a:t>reales</a:t>
                </a:r>
                <a:r>
                  <a:rPr lang="es-ES" sz="1814" b="1" spc="5" dirty="0">
                    <a:cs typeface="Times New Roman"/>
                  </a:rPr>
                  <a:t> </a:t>
                </a:r>
                <a:r>
                  <a:rPr lang="es-ES" sz="1814" spc="-5" dirty="0">
                    <a:cs typeface="Times New Roman"/>
                  </a:rPr>
                  <a:t>de</a:t>
                </a:r>
                <a:r>
                  <a:rPr lang="es-ES" sz="1814" spc="5" dirty="0">
                    <a:cs typeface="Times New Roman"/>
                  </a:rPr>
                  <a:t> </a:t>
                </a:r>
                <a:r>
                  <a:rPr lang="es-ES" sz="1814" spc="-5" dirty="0">
                    <a:cs typeface="Times New Roman"/>
                  </a:rPr>
                  <a:t>la</a:t>
                </a:r>
                <a:r>
                  <a:rPr lang="es-ES" sz="1814" dirty="0">
                    <a:cs typeface="Times New Roman"/>
                  </a:rPr>
                  <a:t> </a:t>
                </a:r>
                <a:r>
                  <a:rPr lang="es-ES" sz="1814" spc="-5" dirty="0">
                    <a:cs typeface="Times New Roman"/>
                  </a:rPr>
                  <a:t>variable</a:t>
                </a:r>
                <a:r>
                  <a:rPr lang="es-ES" sz="1814" spc="5" dirty="0">
                    <a:cs typeface="Times New Roman"/>
                  </a:rPr>
                  <a:t> </a:t>
                </a:r>
                <a:r>
                  <a:rPr lang="es-ES" sz="1814" spc="-5" dirty="0">
                    <a:cs typeface="Times New Roman"/>
                  </a:rPr>
                  <a:t>output</a:t>
                </a:r>
                <a:r>
                  <a:rPr lang="es-ES" sz="1814" dirty="0">
                    <a:cs typeface="Times New Roman"/>
                  </a:rPr>
                  <a:t> </a:t>
                </a:r>
                <a:r>
                  <a:rPr lang="es-ES" sz="1814" spc="-5" dirty="0">
                    <a:cs typeface="Times New Roman"/>
                  </a:rPr>
                  <a:t>para</a:t>
                </a:r>
                <a:r>
                  <a:rPr lang="es-ES" sz="1814" dirty="0">
                    <a:cs typeface="Times New Roman"/>
                  </a:rPr>
                  <a:t> </a:t>
                </a:r>
                <a:r>
                  <a:rPr lang="es-ES" sz="1814" spc="-5" dirty="0">
                    <a:cs typeface="Times New Roman"/>
                  </a:rPr>
                  <a:t>cada</a:t>
                </a:r>
                <a:r>
                  <a:rPr lang="es-ES" sz="1814" spc="5" dirty="0">
                    <a:cs typeface="Times New Roman"/>
                  </a:rPr>
                  <a:t> </a:t>
                </a:r>
                <a:r>
                  <a:rPr lang="es-ES" sz="1814" spc="-5" dirty="0">
                    <a:cs typeface="Times New Roman"/>
                  </a:rPr>
                  <a:t>observación</a:t>
                </a:r>
                <a:endParaRPr lang="es-ES" sz="1814" dirty="0">
                  <a:cs typeface="Times New Roman"/>
                </a:endParaRPr>
              </a:p>
              <a:p>
                <a:pPr marL="46065">
                  <a:lnSpc>
                    <a:spcPts val="2362"/>
                  </a:lnSpc>
                </a:pPr>
                <a14:m>
                  <m:oMath xmlns:m="http://schemas.openxmlformats.org/officeDocument/2006/math">
                    <m:sSub>
                      <m:sSubPr>
                        <m:ctrlPr>
                          <a:rPr lang="es-ES" sz="1814" i="1" spc="-9">
                            <a:latin typeface="Cambria Math" panose="02040503050406030204" pitchFamily="18" charset="0"/>
                            <a:cs typeface="Times New Roman"/>
                          </a:rPr>
                        </m:ctrlPr>
                      </m:sSubPr>
                      <m:e>
                        <m:acc>
                          <m:accPr>
                            <m:chr m:val="̂"/>
                            <m:ctrlPr>
                              <a:rPr lang="es-ES" sz="1814" i="1" spc="-9">
                                <a:latin typeface="Cambria Math" panose="02040503050406030204" pitchFamily="18" charset="0"/>
                                <a:cs typeface="Times New Roman"/>
                              </a:rPr>
                            </m:ctrlPr>
                          </m:accPr>
                          <m:e>
                            <m:r>
                              <a:rPr lang="es-ES" sz="1814" i="1" spc="-9">
                                <a:latin typeface="Cambria Math" panose="02040503050406030204" pitchFamily="18" charset="0"/>
                                <a:cs typeface="Times New Roman"/>
                              </a:rPr>
                              <m:t>𝑌</m:t>
                            </m:r>
                          </m:e>
                        </m:acc>
                      </m:e>
                      <m:sub>
                        <m:r>
                          <a:rPr lang="es-ES" sz="1814" i="1" spc="-9">
                            <a:latin typeface="Cambria Math" panose="02040503050406030204" pitchFamily="18" charset="0"/>
                            <a:cs typeface="Times New Roman"/>
                          </a:rPr>
                          <m:t>𝑖</m:t>
                        </m:r>
                      </m:sub>
                    </m:sSub>
                  </m:oMath>
                </a14:m>
                <a:r>
                  <a:rPr lang="es-ES" sz="1814" spc="-9" dirty="0">
                    <a:cs typeface="Times New Roman"/>
                  </a:rPr>
                  <a:t> son</a:t>
                </a:r>
                <a:r>
                  <a:rPr lang="es-ES" sz="1814" spc="14" dirty="0">
                    <a:cs typeface="Times New Roman"/>
                  </a:rPr>
                  <a:t> </a:t>
                </a:r>
                <a:r>
                  <a:rPr lang="es-ES" sz="1814" dirty="0">
                    <a:cs typeface="Times New Roman"/>
                  </a:rPr>
                  <a:t>los </a:t>
                </a:r>
                <a:r>
                  <a:rPr lang="es-ES" sz="1814" spc="-5" dirty="0">
                    <a:cs typeface="Times New Roman"/>
                  </a:rPr>
                  <a:t>valores</a:t>
                </a:r>
                <a:r>
                  <a:rPr lang="es-ES" sz="1814" spc="9" dirty="0">
                    <a:cs typeface="Times New Roman"/>
                  </a:rPr>
                  <a:t> </a:t>
                </a:r>
                <a:r>
                  <a:rPr lang="es-ES" sz="1814" b="1" spc="-5" dirty="0">
                    <a:cs typeface="Times New Roman"/>
                  </a:rPr>
                  <a:t>predichos</a:t>
                </a:r>
                <a:r>
                  <a:rPr lang="es-ES" sz="1814" b="1" spc="18" dirty="0">
                    <a:cs typeface="Times New Roman"/>
                  </a:rPr>
                  <a:t> </a:t>
                </a:r>
                <a:r>
                  <a:rPr lang="es-ES" sz="1814" spc="-5" dirty="0">
                    <a:cs typeface="Times New Roman"/>
                  </a:rPr>
                  <a:t>de</a:t>
                </a:r>
                <a:r>
                  <a:rPr lang="es-ES" sz="1814" dirty="0">
                    <a:cs typeface="Times New Roman"/>
                  </a:rPr>
                  <a:t> </a:t>
                </a:r>
                <a:r>
                  <a:rPr lang="es-ES" sz="1814" spc="-5" dirty="0">
                    <a:cs typeface="Times New Roman"/>
                  </a:rPr>
                  <a:t>la</a:t>
                </a:r>
                <a:r>
                  <a:rPr lang="es-ES" sz="1814" spc="5" dirty="0">
                    <a:cs typeface="Times New Roman"/>
                  </a:rPr>
                  <a:t> </a:t>
                </a:r>
                <a:r>
                  <a:rPr lang="es-ES" sz="1814" spc="-5" dirty="0">
                    <a:cs typeface="Times New Roman"/>
                  </a:rPr>
                  <a:t>variable</a:t>
                </a:r>
                <a:r>
                  <a:rPr lang="es-ES" sz="1814" dirty="0">
                    <a:cs typeface="Times New Roman"/>
                  </a:rPr>
                  <a:t> </a:t>
                </a:r>
                <a:r>
                  <a:rPr lang="es-ES" sz="1814" spc="-5" dirty="0">
                    <a:cs typeface="Times New Roman"/>
                  </a:rPr>
                  <a:t>output</a:t>
                </a:r>
                <a:r>
                  <a:rPr lang="es-ES" sz="1814" spc="5" dirty="0">
                    <a:cs typeface="Times New Roman"/>
                  </a:rPr>
                  <a:t> </a:t>
                </a:r>
                <a:r>
                  <a:rPr lang="es-ES" sz="1814" spc="-5" dirty="0">
                    <a:cs typeface="Times New Roman"/>
                  </a:rPr>
                  <a:t>para</a:t>
                </a:r>
                <a:r>
                  <a:rPr lang="es-ES" sz="1814" dirty="0">
                    <a:cs typeface="Times New Roman"/>
                  </a:rPr>
                  <a:t> </a:t>
                </a:r>
                <a:r>
                  <a:rPr lang="es-ES" sz="1814" spc="-5" dirty="0">
                    <a:cs typeface="Times New Roman"/>
                  </a:rPr>
                  <a:t>cada</a:t>
                </a:r>
                <a:r>
                  <a:rPr lang="es-ES" sz="1814" spc="5" dirty="0">
                    <a:cs typeface="Times New Roman"/>
                  </a:rPr>
                  <a:t> </a:t>
                </a:r>
                <a:r>
                  <a:rPr lang="es-ES" sz="1814" spc="-5" dirty="0">
                    <a:cs typeface="Times New Roman"/>
                  </a:rPr>
                  <a:t>observación.</a:t>
                </a:r>
                <a:endParaRPr lang="es-ES" sz="1814" dirty="0">
                  <a:cs typeface="Times New Roman"/>
                </a:endParaRPr>
              </a:p>
              <a:p>
                <a:pPr marL="46065">
                  <a:spcBef>
                    <a:spcPts val="2194"/>
                  </a:spcBef>
                </a:pPr>
                <a:r>
                  <a:rPr lang="es-ES" sz="1814" spc="-5" dirty="0">
                    <a:cs typeface="Times New Roman"/>
                  </a:rPr>
                  <a:t>Por</a:t>
                </a:r>
                <a:r>
                  <a:rPr lang="es-ES" sz="1814" spc="-9" dirty="0">
                    <a:cs typeface="Times New Roman"/>
                  </a:rPr>
                  <a:t> </a:t>
                </a:r>
                <a:r>
                  <a:rPr lang="es-ES" sz="1814" spc="-5" dirty="0">
                    <a:cs typeface="Times New Roman"/>
                  </a:rPr>
                  <a:t>ejemplo,</a:t>
                </a:r>
                <a:r>
                  <a:rPr lang="es-ES" sz="1814" dirty="0">
                    <a:cs typeface="Times New Roman"/>
                  </a:rPr>
                  <a:t> </a:t>
                </a:r>
                <a:r>
                  <a:rPr lang="es-ES" sz="1814" spc="-5" dirty="0">
                    <a:cs typeface="Times New Roman"/>
                  </a:rPr>
                  <a:t>con</a:t>
                </a:r>
                <a:r>
                  <a:rPr lang="es-ES" sz="1814" dirty="0">
                    <a:cs typeface="Times New Roman"/>
                  </a:rPr>
                  <a:t> los</a:t>
                </a:r>
                <a:r>
                  <a:rPr lang="es-ES" sz="1814" spc="-9" dirty="0">
                    <a:cs typeface="Times New Roman"/>
                  </a:rPr>
                  <a:t> </a:t>
                </a:r>
                <a:r>
                  <a:rPr lang="es-ES" sz="1814" spc="-5" dirty="0">
                    <a:cs typeface="Times New Roman"/>
                  </a:rPr>
                  <a:t>parámetros</a:t>
                </a:r>
                <a:r>
                  <a:rPr lang="es-ES" sz="1814" spc="-9" dirty="0">
                    <a:cs typeface="Times New Roman"/>
                  </a:rPr>
                  <a:t> </a:t>
                </a:r>
                <a:r>
                  <a:rPr lang="es-ES" sz="1814" spc="-5" dirty="0">
                    <a:cs typeface="Times New Roman"/>
                  </a:rPr>
                  <a:t>finales,</a:t>
                </a:r>
              </a:p>
              <a:p>
                <a:pPr marL="46065">
                  <a:spcBef>
                    <a:spcPts val="2194"/>
                  </a:spcBef>
                </a:pPr>
                <a:endParaRPr lang="es-ES" sz="1632" spc="-5" dirty="0">
                  <a:cs typeface="Times New Roman"/>
                </a:endParaRPr>
              </a:p>
              <a:p>
                <a:pPr marL="46065">
                  <a:spcBef>
                    <a:spcPts val="2194"/>
                  </a:spcBef>
                </a:pPr>
                <a14:m>
                  <m:oMathPara xmlns:m="http://schemas.openxmlformats.org/officeDocument/2006/math">
                    <m:oMathParaPr>
                      <m:jc m:val="centerGroup"/>
                    </m:oMathParaPr>
                    <m:oMath xmlns:m="http://schemas.openxmlformats.org/officeDocument/2006/math">
                      <m:sSub>
                        <m:sSubPr>
                          <m:ctrlPr>
                            <a:rPr lang="es-ES" sz="1632" i="1" spc="-5">
                              <a:latin typeface="Cambria Math" panose="02040503050406030204" pitchFamily="18" charset="0"/>
                              <a:cs typeface="Times New Roman"/>
                            </a:rPr>
                          </m:ctrlPr>
                        </m:sSubPr>
                        <m:e>
                          <m:acc>
                            <m:accPr>
                              <m:chr m:val="̂"/>
                              <m:ctrlPr>
                                <a:rPr lang="es-ES" sz="1632" i="1" spc="-5">
                                  <a:latin typeface="Cambria Math" panose="02040503050406030204" pitchFamily="18" charset="0"/>
                                  <a:cs typeface="Times New Roman"/>
                                </a:rPr>
                              </m:ctrlPr>
                            </m:accPr>
                            <m:e>
                              <m:r>
                                <a:rPr lang="es-ES" sz="1632" i="1" spc="-5">
                                  <a:latin typeface="Cambria Math" panose="02040503050406030204" pitchFamily="18" charset="0"/>
                                  <a:cs typeface="Times New Roman"/>
                                </a:rPr>
                                <m:t>𝑌</m:t>
                              </m:r>
                            </m:e>
                          </m:acc>
                        </m:e>
                        <m:sub>
                          <m:r>
                            <a:rPr lang="es-ES" sz="1632" i="1" spc="-5">
                              <a:latin typeface="Cambria Math" panose="02040503050406030204" pitchFamily="18" charset="0"/>
                              <a:cs typeface="Times New Roman"/>
                            </a:rPr>
                            <m:t>𝑖</m:t>
                          </m:r>
                        </m:sub>
                      </m:sSub>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88</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52</m:t>
                      </m:r>
                      <m:r>
                        <a:rPr lang="es-ES" sz="1632" i="1" spc="-5">
                          <a:latin typeface="Cambria Math" panose="02040503050406030204" pitchFamily="18" charset="0"/>
                          <a:cs typeface="Times New Roman"/>
                        </a:rPr>
                        <m:t>∗</m:t>
                      </m:r>
                      <m:func>
                        <m:funcPr>
                          <m:ctrlPr>
                            <a:rPr lang="es-ES" sz="1632" i="1" spc="-5">
                              <a:latin typeface="Cambria Math" panose="02040503050406030204" pitchFamily="18" charset="0"/>
                              <a:cs typeface="Times New Roman"/>
                            </a:rPr>
                          </m:ctrlPr>
                        </m:funcPr>
                        <m:fName>
                          <m:r>
                            <m:rPr>
                              <m:sty m:val="p"/>
                            </m:rPr>
                            <a:rPr lang="es-ES" sz="1632" spc="-5">
                              <a:latin typeface="Cambria Math" panose="02040503050406030204" pitchFamily="18" charset="0"/>
                              <a:cs typeface="Times New Roman"/>
                            </a:rPr>
                            <m:t>tanh</m:t>
                          </m:r>
                        </m:fName>
                        <m:e>
                          <m:d>
                            <m:dPr>
                              <m:ctrlPr>
                                <a:rPr lang="es-ES" sz="1632" i="1" spc="-5">
                                  <a:latin typeface="Cambria Math" panose="02040503050406030204" pitchFamily="18" charset="0"/>
                                  <a:cs typeface="Times New Roman"/>
                                </a:rPr>
                              </m:ctrlPr>
                            </m:dPr>
                            <m:e>
                              <m:r>
                                <a:rPr lang="es-ES" sz="1632" i="1" spc="-5">
                                  <a:latin typeface="Cambria Math" panose="02040503050406030204" pitchFamily="18" charset="0"/>
                                  <a:cs typeface="Times New Roman"/>
                                </a:rPr>
                                <m:t>𝐻</m:t>
                              </m:r>
                              <m:r>
                                <a:rPr lang="es-ES" sz="1632" i="1" spc="-5">
                                  <a:latin typeface="Cambria Math" panose="02040503050406030204" pitchFamily="18" charset="0"/>
                                  <a:cs typeface="Times New Roman"/>
                                </a:rPr>
                                <m:t>1</m:t>
                              </m:r>
                            </m:e>
                          </m:d>
                        </m:e>
                      </m:func>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28</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69</m:t>
                      </m:r>
                      <m:r>
                        <a:rPr lang="es-ES" sz="1632" i="1" spc="-5">
                          <a:latin typeface="Cambria Math" panose="02040503050406030204" pitchFamily="18" charset="0"/>
                          <a:cs typeface="Times New Roman"/>
                        </a:rPr>
                        <m:t>∗</m:t>
                      </m:r>
                      <m:func>
                        <m:funcPr>
                          <m:ctrlPr>
                            <a:rPr lang="es-ES" sz="1632" i="1" spc="-5">
                              <a:latin typeface="Cambria Math" panose="02040503050406030204" pitchFamily="18" charset="0"/>
                              <a:cs typeface="Times New Roman"/>
                            </a:rPr>
                          </m:ctrlPr>
                        </m:funcPr>
                        <m:fName>
                          <m:r>
                            <m:rPr>
                              <m:sty m:val="p"/>
                            </m:rPr>
                            <a:rPr lang="es-ES" sz="1632" spc="-5">
                              <a:latin typeface="Cambria Math" panose="02040503050406030204" pitchFamily="18" charset="0"/>
                              <a:cs typeface="Times New Roman"/>
                            </a:rPr>
                            <m:t>tanh</m:t>
                          </m:r>
                        </m:fName>
                        <m:e>
                          <m:d>
                            <m:dPr>
                              <m:ctrlPr>
                                <a:rPr lang="es-ES" sz="1632" i="1" spc="-5">
                                  <a:latin typeface="Cambria Math" panose="02040503050406030204" pitchFamily="18" charset="0"/>
                                  <a:cs typeface="Times New Roman"/>
                                </a:rPr>
                              </m:ctrlPr>
                            </m:dPr>
                            <m:e>
                              <m:r>
                                <a:rPr lang="es-ES" sz="1632" i="1" spc="-5">
                                  <a:latin typeface="Cambria Math" panose="02040503050406030204" pitchFamily="18" charset="0"/>
                                  <a:cs typeface="Times New Roman"/>
                                </a:rPr>
                                <m:t>𝐻</m:t>
                              </m:r>
                              <m:r>
                                <a:rPr lang="es-ES" sz="1632" i="1" spc="-5">
                                  <a:latin typeface="Cambria Math" panose="02040503050406030204" pitchFamily="18" charset="0"/>
                                  <a:cs typeface="Times New Roman"/>
                                </a:rPr>
                                <m:t>2</m:t>
                              </m:r>
                            </m:e>
                          </m:d>
                        </m:e>
                      </m:func>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8</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51</m:t>
                      </m:r>
                      <m:r>
                        <a:rPr lang="es-ES" sz="1632" i="1" spc="-5">
                          <a:latin typeface="Cambria Math" panose="02040503050406030204" pitchFamily="18" charset="0"/>
                          <a:cs typeface="Times New Roman"/>
                        </a:rPr>
                        <m:t>∗</m:t>
                      </m:r>
                      <m:func>
                        <m:funcPr>
                          <m:ctrlPr>
                            <a:rPr lang="es-ES" sz="1632" i="1" spc="-5">
                              <a:latin typeface="Cambria Math" panose="02040503050406030204" pitchFamily="18" charset="0"/>
                              <a:cs typeface="Times New Roman"/>
                            </a:rPr>
                          </m:ctrlPr>
                        </m:funcPr>
                        <m:fName>
                          <m:r>
                            <m:rPr>
                              <m:sty m:val="p"/>
                            </m:rPr>
                            <a:rPr lang="es-ES" sz="1632" spc="-5">
                              <a:latin typeface="Cambria Math" panose="02040503050406030204" pitchFamily="18" charset="0"/>
                              <a:cs typeface="Times New Roman"/>
                            </a:rPr>
                            <m:t>tanh</m:t>
                          </m:r>
                        </m:fName>
                        <m:e>
                          <m:d>
                            <m:dPr>
                              <m:ctrlPr>
                                <a:rPr lang="es-ES" sz="1632" i="1" spc="-5">
                                  <a:latin typeface="Cambria Math" panose="02040503050406030204" pitchFamily="18" charset="0"/>
                                  <a:cs typeface="Times New Roman"/>
                                </a:rPr>
                              </m:ctrlPr>
                            </m:dPr>
                            <m:e>
                              <m:r>
                                <a:rPr lang="es-ES" sz="1632" i="1" spc="-5">
                                  <a:latin typeface="Cambria Math" panose="02040503050406030204" pitchFamily="18" charset="0"/>
                                  <a:cs typeface="Times New Roman"/>
                                </a:rPr>
                                <m:t>𝐻</m:t>
                              </m:r>
                              <m:r>
                                <a:rPr lang="es-ES" sz="1632" i="1" spc="-5">
                                  <a:latin typeface="Cambria Math" panose="02040503050406030204" pitchFamily="18" charset="0"/>
                                  <a:cs typeface="Times New Roman"/>
                                </a:rPr>
                                <m:t>3</m:t>
                              </m:r>
                            </m:e>
                          </m:d>
                        </m:e>
                      </m:func>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51</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42</m:t>
                      </m:r>
                    </m:oMath>
                  </m:oMathPara>
                </a14:m>
                <a:endParaRPr lang="es-ES" sz="1632" spc="-5" dirty="0">
                  <a:cs typeface="Times New Roman"/>
                </a:endParaRPr>
              </a:p>
              <a:p>
                <a:pPr marL="46065">
                  <a:spcBef>
                    <a:spcPts val="2194"/>
                  </a:spcBef>
                </a:pPr>
                <a:r>
                  <a:rPr lang="es-ES" sz="1632" spc="-5" dirty="0">
                    <a:cs typeface="Times New Roman"/>
                  </a:rPr>
                  <a:t>Donde </a:t>
                </a:r>
                <a14:m>
                  <m:oMath xmlns:m="http://schemas.openxmlformats.org/officeDocument/2006/math">
                    <m:r>
                      <a:rPr lang="es-ES" sz="1632" i="1" spc="-5">
                        <a:latin typeface="Cambria Math" panose="02040503050406030204" pitchFamily="18" charset="0"/>
                        <a:cs typeface="Times New Roman"/>
                      </a:rPr>
                      <m:t>𝐻</m:t>
                    </m:r>
                    <m:r>
                      <a:rPr lang="es-ES" sz="1632" i="1" spc="-5">
                        <a:latin typeface="Cambria Math" panose="02040503050406030204" pitchFamily="18" charset="0"/>
                        <a:cs typeface="Times New Roman"/>
                      </a:rPr>
                      <m:t>1</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3</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31</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𝑎𝑔𝑟𝑒</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0</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13</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𝑤𝑎𝑡𝑒𝑟</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3</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05</m:t>
                    </m:r>
                    <m:r>
                      <a:rPr lang="es-ES" sz="1632" i="1" spc="-5">
                        <a:latin typeface="Cambria Math" panose="02040503050406030204" pitchFamily="18" charset="0"/>
                        <a:cs typeface="Times New Roman"/>
                      </a:rPr>
                      <m:t>; </m:t>
                    </m:r>
                    <m:r>
                      <a:rPr lang="es-ES" sz="1632" i="1" spc="-5">
                        <a:latin typeface="Cambria Math" panose="02040503050406030204" pitchFamily="18" charset="0"/>
                        <a:cs typeface="Times New Roman"/>
                      </a:rPr>
                      <m:t>𝐻</m:t>
                    </m:r>
                    <m:r>
                      <a:rPr lang="es-ES" sz="1632" i="1" spc="-5">
                        <a:latin typeface="Cambria Math" panose="02040503050406030204" pitchFamily="18" charset="0"/>
                        <a:cs typeface="Times New Roman"/>
                      </a:rPr>
                      <m:t>2</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0</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13</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𝑎𝑔𝑒</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1</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89</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𝑤𝑎𝑡𝑒𝑟</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0</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96</m:t>
                    </m:r>
                    <m:r>
                      <a:rPr lang="es-ES" sz="1632" i="1" spc="-5">
                        <a:latin typeface="Cambria Math" panose="02040503050406030204" pitchFamily="18" charset="0"/>
                        <a:cs typeface="Times New Roman"/>
                      </a:rPr>
                      <m:t>…</m:t>
                    </m:r>
                    <m:r>
                      <a:rPr lang="es-ES" sz="1632" i="1" spc="-5">
                        <a:latin typeface="Cambria Math" panose="02040503050406030204" pitchFamily="18" charset="0"/>
                        <a:cs typeface="Times New Roman"/>
                      </a:rPr>
                      <m:t>𝑒𝑡𝑐</m:t>
                    </m:r>
                    <m:r>
                      <a:rPr lang="es-ES" sz="1632" i="1" spc="-5">
                        <a:latin typeface="Cambria Math" panose="02040503050406030204" pitchFamily="18" charset="0"/>
                        <a:cs typeface="Times New Roman"/>
                      </a:rPr>
                      <m:t>.</m:t>
                    </m:r>
                  </m:oMath>
                </a14:m>
                <a:endParaRPr lang="es-ES" sz="1632" spc="-5" dirty="0">
                  <a:cs typeface="Times New Roman"/>
                </a:endParaRPr>
              </a:p>
              <a:p>
                <a:endParaRPr lang="es-ES" sz="1632" dirty="0"/>
              </a:p>
            </p:txBody>
          </p:sp>
        </mc:Choice>
        <mc:Fallback xmlns="">
          <p:sp>
            <p:nvSpPr>
              <p:cNvPr id="12" name="CuadroTexto 11"/>
              <p:cNvSpPr txBox="1">
                <a:spLocks noRot="1" noChangeAspect="1" noMove="1" noResize="1" noEditPoints="1" noAdjustHandles="1" noChangeArrowheads="1" noChangeShapeType="1" noTextEdit="1"/>
              </p:cNvSpPr>
              <p:nvPr/>
            </p:nvSpPr>
            <p:spPr>
              <a:xfrm>
                <a:off x="1562234" y="2504453"/>
                <a:ext cx="9531872" cy="3434723"/>
              </a:xfrm>
              <a:prstGeom prst="rect">
                <a:avLst/>
              </a:prstGeom>
              <a:blipFill rotWithShape="0">
                <a:blip r:embed="rId4"/>
                <a:stretch>
                  <a:fillRect t="-1066"/>
                </a:stretch>
              </a:blipFill>
            </p:spPr>
            <p:txBody>
              <a:bodyPr/>
              <a:lstStyle/>
              <a:p>
                <a:r>
                  <a:rPr lang="es-ES">
                    <a:noFill/>
                  </a:rPr>
                  <a:t> </a:t>
                </a:r>
              </a:p>
            </p:txBody>
          </p:sp>
        </mc:Fallback>
      </mc:AlternateContent>
    </p:spTree>
    <p:extLst>
      <p:ext uri="{BB962C8B-B14F-4D97-AF65-F5344CB8AC3E}">
        <p14:creationId xmlns:p14="http://schemas.microsoft.com/office/powerpoint/2010/main" val="201889675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3262973" y="388678"/>
            <a:ext cx="5238037" cy="538930"/>
          </a:xfrm>
          <a:prstGeom prst="rect">
            <a:avLst/>
          </a:prstGeom>
          <a:noFill/>
        </p:spPr>
        <p:txBody>
          <a:bodyPr wrap="none" rtlCol="0">
            <a:spAutoFit/>
          </a:bodyPr>
          <a:lstStyle/>
          <a:p>
            <a:r>
              <a:rPr lang="es-ES" sz="2902" b="1" dirty="0">
                <a:solidFill>
                  <a:schemeClr val="tx2"/>
                </a:solidFill>
              </a:rPr>
              <a:t>Redes neuronales para regresión</a:t>
            </a:r>
          </a:p>
        </p:txBody>
      </p:sp>
      <p:sp>
        <p:nvSpPr>
          <p:cNvPr id="3" name="CuadroTexto 2"/>
          <p:cNvSpPr txBox="1"/>
          <p:nvPr/>
        </p:nvSpPr>
        <p:spPr>
          <a:xfrm>
            <a:off x="1397320" y="893040"/>
            <a:ext cx="9397360" cy="5973623"/>
          </a:xfrm>
          <a:prstGeom prst="rect">
            <a:avLst/>
          </a:prstGeom>
          <a:noFill/>
        </p:spPr>
        <p:txBody>
          <a:bodyPr wrap="square" rtlCol="0">
            <a:spAutoFit/>
          </a:bodyPr>
          <a:lstStyle/>
          <a:p>
            <a:r>
              <a:rPr lang="es-ES" sz="2539" b="1" dirty="0">
                <a:solidFill>
                  <a:srgbClr val="FF0000"/>
                </a:solidFill>
              </a:rPr>
              <a:t>Nota sobre R</a:t>
            </a:r>
            <a:r>
              <a:rPr lang="es-ES" sz="2539" b="1" baseline="30000" dirty="0">
                <a:solidFill>
                  <a:srgbClr val="FF0000"/>
                </a:solidFill>
              </a:rPr>
              <a:t>2</a:t>
            </a:r>
            <a:endParaRPr lang="es-ES" sz="1814" baseline="30000" dirty="0"/>
          </a:p>
          <a:p>
            <a:pPr algn="just"/>
            <a:r>
              <a:rPr lang="es-ES" sz="1814" dirty="0"/>
              <a:t>Cuando el </a:t>
            </a:r>
            <a:r>
              <a:rPr lang="es-ES" sz="1814" b="1" dirty="0">
                <a:solidFill>
                  <a:srgbClr val="FF0000"/>
                </a:solidFill>
              </a:rPr>
              <a:t>R</a:t>
            </a:r>
            <a:r>
              <a:rPr lang="es-ES" sz="1814" b="1" baseline="30000" dirty="0">
                <a:solidFill>
                  <a:srgbClr val="FF0000"/>
                </a:solidFill>
              </a:rPr>
              <a:t>2  </a:t>
            </a:r>
            <a:r>
              <a:rPr lang="es-ES" sz="1814" dirty="0"/>
              <a:t>(coeficiente de determinación) es </a:t>
            </a:r>
            <a:r>
              <a:rPr lang="es-ES" sz="1814" b="1" dirty="0"/>
              <a:t>negativo</a:t>
            </a:r>
            <a:r>
              <a:rPr lang="es-ES" sz="1814" dirty="0"/>
              <a:t> en un problema de predicción de variable continua, indica que el modelo evaluado es </a:t>
            </a:r>
            <a:r>
              <a:rPr lang="es-ES" sz="1814" b="1" dirty="0"/>
              <a:t>peor</a:t>
            </a:r>
            <a:r>
              <a:rPr lang="es-ES" sz="1814" dirty="0"/>
              <a:t> que un simple modelo que solo predice la </a:t>
            </a:r>
            <a:r>
              <a:rPr lang="es-ES" sz="1814" b="1" dirty="0"/>
              <a:t>media</a:t>
            </a:r>
            <a:r>
              <a:rPr lang="es-ES" sz="1814" dirty="0"/>
              <a:t> de la </a:t>
            </a:r>
            <a:r>
              <a:rPr lang="es-ES" sz="1814" b="1" dirty="0"/>
              <a:t>variable dependiente</a:t>
            </a:r>
            <a:r>
              <a:rPr lang="es-ES" sz="1814" dirty="0"/>
              <a:t>. Esto significa que el modelo no se ajusta bien a los datos y que su </a:t>
            </a:r>
            <a:r>
              <a:rPr lang="es-ES" sz="1814" b="1" dirty="0"/>
              <a:t>capacidad predictiva </a:t>
            </a:r>
            <a:r>
              <a:rPr lang="es-ES" sz="1814" dirty="0"/>
              <a:t>es prácticamente </a:t>
            </a:r>
            <a:r>
              <a:rPr lang="es-ES" sz="1814" b="1" dirty="0"/>
              <a:t>inexistente</a:t>
            </a:r>
            <a:r>
              <a:rPr lang="es-ES" sz="1814" dirty="0"/>
              <a:t> o incluso </a:t>
            </a:r>
            <a:r>
              <a:rPr lang="es-ES" sz="1814" b="1" dirty="0"/>
              <a:t>peor</a:t>
            </a:r>
            <a:r>
              <a:rPr lang="es-ES" sz="1814" dirty="0"/>
              <a:t> que una predicción </a:t>
            </a:r>
            <a:r>
              <a:rPr lang="es-ES" sz="1814" b="1" dirty="0"/>
              <a:t>aleatoria</a:t>
            </a:r>
            <a:r>
              <a:rPr lang="es-ES" sz="1814" dirty="0"/>
              <a:t>.</a:t>
            </a:r>
          </a:p>
          <a:p>
            <a:pPr algn="just"/>
            <a:endParaRPr lang="es-ES" sz="1814" dirty="0"/>
          </a:p>
          <a:p>
            <a:pPr algn="just"/>
            <a:r>
              <a:rPr lang="es-ES" sz="1814" i="1" dirty="0"/>
              <a:t>R</a:t>
            </a:r>
            <a:r>
              <a:rPr lang="es-ES" sz="1814" baseline="30000" dirty="0"/>
              <a:t>2</a:t>
            </a:r>
            <a:r>
              <a:rPr lang="es-ES" sz="1814" dirty="0"/>
              <a:t>=1−</a:t>
            </a:r>
            <a:r>
              <a:rPr lang="es-ES" sz="1814" i="1" dirty="0"/>
              <a:t>SST/SSE</a:t>
            </a:r>
            <a:r>
              <a:rPr lang="es-ES" sz="1814" dirty="0"/>
              <a:t>​</a:t>
            </a:r>
            <a:br>
              <a:rPr lang="es-ES" sz="1814" dirty="0"/>
            </a:br>
            <a:r>
              <a:rPr lang="es-ES" sz="1814" dirty="0"/>
              <a:t>SST y SSE son la Suma Total de Cuadrados y la Suma de los Cuadrado de los Residuos,</a:t>
            </a:r>
          </a:p>
          <a:p>
            <a:pPr algn="just"/>
            <a:endParaRPr lang="es-ES" sz="1814" dirty="0"/>
          </a:p>
          <a:p>
            <a:pPr algn="just"/>
            <a:r>
              <a:rPr lang="es-ES" sz="1814" dirty="0"/>
              <a:t> </a:t>
            </a:r>
            <a:r>
              <a:rPr lang="pt-BR" sz="1814" dirty="0"/>
              <a:t/>
            </a:r>
            <a:br>
              <a:rPr lang="pt-BR" sz="1814" dirty="0"/>
            </a:br>
            <a:endParaRPr lang="es-ES" sz="1814" dirty="0"/>
          </a:p>
          <a:p>
            <a:pPr algn="just"/>
            <a:r>
              <a:rPr lang="es-ES" sz="1814" dirty="0"/>
              <a:t>En general, </a:t>
            </a:r>
            <a:r>
              <a:rPr lang="es-ES" sz="1814" b="1" dirty="0">
                <a:solidFill>
                  <a:srgbClr val="FF0000"/>
                </a:solidFill>
              </a:rPr>
              <a:t>R</a:t>
            </a:r>
            <a:r>
              <a:rPr lang="es-ES" sz="1814" b="1" baseline="30000" dirty="0">
                <a:solidFill>
                  <a:srgbClr val="FF0000"/>
                </a:solidFill>
              </a:rPr>
              <a:t>2 </a:t>
            </a:r>
            <a:r>
              <a:rPr lang="es-ES" sz="1814" dirty="0"/>
              <a:t>puede variar de 0 a 1, donde un valor más cercano a </a:t>
            </a:r>
            <a:r>
              <a:rPr lang="es-ES" sz="1814" b="1" dirty="0"/>
              <a:t>1</a:t>
            </a:r>
            <a:r>
              <a:rPr lang="es-ES" sz="1814" dirty="0"/>
              <a:t> indica un </a:t>
            </a:r>
            <a:r>
              <a:rPr lang="es-ES" sz="1814" b="1" dirty="0"/>
              <a:t>ajuste</a:t>
            </a:r>
            <a:r>
              <a:rPr lang="es-ES" sz="1814" dirty="0"/>
              <a:t> muy </a:t>
            </a:r>
            <a:r>
              <a:rPr lang="es-ES" sz="1814" b="1" dirty="0"/>
              <a:t>bueno</a:t>
            </a:r>
            <a:r>
              <a:rPr lang="es-ES" sz="1814" dirty="0"/>
              <a:t> del modelo a los datos, mientras que un valor cercano a </a:t>
            </a:r>
            <a:r>
              <a:rPr lang="es-ES" sz="1814" b="1" dirty="0"/>
              <a:t>0</a:t>
            </a:r>
            <a:r>
              <a:rPr lang="es-ES" sz="1814" dirty="0"/>
              <a:t> indica que el modelo </a:t>
            </a:r>
            <a:r>
              <a:rPr lang="es-ES" sz="1814" b="1" dirty="0"/>
              <a:t>no explica</a:t>
            </a:r>
            <a:r>
              <a:rPr lang="es-ES" sz="1814" dirty="0"/>
              <a:t> la </a:t>
            </a:r>
            <a:r>
              <a:rPr lang="es-ES" sz="1814" b="1" dirty="0"/>
              <a:t>variabilidad</a:t>
            </a:r>
            <a:r>
              <a:rPr lang="es-ES" sz="1814" dirty="0"/>
              <a:t> de los datos. </a:t>
            </a:r>
          </a:p>
          <a:p>
            <a:pPr algn="just"/>
            <a:endParaRPr lang="es-ES" sz="1814" dirty="0"/>
          </a:p>
          <a:p>
            <a:pPr algn="just"/>
            <a:r>
              <a:rPr lang="es-ES" sz="1814" dirty="0"/>
              <a:t>Un valor </a:t>
            </a:r>
            <a:r>
              <a:rPr lang="es-ES" sz="1814" b="1" dirty="0"/>
              <a:t>negativo</a:t>
            </a:r>
            <a:r>
              <a:rPr lang="es-ES" sz="1814" dirty="0"/>
              <a:t> indica que el </a:t>
            </a:r>
            <a:r>
              <a:rPr lang="es-ES" sz="1814" b="1" dirty="0"/>
              <a:t>modelo</a:t>
            </a:r>
            <a:r>
              <a:rPr lang="es-ES" sz="1814" dirty="0"/>
              <a:t> es sustancialmente </a:t>
            </a:r>
            <a:r>
              <a:rPr lang="es-ES" sz="1814" b="1" dirty="0"/>
              <a:t>peor </a:t>
            </a:r>
            <a:r>
              <a:rPr lang="es-ES" sz="1814" dirty="0"/>
              <a:t>que una simple </a:t>
            </a:r>
            <a:r>
              <a:rPr lang="es-ES" sz="1814" b="1" dirty="0"/>
              <a:t>media </a:t>
            </a:r>
            <a:r>
              <a:rPr lang="es-ES" sz="1814" dirty="0"/>
              <a:t>y sugiere que </a:t>
            </a:r>
            <a:r>
              <a:rPr lang="es-ES" sz="1814" u="sng" dirty="0"/>
              <a:t>algo está seriamente mal con el ajuste del modelo a los datos</a:t>
            </a:r>
            <a:r>
              <a:rPr lang="es-ES" sz="1814" dirty="0"/>
              <a:t>. </a:t>
            </a:r>
          </a:p>
          <a:p>
            <a:pPr algn="just"/>
            <a:endParaRPr lang="es-ES" sz="1814" dirty="0"/>
          </a:p>
          <a:p>
            <a:pPr algn="just"/>
            <a:r>
              <a:rPr lang="es-ES" sz="1814" b="1" dirty="0"/>
              <a:t>IMPORTANTE</a:t>
            </a:r>
            <a:r>
              <a:rPr lang="es-ES" sz="1814" dirty="0"/>
              <a:t>: revisar cuidadosamente el modelo y considerar posibles problemas como </a:t>
            </a:r>
            <a:r>
              <a:rPr lang="es-ES" sz="1814" dirty="0" err="1"/>
              <a:t>multicolinealidad</a:t>
            </a:r>
            <a:r>
              <a:rPr lang="es-ES" sz="1814" dirty="0"/>
              <a:t>, sobreajuste, errores en los datos o problemas en el diseño del modelo.</a:t>
            </a:r>
          </a:p>
          <a:p>
            <a:pPr algn="just"/>
            <a:endParaRPr lang="es-ES" sz="1814" b="1" baseline="30000" dirty="0">
              <a:solidFill>
                <a:srgbClr val="FF0000"/>
              </a:solidFill>
            </a:endParaRPr>
          </a:p>
        </p:txBody>
      </p:sp>
      <p:pic>
        <p:nvPicPr>
          <p:cNvPr id="4" name="Imagen 3"/>
          <p:cNvPicPr>
            <a:picLocks noChangeAspect="1"/>
          </p:cNvPicPr>
          <p:nvPr/>
        </p:nvPicPr>
        <p:blipFill>
          <a:blip r:embed="rId2"/>
          <a:stretch>
            <a:fillRect/>
          </a:stretch>
        </p:blipFill>
        <p:spPr>
          <a:xfrm>
            <a:off x="2917482" y="3359902"/>
            <a:ext cx="1904749" cy="673731"/>
          </a:xfrm>
          <a:prstGeom prst="rect">
            <a:avLst/>
          </a:prstGeom>
        </p:spPr>
      </p:pic>
      <p:pic>
        <p:nvPicPr>
          <p:cNvPr id="5" name="Imagen 4"/>
          <p:cNvPicPr>
            <a:picLocks noChangeAspect="1"/>
          </p:cNvPicPr>
          <p:nvPr/>
        </p:nvPicPr>
        <p:blipFill>
          <a:blip r:embed="rId3"/>
          <a:stretch>
            <a:fillRect/>
          </a:stretch>
        </p:blipFill>
        <p:spPr>
          <a:xfrm>
            <a:off x="5839054" y="3359903"/>
            <a:ext cx="2021192" cy="673731"/>
          </a:xfrm>
          <a:prstGeom prst="rect">
            <a:avLst/>
          </a:prstGeom>
        </p:spPr>
      </p:pic>
    </p:spTree>
    <p:extLst>
      <p:ext uri="{BB962C8B-B14F-4D97-AF65-F5344CB8AC3E}">
        <p14:creationId xmlns:p14="http://schemas.microsoft.com/office/powerpoint/2010/main" val="47694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466109" y="1884218"/>
            <a:ext cx="6770254" cy="2585323"/>
          </a:xfrm>
          <a:prstGeom prst="rect">
            <a:avLst/>
          </a:prstGeom>
          <a:noFill/>
        </p:spPr>
        <p:txBody>
          <a:bodyPr wrap="square" rtlCol="0">
            <a:spAutoFit/>
          </a:bodyPr>
          <a:lstStyle/>
          <a:p>
            <a:r>
              <a:rPr lang="es-ES" dirty="0" smtClean="0"/>
              <a:t>Todas las especificaciones sobre el código a utilizar, explicación de parámetros, análisis de resultado y comentarios se ofrece en los scripts de </a:t>
            </a:r>
            <a:r>
              <a:rPr lang="es-ES" dirty="0" err="1" smtClean="0"/>
              <a:t>Jupyter</a:t>
            </a:r>
            <a:r>
              <a:rPr lang="es-ES" dirty="0" smtClean="0"/>
              <a:t> proporcionados en clase.</a:t>
            </a:r>
          </a:p>
          <a:p>
            <a:endParaRPr lang="es-ES" dirty="0"/>
          </a:p>
          <a:p>
            <a:r>
              <a:rPr lang="es-ES" dirty="0" smtClean="0"/>
              <a:t>Aunque hay librerías más concretas y especializadas en la modelización de redes neuronales, las posibilidades que ofrece </a:t>
            </a:r>
            <a:r>
              <a:rPr lang="es-ES" i="1" dirty="0" err="1" smtClean="0"/>
              <a:t>sklearn</a:t>
            </a:r>
            <a:r>
              <a:rPr lang="es-ES" dirty="0" smtClean="0"/>
              <a:t> son suficientes para una primera aproximación al entrenamiento y análisis de redes neuronales para problemas de clasificación binaria y regresión, en los que basta con una sola capa oculta.</a:t>
            </a:r>
            <a:endParaRPr lang="es-ES" dirty="0"/>
          </a:p>
        </p:txBody>
      </p:sp>
    </p:spTree>
    <p:extLst>
      <p:ext uri="{BB962C8B-B14F-4D97-AF65-F5344CB8AC3E}">
        <p14:creationId xmlns:p14="http://schemas.microsoft.com/office/powerpoint/2010/main" val="8429758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ES"/>
          </a:p>
        </p:txBody>
      </p:sp>
      <p:sp>
        <p:nvSpPr>
          <p:cNvPr id="3" name="Subtítulo 2"/>
          <p:cNvSpPr>
            <a:spLocks noGrp="1"/>
          </p:cNvSpPr>
          <p:nvPr>
            <p:ph type="subTitle" idx="1"/>
          </p:nvPr>
        </p:nvSpPr>
        <p:spPr/>
        <p:txBody>
          <a:bodyPr/>
          <a:lstStyle/>
          <a:p>
            <a:endParaRPr lang="es-ES"/>
          </a:p>
        </p:txBody>
      </p:sp>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983" y="0"/>
            <a:ext cx="1025341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57640" y="637523"/>
            <a:ext cx="2616112" cy="969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420" y="637523"/>
            <a:ext cx="1174220" cy="1174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p:cNvSpPr/>
          <p:nvPr/>
        </p:nvSpPr>
        <p:spPr>
          <a:xfrm>
            <a:off x="2355273" y="2480290"/>
            <a:ext cx="6096000" cy="2923877"/>
          </a:xfrm>
          <a:prstGeom prst="rect">
            <a:avLst/>
          </a:prstGeom>
        </p:spPr>
        <p:txBody>
          <a:bodyPr>
            <a:spAutoFit/>
          </a:bodyPr>
          <a:lstStyle/>
          <a:p>
            <a:pPr marL="272727" indent="-121212" algn="ctr">
              <a:spcBef>
                <a:spcPct val="0"/>
              </a:spcBef>
              <a:buClr>
                <a:srgbClr val="000000"/>
              </a:buClr>
              <a:defRPr/>
            </a:pPr>
            <a:r>
              <a:rPr lang="es-ES" altLang="es-ES" sz="4000" b="1" kern="0" dirty="0">
                <a:solidFill>
                  <a:srgbClr val="0972CB"/>
                </a:solidFill>
                <a:latin typeface="Oxygen"/>
                <a:ea typeface="Oxygen"/>
                <a:cs typeface="Oxygen"/>
                <a:sym typeface="Oxygen"/>
              </a:rPr>
              <a:t>Machine </a:t>
            </a:r>
            <a:r>
              <a:rPr lang="es-ES" altLang="es-ES" sz="4000" b="1" kern="0" dirty="0" err="1">
                <a:solidFill>
                  <a:srgbClr val="0972CB"/>
                </a:solidFill>
                <a:latin typeface="Oxygen"/>
                <a:ea typeface="Oxygen"/>
                <a:cs typeface="Oxygen"/>
                <a:sym typeface="Oxygen"/>
              </a:rPr>
              <a:t>Learning</a:t>
            </a:r>
            <a:endParaRPr lang="es-ES" altLang="es-ES" sz="4000" b="1" kern="0" dirty="0">
              <a:solidFill>
                <a:srgbClr val="0972CB"/>
              </a:solidFill>
              <a:latin typeface="Oxygen"/>
              <a:ea typeface="Oxygen"/>
              <a:cs typeface="Oxygen"/>
              <a:sym typeface="Oxygen"/>
            </a:endParaRPr>
          </a:p>
          <a:p>
            <a:pPr marL="272727" indent="-121212" algn="ctr">
              <a:spcBef>
                <a:spcPct val="0"/>
              </a:spcBef>
              <a:buClr>
                <a:srgbClr val="000000"/>
              </a:buClr>
              <a:defRPr/>
            </a:pPr>
            <a:r>
              <a:rPr lang="es-ES" altLang="es-ES" sz="4000" b="1" kern="0" dirty="0">
                <a:solidFill>
                  <a:srgbClr val="0972CB"/>
                </a:solidFill>
                <a:latin typeface="Oxygen"/>
                <a:ea typeface="Oxygen"/>
                <a:cs typeface="Oxygen"/>
                <a:sym typeface="Oxygen"/>
              </a:rPr>
              <a:t>Redes </a:t>
            </a:r>
            <a:r>
              <a:rPr lang="es-ES" altLang="es-ES" sz="4000" b="1" kern="0" dirty="0" smtClean="0">
                <a:solidFill>
                  <a:srgbClr val="0972CB"/>
                </a:solidFill>
                <a:latin typeface="Oxygen"/>
                <a:ea typeface="Oxygen"/>
                <a:cs typeface="Oxygen"/>
                <a:sym typeface="Oxygen"/>
              </a:rPr>
              <a:t>Neuronales</a:t>
            </a:r>
          </a:p>
          <a:p>
            <a:pPr marL="272727" indent="-121212" algn="ctr">
              <a:spcBef>
                <a:spcPct val="0"/>
              </a:spcBef>
              <a:buClr>
                <a:srgbClr val="000000"/>
              </a:buClr>
              <a:defRPr/>
            </a:pPr>
            <a:endParaRPr lang="es-ES" altLang="es-ES" sz="4000" b="1" kern="0" dirty="0" smtClean="0">
              <a:solidFill>
                <a:srgbClr val="FF0000"/>
              </a:solidFill>
              <a:latin typeface="Oxygen"/>
              <a:ea typeface="Oxygen"/>
              <a:cs typeface="Oxygen"/>
              <a:sym typeface="Oxygen"/>
            </a:endParaRPr>
          </a:p>
          <a:p>
            <a:pPr marL="272727" indent="-121212" algn="ctr">
              <a:spcBef>
                <a:spcPct val="0"/>
              </a:spcBef>
              <a:buClr>
                <a:srgbClr val="000000"/>
              </a:buClr>
              <a:defRPr/>
            </a:pPr>
            <a:endParaRPr lang="es-ES" altLang="es-ES" sz="4000" b="1" kern="0" dirty="0">
              <a:solidFill>
                <a:srgbClr val="FF0000"/>
              </a:solidFill>
              <a:latin typeface="Oxygen"/>
              <a:ea typeface="Oxygen"/>
              <a:cs typeface="Oxygen"/>
              <a:sym typeface="Oxygen"/>
            </a:endParaRPr>
          </a:p>
          <a:p>
            <a:pPr marL="272727" indent="-121212" algn="ctr">
              <a:spcBef>
                <a:spcPct val="0"/>
              </a:spcBef>
              <a:buClr>
                <a:srgbClr val="000000"/>
              </a:buClr>
              <a:defRPr/>
            </a:pPr>
            <a:r>
              <a:rPr lang="es-ES" altLang="es-ES" kern="0" dirty="0" smtClean="0">
                <a:solidFill>
                  <a:schemeClr val="accent1"/>
                </a:solidFill>
                <a:latin typeface="Oxygen"/>
                <a:ea typeface="Oxygen"/>
                <a:cs typeface="Oxygen"/>
                <a:sym typeface="Oxygen"/>
              </a:rPr>
              <a:t>Inmaculada Gutiérrez García-Pardo</a:t>
            </a:r>
            <a:endParaRPr lang="es-ES" altLang="es-ES" kern="0" dirty="0">
              <a:solidFill>
                <a:schemeClr val="accent1"/>
              </a:solidFill>
              <a:latin typeface="Oxygen"/>
              <a:ea typeface="Oxygen"/>
              <a:cs typeface="Oxygen"/>
              <a:sym typeface="Oxygen"/>
            </a:endParaRPr>
          </a:p>
        </p:txBody>
      </p:sp>
    </p:spTree>
    <p:extLst>
      <p:ext uri="{BB962C8B-B14F-4D97-AF65-F5344CB8AC3E}">
        <p14:creationId xmlns:p14="http://schemas.microsoft.com/office/powerpoint/2010/main" val="273831301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4940</Words>
  <Application>Microsoft Office PowerPoint</Application>
  <PresentationFormat>Panorámica</PresentationFormat>
  <Paragraphs>380</Paragraphs>
  <Slides>43</Slides>
  <Notes>1</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43</vt:i4>
      </vt:variant>
    </vt:vector>
  </HeadingPairs>
  <TitlesOfParts>
    <vt:vector size="54" baseType="lpstr">
      <vt:lpstr>Arial</vt:lpstr>
      <vt:lpstr>Calibri</vt:lpstr>
      <vt:lpstr>Calibri Light</vt:lpstr>
      <vt:lpstr>Cambria Math</vt:lpstr>
      <vt:lpstr>Courier New</vt:lpstr>
      <vt:lpstr>Oxygen</vt:lpstr>
      <vt:lpstr>Söhne</vt:lpstr>
      <vt:lpstr>Symbol</vt:lpstr>
      <vt:lpstr>Times New Roman</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Red Neuronal Artificial. Algunas nociones básicas</vt:lpstr>
      <vt:lpstr>Red Neuronal Artificial</vt:lpstr>
      <vt:lpstr>Planteamiento</vt:lpstr>
      <vt:lpstr>¿Cuándo utilizar las redes neuronales?</vt:lpstr>
      <vt:lpstr>¿Cuándo NO utilizar las redes neuronales?</vt:lpstr>
      <vt:lpstr>Fases en la modelización con redes neuronales</vt:lpstr>
      <vt:lpstr>Construcción del modelo: MLP hacia adelante, backpropagation</vt:lpstr>
      <vt:lpstr>La función de combinación más habitual es la lineal.  Previamente se han estandarizado las variables input.</vt:lpstr>
      <vt:lpstr>Tras aplicar la función de combinación, aplicamos a cada nodo oculto la función de  activación , representada por f .</vt:lpstr>
      <vt:lpstr>Finalmente aplicamos combinación y después activación de la capa oculta a la capa  output</vt:lpstr>
      <vt:lpstr>Y=tanh(w1,outH1+w2,outH2+w3,outH3+w4,outH4+bout)=</vt:lpstr>
      <vt:lpstr>Presentación de PowerPoint</vt:lpstr>
      <vt:lpstr>El objetivo computacional concreto es estimar los parámetros w y b del  modelo.</vt:lpstr>
      <vt:lpstr>Explicación matemática</vt:lpstr>
      <vt:lpstr>El Soporte Teórico</vt:lpstr>
      <vt:lpstr>En otras palabras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Pre-procesado de las variables input para la construcción de una red  neuronal , en general, pero sobre todo en paquetes de R o Python</vt:lpstr>
      <vt:lpstr>Algunas recomendaciones para fijar  el número de nodos, dados los datos</vt:lpstr>
      <vt:lpstr>Reglas simples a tener en cuenta para decidir el número de nodos y para  comprender su efecto en las predicciones</vt:lpstr>
      <vt:lpstr>c) Respecto al número de observaciones. Más observaciones nos permiten más nodos, pocas observaciones  son insuficientes. La regla de 20 observaciones por parámetro también es algo razonable a respetar.</vt:lpstr>
      <vt:lpstr>Presentación de PowerPoint</vt:lpstr>
      <vt:lpstr>Red neuronal para regresión</vt:lpstr>
      <vt:lpstr>Presentación de PowerPoint</vt:lpstr>
      <vt:lpstr>Presentación de PowerPoint</vt:lpstr>
      <vt:lpstr>Presentación de PowerPoint</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user</dc:creator>
  <cp:lastModifiedBy>user</cp:lastModifiedBy>
  <cp:revision>9</cp:revision>
  <dcterms:created xsi:type="dcterms:W3CDTF">2025-01-21T13:24:55Z</dcterms:created>
  <dcterms:modified xsi:type="dcterms:W3CDTF">2025-06-03T11:13:05Z</dcterms:modified>
</cp:coreProperties>
</file>