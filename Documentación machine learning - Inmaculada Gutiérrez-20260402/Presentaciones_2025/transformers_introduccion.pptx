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F25B-6820-40EB-939B-484358455A89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B403-6C91-46B0-8460-CCBABE2C9D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7156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F25B-6820-40EB-939B-484358455A89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B403-6C91-46B0-8460-CCBABE2C9D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5182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F25B-6820-40EB-939B-484358455A89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B403-6C91-46B0-8460-CCBABE2C9D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5178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F25B-6820-40EB-939B-484358455A89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B403-6C91-46B0-8460-CCBABE2C9D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724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F25B-6820-40EB-939B-484358455A89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B403-6C91-46B0-8460-CCBABE2C9D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715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F25B-6820-40EB-939B-484358455A89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B403-6C91-46B0-8460-CCBABE2C9D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964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F25B-6820-40EB-939B-484358455A89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B403-6C91-46B0-8460-CCBABE2C9D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141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F25B-6820-40EB-939B-484358455A89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B403-6C91-46B0-8460-CCBABE2C9D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3402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F25B-6820-40EB-939B-484358455A89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B403-6C91-46B0-8460-CCBABE2C9D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1170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F25B-6820-40EB-939B-484358455A89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B403-6C91-46B0-8460-CCBABE2C9D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1931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3F25B-6820-40EB-939B-484358455A89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B403-6C91-46B0-8460-CCBABE2C9D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305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3F25B-6820-40EB-939B-484358455A89}" type="datetimeFigureOut">
              <a:rPr lang="es-ES" smtClean="0"/>
              <a:t>03/06/2025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0B403-6C91-46B0-8460-CCBABE2C9D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375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-research/text-to-text-transfer-transformer" TargetMode="External"/><Relationship Id="rId2" Type="http://schemas.openxmlformats.org/officeDocument/2006/relationships/hyperlink" Target="https://arxiv.org/abs/1810.04805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1907.11692" TargetMode="External"/><Relationship Id="rId4" Type="http://schemas.openxmlformats.org/officeDocument/2006/relationships/hyperlink" Target="https://arxiv.org/abs/1906.08237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hape 47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5200" y="-64655"/>
            <a:ext cx="12306941" cy="6922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hape 49">
            <a:extLst>
              <a:ext uri="{FF2B5EF4-FFF2-40B4-BE49-F238E27FC236}">
                <a16:creationId xmlns="" xmlns:a16="http://schemas.microsoft.com/office/drawing/2014/main" id="{24A6ABCE-206C-4C33-940C-027B2CD6E148}"/>
              </a:ext>
            </a:extLst>
          </p:cNvPr>
          <p:cNvSpPr txBox="1">
            <a:spLocks/>
          </p:cNvSpPr>
          <p:nvPr/>
        </p:nvSpPr>
        <p:spPr bwMode="auto">
          <a:xfrm>
            <a:off x="2068945" y="2874961"/>
            <a:ext cx="6220403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1pPr>
            <a:lvl2pPr marL="0" indent="19050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2pPr>
            <a:lvl3pPr marL="0" indent="19050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3pPr>
            <a:lvl4pPr marL="0" indent="19050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4pPr>
            <a:lvl5pPr marL="0" indent="19050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5pPr>
            <a:lvl6pPr marL="0" marR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L="0" marR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L="0" marR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L="0" marR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marL="342900" indent="-152400" eaLnBrk="1" hangingPunct="1">
              <a:spcBef>
                <a:spcPct val="0"/>
              </a:spcBef>
              <a:buClr>
                <a:srgbClr val="000000"/>
              </a:buClr>
              <a:defRPr/>
            </a:pPr>
            <a:r>
              <a:rPr lang="es-ES" altLang="es-ES" sz="4000" kern="0" dirty="0" smtClean="0">
                <a:solidFill>
                  <a:srgbClr val="0972CB"/>
                </a:solidFill>
                <a:latin typeface="Oxygen"/>
                <a:ea typeface="Oxygen"/>
                <a:cs typeface="Oxygen"/>
                <a:sym typeface="Oxygen"/>
              </a:rPr>
              <a:t>Machine </a:t>
            </a:r>
            <a:r>
              <a:rPr lang="es-ES" altLang="es-ES" sz="4000" kern="0" dirty="0" err="1" smtClean="0">
                <a:solidFill>
                  <a:srgbClr val="0972CB"/>
                </a:solidFill>
                <a:latin typeface="Oxygen"/>
                <a:ea typeface="Oxygen"/>
                <a:cs typeface="Oxygen"/>
                <a:sym typeface="Oxygen"/>
              </a:rPr>
              <a:t>Learning</a:t>
            </a:r>
            <a:endParaRPr lang="es-ES" altLang="es-ES" sz="4000" kern="0" dirty="0" smtClean="0">
              <a:solidFill>
                <a:srgbClr val="0972CB"/>
              </a:solidFill>
              <a:latin typeface="Oxygen"/>
              <a:ea typeface="Oxygen"/>
              <a:cs typeface="Oxygen"/>
              <a:sym typeface="Oxygen"/>
            </a:endParaRPr>
          </a:p>
          <a:p>
            <a:pPr marL="342900" indent="-152400" eaLnBrk="1" hangingPunct="1">
              <a:spcBef>
                <a:spcPct val="0"/>
              </a:spcBef>
              <a:buClr>
                <a:srgbClr val="000000"/>
              </a:buClr>
              <a:defRPr/>
            </a:pPr>
            <a:r>
              <a:rPr lang="es-ES" altLang="es-ES" sz="4000" kern="0" dirty="0" smtClean="0">
                <a:solidFill>
                  <a:srgbClr val="0972CB"/>
                </a:solidFill>
                <a:latin typeface="Oxygen"/>
                <a:ea typeface="Oxygen"/>
                <a:cs typeface="Oxygen"/>
                <a:sym typeface="Oxygen"/>
              </a:rPr>
              <a:t>Transformers: introducción</a:t>
            </a:r>
            <a:endParaRPr lang="es-ES" altLang="es-ES" sz="4000" kern="0" dirty="0">
              <a:solidFill>
                <a:srgbClr val="0972CB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" name="Shape 49">
            <a:extLst>
              <a:ext uri="{FF2B5EF4-FFF2-40B4-BE49-F238E27FC236}">
                <a16:creationId xmlns="" xmlns:a16="http://schemas.microsoft.com/office/drawing/2014/main" id="{3B39229B-4789-4E5F-A863-803DF35813F8}"/>
              </a:ext>
            </a:extLst>
          </p:cNvPr>
          <p:cNvSpPr txBox="1">
            <a:spLocks/>
          </p:cNvSpPr>
          <p:nvPr/>
        </p:nvSpPr>
        <p:spPr bwMode="auto">
          <a:xfrm>
            <a:off x="3451371" y="4962383"/>
            <a:ext cx="3794242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1pPr>
            <a:lvl2pPr marL="0" indent="19050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2pPr>
            <a:lvl3pPr marL="0" indent="19050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3pPr>
            <a:lvl4pPr marL="0" indent="19050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4pPr>
            <a:lvl5pPr marL="0" indent="190500" algn="ctr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5pPr>
            <a:lvl6pPr marL="0" marR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L="0" marR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L="0" marR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L="0" marR="0" indent="190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marL="342900" indent="-152400" eaLnBrk="1" hangingPunct="1">
              <a:spcBef>
                <a:spcPct val="0"/>
              </a:spcBef>
              <a:buClr>
                <a:srgbClr val="000000"/>
              </a:buClr>
              <a:defRPr/>
            </a:pPr>
            <a:r>
              <a:rPr lang="es-ES" altLang="es-ES" sz="1600" kern="0" dirty="0" smtClean="0">
                <a:solidFill>
                  <a:srgbClr val="0972CB"/>
                </a:solidFill>
                <a:latin typeface="Oxygen"/>
                <a:ea typeface="Oxygen"/>
                <a:cs typeface="Oxygen"/>
                <a:sym typeface="Oxygen"/>
              </a:rPr>
              <a:t>Inmaculada Gutiérrez García-Pardo</a:t>
            </a:r>
            <a:endParaRPr lang="es-ES" altLang="es-ES" sz="1600" kern="0" dirty="0">
              <a:solidFill>
                <a:srgbClr val="0972CB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pic>
        <p:nvPicPr>
          <p:cNvPr id="7" name="Imagen 1" descr="logo_uc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721" y="539172"/>
            <a:ext cx="32893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46" y="410585"/>
            <a:ext cx="14763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1952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b="1" spc="-5" dirty="0" smtClean="0">
                <a:solidFill>
                  <a:srgbClr val="538DD3"/>
                </a:solidFill>
                <a:latin typeface="Times New Roman"/>
                <a:cs typeface="Times New Roman"/>
              </a:rPr>
              <a:t>De </a:t>
            </a:r>
            <a:r>
              <a:rPr lang="es-ES" b="1" spc="-5" dirty="0">
                <a:solidFill>
                  <a:srgbClr val="538DD3"/>
                </a:solidFill>
                <a:latin typeface="Times New Roman"/>
                <a:cs typeface="Times New Roman"/>
              </a:rPr>
              <a:t>Redes Neuronales </a:t>
            </a:r>
            <a:r>
              <a:rPr lang="es-ES" b="1" spc="-5" dirty="0" smtClean="0">
                <a:solidFill>
                  <a:srgbClr val="538DD3"/>
                </a:solidFill>
                <a:latin typeface="Times New Roman"/>
                <a:cs typeface="Times New Roman"/>
              </a:rPr>
              <a:t>a Grandes </a:t>
            </a:r>
            <a:r>
              <a:rPr lang="es-ES" b="1" spc="-5" dirty="0">
                <a:solidFill>
                  <a:srgbClr val="538DD3"/>
                </a:solidFill>
                <a:latin typeface="Times New Roman"/>
                <a:cs typeface="Times New Roman"/>
              </a:rPr>
              <a:t>Modelos de Lenguaje: sobre el uso de </a:t>
            </a:r>
            <a:r>
              <a:rPr lang="es-ES" b="1" spc="-5" dirty="0" err="1" smtClean="0">
                <a:solidFill>
                  <a:srgbClr val="538DD3"/>
                </a:solidFill>
                <a:latin typeface="Times New Roman"/>
                <a:cs typeface="Times New Roman"/>
              </a:rPr>
              <a:t>transformers</a:t>
            </a:r>
            <a:endParaRPr lang="es-ES" b="1" spc="-5" dirty="0">
              <a:solidFill>
                <a:srgbClr val="538DD3"/>
              </a:solidFill>
              <a:latin typeface="Times New Roman"/>
              <a:cs typeface="Times New Roman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176607"/>
            <a:ext cx="10515600" cy="4351338"/>
          </a:xfrm>
        </p:spPr>
        <p:txBody>
          <a:bodyPr>
            <a:normAutofit fontScale="70000" lnSpcReduction="20000"/>
          </a:bodyPr>
          <a:lstStyle/>
          <a:p>
            <a:r>
              <a:rPr lang="es-ES" b="1" u="sng" dirty="0" smtClean="0"/>
              <a:t>Red </a:t>
            </a:r>
            <a:r>
              <a:rPr lang="es-ES" b="1" u="sng" dirty="0"/>
              <a:t>Neuronal</a:t>
            </a:r>
            <a:r>
              <a:rPr lang="es-ES" dirty="0"/>
              <a:t>: </a:t>
            </a:r>
            <a:endParaRPr lang="es-ES" dirty="0" smtClean="0"/>
          </a:p>
          <a:p>
            <a:pPr lvl="1"/>
            <a:r>
              <a:rPr lang="es-ES" dirty="0" smtClean="0"/>
              <a:t>Concepto</a:t>
            </a:r>
            <a:r>
              <a:rPr lang="es-ES" dirty="0"/>
              <a:t>: imagina una red neuronal como un equipo de </a:t>
            </a:r>
            <a:r>
              <a:rPr lang="es-ES" b="1" dirty="0"/>
              <a:t>trabajadores interconectados</a:t>
            </a:r>
            <a:r>
              <a:rPr lang="es-ES" dirty="0"/>
              <a:t> (neuronas) </a:t>
            </a:r>
            <a:r>
              <a:rPr lang="es-ES" b="1" dirty="0"/>
              <a:t>transmitiendo información</a:t>
            </a:r>
            <a:r>
              <a:rPr lang="es-ES" dirty="0"/>
              <a:t>. Cada trabajador toma alguna entrada, la procesa y la pasa al siguiente trabajador hasta que se logra la salida final. </a:t>
            </a:r>
            <a:endParaRPr lang="es-ES" dirty="0" smtClean="0"/>
          </a:p>
          <a:p>
            <a:pPr lvl="1"/>
            <a:r>
              <a:rPr lang="es-ES" dirty="0" smtClean="0"/>
              <a:t>Analogía</a:t>
            </a:r>
            <a:r>
              <a:rPr lang="es-ES" dirty="0"/>
              <a:t>: es como una </a:t>
            </a:r>
            <a:r>
              <a:rPr lang="es-ES" b="1" dirty="0"/>
              <a:t>carrera de relevos</a:t>
            </a:r>
            <a:r>
              <a:rPr lang="es-ES" dirty="0"/>
              <a:t> donde cada corredor (neurona) contribuye a alcanzar la línea de meta (salida).</a:t>
            </a:r>
          </a:p>
          <a:p>
            <a:r>
              <a:rPr lang="es-ES" b="1" u="sng" dirty="0" err="1" smtClean="0"/>
              <a:t>Transformer</a:t>
            </a:r>
            <a:r>
              <a:rPr lang="es-ES" dirty="0" smtClean="0"/>
              <a:t>: </a:t>
            </a:r>
          </a:p>
          <a:p>
            <a:pPr lvl="1"/>
            <a:r>
              <a:rPr lang="es-ES" dirty="0" smtClean="0"/>
              <a:t>Concepto</a:t>
            </a:r>
            <a:r>
              <a:rPr lang="es-ES" dirty="0"/>
              <a:t>: un transformador es un </a:t>
            </a:r>
            <a:r>
              <a:rPr lang="es-ES" b="1" dirty="0"/>
              <a:t>grupo de trabajadores que pueden comunicarse todos al mismo tiempo</a:t>
            </a:r>
            <a:r>
              <a:rPr lang="es-ES" dirty="0"/>
              <a:t>. Cada trabajador no solo transmite información linealmente; discuten y refinan colectivamente la información simultáneamente. </a:t>
            </a:r>
            <a:endParaRPr lang="es-ES" dirty="0" smtClean="0"/>
          </a:p>
          <a:p>
            <a:pPr lvl="1"/>
            <a:r>
              <a:rPr lang="es-ES" dirty="0" smtClean="0"/>
              <a:t>Analogía</a:t>
            </a:r>
            <a:r>
              <a:rPr lang="es-ES" dirty="0"/>
              <a:t>: es como una </a:t>
            </a:r>
            <a:r>
              <a:rPr lang="es-ES" b="1" dirty="0"/>
              <a:t>sesión de lluvia de ideas</a:t>
            </a:r>
            <a:r>
              <a:rPr lang="es-ES" dirty="0"/>
              <a:t> donde todos en el equipo colaboran juntos para resolver un problema.</a:t>
            </a:r>
          </a:p>
          <a:p>
            <a:r>
              <a:rPr lang="es-ES" dirty="0"/>
              <a:t>Mientras que una </a:t>
            </a:r>
            <a:r>
              <a:rPr lang="es-ES" b="1" dirty="0"/>
              <a:t>red neuronal</a:t>
            </a:r>
            <a:r>
              <a:rPr lang="es-ES" dirty="0"/>
              <a:t> funciona de manera </a:t>
            </a:r>
            <a:r>
              <a:rPr lang="es-ES" b="1" dirty="0"/>
              <a:t>secuencial</a:t>
            </a:r>
            <a:r>
              <a:rPr lang="es-ES" dirty="0"/>
              <a:t>, un </a:t>
            </a:r>
            <a:r>
              <a:rPr lang="es-ES" dirty="0" err="1" smtClean="0"/>
              <a:t>transformer</a:t>
            </a:r>
            <a:r>
              <a:rPr lang="es-ES" dirty="0" smtClean="0"/>
              <a:t> </a:t>
            </a:r>
            <a:r>
              <a:rPr lang="es-ES" dirty="0"/>
              <a:t>permite un </a:t>
            </a:r>
            <a:r>
              <a:rPr lang="es-ES" b="1" dirty="0"/>
              <a:t>procesamiento</a:t>
            </a:r>
            <a:r>
              <a:rPr lang="es-ES" dirty="0"/>
              <a:t> más </a:t>
            </a:r>
            <a:r>
              <a:rPr lang="es-ES" b="1" dirty="0"/>
              <a:t>paralelo y colaborativo</a:t>
            </a:r>
            <a:r>
              <a:rPr lang="es-ES" dirty="0"/>
              <a:t>, lo que lo hace altamente efectivo para tareas como el procesamiento del lenguaje natural y el reconocimiento de imágenes.</a:t>
            </a:r>
          </a:p>
          <a:p>
            <a:r>
              <a:rPr lang="es-ES" b="1" dirty="0">
                <a:solidFill>
                  <a:srgbClr val="FF0000"/>
                </a:solidFill>
              </a:rPr>
              <a:t>INNOVACIÓN CLAVE</a:t>
            </a:r>
            <a:r>
              <a:rPr lang="es-ES" dirty="0"/>
              <a:t>: mecanismo de </a:t>
            </a:r>
            <a:r>
              <a:rPr lang="es-ES" dirty="0" err="1"/>
              <a:t>autoatención</a:t>
            </a:r>
            <a:r>
              <a:rPr lang="es-ES" dirty="0"/>
              <a:t>, que permite el manejo eficiente de las relaciones entre diferentes partes de los datos de entrada.</a:t>
            </a:r>
          </a:p>
        </p:txBody>
      </p:sp>
    </p:spTree>
    <p:extLst>
      <p:ext uri="{BB962C8B-B14F-4D97-AF65-F5344CB8AC3E}">
        <p14:creationId xmlns:p14="http://schemas.microsoft.com/office/powerpoint/2010/main" val="3863354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838200" y="1268907"/>
            <a:ext cx="105156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i="0" dirty="0" smtClean="0">
                <a:solidFill>
                  <a:srgbClr val="374151"/>
                </a:solidFill>
                <a:effectLst/>
                <a:latin typeface="Söhne"/>
              </a:rPr>
              <a:t>BERT</a:t>
            </a:r>
            <a:r>
              <a:rPr lang="es-ES" b="0" i="0" dirty="0" smtClean="0">
                <a:solidFill>
                  <a:srgbClr val="374151"/>
                </a:solidFill>
                <a:effectLst/>
                <a:latin typeface="Söhne"/>
              </a:rPr>
              <a:t> (</a:t>
            </a:r>
            <a:r>
              <a:rPr lang="es-ES" b="0" i="0" dirty="0" err="1" smtClean="0">
                <a:solidFill>
                  <a:srgbClr val="374151"/>
                </a:solidFill>
                <a:effectLst/>
                <a:latin typeface="Söhne"/>
              </a:rPr>
              <a:t>Bidirectional</a:t>
            </a:r>
            <a:r>
              <a:rPr lang="es-E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s-ES" b="0" i="0" dirty="0" err="1" smtClean="0">
                <a:solidFill>
                  <a:srgbClr val="374151"/>
                </a:solidFill>
                <a:effectLst/>
                <a:latin typeface="Söhne"/>
              </a:rPr>
              <a:t>Encoder</a:t>
            </a:r>
            <a:r>
              <a:rPr lang="es-E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s-ES" b="0" i="0" dirty="0" err="1" smtClean="0">
                <a:solidFill>
                  <a:srgbClr val="374151"/>
                </a:solidFill>
                <a:effectLst/>
                <a:latin typeface="Söhne"/>
              </a:rPr>
              <a:t>Representations</a:t>
            </a:r>
            <a:r>
              <a:rPr lang="es-E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s-ES" b="0" i="0" dirty="0" err="1" smtClean="0">
                <a:solidFill>
                  <a:srgbClr val="374151"/>
                </a:solidFill>
                <a:effectLst/>
                <a:latin typeface="Söhne"/>
              </a:rPr>
              <a:t>from</a:t>
            </a:r>
            <a:r>
              <a:rPr lang="es-ES" b="0" i="0" dirty="0" smtClean="0">
                <a:solidFill>
                  <a:srgbClr val="374151"/>
                </a:solidFill>
                <a:effectLst/>
                <a:latin typeface="Söhne"/>
              </a:rPr>
              <a:t> Transformers): desarrollado por Google, BERT destaca en comprender relaciones contextuales entre palabras en una oración. Se utiliza para tareas como clasificación de texto, extracción de información y respuesta a preguntas. (</a:t>
            </a:r>
            <a:r>
              <a:rPr lang="es-ES" b="0" i="0" u="none" strike="noStrike" dirty="0" smtClean="0">
                <a:solidFill>
                  <a:srgbClr val="374151"/>
                </a:solidFill>
                <a:effectLst/>
                <a:latin typeface="Söhne"/>
                <a:hlinkClick r:id="rId2"/>
              </a:rPr>
              <a:t>https://arxiv.org/abs/1810.04805</a:t>
            </a:r>
            <a:r>
              <a:rPr lang="es-ES" b="0" i="0" dirty="0" smtClean="0">
                <a:solidFill>
                  <a:srgbClr val="374151"/>
                </a:solidFill>
                <a:effectLst/>
                <a:latin typeface="Söhne"/>
              </a:rPr>
              <a:t>)</a:t>
            </a:r>
          </a:p>
          <a:p>
            <a:endParaRPr lang="es-ES" b="0" i="0" dirty="0" smtClean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i="0" dirty="0" smtClean="0">
                <a:solidFill>
                  <a:srgbClr val="374151"/>
                </a:solidFill>
                <a:effectLst/>
                <a:latin typeface="Söhne"/>
              </a:rPr>
              <a:t>T5</a:t>
            </a:r>
            <a:r>
              <a:rPr lang="es-ES" b="0" i="0" dirty="0" smtClean="0">
                <a:solidFill>
                  <a:srgbClr val="374151"/>
                </a:solidFill>
                <a:effectLst/>
                <a:latin typeface="Söhne"/>
              </a:rPr>
              <a:t> (Text-to-Text Transfer </a:t>
            </a:r>
            <a:r>
              <a:rPr lang="es-ES" b="0" i="0" dirty="0" err="1" smtClean="0">
                <a:solidFill>
                  <a:srgbClr val="374151"/>
                </a:solidFill>
                <a:effectLst/>
                <a:latin typeface="Söhne"/>
              </a:rPr>
              <a:t>Transformer</a:t>
            </a:r>
            <a:r>
              <a:rPr lang="es-ES" b="0" i="0" dirty="0" smtClean="0">
                <a:solidFill>
                  <a:srgbClr val="374151"/>
                </a:solidFill>
                <a:effectLst/>
                <a:latin typeface="Söhne"/>
              </a:rPr>
              <a:t>): desarrollado por Google, T5 maneja diversas tareas de procesamiento del lenguaje natural convirtiendo todas las tareas a un formato "texto a texto". Se utiliza para traducción automática, resumen de texto y clasificación. (</a:t>
            </a:r>
            <a:r>
              <a:rPr lang="es-ES" b="0" i="0" u="none" strike="noStrike" dirty="0" smtClean="0">
                <a:solidFill>
                  <a:srgbClr val="374151"/>
                </a:solidFill>
                <a:effectLst/>
                <a:latin typeface="Söhne"/>
                <a:hlinkClick r:id="rId3"/>
              </a:rPr>
              <a:t>https://github.com/google-research/text-to-text-transfer-transformer</a:t>
            </a:r>
            <a:r>
              <a:rPr lang="es-ES" b="0" i="0" dirty="0" smtClean="0">
                <a:solidFill>
                  <a:srgbClr val="374151"/>
                </a:solidFill>
                <a:effectLst/>
                <a:latin typeface="Söhne"/>
              </a:rPr>
              <a:t>)</a:t>
            </a:r>
          </a:p>
          <a:p>
            <a:endParaRPr lang="es-ES" b="0" i="0" dirty="0" smtClean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i="0" dirty="0" err="1" smtClean="0">
                <a:solidFill>
                  <a:srgbClr val="374151"/>
                </a:solidFill>
                <a:effectLst/>
                <a:latin typeface="Söhne"/>
              </a:rPr>
              <a:t>XLNet</a:t>
            </a:r>
            <a:r>
              <a:rPr lang="es-ES" b="0" i="0" dirty="0" smtClean="0">
                <a:solidFill>
                  <a:srgbClr val="374151"/>
                </a:solidFill>
                <a:effectLst/>
                <a:latin typeface="Söhne"/>
              </a:rPr>
              <a:t>: desarrollado por Google y la Universidad Carnegie </a:t>
            </a:r>
            <a:r>
              <a:rPr lang="es-ES" b="0" i="0" dirty="0" err="1" smtClean="0">
                <a:solidFill>
                  <a:srgbClr val="374151"/>
                </a:solidFill>
                <a:effectLst/>
                <a:latin typeface="Söhne"/>
              </a:rPr>
              <a:t>Mellon</a:t>
            </a:r>
            <a:r>
              <a:rPr lang="es-ES" b="0" i="0" dirty="0" smtClean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s-ES" b="0" i="0" dirty="0" err="1" smtClean="0">
                <a:solidFill>
                  <a:srgbClr val="374151"/>
                </a:solidFill>
                <a:effectLst/>
                <a:latin typeface="Söhne"/>
              </a:rPr>
              <a:t>XLNet</a:t>
            </a:r>
            <a:r>
              <a:rPr lang="es-ES" b="0" i="0" dirty="0" smtClean="0">
                <a:solidFill>
                  <a:srgbClr val="374151"/>
                </a:solidFill>
                <a:effectLst/>
                <a:latin typeface="Söhne"/>
              </a:rPr>
              <a:t> aborda problemas de dependencia a largo plazo en el procesamiento del lenguaje natural. Se utiliza en tareas de procesamiento del lenguaje natural que requieren comprensión de contextos más extensos. (</a:t>
            </a:r>
            <a:r>
              <a:rPr lang="es-ES" b="0" i="0" u="none" strike="noStrike" dirty="0" smtClean="0">
                <a:solidFill>
                  <a:srgbClr val="374151"/>
                </a:solidFill>
                <a:effectLst/>
                <a:latin typeface="Söhne"/>
                <a:hlinkClick r:id="rId4"/>
              </a:rPr>
              <a:t>https://arxiv.org/abs/1906.08237</a:t>
            </a:r>
            <a:r>
              <a:rPr lang="es-ES" b="0" i="0" dirty="0" smtClean="0">
                <a:solidFill>
                  <a:srgbClr val="374151"/>
                </a:solidFill>
                <a:effectLst/>
                <a:latin typeface="Söhne"/>
              </a:rPr>
              <a:t>)</a:t>
            </a:r>
          </a:p>
          <a:p>
            <a:endParaRPr lang="es-ES" b="0" i="0" dirty="0" smtClean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i="0" dirty="0" err="1" smtClean="0">
                <a:solidFill>
                  <a:srgbClr val="374151"/>
                </a:solidFill>
                <a:effectLst/>
                <a:latin typeface="Söhne"/>
              </a:rPr>
              <a:t>RoBERTa</a:t>
            </a:r>
            <a:r>
              <a:rPr lang="es-ES" b="0" i="0" dirty="0" smtClean="0">
                <a:solidFill>
                  <a:srgbClr val="374151"/>
                </a:solidFill>
                <a:effectLst/>
                <a:latin typeface="Söhne"/>
              </a:rPr>
              <a:t> (</a:t>
            </a:r>
            <a:r>
              <a:rPr lang="es-ES" b="0" i="0" dirty="0" err="1" smtClean="0">
                <a:solidFill>
                  <a:srgbClr val="374151"/>
                </a:solidFill>
                <a:effectLst/>
                <a:latin typeface="Söhne"/>
              </a:rPr>
              <a:t>Robustly</a:t>
            </a:r>
            <a:r>
              <a:rPr lang="es-E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s-ES" b="0" i="0" dirty="0" err="1" smtClean="0">
                <a:solidFill>
                  <a:srgbClr val="374151"/>
                </a:solidFill>
                <a:effectLst/>
                <a:latin typeface="Söhne"/>
              </a:rPr>
              <a:t>optimized</a:t>
            </a:r>
            <a:r>
              <a:rPr lang="es-ES" b="0" i="0" dirty="0" smtClean="0">
                <a:solidFill>
                  <a:srgbClr val="374151"/>
                </a:solidFill>
                <a:effectLst/>
                <a:latin typeface="Söhne"/>
              </a:rPr>
              <a:t> BERT </a:t>
            </a:r>
            <a:r>
              <a:rPr lang="es-ES" b="0" i="0" dirty="0" err="1" smtClean="0">
                <a:solidFill>
                  <a:srgbClr val="374151"/>
                </a:solidFill>
                <a:effectLst/>
                <a:latin typeface="Söhne"/>
              </a:rPr>
              <a:t>approach</a:t>
            </a:r>
            <a:r>
              <a:rPr lang="es-ES" b="0" i="0" dirty="0" smtClean="0">
                <a:solidFill>
                  <a:srgbClr val="374151"/>
                </a:solidFill>
                <a:effectLst/>
                <a:latin typeface="Söhne"/>
              </a:rPr>
              <a:t>): una variante de BERT desarrollada por Facebook AI </a:t>
            </a:r>
            <a:r>
              <a:rPr lang="es-ES" b="0" i="0" dirty="0" err="1" smtClean="0">
                <a:solidFill>
                  <a:srgbClr val="374151"/>
                </a:solidFill>
                <a:effectLst/>
                <a:latin typeface="Söhne"/>
              </a:rPr>
              <a:t>Research</a:t>
            </a:r>
            <a:r>
              <a:rPr lang="es-ES" b="0" i="0" dirty="0" smtClean="0">
                <a:solidFill>
                  <a:srgbClr val="374151"/>
                </a:solidFill>
                <a:effectLst/>
                <a:latin typeface="Söhne"/>
              </a:rPr>
              <a:t> (FAIR), diseñada para mejorar el rendimiento general del modelo. Se utiliza en tareas como clasificación de texto, análisis de sentimientos y comprensión de texto. (</a:t>
            </a:r>
            <a:r>
              <a:rPr lang="es-ES" b="0" i="0" u="none" strike="noStrike" dirty="0" smtClean="0">
                <a:solidFill>
                  <a:srgbClr val="374151"/>
                </a:solidFill>
                <a:effectLst/>
                <a:latin typeface="Söhne"/>
                <a:hlinkClick r:id="rId5"/>
              </a:rPr>
              <a:t>https://arxiv.org/abs/1907.11692</a:t>
            </a:r>
            <a:r>
              <a:rPr lang="es-ES" b="0" i="0" dirty="0" smtClean="0">
                <a:solidFill>
                  <a:srgbClr val="374151"/>
                </a:solidFill>
                <a:effectLst/>
                <a:latin typeface="Söhne"/>
              </a:rPr>
              <a:t>)</a:t>
            </a:r>
            <a:endParaRPr lang="es-E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838200" y="235817"/>
            <a:ext cx="10515600" cy="1325563"/>
          </a:xfrm>
        </p:spPr>
        <p:txBody>
          <a:bodyPr>
            <a:noAutofit/>
          </a:bodyPr>
          <a:lstStyle/>
          <a:p>
            <a:r>
              <a:rPr lang="es-ES" b="1" spc="-5" dirty="0" smtClean="0">
                <a:solidFill>
                  <a:srgbClr val="538DD3"/>
                </a:solidFill>
                <a:latin typeface="Times New Roman"/>
                <a:cs typeface="Times New Roman"/>
              </a:rPr>
              <a:t>Algunos </a:t>
            </a:r>
            <a:r>
              <a:rPr lang="es-ES" b="1" spc="-5" dirty="0" err="1" smtClean="0">
                <a:solidFill>
                  <a:srgbClr val="538DD3"/>
                </a:solidFill>
                <a:latin typeface="Times New Roman"/>
                <a:cs typeface="Times New Roman"/>
              </a:rPr>
              <a:t>transformers</a:t>
            </a:r>
            <a:endParaRPr lang="es-ES" b="1" spc="-5" dirty="0">
              <a:solidFill>
                <a:srgbClr val="538DD3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3114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2709" y="350908"/>
            <a:ext cx="10217727" cy="1325563"/>
          </a:xfrm>
        </p:spPr>
        <p:txBody>
          <a:bodyPr>
            <a:noAutofit/>
          </a:bodyPr>
          <a:lstStyle/>
          <a:p>
            <a:r>
              <a:rPr lang="es-ES" sz="3200" b="1" spc="-5" dirty="0">
                <a:solidFill>
                  <a:srgbClr val="538DD3"/>
                </a:solidFill>
                <a:latin typeface="Times New Roman"/>
                <a:cs typeface="Times New Roman"/>
              </a:rPr>
              <a:t>El nuevo mejor amigo y compañero de trabajo para todos en cualquier campo en todo el mundo: </a:t>
            </a:r>
            <a:r>
              <a:rPr lang="es-ES" sz="3200" b="1" spc="-5" dirty="0" err="1">
                <a:solidFill>
                  <a:srgbClr val="538DD3"/>
                </a:solidFill>
                <a:latin typeface="Times New Roman"/>
                <a:cs typeface="Times New Roman"/>
              </a:rPr>
              <a:t>ChatGPT</a:t>
            </a:r>
            <a:r>
              <a:rPr lang="es-ES" sz="3200" b="1" spc="-5" dirty="0">
                <a:solidFill>
                  <a:srgbClr val="538DD3"/>
                </a:solidFill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b="1" dirty="0" smtClean="0"/>
              <a:t>Escala</a:t>
            </a:r>
            <a:r>
              <a:rPr lang="es-ES" dirty="0"/>
              <a:t>: es uno de los modelos de lenguaje más grandes, GPT-3, con 175 mil millones de parámetros. Esta extensa escala mejora la capacidad para entender y generar patrones de lenguaje complejos, haciendo que </a:t>
            </a:r>
            <a:r>
              <a:rPr lang="es-ES" dirty="0" err="1"/>
              <a:t>ChatGPT</a:t>
            </a:r>
            <a:r>
              <a:rPr lang="es-ES" dirty="0"/>
              <a:t> sea versátil en una amplia variedad de tareas.</a:t>
            </a:r>
          </a:p>
          <a:p>
            <a:r>
              <a:rPr lang="es-ES" b="1" dirty="0"/>
              <a:t>Arquitectura </a:t>
            </a:r>
            <a:r>
              <a:rPr lang="es-ES" b="1" dirty="0" err="1"/>
              <a:t>Transformer</a:t>
            </a:r>
            <a:r>
              <a:rPr lang="es-ES" dirty="0"/>
              <a:t>: construido sobre la arquitectura </a:t>
            </a:r>
            <a:r>
              <a:rPr lang="es-ES" dirty="0" err="1"/>
              <a:t>transformer</a:t>
            </a:r>
            <a:r>
              <a:rPr lang="es-ES" dirty="0"/>
              <a:t>, que permite el procesamiento eficiente de información contextual, lo que le permite comprender y responder a diversas entradas de una manera más sofisticada.</a:t>
            </a:r>
          </a:p>
          <a:p>
            <a:r>
              <a:rPr lang="es-ES" b="1" dirty="0"/>
              <a:t>Interacción basada en chat</a:t>
            </a:r>
            <a:r>
              <a:rPr lang="es-ES" dirty="0"/>
              <a:t>: el diseño se centra en un formato de conversación basado en chat que facilita conversaciones interactivas y contextuales, haciendo las interacciones más naturales y amigables para los usuarios, incluso para aquellos no expertos en tecnología.</a:t>
            </a:r>
          </a:p>
          <a:p>
            <a:r>
              <a:rPr lang="es-ES" b="1" dirty="0"/>
              <a:t>Versatilidad</a:t>
            </a:r>
            <a:r>
              <a:rPr lang="es-ES" dirty="0"/>
              <a:t>: es capaz de manejar diversas tareas del lenguaje sin entrenamiento específico para una tarea. Ya sea respondiendo preguntas, generando contenido creativo o proporcionando información, esa versatilidad lo convierte en una herramienta valiosa en diferentes aplicaciones.</a:t>
            </a:r>
          </a:p>
          <a:p>
            <a:r>
              <a:rPr lang="es-ES" b="1" dirty="0"/>
              <a:t>Memoria de contexto</a:t>
            </a:r>
            <a:r>
              <a:rPr lang="es-ES" dirty="0"/>
              <a:t>: puede mantener el contexto dentro de una conversación. </a:t>
            </a:r>
            <a:r>
              <a:rPr lang="es-ES" dirty="0" err="1"/>
              <a:t>ChatGPT</a:t>
            </a:r>
            <a:r>
              <a:rPr lang="es-ES" dirty="0"/>
              <a:t> puede recordar y hacer referencia a partes anteriores de una conversación, proporcionando respuestas coherentes y contextualmente relevantes.</a:t>
            </a:r>
          </a:p>
          <a:p>
            <a:r>
              <a:rPr lang="es-ES" b="1" dirty="0"/>
              <a:t>Amplio rango de aplicaciones</a:t>
            </a:r>
            <a:r>
              <a:rPr lang="es-ES" dirty="0"/>
              <a:t>: </a:t>
            </a:r>
            <a:r>
              <a:rPr lang="es-ES" dirty="0" err="1"/>
              <a:t>ChatGPT</a:t>
            </a:r>
            <a:r>
              <a:rPr lang="es-ES" dirty="0"/>
              <a:t> se puede aplicar a un conjunto diverso de casos de uso. Ya sea que necesite ayuda con programación, escritura, aprendizaje de nuevos temas o generación de contenido creativo.</a:t>
            </a:r>
          </a:p>
          <a:p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437" y="422057"/>
            <a:ext cx="1111180" cy="111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624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i="1" dirty="0" smtClean="0">
                <a:solidFill>
                  <a:schemeClr val="accent1">
                    <a:lumMod val="75000"/>
                  </a:schemeClr>
                </a:solidFill>
              </a:rPr>
              <a:t>Herramientas de interés para procesamiento de imágenes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Deep Dream Generator:</a:t>
            </a:r>
            <a:r>
              <a:rPr lang="en-US" dirty="0"/>
              <a:t> </a:t>
            </a:r>
            <a:r>
              <a:rPr lang="en-US" dirty="0" err="1" smtClean="0"/>
              <a:t>desarrollado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Google, </a:t>
            </a:r>
            <a:r>
              <a:rPr lang="en-US" dirty="0" err="1" smtClean="0"/>
              <a:t>usa</a:t>
            </a:r>
            <a:r>
              <a:rPr lang="en-US" dirty="0" smtClean="0"/>
              <a:t> </a:t>
            </a:r>
            <a:r>
              <a:rPr lang="en-US" dirty="0" err="1" smtClean="0"/>
              <a:t>redes</a:t>
            </a:r>
            <a:r>
              <a:rPr lang="en-US" dirty="0" smtClean="0"/>
              <a:t> </a:t>
            </a:r>
            <a:r>
              <a:rPr lang="en-US" dirty="0" err="1" smtClean="0"/>
              <a:t>neuronales</a:t>
            </a:r>
            <a:r>
              <a:rPr lang="en-US" dirty="0" smtClean="0"/>
              <a:t> </a:t>
            </a:r>
            <a:r>
              <a:rPr lang="en-US" dirty="0" err="1" smtClean="0"/>
              <a:t>profundas</a:t>
            </a:r>
            <a:r>
              <a:rPr lang="en-US" dirty="0" smtClean="0"/>
              <a:t> para </a:t>
            </a:r>
            <a:r>
              <a:rPr lang="en-US" dirty="0" err="1" smtClean="0"/>
              <a:t>reinterpretar</a:t>
            </a:r>
            <a:r>
              <a:rPr lang="en-US" dirty="0" smtClean="0"/>
              <a:t> y </a:t>
            </a:r>
            <a:r>
              <a:rPr lang="en-US" dirty="0" err="1" smtClean="0"/>
              <a:t>mejorar</a:t>
            </a:r>
            <a:r>
              <a:rPr lang="en-US" dirty="0" smtClean="0"/>
              <a:t> </a:t>
            </a:r>
            <a:r>
              <a:rPr lang="en-US" dirty="0" err="1" smtClean="0"/>
              <a:t>imágenes</a:t>
            </a:r>
            <a:r>
              <a:rPr lang="en-US" dirty="0" smtClean="0"/>
              <a:t> </a:t>
            </a:r>
            <a:r>
              <a:rPr lang="en-US" dirty="0"/>
              <a:t>(https://deepdreamgenerator.com</a:t>
            </a:r>
            <a:r>
              <a:rPr lang="en-US" dirty="0" smtClean="0"/>
              <a:t>/)</a:t>
            </a:r>
            <a:endParaRPr lang="en-US" dirty="0"/>
          </a:p>
          <a:p>
            <a:r>
              <a:rPr lang="en-US" b="1" dirty="0"/>
              <a:t>DALL-E:</a:t>
            </a:r>
            <a:r>
              <a:rPr lang="en-US" dirty="0"/>
              <a:t> </a:t>
            </a:r>
            <a:r>
              <a:rPr lang="en-US" dirty="0" err="1" smtClean="0"/>
              <a:t>desarrollado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/>
              <a:t>OpenAI</a:t>
            </a:r>
            <a:r>
              <a:rPr lang="en-US" dirty="0"/>
              <a:t>, </a:t>
            </a:r>
            <a:r>
              <a:rPr lang="en-US" dirty="0" err="1" smtClean="0"/>
              <a:t>puede</a:t>
            </a:r>
            <a:r>
              <a:rPr lang="en-US" dirty="0" smtClean="0"/>
              <a:t> </a:t>
            </a:r>
            <a:r>
              <a:rPr lang="en-US" dirty="0" err="1" smtClean="0"/>
              <a:t>generar</a:t>
            </a:r>
            <a:r>
              <a:rPr lang="en-US" dirty="0" smtClean="0"/>
              <a:t> </a:t>
            </a:r>
            <a:r>
              <a:rPr lang="en-US" dirty="0" err="1" smtClean="0"/>
              <a:t>imágenes</a:t>
            </a:r>
            <a:r>
              <a:rPr lang="en-US" dirty="0" smtClean="0"/>
              <a:t> </a:t>
            </a:r>
            <a:r>
              <a:rPr lang="en-US" dirty="0" err="1" smtClean="0"/>
              <a:t>completamente</a:t>
            </a:r>
            <a:r>
              <a:rPr lang="en-US" dirty="0" smtClean="0"/>
              <a:t> </a:t>
            </a:r>
            <a:r>
              <a:rPr lang="en-US" dirty="0" err="1" smtClean="0"/>
              <a:t>nuevas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base a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descripción</a:t>
            </a:r>
            <a:r>
              <a:rPr lang="en-US" dirty="0" smtClean="0"/>
              <a:t> textual (</a:t>
            </a:r>
            <a:r>
              <a:rPr lang="en-US" dirty="0"/>
              <a:t>https://</a:t>
            </a:r>
            <a:r>
              <a:rPr lang="en-US" dirty="0" smtClean="0"/>
              <a:t>openai.com/dall-e-2)</a:t>
            </a:r>
            <a:endParaRPr lang="en-US" dirty="0"/>
          </a:p>
          <a:p>
            <a:r>
              <a:rPr lang="en-US" b="1" dirty="0" err="1"/>
              <a:t>Artbreeder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s-ES" smtClean="0"/>
              <a:t>permite </a:t>
            </a:r>
            <a:r>
              <a:rPr lang="es-ES"/>
              <a:t>mezclar y combinar imágenes para crear composiciones únicas mediante la manipulación de características visuales.</a:t>
            </a:r>
            <a:r>
              <a:rPr lang="en-US" smtClean="0"/>
              <a:t>(</a:t>
            </a:r>
            <a:r>
              <a:rPr lang="en-US" dirty="0"/>
              <a:t>https://www.artbreeder.com</a:t>
            </a:r>
            <a:r>
              <a:rPr lang="en-US" dirty="0" smtClean="0"/>
              <a:t>/)</a:t>
            </a:r>
            <a:endParaRPr lang="en-US" dirty="0"/>
          </a:p>
          <a:p>
            <a:r>
              <a:rPr lang="en-US" b="1" dirty="0"/>
              <a:t>This Person Does Not </a:t>
            </a:r>
            <a:r>
              <a:rPr lang="en-US" b="1" dirty="0" smtClean="0"/>
              <a:t>Exist:</a:t>
            </a:r>
            <a:r>
              <a:rPr lang="en-US" dirty="0" smtClean="0"/>
              <a:t> genera </a:t>
            </a:r>
            <a:r>
              <a:rPr lang="en-US" dirty="0" err="1" smtClean="0"/>
              <a:t>imágenes</a:t>
            </a:r>
            <a:r>
              <a:rPr lang="en-US" dirty="0" smtClean="0"/>
              <a:t> </a:t>
            </a:r>
            <a:r>
              <a:rPr lang="en-US" dirty="0" err="1" smtClean="0"/>
              <a:t>realistas</a:t>
            </a:r>
            <a:r>
              <a:rPr lang="en-US" dirty="0" smtClean="0"/>
              <a:t> de </a:t>
            </a:r>
            <a:r>
              <a:rPr lang="en-US" dirty="0" err="1" smtClean="0"/>
              <a:t>gente</a:t>
            </a:r>
            <a:r>
              <a:rPr lang="en-US" dirty="0" smtClean="0"/>
              <a:t> que no </a:t>
            </a:r>
            <a:r>
              <a:rPr lang="en-US" dirty="0" err="1" smtClean="0"/>
              <a:t>existe</a:t>
            </a:r>
            <a:r>
              <a:rPr lang="en-US" dirty="0" smtClean="0"/>
              <a:t> </a:t>
            </a:r>
            <a:r>
              <a:rPr lang="en-US" dirty="0" err="1" smtClean="0"/>
              <a:t>usando</a:t>
            </a:r>
            <a:r>
              <a:rPr lang="en-US" dirty="0" smtClean="0"/>
              <a:t> Generative </a:t>
            </a:r>
            <a:r>
              <a:rPr lang="en-US" dirty="0"/>
              <a:t>Adversarial Networks (GANs) (https://thispersondoesnotexist.com</a:t>
            </a:r>
            <a:r>
              <a:rPr lang="en-US" dirty="0" smtClean="0"/>
              <a:t>/)</a:t>
            </a:r>
            <a:endParaRPr lang="en-US" dirty="0"/>
          </a:p>
          <a:p>
            <a:r>
              <a:rPr lang="en-US" b="1" dirty="0" err="1"/>
              <a:t>GANPaint</a:t>
            </a:r>
            <a:r>
              <a:rPr lang="en-US" b="1" dirty="0"/>
              <a:t> Studio:</a:t>
            </a:r>
            <a:r>
              <a:rPr lang="en-US" dirty="0"/>
              <a:t> </a:t>
            </a:r>
            <a:r>
              <a:rPr lang="en-US" dirty="0" err="1" smtClean="0"/>
              <a:t>basado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GANs</a:t>
            </a:r>
            <a:r>
              <a:rPr lang="en-US" dirty="0"/>
              <a:t>, </a:t>
            </a:r>
            <a:r>
              <a:rPr lang="en-US" dirty="0" err="1" smtClean="0"/>
              <a:t>permite</a:t>
            </a:r>
            <a:r>
              <a:rPr lang="en-US" dirty="0" smtClean="0"/>
              <a:t> </a:t>
            </a:r>
            <a:r>
              <a:rPr lang="en-US" dirty="0" err="1" smtClean="0"/>
              <a:t>editar</a:t>
            </a:r>
            <a:r>
              <a:rPr lang="en-US" dirty="0" smtClean="0"/>
              <a:t> </a:t>
            </a:r>
            <a:r>
              <a:rPr lang="en-US" dirty="0" err="1" smtClean="0"/>
              <a:t>imágenes</a:t>
            </a:r>
            <a:r>
              <a:rPr lang="en-US" dirty="0" smtClean="0"/>
              <a:t> </a:t>
            </a:r>
            <a:r>
              <a:rPr lang="en-US" dirty="0" err="1" smtClean="0"/>
              <a:t>añadiendo</a:t>
            </a:r>
            <a:r>
              <a:rPr lang="en-US" dirty="0" smtClean="0"/>
              <a:t>, </a:t>
            </a:r>
            <a:r>
              <a:rPr lang="en-US" dirty="0" err="1" smtClean="0"/>
              <a:t>borrando</a:t>
            </a:r>
            <a:r>
              <a:rPr lang="en-US" dirty="0" smtClean="0"/>
              <a:t> o </a:t>
            </a:r>
            <a:r>
              <a:rPr lang="en-US" dirty="0" err="1" smtClean="0"/>
              <a:t>modificando</a:t>
            </a:r>
            <a:r>
              <a:rPr lang="en-US" dirty="0" smtClean="0"/>
              <a:t> </a:t>
            </a:r>
            <a:r>
              <a:rPr lang="en-US" dirty="0" err="1" smtClean="0"/>
              <a:t>objetos</a:t>
            </a:r>
            <a:r>
              <a:rPr lang="en-US" dirty="0" smtClean="0"/>
              <a:t> de la </a:t>
            </a:r>
            <a:r>
              <a:rPr lang="en-US" dirty="0" err="1" smtClean="0"/>
              <a:t>escena</a:t>
            </a:r>
            <a:r>
              <a:rPr lang="en-US" dirty="0" smtClean="0"/>
              <a:t> </a:t>
            </a:r>
            <a:r>
              <a:rPr lang="en-US" dirty="0"/>
              <a:t>(https://ganpaint.io</a:t>
            </a:r>
            <a:r>
              <a:rPr lang="en-US" dirty="0" smtClean="0"/>
              <a:t>/)</a:t>
            </a:r>
            <a:endParaRPr lang="en-US" dirty="0"/>
          </a:p>
          <a:p>
            <a:r>
              <a:rPr lang="en-US" b="1" dirty="0"/>
              <a:t>DeepArt.io:</a:t>
            </a:r>
            <a:r>
              <a:rPr lang="en-US" dirty="0"/>
              <a:t> </a:t>
            </a:r>
            <a:r>
              <a:rPr lang="en-US" dirty="0" err="1" smtClean="0"/>
              <a:t>usa</a:t>
            </a:r>
            <a:r>
              <a:rPr lang="en-US" dirty="0" smtClean="0"/>
              <a:t> </a:t>
            </a:r>
            <a:r>
              <a:rPr lang="en-US" dirty="0" err="1" smtClean="0"/>
              <a:t>redes</a:t>
            </a:r>
            <a:r>
              <a:rPr lang="en-US" dirty="0" smtClean="0"/>
              <a:t> </a:t>
            </a:r>
            <a:r>
              <a:rPr lang="en-US" dirty="0" err="1" smtClean="0"/>
              <a:t>neuronales</a:t>
            </a:r>
            <a:r>
              <a:rPr lang="en-US" dirty="0" smtClean="0"/>
              <a:t> para </a:t>
            </a:r>
            <a:r>
              <a:rPr lang="en-US" dirty="0" err="1" smtClean="0"/>
              <a:t>aplicar</a:t>
            </a:r>
            <a:r>
              <a:rPr lang="en-US" dirty="0" smtClean="0"/>
              <a:t> </a:t>
            </a:r>
            <a:r>
              <a:rPr lang="en-US" dirty="0" err="1" smtClean="0"/>
              <a:t>estilos</a:t>
            </a:r>
            <a:r>
              <a:rPr lang="en-US" dirty="0" smtClean="0"/>
              <a:t> </a:t>
            </a:r>
            <a:r>
              <a:rPr lang="en-US" dirty="0" err="1" smtClean="0"/>
              <a:t>artísticos</a:t>
            </a:r>
            <a:r>
              <a:rPr lang="en-US" dirty="0" smtClean="0"/>
              <a:t> </a:t>
            </a:r>
            <a:r>
              <a:rPr lang="en-US" dirty="0" err="1" smtClean="0"/>
              <a:t>famosos</a:t>
            </a:r>
            <a:r>
              <a:rPr lang="en-US" dirty="0" smtClean="0"/>
              <a:t> a las </a:t>
            </a:r>
            <a:r>
              <a:rPr lang="en-US" dirty="0" err="1" smtClean="0"/>
              <a:t>imágenes</a:t>
            </a:r>
            <a:r>
              <a:rPr lang="en-US" dirty="0" smtClean="0"/>
              <a:t> (</a:t>
            </a:r>
            <a:r>
              <a:rPr lang="en-US" dirty="0"/>
              <a:t>https://deepart.io</a:t>
            </a:r>
            <a:r>
              <a:rPr lang="en-US" dirty="0" smtClean="0"/>
              <a:t>/)</a:t>
            </a:r>
            <a:endParaRPr lang="en-US" dirty="0"/>
          </a:p>
          <a:p>
            <a:r>
              <a:rPr lang="en-US" b="1" dirty="0" err="1"/>
              <a:t>BigGAN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smtClean="0"/>
              <a:t>o</a:t>
            </a:r>
            <a:r>
              <a:rPr lang="es-ES" smtClean="0"/>
              <a:t>tra </a:t>
            </a:r>
            <a:r>
              <a:rPr lang="es-ES"/>
              <a:t>creación de OpenAI, es un generador de imágenes de alta resolución entrenado con una amplia variedad de datos.</a:t>
            </a:r>
            <a:r>
              <a:rPr lang="en-US" smtClean="0"/>
              <a:t> </a:t>
            </a:r>
            <a:r>
              <a:rPr lang="en-US" dirty="0"/>
              <a:t>(https://</a:t>
            </a:r>
            <a:r>
              <a:rPr lang="en-US" dirty="0" smtClean="0"/>
              <a:t>github.com/ivclab/BigGAN-Generator-Pretrained-Pytorch/blob/master/README.md)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136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832</Words>
  <Application>Microsoft Office PowerPoint</Application>
  <PresentationFormat>Panorámica</PresentationFormat>
  <Paragraphs>35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Oxygen</vt:lpstr>
      <vt:lpstr>Söhne</vt:lpstr>
      <vt:lpstr>Times New Roman</vt:lpstr>
      <vt:lpstr>Tema de Office</vt:lpstr>
      <vt:lpstr>Presentación de PowerPoint</vt:lpstr>
      <vt:lpstr>De Redes Neuronales a Grandes Modelos de Lenguaje: sobre el uso de transformers</vt:lpstr>
      <vt:lpstr>Algunos transformers</vt:lpstr>
      <vt:lpstr>El nuevo mejor amigo y compañero de trabajo para todos en cualquier campo en todo el mundo: ChatGPT.</vt:lpstr>
      <vt:lpstr>Herramientas de interés para procesamiento de imágenes</vt:lpstr>
    </vt:vector>
  </TitlesOfParts>
  <Company>HP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user</cp:lastModifiedBy>
  <cp:revision>4</cp:revision>
  <dcterms:created xsi:type="dcterms:W3CDTF">2024-01-11T18:54:16Z</dcterms:created>
  <dcterms:modified xsi:type="dcterms:W3CDTF">2025-06-03T11:13:44Z</dcterms:modified>
</cp:coreProperties>
</file>